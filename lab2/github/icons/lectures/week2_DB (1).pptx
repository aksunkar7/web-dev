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76"/>
  </p:notesMasterIdLst>
  <p:sldIdLst>
    <p:sldId id="347" r:id="rId2"/>
    <p:sldId id="426" r:id="rId3"/>
    <p:sldId id="350" r:id="rId4"/>
    <p:sldId id="429" r:id="rId5"/>
    <p:sldId id="431" r:id="rId6"/>
    <p:sldId id="351" r:id="rId7"/>
    <p:sldId id="354" r:id="rId8"/>
    <p:sldId id="356" r:id="rId9"/>
    <p:sldId id="357" r:id="rId10"/>
    <p:sldId id="358" r:id="rId11"/>
    <p:sldId id="359" r:id="rId12"/>
    <p:sldId id="360" r:id="rId13"/>
    <p:sldId id="361" r:id="rId14"/>
    <p:sldId id="362" r:id="rId15"/>
    <p:sldId id="363" r:id="rId16"/>
    <p:sldId id="364" r:id="rId17"/>
    <p:sldId id="365" r:id="rId18"/>
    <p:sldId id="366" r:id="rId19"/>
    <p:sldId id="367" r:id="rId20"/>
    <p:sldId id="368" r:id="rId21"/>
    <p:sldId id="369" r:id="rId22"/>
    <p:sldId id="370" r:id="rId23"/>
    <p:sldId id="371" r:id="rId24"/>
    <p:sldId id="372" r:id="rId25"/>
    <p:sldId id="373" r:id="rId26"/>
    <p:sldId id="374" r:id="rId27"/>
    <p:sldId id="375" r:id="rId28"/>
    <p:sldId id="376" r:id="rId29"/>
    <p:sldId id="377" r:id="rId30"/>
    <p:sldId id="378" r:id="rId31"/>
    <p:sldId id="379" r:id="rId32"/>
    <p:sldId id="380" r:id="rId33"/>
    <p:sldId id="381" r:id="rId34"/>
    <p:sldId id="382" r:id="rId35"/>
    <p:sldId id="383" r:id="rId36"/>
    <p:sldId id="384" r:id="rId37"/>
    <p:sldId id="385" r:id="rId38"/>
    <p:sldId id="386" r:id="rId39"/>
    <p:sldId id="387" r:id="rId40"/>
    <p:sldId id="388" r:id="rId41"/>
    <p:sldId id="389" r:id="rId42"/>
    <p:sldId id="390" r:id="rId43"/>
    <p:sldId id="393" r:id="rId44"/>
    <p:sldId id="394" r:id="rId45"/>
    <p:sldId id="395" r:id="rId46"/>
    <p:sldId id="396" r:id="rId47"/>
    <p:sldId id="397" r:id="rId48"/>
    <p:sldId id="398" r:id="rId49"/>
    <p:sldId id="399" r:id="rId50"/>
    <p:sldId id="401" r:id="rId51"/>
    <p:sldId id="402" r:id="rId52"/>
    <p:sldId id="403" r:id="rId53"/>
    <p:sldId id="404" r:id="rId54"/>
    <p:sldId id="405" r:id="rId55"/>
    <p:sldId id="406" r:id="rId56"/>
    <p:sldId id="407" r:id="rId57"/>
    <p:sldId id="408" r:id="rId58"/>
    <p:sldId id="409" r:id="rId59"/>
    <p:sldId id="410" r:id="rId60"/>
    <p:sldId id="411" r:id="rId61"/>
    <p:sldId id="412" r:id="rId62"/>
    <p:sldId id="413" r:id="rId63"/>
    <p:sldId id="414" r:id="rId64"/>
    <p:sldId id="415" r:id="rId65"/>
    <p:sldId id="416" r:id="rId66"/>
    <p:sldId id="417" r:id="rId67"/>
    <p:sldId id="418" r:id="rId68"/>
    <p:sldId id="419" r:id="rId69"/>
    <p:sldId id="421" r:id="rId70"/>
    <p:sldId id="422" r:id="rId71"/>
    <p:sldId id="423" r:id="rId72"/>
    <p:sldId id="424" r:id="rId73"/>
    <p:sldId id="425" r:id="rId74"/>
    <p:sldId id="391" r:id="rId75"/>
  </p:sldIdLst>
  <p:sldSz cx="9144000" cy="6858000" type="screen4x3"/>
  <p:notesSz cx="9144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7"/>
    <p:restoredTop sz="92742"/>
  </p:normalViewPr>
  <p:slideViewPr>
    <p:cSldViewPr>
      <p:cViewPr varScale="1">
        <p:scale>
          <a:sx n="83" d="100"/>
          <a:sy n="83" d="100"/>
        </p:scale>
        <p:origin x="-1376" y="-1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80" Type="http://schemas.openxmlformats.org/officeDocument/2006/relationships/theme" Target="theme/theme1.xml"/><Relationship Id="rId81" Type="http://schemas.openxmlformats.org/officeDocument/2006/relationships/tableStyles" Target="tableStyles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notesMaster" Target="notesMasters/notesMaster1.xml"/><Relationship Id="rId77" Type="http://schemas.openxmlformats.org/officeDocument/2006/relationships/printerSettings" Target="printerSettings/printerSettings1.bin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AACCD-7612-46E1-81BC-CAB50E48411C}" type="datetimeFigureOut">
              <a:rPr lang="ru-RU" smtClean="0"/>
              <a:t>07.09.25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397CFD-EC87-401A-8E35-D8368F6772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1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4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5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5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5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5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5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5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5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5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5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6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6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6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9" name="Google Shape;879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6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6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6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6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4" name="Google Shape;1044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6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8" name="Google Shape;1098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6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152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6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9" name="Google Shape;1159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7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5" name="Google Shape;1165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7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1" name="Google Shape;1171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7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9" name="Google Shape;1179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7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6" name="Google Shape;1186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7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4" name="Google Shape;1194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7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7" name="Google Shape;1227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7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5" name="Google Shape;1235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7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7" name="Google Shape;1277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7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5" name="Google Shape;1285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7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8" name="Google Shape;1338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8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4" name="Google Shape;1374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8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8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6" name="Google Shape;1406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8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2" name="Google Shape;1442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8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2" name="Google Shape;1482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28166" y="1295400"/>
            <a:ext cx="6487668" cy="3152887"/>
          </a:xfrm>
          <a:prstGeom prst="rect">
            <a:avLst/>
          </a:prstGeo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</a:pPr>
            <a:endParaRPr sz="3200" kern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921" y="1523999"/>
            <a:ext cx="6498158" cy="1724867"/>
          </a:xfr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Образец заголовка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2921" y="3299012"/>
            <a:ext cx="6498159" cy="91664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Образец подзаголовка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07.09.25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pPr marL="10287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Образец заголовка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07.09.25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pPr marL="10287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 с рисун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538" y="3352801"/>
            <a:ext cx="8416925" cy="1470025"/>
          </a:xfrm>
        </p:spPr>
        <p:txBody>
          <a:bodyPr/>
          <a:lstStyle/>
          <a:p>
            <a:r>
              <a:rPr lang="en-US" smtClean="0"/>
              <a:t>Образец заголовка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538" y="4771029"/>
            <a:ext cx="8416925" cy="972671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Образец подзаголовка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07.09.25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pPr marL="10287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370980" y="363538"/>
            <a:ext cx="8402040" cy="2836862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Чтобы добавить рисунок, перетащите его на заполнитель или щелкните значок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2403144"/>
            <a:ext cx="8056563" cy="1362075"/>
          </a:xfrm>
        </p:spPr>
        <p:txBody>
          <a:bodyPr anchor="b" anchorCtr="0"/>
          <a:lstStyle>
            <a:lvl1pPr algn="ctr">
              <a:defRPr sz="4600" b="0" cap="none" baseline="0"/>
            </a:lvl1pPr>
          </a:lstStyle>
          <a:p>
            <a:r>
              <a:rPr lang="en-US" smtClean="0"/>
              <a:t>Образец заголовка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3736005"/>
            <a:ext cx="8056563" cy="1500187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07.09.25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pPr marL="10287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</p:spPr>
        <p:txBody>
          <a:bodyPr/>
          <a:lstStyle/>
          <a:p>
            <a:r>
              <a:rPr lang="en-US" smtClean="0"/>
              <a:t>Образец заголовка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9275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1071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07.09.25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pPr marL="10287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4" y="107576"/>
            <a:ext cx="8042276" cy="1336956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Образец заголовка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4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9274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1070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1070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07.09.25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pPr marL="10287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Образец заголовка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07.09.25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pPr marL="10287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07.09.25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pPr marL="10287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611872"/>
            <a:ext cx="3840480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 smtClean="0"/>
              <a:t>Образец заголовка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824" y="368300"/>
            <a:ext cx="3840480" cy="5575300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9" y="1787856"/>
            <a:ext cx="3840480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07.09.25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pPr marL="10287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611872"/>
            <a:ext cx="4079545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 smtClean="0"/>
              <a:t>Образец заголовка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8" y="1787856"/>
            <a:ext cx="4079545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07.09.25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pPr marL="10287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5090617" y="359392"/>
            <a:ext cx="3657600" cy="5318077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Чтобы добавить рисунок, перетащите его на заполнитель или щелкните значок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Образец заголовка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07.09.25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pPr marL="10287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9792" y="368301"/>
            <a:ext cx="1524000" cy="5575300"/>
          </a:xfrm>
        </p:spPr>
        <p:txBody>
          <a:bodyPr vert="eaVert"/>
          <a:lstStyle/>
          <a:p>
            <a:r>
              <a:rPr lang="en-US" smtClean="0"/>
              <a:t>Образец заголовка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274" y="368301"/>
            <a:ext cx="6689726" cy="55753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07.09.25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pPr marL="10287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07.09.25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4105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404167" y="311740"/>
            <a:ext cx="498634" cy="675005"/>
          </a:xfrm>
          <a:custGeom>
            <a:avLst/>
            <a:gdLst/>
            <a:ahLst/>
            <a:cxnLst/>
            <a:rect l="l" t="t" r="r" b="b"/>
            <a:pathLst>
              <a:path w="664845" h="675005">
                <a:moveTo>
                  <a:pt x="304936" y="0"/>
                </a:moveTo>
                <a:lnTo>
                  <a:pt x="231485" y="20668"/>
                </a:lnTo>
                <a:lnTo>
                  <a:pt x="193074" y="41320"/>
                </a:lnTo>
                <a:lnTo>
                  <a:pt x="132835" y="83326"/>
                </a:lnTo>
                <a:lnTo>
                  <a:pt x="103641" y="108541"/>
                </a:lnTo>
                <a:lnTo>
                  <a:pt x="76302" y="136569"/>
                </a:lnTo>
                <a:lnTo>
                  <a:pt x="51750" y="167415"/>
                </a:lnTo>
                <a:lnTo>
                  <a:pt x="30914" y="201083"/>
                </a:lnTo>
                <a:lnTo>
                  <a:pt x="14723" y="237579"/>
                </a:lnTo>
                <a:lnTo>
                  <a:pt x="4109" y="276906"/>
                </a:lnTo>
                <a:lnTo>
                  <a:pt x="0" y="319069"/>
                </a:lnTo>
                <a:lnTo>
                  <a:pt x="3326" y="364073"/>
                </a:lnTo>
                <a:lnTo>
                  <a:pt x="15018" y="411922"/>
                </a:lnTo>
                <a:lnTo>
                  <a:pt x="36005" y="462620"/>
                </a:lnTo>
                <a:lnTo>
                  <a:pt x="67217" y="516173"/>
                </a:lnTo>
                <a:lnTo>
                  <a:pt x="105132" y="565754"/>
                </a:lnTo>
                <a:lnTo>
                  <a:pt x="144935" y="604847"/>
                </a:lnTo>
                <a:lnTo>
                  <a:pt x="186059" y="634365"/>
                </a:lnTo>
                <a:lnTo>
                  <a:pt x="227933" y="655219"/>
                </a:lnTo>
                <a:lnTo>
                  <a:pt x="269989" y="668321"/>
                </a:lnTo>
                <a:lnTo>
                  <a:pt x="311659" y="674581"/>
                </a:lnTo>
                <a:lnTo>
                  <a:pt x="352373" y="674912"/>
                </a:lnTo>
                <a:lnTo>
                  <a:pt x="391562" y="670225"/>
                </a:lnTo>
                <a:lnTo>
                  <a:pt x="428659" y="661432"/>
                </a:lnTo>
                <a:lnTo>
                  <a:pt x="494297" y="635171"/>
                </a:lnTo>
                <a:lnTo>
                  <a:pt x="544737" y="603422"/>
                </a:lnTo>
                <a:lnTo>
                  <a:pt x="593902" y="560949"/>
                </a:lnTo>
                <a:lnTo>
                  <a:pt x="636322" y="507656"/>
                </a:lnTo>
                <a:lnTo>
                  <a:pt x="661721" y="441262"/>
                </a:lnTo>
                <a:lnTo>
                  <a:pt x="664829" y="402439"/>
                </a:lnTo>
                <a:lnTo>
                  <a:pt x="659829" y="359486"/>
                </a:lnTo>
                <a:lnTo>
                  <a:pt x="645438" y="312117"/>
                </a:lnTo>
                <a:lnTo>
                  <a:pt x="620371" y="260047"/>
                </a:lnTo>
                <a:lnTo>
                  <a:pt x="583345" y="202991"/>
                </a:lnTo>
                <a:lnTo>
                  <a:pt x="537219" y="143302"/>
                </a:lnTo>
                <a:lnTo>
                  <a:pt x="494111" y="94774"/>
                </a:lnTo>
                <a:lnTo>
                  <a:pt x="453481" y="56848"/>
                </a:lnTo>
                <a:lnTo>
                  <a:pt x="414788" y="28967"/>
                </a:lnTo>
                <a:lnTo>
                  <a:pt x="377494" y="10570"/>
                </a:lnTo>
                <a:lnTo>
                  <a:pt x="304936" y="0"/>
                </a:lnTo>
                <a:close/>
              </a:path>
            </a:pathLst>
          </a:custGeom>
          <a:solidFill>
            <a:srgbClr val="3493B9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466039" y="347511"/>
            <a:ext cx="470059" cy="674370"/>
          </a:xfrm>
          <a:custGeom>
            <a:avLst/>
            <a:gdLst/>
            <a:ahLst/>
            <a:cxnLst/>
            <a:rect l="l" t="t" r="r" b="b"/>
            <a:pathLst>
              <a:path w="626745" h="674369">
                <a:moveTo>
                  <a:pt x="304054" y="0"/>
                </a:moveTo>
                <a:lnTo>
                  <a:pt x="264547" y="2370"/>
                </a:lnTo>
                <a:lnTo>
                  <a:pt x="225407" y="10183"/>
                </a:lnTo>
                <a:lnTo>
                  <a:pt x="187167" y="24204"/>
                </a:lnTo>
                <a:lnTo>
                  <a:pt x="150361" y="45198"/>
                </a:lnTo>
                <a:lnTo>
                  <a:pt x="115524" y="73931"/>
                </a:lnTo>
                <a:lnTo>
                  <a:pt x="83188" y="111167"/>
                </a:lnTo>
                <a:lnTo>
                  <a:pt x="53887" y="157671"/>
                </a:lnTo>
                <a:lnTo>
                  <a:pt x="28156" y="214209"/>
                </a:lnTo>
                <a:lnTo>
                  <a:pt x="9480" y="273612"/>
                </a:lnTo>
                <a:lnTo>
                  <a:pt x="451" y="328535"/>
                </a:lnTo>
                <a:lnTo>
                  <a:pt x="0" y="379039"/>
                </a:lnTo>
                <a:lnTo>
                  <a:pt x="7054" y="425183"/>
                </a:lnTo>
                <a:lnTo>
                  <a:pt x="20545" y="467028"/>
                </a:lnTo>
                <a:lnTo>
                  <a:pt x="39402" y="504634"/>
                </a:lnTo>
                <a:lnTo>
                  <a:pt x="62554" y="538062"/>
                </a:lnTo>
                <a:lnTo>
                  <a:pt x="88932" y="567372"/>
                </a:lnTo>
                <a:lnTo>
                  <a:pt x="117465" y="592624"/>
                </a:lnTo>
                <a:lnTo>
                  <a:pt x="176713" y="631197"/>
                </a:lnTo>
                <a:lnTo>
                  <a:pt x="231737" y="654264"/>
                </a:lnTo>
                <a:lnTo>
                  <a:pt x="294818" y="669895"/>
                </a:lnTo>
                <a:lnTo>
                  <a:pt x="328481" y="673905"/>
                </a:lnTo>
                <a:lnTo>
                  <a:pt x="362877" y="673767"/>
                </a:lnTo>
                <a:lnTo>
                  <a:pt x="431825" y="656212"/>
                </a:lnTo>
                <a:lnTo>
                  <a:pt x="465354" y="636377"/>
                </a:lnTo>
                <a:lnTo>
                  <a:pt x="497571" y="607560"/>
                </a:lnTo>
                <a:lnTo>
                  <a:pt x="527966" y="568552"/>
                </a:lnTo>
                <a:lnTo>
                  <a:pt x="556026" y="518144"/>
                </a:lnTo>
                <a:lnTo>
                  <a:pt x="581241" y="455128"/>
                </a:lnTo>
                <a:lnTo>
                  <a:pt x="603512" y="383142"/>
                </a:lnTo>
                <a:lnTo>
                  <a:pt x="618379" y="319999"/>
                </a:lnTo>
                <a:lnTo>
                  <a:pt x="625989" y="264947"/>
                </a:lnTo>
                <a:lnTo>
                  <a:pt x="626488" y="217234"/>
                </a:lnTo>
                <a:lnTo>
                  <a:pt x="620024" y="176109"/>
                </a:lnTo>
                <a:lnTo>
                  <a:pt x="586795" y="110619"/>
                </a:lnTo>
                <a:lnTo>
                  <a:pt x="527478" y="62466"/>
                </a:lnTo>
                <a:lnTo>
                  <a:pt x="488404" y="43013"/>
                </a:lnTo>
                <a:lnTo>
                  <a:pt x="419436" y="17895"/>
                </a:lnTo>
                <a:lnTo>
                  <a:pt x="382032" y="8527"/>
                </a:lnTo>
                <a:lnTo>
                  <a:pt x="343393" y="2307"/>
                </a:lnTo>
                <a:lnTo>
                  <a:pt x="304054" y="0"/>
                </a:lnTo>
                <a:close/>
              </a:path>
            </a:pathLst>
          </a:custGeom>
          <a:solidFill>
            <a:srgbClr val="3493B9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386999" y="400998"/>
            <a:ext cx="503396" cy="522605"/>
          </a:xfrm>
          <a:custGeom>
            <a:avLst/>
            <a:gdLst/>
            <a:ahLst/>
            <a:cxnLst/>
            <a:rect l="l" t="t" r="r" b="b"/>
            <a:pathLst>
              <a:path w="671195" h="522605">
                <a:moveTo>
                  <a:pt x="383181" y="0"/>
                </a:moveTo>
                <a:lnTo>
                  <a:pt x="330700" y="7701"/>
                </a:lnTo>
                <a:lnTo>
                  <a:pt x="279878" y="22999"/>
                </a:lnTo>
                <a:lnTo>
                  <a:pt x="231342" y="44706"/>
                </a:lnTo>
                <a:lnTo>
                  <a:pt x="185719" y="71632"/>
                </a:lnTo>
                <a:lnTo>
                  <a:pt x="143639" y="102589"/>
                </a:lnTo>
                <a:lnTo>
                  <a:pt x="105728" y="136387"/>
                </a:lnTo>
                <a:lnTo>
                  <a:pt x="72615" y="171838"/>
                </a:lnTo>
                <a:lnTo>
                  <a:pt x="44928" y="207753"/>
                </a:lnTo>
                <a:lnTo>
                  <a:pt x="23294" y="242943"/>
                </a:lnTo>
                <a:lnTo>
                  <a:pt x="700" y="306392"/>
                </a:lnTo>
                <a:lnTo>
                  <a:pt x="0" y="334768"/>
                </a:lnTo>
                <a:lnTo>
                  <a:pt x="5847" y="363020"/>
                </a:lnTo>
                <a:lnTo>
                  <a:pt x="37643" y="416985"/>
                </a:lnTo>
                <a:lnTo>
                  <a:pt x="96998" y="463951"/>
                </a:lnTo>
                <a:lnTo>
                  <a:pt x="137294" y="483455"/>
                </a:lnTo>
                <a:lnTo>
                  <a:pt x="184822" y="499583"/>
                </a:lnTo>
                <a:lnTo>
                  <a:pt x="239694" y="511793"/>
                </a:lnTo>
                <a:lnTo>
                  <a:pt x="302025" y="519543"/>
                </a:lnTo>
                <a:lnTo>
                  <a:pt x="371929" y="522292"/>
                </a:lnTo>
                <a:lnTo>
                  <a:pt x="449518" y="519498"/>
                </a:lnTo>
                <a:lnTo>
                  <a:pt x="493467" y="513231"/>
                </a:lnTo>
                <a:lnTo>
                  <a:pt x="532276" y="501521"/>
                </a:lnTo>
                <a:lnTo>
                  <a:pt x="594907" y="464046"/>
                </a:lnTo>
                <a:lnTo>
                  <a:pt x="638275" y="411624"/>
                </a:lnTo>
                <a:lnTo>
                  <a:pt x="663243" y="348801"/>
                </a:lnTo>
                <a:lnTo>
                  <a:pt x="670676" y="280127"/>
                </a:lnTo>
                <a:lnTo>
                  <a:pt x="668086" y="245017"/>
                </a:lnTo>
                <a:lnTo>
                  <a:pt x="650833" y="176094"/>
                </a:lnTo>
                <a:lnTo>
                  <a:pt x="618204" y="112691"/>
                </a:lnTo>
                <a:lnTo>
                  <a:pt x="571062" y="59356"/>
                </a:lnTo>
                <a:lnTo>
                  <a:pt x="510269" y="20637"/>
                </a:lnTo>
                <a:lnTo>
                  <a:pt x="436691" y="1084"/>
                </a:lnTo>
                <a:lnTo>
                  <a:pt x="383181" y="0"/>
                </a:lnTo>
                <a:close/>
              </a:path>
            </a:pathLst>
          </a:custGeom>
          <a:solidFill>
            <a:srgbClr val="3493B9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543181" cy="300634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46486" y="2426844"/>
            <a:ext cx="2798372" cy="4431157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3973" y="1519937"/>
            <a:ext cx="8356092" cy="381800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07.09.25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5600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with intro text">
  <p:cSld name="Title + 1 column with intro 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/>
          <p:nvPr/>
        </p:nvSpPr>
        <p:spPr>
          <a:xfrm flipH="1">
            <a:off x="2472375" y="0"/>
            <a:ext cx="113100" cy="6858000"/>
          </a:xfrm>
          <a:prstGeom prst="rect">
            <a:avLst/>
          </a:prstGeom>
          <a:gradFill>
            <a:gsLst>
              <a:gs pos="0">
                <a:srgbClr val="000014">
                  <a:alpha val="20000"/>
                </a:srgbClr>
              </a:gs>
              <a:gs pos="100000">
                <a:srgbClr val="000014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7"/>
          <p:cNvSpPr/>
          <p:nvPr/>
        </p:nvSpPr>
        <p:spPr>
          <a:xfrm>
            <a:off x="2585475" y="0"/>
            <a:ext cx="6558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234450" y="767333"/>
            <a:ext cx="2046300" cy="530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090625" y="767333"/>
            <a:ext cx="5596200" cy="1610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Clr>
                <a:srgbClr val="F67031"/>
              </a:buClr>
              <a:buSzPts val="1600"/>
              <a:buFont typeface="Georgia"/>
              <a:buChar char="▪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1600"/>
              <a:buFont typeface="Georgia"/>
              <a:buChar char="-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1600"/>
              <a:buFont typeface="Georgia"/>
              <a:buChar char="-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1600"/>
              <a:buFont typeface="Georgia"/>
              <a:buChar char="-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1600"/>
              <a:buFont typeface="Georgia"/>
              <a:buChar char="-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1600"/>
              <a:buFont typeface="Georgia"/>
              <a:buChar char="-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1600"/>
              <a:buFont typeface="Georgia"/>
              <a:buChar char="-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1600"/>
              <a:buFont typeface="Georgia"/>
              <a:buChar char="-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1600"/>
              <a:buFont typeface="Georgia"/>
              <a:buChar char="-"/>
              <a:defRPr sz="1600" i="1">
                <a:solidFill>
                  <a:srgbClr val="F6703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556784" y="6333135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3090625" y="2672417"/>
            <a:ext cx="5596200" cy="3402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5337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mtClean="0"/>
              <a:t>Образец заголовка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1600201"/>
            <a:ext cx="8042276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29835" y="627566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07.09.25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458" y="6275668"/>
            <a:ext cx="48409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97906" y="6275668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pPr marL="10287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9250" indent="-349250" algn="l" defTabSz="914400" rtl="0" eaLnBrk="1" latinLnBrk="0" hangingPunct="1">
        <a:spcBef>
          <a:spcPts val="2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2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96837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63650" indent="-295275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622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28800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1177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398713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6892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7.jp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8.jp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1.jp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3.jp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3"/>
          <p:cNvSpPr txBox="1">
            <a:spLocks noGrp="1"/>
          </p:cNvSpPr>
          <p:nvPr>
            <p:ph type="title"/>
          </p:nvPr>
        </p:nvSpPr>
        <p:spPr>
          <a:xfrm>
            <a:off x="1227226" y="2173469"/>
            <a:ext cx="6689090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B2A"/>
              </a:buClr>
              <a:buSzPts val="4400"/>
              <a:buFont typeface="Candara"/>
              <a:buNone/>
            </a:pPr>
            <a:r>
              <a:rPr lang="en-US" sz="4400" dirty="0" smtClean="0">
                <a:solidFill>
                  <a:srgbClr val="021B2A"/>
                </a:solidFill>
                <a:latin typeface="Candara"/>
                <a:ea typeface="Candara"/>
                <a:cs typeface="Candara"/>
                <a:sym typeface="Candara"/>
              </a:rPr>
              <a:t>Relational model and keys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5192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1. ER Modeling fundamentals</a:t>
            </a:r>
          </a:p>
          <a:p>
            <a:r>
              <a:rPr lang="en-US" dirty="0" smtClean="0"/>
              <a:t>2. mapping ERD--&gt; relations</a:t>
            </a:r>
          </a:p>
          <a:p>
            <a:r>
              <a:rPr lang="en-US" dirty="0" smtClean="0"/>
              <a:t>3. 1NF – 3NF, BCNF</a:t>
            </a:r>
          </a:p>
          <a:p>
            <a:r>
              <a:rPr lang="en-US" dirty="0" smtClean="0"/>
              <a:t>4.Practice normalizing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5261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56705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chemeClr val="tx1"/>
                </a:solidFill>
                <a:latin typeface="Candara"/>
                <a:ea typeface="Candara"/>
                <a:cs typeface="Candara"/>
                <a:sym typeface="Candara"/>
              </a:rPr>
              <a:t>Entity/Relationship </a:t>
            </a:r>
            <a:r>
              <a:rPr lang="en-US" sz="4400" b="0" i="0" u="none" strike="noStrike" cap="none" dirty="0" err="1">
                <a:solidFill>
                  <a:schemeClr val="tx1"/>
                </a:solidFill>
                <a:latin typeface="Candara"/>
                <a:ea typeface="Candara"/>
                <a:cs typeface="Candara"/>
                <a:sym typeface="Candara"/>
              </a:rPr>
              <a:t>Modelling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41" name="Google Shape;541;p5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3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42" name="Google Shape;542;p56"/>
          <p:cNvSpPr txBox="1"/>
          <p:nvPr/>
        </p:nvSpPr>
        <p:spPr>
          <a:xfrm>
            <a:off x="535940" y="1622805"/>
            <a:ext cx="3577590" cy="330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E/R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Modelling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used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conceptual design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431165" lvl="1" indent="-28638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Entities - objects or  items of interest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1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Attributes – properties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an entity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382270" lvl="1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Relationships - links  between entities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56"/>
          <p:cNvSpPr txBox="1"/>
          <p:nvPr/>
        </p:nvSpPr>
        <p:spPr>
          <a:xfrm>
            <a:off x="4727828" y="1622806"/>
            <a:ext cx="3877310" cy="399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163195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example, in a  University database we  might have entities for  Students, Modules and  Lecturers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55700" marR="5080" lvl="1" indent="-228600" algn="l" rtl="0">
              <a:lnSpc>
                <a:spcPct val="108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 might have  attributes such as their ID,  Name, and Course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55700" marR="67310" lvl="1" indent="-228600" algn="l" rtl="0">
              <a:lnSpc>
                <a:spcPct val="90000"/>
              </a:lnSpc>
              <a:spcBef>
                <a:spcPts val="44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 could have  relationships with  Modules (enrolment) and  Lecturers (tutor/tutee)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89598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Data Integrity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3400" y="1600200"/>
            <a:ext cx="8042276" cy="4343400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</a:rPr>
              <a:t>Domains</a:t>
            </a:r>
          </a:p>
          <a:p>
            <a:r>
              <a:rPr lang="en-US" sz="18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Candidate and Primary Keys </a:t>
            </a:r>
          </a:p>
          <a:p>
            <a:r>
              <a:rPr lang="en-US" sz="18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Foreign keys</a:t>
            </a:r>
          </a:p>
          <a:p>
            <a:endParaRPr lang="en-US" sz="3600" dirty="0" smtClean="0"/>
          </a:p>
          <a:p>
            <a:pPr marL="0" indent="0">
              <a:buNone/>
            </a:pPr>
            <a:r>
              <a:rPr lang="en-US" sz="3600" dirty="0" smtClean="0"/>
              <a:t>Candidate keys</a:t>
            </a:r>
            <a:endParaRPr lang="en-US" sz="3600" dirty="0"/>
          </a:p>
          <a:p>
            <a:r>
              <a:rPr lang="en-US" sz="1800" dirty="0"/>
              <a:t>Uniqueness</a:t>
            </a:r>
          </a:p>
          <a:p>
            <a:r>
              <a:rPr lang="en-US" sz="1800" dirty="0" err="1"/>
              <a:t>Minimality</a:t>
            </a:r>
            <a:endParaRPr lang="ru-RU" sz="1800" dirty="0"/>
          </a:p>
          <a:p>
            <a:pPr marL="0" indent="0">
              <a:buNone/>
            </a:pPr>
            <a:endParaRPr lang="en-US" sz="3600" dirty="0"/>
          </a:p>
          <a:p>
            <a:endParaRPr lang="ru-RU" dirty="0"/>
          </a:p>
        </p:txBody>
      </p:sp>
      <p:graphicFrame>
        <p:nvGraphicFramePr>
          <p:cNvPr id="4" name="Google Shape;349;p35"/>
          <p:cNvGraphicFramePr/>
          <p:nvPr>
            <p:extLst>
              <p:ext uri="{D42A27DB-BD31-4B8C-83A1-F6EECF244321}">
                <p14:modId xmlns:p14="http://schemas.microsoft.com/office/powerpoint/2010/main" val="2997460231"/>
              </p:ext>
            </p:extLst>
          </p:nvPr>
        </p:nvGraphicFramePr>
        <p:xfrm>
          <a:off x="4953000" y="1752600"/>
          <a:ext cx="3240425" cy="18542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936125"/>
                <a:gridCol w="1152150"/>
                <a:gridCol w="1152150"/>
              </a:tblGrid>
              <a:tr h="370850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First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87900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S139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Alan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Carr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</a:tr>
              <a:tr h="370750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S140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Brand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S141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Alan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Davies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</a:tr>
              <a:tr h="353750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S142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Jimmy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Carr</a:t>
                      </a:r>
                      <a:endParaRPr sz="18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8282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234450" y="767333"/>
            <a:ext cx="2432550" cy="5308000"/>
          </a:xfrm>
        </p:spPr>
        <p:txBody>
          <a:bodyPr/>
          <a:lstStyle/>
          <a:p>
            <a:r>
              <a:rPr lang="en-US" dirty="0" smtClean="0"/>
              <a:t>Foreign Keys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Link data</a:t>
            </a:r>
          </a:p>
          <a:p>
            <a:r>
              <a:rPr lang="en-US" dirty="0" smtClean="0"/>
              <a:t>Referential integrity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graphicFrame>
        <p:nvGraphicFramePr>
          <p:cNvPr id="6" name="Google Shape;416;p42"/>
          <p:cNvGraphicFramePr/>
          <p:nvPr>
            <p:extLst>
              <p:ext uri="{D42A27DB-BD31-4B8C-83A1-F6EECF244321}">
                <p14:modId xmlns:p14="http://schemas.microsoft.com/office/powerpoint/2010/main" val="2386618973"/>
              </p:ext>
            </p:extLst>
          </p:nvPr>
        </p:nvGraphicFramePr>
        <p:xfrm>
          <a:off x="2950769" y="2461430"/>
          <a:ext cx="2304250" cy="197783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936075"/>
                <a:gridCol w="1368175"/>
              </a:tblGrid>
              <a:tr h="494467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DID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DName</a:t>
                      </a:r>
                      <a:endParaRPr sz="24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517067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Marketing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</a:tr>
              <a:tr h="494633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Accounts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</a:tr>
              <a:tr h="471667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Personnel</a:t>
                      </a:r>
                      <a:endParaRPr sz="24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Google Shape;413;p42"/>
          <p:cNvGraphicFramePr/>
          <p:nvPr>
            <p:extLst>
              <p:ext uri="{D42A27DB-BD31-4B8C-83A1-F6EECF244321}">
                <p14:modId xmlns:p14="http://schemas.microsoft.com/office/powerpoint/2010/main" val="1273084258"/>
              </p:ext>
            </p:extLst>
          </p:nvPr>
        </p:nvGraphicFramePr>
        <p:xfrm>
          <a:off x="5865060" y="2412153"/>
          <a:ext cx="3240425" cy="3420547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936125"/>
                <a:gridCol w="1368175"/>
                <a:gridCol w="936125"/>
              </a:tblGrid>
              <a:tr h="494467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EID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EName</a:t>
                      </a:r>
                      <a:endParaRPr sz="24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DID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517233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 Smith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</a:tr>
              <a:tr h="494633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Mary Brown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</a:tr>
              <a:tr h="494533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 Jones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</a:tr>
              <a:tr h="471433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Jane Smith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endParaRPr sz="24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8" name="Google Shape;415;p42"/>
          <p:cNvSpPr txBox="1"/>
          <p:nvPr/>
        </p:nvSpPr>
        <p:spPr>
          <a:xfrm>
            <a:off x="3090625" y="2020654"/>
            <a:ext cx="1158240" cy="397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412;p42"/>
          <p:cNvSpPr txBox="1"/>
          <p:nvPr/>
        </p:nvSpPr>
        <p:spPr>
          <a:xfrm>
            <a:off x="5861986" y="1971379"/>
            <a:ext cx="939165" cy="397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7079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65087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Entity/Relationship Diagrams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549" name="Google Shape;549;p5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6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50" name="Google Shape;550;p57"/>
          <p:cNvSpPr txBox="1"/>
          <p:nvPr/>
        </p:nvSpPr>
        <p:spPr>
          <a:xfrm>
            <a:off x="535940" y="1622805"/>
            <a:ext cx="3661410" cy="3726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234315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E/R Models are often  represented as E/R  diagrams that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55880" lvl="1" indent="-28638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 a conceptual view  of the database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1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independent of the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choice of DBMS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344170" lvl="1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identify some  problems in a design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57"/>
          <p:cNvSpPr/>
          <p:nvPr/>
        </p:nvSpPr>
        <p:spPr>
          <a:xfrm>
            <a:off x="6858000" y="3276600"/>
            <a:ext cx="1219200" cy="609600"/>
          </a:xfrm>
          <a:custGeom>
            <a:avLst/>
            <a:gdLst/>
            <a:ahLst/>
            <a:cxnLst/>
            <a:rect l="l" t="t" r="r" b="b"/>
            <a:pathLst>
              <a:path w="1219200" h="609600" extrusionOk="0">
                <a:moveTo>
                  <a:pt x="0" y="101600"/>
                </a:moveTo>
                <a:lnTo>
                  <a:pt x="7981" y="62043"/>
                </a:lnTo>
                <a:lnTo>
                  <a:pt x="29749" y="29749"/>
                </a:lnTo>
                <a:lnTo>
                  <a:pt x="62043" y="7981"/>
                </a:lnTo>
                <a:lnTo>
                  <a:pt x="101600" y="0"/>
                </a:lnTo>
                <a:lnTo>
                  <a:pt x="1117600" y="0"/>
                </a:lnTo>
                <a:lnTo>
                  <a:pt x="1157156" y="7981"/>
                </a:lnTo>
                <a:lnTo>
                  <a:pt x="1189450" y="29749"/>
                </a:lnTo>
                <a:lnTo>
                  <a:pt x="1211218" y="62043"/>
                </a:lnTo>
                <a:lnTo>
                  <a:pt x="1219200" y="101600"/>
                </a:lnTo>
                <a:lnTo>
                  <a:pt x="1219200" y="508000"/>
                </a:lnTo>
                <a:lnTo>
                  <a:pt x="1211218" y="547556"/>
                </a:lnTo>
                <a:lnTo>
                  <a:pt x="1189450" y="579850"/>
                </a:lnTo>
                <a:lnTo>
                  <a:pt x="1157156" y="601618"/>
                </a:lnTo>
                <a:lnTo>
                  <a:pt x="1117600" y="609600"/>
                </a:lnTo>
                <a:lnTo>
                  <a:pt x="101600" y="609600"/>
                </a:lnTo>
                <a:lnTo>
                  <a:pt x="62043" y="601618"/>
                </a:lnTo>
                <a:lnTo>
                  <a:pt x="29749" y="579850"/>
                </a:lnTo>
                <a:lnTo>
                  <a:pt x="7981" y="547556"/>
                </a:lnTo>
                <a:lnTo>
                  <a:pt x="0" y="508000"/>
                </a:lnTo>
                <a:lnTo>
                  <a:pt x="0" y="1016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52" name="Google Shape;552;p57"/>
          <p:cNvSpPr txBox="1"/>
          <p:nvPr/>
        </p:nvSpPr>
        <p:spPr>
          <a:xfrm>
            <a:off x="7048627" y="3413379"/>
            <a:ext cx="83883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57"/>
          <p:cNvSpPr/>
          <p:nvPr/>
        </p:nvSpPr>
        <p:spPr>
          <a:xfrm>
            <a:off x="4876800" y="1905000"/>
            <a:ext cx="1219200" cy="609600"/>
          </a:xfrm>
          <a:custGeom>
            <a:avLst/>
            <a:gdLst/>
            <a:ahLst/>
            <a:cxnLst/>
            <a:rect l="l" t="t" r="r" b="b"/>
            <a:pathLst>
              <a:path w="1219200" h="609600" extrusionOk="0">
                <a:moveTo>
                  <a:pt x="0" y="101600"/>
                </a:moveTo>
                <a:lnTo>
                  <a:pt x="7981" y="62043"/>
                </a:lnTo>
                <a:lnTo>
                  <a:pt x="29749" y="29749"/>
                </a:lnTo>
                <a:lnTo>
                  <a:pt x="62043" y="7981"/>
                </a:lnTo>
                <a:lnTo>
                  <a:pt x="101600" y="0"/>
                </a:lnTo>
                <a:lnTo>
                  <a:pt x="1117600" y="0"/>
                </a:lnTo>
                <a:lnTo>
                  <a:pt x="1157156" y="7981"/>
                </a:lnTo>
                <a:lnTo>
                  <a:pt x="1189450" y="29749"/>
                </a:lnTo>
                <a:lnTo>
                  <a:pt x="1211218" y="62043"/>
                </a:lnTo>
                <a:lnTo>
                  <a:pt x="1219200" y="101600"/>
                </a:lnTo>
                <a:lnTo>
                  <a:pt x="1219200" y="508000"/>
                </a:lnTo>
                <a:lnTo>
                  <a:pt x="1211218" y="547556"/>
                </a:lnTo>
                <a:lnTo>
                  <a:pt x="1189450" y="579850"/>
                </a:lnTo>
                <a:lnTo>
                  <a:pt x="1157156" y="601618"/>
                </a:lnTo>
                <a:lnTo>
                  <a:pt x="1117600" y="609600"/>
                </a:lnTo>
                <a:lnTo>
                  <a:pt x="101600" y="609600"/>
                </a:lnTo>
                <a:lnTo>
                  <a:pt x="62043" y="601618"/>
                </a:lnTo>
                <a:lnTo>
                  <a:pt x="29749" y="579850"/>
                </a:lnTo>
                <a:lnTo>
                  <a:pt x="7981" y="547556"/>
                </a:lnTo>
                <a:lnTo>
                  <a:pt x="0" y="508000"/>
                </a:lnTo>
                <a:lnTo>
                  <a:pt x="0" y="1016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54" name="Google Shape;554;p57"/>
          <p:cNvSpPr txBox="1"/>
          <p:nvPr/>
        </p:nvSpPr>
        <p:spPr>
          <a:xfrm>
            <a:off x="5044185" y="2041397"/>
            <a:ext cx="88773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57"/>
          <p:cNvSpPr/>
          <p:nvPr/>
        </p:nvSpPr>
        <p:spPr>
          <a:xfrm>
            <a:off x="4876800" y="4648200"/>
            <a:ext cx="1219200" cy="609600"/>
          </a:xfrm>
          <a:custGeom>
            <a:avLst/>
            <a:gdLst/>
            <a:ahLst/>
            <a:cxnLst/>
            <a:rect l="l" t="t" r="r" b="b"/>
            <a:pathLst>
              <a:path w="1219200" h="609600" extrusionOk="0">
                <a:moveTo>
                  <a:pt x="0" y="101600"/>
                </a:moveTo>
                <a:lnTo>
                  <a:pt x="7981" y="62043"/>
                </a:lnTo>
                <a:lnTo>
                  <a:pt x="29749" y="29749"/>
                </a:lnTo>
                <a:lnTo>
                  <a:pt x="62043" y="7981"/>
                </a:lnTo>
                <a:lnTo>
                  <a:pt x="101600" y="0"/>
                </a:lnTo>
                <a:lnTo>
                  <a:pt x="1117600" y="0"/>
                </a:lnTo>
                <a:lnTo>
                  <a:pt x="1157156" y="7981"/>
                </a:lnTo>
                <a:lnTo>
                  <a:pt x="1189450" y="29749"/>
                </a:lnTo>
                <a:lnTo>
                  <a:pt x="1211218" y="62043"/>
                </a:lnTo>
                <a:lnTo>
                  <a:pt x="1219200" y="101600"/>
                </a:lnTo>
                <a:lnTo>
                  <a:pt x="1219200" y="508000"/>
                </a:lnTo>
                <a:lnTo>
                  <a:pt x="1211218" y="547556"/>
                </a:lnTo>
                <a:lnTo>
                  <a:pt x="1189450" y="579850"/>
                </a:lnTo>
                <a:lnTo>
                  <a:pt x="1157156" y="601618"/>
                </a:lnTo>
                <a:lnTo>
                  <a:pt x="1117600" y="609600"/>
                </a:lnTo>
                <a:lnTo>
                  <a:pt x="101600" y="609600"/>
                </a:lnTo>
                <a:lnTo>
                  <a:pt x="62043" y="601618"/>
                </a:lnTo>
                <a:lnTo>
                  <a:pt x="29749" y="579850"/>
                </a:lnTo>
                <a:lnTo>
                  <a:pt x="7981" y="547556"/>
                </a:lnTo>
                <a:lnTo>
                  <a:pt x="0" y="508000"/>
                </a:lnTo>
                <a:lnTo>
                  <a:pt x="0" y="1016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56" name="Google Shape;556;p57"/>
          <p:cNvSpPr txBox="1"/>
          <p:nvPr/>
        </p:nvSpPr>
        <p:spPr>
          <a:xfrm>
            <a:off x="5071617" y="4785232"/>
            <a:ext cx="829944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57"/>
          <p:cNvSpPr/>
          <p:nvPr/>
        </p:nvSpPr>
        <p:spPr>
          <a:xfrm>
            <a:off x="4876800" y="3200400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600" y="0"/>
                </a:lnTo>
                <a:lnTo>
                  <a:pt x="1219200" y="381000"/>
                </a:lnTo>
                <a:lnTo>
                  <a:pt x="609600" y="762000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58" name="Google Shape;558;p57"/>
          <p:cNvSpPr txBox="1"/>
          <p:nvPr/>
        </p:nvSpPr>
        <p:spPr>
          <a:xfrm>
            <a:off x="5153659" y="3413379"/>
            <a:ext cx="866141" cy="320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Tutors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57"/>
          <p:cNvSpPr/>
          <p:nvPr/>
        </p:nvSpPr>
        <p:spPr>
          <a:xfrm>
            <a:off x="6858000" y="4572000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600" y="0"/>
                </a:lnTo>
                <a:lnTo>
                  <a:pt x="1219200" y="381000"/>
                </a:lnTo>
                <a:lnTo>
                  <a:pt x="609600" y="762000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60" name="Google Shape;560;p57"/>
          <p:cNvSpPr txBox="1"/>
          <p:nvPr/>
        </p:nvSpPr>
        <p:spPr>
          <a:xfrm>
            <a:off x="7078726" y="4785232"/>
            <a:ext cx="77978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Studies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57"/>
          <p:cNvSpPr/>
          <p:nvPr/>
        </p:nvSpPr>
        <p:spPr>
          <a:xfrm>
            <a:off x="5486400" y="2524125"/>
            <a:ext cx="0" cy="666750"/>
          </a:xfrm>
          <a:custGeom>
            <a:avLst/>
            <a:gdLst/>
            <a:ahLst/>
            <a:cxnLst/>
            <a:rect l="l" t="t" r="r" b="b"/>
            <a:pathLst>
              <a:path w="120000" h="666750" extrusionOk="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62" name="Google Shape;562;p57"/>
          <p:cNvSpPr/>
          <p:nvPr/>
        </p:nvSpPr>
        <p:spPr>
          <a:xfrm>
            <a:off x="6105525" y="3581400"/>
            <a:ext cx="742950" cy="0"/>
          </a:xfrm>
          <a:custGeom>
            <a:avLst/>
            <a:gdLst/>
            <a:ahLst/>
            <a:cxnLst/>
            <a:rect l="l" t="t" r="r" b="b"/>
            <a:pathLst>
              <a:path w="742950" h="120000" extrusionOk="0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63" name="Google Shape;563;p57"/>
          <p:cNvSpPr/>
          <p:nvPr/>
        </p:nvSpPr>
        <p:spPr>
          <a:xfrm>
            <a:off x="7467600" y="3895725"/>
            <a:ext cx="0" cy="666750"/>
          </a:xfrm>
          <a:custGeom>
            <a:avLst/>
            <a:gdLst/>
            <a:ahLst/>
            <a:cxnLst/>
            <a:rect l="l" t="t" r="r" b="b"/>
            <a:pathLst>
              <a:path w="120000" h="666750" extrusionOk="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64" name="Google Shape;564;p57"/>
          <p:cNvSpPr/>
          <p:nvPr/>
        </p:nvSpPr>
        <p:spPr>
          <a:xfrm>
            <a:off x="6105525" y="4953000"/>
            <a:ext cx="742950" cy="0"/>
          </a:xfrm>
          <a:custGeom>
            <a:avLst/>
            <a:gdLst/>
            <a:ahLst/>
            <a:cxnLst/>
            <a:rect l="l" t="t" r="r" b="b"/>
            <a:pathLst>
              <a:path w="742950" h="120000" extrusionOk="0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65" name="Google Shape;565;p57"/>
          <p:cNvSpPr/>
          <p:nvPr/>
        </p:nvSpPr>
        <p:spPr>
          <a:xfrm>
            <a:off x="6096000" y="4800600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0" y="0"/>
                </a:moveTo>
                <a:lnTo>
                  <a:pt x="48182" y="7649"/>
                </a:lnTo>
                <a:lnTo>
                  <a:pt x="90019" y="28947"/>
                </a:lnTo>
                <a:lnTo>
                  <a:pt x="123005" y="61420"/>
                </a:lnTo>
                <a:lnTo>
                  <a:pt x="144633" y="102591"/>
                </a:lnTo>
                <a:lnTo>
                  <a:pt x="152400" y="149987"/>
                </a:lnTo>
                <a:lnTo>
                  <a:pt x="144646" y="197382"/>
                </a:lnTo>
                <a:lnTo>
                  <a:pt x="123049" y="238553"/>
                </a:lnTo>
                <a:lnTo>
                  <a:pt x="90101" y="271026"/>
                </a:lnTo>
                <a:lnTo>
                  <a:pt x="48296" y="292324"/>
                </a:lnTo>
                <a:lnTo>
                  <a:pt x="126" y="299974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66" name="Google Shape;566;p57"/>
          <p:cNvSpPr/>
          <p:nvPr/>
        </p:nvSpPr>
        <p:spPr>
          <a:xfrm>
            <a:off x="6705600" y="3429000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152400" y="0"/>
                </a:moveTo>
                <a:lnTo>
                  <a:pt x="104217" y="7649"/>
                </a:lnTo>
                <a:lnTo>
                  <a:pt x="62380" y="28947"/>
                </a:lnTo>
                <a:lnTo>
                  <a:pt x="29394" y="61420"/>
                </a:lnTo>
                <a:lnTo>
                  <a:pt x="7766" y="102591"/>
                </a:lnTo>
                <a:lnTo>
                  <a:pt x="0" y="149987"/>
                </a:lnTo>
                <a:lnTo>
                  <a:pt x="7753" y="197382"/>
                </a:lnTo>
                <a:lnTo>
                  <a:pt x="29350" y="238553"/>
                </a:lnTo>
                <a:lnTo>
                  <a:pt x="62298" y="271026"/>
                </a:lnTo>
                <a:lnTo>
                  <a:pt x="104103" y="292324"/>
                </a:lnTo>
                <a:lnTo>
                  <a:pt x="152273" y="299974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67" name="Google Shape;567;p57"/>
          <p:cNvSpPr/>
          <p:nvPr/>
        </p:nvSpPr>
        <p:spPr>
          <a:xfrm>
            <a:off x="7315200" y="3886200"/>
            <a:ext cx="300355" cy="152400"/>
          </a:xfrm>
          <a:custGeom>
            <a:avLst/>
            <a:gdLst/>
            <a:ahLst/>
            <a:cxnLst/>
            <a:rect l="l" t="t" r="r" b="b"/>
            <a:pathLst>
              <a:path w="300354" h="152400" extrusionOk="0">
                <a:moveTo>
                  <a:pt x="300100" y="0"/>
                </a:moveTo>
                <a:lnTo>
                  <a:pt x="292450" y="48182"/>
                </a:lnTo>
                <a:lnTo>
                  <a:pt x="271145" y="90019"/>
                </a:lnTo>
                <a:lnTo>
                  <a:pt x="238653" y="123005"/>
                </a:lnTo>
                <a:lnTo>
                  <a:pt x="197444" y="144633"/>
                </a:lnTo>
                <a:lnTo>
                  <a:pt x="149986" y="152400"/>
                </a:lnTo>
                <a:lnTo>
                  <a:pt x="102603" y="144646"/>
                </a:lnTo>
                <a:lnTo>
                  <a:pt x="61456" y="123049"/>
                </a:lnTo>
                <a:lnTo>
                  <a:pt x="29002" y="90101"/>
                </a:lnTo>
                <a:lnTo>
                  <a:pt x="7698" y="48296"/>
                </a:lnTo>
                <a:lnTo>
                  <a:pt x="0" y="126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68" name="Google Shape;568;p57"/>
          <p:cNvSpPr/>
          <p:nvPr/>
        </p:nvSpPr>
        <p:spPr>
          <a:xfrm>
            <a:off x="7010400" y="1981200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 extrusionOk="0">
                <a:moveTo>
                  <a:pt x="0" y="190500"/>
                </a:moveTo>
                <a:lnTo>
                  <a:pt x="19359" y="135500"/>
                </a:lnTo>
                <a:lnTo>
                  <a:pt x="73664" y="86794"/>
                </a:lnTo>
                <a:lnTo>
                  <a:pt x="112153" y="65540"/>
                </a:lnTo>
                <a:lnTo>
                  <a:pt x="157254" y="46744"/>
                </a:lnTo>
                <a:lnTo>
                  <a:pt x="208262" y="30704"/>
                </a:lnTo>
                <a:lnTo>
                  <a:pt x="264468" y="17714"/>
                </a:lnTo>
                <a:lnTo>
                  <a:pt x="325165" y="8069"/>
                </a:lnTo>
                <a:lnTo>
                  <a:pt x="389644" y="2066"/>
                </a:lnTo>
                <a:lnTo>
                  <a:pt x="457200" y="0"/>
                </a:lnTo>
                <a:lnTo>
                  <a:pt x="524755" y="2066"/>
                </a:lnTo>
                <a:lnTo>
                  <a:pt x="589234" y="8069"/>
                </a:lnTo>
                <a:lnTo>
                  <a:pt x="649931" y="17714"/>
                </a:lnTo>
                <a:lnTo>
                  <a:pt x="706137" y="30704"/>
                </a:lnTo>
                <a:lnTo>
                  <a:pt x="757145" y="46744"/>
                </a:lnTo>
                <a:lnTo>
                  <a:pt x="802246" y="65540"/>
                </a:lnTo>
                <a:lnTo>
                  <a:pt x="840735" y="86794"/>
                </a:lnTo>
                <a:lnTo>
                  <a:pt x="871902" y="110213"/>
                </a:lnTo>
                <a:lnTo>
                  <a:pt x="909442" y="162361"/>
                </a:lnTo>
                <a:lnTo>
                  <a:pt x="914400" y="190500"/>
                </a:lnTo>
                <a:lnTo>
                  <a:pt x="909442" y="218638"/>
                </a:lnTo>
                <a:lnTo>
                  <a:pt x="871902" y="270786"/>
                </a:lnTo>
                <a:lnTo>
                  <a:pt x="840735" y="294205"/>
                </a:lnTo>
                <a:lnTo>
                  <a:pt x="802246" y="315459"/>
                </a:lnTo>
                <a:lnTo>
                  <a:pt x="757145" y="334255"/>
                </a:lnTo>
                <a:lnTo>
                  <a:pt x="706137" y="350295"/>
                </a:lnTo>
                <a:lnTo>
                  <a:pt x="649931" y="363285"/>
                </a:lnTo>
                <a:lnTo>
                  <a:pt x="589234" y="372930"/>
                </a:lnTo>
                <a:lnTo>
                  <a:pt x="524755" y="378933"/>
                </a:lnTo>
                <a:lnTo>
                  <a:pt x="457200" y="381000"/>
                </a:lnTo>
                <a:lnTo>
                  <a:pt x="389644" y="378933"/>
                </a:lnTo>
                <a:lnTo>
                  <a:pt x="325165" y="372930"/>
                </a:lnTo>
                <a:lnTo>
                  <a:pt x="264468" y="363285"/>
                </a:lnTo>
                <a:lnTo>
                  <a:pt x="208262" y="350295"/>
                </a:lnTo>
                <a:lnTo>
                  <a:pt x="157254" y="334255"/>
                </a:lnTo>
                <a:lnTo>
                  <a:pt x="112153" y="315459"/>
                </a:lnTo>
                <a:lnTo>
                  <a:pt x="73664" y="294205"/>
                </a:lnTo>
                <a:lnTo>
                  <a:pt x="42497" y="270786"/>
                </a:lnTo>
                <a:lnTo>
                  <a:pt x="4957" y="218638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69" name="Google Shape;569;p57"/>
          <p:cNvSpPr txBox="1"/>
          <p:nvPr/>
        </p:nvSpPr>
        <p:spPr>
          <a:xfrm>
            <a:off x="7367778" y="2037334"/>
            <a:ext cx="2032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57"/>
          <p:cNvSpPr/>
          <p:nvPr/>
        </p:nvSpPr>
        <p:spPr>
          <a:xfrm>
            <a:off x="7543800" y="2514600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 extrusionOk="0">
                <a:moveTo>
                  <a:pt x="0" y="190500"/>
                </a:moveTo>
                <a:lnTo>
                  <a:pt x="19359" y="135500"/>
                </a:lnTo>
                <a:lnTo>
                  <a:pt x="73664" y="86794"/>
                </a:lnTo>
                <a:lnTo>
                  <a:pt x="112153" y="65540"/>
                </a:lnTo>
                <a:lnTo>
                  <a:pt x="157254" y="46744"/>
                </a:lnTo>
                <a:lnTo>
                  <a:pt x="208262" y="30704"/>
                </a:lnTo>
                <a:lnTo>
                  <a:pt x="264468" y="17714"/>
                </a:lnTo>
                <a:lnTo>
                  <a:pt x="325165" y="8069"/>
                </a:lnTo>
                <a:lnTo>
                  <a:pt x="389644" y="2066"/>
                </a:lnTo>
                <a:lnTo>
                  <a:pt x="457200" y="0"/>
                </a:lnTo>
                <a:lnTo>
                  <a:pt x="524755" y="2066"/>
                </a:lnTo>
                <a:lnTo>
                  <a:pt x="589234" y="8069"/>
                </a:lnTo>
                <a:lnTo>
                  <a:pt x="649931" y="17714"/>
                </a:lnTo>
                <a:lnTo>
                  <a:pt x="706137" y="30704"/>
                </a:lnTo>
                <a:lnTo>
                  <a:pt x="757145" y="46744"/>
                </a:lnTo>
                <a:lnTo>
                  <a:pt x="802246" y="65540"/>
                </a:lnTo>
                <a:lnTo>
                  <a:pt x="840735" y="86794"/>
                </a:lnTo>
                <a:lnTo>
                  <a:pt x="871902" y="110213"/>
                </a:lnTo>
                <a:lnTo>
                  <a:pt x="909442" y="162361"/>
                </a:lnTo>
                <a:lnTo>
                  <a:pt x="914400" y="190500"/>
                </a:lnTo>
                <a:lnTo>
                  <a:pt x="909442" y="218638"/>
                </a:lnTo>
                <a:lnTo>
                  <a:pt x="871902" y="270786"/>
                </a:lnTo>
                <a:lnTo>
                  <a:pt x="840735" y="294205"/>
                </a:lnTo>
                <a:lnTo>
                  <a:pt x="802246" y="315459"/>
                </a:lnTo>
                <a:lnTo>
                  <a:pt x="757145" y="334255"/>
                </a:lnTo>
                <a:lnTo>
                  <a:pt x="706137" y="350295"/>
                </a:lnTo>
                <a:lnTo>
                  <a:pt x="649931" y="363285"/>
                </a:lnTo>
                <a:lnTo>
                  <a:pt x="589234" y="372930"/>
                </a:lnTo>
                <a:lnTo>
                  <a:pt x="524755" y="378933"/>
                </a:lnTo>
                <a:lnTo>
                  <a:pt x="457200" y="381000"/>
                </a:lnTo>
                <a:lnTo>
                  <a:pt x="389644" y="378933"/>
                </a:lnTo>
                <a:lnTo>
                  <a:pt x="325165" y="372930"/>
                </a:lnTo>
                <a:lnTo>
                  <a:pt x="264468" y="363285"/>
                </a:lnTo>
                <a:lnTo>
                  <a:pt x="208262" y="350295"/>
                </a:lnTo>
                <a:lnTo>
                  <a:pt x="157254" y="334255"/>
                </a:lnTo>
                <a:lnTo>
                  <a:pt x="112153" y="315459"/>
                </a:lnTo>
                <a:lnTo>
                  <a:pt x="73664" y="294205"/>
                </a:lnTo>
                <a:lnTo>
                  <a:pt x="42497" y="270786"/>
                </a:lnTo>
                <a:lnTo>
                  <a:pt x="4957" y="218638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71" name="Google Shape;571;p57"/>
          <p:cNvSpPr txBox="1"/>
          <p:nvPr/>
        </p:nvSpPr>
        <p:spPr>
          <a:xfrm>
            <a:off x="7706106" y="2571115"/>
            <a:ext cx="59436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57"/>
          <p:cNvSpPr/>
          <p:nvPr/>
        </p:nvSpPr>
        <p:spPr>
          <a:xfrm>
            <a:off x="6477000" y="2514600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 extrusionOk="0">
                <a:moveTo>
                  <a:pt x="0" y="190500"/>
                </a:moveTo>
                <a:lnTo>
                  <a:pt x="19359" y="135500"/>
                </a:lnTo>
                <a:lnTo>
                  <a:pt x="73664" y="86794"/>
                </a:lnTo>
                <a:lnTo>
                  <a:pt x="112153" y="65540"/>
                </a:lnTo>
                <a:lnTo>
                  <a:pt x="157254" y="46744"/>
                </a:lnTo>
                <a:lnTo>
                  <a:pt x="208262" y="30704"/>
                </a:lnTo>
                <a:lnTo>
                  <a:pt x="264468" y="17714"/>
                </a:lnTo>
                <a:lnTo>
                  <a:pt x="325165" y="8069"/>
                </a:lnTo>
                <a:lnTo>
                  <a:pt x="389644" y="2066"/>
                </a:lnTo>
                <a:lnTo>
                  <a:pt x="457200" y="0"/>
                </a:lnTo>
                <a:lnTo>
                  <a:pt x="524755" y="2066"/>
                </a:lnTo>
                <a:lnTo>
                  <a:pt x="589234" y="8069"/>
                </a:lnTo>
                <a:lnTo>
                  <a:pt x="649931" y="17714"/>
                </a:lnTo>
                <a:lnTo>
                  <a:pt x="706137" y="30704"/>
                </a:lnTo>
                <a:lnTo>
                  <a:pt x="757145" y="46744"/>
                </a:lnTo>
                <a:lnTo>
                  <a:pt x="802246" y="65540"/>
                </a:lnTo>
                <a:lnTo>
                  <a:pt x="840735" y="86794"/>
                </a:lnTo>
                <a:lnTo>
                  <a:pt x="871902" y="110213"/>
                </a:lnTo>
                <a:lnTo>
                  <a:pt x="909442" y="162361"/>
                </a:lnTo>
                <a:lnTo>
                  <a:pt x="914400" y="190500"/>
                </a:lnTo>
                <a:lnTo>
                  <a:pt x="909442" y="218638"/>
                </a:lnTo>
                <a:lnTo>
                  <a:pt x="871902" y="270786"/>
                </a:lnTo>
                <a:lnTo>
                  <a:pt x="840735" y="294205"/>
                </a:lnTo>
                <a:lnTo>
                  <a:pt x="802246" y="315459"/>
                </a:lnTo>
                <a:lnTo>
                  <a:pt x="757145" y="334255"/>
                </a:lnTo>
                <a:lnTo>
                  <a:pt x="706137" y="350295"/>
                </a:lnTo>
                <a:lnTo>
                  <a:pt x="649931" y="363285"/>
                </a:lnTo>
                <a:lnTo>
                  <a:pt x="589234" y="372930"/>
                </a:lnTo>
                <a:lnTo>
                  <a:pt x="524755" y="378933"/>
                </a:lnTo>
                <a:lnTo>
                  <a:pt x="457200" y="381000"/>
                </a:lnTo>
                <a:lnTo>
                  <a:pt x="389644" y="378933"/>
                </a:lnTo>
                <a:lnTo>
                  <a:pt x="325165" y="372930"/>
                </a:lnTo>
                <a:lnTo>
                  <a:pt x="264468" y="363285"/>
                </a:lnTo>
                <a:lnTo>
                  <a:pt x="208262" y="350295"/>
                </a:lnTo>
                <a:lnTo>
                  <a:pt x="157254" y="334255"/>
                </a:lnTo>
                <a:lnTo>
                  <a:pt x="112153" y="315459"/>
                </a:lnTo>
                <a:lnTo>
                  <a:pt x="73664" y="294205"/>
                </a:lnTo>
                <a:lnTo>
                  <a:pt x="42497" y="270786"/>
                </a:lnTo>
                <a:lnTo>
                  <a:pt x="4957" y="218638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73" name="Google Shape;573;p57"/>
          <p:cNvSpPr txBox="1"/>
          <p:nvPr/>
        </p:nvSpPr>
        <p:spPr>
          <a:xfrm>
            <a:off x="6677025" y="2571115"/>
            <a:ext cx="51689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57"/>
          <p:cNvSpPr/>
          <p:nvPr/>
        </p:nvSpPr>
        <p:spPr>
          <a:xfrm>
            <a:off x="7467600" y="2905125"/>
            <a:ext cx="533400" cy="361950"/>
          </a:xfrm>
          <a:custGeom>
            <a:avLst/>
            <a:gdLst/>
            <a:ahLst/>
            <a:cxnLst/>
            <a:rect l="l" t="t" r="r" b="b"/>
            <a:pathLst>
              <a:path w="533400" h="361950" extrusionOk="0">
                <a:moveTo>
                  <a:pt x="0" y="361950"/>
                </a:moveTo>
                <a:lnTo>
                  <a:pt x="53340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75" name="Google Shape;575;p57"/>
          <p:cNvSpPr/>
          <p:nvPr/>
        </p:nvSpPr>
        <p:spPr>
          <a:xfrm>
            <a:off x="7467600" y="2371725"/>
            <a:ext cx="0" cy="895350"/>
          </a:xfrm>
          <a:custGeom>
            <a:avLst/>
            <a:gdLst/>
            <a:ahLst/>
            <a:cxnLst/>
            <a:rect l="l" t="t" r="r" b="b"/>
            <a:pathLst>
              <a:path w="120000" h="895350" extrusionOk="0">
                <a:moveTo>
                  <a:pt x="0" y="895350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76" name="Google Shape;576;p57"/>
          <p:cNvSpPr/>
          <p:nvPr/>
        </p:nvSpPr>
        <p:spPr>
          <a:xfrm>
            <a:off x="6934200" y="2905125"/>
            <a:ext cx="533400" cy="361950"/>
          </a:xfrm>
          <a:custGeom>
            <a:avLst/>
            <a:gdLst/>
            <a:ahLst/>
            <a:cxnLst/>
            <a:rect l="l" t="t" r="r" b="b"/>
            <a:pathLst>
              <a:path w="533400" h="361950" extrusionOk="0">
                <a:moveTo>
                  <a:pt x="533400" y="361950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40190422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5163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Diagramming Entities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623" name="Google Shape;623;p6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7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24" name="Google Shape;624;p60"/>
          <p:cNvSpPr txBox="1"/>
          <p:nvPr/>
        </p:nvSpPr>
        <p:spPr>
          <a:xfrm>
            <a:off x="533400" y="1752600"/>
            <a:ext cx="3833495" cy="45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5080" indent="-342900"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Entities represent  objects or things of  </a:t>
            </a:r>
            <a:r>
              <a:rPr lang="en-US" sz="2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interest</a:t>
            </a:r>
          </a:p>
          <a:p>
            <a:pPr marL="355600" marR="508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E/R Diagrams, we will  represent Entities as  boxes with rounded  corners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11430" lvl="0" indent="-342900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box is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labelled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 the name of the class of  objects represented by  that entity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60"/>
          <p:cNvSpPr/>
          <p:nvPr/>
        </p:nvSpPr>
        <p:spPr>
          <a:xfrm>
            <a:off x="6858000" y="3276600"/>
            <a:ext cx="1219200" cy="609600"/>
          </a:xfrm>
          <a:custGeom>
            <a:avLst/>
            <a:gdLst/>
            <a:ahLst/>
            <a:cxnLst/>
            <a:rect l="l" t="t" r="r" b="b"/>
            <a:pathLst>
              <a:path w="1219200" h="609600" extrusionOk="0">
                <a:moveTo>
                  <a:pt x="0" y="101600"/>
                </a:moveTo>
                <a:lnTo>
                  <a:pt x="7981" y="62043"/>
                </a:lnTo>
                <a:lnTo>
                  <a:pt x="29749" y="29749"/>
                </a:lnTo>
                <a:lnTo>
                  <a:pt x="62043" y="7981"/>
                </a:lnTo>
                <a:lnTo>
                  <a:pt x="101600" y="0"/>
                </a:lnTo>
                <a:lnTo>
                  <a:pt x="1117600" y="0"/>
                </a:lnTo>
                <a:lnTo>
                  <a:pt x="1157156" y="7981"/>
                </a:lnTo>
                <a:lnTo>
                  <a:pt x="1189450" y="29749"/>
                </a:lnTo>
                <a:lnTo>
                  <a:pt x="1211218" y="62043"/>
                </a:lnTo>
                <a:lnTo>
                  <a:pt x="1219200" y="101600"/>
                </a:lnTo>
                <a:lnTo>
                  <a:pt x="1219200" y="508000"/>
                </a:lnTo>
                <a:lnTo>
                  <a:pt x="1211218" y="547556"/>
                </a:lnTo>
                <a:lnTo>
                  <a:pt x="1189450" y="579850"/>
                </a:lnTo>
                <a:lnTo>
                  <a:pt x="1157156" y="601618"/>
                </a:lnTo>
                <a:lnTo>
                  <a:pt x="1117600" y="609600"/>
                </a:lnTo>
                <a:lnTo>
                  <a:pt x="101600" y="609600"/>
                </a:lnTo>
                <a:lnTo>
                  <a:pt x="62043" y="601618"/>
                </a:lnTo>
                <a:lnTo>
                  <a:pt x="29749" y="579850"/>
                </a:lnTo>
                <a:lnTo>
                  <a:pt x="7981" y="547556"/>
                </a:lnTo>
                <a:lnTo>
                  <a:pt x="0" y="508000"/>
                </a:lnTo>
                <a:lnTo>
                  <a:pt x="0" y="1016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26" name="Google Shape;626;p60"/>
          <p:cNvSpPr txBox="1"/>
          <p:nvPr/>
        </p:nvSpPr>
        <p:spPr>
          <a:xfrm>
            <a:off x="7048627" y="3413379"/>
            <a:ext cx="83883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60"/>
          <p:cNvSpPr/>
          <p:nvPr/>
        </p:nvSpPr>
        <p:spPr>
          <a:xfrm>
            <a:off x="4876800" y="1905000"/>
            <a:ext cx="1219200" cy="609600"/>
          </a:xfrm>
          <a:custGeom>
            <a:avLst/>
            <a:gdLst/>
            <a:ahLst/>
            <a:cxnLst/>
            <a:rect l="l" t="t" r="r" b="b"/>
            <a:pathLst>
              <a:path w="1219200" h="609600" extrusionOk="0">
                <a:moveTo>
                  <a:pt x="0" y="101600"/>
                </a:moveTo>
                <a:lnTo>
                  <a:pt x="7981" y="62043"/>
                </a:lnTo>
                <a:lnTo>
                  <a:pt x="29749" y="29749"/>
                </a:lnTo>
                <a:lnTo>
                  <a:pt x="62043" y="7981"/>
                </a:lnTo>
                <a:lnTo>
                  <a:pt x="101600" y="0"/>
                </a:lnTo>
                <a:lnTo>
                  <a:pt x="1117600" y="0"/>
                </a:lnTo>
                <a:lnTo>
                  <a:pt x="1157156" y="7981"/>
                </a:lnTo>
                <a:lnTo>
                  <a:pt x="1189450" y="29749"/>
                </a:lnTo>
                <a:lnTo>
                  <a:pt x="1211218" y="62043"/>
                </a:lnTo>
                <a:lnTo>
                  <a:pt x="1219200" y="101600"/>
                </a:lnTo>
                <a:lnTo>
                  <a:pt x="1219200" y="508000"/>
                </a:lnTo>
                <a:lnTo>
                  <a:pt x="1211218" y="547556"/>
                </a:lnTo>
                <a:lnTo>
                  <a:pt x="1189450" y="579850"/>
                </a:lnTo>
                <a:lnTo>
                  <a:pt x="1157156" y="601618"/>
                </a:lnTo>
                <a:lnTo>
                  <a:pt x="1117600" y="609600"/>
                </a:lnTo>
                <a:lnTo>
                  <a:pt x="101600" y="609600"/>
                </a:lnTo>
                <a:lnTo>
                  <a:pt x="62043" y="601618"/>
                </a:lnTo>
                <a:lnTo>
                  <a:pt x="29749" y="579850"/>
                </a:lnTo>
                <a:lnTo>
                  <a:pt x="7981" y="547556"/>
                </a:lnTo>
                <a:lnTo>
                  <a:pt x="0" y="508000"/>
                </a:lnTo>
                <a:lnTo>
                  <a:pt x="0" y="1016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28" name="Google Shape;628;p60"/>
          <p:cNvSpPr txBox="1"/>
          <p:nvPr/>
        </p:nvSpPr>
        <p:spPr>
          <a:xfrm>
            <a:off x="5044185" y="2041397"/>
            <a:ext cx="88773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60"/>
          <p:cNvSpPr/>
          <p:nvPr/>
        </p:nvSpPr>
        <p:spPr>
          <a:xfrm>
            <a:off x="4876800" y="4648200"/>
            <a:ext cx="1219200" cy="609600"/>
          </a:xfrm>
          <a:custGeom>
            <a:avLst/>
            <a:gdLst/>
            <a:ahLst/>
            <a:cxnLst/>
            <a:rect l="l" t="t" r="r" b="b"/>
            <a:pathLst>
              <a:path w="1219200" h="609600" extrusionOk="0">
                <a:moveTo>
                  <a:pt x="0" y="101600"/>
                </a:moveTo>
                <a:lnTo>
                  <a:pt x="7981" y="62043"/>
                </a:lnTo>
                <a:lnTo>
                  <a:pt x="29749" y="29749"/>
                </a:lnTo>
                <a:lnTo>
                  <a:pt x="62043" y="7981"/>
                </a:lnTo>
                <a:lnTo>
                  <a:pt x="101600" y="0"/>
                </a:lnTo>
                <a:lnTo>
                  <a:pt x="1117600" y="0"/>
                </a:lnTo>
                <a:lnTo>
                  <a:pt x="1157156" y="7981"/>
                </a:lnTo>
                <a:lnTo>
                  <a:pt x="1189450" y="29749"/>
                </a:lnTo>
                <a:lnTo>
                  <a:pt x="1211218" y="62043"/>
                </a:lnTo>
                <a:lnTo>
                  <a:pt x="1219200" y="101600"/>
                </a:lnTo>
                <a:lnTo>
                  <a:pt x="1219200" y="508000"/>
                </a:lnTo>
                <a:lnTo>
                  <a:pt x="1211218" y="547556"/>
                </a:lnTo>
                <a:lnTo>
                  <a:pt x="1189450" y="579850"/>
                </a:lnTo>
                <a:lnTo>
                  <a:pt x="1157156" y="601618"/>
                </a:lnTo>
                <a:lnTo>
                  <a:pt x="1117600" y="609600"/>
                </a:lnTo>
                <a:lnTo>
                  <a:pt x="101600" y="609600"/>
                </a:lnTo>
                <a:lnTo>
                  <a:pt x="62043" y="601618"/>
                </a:lnTo>
                <a:lnTo>
                  <a:pt x="29749" y="579850"/>
                </a:lnTo>
                <a:lnTo>
                  <a:pt x="7981" y="547556"/>
                </a:lnTo>
                <a:lnTo>
                  <a:pt x="0" y="508000"/>
                </a:lnTo>
                <a:lnTo>
                  <a:pt x="0" y="1016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30" name="Google Shape;630;p60"/>
          <p:cNvSpPr txBox="1"/>
          <p:nvPr/>
        </p:nvSpPr>
        <p:spPr>
          <a:xfrm>
            <a:off x="5071617" y="4785232"/>
            <a:ext cx="829944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60"/>
          <p:cNvSpPr/>
          <p:nvPr/>
        </p:nvSpPr>
        <p:spPr>
          <a:xfrm>
            <a:off x="4876800" y="3200400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600" y="0"/>
                </a:lnTo>
                <a:lnTo>
                  <a:pt x="1219200" y="381000"/>
                </a:lnTo>
                <a:lnTo>
                  <a:pt x="609600" y="762000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32" name="Google Shape;632;p60"/>
          <p:cNvSpPr txBox="1"/>
          <p:nvPr/>
        </p:nvSpPr>
        <p:spPr>
          <a:xfrm>
            <a:off x="5153659" y="3413379"/>
            <a:ext cx="942341" cy="320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Tutors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60"/>
          <p:cNvSpPr/>
          <p:nvPr/>
        </p:nvSpPr>
        <p:spPr>
          <a:xfrm>
            <a:off x="6858000" y="4572000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600" y="0"/>
                </a:lnTo>
                <a:lnTo>
                  <a:pt x="1219200" y="381000"/>
                </a:lnTo>
                <a:lnTo>
                  <a:pt x="609600" y="762000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34" name="Google Shape;634;p60"/>
          <p:cNvSpPr txBox="1"/>
          <p:nvPr/>
        </p:nvSpPr>
        <p:spPr>
          <a:xfrm>
            <a:off x="7078726" y="4785232"/>
            <a:ext cx="77978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Studies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60"/>
          <p:cNvSpPr/>
          <p:nvPr/>
        </p:nvSpPr>
        <p:spPr>
          <a:xfrm>
            <a:off x="5486400" y="2524125"/>
            <a:ext cx="0" cy="666750"/>
          </a:xfrm>
          <a:custGeom>
            <a:avLst/>
            <a:gdLst/>
            <a:ahLst/>
            <a:cxnLst/>
            <a:rect l="l" t="t" r="r" b="b"/>
            <a:pathLst>
              <a:path w="120000" h="666750" extrusionOk="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19050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36" name="Google Shape;636;p60"/>
          <p:cNvSpPr/>
          <p:nvPr/>
        </p:nvSpPr>
        <p:spPr>
          <a:xfrm>
            <a:off x="6105525" y="3581400"/>
            <a:ext cx="742950" cy="0"/>
          </a:xfrm>
          <a:custGeom>
            <a:avLst/>
            <a:gdLst/>
            <a:ahLst/>
            <a:cxnLst/>
            <a:rect l="l" t="t" r="r" b="b"/>
            <a:pathLst>
              <a:path w="742950" h="120000" extrusionOk="0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19050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37" name="Google Shape;637;p60"/>
          <p:cNvSpPr/>
          <p:nvPr/>
        </p:nvSpPr>
        <p:spPr>
          <a:xfrm>
            <a:off x="7467600" y="3895725"/>
            <a:ext cx="0" cy="666750"/>
          </a:xfrm>
          <a:custGeom>
            <a:avLst/>
            <a:gdLst/>
            <a:ahLst/>
            <a:cxnLst/>
            <a:rect l="l" t="t" r="r" b="b"/>
            <a:pathLst>
              <a:path w="120000" h="666750" extrusionOk="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19050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38" name="Google Shape;638;p60"/>
          <p:cNvSpPr/>
          <p:nvPr/>
        </p:nvSpPr>
        <p:spPr>
          <a:xfrm>
            <a:off x="6105525" y="4953000"/>
            <a:ext cx="742950" cy="0"/>
          </a:xfrm>
          <a:custGeom>
            <a:avLst/>
            <a:gdLst/>
            <a:ahLst/>
            <a:cxnLst/>
            <a:rect l="l" t="t" r="r" b="b"/>
            <a:pathLst>
              <a:path w="742950" h="120000" extrusionOk="0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19050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39" name="Google Shape;639;p60"/>
          <p:cNvSpPr/>
          <p:nvPr/>
        </p:nvSpPr>
        <p:spPr>
          <a:xfrm>
            <a:off x="6096000" y="4800600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0" y="0"/>
                </a:moveTo>
                <a:lnTo>
                  <a:pt x="48182" y="7649"/>
                </a:lnTo>
                <a:lnTo>
                  <a:pt x="90019" y="28947"/>
                </a:lnTo>
                <a:lnTo>
                  <a:pt x="123005" y="61420"/>
                </a:lnTo>
                <a:lnTo>
                  <a:pt x="144633" y="102591"/>
                </a:lnTo>
                <a:lnTo>
                  <a:pt x="152400" y="149987"/>
                </a:lnTo>
                <a:lnTo>
                  <a:pt x="144646" y="197382"/>
                </a:lnTo>
                <a:lnTo>
                  <a:pt x="123049" y="238553"/>
                </a:lnTo>
                <a:lnTo>
                  <a:pt x="90101" y="271026"/>
                </a:lnTo>
                <a:lnTo>
                  <a:pt x="48296" y="292324"/>
                </a:lnTo>
                <a:lnTo>
                  <a:pt x="126" y="299974"/>
                </a:lnTo>
              </a:path>
            </a:pathLst>
          </a:custGeom>
          <a:noFill/>
          <a:ln w="19050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40" name="Google Shape;640;p60"/>
          <p:cNvSpPr/>
          <p:nvPr/>
        </p:nvSpPr>
        <p:spPr>
          <a:xfrm>
            <a:off x="6705600" y="3429000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152400" y="0"/>
                </a:moveTo>
                <a:lnTo>
                  <a:pt x="104217" y="7649"/>
                </a:lnTo>
                <a:lnTo>
                  <a:pt x="62380" y="28947"/>
                </a:lnTo>
                <a:lnTo>
                  <a:pt x="29394" y="61420"/>
                </a:lnTo>
                <a:lnTo>
                  <a:pt x="7766" y="102591"/>
                </a:lnTo>
                <a:lnTo>
                  <a:pt x="0" y="149987"/>
                </a:lnTo>
                <a:lnTo>
                  <a:pt x="7753" y="197382"/>
                </a:lnTo>
                <a:lnTo>
                  <a:pt x="29350" y="238553"/>
                </a:lnTo>
                <a:lnTo>
                  <a:pt x="62298" y="271026"/>
                </a:lnTo>
                <a:lnTo>
                  <a:pt x="104103" y="292324"/>
                </a:lnTo>
                <a:lnTo>
                  <a:pt x="152273" y="299974"/>
                </a:lnTo>
              </a:path>
            </a:pathLst>
          </a:custGeom>
          <a:noFill/>
          <a:ln w="19050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41" name="Google Shape;641;p60"/>
          <p:cNvSpPr/>
          <p:nvPr/>
        </p:nvSpPr>
        <p:spPr>
          <a:xfrm>
            <a:off x="7315200" y="3886200"/>
            <a:ext cx="300355" cy="152400"/>
          </a:xfrm>
          <a:custGeom>
            <a:avLst/>
            <a:gdLst/>
            <a:ahLst/>
            <a:cxnLst/>
            <a:rect l="l" t="t" r="r" b="b"/>
            <a:pathLst>
              <a:path w="300354" h="152400" extrusionOk="0">
                <a:moveTo>
                  <a:pt x="300100" y="0"/>
                </a:moveTo>
                <a:lnTo>
                  <a:pt x="292450" y="48182"/>
                </a:lnTo>
                <a:lnTo>
                  <a:pt x="271145" y="90019"/>
                </a:lnTo>
                <a:lnTo>
                  <a:pt x="238653" y="123005"/>
                </a:lnTo>
                <a:lnTo>
                  <a:pt x="197444" y="144633"/>
                </a:lnTo>
                <a:lnTo>
                  <a:pt x="149986" y="152400"/>
                </a:lnTo>
                <a:lnTo>
                  <a:pt x="102603" y="144646"/>
                </a:lnTo>
                <a:lnTo>
                  <a:pt x="61456" y="123049"/>
                </a:lnTo>
                <a:lnTo>
                  <a:pt x="29002" y="90101"/>
                </a:lnTo>
                <a:lnTo>
                  <a:pt x="7698" y="48296"/>
                </a:lnTo>
                <a:lnTo>
                  <a:pt x="0" y="126"/>
                </a:lnTo>
              </a:path>
            </a:pathLst>
          </a:custGeom>
          <a:noFill/>
          <a:ln w="19050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42" name="Google Shape;642;p60"/>
          <p:cNvSpPr/>
          <p:nvPr/>
        </p:nvSpPr>
        <p:spPr>
          <a:xfrm>
            <a:off x="7010400" y="1981200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 extrusionOk="0">
                <a:moveTo>
                  <a:pt x="0" y="190500"/>
                </a:moveTo>
                <a:lnTo>
                  <a:pt x="19359" y="135500"/>
                </a:lnTo>
                <a:lnTo>
                  <a:pt x="73664" y="86794"/>
                </a:lnTo>
                <a:lnTo>
                  <a:pt x="112153" y="65540"/>
                </a:lnTo>
                <a:lnTo>
                  <a:pt x="157254" y="46744"/>
                </a:lnTo>
                <a:lnTo>
                  <a:pt x="208262" y="30704"/>
                </a:lnTo>
                <a:lnTo>
                  <a:pt x="264468" y="17714"/>
                </a:lnTo>
                <a:lnTo>
                  <a:pt x="325165" y="8069"/>
                </a:lnTo>
                <a:lnTo>
                  <a:pt x="389644" y="2066"/>
                </a:lnTo>
                <a:lnTo>
                  <a:pt x="457200" y="0"/>
                </a:lnTo>
                <a:lnTo>
                  <a:pt x="524755" y="2066"/>
                </a:lnTo>
                <a:lnTo>
                  <a:pt x="589234" y="8069"/>
                </a:lnTo>
                <a:lnTo>
                  <a:pt x="649931" y="17714"/>
                </a:lnTo>
                <a:lnTo>
                  <a:pt x="706137" y="30704"/>
                </a:lnTo>
                <a:lnTo>
                  <a:pt x="757145" y="46744"/>
                </a:lnTo>
                <a:lnTo>
                  <a:pt x="802246" y="65540"/>
                </a:lnTo>
                <a:lnTo>
                  <a:pt x="840735" y="86794"/>
                </a:lnTo>
                <a:lnTo>
                  <a:pt x="871902" y="110213"/>
                </a:lnTo>
                <a:lnTo>
                  <a:pt x="909442" y="162361"/>
                </a:lnTo>
                <a:lnTo>
                  <a:pt x="914400" y="190500"/>
                </a:lnTo>
                <a:lnTo>
                  <a:pt x="909442" y="218638"/>
                </a:lnTo>
                <a:lnTo>
                  <a:pt x="871902" y="270786"/>
                </a:lnTo>
                <a:lnTo>
                  <a:pt x="840735" y="294205"/>
                </a:lnTo>
                <a:lnTo>
                  <a:pt x="802246" y="315459"/>
                </a:lnTo>
                <a:lnTo>
                  <a:pt x="757145" y="334255"/>
                </a:lnTo>
                <a:lnTo>
                  <a:pt x="706137" y="350295"/>
                </a:lnTo>
                <a:lnTo>
                  <a:pt x="649931" y="363285"/>
                </a:lnTo>
                <a:lnTo>
                  <a:pt x="589234" y="372930"/>
                </a:lnTo>
                <a:lnTo>
                  <a:pt x="524755" y="378933"/>
                </a:lnTo>
                <a:lnTo>
                  <a:pt x="457200" y="381000"/>
                </a:lnTo>
                <a:lnTo>
                  <a:pt x="389644" y="378933"/>
                </a:lnTo>
                <a:lnTo>
                  <a:pt x="325165" y="372930"/>
                </a:lnTo>
                <a:lnTo>
                  <a:pt x="264468" y="363285"/>
                </a:lnTo>
                <a:lnTo>
                  <a:pt x="208262" y="350295"/>
                </a:lnTo>
                <a:lnTo>
                  <a:pt x="157254" y="334255"/>
                </a:lnTo>
                <a:lnTo>
                  <a:pt x="112153" y="315459"/>
                </a:lnTo>
                <a:lnTo>
                  <a:pt x="73664" y="294205"/>
                </a:lnTo>
                <a:lnTo>
                  <a:pt x="42497" y="270786"/>
                </a:lnTo>
                <a:lnTo>
                  <a:pt x="4957" y="218638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43" name="Google Shape;643;p60"/>
          <p:cNvSpPr txBox="1"/>
          <p:nvPr/>
        </p:nvSpPr>
        <p:spPr>
          <a:xfrm>
            <a:off x="7367778" y="2037334"/>
            <a:ext cx="2032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60"/>
          <p:cNvSpPr/>
          <p:nvPr/>
        </p:nvSpPr>
        <p:spPr>
          <a:xfrm>
            <a:off x="7543800" y="2514600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 extrusionOk="0">
                <a:moveTo>
                  <a:pt x="0" y="190500"/>
                </a:moveTo>
                <a:lnTo>
                  <a:pt x="19359" y="135500"/>
                </a:lnTo>
                <a:lnTo>
                  <a:pt x="73664" y="86794"/>
                </a:lnTo>
                <a:lnTo>
                  <a:pt x="112153" y="65540"/>
                </a:lnTo>
                <a:lnTo>
                  <a:pt x="157254" y="46744"/>
                </a:lnTo>
                <a:lnTo>
                  <a:pt x="208262" y="30704"/>
                </a:lnTo>
                <a:lnTo>
                  <a:pt x="264468" y="17714"/>
                </a:lnTo>
                <a:lnTo>
                  <a:pt x="325165" y="8069"/>
                </a:lnTo>
                <a:lnTo>
                  <a:pt x="389644" y="2066"/>
                </a:lnTo>
                <a:lnTo>
                  <a:pt x="457200" y="0"/>
                </a:lnTo>
                <a:lnTo>
                  <a:pt x="524755" y="2066"/>
                </a:lnTo>
                <a:lnTo>
                  <a:pt x="589234" y="8069"/>
                </a:lnTo>
                <a:lnTo>
                  <a:pt x="649931" y="17714"/>
                </a:lnTo>
                <a:lnTo>
                  <a:pt x="706137" y="30704"/>
                </a:lnTo>
                <a:lnTo>
                  <a:pt x="757145" y="46744"/>
                </a:lnTo>
                <a:lnTo>
                  <a:pt x="802246" y="65540"/>
                </a:lnTo>
                <a:lnTo>
                  <a:pt x="840735" y="86794"/>
                </a:lnTo>
                <a:lnTo>
                  <a:pt x="871902" y="110213"/>
                </a:lnTo>
                <a:lnTo>
                  <a:pt x="909442" y="162361"/>
                </a:lnTo>
                <a:lnTo>
                  <a:pt x="914400" y="190500"/>
                </a:lnTo>
                <a:lnTo>
                  <a:pt x="909442" y="218638"/>
                </a:lnTo>
                <a:lnTo>
                  <a:pt x="871902" y="270786"/>
                </a:lnTo>
                <a:lnTo>
                  <a:pt x="840735" y="294205"/>
                </a:lnTo>
                <a:lnTo>
                  <a:pt x="802246" y="315459"/>
                </a:lnTo>
                <a:lnTo>
                  <a:pt x="757145" y="334255"/>
                </a:lnTo>
                <a:lnTo>
                  <a:pt x="706137" y="350295"/>
                </a:lnTo>
                <a:lnTo>
                  <a:pt x="649931" y="363285"/>
                </a:lnTo>
                <a:lnTo>
                  <a:pt x="589234" y="372930"/>
                </a:lnTo>
                <a:lnTo>
                  <a:pt x="524755" y="378933"/>
                </a:lnTo>
                <a:lnTo>
                  <a:pt x="457200" y="381000"/>
                </a:lnTo>
                <a:lnTo>
                  <a:pt x="389644" y="378933"/>
                </a:lnTo>
                <a:lnTo>
                  <a:pt x="325165" y="372930"/>
                </a:lnTo>
                <a:lnTo>
                  <a:pt x="264468" y="363285"/>
                </a:lnTo>
                <a:lnTo>
                  <a:pt x="208262" y="350295"/>
                </a:lnTo>
                <a:lnTo>
                  <a:pt x="157254" y="334255"/>
                </a:lnTo>
                <a:lnTo>
                  <a:pt x="112153" y="315459"/>
                </a:lnTo>
                <a:lnTo>
                  <a:pt x="73664" y="294205"/>
                </a:lnTo>
                <a:lnTo>
                  <a:pt x="42497" y="270786"/>
                </a:lnTo>
                <a:lnTo>
                  <a:pt x="4957" y="218638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45" name="Google Shape;645;p60"/>
          <p:cNvSpPr txBox="1"/>
          <p:nvPr/>
        </p:nvSpPr>
        <p:spPr>
          <a:xfrm>
            <a:off x="7706106" y="2571115"/>
            <a:ext cx="59436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60"/>
          <p:cNvSpPr/>
          <p:nvPr/>
        </p:nvSpPr>
        <p:spPr>
          <a:xfrm>
            <a:off x="6477000" y="2514600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 extrusionOk="0">
                <a:moveTo>
                  <a:pt x="0" y="190500"/>
                </a:moveTo>
                <a:lnTo>
                  <a:pt x="19359" y="135500"/>
                </a:lnTo>
                <a:lnTo>
                  <a:pt x="73664" y="86794"/>
                </a:lnTo>
                <a:lnTo>
                  <a:pt x="112153" y="65540"/>
                </a:lnTo>
                <a:lnTo>
                  <a:pt x="157254" y="46744"/>
                </a:lnTo>
                <a:lnTo>
                  <a:pt x="208262" y="30704"/>
                </a:lnTo>
                <a:lnTo>
                  <a:pt x="264468" y="17714"/>
                </a:lnTo>
                <a:lnTo>
                  <a:pt x="325165" y="8069"/>
                </a:lnTo>
                <a:lnTo>
                  <a:pt x="389644" y="2066"/>
                </a:lnTo>
                <a:lnTo>
                  <a:pt x="457200" y="0"/>
                </a:lnTo>
                <a:lnTo>
                  <a:pt x="524755" y="2066"/>
                </a:lnTo>
                <a:lnTo>
                  <a:pt x="589234" y="8069"/>
                </a:lnTo>
                <a:lnTo>
                  <a:pt x="649931" y="17714"/>
                </a:lnTo>
                <a:lnTo>
                  <a:pt x="706137" y="30704"/>
                </a:lnTo>
                <a:lnTo>
                  <a:pt x="757145" y="46744"/>
                </a:lnTo>
                <a:lnTo>
                  <a:pt x="802246" y="65540"/>
                </a:lnTo>
                <a:lnTo>
                  <a:pt x="840735" y="86794"/>
                </a:lnTo>
                <a:lnTo>
                  <a:pt x="871902" y="110213"/>
                </a:lnTo>
                <a:lnTo>
                  <a:pt x="909442" y="162361"/>
                </a:lnTo>
                <a:lnTo>
                  <a:pt x="914400" y="190500"/>
                </a:lnTo>
                <a:lnTo>
                  <a:pt x="909442" y="218638"/>
                </a:lnTo>
                <a:lnTo>
                  <a:pt x="871902" y="270786"/>
                </a:lnTo>
                <a:lnTo>
                  <a:pt x="840735" y="294205"/>
                </a:lnTo>
                <a:lnTo>
                  <a:pt x="802246" y="315459"/>
                </a:lnTo>
                <a:lnTo>
                  <a:pt x="757145" y="334255"/>
                </a:lnTo>
                <a:lnTo>
                  <a:pt x="706137" y="350295"/>
                </a:lnTo>
                <a:lnTo>
                  <a:pt x="649931" y="363285"/>
                </a:lnTo>
                <a:lnTo>
                  <a:pt x="589234" y="372930"/>
                </a:lnTo>
                <a:lnTo>
                  <a:pt x="524755" y="378933"/>
                </a:lnTo>
                <a:lnTo>
                  <a:pt x="457200" y="381000"/>
                </a:lnTo>
                <a:lnTo>
                  <a:pt x="389644" y="378933"/>
                </a:lnTo>
                <a:lnTo>
                  <a:pt x="325165" y="372930"/>
                </a:lnTo>
                <a:lnTo>
                  <a:pt x="264468" y="363285"/>
                </a:lnTo>
                <a:lnTo>
                  <a:pt x="208262" y="350295"/>
                </a:lnTo>
                <a:lnTo>
                  <a:pt x="157254" y="334255"/>
                </a:lnTo>
                <a:lnTo>
                  <a:pt x="112153" y="315459"/>
                </a:lnTo>
                <a:lnTo>
                  <a:pt x="73664" y="294205"/>
                </a:lnTo>
                <a:lnTo>
                  <a:pt x="42497" y="270786"/>
                </a:lnTo>
                <a:lnTo>
                  <a:pt x="4957" y="218638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47" name="Google Shape;647;p60"/>
          <p:cNvSpPr txBox="1"/>
          <p:nvPr/>
        </p:nvSpPr>
        <p:spPr>
          <a:xfrm>
            <a:off x="6677025" y="2571115"/>
            <a:ext cx="51689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60"/>
          <p:cNvSpPr/>
          <p:nvPr/>
        </p:nvSpPr>
        <p:spPr>
          <a:xfrm>
            <a:off x="7467600" y="2905125"/>
            <a:ext cx="533400" cy="361950"/>
          </a:xfrm>
          <a:custGeom>
            <a:avLst/>
            <a:gdLst/>
            <a:ahLst/>
            <a:cxnLst/>
            <a:rect l="l" t="t" r="r" b="b"/>
            <a:pathLst>
              <a:path w="533400" h="361950" extrusionOk="0">
                <a:moveTo>
                  <a:pt x="0" y="361950"/>
                </a:moveTo>
                <a:lnTo>
                  <a:pt x="533400" y="0"/>
                </a:lnTo>
              </a:path>
            </a:pathLst>
          </a:custGeom>
          <a:noFill/>
          <a:ln w="19050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49" name="Google Shape;649;p60"/>
          <p:cNvSpPr/>
          <p:nvPr/>
        </p:nvSpPr>
        <p:spPr>
          <a:xfrm>
            <a:off x="7467600" y="2371725"/>
            <a:ext cx="0" cy="895350"/>
          </a:xfrm>
          <a:custGeom>
            <a:avLst/>
            <a:gdLst/>
            <a:ahLst/>
            <a:cxnLst/>
            <a:rect l="l" t="t" r="r" b="b"/>
            <a:pathLst>
              <a:path w="120000" h="895350" extrusionOk="0">
                <a:moveTo>
                  <a:pt x="0" y="895350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50" name="Google Shape;650;p60"/>
          <p:cNvSpPr/>
          <p:nvPr/>
        </p:nvSpPr>
        <p:spPr>
          <a:xfrm>
            <a:off x="6934200" y="2905125"/>
            <a:ext cx="533400" cy="361950"/>
          </a:xfrm>
          <a:custGeom>
            <a:avLst/>
            <a:gdLst/>
            <a:ahLst/>
            <a:cxnLst/>
            <a:rect l="l" t="t" r="r" b="b"/>
            <a:pathLst>
              <a:path w="533400" h="361950" extrusionOk="0">
                <a:moveTo>
                  <a:pt x="533400" y="361950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28696780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6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22872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Diagramming Attributes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664" name="Google Shape;664;p6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8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65" name="Google Shape;665;p62"/>
          <p:cNvSpPr txBox="1"/>
          <p:nvPr/>
        </p:nvSpPr>
        <p:spPr>
          <a:xfrm>
            <a:off x="533400" y="1600200"/>
            <a:ext cx="3708400" cy="3615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5080" indent="-342900"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Attributes are facts,  aspects, properties, or  details about an </a:t>
            </a:r>
            <a:r>
              <a:rPr lang="en-US" sz="2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entity</a:t>
            </a:r>
          </a:p>
          <a:p>
            <a:pPr marL="355600" marR="508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E/R Diagram  attributes are drawn as  ovals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73660" lvl="0" indent="-342900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attribute is linked  to its entity by a line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290830" lvl="0" indent="-342900" algn="l" rtl="0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name of the  attribute is written in  the oval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62"/>
          <p:cNvSpPr/>
          <p:nvPr/>
        </p:nvSpPr>
        <p:spPr>
          <a:xfrm>
            <a:off x="6858000" y="3276600"/>
            <a:ext cx="1219200" cy="609600"/>
          </a:xfrm>
          <a:custGeom>
            <a:avLst/>
            <a:gdLst/>
            <a:ahLst/>
            <a:cxnLst/>
            <a:rect l="l" t="t" r="r" b="b"/>
            <a:pathLst>
              <a:path w="1219200" h="609600" extrusionOk="0">
                <a:moveTo>
                  <a:pt x="0" y="101600"/>
                </a:moveTo>
                <a:lnTo>
                  <a:pt x="7981" y="62043"/>
                </a:lnTo>
                <a:lnTo>
                  <a:pt x="29749" y="29749"/>
                </a:lnTo>
                <a:lnTo>
                  <a:pt x="62043" y="7981"/>
                </a:lnTo>
                <a:lnTo>
                  <a:pt x="101600" y="0"/>
                </a:lnTo>
                <a:lnTo>
                  <a:pt x="1117600" y="0"/>
                </a:lnTo>
                <a:lnTo>
                  <a:pt x="1157156" y="7981"/>
                </a:lnTo>
                <a:lnTo>
                  <a:pt x="1189450" y="29749"/>
                </a:lnTo>
                <a:lnTo>
                  <a:pt x="1211218" y="62043"/>
                </a:lnTo>
                <a:lnTo>
                  <a:pt x="1219200" y="101600"/>
                </a:lnTo>
                <a:lnTo>
                  <a:pt x="1219200" y="508000"/>
                </a:lnTo>
                <a:lnTo>
                  <a:pt x="1211218" y="547556"/>
                </a:lnTo>
                <a:lnTo>
                  <a:pt x="1189450" y="579850"/>
                </a:lnTo>
                <a:lnTo>
                  <a:pt x="1157156" y="601618"/>
                </a:lnTo>
                <a:lnTo>
                  <a:pt x="1117600" y="609600"/>
                </a:lnTo>
                <a:lnTo>
                  <a:pt x="101600" y="609600"/>
                </a:lnTo>
                <a:lnTo>
                  <a:pt x="62043" y="601618"/>
                </a:lnTo>
                <a:lnTo>
                  <a:pt x="29749" y="579850"/>
                </a:lnTo>
                <a:lnTo>
                  <a:pt x="7981" y="547556"/>
                </a:lnTo>
                <a:lnTo>
                  <a:pt x="0" y="508000"/>
                </a:lnTo>
                <a:lnTo>
                  <a:pt x="0" y="1016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67" name="Google Shape;667;p62"/>
          <p:cNvSpPr txBox="1"/>
          <p:nvPr/>
        </p:nvSpPr>
        <p:spPr>
          <a:xfrm>
            <a:off x="7048627" y="3413379"/>
            <a:ext cx="83883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62"/>
          <p:cNvSpPr/>
          <p:nvPr/>
        </p:nvSpPr>
        <p:spPr>
          <a:xfrm>
            <a:off x="4876800" y="1905000"/>
            <a:ext cx="1219200" cy="609600"/>
          </a:xfrm>
          <a:custGeom>
            <a:avLst/>
            <a:gdLst/>
            <a:ahLst/>
            <a:cxnLst/>
            <a:rect l="l" t="t" r="r" b="b"/>
            <a:pathLst>
              <a:path w="1219200" h="609600" extrusionOk="0">
                <a:moveTo>
                  <a:pt x="0" y="101600"/>
                </a:moveTo>
                <a:lnTo>
                  <a:pt x="7981" y="62043"/>
                </a:lnTo>
                <a:lnTo>
                  <a:pt x="29749" y="29749"/>
                </a:lnTo>
                <a:lnTo>
                  <a:pt x="62043" y="7981"/>
                </a:lnTo>
                <a:lnTo>
                  <a:pt x="101600" y="0"/>
                </a:lnTo>
                <a:lnTo>
                  <a:pt x="1117600" y="0"/>
                </a:lnTo>
                <a:lnTo>
                  <a:pt x="1157156" y="7981"/>
                </a:lnTo>
                <a:lnTo>
                  <a:pt x="1189450" y="29749"/>
                </a:lnTo>
                <a:lnTo>
                  <a:pt x="1211218" y="62043"/>
                </a:lnTo>
                <a:lnTo>
                  <a:pt x="1219200" y="101600"/>
                </a:lnTo>
                <a:lnTo>
                  <a:pt x="1219200" y="508000"/>
                </a:lnTo>
                <a:lnTo>
                  <a:pt x="1211218" y="547556"/>
                </a:lnTo>
                <a:lnTo>
                  <a:pt x="1189450" y="579850"/>
                </a:lnTo>
                <a:lnTo>
                  <a:pt x="1157156" y="601618"/>
                </a:lnTo>
                <a:lnTo>
                  <a:pt x="1117600" y="609600"/>
                </a:lnTo>
                <a:lnTo>
                  <a:pt x="101600" y="609600"/>
                </a:lnTo>
                <a:lnTo>
                  <a:pt x="62043" y="601618"/>
                </a:lnTo>
                <a:lnTo>
                  <a:pt x="29749" y="579850"/>
                </a:lnTo>
                <a:lnTo>
                  <a:pt x="7981" y="547556"/>
                </a:lnTo>
                <a:lnTo>
                  <a:pt x="0" y="508000"/>
                </a:lnTo>
                <a:lnTo>
                  <a:pt x="0" y="1016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69" name="Google Shape;669;p62"/>
          <p:cNvSpPr txBox="1"/>
          <p:nvPr/>
        </p:nvSpPr>
        <p:spPr>
          <a:xfrm>
            <a:off x="5044185" y="2041397"/>
            <a:ext cx="88773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Lecturer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62"/>
          <p:cNvSpPr/>
          <p:nvPr/>
        </p:nvSpPr>
        <p:spPr>
          <a:xfrm>
            <a:off x="4876800" y="4648200"/>
            <a:ext cx="1219200" cy="609600"/>
          </a:xfrm>
          <a:custGeom>
            <a:avLst/>
            <a:gdLst/>
            <a:ahLst/>
            <a:cxnLst/>
            <a:rect l="l" t="t" r="r" b="b"/>
            <a:pathLst>
              <a:path w="1219200" h="609600" extrusionOk="0">
                <a:moveTo>
                  <a:pt x="0" y="101600"/>
                </a:moveTo>
                <a:lnTo>
                  <a:pt x="7981" y="62043"/>
                </a:lnTo>
                <a:lnTo>
                  <a:pt x="29749" y="29749"/>
                </a:lnTo>
                <a:lnTo>
                  <a:pt x="62043" y="7981"/>
                </a:lnTo>
                <a:lnTo>
                  <a:pt x="101600" y="0"/>
                </a:lnTo>
                <a:lnTo>
                  <a:pt x="1117600" y="0"/>
                </a:lnTo>
                <a:lnTo>
                  <a:pt x="1157156" y="7981"/>
                </a:lnTo>
                <a:lnTo>
                  <a:pt x="1189450" y="29749"/>
                </a:lnTo>
                <a:lnTo>
                  <a:pt x="1211218" y="62043"/>
                </a:lnTo>
                <a:lnTo>
                  <a:pt x="1219200" y="101600"/>
                </a:lnTo>
                <a:lnTo>
                  <a:pt x="1219200" y="508000"/>
                </a:lnTo>
                <a:lnTo>
                  <a:pt x="1211218" y="547556"/>
                </a:lnTo>
                <a:lnTo>
                  <a:pt x="1189450" y="579850"/>
                </a:lnTo>
                <a:lnTo>
                  <a:pt x="1157156" y="601618"/>
                </a:lnTo>
                <a:lnTo>
                  <a:pt x="1117600" y="609600"/>
                </a:lnTo>
                <a:lnTo>
                  <a:pt x="101600" y="609600"/>
                </a:lnTo>
                <a:lnTo>
                  <a:pt x="62043" y="601618"/>
                </a:lnTo>
                <a:lnTo>
                  <a:pt x="29749" y="579850"/>
                </a:lnTo>
                <a:lnTo>
                  <a:pt x="7981" y="547556"/>
                </a:lnTo>
                <a:lnTo>
                  <a:pt x="0" y="508000"/>
                </a:lnTo>
                <a:lnTo>
                  <a:pt x="0" y="1016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71" name="Google Shape;671;p62"/>
          <p:cNvSpPr txBox="1"/>
          <p:nvPr/>
        </p:nvSpPr>
        <p:spPr>
          <a:xfrm>
            <a:off x="5071617" y="4785232"/>
            <a:ext cx="829944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62"/>
          <p:cNvSpPr/>
          <p:nvPr/>
        </p:nvSpPr>
        <p:spPr>
          <a:xfrm>
            <a:off x="4876800" y="3200400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600" y="0"/>
                </a:lnTo>
                <a:lnTo>
                  <a:pt x="1219200" y="381000"/>
                </a:lnTo>
                <a:lnTo>
                  <a:pt x="609600" y="762000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73" name="Google Shape;673;p62"/>
          <p:cNvSpPr txBox="1"/>
          <p:nvPr/>
        </p:nvSpPr>
        <p:spPr>
          <a:xfrm>
            <a:off x="5153659" y="3413379"/>
            <a:ext cx="66738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Tutors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62"/>
          <p:cNvSpPr/>
          <p:nvPr/>
        </p:nvSpPr>
        <p:spPr>
          <a:xfrm>
            <a:off x="6858000" y="4572000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600" y="0"/>
                </a:lnTo>
                <a:lnTo>
                  <a:pt x="1219200" y="381000"/>
                </a:lnTo>
                <a:lnTo>
                  <a:pt x="609600" y="762000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75" name="Google Shape;675;p62"/>
          <p:cNvSpPr txBox="1"/>
          <p:nvPr/>
        </p:nvSpPr>
        <p:spPr>
          <a:xfrm>
            <a:off x="7078726" y="4785232"/>
            <a:ext cx="77978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Studies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62"/>
          <p:cNvSpPr/>
          <p:nvPr/>
        </p:nvSpPr>
        <p:spPr>
          <a:xfrm>
            <a:off x="5486400" y="2524125"/>
            <a:ext cx="0" cy="666750"/>
          </a:xfrm>
          <a:custGeom>
            <a:avLst/>
            <a:gdLst/>
            <a:ahLst/>
            <a:cxnLst/>
            <a:rect l="l" t="t" r="r" b="b"/>
            <a:pathLst>
              <a:path w="120000" h="666750" extrusionOk="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77" name="Google Shape;677;p62"/>
          <p:cNvSpPr/>
          <p:nvPr/>
        </p:nvSpPr>
        <p:spPr>
          <a:xfrm>
            <a:off x="6105525" y="3581400"/>
            <a:ext cx="742950" cy="0"/>
          </a:xfrm>
          <a:custGeom>
            <a:avLst/>
            <a:gdLst/>
            <a:ahLst/>
            <a:cxnLst/>
            <a:rect l="l" t="t" r="r" b="b"/>
            <a:pathLst>
              <a:path w="742950" h="120000" extrusionOk="0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78" name="Google Shape;678;p62"/>
          <p:cNvSpPr/>
          <p:nvPr/>
        </p:nvSpPr>
        <p:spPr>
          <a:xfrm>
            <a:off x="7467600" y="3895725"/>
            <a:ext cx="0" cy="666750"/>
          </a:xfrm>
          <a:custGeom>
            <a:avLst/>
            <a:gdLst/>
            <a:ahLst/>
            <a:cxnLst/>
            <a:rect l="l" t="t" r="r" b="b"/>
            <a:pathLst>
              <a:path w="120000" h="666750" extrusionOk="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79" name="Google Shape;679;p62"/>
          <p:cNvSpPr/>
          <p:nvPr/>
        </p:nvSpPr>
        <p:spPr>
          <a:xfrm>
            <a:off x="6105525" y="4953000"/>
            <a:ext cx="742950" cy="0"/>
          </a:xfrm>
          <a:custGeom>
            <a:avLst/>
            <a:gdLst/>
            <a:ahLst/>
            <a:cxnLst/>
            <a:rect l="l" t="t" r="r" b="b"/>
            <a:pathLst>
              <a:path w="742950" h="120000" extrusionOk="0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80" name="Google Shape;680;p62"/>
          <p:cNvSpPr/>
          <p:nvPr/>
        </p:nvSpPr>
        <p:spPr>
          <a:xfrm>
            <a:off x="6096000" y="4800600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0" y="0"/>
                </a:moveTo>
                <a:lnTo>
                  <a:pt x="48182" y="7649"/>
                </a:lnTo>
                <a:lnTo>
                  <a:pt x="90019" y="28947"/>
                </a:lnTo>
                <a:lnTo>
                  <a:pt x="123005" y="61420"/>
                </a:lnTo>
                <a:lnTo>
                  <a:pt x="144633" y="102591"/>
                </a:lnTo>
                <a:lnTo>
                  <a:pt x="152400" y="149987"/>
                </a:lnTo>
                <a:lnTo>
                  <a:pt x="144646" y="197382"/>
                </a:lnTo>
                <a:lnTo>
                  <a:pt x="123049" y="238553"/>
                </a:lnTo>
                <a:lnTo>
                  <a:pt x="90101" y="271026"/>
                </a:lnTo>
                <a:lnTo>
                  <a:pt x="48296" y="292324"/>
                </a:lnTo>
                <a:lnTo>
                  <a:pt x="126" y="299974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81" name="Google Shape;681;p62"/>
          <p:cNvSpPr/>
          <p:nvPr/>
        </p:nvSpPr>
        <p:spPr>
          <a:xfrm>
            <a:off x="6705600" y="3429000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152400" y="0"/>
                </a:moveTo>
                <a:lnTo>
                  <a:pt x="104217" y="7649"/>
                </a:lnTo>
                <a:lnTo>
                  <a:pt x="62380" y="28947"/>
                </a:lnTo>
                <a:lnTo>
                  <a:pt x="29394" y="61420"/>
                </a:lnTo>
                <a:lnTo>
                  <a:pt x="7766" y="102591"/>
                </a:lnTo>
                <a:lnTo>
                  <a:pt x="0" y="149987"/>
                </a:lnTo>
                <a:lnTo>
                  <a:pt x="7753" y="197382"/>
                </a:lnTo>
                <a:lnTo>
                  <a:pt x="29350" y="238553"/>
                </a:lnTo>
                <a:lnTo>
                  <a:pt x="62298" y="271026"/>
                </a:lnTo>
                <a:lnTo>
                  <a:pt x="104103" y="292324"/>
                </a:lnTo>
                <a:lnTo>
                  <a:pt x="152273" y="299974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82" name="Google Shape;682;p62"/>
          <p:cNvSpPr/>
          <p:nvPr/>
        </p:nvSpPr>
        <p:spPr>
          <a:xfrm>
            <a:off x="7315200" y="3886200"/>
            <a:ext cx="300355" cy="152400"/>
          </a:xfrm>
          <a:custGeom>
            <a:avLst/>
            <a:gdLst/>
            <a:ahLst/>
            <a:cxnLst/>
            <a:rect l="l" t="t" r="r" b="b"/>
            <a:pathLst>
              <a:path w="300354" h="152400" extrusionOk="0">
                <a:moveTo>
                  <a:pt x="300100" y="0"/>
                </a:moveTo>
                <a:lnTo>
                  <a:pt x="292450" y="48182"/>
                </a:lnTo>
                <a:lnTo>
                  <a:pt x="271145" y="90019"/>
                </a:lnTo>
                <a:lnTo>
                  <a:pt x="238653" y="123005"/>
                </a:lnTo>
                <a:lnTo>
                  <a:pt x="197444" y="144633"/>
                </a:lnTo>
                <a:lnTo>
                  <a:pt x="149986" y="152400"/>
                </a:lnTo>
                <a:lnTo>
                  <a:pt x="102603" y="144646"/>
                </a:lnTo>
                <a:lnTo>
                  <a:pt x="61456" y="123049"/>
                </a:lnTo>
                <a:lnTo>
                  <a:pt x="29002" y="90101"/>
                </a:lnTo>
                <a:lnTo>
                  <a:pt x="7698" y="48296"/>
                </a:lnTo>
                <a:lnTo>
                  <a:pt x="0" y="126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83" name="Google Shape;683;p62"/>
          <p:cNvSpPr/>
          <p:nvPr/>
        </p:nvSpPr>
        <p:spPr>
          <a:xfrm>
            <a:off x="7010400" y="1981200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 extrusionOk="0">
                <a:moveTo>
                  <a:pt x="0" y="190500"/>
                </a:moveTo>
                <a:lnTo>
                  <a:pt x="19359" y="135500"/>
                </a:lnTo>
                <a:lnTo>
                  <a:pt x="73664" y="86794"/>
                </a:lnTo>
                <a:lnTo>
                  <a:pt x="112153" y="65540"/>
                </a:lnTo>
                <a:lnTo>
                  <a:pt x="157254" y="46744"/>
                </a:lnTo>
                <a:lnTo>
                  <a:pt x="208262" y="30704"/>
                </a:lnTo>
                <a:lnTo>
                  <a:pt x="264468" y="17714"/>
                </a:lnTo>
                <a:lnTo>
                  <a:pt x="325165" y="8069"/>
                </a:lnTo>
                <a:lnTo>
                  <a:pt x="389644" y="2066"/>
                </a:lnTo>
                <a:lnTo>
                  <a:pt x="457200" y="0"/>
                </a:lnTo>
                <a:lnTo>
                  <a:pt x="524755" y="2066"/>
                </a:lnTo>
                <a:lnTo>
                  <a:pt x="589234" y="8069"/>
                </a:lnTo>
                <a:lnTo>
                  <a:pt x="649931" y="17714"/>
                </a:lnTo>
                <a:lnTo>
                  <a:pt x="706137" y="30704"/>
                </a:lnTo>
                <a:lnTo>
                  <a:pt x="757145" y="46744"/>
                </a:lnTo>
                <a:lnTo>
                  <a:pt x="802246" y="65540"/>
                </a:lnTo>
                <a:lnTo>
                  <a:pt x="840735" y="86794"/>
                </a:lnTo>
                <a:lnTo>
                  <a:pt x="871902" y="110213"/>
                </a:lnTo>
                <a:lnTo>
                  <a:pt x="909442" y="162361"/>
                </a:lnTo>
                <a:lnTo>
                  <a:pt x="914400" y="190500"/>
                </a:lnTo>
                <a:lnTo>
                  <a:pt x="909442" y="218638"/>
                </a:lnTo>
                <a:lnTo>
                  <a:pt x="871902" y="270786"/>
                </a:lnTo>
                <a:lnTo>
                  <a:pt x="840735" y="294205"/>
                </a:lnTo>
                <a:lnTo>
                  <a:pt x="802246" y="315459"/>
                </a:lnTo>
                <a:lnTo>
                  <a:pt x="757145" y="334255"/>
                </a:lnTo>
                <a:lnTo>
                  <a:pt x="706137" y="350295"/>
                </a:lnTo>
                <a:lnTo>
                  <a:pt x="649931" y="363285"/>
                </a:lnTo>
                <a:lnTo>
                  <a:pt x="589234" y="372930"/>
                </a:lnTo>
                <a:lnTo>
                  <a:pt x="524755" y="378933"/>
                </a:lnTo>
                <a:lnTo>
                  <a:pt x="457200" y="381000"/>
                </a:lnTo>
                <a:lnTo>
                  <a:pt x="389644" y="378933"/>
                </a:lnTo>
                <a:lnTo>
                  <a:pt x="325165" y="372930"/>
                </a:lnTo>
                <a:lnTo>
                  <a:pt x="264468" y="363285"/>
                </a:lnTo>
                <a:lnTo>
                  <a:pt x="208262" y="350295"/>
                </a:lnTo>
                <a:lnTo>
                  <a:pt x="157254" y="334255"/>
                </a:lnTo>
                <a:lnTo>
                  <a:pt x="112153" y="315459"/>
                </a:lnTo>
                <a:lnTo>
                  <a:pt x="73664" y="294205"/>
                </a:lnTo>
                <a:lnTo>
                  <a:pt x="42497" y="270786"/>
                </a:lnTo>
                <a:lnTo>
                  <a:pt x="4957" y="218638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84" name="Google Shape;684;p62"/>
          <p:cNvSpPr txBox="1"/>
          <p:nvPr/>
        </p:nvSpPr>
        <p:spPr>
          <a:xfrm>
            <a:off x="7367778" y="2037334"/>
            <a:ext cx="2032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62"/>
          <p:cNvSpPr/>
          <p:nvPr/>
        </p:nvSpPr>
        <p:spPr>
          <a:xfrm>
            <a:off x="7543800" y="2514600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 extrusionOk="0">
                <a:moveTo>
                  <a:pt x="0" y="190500"/>
                </a:moveTo>
                <a:lnTo>
                  <a:pt x="19359" y="135500"/>
                </a:lnTo>
                <a:lnTo>
                  <a:pt x="73664" y="86794"/>
                </a:lnTo>
                <a:lnTo>
                  <a:pt x="112153" y="65540"/>
                </a:lnTo>
                <a:lnTo>
                  <a:pt x="157254" y="46744"/>
                </a:lnTo>
                <a:lnTo>
                  <a:pt x="208262" y="30704"/>
                </a:lnTo>
                <a:lnTo>
                  <a:pt x="264468" y="17714"/>
                </a:lnTo>
                <a:lnTo>
                  <a:pt x="325165" y="8069"/>
                </a:lnTo>
                <a:lnTo>
                  <a:pt x="389644" y="2066"/>
                </a:lnTo>
                <a:lnTo>
                  <a:pt x="457200" y="0"/>
                </a:lnTo>
                <a:lnTo>
                  <a:pt x="524755" y="2066"/>
                </a:lnTo>
                <a:lnTo>
                  <a:pt x="589234" y="8069"/>
                </a:lnTo>
                <a:lnTo>
                  <a:pt x="649931" y="17714"/>
                </a:lnTo>
                <a:lnTo>
                  <a:pt x="706137" y="30704"/>
                </a:lnTo>
                <a:lnTo>
                  <a:pt x="757145" y="46744"/>
                </a:lnTo>
                <a:lnTo>
                  <a:pt x="802246" y="65540"/>
                </a:lnTo>
                <a:lnTo>
                  <a:pt x="840735" y="86794"/>
                </a:lnTo>
                <a:lnTo>
                  <a:pt x="871902" y="110213"/>
                </a:lnTo>
                <a:lnTo>
                  <a:pt x="909442" y="162361"/>
                </a:lnTo>
                <a:lnTo>
                  <a:pt x="914400" y="190500"/>
                </a:lnTo>
                <a:lnTo>
                  <a:pt x="909442" y="218638"/>
                </a:lnTo>
                <a:lnTo>
                  <a:pt x="871902" y="270786"/>
                </a:lnTo>
                <a:lnTo>
                  <a:pt x="840735" y="294205"/>
                </a:lnTo>
                <a:lnTo>
                  <a:pt x="802246" y="315459"/>
                </a:lnTo>
                <a:lnTo>
                  <a:pt x="757145" y="334255"/>
                </a:lnTo>
                <a:lnTo>
                  <a:pt x="706137" y="350295"/>
                </a:lnTo>
                <a:lnTo>
                  <a:pt x="649931" y="363285"/>
                </a:lnTo>
                <a:lnTo>
                  <a:pt x="589234" y="372930"/>
                </a:lnTo>
                <a:lnTo>
                  <a:pt x="524755" y="378933"/>
                </a:lnTo>
                <a:lnTo>
                  <a:pt x="457200" y="381000"/>
                </a:lnTo>
                <a:lnTo>
                  <a:pt x="389644" y="378933"/>
                </a:lnTo>
                <a:lnTo>
                  <a:pt x="325165" y="372930"/>
                </a:lnTo>
                <a:lnTo>
                  <a:pt x="264468" y="363285"/>
                </a:lnTo>
                <a:lnTo>
                  <a:pt x="208262" y="350295"/>
                </a:lnTo>
                <a:lnTo>
                  <a:pt x="157254" y="334255"/>
                </a:lnTo>
                <a:lnTo>
                  <a:pt x="112153" y="315459"/>
                </a:lnTo>
                <a:lnTo>
                  <a:pt x="73664" y="294205"/>
                </a:lnTo>
                <a:lnTo>
                  <a:pt x="42497" y="270786"/>
                </a:lnTo>
                <a:lnTo>
                  <a:pt x="4957" y="218638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86" name="Google Shape;686;p62"/>
          <p:cNvSpPr txBox="1"/>
          <p:nvPr/>
        </p:nvSpPr>
        <p:spPr>
          <a:xfrm>
            <a:off x="7706106" y="2571115"/>
            <a:ext cx="59436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62"/>
          <p:cNvSpPr/>
          <p:nvPr/>
        </p:nvSpPr>
        <p:spPr>
          <a:xfrm>
            <a:off x="6477000" y="2514600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 extrusionOk="0">
                <a:moveTo>
                  <a:pt x="0" y="190500"/>
                </a:moveTo>
                <a:lnTo>
                  <a:pt x="19359" y="135500"/>
                </a:lnTo>
                <a:lnTo>
                  <a:pt x="73664" y="86794"/>
                </a:lnTo>
                <a:lnTo>
                  <a:pt x="112153" y="65540"/>
                </a:lnTo>
                <a:lnTo>
                  <a:pt x="157254" y="46744"/>
                </a:lnTo>
                <a:lnTo>
                  <a:pt x="208262" y="30704"/>
                </a:lnTo>
                <a:lnTo>
                  <a:pt x="264468" y="17714"/>
                </a:lnTo>
                <a:lnTo>
                  <a:pt x="325165" y="8069"/>
                </a:lnTo>
                <a:lnTo>
                  <a:pt x="389644" y="2066"/>
                </a:lnTo>
                <a:lnTo>
                  <a:pt x="457200" y="0"/>
                </a:lnTo>
                <a:lnTo>
                  <a:pt x="524755" y="2066"/>
                </a:lnTo>
                <a:lnTo>
                  <a:pt x="589234" y="8069"/>
                </a:lnTo>
                <a:lnTo>
                  <a:pt x="649931" y="17714"/>
                </a:lnTo>
                <a:lnTo>
                  <a:pt x="706137" y="30704"/>
                </a:lnTo>
                <a:lnTo>
                  <a:pt x="757145" y="46744"/>
                </a:lnTo>
                <a:lnTo>
                  <a:pt x="802246" y="65540"/>
                </a:lnTo>
                <a:lnTo>
                  <a:pt x="840735" y="86794"/>
                </a:lnTo>
                <a:lnTo>
                  <a:pt x="871902" y="110213"/>
                </a:lnTo>
                <a:lnTo>
                  <a:pt x="909442" y="162361"/>
                </a:lnTo>
                <a:lnTo>
                  <a:pt x="914400" y="190500"/>
                </a:lnTo>
                <a:lnTo>
                  <a:pt x="909442" y="218638"/>
                </a:lnTo>
                <a:lnTo>
                  <a:pt x="871902" y="270786"/>
                </a:lnTo>
                <a:lnTo>
                  <a:pt x="840735" y="294205"/>
                </a:lnTo>
                <a:lnTo>
                  <a:pt x="802246" y="315459"/>
                </a:lnTo>
                <a:lnTo>
                  <a:pt x="757145" y="334255"/>
                </a:lnTo>
                <a:lnTo>
                  <a:pt x="706137" y="350295"/>
                </a:lnTo>
                <a:lnTo>
                  <a:pt x="649931" y="363285"/>
                </a:lnTo>
                <a:lnTo>
                  <a:pt x="589234" y="372930"/>
                </a:lnTo>
                <a:lnTo>
                  <a:pt x="524755" y="378933"/>
                </a:lnTo>
                <a:lnTo>
                  <a:pt x="457200" y="381000"/>
                </a:lnTo>
                <a:lnTo>
                  <a:pt x="389644" y="378933"/>
                </a:lnTo>
                <a:lnTo>
                  <a:pt x="325165" y="372930"/>
                </a:lnTo>
                <a:lnTo>
                  <a:pt x="264468" y="363285"/>
                </a:lnTo>
                <a:lnTo>
                  <a:pt x="208262" y="350295"/>
                </a:lnTo>
                <a:lnTo>
                  <a:pt x="157254" y="334255"/>
                </a:lnTo>
                <a:lnTo>
                  <a:pt x="112153" y="315459"/>
                </a:lnTo>
                <a:lnTo>
                  <a:pt x="73664" y="294205"/>
                </a:lnTo>
                <a:lnTo>
                  <a:pt x="42497" y="270786"/>
                </a:lnTo>
                <a:lnTo>
                  <a:pt x="4957" y="218638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88" name="Google Shape;688;p62"/>
          <p:cNvSpPr txBox="1"/>
          <p:nvPr/>
        </p:nvSpPr>
        <p:spPr>
          <a:xfrm>
            <a:off x="6677025" y="2571115"/>
            <a:ext cx="51689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62"/>
          <p:cNvSpPr/>
          <p:nvPr/>
        </p:nvSpPr>
        <p:spPr>
          <a:xfrm>
            <a:off x="7467600" y="2905125"/>
            <a:ext cx="533400" cy="361950"/>
          </a:xfrm>
          <a:custGeom>
            <a:avLst/>
            <a:gdLst/>
            <a:ahLst/>
            <a:cxnLst/>
            <a:rect l="l" t="t" r="r" b="b"/>
            <a:pathLst>
              <a:path w="533400" h="361950" extrusionOk="0">
                <a:moveTo>
                  <a:pt x="0" y="361950"/>
                </a:moveTo>
                <a:lnTo>
                  <a:pt x="53340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90" name="Google Shape;690;p62"/>
          <p:cNvSpPr/>
          <p:nvPr/>
        </p:nvSpPr>
        <p:spPr>
          <a:xfrm>
            <a:off x="7467600" y="2371725"/>
            <a:ext cx="0" cy="895350"/>
          </a:xfrm>
          <a:custGeom>
            <a:avLst/>
            <a:gdLst/>
            <a:ahLst/>
            <a:cxnLst/>
            <a:rect l="l" t="t" r="r" b="b"/>
            <a:pathLst>
              <a:path w="120000" h="895350" extrusionOk="0">
                <a:moveTo>
                  <a:pt x="0" y="895350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91" name="Google Shape;691;p62"/>
          <p:cNvSpPr/>
          <p:nvPr/>
        </p:nvSpPr>
        <p:spPr>
          <a:xfrm>
            <a:off x="6934200" y="2905125"/>
            <a:ext cx="533400" cy="361950"/>
          </a:xfrm>
          <a:custGeom>
            <a:avLst/>
            <a:gdLst/>
            <a:ahLst/>
            <a:cxnLst/>
            <a:rect l="l" t="t" r="r" b="b"/>
            <a:pathLst>
              <a:path w="533400" h="361950" extrusionOk="0">
                <a:moveTo>
                  <a:pt x="533400" y="361950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2027109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6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43268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Relationships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697" name="Google Shape;697;p63"/>
          <p:cNvSpPr txBox="1"/>
          <p:nvPr/>
        </p:nvSpPr>
        <p:spPr>
          <a:xfrm>
            <a:off x="8427211" y="6464909"/>
            <a:ext cx="18097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63"/>
          <p:cNvSpPr txBox="1"/>
          <p:nvPr/>
        </p:nvSpPr>
        <p:spPr>
          <a:xfrm>
            <a:off x="457200" y="1905000"/>
            <a:ext cx="3876675" cy="3726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54991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Relationships are an  association between  two or more </a:t>
            </a:r>
            <a:r>
              <a:rPr lang="en-US" sz="28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entities</a:t>
            </a:r>
            <a:endParaRPr sz="2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63"/>
          <p:cNvSpPr txBox="1"/>
          <p:nvPr/>
        </p:nvSpPr>
        <p:spPr>
          <a:xfrm>
            <a:off x="4724400" y="1905000"/>
            <a:ext cx="3571875" cy="3677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Relationships have</a:t>
            </a:r>
            <a:endParaRPr sz="2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1" indent="-286385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name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300355" lvl="1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set of entities that  participate in them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5080" lvl="1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degree - the number  of entities that  participate (most have  degree 2)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1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cardinality ratio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75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6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96278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Cardinality Ratios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705" name="Google Shape;705;p6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10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07" name="Google Shape;707;p64"/>
          <p:cNvSpPr txBox="1"/>
          <p:nvPr/>
        </p:nvSpPr>
        <p:spPr>
          <a:xfrm>
            <a:off x="457200" y="1905000"/>
            <a:ext cx="81534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to one (1:1)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288925" lvl="1" indent="-286385" algn="l" rtl="0">
              <a:lnSpc>
                <a:spcPct val="90100"/>
              </a:lnSpc>
              <a:spcBef>
                <a:spcPts val="50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lecturer has a unique  office &amp; offices are single  occupancy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25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to many (1:M)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250825" lvl="1" indent="-286385" algn="just" rtl="0">
              <a:lnSpc>
                <a:spcPct val="108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lecturer may tutor many  students, but each student  has just one tutor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to many (</a:t>
            </a:r>
            <a:r>
              <a:rPr lang="en-US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M:N)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5080" lvl="1" indent="-286385" algn="l" rtl="0">
              <a:lnSpc>
                <a:spcPct val="108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student takes several  modules, and each module is  taken by several students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40908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6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65087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Entity/Relationship Diagrams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713" name="Google Shape;713;p6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11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14" name="Google Shape;714;p65"/>
          <p:cNvSpPr txBox="1"/>
          <p:nvPr/>
        </p:nvSpPr>
        <p:spPr>
          <a:xfrm>
            <a:off x="535940" y="1622805"/>
            <a:ext cx="3865879" cy="3188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508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Relationships are shown  as links between two  entities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316865" lvl="0" indent="-342900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name is given in a  diamond box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664845" lvl="0" indent="-342900" algn="l" rtl="0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ends of the link  show cardinality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65"/>
          <p:cNvSpPr/>
          <p:nvPr/>
        </p:nvSpPr>
        <p:spPr>
          <a:xfrm>
            <a:off x="6858000" y="3276600"/>
            <a:ext cx="1219200" cy="609600"/>
          </a:xfrm>
          <a:custGeom>
            <a:avLst/>
            <a:gdLst/>
            <a:ahLst/>
            <a:cxnLst/>
            <a:rect l="l" t="t" r="r" b="b"/>
            <a:pathLst>
              <a:path w="1219200" h="609600" extrusionOk="0">
                <a:moveTo>
                  <a:pt x="0" y="101600"/>
                </a:moveTo>
                <a:lnTo>
                  <a:pt x="7981" y="62043"/>
                </a:lnTo>
                <a:lnTo>
                  <a:pt x="29749" y="29749"/>
                </a:lnTo>
                <a:lnTo>
                  <a:pt x="62043" y="7981"/>
                </a:lnTo>
                <a:lnTo>
                  <a:pt x="101600" y="0"/>
                </a:lnTo>
                <a:lnTo>
                  <a:pt x="1117600" y="0"/>
                </a:lnTo>
                <a:lnTo>
                  <a:pt x="1157156" y="7981"/>
                </a:lnTo>
                <a:lnTo>
                  <a:pt x="1189450" y="29749"/>
                </a:lnTo>
                <a:lnTo>
                  <a:pt x="1211218" y="62043"/>
                </a:lnTo>
                <a:lnTo>
                  <a:pt x="1219200" y="101600"/>
                </a:lnTo>
                <a:lnTo>
                  <a:pt x="1219200" y="508000"/>
                </a:lnTo>
                <a:lnTo>
                  <a:pt x="1211218" y="547556"/>
                </a:lnTo>
                <a:lnTo>
                  <a:pt x="1189450" y="579850"/>
                </a:lnTo>
                <a:lnTo>
                  <a:pt x="1157156" y="601618"/>
                </a:lnTo>
                <a:lnTo>
                  <a:pt x="1117600" y="609600"/>
                </a:lnTo>
                <a:lnTo>
                  <a:pt x="101600" y="609600"/>
                </a:lnTo>
                <a:lnTo>
                  <a:pt x="62043" y="601618"/>
                </a:lnTo>
                <a:lnTo>
                  <a:pt x="29749" y="579850"/>
                </a:lnTo>
                <a:lnTo>
                  <a:pt x="7981" y="547556"/>
                </a:lnTo>
                <a:lnTo>
                  <a:pt x="0" y="508000"/>
                </a:lnTo>
                <a:lnTo>
                  <a:pt x="0" y="1016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16" name="Google Shape;716;p65"/>
          <p:cNvSpPr txBox="1"/>
          <p:nvPr/>
        </p:nvSpPr>
        <p:spPr>
          <a:xfrm>
            <a:off x="7048627" y="3413379"/>
            <a:ext cx="83883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65"/>
          <p:cNvSpPr/>
          <p:nvPr/>
        </p:nvSpPr>
        <p:spPr>
          <a:xfrm>
            <a:off x="4876800" y="1905000"/>
            <a:ext cx="1219200" cy="609600"/>
          </a:xfrm>
          <a:custGeom>
            <a:avLst/>
            <a:gdLst/>
            <a:ahLst/>
            <a:cxnLst/>
            <a:rect l="l" t="t" r="r" b="b"/>
            <a:pathLst>
              <a:path w="1219200" h="609600" extrusionOk="0">
                <a:moveTo>
                  <a:pt x="0" y="101600"/>
                </a:moveTo>
                <a:lnTo>
                  <a:pt x="7981" y="62043"/>
                </a:lnTo>
                <a:lnTo>
                  <a:pt x="29749" y="29749"/>
                </a:lnTo>
                <a:lnTo>
                  <a:pt x="62043" y="7981"/>
                </a:lnTo>
                <a:lnTo>
                  <a:pt x="101600" y="0"/>
                </a:lnTo>
                <a:lnTo>
                  <a:pt x="1117600" y="0"/>
                </a:lnTo>
                <a:lnTo>
                  <a:pt x="1157156" y="7981"/>
                </a:lnTo>
                <a:lnTo>
                  <a:pt x="1189450" y="29749"/>
                </a:lnTo>
                <a:lnTo>
                  <a:pt x="1211218" y="62043"/>
                </a:lnTo>
                <a:lnTo>
                  <a:pt x="1219200" y="101600"/>
                </a:lnTo>
                <a:lnTo>
                  <a:pt x="1219200" y="508000"/>
                </a:lnTo>
                <a:lnTo>
                  <a:pt x="1211218" y="547556"/>
                </a:lnTo>
                <a:lnTo>
                  <a:pt x="1189450" y="579850"/>
                </a:lnTo>
                <a:lnTo>
                  <a:pt x="1157156" y="601618"/>
                </a:lnTo>
                <a:lnTo>
                  <a:pt x="1117600" y="609600"/>
                </a:lnTo>
                <a:lnTo>
                  <a:pt x="101600" y="609600"/>
                </a:lnTo>
                <a:lnTo>
                  <a:pt x="62043" y="601618"/>
                </a:lnTo>
                <a:lnTo>
                  <a:pt x="29749" y="579850"/>
                </a:lnTo>
                <a:lnTo>
                  <a:pt x="7981" y="547556"/>
                </a:lnTo>
                <a:lnTo>
                  <a:pt x="0" y="508000"/>
                </a:lnTo>
                <a:lnTo>
                  <a:pt x="0" y="1016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18" name="Google Shape;718;p65"/>
          <p:cNvSpPr txBox="1"/>
          <p:nvPr/>
        </p:nvSpPr>
        <p:spPr>
          <a:xfrm>
            <a:off x="5044185" y="2041397"/>
            <a:ext cx="88773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Lecturer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65"/>
          <p:cNvSpPr/>
          <p:nvPr/>
        </p:nvSpPr>
        <p:spPr>
          <a:xfrm>
            <a:off x="4876800" y="4648200"/>
            <a:ext cx="1219200" cy="609600"/>
          </a:xfrm>
          <a:custGeom>
            <a:avLst/>
            <a:gdLst/>
            <a:ahLst/>
            <a:cxnLst/>
            <a:rect l="l" t="t" r="r" b="b"/>
            <a:pathLst>
              <a:path w="1219200" h="609600" extrusionOk="0">
                <a:moveTo>
                  <a:pt x="0" y="101600"/>
                </a:moveTo>
                <a:lnTo>
                  <a:pt x="7981" y="62043"/>
                </a:lnTo>
                <a:lnTo>
                  <a:pt x="29749" y="29749"/>
                </a:lnTo>
                <a:lnTo>
                  <a:pt x="62043" y="7981"/>
                </a:lnTo>
                <a:lnTo>
                  <a:pt x="101600" y="0"/>
                </a:lnTo>
                <a:lnTo>
                  <a:pt x="1117600" y="0"/>
                </a:lnTo>
                <a:lnTo>
                  <a:pt x="1157156" y="7981"/>
                </a:lnTo>
                <a:lnTo>
                  <a:pt x="1189450" y="29749"/>
                </a:lnTo>
                <a:lnTo>
                  <a:pt x="1211218" y="62043"/>
                </a:lnTo>
                <a:lnTo>
                  <a:pt x="1219200" y="101600"/>
                </a:lnTo>
                <a:lnTo>
                  <a:pt x="1219200" y="508000"/>
                </a:lnTo>
                <a:lnTo>
                  <a:pt x="1211218" y="547556"/>
                </a:lnTo>
                <a:lnTo>
                  <a:pt x="1189450" y="579850"/>
                </a:lnTo>
                <a:lnTo>
                  <a:pt x="1157156" y="601618"/>
                </a:lnTo>
                <a:lnTo>
                  <a:pt x="1117600" y="609600"/>
                </a:lnTo>
                <a:lnTo>
                  <a:pt x="101600" y="609600"/>
                </a:lnTo>
                <a:lnTo>
                  <a:pt x="62043" y="601618"/>
                </a:lnTo>
                <a:lnTo>
                  <a:pt x="29749" y="579850"/>
                </a:lnTo>
                <a:lnTo>
                  <a:pt x="7981" y="547556"/>
                </a:lnTo>
                <a:lnTo>
                  <a:pt x="0" y="508000"/>
                </a:lnTo>
                <a:lnTo>
                  <a:pt x="0" y="1016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20" name="Google Shape;720;p65"/>
          <p:cNvSpPr txBox="1"/>
          <p:nvPr/>
        </p:nvSpPr>
        <p:spPr>
          <a:xfrm>
            <a:off x="5071617" y="4785232"/>
            <a:ext cx="829944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65"/>
          <p:cNvSpPr/>
          <p:nvPr/>
        </p:nvSpPr>
        <p:spPr>
          <a:xfrm>
            <a:off x="4876800" y="3200400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600" y="0"/>
                </a:lnTo>
                <a:lnTo>
                  <a:pt x="1219200" y="381000"/>
                </a:lnTo>
                <a:lnTo>
                  <a:pt x="609600" y="762000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22" name="Google Shape;722;p65"/>
          <p:cNvSpPr txBox="1"/>
          <p:nvPr/>
        </p:nvSpPr>
        <p:spPr>
          <a:xfrm>
            <a:off x="5153659" y="3413379"/>
            <a:ext cx="942341" cy="320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Tutors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65"/>
          <p:cNvSpPr/>
          <p:nvPr/>
        </p:nvSpPr>
        <p:spPr>
          <a:xfrm>
            <a:off x="6858000" y="4572000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600" y="0"/>
                </a:lnTo>
                <a:lnTo>
                  <a:pt x="1219200" y="381000"/>
                </a:lnTo>
                <a:lnTo>
                  <a:pt x="609600" y="762000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24" name="Google Shape;724;p65"/>
          <p:cNvSpPr txBox="1"/>
          <p:nvPr/>
        </p:nvSpPr>
        <p:spPr>
          <a:xfrm>
            <a:off x="7078726" y="4785232"/>
            <a:ext cx="77978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Studies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65"/>
          <p:cNvSpPr/>
          <p:nvPr/>
        </p:nvSpPr>
        <p:spPr>
          <a:xfrm>
            <a:off x="5486400" y="2524125"/>
            <a:ext cx="0" cy="666750"/>
          </a:xfrm>
          <a:custGeom>
            <a:avLst/>
            <a:gdLst/>
            <a:ahLst/>
            <a:cxnLst/>
            <a:rect l="l" t="t" r="r" b="b"/>
            <a:pathLst>
              <a:path w="120000" h="666750" extrusionOk="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26" name="Google Shape;726;p65"/>
          <p:cNvSpPr/>
          <p:nvPr/>
        </p:nvSpPr>
        <p:spPr>
          <a:xfrm>
            <a:off x="6105525" y="3581400"/>
            <a:ext cx="742950" cy="0"/>
          </a:xfrm>
          <a:custGeom>
            <a:avLst/>
            <a:gdLst/>
            <a:ahLst/>
            <a:cxnLst/>
            <a:rect l="l" t="t" r="r" b="b"/>
            <a:pathLst>
              <a:path w="742950" h="120000" extrusionOk="0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27" name="Google Shape;727;p65"/>
          <p:cNvSpPr/>
          <p:nvPr/>
        </p:nvSpPr>
        <p:spPr>
          <a:xfrm>
            <a:off x="7467600" y="3895725"/>
            <a:ext cx="0" cy="666750"/>
          </a:xfrm>
          <a:custGeom>
            <a:avLst/>
            <a:gdLst/>
            <a:ahLst/>
            <a:cxnLst/>
            <a:rect l="l" t="t" r="r" b="b"/>
            <a:pathLst>
              <a:path w="120000" h="666750" extrusionOk="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28" name="Google Shape;728;p65"/>
          <p:cNvSpPr/>
          <p:nvPr/>
        </p:nvSpPr>
        <p:spPr>
          <a:xfrm>
            <a:off x="6105525" y="4953000"/>
            <a:ext cx="742950" cy="0"/>
          </a:xfrm>
          <a:custGeom>
            <a:avLst/>
            <a:gdLst/>
            <a:ahLst/>
            <a:cxnLst/>
            <a:rect l="l" t="t" r="r" b="b"/>
            <a:pathLst>
              <a:path w="742950" h="120000" extrusionOk="0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29" name="Google Shape;729;p65"/>
          <p:cNvSpPr/>
          <p:nvPr/>
        </p:nvSpPr>
        <p:spPr>
          <a:xfrm>
            <a:off x="6096000" y="4800600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0" y="0"/>
                </a:moveTo>
                <a:lnTo>
                  <a:pt x="48182" y="7649"/>
                </a:lnTo>
                <a:lnTo>
                  <a:pt x="90019" y="28947"/>
                </a:lnTo>
                <a:lnTo>
                  <a:pt x="123005" y="61420"/>
                </a:lnTo>
                <a:lnTo>
                  <a:pt x="144633" y="102591"/>
                </a:lnTo>
                <a:lnTo>
                  <a:pt x="152400" y="149987"/>
                </a:lnTo>
                <a:lnTo>
                  <a:pt x="144646" y="197382"/>
                </a:lnTo>
                <a:lnTo>
                  <a:pt x="123049" y="238553"/>
                </a:lnTo>
                <a:lnTo>
                  <a:pt x="90101" y="271026"/>
                </a:lnTo>
                <a:lnTo>
                  <a:pt x="48296" y="292324"/>
                </a:lnTo>
                <a:lnTo>
                  <a:pt x="126" y="299974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30" name="Google Shape;730;p65"/>
          <p:cNvSpPr/>
          <p:nvPr/>
        </p:nvSpPr>
        <p:spPr>
          <a:xfrm>
            <a:off x="6705600" y="3429000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152400" y="0"/>
                </a:moveTo>
                <a:lnTo>
                  <a:pt x="104217" y="7649"/>
                </a:lnTo>
                <a:lnTo>
                  <a:pt x="62380" y="28947"/>
                </a:lnTo>
                <a:lnTo>
                  <a:pt x="29394" y="61420"/>
                </a:lnTo>
                <a:lnTo>
                  <a:pt x="7766" y="102591"/>
                </a:lnTo>
                <a:lnTo>
                  <a:pt x="0" y="149987"/>
                </a:lnTo>
                <a:lnTo>
                  <a:pt x="7753" y="197382"/>
                </a:lnTo>
                <a:lnTo>
                  <a:pt x="29350" y="238553"/>
                </a:lnTo>
                <a:lnTo>
                  <a:pt x="62298" y="271026"/>
                </a:lnTo>
                <a:lnTo>
                  <a:pt x="104103" y="292324"/>
                </a:lnTo>
                <a:lnTo>
                  <a:pt x="152273" y="299974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31" name="Google Shape;731;p65"/>
          <p:cNvSpPr/>
          <p:nvPr/>
        </p:nvSpPr>
        <p:spPr>
          <a:xfrm>
            <a:off x="7315200" y="3886200"/>
            <a:ext cx="300355" cy="152400"/>
          </a:xfrm>
          <a:custGeom>
            <a:avLst/>
            <a:gdLst/>
            <a:ahLst/>
            <a:cxnLst/>
            <a:rect l="l" t="t" r="r" b="b"/>
            <a:pathLst>
              <a:path w="300354" h="152400" extrusionOk="0">
                <a:moveTo>
                  <a:pt x="300100" y="0"/>
                </a:moveTo>
                <a:lnTo>
                  <a:pt x="292450" y="48182"/>
                </a:lnTo>
                <a:lnTo>
                  <a:pt x="271145" y="90019"/>
                </a:lnTo>
                <a:lnTo>
                  <a:pt x="238653" y="123005"/>
                </a:lnTo>
                <a:lnTo>
                  <a:pt x="197444" y="144633"/>
                </a:lnTo>
                <a:lnTo>
                  <a:pt x="149986" y="152400"/>
                </a:lnTo>
                <a:lnTo>
                  <a:pt x="102603" y="144646"/>
                </a:lnTo>
                <a:lnTo>
                  <a:pt x="61456" y="123049"/>
                </a:lnTo>
                <a:lnTo>
                  <a:pt x="29002" y="90101"/>
                </a:lnTo>
                <a:lnTo>
                  <a:pt x="7698" y="48296"/>
                </a:lnTo>
                <a:lnTo>
                  <a:pt x="0" y="126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32" name="Google Shape;732;p65"/>
          <p:cNvSpPr/>
          <p:nvPr/>
        </p:nvSpPr>
        <p:spPr>
          <a:xfrm>
            <a:off x="7010400" y="1981200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 extrusionOk="0">
                <a:moveTo>
                  <a:pt x="0" y="190500"/>
                </a:moveTo>
                <a:lnTo>
                  <a:pt x="19359" y="135500"/>
                </a:lnTo>
                <a:lnTo>
                  <a:pt x="73664" y="86794"/>
                </a:lnTo>
                <a:lnTo>
                  <a:pt x="112153" y="65540"/>
                </a:lnTo>
                <a:lnTo>
                  <a:pt x="157254" y="46744"/>
                </a:lnTo>
                <a:lnTo>
                  <a:pt x="208262" y="30704"/>
                </a:lnTo>
                <a:lnTo>
                  <a:pt x="264468" y="17714"/>
                </a:lnTo>
                <a:lnTo>
                  <a:pt x="325165" y="8069"/>
                </a:lnTo>
                <a:lnTo>
                  <a:pt x="389644" y="2066"/>
                </a:lnTo>
                <a:lnTo>
                  <a:pt x="457200" y="0"/>
                </a:lnTo>
                <a:lnTo>
                  <a:pt x="524755" y="2066"/>
                </a:lnTo>
                <a:lnTo>
                  <a:pt x="589234" y="8069"/>
                </a:lnTo>
                <a:lnTo>
                  <a:pt x="649931" y="17714"/>
                </a:lnTo>
                <a:lnTo>
                  <a:pt x="706137" y="30704"/>
                </a:lnTo>
                <a:lnTo>
                  <a:pt x="757145" y="46744"/>
                </a:lnTo>
                <a:lnTo>
                  <a:pt x="802246" y="65540"/>
                </a:lnTo>
                <a:lnTo>
                  <a:pt x="840735" y="86794"/>
                </a:lnTo>
                <a:lnTo>
                  <a:pt x="871902" y="110213"/>
                </a:lnTo>
                <a:lnTo>
                  <a:pt x="909442" y="162361"/>
                </a:lnTo>
                <a:lnTo>
                  <a:pt x="914400" y="190500"/>
                </a:lnTo>
                <a:lnTo>
                  <a:pt x="909442" y="218638"/>
                </a:lnTo>
                <a:lnTo>
                  <a:pt x="871902" y="270786"/>
                </a:lnTo>
                <a:lnTo>
                  <a:pt x="840735" y="294205"/>
                </a:lnTo>
                <a:lnTo>
                  <a:pt x="802246" y="315459"/>
                </a:lnTo>
                <a:lnTo>
                  <a:pt x="757145" y="334255"/>
                </a:lnTo>
                <a:lnTo>
                  <a:pt x="706137" y="350295"/>
                </a:lnTo>
                <a:lnTo>
                  <a:pt x="649931" y="363285"/>
                </a:lnTo>
                <a:lnTo>
                  <a:pt x="589234" y="372930"/>
                </a:lnTo>
                <a:lnTo>
                  <a:pt x="524755" y="378933"/>
                </a:lnTo>
                <a:lnTo>
                  <a:pt x="457200" y="381000"/>
                </a:lnTo>
                <a:lnTo>
                  <a:pt x="389644" y="378933"/>
                </a:lnTo>
                <a:lnTo>
                  <a:pt x="325165" y="372930"/>
                </a:lnTo>
                <a:lnTo>
                  <a:pt x="264468" y="363285"/>
                </a:lnTo>
                <a:lnTo>
                  <a:pt x="208262" y="350295"/>
                </a:lnTo>
                <a:lnTo>
                  <a:pt x="157254" y="334255"/>
                </a:lnTo>
                <a:lnTo>
                  <a:pt x="112153" y="315459"/>
                </a:lnTo>
                <a:lnTo>
                  <a:pt x="73664" y="294205"/>
                </a:lnTo>
                <a:lnTo>
                  <a:pt x="42497" y="270786"/>
                </a:lnTo>
                <a:lnTo>
                  <a:pt x="4957" y="218638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33" name="Google Shape;733;p65"/>
          <p:cNvSpPr txBox="1"/>
          <p:nvPr/>
        </p:nvSpPr>
        <p:spPr>
          <a:xfrm>
            <a:off x="7367778" y="2037334"/>
            <a:ext cx="2032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5"/>
          <p:cNvSpPr/>
          <p:nvPr/>
        </p:nvSpPr>
        <p:spPr>
          <a:xfrm>
            <a:off x="7543800" y="2514600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 extrusionOk="0">
                <a:moveTo>
                  <a:pt x="0" y="190500"/>
                </a:moveTo>
                <a:lnTo>
                  <a:pt x="19359" y="135500"/>
                </a:lnTo>
                <a:lnTo>
                  <a:pt x="73664" y="86794"/>
                </a:lnTo>
                <a:lnTo>
                  <a:pt x="112153" y="65540"/>
                </a:lnTo>
                <a:lnTo>
                  <a:pt x="157254" y="46744"/>
                </a:lnTo>
                <a:lnTo>
                  <a:pt x="208262" y="30704"/>
                </a:lnTo>
                <a:lnTo>
                  <a:pt x="264468" y="17714"/>
                </a:lnTo>
                <a:lnTo>
                  <a:pt x="325165" y="8069"/>
                </a:lnTo>
                <a:lnTo>
                  <a:pt x="389644" y="2066"/>
                </a:lnTo>
                <a:lnTo>
                  <a:pt x="457200" y="0"/>
                </a:lnTo>
                <a:lnTo>
                  <a:pt x="524755" y="2066"/>
                </a:lnTo>
                <a:lnTo>
                  <a:pt x="589234" y="8069"/>
                </a:lnTo>
                <a:lnTo>
                  <a:pt x="649931" y="17714"/>
                </a:lnTo>
                <a:lnTo>
                  <a:pt x="706137" y="30704"/>
                </a:lnTo>
                <a:lnTo>
                  <a:pt x="757145" y="46744"/>
                </a:lnTo>
                <a:lnTo>
                  <a:pt x="802246" y="65540"/>
                </a:lnTo>
                <a:lnTo>
                  <a:pt x="840735" y="86794"/>
                </a:lnTo>
                <a:lnTo>
                  <a:pt x="871902" y="110213"/>
                </a:lnTo>
                <a:lnTo>
                  <a:pt x="909442" y="162361"/>
                </a:lnTo>
                <a:lnTo>
                  <a:pt x="914400" y="190500"/>
                </a:lnTo>
                <a:lnTo>
                  <a:pt x="909442" y="218638"/>
                </a:lnTo>
                <a:lnTo>
                  <a:pt x="871902" y="270786"/>
                </a:lnTo>
                <a:lnTo>
                  <a:pt x="840735" y="294205"/>
                </a:lnTo>
                <a:lnTo>
                  <a:pt x="802246" y="315459"/>
                </a:lnTo>
                <a:lnTo>
                  <a:pt x="757145" y="334255"/>
                </a:lnTo>
                <a:lnTo>
                  <a:pt x="706137" y="350295"/>
                </a:lnTo>
                <a:lnTo>
                  <a:pt x="649931" y="363285"/>
                </a:lnTo>
                <a:lnTo>
                  <a:pt x="589234" y="372930"/>
                </a:lnTo>
                <a:lnTo>
                  <a:pt x="524755" y="378933"/>
                </a:lnTo>
                <a:lnTo>
                  <a:pt x="457200" y="381000"/>
                </a:lnTo>
                <a:lnTo>
                  <a:pt x="389644" y="378933"/>
                </a:lnTo>
                <a:lnTo>
                  <a:pt x="325165" y="372930"/>
                </a:lnTo>
                <a:lnTo>
                  <a:pt x="264468" y="363285"/>
                </a:lnTo>
                <a:lnTo>
                  <a:pt x="208262" y="350295"/>
                </a:lnTo>
                <a:lnTo>
                  <a:pt x="157254" y="334255"/>
                </a:lnTo>
                <a:lnTo>
                  <a:pt x="112153" y="315459"/>
                </a:lnTo>
                <a:lnTo>
                  <a:pt x="73664" y="294205"/>
                </a:lnTo>
                <a:lnTo>
                  <a:pt x="42497" y="270786"/>
                </a:lnTo>
                <a:lnTo>
                  <a:pt x="4957" y="218638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35" name="Google Shape;735;p65"/>
          <p:cNvSpPr txBox="1"/>
          <p:nvPr/>
        </p:nvSpPr>
        <p:spPr>
          <a:xfrm>
            <a:off x="7706106" y="2571115"/>
            <a:ext cx="59436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65"/>
          <p:cNvSpPr/>
          <p:nvPr/>
        </p:nvSpPr>
        <p:spPr>
          <a:xfrm>
            <a:off x="6477000" y="2514600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 extrusionOk="0">
                <a:moveTo>
                  <a:pt x="0" y="190500"/>
                </a:moveTo>
                <a:lnTo>
                  <a:pt x="19359" y="135500"/>
                </a:lnTo>
                <a:lnTo>
                  <a:pt x="73664" y="86794"/>
                </a:lnTo>
                <a:lnTo>
                  <a:pt x="112153" y="65540"/>
                </a:lnTo>
                <a:lnTo>
                  <a:pt x="157254" y="46744"/>
                </a:lnTo>
                <a:lnTo>
                  <a:pt x="208262" y="30704"/>
                </a:lnTo>
                <a:lnTo>
                  <a:pt x="264468" y="17714"/>
                </a:lnTo>
                <a:lnTo>
                  <a:pt x="325165" y="8069"/>
                </a:lnTo>
                <a:lnTo>
                  <a:pt x="389644" y="2066"/>
                </a:lnTo>
                <a:lnTo>
                  <a:pt x="457200" y="0"/>
                </a:lnTo>
                <a:lnTo>
                  <a:pt x="524755" y="2066"/>
                </a:lnTo>
                <a:lnTo>
                  <a:pt x="589234" y="8069"/>
                </a:lnTo>
                <a:lnTo>
                  <a:pt x="649931" y="17714"/>
                </a:lnTo>
                <a:lnTo>
                  <a:pt x="706137" y="30704"/>
                </a:lnTo>
                <a:lnTo>
                  <a:pt x="757145" y="46744"/>
                </a:lnTo>
                <a:lnTo>
                  <a:pt x="802246" y="65540"/>
                </a:lnTo>
                <a:lnTo>
                  <a:pt x="840735" y="86794"/>
                </a:lnTo>
                <a:lnTo>
                  <a:pt x="871902" y="110213"/>
                </a:lnTo>
                <a:lnTo>
                  <a:pt x="909442" y="162361"/>
                </a:lnTo>
                <a:lnTo>
                  <a:pt x="914400" y="190500"/>
                </a:lnTo>
                <a:lnTo>
                  <a:pt x="909442" y="218638"/>
                </a:lnTo>
                <a:lnTo>
                  <a:pt x="871902" y="270786"/>
                </a:lnTo>
                <a:lnTo>
                  <a:pt x="840735" y="294205"/>
                </a:lnTo>
                <a:lnTo>
                  <a:pt x="802246" y="315459"/>
                </a:lnTo>
                <a:lnTo>
                  <a:pt x="757145" y="334255"/>
                </a:lnTo>
                <a:lnTo>
                  <a:pt x="706137" y="350295"/>
                </a:lnTo>
                <a:lnTo>
                  <a:pt x="649931" y="363285"/>
                </a:lnTo>
                <a:lnTo>
                  <a:pt x="589234" y="372930"/>
                </a:lnTo>
                <a:lnTo>
                  <a:pt x="524755" y="378933"/>
                </a:lnTo>
                <a:lnTo>
                  <a:pt x="457200" y="381000"/>
                </a:lnTo>
                <a:lnTo>
                  <a:pt x="389644" y="378933"/>
                </a:lnTo>
                <a:lnTo>
                  <a:pt x="325165" y="372930"/>
                </a:lnTo>
                <a:lnTo>
                  <a:pt x="264468" y="363285"/>
                </a:lnTo>
                <a:lnTo>
                  <a:pt x="208262" y="350295"/>
                </a:lnTo>
                <a:lnTo>
                  <a:pt x="157254" y="334255"/>
                </a:lnTo>
                <a:lnTo>
                  <a:pt x="112153" y="315459"/>
                </a:lnTo>
                <a:lnTo>
                  <a:pt x="73664" y="294205"/>
                </a:lnTo>
                <a:lnTo>
                  <a:pt x="42497" y="270786"/>
                </a:lnTo>
                <a:lnTo>
                  <a:pt x="4957" y="218638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37" name="Google Shape;737;p65"/>
          <p:cNvSpPr txBox="1"/>
          <p:nvPr/>
        </p:nvSpPr>
        <p:spPr>
          <a:xfrm>
            <a:off x="6677025" y="2571115"/>
            <a:ext cx="51689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65"/>
          <p:cNvSpPr/>
          <p:nvPr/>
        </p:nvSpPr>
        <p:spPr>
          <a:xfrm>
            <a:off x="7467600" y="2905125"/>
            <a:ext cx="533400" cy="361950"/>
          </a:xfrm>
          <a:custGeom>
            <a:avLst/>
            <a:gdLst/>
            <a:ahLst/>
            <a:cxnLst/>
            <a:rect l="l" t="t" r="r" b="b"/>
            <a:pathLst>
              <a:path w="533400" h="361950" extrusionOk="0">
                <a:moveTo>
                  <a:pt x="0" y="361950"/>
                </a:moveTo>
                <a:lnTo>
                  <a:pt x="533400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39" name="Google Shape;739;p65"/>
          <p:cNvSpPr/>
          <p:nvPr/>
        </p:nvSpPr>
        <p:spPr>
          <a:xfrm>
            <a:off x="7467600" y="2371725"/>
            <a:ext cx="0" cy="895350"/>
          </a:xfrm>
          <a:custGeom>
            <a:avLst/>
            <a:gdLst/>
            <a:ahLst/>
            <a:cxnLst/>
            <a:rect l="l" t="t" r="r" b="b"/>
            <a:pathLst>
              <a:path w="120000" h="895350" extrusionOk="0">
                <a:moveTo>
                  <a:pt x="0" y="895350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40" name="Google Shape;740;p65"/>
          <p:cNvSpPr/>
          <p:nvPr/>
        </p:nvSpPr>
        <p:spPr>
          <a:xfrm>
            <a:off x="6934200" y="2905125"/>
            <a:ext cx="533400" cy="361950"/>
          </a:xfrm>
          <a:custGeom>
            <a:avLst/>
            <a:gdLst/>
            <a:ahLst/>
            <a:cxnLst/>
            <a:rect l="l" t="t" r="r" b="b"/>
            <a:pathLst>
              <a:path w="533400" h="361950" extrusionOk="0">
                <a:moveTo>
                  <a:pt x="533400" y="361950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41" name="Google Shape;741;p65"/>
          <p:cNvSpPr/>
          <p:nvPr/>
        </p:nvSpPr>
        <p:spPr>
          <a:xfrm>
            <a:off x="1371600" y="5424296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 h="120000" extrusionOk="0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42" name="Google Shape;742;p65"/>
          <p:cNvSpPr/>
          <p:nvPr/>
        </p:nvSpPr>
        <p:spPr>
          <a:xfrm>
            <a:off x="2057400" y="5043296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 extrusionOk="0">
                <a:moveTo>
                  <a:pt x="0" y="380999"/>
                </a:moveTo>
                <a:lnTo>
                  <a:pt x="381000" y="0"/>
                </a:lnTo>
                <a:lnTo>
                  <a:pt x="762000" y="380999"/>
                </a:lnTo>
                <a:lnTo>
                  <a:pt x="381000" y="761961"/>
                </a:lnTo>
                <a:lnTo>
                  <a:pt x="0" y="380999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43" name="Google Shape;743;p65"/>
          <p:cNvSpPr/>
          <p:nvPr/>
        </p:nvSpPr>
        <p:spPr>
          <a:xfrm>
            <a:off x="2819400" y="5424296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 h="120000" extrusionOk="0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44" name="Google Shape;744;p65"/>
          <p:cNvSpPr/>
          <p:nvPr/>
        </p:nvSpPr>
        <p:spPr>
          <a:xfrm>
            <a:off x="3352800" y="5271896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152400" y="0"/>
                </a:moveTo>
                <a:lnTo>
                  <a:pt x="104217" y="7649"/>
                </a:lnTo>
                <a:lnTo>
                  <a:pt x="62380" y="28947"/>
                </a:lnTo>
                <a:lnTo>
                  <a:pt x="29394" y="61420"/>
                </a:lnTo>
                <a:lnTo>
                  <a:pt x="7766" y="102591"/>
                </a:lnTo>
                <a:lnTo>
                  <a:pt x="0" y="149986"/>
                </a:lnTo>
                <a:lnTo>
                  <a:pt x="7753" y="197370"/>
                </a:lnTo>
                <a:lnTo>
                  <a:pt x="29350" y="238517"/>
                </a:lnTo>
                <a:lnTo>
                  <a:pt x="62298" y="270971"/>
                </a:lnTo>
                <a:lnTo>
                  <a:pt x="104103" y="292275"/>
                </a:lnTo>
                <a:lnTo>
                  <a:pt x="152273" y="299973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45" name="Google Shape;745;p65"/>
          <p:cNvSpPr txBox="1"/>
          <p:nvPr/>
        </p:nvSpPr>
        <p:spPr>
          <a:xfrm>
            <a:off x="3584575" y="5226303"/>
            <a:ext cx="61023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5"/>
          <p:cNvSpPr txBox="1"/>
          <p:nvPr/>
        </p:nvSpPr>
        <p:spPr>
          <a:xfrm>
            <a:off x="815441" y="5219572"/>
            <a:ext cx="45529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5030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6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65087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Entity/Relationship Diagrams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752" name="Google Shape;752;p6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12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53" name="Google Shape;753;p66"/>
          <p:cNvSpPr txBox="1"/>
          <p:nvPr/>
        </p:nvSpPr>
        <p:spPr>
          <a:xfrm>
            <a:off x="535940" y="1622805"/>
            <a:ext cx="3726815" cy="88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E/R diagram looks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like this: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66"/>
          <p:cNvSpPr/>
          <p:nvPr/>
        </p:nvSpPr>
        <p:spPr>
          <a:xfrm>
            <a:off x="6858000" y="3276600"/>
            <a:ext cx="1219200" cy="609600"/>
          </a:xfrm>
          <a:custGeom>
            <a:avLst/>
            <a:gdLst/>
            <a:ahLst/>
            <a:cxnLst/>
            <a:rect l="l" t="t" r="r" b="b"/>
            <a:pathLst>
              <a:path w="1219200" h="609600" extrusionOk="0">
                <a:moveTo>
                  <a:pt x="0" y="101600"/>
                </a:moveTo>
                <a:lnTo>
                  <a:pt x="7981" y="62043"/>
                </a:lnTo>
                <a:lnTo>
                  <a:pt x="29749" y="29749"/>
                </a:lnTo>
                <a:lnTo>
                  <a:pt x="62043" y="7981"/>
                </a:lnTo>
                <a:lnTo>
                  <a:pt x="101600" y="0"/>
                </a:lnTo>
                <a:lnTo>
                  <a:pt x="1117600" y="0"/>
                </a:lnTo>
                <a:lnTo>
                  <a:pt x="1157156" y="7981"/>
                </a:lnTo>
                <a:lnTo>
                  <a:pt x="1189450" y="29749"/>
                </a:lnTo>
                <a:lnTo>
                  <a:pt x="1211218" y="62043"/>
                </a:lnTo>
                <a:lnTo>
                  <a:pt x="1219200" y="101600"/>
                </a:lnTo>
                <a:lnTo>
                  <a:pt x="1219200" y="508000"/>
                </a:lnTo>
                <a:lnTo>
                  <a:pt x="1211218" y="547556"/>
                </a:lnTo>
                <a:lnTo>
                  <a:pt x="1189450" y="579850"/>
                </a:lnTo>
                <a:lnTo>
                  <a:pt x="1157156" y="601618"/>
                </a:lnTo>
                <a:lnTo>
                  <a:pt x="1117600" y="609600"/>
                </a:lnTo>
                <a:lnTo>
                  <a:pt x="101600" y="609600"/>
                </a:lnTo>
                <a:lnTo>
                  <a:pt x="62043" y="601618"/>
                </a:lnTo>
                <a:lnTo>
                  <a:pt x="29749" y="579850"/>
                </a:lnTo>
                <a:lnTo>
                  <a:pt x="7981" y="547556"/>
                </a:lnTo>
                <a:lnTo>
                  <a:pt x="0" y="508000"/>
                </a:lnTo>
                <a:lnTo>
                  <a:pt x="0" y="1016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55" name="Google Shape;755;p66"/>
          <p:cNvSpPr txBox="1"/>
          <p:nvPr/>
        </p:nvSpPr>
        <p:spPr>
          <a:xfrm>
            <a:off x="7048627" y="3413379"/>
            <a:ext cx="83883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66"/>
          <p:cNvSpPr/>
          <p:nvPr/>
        </p:nvSpPr>
        <p:spPr>
          <a:xfrm>
            <a:off x="4876800" y="1905000"/>
            <a:ext cx="1219200" cy="609600"/>
          </a:xfrm>
          <a:custGeom>
            <a:avLst/>
            <a:gdLst/>
            <a:ahLst/>
            <a:cxnLst/>
            <a:rect l="l" t="t" r="r" b="b"/>
            <a:pathLst>
              <a:path w="1219200" h="609600" extrusionOk="0">
                <a:moveTo>
                  <a:pt x="0" y="101600"/>
                </a:moveTo>
                <a:lnTo>
                  <a:pt x="7981" y="62043"/>
                </a:lnTo>
                <a:lnTo>
                  <a:pt x="29749" y="29749"/>
                </a:lnTo>
                <a:lnTo>
                  <a:pt x="62043" y="7981"/>
                </a:lnTo>
                <a:lnTo>
                  <a:pt x="101600" y="0"/>
                </a:lnTo>
                <a:lnTo>
                  <a:pt x="1117600" y="0"/>
                </a:lnTo>
                <a:lnTo>
                  <a:pt x="1157156" y="7981"/>
                </a:lnTo>
                <a:lnTo>
                  <a:pt x="1189450" y="29749"/>
                </a:lnTo>
                <a:lnTo>
                  <a:pt x="1211218" y="62043"/>
                </a:lnTo>
                <a:lnTo>
                  <a:pt x="1219200" y="101600"/>
                </a:lnTo>
                <a:lnTo>
                  <a:pt x="1219200" y="508000"/>
                </a:lnTo>
                <a:lnTo>
                  <a:pt x="1211218" y="547556"/>
                </a:lnTo>
                <a:lnTo>
                  <a:pt x="1189450" y="579850"/>
                </a:lnTo>
                <a:lnTo>
                  <a:pt x="1157156" y="601618"/>
                </a:lnTo>
                <a:lnTo>
                  <a:pt x="1117600" y="609600"/>
                </a:lnTo>
                <a:lnTo>
                  <a:pt x="101600" y="609600"/>
                </a:lnTo>
                <a:lnTo>
                  <a:pt x="62043" y="601618"/>
                </a:lnTo>
                <a:lnTo>
                  <a:pt x="29749" y="579850"/>
                </a:lnTo>
                <a:lnTo>
                  <a:pt x="7981" y="547556"/>
                </a:lnTo>
                <a:lnTo>
                  <a:pt x="0" y="508000"/>
                </a:lnTo>
                <a:lnTo>
                  <a:pt x="0" y="1016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57" name="Google Shape;757;p66"/>
          <p:cNvSpPr txBox="1"/>
          <p:nvPr/>
        </p:nvSpPr>
        <p:spPr>
          <a:xfrm>
            <a:off x="5044185" y="2041397"/>
            <a:ext cx="88773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66"/>
          <p:cNvSpPr/>
          <p:nvPr/>
        </p:nvSpPr>
        <p:spPr>
          <a:xfrm>
            <a:off x="4876800" y="4648200"/>
            <a:ext cx="1219200" cy="609600"/>
          </a:xfrm>
          <a:custGeom>
            <a:avLst/>
            <a:gdLst/>
            <a:ahLst/>
            <a:cxnLst/>
            <a:rect l="l" t="t" r="r" b="b"/>
            <a:pathLst>
              <a:path w="1219200" h="609600" extrusionOk="0">
                <a:moveTo>
                  <a:pt x="0" y="101600"/>
                </a:moveTo>
                <a:lnTo>
                  <a:pt x="7981" y="62043"/>
                </a:lnTo>
                <a:lnTo>
                  <a:pt x="29749" y="29749"/>
                </a:lnTo>
                <a:lnTo>
                  <a:pt x="62043" y="7981"/>
                </a:lnTo>
                <a:lnTo>
                  <a:pt x="101600" y="0"/>
                </a:lnTo>
                <a:lnTo>
                  <a:pt x="1117600" y="0"/>
                </a:lnTo>
                <a:lnTo>
                  <a:pt x="1157156" y="7981"/>
                </a:lnTo>
                <a:lnTo>
                  <a:pt x="1189450" y="29749"/>
                </a:lnTo>
                <a:lnTo>
                  <a:pt x="1211218" y="62043"/>
                </a:lnTo>
                <a:lnTo>
                  <a:pt x="1219200" y="101600"/>
                </a:lnTo>
                <a:lnTo>
                  <a:pt x="1219200" y="508000"/>
                </a:lnTo>
                <a:lnTo>
                  <a:pt x="1211218" y="547556"/>
                </a:lnTo>
                <a:lnTo>
                  <a:pt x="1189450" y="579850"/>
                </a:lnTo>
                <a:lnTo>
                  <a:pt x="1157156" y="601618"/>
                </a:lnTo>
                <a:lnTo>
                  <a:pt x="1117600" y="609600"/>
                </a:lnTo>
                <a:lnTo>
                  <a:pt x="101600" y="609600"/>
                </a:lnTo>
                <a:lnTo>
                  <a:pt x="62043" y="601618"/>
                </a:lnTo>
                <a:lnTo>
                  <a:pt x="29749" y="579850"/>
                </a:lnTo>
                <a:lnTo>
                  <a:pt x="7981" y="547556"/>
                </a:lnTo>
                <a:lnTo>
                  <a:pt x="0" y="508000"/>
                </a:lnTo>
                <a:lnTo>
                  <a:pt x="0" y="1016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59" name="Google Shape;759;p66"/>
          <p:cNvSpPr txBox="1"/>
          <p:nvPr/>
        </p:nvSpPr>
        <p:spPr>
          <a:xfrm>
            <a:off x="5071617" y="4785232"/>
            <a:ext cx="829944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66"/>
          <p:cNvSpPr/>
          <p:nvPr/>
        </p:nvSpPr>
        <p:spPr>
          <a:xfrm>
            <a:off x="4876800" y="3200400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600" y="0"/>
                </a:lnTo>
                <a:lnTo>
                  <a:pt x="1219200" y="381000"/>
                </a:lnTo>
                <a:lnTo>
                  <a:pt x="609600" y="762000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61" name="Google Shape;761;p66"/>
          <p:cNvSpPr txBox="1"/>
          <p:nvPr/>
        </p:nvSpPr>
        <p:spPr>
          <a:xfrm>
            <a:off x="5153659" y="3413379"/>
            <a:ext cx="866141" cy="320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Tutors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66"/>
          <p:cNvSpPr/>
          <p:nvPr/>
        </p:nvSpPr>
        <p:spPr>
          <a:xfrm>
            <a:off x="6858000" y="4572000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600" y="0"/>
                </a:lnTo>
                <a:lnTo>
                  <a:pt x="1219200" y="381000"/>
                </a:lnTo>
                <a:lnTo>
                  <a:pt x="609600" y="762000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63" name="Google Shape;763;p66"/>
          <p:cNvSpPr txBox="1"/>
          <p:nvPr/>
        </p:nvSpPr>
        <p:spPr>
          <a:xfrm>
            <a:off x="7078726" y="4785232"/>
            <a:ext cx="77978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Studies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66"/>
          <p:cNvSpPr/>
          <p:nvPr/>
        </p:nvSpPr>
        <p:spPr>
          <a:xfrm>
            <a:off x="5486400" y="2514600"/>
            <a:ext cx="0" cy="685800"/>
          </a:xfrm>
          <a:custGeom>
            <a:avLst/>
            <a:gdLst/>
            <a:ahLst/>
            <a:cxnLst/>
            <a:rect l="l" t="t" r="r" b="b"/>
            <a:pathLst>
              <a:path w="120000" h="685800" extrusionOk="0">
                <a:moveTo>
                  <a:pt x="0" y="0"/>
                </a:moveTo>
                <a:lnTo>
                  <a:pt x="0" y="6858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65" name="Google Shape;765;p66"/>
          <p:cNvSpPr/>
          <p:nvPr/>
        </p:nvSpPr>
        <p:spPr>
          <a:xfrm>
            <a:off x="6096000" y="3581400"/>
            <a:ext cx="762000" cy="0"/>
          </a:xfrm>
          <a:custGeom>
            <a:avLst/>
            <a:gdLst/>
            <a:ahLst/>
            <a:cxnLst/>
            <a:rect l="l" t="t" r="r" b="b"/>
            <a:pathLst>
              <a:path w="762000" h="120000" extrusionOk="0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66" name="Google Shape;766;p66"/>
          <p:cNvSpPr/>
          <p:nvPr/>
        </p:nvSpPr>
        <p:spPr>
          <a:xfrm>
            <a:off x="7467600" y="3886200"/>
            <a:ext cx="0" cy="685800"/>
          </a:xfrm>
          <a:custGeom>
            <a:avLst/>
            <a:gdLst/>
            <a:ahLst/>
            <a:cxnLst/>
            <a:rect l="l" t="t" r="r" b="b"/>
            <a:pathLst>
              <a:path w="120000" h="685800" extrusionOk="0">
                <a:moveTo>
                  <a:pt x="0" y="0"/>
                </a:moveTo>
                <a:lnTo>
                  <a:pt x="0" y="6858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67" name="Google Shape;767;p66"/>
          <p:cNvSpPr/>
          <p:nvPr/>
        </p:nvSpPr>
        <p:spPr>
          <a:xfrm>
            <a:off x="6096000" y="4953000"/>
            <a:ext cx="762000" cy="0"/>
          </a:xfrm>
          <a:custGeom>
            <a:avLst/>
            <a:gdLst/>
            <a:ahLst/>
            <a:cxnLst/>
            <a:rect l="l" t="t" r="r" b="b"/>
            <a:pathLst>
              <a:path w="762000" h="120000" extrusionOk="0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68" name="Google Shape;768;p66"/>
          <p:cNvSpPr/>
          <p:nvPr/>
        </p:nvSpPr>
        <p:spPr>
          <a:xfrm>
            <a:off x="6096000" y="4800600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0" y="0"/>
                </a:moveTo>
                <a:lnTo>
                  <a:pt x="48182" y="7649"/>
                </a:lnTo>
                <a:lnTo>
                  <a:pt x="90019" y="28947"/>
                </a:lnTo>
                <a:lnTo>
                  <a:pt x="123005" y="61420"/>
                </a:lnTo>
                <a:lnTo>
                  <a:pt x="144633" y="102591"/>
                </a:lnTo>
                <a:lnTo>
                  <a:pt x="152400" y="149987"/>
                </a:lnTo>
                <a:lnTo>
                  <a:pt x="144646" y="197382"/>
                </a:lnTo>
                <a:lnTo>
                  <a:pt x="123049" y="238553"/>
                </a:lnTo>
                <a:lnTo>
                  <a:pt x="90101" y="271026"/>
                </a:lnTo>
                <a:lnTo>
                  <a:pt x="48296" y="292324"/>
                </a:lnTo>
                <a:lnTo>
                  <a:pt x="126" y="299974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69" name="Google Shape;769;p66"/>
          <p:cNvSpPr/>
          <p:nvPr/>
        </p:nvSpPr>
        <p:spPr>
          <a:xfrm>
            <a:off x="6705600" y="3429000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152400" y="0"/>
                </a:moveTo>
                <a:lnTo>
                  <a:pt x="104217" y="7649"/>
                </a:lnTo>
                <a:lnTo>
                  <a:pt x="62380" y="28947"/>
                </a:lnTo>
                <a:lnTo>
                  <a:pt x="29394" y="61420"/>
                </a:lnTo>
                <a:lnTo>
                  <a:pt x="7766" y="102591"/>
                </a:lnTo>
                <a:lnTo>
                  <a:pt x="0" y="149987"/>
                </a:lnTo>
                <a:lnTo>
                  <a:pt x="7753" y="197382"/>
                </a:lnTo>
                <a:lnTo>
                  <a:pt x="29350" y="238553"/>
                </a:lnTo>
                <a:lnTo>
                  <a:pt x="62298" y="271026"/>
                </a:lnTo>
                <a:lnTo>
                  <a:pt x="104103" y="292324"/>
                </a:lnTo>
                <a:lnTo>
                  <a:pt x="152273" y="299974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70" name="Google Shape;770;p66"/>
          <p:cNvSpPr/>
          <p:nvPr/>
        </p:nvSpPr>
        <p:spPr>
          <a:xfrm>
            <a:off x="7315200" y="3886200"/>
            <a:ext cx="300355" cy="152400"/>
          </a:xfrm>
          <a:custGeom>
            <a:avLst/>
            <a:gdLst/>
            <a:ahLst/>
            <a:cxnLst/>
            <a:rect l="l" t="t" r="r" b="b"/>
            <a:pathLst>
              <a:path w="300354" h="152400" extrusionOk="0">
                <a:moveTo>
                  <a:pt x="300100" y="0"/>
                </a:moveTo>
                <a:lnTo>
                  <a:pt x="292450" y="48182"/>
                </a:lnTo>
                <a:lnTo>
                  <a:pt x="271145" y="90019"/>
                </a:lnTo>
                <a:lnTo>
                  <a:pt x="238653" y="123005"/>
                </a:lnTo>
                <a:lnTo>
                  <a:pt x="197444" y="144633"/>
                </a:lnTo>
                <a:lnTo>
                  <a:pt x="149986" y="152400"/>
                </a:lnTo>
                <a:lnTo>
                  <a:pt x="102603" y="144646"/>
                </a:lnTo>
                <a:lnTo>
                  <a:pt x="61456" y="123049"/>
                </a:lnTo>
                <a:lnTo>
                  <a:pt x="29002" y="90101"/>
                </a:lnTo>
                <a:lnTo>
                  <a:pt x="7698" y="48296"/>
                </a:lnTo>
                <a:lnTo>
                  <a:pt x="0" y="126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71" name="Google Shape;771;p66"/>
          <p:cNvSpPr/>
          <p:nvPr/>
        </p:nvSpPr>
        <p:spPr>
          <a:xfrm>
            <a:off x="7010400" y="1981200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 extrusionOk="0">
                <a:moveTo>
                  <a:pt x="0" y="190500"/>
                </a:moveTo>
                <a:lnTo>
                  <a:pt x="19359" y="135500"/>
                </a:lnTo>
                <a:lnTo>
                  <a:pt x="73664" y="86794"/>
                </a:lnTo>
                <a:lnTo>
                  <a:pt x="112153" y="65540"/>
                </a:lnTo>
                <a:lnTo>
                  <a:pt x="157254" y="46744"/>
                </a:lnTo>
                <a:lnTo>
                  <a:pt x="208262" y="30704"/>
                </a:lnTo>
                <a:lnTo>
                  <a:pt x="264468" y="17714"/>
                </a:lnTo>
                <a:lnTo>
                  <a:pt x="325165" y="8069"/>
                </a:lnTo>
                <a:lnTo>
                  <a:pt x="389644" y="2066"/>
                </a:lnTo>
                <a:lnTo>
                  <a:pt x="457200" y="0"/>
                </a:lnTo>
                <a:lnTo>
                  <a:pt x="524755" y="2066"/>
                </a:lnTo>
                <a:lnTo>
                  <a:pt x="589234" y="8069"/>
                </a:lnTo>
                <a:lnTo>
                  <a:pt x="649931" y="17714"/>
                </a:lnTo>
                <a:lnTo>
                  <a:pt x="706137" y="30704"/>
                </a:lnTo>
                <a:lnTo>
                  <a:pt x="757145" y="46744"/>
                </a:lnTo>
                <a:lnTo>
                  <a:pt x="802246" y="65540"/>
                </a:lnTo>
                <a:lnTo>
                  <a:pt x="840735" y="86794"/>
                </a:lnTo>
                <a:lnTo>
                  <a:pt x="871902" y="110213"/>
                </a:lnTo>
                <a:lnTo>
                  <a:pt x="909442" y="162361"/>
                </a:lnTo>
                <a:lnTo>
                  <a:pt x="914400" y="190500"/>
                </a:lnTo>
                <a:lnTo>
                  <a:pt x="909442" y="218638"/>
                </a:lnTo>
                <a:lnTo>
                  <a:pt x="871902" y="270786"/>
                </a:lnTo>
                <a:lnTo>
                  <a:pt x="840735" y="294205"/>
                </a:lnTo>
                <a:lnTo>
                  <a:pt x="802246" y="315459"/>
                </a:lnTo>
                <a:lnTo>
                  <a:pt x="757145" y="334255"/>
                </a:lnTo>
                <a:lnTo>
                  <a:pt x="706137" y="350295"/>
                </a:lnTo>
                <a:lnTo>
                  <a:pt x="649931" y="363285"/>
                </a:lnTo>
                <a:lnTo>
                  <a:pt x="589234" y="372930"/>
                </a:lnTo>
                <a:lnTo>
                  <a:pt x="524755" y="378933"/>
                </a:lnTo>
                <a:lnTo>
                  <a:pt x="457200" y="381000"/>
                </a:lnTo>
                <a:lnTo>
                  <a:pt x="389644" y="378933"/>
                </a:lnTo>
                <a:lnTo>
                  <a:pt x="325165" y="372930"/>
                </a:lnTo>
                <a:lnTo>
                  <a:pt x="264468" y="363285"/>
                </a:lnTo>
                <a:lnTo>
                  <a:pt x="208262" y="350295"/>
                </a:lnTo>
                <a:lnTo>
                  <a:pt x="157254" y="334255"/>
                </a:lnTo>
                <a:lnTo>
                  <a:pt x="112153" y="315459"/>
                </a:lnTo>
                <a:lnTo>
                  <a:pt x="73664" y="294205"/>
                </a:lnTo>
                <a:lnTo>
                  <a:pt x="42497" y="270786"/>
                </a:lnTo>
                <a:lnTo>
                  <a:pt x="4957" y="218638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72" name="Google Shape;772;p66"/>
          <p:cNvSpPr txBox="1"/>
          <p:nvPr/>
        </p:nvSpPr>
        <p:spPr>
          <a:xfrm>
            <a:off x="7344918" y="2003297"/>
            <a:ext cx="246379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66"/>
          <p:cNvSpPr/>
          <p:nvPr/>
        </p:nvSpPr>
        <p:spPr>
          <a:xfrm>
            <a:off x="7543800" y="2514600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 extrusionOk="0">
                <a:moveTo>
                  <a:pt x="0" y="190500"/>
                </a:moveTo>
                <a:lnTo>
                  <a:pt x="19359" y="135500"/>
                </a:lnTo>
                <a:lnTo>
                  <a:pt x="73664" y="86794"/>
                </a:lnTo>
                <a:lnTo>
                  <a:pt x="112153" y="65540"/>
                </a:lnTo>
                <a:lnTo>
                  <a:pt x="157254" y="46744"/>
                </a:lnTo>
                <a:lnTo>
                  <a:pt x="208262" y="30704"/>
                </a:lnTo>
                <a:lnTo>
                  <a:pt x="264468" y="17714"/>
                </a:lnTo>
                <a:lnTo>
                  <a:pt x="325165" y="8069"/>
                </a:lnTo>
                <a:lnTo>
                  <a:pt x="389644" y="2066"/>
                </a:lnTo>
                <a:lnTo>
                  <a:pt x="457200" y="0"/>
                </a:lnTo>
                <a:lnTo>
                  <a:pt x="524755" y="2066"/>
                </a:lnTo>
                <a:lnTo>
                  <a:pt x="589234" y="8069"/>
                </a:lnTo>
                <a:lnTo>
                  <a:pt x="649931" y="17714"/>
                </a:lnTo>
                <a:lnTo>
                  <a:pt x="706137" y="30704"/>
                </a:lnTo>
                <a:lnTo>
                  <a:pt x="757145" y="46744"/>
                </a:lnTo>
                <a:lnTo>
                  <a:pt x="802246" y="65540"/>
                </a:lnTo>
                <a:lnTo>
                  <a:pt x="840735" y="86794"/>
                </a:lnTo>
                <a:lnTo>
                  <a:pt x="871902" y="110213"/>
                </a:lnTo>
                <a:lnTo>
                  <a:pt x="909442" y="162361"/>
                </a:lnTo>
                <a:lnTo>
                  <a:pt x="914400" y="190500"/>
                </a:lnTo>
                <a:lnTo>
                  <a:pt x="909442" y="218638"/>
                </a:lnTo>
                <a:lnTo>
                  <a:pt x="871902" y="270786"/>
                </a:lnTo>
                <a:lnTo>
                  <a:pt x="840735" y="294205"/>
                </a:lnTo>
                <a:lnTo>
                  <a:pt x="802246" y="315459"/>
                </a:lnTo>
                <a:lnTo>
                  <a:pt x="757145" y="334255"/>
                </a:lnTo>
                <a:lnTo>
                  <a:pt x="706137" y="350295"/>
                </a:lnTo>
                <a:lnTo>
                  <a:pt x="649931" y="363285"/>
                </a:lnTo>
                <a:lnTo>
                  <a:pt x="589234" y="372930"/>
                </a:lnTo>
                <a:lnTo>
                  <a:pt x="524755" y="378933"/>
                </a:lnTo>
                <a:lnTo>
                  <a:pt x="457200" y="381000"/>
                </a:lnTo>
                <a:lnTo>
                  <a:pt x="389644" y="378933"/>
                </a:lnTo>
                <a:lnTo>
                  <a:pt x="325165" y="372930"/>
                </a:lnTo>
                <a:lnTo>
                  <a:pt x="264468" y="363285"/>
                </a:lnTo>
                <a:lnTo>
                  <a:pt x="208262" y="350295"/>
                </a:lnTo>
                <a:lnTo>
                  <a:pt x="157254" y="334255"/>
                </a:lnTo>
                <a:lnTo>
                  <a:pt x="112153" y="315459"/>
                </a:lnTo>
                <a:lnTo>
                  <a:pt x="73664" y="294205"/>
                </a:lnTo>
                <a:lnTo>
                  <a:pt x="42497" y="270786"/>
                </a:lnTo>
                <a:lnTo>
                  <a:pt x="4957" y="218638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74" name="Google Shape;774;p66"/>
          <p:cNvSpPr txBox="1"/>
          <p:nvPr/>
        </p:nvSpPr>
        <p:spPr>
          <a:xfrm>
            <a:off x="7632954" y="2537078"/>
            <a:ext cx="73977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66"/>
          <p:cNvSpPr/>
          <p:nvPr/>
        </p:nvSpPr>
        <p:spPr>
          <a:xfrm>
            <a:off x="6477000" y="2514600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 extrusionOk="0">
                <a:moveTo>
                  <a:pt x="0" y="190500"/>
                </a:moveTo>
                <a:lnTo>
                  <a:pt x="19359" y="135500"/>
                </a:lnTo>
                <a:lnTo>
                  <a:pt x="73664" y="86794"/>
                </a:lnTo>
                <a:lnTo>
                  <a:pt x="112153" y="65540"/>
                </a:lnTo>
                <a:lnTo>
                  <a:pt x="157254" y="46744"/>
                </a:lnTo>
                <a:lnTo>
                  <a:pt x="208262" y="30704"/>
                </a:lnTo>
                <a:lnTo>
                  <a:pt x="264468" y="17714"/>
                </a:lnTo>
                <a:lnTo>
                  <a:pt x="325165" y="8069"/>
                </a:lnTo>
                <a:lnTo>
                  <a:pt x="389644" y="2066"/>
                </a:lnTo>
                <a:lnTo>
                  <a:pt x="457200" y="0"/>
                </a:lnTo>
                <a:lnTo>
                  <a:pt x="524755" y="2066"/>
                </a:lnTo>
                <a:lnTo>
                  <a:pt x="589234" y="8069"/>
                </a:lnTo>
                <a:lnTo>
                  <a:pt x="649931" y="17714"/>
                </a:lnTo>
                <a:lnTo>
                  <a:pt x="706137" y="30704"/>
                </a:lnTo>
                <a:lnTo>
                  <a:pt x="757145" y="46744"/>
                </a:lnTo>
                <a:lnTo>
                  <a:pt x="802246" y="65540"/>
                </a:lnTo>
                <a:lnTo>
                  <a:pt x="840735" y="86794"/>
                </a:lnTo>
                <a:lnTo>
                  <a:pt x="871902" y="110213"/>
                </a:lnTo>
                <a:lnTo>
                  <a:pt x="909442" y="162361"/>
                </a:lnTo>
                <a:lnTo>
                  <a:pt x="914400" y="190500"/>
                </a:lnTo>
                <a:lnTo>
                  <a:pt x="909442" y="218638"/>
                </a:lnTo>
                <a:lnTo>
                  <a:pt x="871902" y="270786"/>
                </a:lnTo>
                <a:lnTo>
                  <a:pt x="840735" y="294205"/>
                </a:lnTo>
                <a:lnTo>
                  <a:pt x="802246" y="315459"/>
                </a:lnTo>
                <a:lnTo>
                  <a:pt x="757145" y="334255"/>
                </a:lnTo>
                <a:lnTo>
                  <a:pt x="706137" y="350295"/>
                </a:lnTo>
                <a:lnTo>
                  <a:pt x="649931" y="363285"/>
                </a:lnTo>
                <a:lnTo>
                  <a:pt x="589234" y="372930"/>
                </a:lnTo>
                <a:lnTo>
                  <a:pt x="524755" y="378933"/>
                </a:lnTo>
                <a:lnTo>
                  <a:pt x="457200" y="381000"/>
                </a:lnTo>
                <a:lnTo>
                  <a:pt x="389644" y="378933"/>
                </a:lnTo>
                <a:lnTo>
                  <a:pt x="325165" y="372930"/>
                </a:lnTo>
                <a:lnTo>
                  <a:pt x="264468" y="363285"/>
                </a:lnTo>
                <a:lnTo>
                  <a:pt x="208262" y="350295"/>
                </a:lnTo>
                <a:lnTo>
                  <a:pt x="157254" y="334255"/>
                </a:lnTo>
                <a:lnTo>
                  <a:pt x="112153" y="315459"/>
                </a:lnTo>
                <a:lnTo>
                  <a:pt x="73664" y="294205"/>
                </a:lnTo>
                <a:lnTo>
                  <a:pt x="42497" y="270786"/>
                </a:lnTo>
                <a:lnTo>
                  <a:pt x="4957" y="218638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76" name="Google Shape;776;p66"/>
          <p:cNvSpPr txBox="1"/>
          <p:nvPr/>
        </p:nvSpPr>
        <p:spPr>
          <a:xfrm>
            <a:off x="6614541" y="2537078"/>
            <a:ext cx="64262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66"/>
          <p:cNvSpPr/>
          <p:nvPr/>
        </p:nvSpPr>
        <p:spPr>
          <a:xfrm>
            <a:off x="7467600" y="2895600"/>
            <a:ext cx="533400" cy="381000"/>
          </a:xfrm>
          <a:custGeom>
            <a:avLst/>
            <a:gdLst/>
            <a:ahLst/>
            <a:cxnLst/>
            <a:rect l="l" t="t" r="r" b="b"/>
            <a:pathLst>
              <a:path w="533400" h="381000" extrusionOk="0">
                <a:moveTo>
                  <a:pt x="0" y="381000"/>
                </a:moveTo>
                <a:lnTo>
                  <a:pt x="53340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78" name="Google Shape;778;p66"/>
          <p:cNvSpPr/>
          <p:nvPr/>
        </p:nvSpPr>
        <p:spPr>
          <a:xfrm>
            <a:off x="7467600" y="2362200"/>
            <a:ext cx="0" cy="914400"/>
          </a:xfrm>
          <a:custGeom>
            <a:avLst/>
            <a:gdLst/>
            <a:ahLst/>
            <a:cxnLst/>
            <a:rect l="l" t="t" r="r" b="b"/>
            <a:pathLst>
              <a:path w="120000" h="914400" extrusionOk="0">
                <a:moveTo>
                  <a:pt x="0" y="914400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79" name="Google Shape;779;p66"/>
          <p:cNvSpPr/>
          <p:nvPr/>
        </p:nvSpPr>
        <p:spPr>
          <a:xfrm>
            <a:off x="6934200" y="2895600"/>
            <a:ext cx="533400" cy="381000"/>
          </a:xfrm>
          <a:custGeom>
            <a:avLst/>
            <a:gdLst/>
            <a:ahLst/>
            <a:cxnLst/>
            <a:rect l="l" t="t" r="r" b="b"/>
            <a:pathLst>
              <a:path w="533400" h="381000" extrusionOk="0">
                <a:moveTo>
                  <a:pt x="533400" y="381000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014405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72973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Making E/R Models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785" name="Google Shape;785;p6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13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86" name="Google Shape;786;p67"/>
          <p:cNvSpPr txBox="1"/>
          <p:nvPr/>
        </p:nvSpPr>
        <p:spPr>
          <a:xfrm>
            <a:off x="535940" y="1622805"/>
            <a:ext cx="3762375" cy="357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make an E/R model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14287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need to identify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1" indent="-28638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Entities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1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Attributes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1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Relationships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1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Cardinality ratios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5080" lvl="0" indent="-342900" algn="l" rtl="0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obtain these from a  problem description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67"/>
          <p:cNvSpPr txBox="1"/>
          <p:nvPr/>
        </p:nvSpPr>
        <p:spPr>
          <a:xfrm>
            <a:off x="4727828" y="1622805"/>
            <a:ext cx="3820160" cy="3970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 guidelines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5080" lvl="1" indent="-286385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 entities are things  or objects they are often  nouns in the description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343535" lvl="1" indent="-286385" algn="just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Attributes are facts or  properties, and so are  often nouns also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307975" lvl="1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Verbs often describe  relationships between  entities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4280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6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98323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Example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792" name="Google Shape;792;p6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0995" marR="5080" lvl="0" indent="-27432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Noto Sans Symbols"/>
              <a:buChar char="∗"/>
            </a:pPr>
            <a:r>
              <a:rPr lang="en-US" sz="26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A university consists of a number of departments. Each  department offers several courses. A number of modules  make up each course. Students </a:t>
            </a:r>
            <a:r>
              <a:rPr lang="en-US" sz="2600" b="0" i="0" u="none" strike="noStrike" cap="none" dirty="0" smtClean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enroll </a:t>
            </a:r>
            <a:r>
              <a:rPr lang="en-US" sz="26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in a particular  course and take modules towards the completion of that  course. Each module is taught by a lecturer from the  appropriate department (several lecturer work in the  same department), and each lecturer tutors a group of  students. A lecturer can teach more than one module but  can work only in one department.</a:t>
            </a:r>
            <a:endParaRPr sz="2600" b="0" i="0" u="none" strike="noStrike" cap="none" dirty="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93" name="Google Shape;793;p6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14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73925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6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92468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Example - Entities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799" name="Google Shape;799;p6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0995" marR="5080" lvl="0" indent="-27432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Noto Sans Symbols"/>
              <a:buChar char="∗"/>
            </a:pPr>
            <a:r>
              <a:rPr lang="en-US" sz="26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A university consists of a number of departments. Each  </a:t>
            </a:r>
            <a:r>
              <a:rPr lang="en-US" sz="2600" b="0" i="0" u="none" strike="noStrike" cap="none" dirty="0">
                <a:solidFill>
                  <a:srgbClr val="C00000"/>
                </a:solidFill>
                <a:latin typeface="Candara"/>
                <a:ea typeface="Candara"/>
                <a:cs typeface="Candara"/>
                <a:sym typeface="Candara"/>
              </a:rPr>
              <a:t>department </a:t>
            </a:r>
            <a:r>
              <a:rPr lang="en-US" sz="26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offers several </a:t>
            </a:r>
            <a:r>
              <a:rPr lang="en-US" sz="2600" b="0" i="0" u="none" strike="noStrike" cap="none" dirty="0">
                <a:solidFill>
                  <a:srgbClr val="C00000"/>
                </a:solidFill>
                <a:latin typeface="Candara"/>
                <a:ea typeface="Candara"/>
                <a:cs typeface="Candara"/>
                <a:sym typeface="Candara"/>
              </a:rPr>
              <a:t>courses</a:t>
            </a:r>
            <a:r>
              <a:rPr lang="en-US" sz="26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. A number of </a:t>
            </a:r>
            <a:r>
              <a:rPr lang="en-US" sz="2600" b="0" i="0" u="none" strike="noStrike" cap="none" dirty="0">
                <a:solidFill>
                  <a:srgbClr val="C00000"/>
                </a:solidFill>
                <a:latin typeface="Candara"/>
                <a:ea typeface="Candara"/>
                <a:cs typeface="Candara"/>
                <a:sym typeface="Candara"/>
              </a:rPr>
              <a:t>modules  </a:t>
            </a:r>
            <a:r>
              <a:rPr lang="en-US" sz="26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make up each course. </a:t>
            </a:r>
            <a:r>
              <a:rPr lang="en-US" sz="2600" b="0" i="0" u="none" strike="noStrike" cap="none" dirty="0">
                <a:solidFill>
                  <a:srgbClr val="C00000"/>
                </a:solidFill>
                <a:latin typeface="Candara"/>
                <a:ea typeface="Candara"/>
                <a:cs typeface="Candara"/>
                <a:sym typeface="Candara"/>
              </a:rPr>
              <a:t>Students </a:t>
            </a:r>
            <a:r>
              <a:rPr lang="en-US" sz="2600" b="0" i="0" u="none" strike="noStrike" cap="none" dirty="0" smtClean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enroll </a:t>
            </a:r>
            <a:r>
              <a:rPr lang="en-US" sz="26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in a particular  course and take modules towards the completion of that  course. Each module is taught by a </a:t>
            </a:r>
            <a:r>
              <a:rPr lang="en-US" sz="2600" b="0" i="0" u="none" strike="noStrike" cap="none" dirty="0">
                <a:solidFill>
                  <a:srgbClr val="C00000"/>
                </a:solidFill>
                <a:latin typeface="Candara"/>
                <a:ea typeface="Candara"/>
                <a:cs typeface="Candara"/>
                <a:sym typeface="Candara"/>
              </a:rPr>
              <a:t>lecturer </a:t>
            </a:r>
            <a:r>
              <a:rPr lang="en-US" sz="26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from the  appropriate department (several lecturer work in the  same department), and each lecturer tutors a group of  students. A lecturer can teach more than one module but  can work only in one department.</a:t>
            </a:r>
            <a:endParaRPr sz="2600" b="0" i="0" u="none" strike="noStrike" cap="none" dirty="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328295" marR="0" lvl="0" indent="-137795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accent1"/>
              </a:buClr>
              <a:buSzPts val="2150"/>
              <a:buFont typeface="Noto Sans Symbols"/>
              <a:buNone/>
            </a:pPr>
            <a:endParaRPr sz="2150" b="0" i="0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197735" marR="276860" lvl="0" indent="-182943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C00000"/>
                </a:solidFill>
                <a:latin typeface="Candara"/>
                <a:ea typeface="Candara"/>
                <a:cs typeface="Candara"/>
                <a:sym typeface="Candara"/>
              </a:rPr>
              <a:t>Entities – Department, Course, Module, Student,  Lecturer</a:t>
            </a:r>
            <a:endParaRPr sz="2800" b="0" i="0" u="none" strike="noStrike" cap="none" dirty="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00" name="Google Shape;800;p6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15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3479145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7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26047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Example - Relationships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807" name="Google Shape;807;p70"/>
          <p:cNvSpPr txBox="1"/>
          <p:nvPr/>
        </p:nvSpPr>
        <p:spPr>
          <a:xfrm>
            <a:off x="878839" y="1632966"/>
            <a:ext cx="7715250" cy="2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508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university consists of a number of departments. Each  </a:t>
            </a:r>
            <a:r>
              <a:rPr lang="en-US" sz="2600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department </a:t>
            </a:r>
            <a:r>
              <a:rPr lang="en-US" sz="2600" dirty="0">
                <a:solidFill>
                  <a:srgbClr val="00AFEF"/>
                </a:solidFill>
                <a:latin typeface="Calibri"/>
                <a:ea typeface="Calibri"/>
                <a:cs typeface="Calibri"/>
                <a:sym typeface="Calibri"/>
              </a:rPr>
              <a:t>offers </a:t>
            </a: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several </a:t>
            </a:r>
            <a:r>
              <a:rPr lang="en-US" sz="2600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courses</a:t>
            </a: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A number of </a:t>
            </a:r>
            <a:r>
              <a:rPr lang="en-US" sz="2600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modules  </a:t>
            </a:r>
            <a:r>
              <a:rPr lang="en-US" sz="2600" dirty="0">
                <a:solidFill>
                  <a:srgbClr val="00AFEF"/>
                </a:solidFill>
                <a:latin typeface="Calibri"/>
                <a:ea typeface="Calibri"/>
                <a:cs typeface="Calibri"/>
                <a:sym typeface="Calibri"/>
              </a:rPr>
              <a:t>make up </a:t>
            </a: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course. </a:t>
            </a:r>
            <a:r>
              <a:rPr lang="en-US" sz="2600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Students </a:t>
            </a:r>
            <a:r>
              <a:rPr lang="en-US" sz="2600" dirty="0" smtClean="0">
                <a:solidFill>
                  <a:srgbClr val="00AFEF"/>
                </a:solidFill>
                <a:latin typeface="Calibri"/>
                <a:ea typeface="Calibri"/>
                <a:cs typeface="Calibri"/>
                <a:sym typeface="Calibri"/>
              </a:rPr>
              <a:t>enroll </a:t>
            </a: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 particular  course and </a:t>
            </a:r>
            <a:r>
              <a:rPr lang="en-US" sz="2600" dirty="0">
                <a:solidFill>
                  <a:srgbClr val="00AFEF"/>
                </a:solidFill>
                <a:latin typeface="Calibri"/>
                <a:ea typeface="Calibri"/>
                <a:cs typeface="Calibri"/>
                <a:sym typeface="Calibri"/>
              </a:rPr>
              <a:t>take </a:t>
            </a: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modules towards the completion of that  course. Each module is </a:t>
            </a:r>
            <a:r>
              <a:rPr lang="en-US" sz="2600" dirty="0">
                <a:solidFill>
                  <a:srgbClr val="00AFEF"/>
                </a:solidFill>
                <a:latin typeface="Calibri"/>
                <a:ea typeface="Calibri"/>
                <a:cs typeface="Calibri"/>
                <a:sym typeface="Calibri"/>
              </a:rPr>
              <a:t>taught by </a:t>
            </a: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600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lecturer </a:t>
            </a:r>
            <a:r>
              <a:rPr lang="en-US" sz="2600" dirty="0">
                <a:solidFill>
                  <a:srgbClr val="00AFEF"/>
                </a:solidFill>
                <a:latin typeface="Calibri"/>
                <a:ea typeface="Calibri"/>
                <a:cs typeface="Calibri"/>
                <a:sym typeface="Calibri"/>
              </a:rPr>
              <a:t>from the  </a:t>
            </a: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appropriate department (several lecturer work in the  same department), and each lecturer </a:t>
            </a:r>
            <a:r>
              <a:rPr lang="en-US" sz="2600" dirty="0">
                <a:solidFill>
                  <a:srgbClr val="00AFEF"/>
                </a:solidFill>
                <a:latin typeface="Calibri"/>
                <a:ea typeface="Calibri"/>
                <a:cs typeface="Calibri"/>
                <a:sym typeface="Calibri"/>
              </a:rPr>
              <a:t>tutors </a:t>
            </a: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group of  students. A lecturer can teach more than one module but  can work only in one department.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70"/>
          <p:cNvSpPr txBox="1"/>
          <p:nvPr/>
        </p:nvSpPr>
        <p:spPr>
          <a:xfrm>
            <a:off x="906576" y="4802504"/>
            <a:ext cx="7414895" cy="1838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41500" marR="5080" lvl="0" indent="-1828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Entities – Department, Course, Module, Student,  Lecturer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marR="0" lvl="0" indent="-365125" algn="l" rtl="0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rgbClr val="00AFEF"/>
                </a:solidFill>
                <a:latin typeface="Calibri"/>
                <a:ea typeface="Calibri"/>
                <a:cs typeface="Calibri"/>
                <a:sym typeface="Calibri"/>
              </a:rPr>
              <a:t>Relationships – Offers, Make Up, </a:t>
            </a:r>
            <a:r>
              <a:rPr lang="en-US" sz="2800" dirty="0" smtClean="0">
                <a:solidFill>
                  <a:srgbClr val="00AFEF"/>
                </a:solidFill>
                <a:latin typeface="Calibri"/>
                <a:ea typeface="Calibri"/>
                <a:cs typeface="Calibri"/>
                <a:sym typeface="Calibri"/>
              </a:rPr>
              <a:t>Enroll, </a:t>
            </a:r>
            <a:r>
              <a:rPr lang="en-US" sz="2800" dirty="0">
                <a:solidFill>
                  <a:srgbClr val="00AFEF"/>
                </a:solidFill>
                <a:latin typeface="Calibri"/>
                <a:ea typeface="Calibri"/>
                <a:cs typeface="Calibri"/>
                <a:sym typeface="Calibri"/>
              </a:rPr>
              <a:t>Take,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755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AFEF"/>
                </a:solidFill>
                <a:latin typeface="Calibri"/>
                <a:ea typeface="Calibri"/>
                <a:cs typeface="Calibri"/>
                <a:sym typeface="Calibri"/>
              </a:rPr>
              <a:t>Taught By, From The, Tutors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70"/>
          <p:cNvSpPr txBox="1"/>
          <p:nvPr/>
        </p:nvSpPr>
        <p:spPr>
          <a:xfrm>
            <a:off x="8427211" y="6439509"/>
            <a:ext cx="180975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67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69270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7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30619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Example – E/R Diagram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814" name="Google Shape;814;p7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17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16" name="Google Shape;816;p71"/>
          <p:cNvSpPr txBox="1"/>
          <p:nvPr/>
        </p:nvSpPr>
        <p:spPr>
          <a:xfrm>
            <a:off x="535940" y="1620773"/>
            <a:ext cx="7920355" cy="1009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lvl="0"/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Entities: Department, Course, Module, Lecturer, Student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415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71"/>
          <p:cNvSpPr/>
          <p:nvPr/>
        </p:nvSpPr>
        <p:spPr>
          <a:xfrm>
            <a:off x="3708019" y="5949276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96"/>
                </a:lnTo>
                <a:lnTo>
                  <a:pt x="26019" y="26038"/>
                </a:lnTo>
                <a:lnTo>
                  <a:pt x="54274" y="6986"/>
                </a:lnTo>
                <a:lnTo>
                  <a:pt x="88900" y="0"/>
                </a:lnTo>
                <a:lnTo>
                  <a:pt x="1663700" y="0"/>
                </a:lnTo>
                <a:lnTo>
                  <a:pt x="1698271" y="6986"/>
                </a:lnTo>
                <a:lnTo>
                  <a:pt x="1726533" y="26038"/>
                </a:lnTo>
                <a:lnTo>
                  <a:pt x="1745603" y="54296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03" y="479103"/>
                </a:lnTo>
                <a:lnTo>
                  <a:pt x="1726533" y="507361"/>
                </a:lnTo>
                <a:lnTo>
                  <a:pt x="1698271" y="526413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13"/>
                </a:lnTo>
                <a:lnTo>
                  <a:pt x="26019" y="507361"/>
                </a:lnTo>
                <a:lnTo>
                  <a:pt x="6979" y="479103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18" name="Google Shape;818;p71"/>
          <p:cNvSpPr/>
          <p:nvPr/>
        </p:nvSpPr>
        <p:spPr>
          <a:xfrm>
            <a:off x="323532" y="4221098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86" y="54274"/>
                </a:lnTo>
                <a:lnTo>
                  <a:pt x="26038" y="26019"/>
                </a:lnTo>
                <a:lnTo>
                  <a:pt x="54296" y="6979"/>
                </a:lnTo>
                <a:lnTo>
                  <a:pt x="88900" y="0"/>
                </a:lnTo>
                <a:lnTo>
                  <a:pt x="1663636" y="0"/>
                </a:lnTo>
                <a:lnTo>
                  <a:pt x="1698261" y="6979"/>
                </a:lnTo>
                <a:lnTo>
                  <a:pt x="1726517" y="26019"/>
                </a:lnTo>
                <a:lnTo>
                  <a:pt x="1745557" y="54274"/>
                </a:lnTo>
                <a:lnTo>
                  <a:pt x="1752536" y="88900"/>
                </a:lnTo>
                <a:lnTo>
                  <a:pt x="1752536" y="444500"/>
                </a:lnTo>
                <a:lnTo>
                  <a:pt x="1745557" y="479125"/>
                </a:lnTo>
                <a:lnTo>
                  <a:pt x="1726517" y="507380"/>
                </a:lnTo>
                <a:lnTo>
                  <a:pt x="1698261" y="526420"/>
                </a:lnTo>
                <a:lnTo>
                  <a:pt x="1663636" y="533400"/>
                </a:lnTo>
                <a:lnTo>
                  <a:pt x="88900" y="533400"/>
                </a:lnTo>
                <a:lnTo>
                  <a:pt x="54296" y="526420"/>
                </a:lnTo>
                <a:lnTo>
                  <a:pt x="26038" y="507380"/>
                </a:lnTo>
                <a:lnTo>
                  <a:pt x="6986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19" name="Google Shape;819;p71"/>
          <p:cNvSpPr txBox="1"/>
          <p:nvPr/>
        </p:nvSpPr>
        <p:spPr>
          <a:xfrm>
            <a:off x="829767" y="4320158"/>
            <a:ext cx="73977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71"/>
          <p:cNvSpPr/>
          <p:nvPr/>
        </p:nvSpPr>
        <p:spPr>
          <a:xfrm>
            <a:off x="3707891" y="4221098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663700" y="0"/>
                </a:lnTo>
                <a:lnTo>
                  <a:pt x="1698325" y="6979"/>
                </a:lnTo>
                <a:lnTo>
                  <a:pt x="1726580" y="26019"/>
                </a:lnTo>
                <a:lnTo>
                  <a:pt x="1745620" y="54274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20" y="479125"/>
                </a:lnTo>
                <a:lnTo>
                  <a:pt x="1726580" y="507380"/>
                </a:lnTo>
                <a:lnTo>
                  <a:pt x="1698325" y="526420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21" name="Google Shape;821;p71"/>
          <p:cNvSpPr txBox="1"/>
          <p:nvPr/>
        </p:nvSpPr>
        <p:spPr>
          <a:xfrm>
            <a:off x="4169155" y="4320158"/>
            <a:ext cx="829944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71"/>
          <p:cNvSpPr/>
          <p:nvPr/>
        </p:nvSpPr>
        <p:spPr>
          <a:xfrm>
            <a:off x="3707891" y="2996945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663700" y="0"/>
                </a:lnTo>
                <a:lnTo>
                  <a:pt x="1698325" y="6979"/>
                </a:lnTo>
                <a:lnTo>
                  <a:pt x="1726580" y="26019"/>
                </a:lnTo>
                <a:lnTo>
                  <a:pt x="1745620" y="54274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20" y="479125"/>
                </a:lnTo>
                <a:lnTo>
                  <a:pt x="1726580" y="507380"/>
                </a:lnTo>
                <a:lnTo>
                  <a:pt x="1698325" y="526420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23" name="Google Shape;823;p71"/>
          <p:cNvSpPr txBox="1"/>
          <p:nvPr/>
        </p:nvSpPr>
        <p:spPr>
          <a:xfrm>
            <a:off x="3942079" y="3095752"/>
            <a:ext cx="128460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71"/>
          <p:cNvSpPr/>
          <p:nvPr/>
        </p:nvSpPr>
        <p:spPr>
          <a:xfrm>
            <a:off x="7067931" y="4221098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663700" y="0"/>
                </a:lnTo>
                <a:lnTo>
                  <a:pt x="1698271" y="6979"/>
                </a:lnTo>
                <a:lnTo>
                  <a:pt x="1726533" y="26019"/>
                </a:lnTo>
                <a:lnTo>
                  <a:pt x="1745603" y="54274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03" y="479125"/>
                </a:lnTo>
                <a:lnTo>
                  <a:pt x="1726533" y="507380"/>
                </a:lnTo>
                <a:lnTo>
                  <a:pt x="1698271" y="526420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25" name="Google Shape;825;p71"/>
          <p:cNvSpPr txBox="1"/>
          <p:nvPr/>
        </p:nvSpPr>
        <p:spPr>
          <a:xfrm>
            <a:off x="7502143" y="4320158"/>
            <a:ext cx="88773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71"/>
          <p:cNvSpPr txBox="1"/>
          <p:nvPr/>
        </p:nvSpPr>
        <p:spPr>
          <a:xfrm>
            <a:off x="4164584" y="6099073"/>
            <a:ext cx="838835" cy="280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8302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7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30619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Example – E/R Diagram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831" name="Google Shape;831;p7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18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33" name="Google Shape;833;p72"/>
          <p:cNvSpPr txBox="1"/>
          <p:nvPr/>
        </p:nvSpPr>
        <p:spPr>
          <a:xfrm>
            <a:off x="535940" y="1620773"/>
            <a:ext cx="6584315" cy="521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Department offers several Courses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72"/>
          <p:cNvSpPr/>
          <p:nvPr/>
        </p:nvSpPr>
        <p:spPr>
          <a:xfrm>
            <a:off x="3708019" y="5949276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96"/>
                </a:lnTo>
                <a:lnTo>
                  <a:pt x="26019" y="26038"/>
                </a:lnTo>
                <a:lnTo>
                  <a:pt x="54274" y="6986"/>
                </a:lnTo>
                <a:lnTo>
                  <a:pt x="88900" y="0"/>
                </a:lnTo>
                <a:lnTo>
                  <a:pt x="1663700" y="0"/>
                </a:lnTo>
                <a:lnTo>
                  <a:pt x="1698271" y="6986"/>
                </a:lnTo>
                <a:lnTo>
                  <a:pt x="1726533" y="26038"/>
                </a:lnTo>
                <a:lnTo>
                  <a:pt x="1745603" y="54296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03" y="479103"/>
                </a:lnTo>
                <a:lnTo>
                  <a:pt x="1726533" y="507361"/>
                </a:lnTo>
                <a:lnTo>
                  <a:pt x="1698271" y="526413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13"/>
                </a:lnTo>
                <a:lnTo>
                  <a:pt x="26019" y="507361"/>
                </a:lnTo>
                <a:lnTo>
                  <a:pt x="6979" y="479103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35" name="Google Shape;835;p72"/>
          <p:cNvSpPr/>
          <p:nvPr/>
        </p:nvSpPr>
        <p:spPr>
          <a:xfrm>
            <a:off x="323532" y="4221098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86" y="54274"/>
                </a:lnTo>
                <a:lnTo>
                  <a:pt x="26038" y="26019"/>
                </a:lnTo>
                <a:lnTo>
                  <a:pt x="54296" y="6979"/>
                </a:lnTo>
                <a:lnTo>
                  <a:pt x="88900" y="0"/>
                </a:lnTo>
                <a:lnTo>
                  <a:pt x="1663636" y="0"/>
                </a:lnTo>
                <a:lnTo>
                  <a:pt x="1698261" y="6979"/>
                </a:lnTo>
                <a:lnTo>
                  <a:pt x="1726517" y="26019"/>
                </a:lnTo>
                <a:lnTo>
                  <a:pt x="1745557" y="54274"/>
                </a:lnTo>
                <a:lnTo>
                  <a:pt x="1752536" y="88900"/>
                </a:lnTo>
                <a:lnTo>
                  <a:pt x="1752536" y="444500"/>
                </a:lnTo>
                <a:lnTo>
                  <a:pt x="1745557" y="479125"/>
                </a:lnTo>
                <a:lnTo>
                  <a:pt x="1726517" y="507380"/>
                </a:lnTo>
                <a:lnTo>
                  <a:pt x="1698261" y="526420"/>
                </a:lnTo>
                <a:lnTo>
                  <a:pt x="1663636" y="533400"/>
                </a:lnTo>
                <a:lnTo>
                  <a:pt x="88900" y="533400"/>
                </a:lnTo>
                <a:lnTo>
                  <a:pt x="54296" y="526420"/>
                </a:lnTo>
                <a:lnTo>
                  <a:pt x="26038" y="507380"/>
                </a:lnTo>
                <a:lnTo>
                  <a:pt x="6986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36" name="Google Shape;836;p72"/>
          <p:cNvSpPr txBox="1"/>
          <p:nvPr/>
        </p:nvSpPr>
        <p:spPr>
          <a:xfrm>
            <a:off x="829767" y="4320158"/>
            <a:ext cx="73977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72"/>
          <p:cNvSpPr/>
          <p:nvPr/>
        </p:nvSpPr>
        <p:spPr>
          <a:xfrm>
            <a:off x="3707891" y="4221098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663700" y="0"/>
                </a:lnTo>
                <a:lnTo>
                  <a:pt x="1698325" y="6979"/>
                </a:lnTo>
                <a:lnTo>
                  <a:pt x="1726580" y="26019"/>
                </a:lnTo>
                <a:lnTo>
                  <a:pt x="1745620" y="54274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20" y="479125"/>
                </a:lnTo>
                <a:lnTo>
                  <a:pt x="1726580" y="507380"/>
                </a:lnTo>
                <a:lnTo>
                  <a:pt x="1698325" y="526420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38" name="Google Shape;838;p72"/>
          <p:cNvSpPr txBox="1"/>
          <p:nvPr/>
        </p:nvSpPr>
        <p:spPr>
          <a:xfrm>
            <a:off x="4169155" y="4320158"/>
            <a:ext cx="829944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72"/>
          <p:cNvSpPr/>
          <p:nvPr/>
        </p:nvSpPr>
        <p:spPr>
          <a:xfrm>
            <a:off x="3707891" y="2996945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663700" y="0"/>
                </a:lnTo>
                <a:lnTo>
                  <a:pt x="1698325" y="6979"/>
                </a:lnTo>
                <a:lnTo>
                  <a:pt x="1726580" y="26019"/>
                </a:lnTo>
                <a:lnTo>
                  <a:pt x="1745620" y="54274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20" y="479125"/>
                </a:lnTo>
                <a:lnTo>
                  <a:pt x="1726580" y="507380"/>
                </a:lnTo>
                <a:lnTo>
                  <a:pt x="1698325" y="526420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40" name="Google Shape;840;p72"/>
          <p:cNvSpPr txBox="1"/>
          <p:nvPr/>
        </p:nvSpPr>
        <p:spPr>
          <a:xfrm>
            <a:off x="3942079" y="3095752"/>
            <a:ext cx="128460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72"/>
          <p:cNvSpPr/>
          <p:nvPr/>
        </p:nvSpPr>
        <p:spPr>
          <a:xfrm>
            <a:off x="7067931" y="4221098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663700" y="0"/>
                </a:lnTo>
                <a:lnTo>
                  <a:pt x="1698271" y="6979"/>
                </a:lnTo>
                <a:lnTo>
                  <a:pt x="1726533" y="26019"/>
                </a:lnTo>
                <a:lnTo>
                  <a:pt x="1745603" y="54274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03" y="479125"/>
                </a:lnTo>
                <a:lnTo>
                  <a:pt x="1726533" y="507380"/>
                </a:lnTo>
                <a:lnTo>
                  <a:pt x="1698271" y="526420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42" name="Google Shape;842;p72"/>
          <p:cNvSpPr txBox="1"/>
          <p:nvPr/>
        </p:nvSpPr>
        <p:spPr>
          <a:xfrm>
            <a:off x="7502143" y="4320158"/>
            <a:ext cx="88773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Lecturer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72"/>
          <p:cNvSpPr/>
          <p:nvPr/>
        </p:nvSpPr>
        <p:spPr>
          <a:xfrm>
            <a:off x="589330" y="2883407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599" y="0"/>
                </a:lnTo>
                <a:lnTo>
                  <a:pt x="1219149" y="381000"/>
                </a:lnTo>
                <a:lnTo>
                  <a:pt x="609599" y="761999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44" name="Google Shape;844;p72"/>
          <p:cNvSpPr txBox="1"/>
          <p:nvPr/>
        </p:nvSpPr>
        <p:spPr>
          <a:xfrm>
            <a:off x="905052" y="3112642"/>
            <a:ext cx="58737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72"/>
          <p:cNvSpPr/>
          <p:nvPr/>
        </p:nvSpPr>
        <p:spPr>
          <a:xfrm>
            <a:off x="1808479" y="3263646"/>
            <a:ext cx="1899920" cy="1270"/>
          </a:xfrm>
          <a:custGeom>
            <a:avLst/>
            <a:gdLst/>
            <a:ahLst/>
            <a:cxnLst/>
            <a:rect l="l" t="t" r="r" b="b"/>
            <a:pathLst>
              <a:path w="1899920" h="1270" extrusionOk="0">
                <a:moveTo>
                  <a:pt x="1899411" y="0"/>
                </a:moveTo>
                <a:lnTo>
                  <a:pt x="0" y="762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46" name="Google Shape;846;p72"/>
          <p:cNvSpPr/>
          <p:nvPr/>
        </p:nvSpPr>
        <p:spPr>
          <a:xfrm>
            <a:off x="1198930" y="3645408"/>
            <a:ext cx="1270" cy="575945"/>
          </a:xfrm>
          <a:custGeom>
            <a:avLst/>
            <a:gdLst/>
            <a:ahLst/>
            <a:cxnLst/>
            <a:rect l="l" t="t" r="r" b="b"/>
            <a:pathLst>
              <a:path w="1269" h="575945" extrusionOk="0">
                <a:moveTo>
                  <a:pt x="901" y="575691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47" name="Google Shape;847;p72"/>
          <p:cNvSpPr/>
          <p:nvPr/>
        </p:nvSpPr>
        <p:spPr>
          <a:xfrm>
            <a:off x="1043609" y="4077080"/>
            <a:ext cx="300355" cy="152400"/>
          </a:xfrm>
          <a:custGeom>
            <a:avLst/>
            <a:gdLst/>
            <a:ahLst/>
            <a:cxnLst/>
            <a:rect l="l" t="t" r="r" b="b"/>
            <a:pathLst>
              <a:path w="300355" h="152400" extrusionOk="0">
                <a:moveTo>
                  <a:pt x="0" y="152400"/>
                </a:moveTo>
                <a:lnTo>
                  <a:pt x="7647" y="104217"/>
                </a:lnTo>
                <a:lnTo>
                  <a:pt x="28942" y="62380"/>
                </a:lnTo>
                <a:lnTo>
                  <a:pt x="61414" y="29394"/>
                </a:lnTo>
                <a:lnTo>
                  <a:pt x="102594" y="7766"/>
                </a:lnTo>
                <a:lnTo>
                  <a:pt x="150012" y="0"/>
                </a:lnTo>
                <a:lnTo>
                  <a:pt x="197371" y="7752"/>
                </a:lnTo>
                <a:lnTo>
                  <a:pt x="238527" y="29342"/>
                </a:lnTo>
                <a:lnTo>
                  <a:pt x="271007" y="62270"/>
                </a:lnTo>
                <a:lnTo>
                  <a:pt x="292339" y="104038"/>
                </a:lnTo>
                <a:lnTo>
                  <a:pt x="300050" y="152146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48" name="Google Shape;848;p72"/>
          <p:cNvSpPr txBox="1"/>
          <p:nvPr/>
        </p:nvSpPr>
        <p:spPr>
          <a:xfrm>
            <a:off x="4164584" y="6099073"/>
            <a:ext cx="838835" cy="280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20301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30619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Example – E/R Diagram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854" name="Google Shape;854;p73"/>
          <p:cNvSpPr txBox="1"/>
          <p:nvPr/>
        </p:nvSpPr>
        <p:spPr>
          <a:xfrm>
            <a:off x="535940" y="1620773"/>
            <a:ext cx="7221220" cy="521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number of modules make up each Course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73"/>
          <p:cNvSpPr/>
          <p:nvPr/>
        </p:nvSpPr>
        <p:spPr>
          <a:xfrm>
            <a:off x="3708019" y="5949276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96"/>
                </a:lnTo>
                <a:lnTo>
                  <a:pt x="26019" y="26038"/>
                </a:lnTo>
                <a:lnTo>
                  <a:pt x="54274" y="6986"/>
                </a:lnTo>
                <a:lnTo>
                  <a:pt x="88900" y="0"/>
                </a:lnTo>
                <a:lnTo>
                  <a:pt x="1663700" y="0"/>
                </a:lnTo>
                <a:lnTo>
                  <a:pt x="1698271" y="6986"/>
                </a:lnTo>
                <a:lnTo>
                  <a:pt x="1726533" y="26038"/>
                </a:lnTo>
                <a:lnTo>
                  <a:pt x="1745603" y="54296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03" y="479103"/>
                </a:lnTo>
                <a:lnTo>
                  <a:pt x="1726533" y="507361"/>
                </a:lnTo>
                <a:lnTo>
                  <a:pt x="1698271" y="526413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13"/>
                </a:lnTo>
                <a:lnTo>
                  <a:pt x="26019" y="507361"/>
                </a:lnTo>
                <a:lnTo>
                  <a:pt x="6979" y="479103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56" name="Google Shape;856;p73"/>
          <p:cNvSpPr/>
          <p:nvPr/>
        </p:nvSpPr>
        <p:spPr>
          <a:xfrm>
            <a:off x="323532" y="4221098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86" y="54274"/>
                </a:lnTo>
                <a:lnTo>
                  <a:pt x="26038" y="26019"/>
                </a:lnTo>
                <a:lnTo>
                  <a:pt x="54296" y="6979"/>
                </a:lnTo>
                <a:lnTo>
                  <a:pt x="88900" y="0"/>
                </a:lnTo>
                <a:lnTo>
                  <a:pt x="1663636" y="0"/>
                </a:lnTo>
                <a:lnTo>
                  <a:pt x="1698261" y="6979"/>
                </a:lnTo>
                <a:lnTo>
                  <a:pt x="1726517" y="26019"/>
                </a:lnTo>
                <a:lnTo>
                  <a:pt x="1745557" y="54274"/>
                </a:lnTo>
                <a:lnTo>
                  <a:pt x="1752536" y="88900"/>
                </a:lnTo>
                <a:lnTo>
                  <a:pt x="1752536" y="444500"/>
                </a:lnTo>
                <a:lnTo>
                  <a:pt x="1745557" y="479125"/>
                </a:lnTo>
                <a:lnTo>
                  <a:pt x="1726517" y="507380"/>
                </a:lnTo>
                <a:lnTo>
                  <a:pt x="1698261" y="526420"/>
                </a:lnTo>
                <a:lnTo>
                  <a:pt x="1663636" y="533400"/>
                </a:lnTo>
                <a:lnTo>
                  <a:pt x="88900" y="533400"/>
                </a:lnTo>
                <a:lnTo>
                  <a:pt x="54296" y="526420"/>
                </a:lnTo>
                <a:lnTo>
                  <a:pt x="26038" y="507380"/>
                </a:lnTo>
                <a:lnTo>
                  <a:pt x="6986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57" name="Google Shape;857;p73"/>
          <p:cNvSpPr txBox="1"/>
          <p:nvPr/>
        </p:nvSpPr>
        <p:spPr>
          <a:xfrm>
            <a:off x="829767" y="4320158"/>
            <a:ext cx="73977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73"/>
          <p:cNvSpPr/>
          <p:nvPr/>
        </p:nvSpPr>
        <p:spPr>
          <a:xfrm>
            <a:off x="3707891" y="4221098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663700" y="0"/>
                </a:lnTo>
                <a:lnTo>
                  <a:pt x="1698325" y="6979"/>
                </a:lnTo>
                <a:lnTo>
                  <a:pt x="1726580" y="26019"/>
                </a:lnTo>
                <a:lnTo>
                  <a:pt x="1745620" y="54274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20" y="479125"/>
                </a:lnTo>
                <a:lnTo>
                  <a:pt x="1726580" y="507380"/>
                </a:lnTo>
                <a:lnTo>
                  <a:pt x="1698325" y="526420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59" name="Google Shape;859;p73"/>
          <p:cNvSpPr txBox="1"/>
          <p:nvPr/>
        </p:nvSpPr>
        <p:spPr>
          <a:xfrm>
            <a:off x="4169155" y="4320158"/>
            <a:ext cx="829944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73"/>
          <p:cNvSpPr/>
          <p:nvPr/>
        </p:nvSpPr>
        <p:spPr>
          <a:xfrm>
            <a:off x="3707891" y="2996945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663700" y="0"/>
                </a:lnTo>
                <a:lnTo>
                  <a:pt x="1698325" y="6979"/>
                </a:lnTo>
                <a:lnTo>
                  <a:pt x="1726580" y="26019"/>
                </a:lnTo>
                <a:lnTo>
                  <a:pt x="1745620" y="54274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20" y="479125"/>
                </a:lnTo>
                <a:lnTo>
                  <a:pt x="1726580" y="507380"/>
                </a:lnTo>
                <a:lnTo>
                  <a:pt x="1698325" y="526420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61" name="Google Shape;861;p73"/>
          <p:cNvSpPr txBox="1"/>
          <p:nvPr/>
        </p:nvSpPr>
        <p:spPr>
          <a:xfrm>
            <a:off x="3942079" y="3095752"/>
            <a:ext cx="128460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Department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73"/>
          <p:cNvSpPr/>
          <p:nvPr/>
        </p:nvSpPr>
        <p:spPr>
          <a:xfrm>
            <a:off x="7067931" y="4221098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663700" y="0"/>
                </a:lnTo>
                <a:lnTo>
                  <a:pt x="1698271" y="6979"/>
                </a:lnTo>
                <a:lnTo>
                  <a:pt x="1726533" y="26019"/>
                </a:lnTo>
                <a:lnTo>
                  <a:pt x="1745603" y="54274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03" y="479125"/>
                </a:lnTo>
                <a:lnTo>
                  <a:pt x="1726533" y="507380"/>
                </a:lnTo>
                <a:lnTo>
                  <a:pt x="1698271" y="526420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63" name="Google Shape;863;p73"/>
          <p:cNvSpPr txBox="1"/>
          <p:nvPr/>
        </p:nvSpPr>
        <p:spPr>
          <a:xfrm>
            <a:off x="7502143" y="4320158"/>
            <a:ext cx="88773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Lecturer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73"/>
          <p:cNvSpPr/>
          <p:nvPr/>
        </p:nvSpPr>
        <p:spPr>
          <a:xfrm>
            <a:off x="589330" y="2883407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599" y="0"/>
                </a:lnTo>
                <a:lnTo>
                  <a:pt x="1219149" y="381000"/>
                </a:lnTo>
                <a:lnTo>
                  <a:pt x="609599" y="761999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65" name="Google Shape;865;p73"/>
          <p:cNvSpPr txBox="1"/>
          <p:nvPr/>
        </p:nvSpPr>
        <p:spPr>
          <a:xfrm>
            <a:off x="905052" y="3112642"/>
            <a:ext cx="58737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Offers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73"/>
          <p:cNvSpPr/>
          <p:nvPr/>
        </p:nvSpPr>
        <p:spPr>
          <a:xfrm>
            <a:off x="1808479" y="3263646"/>
            <a:ext cx="1899920" cy="1270"/>
          </a:xfrm>
          <a:custGeom>
            <a:avLst/>
            <a:gdLst/>
            <a:ahLst/>
            <a:cxnLst/>
            <a:rect l="l" t="t" r="r" b="b"/>
            <a:pathLst>
              <a:path w="1899920" h="1270" extrusionOk="0">
                <a:moveTo>
                  <a:pt x="1899411" y="0"/>
                </a:moveTo>
                <a:lnTo>
                  <a:pt x="0" y="762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67" name="Google Shape;867;p73"/>
          <p:cNvSpPr/>
          <p:nvPr/>
        </p:nvSpPr>
        <p:spPr>
          <a:xfrm>
            <a:off x="1198930" y="3645408"/>
            <a:ext cx="1270" cy="575945"/>
          </a:xfrm>
          <a:custGeom>
            <a:avLst/>
            <a:gdLst/>
            <a:ahLst/>
            <a:cxnLst/>
            <a:rect l="l" t="t" r="r" b="b"/>
            <a:pathLst>
              <a:path w="1269" h="575945" extrusionOk="0">
                <a:moveTo>
                  <a:pt x="901" y="575691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68" name="Google Shape;868;p73"/>
          <p:cNvSpPr/>
          <p:nvPr/>
        </p:nvSpPr>
        <p:spPr>
          <a:xfrm>
            <a:off x="1043609" y="4077080"/>
            <a:ext cx="300355" cy="152400"/>
          </a:xfrm>
          <a:custGeom>
            <a:avLst/>
            <a:gdLst/>
            <a:ahLst/>
            <a:cxnLst/>
            <a:rect l="l" t="t" r="r" b="b"/>
            <a:pathLst>
              <a:path w="300355" h="152400" extrusionOk="0">
                <a:moveTo>
                  <a:pt x="0" y="152400"/>
                </a:moveTo>
                <a:lnTo>
                  <a:pt x="7647" y="104217"/>
                </a:lnTo>
                <a:lnTo>
                  <a:pt x="28942" y="62380"/>
                </a:lnTo>
                <a:lnTo>
                  <a:pt x="61414" y="29394"/>
                </a:lnTo>
                <a:lnTo>
                  <a:pt x="102594" y="7766"/>
                </a:lnTo>
                <a:lnTo>
                  <a:pt x="150012" y="0"/>
                </a:lnTo>
                <a:lnTo>
                  <a:pt x="197371" y="7752"/>
                </a:lnTo>
                <a:lnTo>
                  <a:pt x="238527" y="29342"/>
                </a:lnTo>
                <a:lnTo>
                  <a:pt x="271007" y="62270"/>
                </a:lnTo>
                <a:lnTo>
                  <a:pt x="292339" y="104038"/>
                </a:lnTo>
                <a:lnTo>
                  <a:pt x="300050" y="152146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69" name="Google Shape;869;p73"/>
          <p:cNvSpPr/>
          <p:nvPr/>
        </p:nvSpPr>
        <p:spPr>
          <a:xfrm>
            <a:off x="2267711" y="4107179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600" y="0"/>
                </a:lnTo>
                <a:lnTo>
                  <a:pt x="1219200" y="381000"/>
                </a:lnTo>
                <a:lnTo>
                  <a:pt x="609600" y="762000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70" name="Google Shape;870;p73"/>
          <p:cNvSpPr txBox="1"/>
          <p:nvPr/>
        </p:nvSpPr>
        <p:spPr>
          <a:xfrm>
            <a:off x="2480310" y="4336669"/>
            <a:ext cx="79565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Includes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73"/>
          <p:cNvSpPr/>
          <p:nvPr/>
        </p:nvSpPr>
        <p:spPr>
          <a:xfrm>
            <a:off x="2076069" y="4487798"/>
            <a:ext cx="191770" cy="635"/>
          </a:xfrm>
          <a:custGeom>
            <a:avLst/>
            <a:gdLst/>
            <a:ahLst/>
            <a:cxnLst/>
            <a:rect l="l" t="t" r="r" b="b"/>
            <a:pathLst>
              <a:path w="191769" h="635" extrusionOk="0">
                <a:moveTo>
                  <a:pt x="0" y="0"/>
                </a:moveTo>
                <a:lnTo>
                  <a:pt x="191643" y="381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72" name="Google Shape;872;p73"/>
          <p:cNvSpPr/>
          <p:nvPr/>
        </p:nvSpPr>
        <p:spPr>
          <a:xfrm>
            <a:off x="3486911" y="4487798"/>
            <a:ext cx="220979" cy="635"/>
          </a:xfrm>
          <a:custGeom>
            <a:avLst/>
            <a:gdLst/>
            <a:ahLst/>
            <a:cxnLst/>
            <a:rect l="l" t="t" r="r" b="b"/>
            <a:pathLst>
              <a:path w="220979" h="635" extrusionOk="0">
                <a:moveTo>
                  <a:pt x="0" y="381"/>
                </a:moveTo>
                <a:lnTo>
                  <a:pt x="220979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73" name="Google Shape;873;p73"/>
          <p:cNvSpPr/>
          <p:nvPr/>
        </p:nvSpPr>
        <p:spPr>
          <a:xfrm>
            <a:off x="2072385" y="4338954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0" y="0"/>
                </a:moveTo>
                <a:lnTo>
                  <a:pt x="48134" y="7637"/>
                </a:lnTo>
                <a:lnTo>
                  <a:pt x="89964" y="28911"/>
                </a:lnTo>
                <a:lnTo>
                  <a:pt x="122968" y="61365"/>
                </a:lnTo>
                <a:lnTo>
                  <a:pt x="144621" y="102542"/>
                </a:lnTo>
                <a:lnTo>
                  <a:pt x="152400" y="149987"/>
                </a:lnTo>
                <a:lnTo>
                  <a:pt x="144634" y="197370"/>
                </a:lnTo>
                <a:lnTo>
                  <a:pt x="123013" y="238517"/>
                </a:lnTo>
                <a:lnTo>
                  <a:pt x="90047" y="270971"/>
                </a:lnTo>
                <a:lnTo>
                  <a:pt x="48247" y="292275"/>
                </a:lnTo>
                <a:lnTo>
                  <a:pt x="126" y="299974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74" name="Google Shape;874;p73"/>
          <p:cNvSpPr/>
          <p:nvPr/>
        </p:nvSpPr>
        <p:spPr>
          <a:xfrm>
            <a:off x="3563873" y="4335907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152400" y="300101"/>
                </a:moveTo>
                <a:lnTo>
                  <a:pt x="104217" y="292451"/>
                </a:lnTo>
                <a:lnTo>
                  <a:pt x="62380" y="271153"/>
                </a:lnTo>
                <a:lnTo>
                  <a:pt x="29394" y="238680"/>
                </a:lnTo>
                <a:lnTo>
                  <a:pt x="7766" y="197509"/>
                </a:lnTo>
                <a:lnTo>
                  <a:pt x="0" y="150114"/>
                </a:lnTo>
                <a:lnTo>
                  <a:pt x="7753" y="102717"/>
                </a:lnTo>
                <a:lnTo>
                  <a:pt x="29350" y="61539"/>
                </a:lnTo>
                <a:lnTo>
                  <a:pt x="62298" y="29047"/>
                </a:lnTo>
                <a:lnTo>
                  <a:pt x="104103" y="7711"/>
                </a:lnTo>
                <a:lnTo>
                  <a:pt x="152273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75" name="Google Shape;875;p73"/>
          <p:cNvSpPr txBox="1"/>
          <p:nvPr/>
        </p:nvSpPr>
        <p:spPr>
          <a:xfrm>
            <a:off x="4164584" y="6099073"/>
            <a:ext cx="838835" cy="280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73"/>
          <p:cNvSpPr txBox="1"/>
          <p:nvPr/>
        </p:nvSpPr>
        <p:spPr>
          <a:xfrm>
            <a:off x="8427211" y="6464909"/>
            <a:ext cx="18097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70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0292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7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30619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Example – E/R Diagram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881" name="Google Shape;881;p7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20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83" name="Google Shape;883;p74"/>
          <p:cNvSpPr txBox="1"/>
          <p:nvPr/>
        </p:nvSpPr>
        <p:spPr>
          <a:xfrm>
            <a:off x="535940" y="1620773"/>
            <a:ext cx="5998210" cy="521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 enrol in a particular course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74"/>
          <p:cNvSpPr/>
          <p:nvPr/>
        </p:nvSpPr>
        <p:spPr>
          <a:xfrm>
            <a:off x="3708019" y="5949276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96"/>
                </a:lnTo>
                <a:lnTo>
                  <a:pt x="26019" y="26038"/>
                </a:lnTo>
                <a:lnTo>
                  <a:pt x="54274" y="6986"/>
                </a:lnTo>
                <a:lnTo>
                  <a:pt x="88900" y="0"/>
                </a:lnTo>
                <a:lnTo>
                  <a:pt x="1663700" y="0"/>
                </a:lnTo>
                <a:lnTo>
                  <a:pt x="1698271" y="6986"/>
                </a:lnTo>
                <a:lnTo>
                  <a:pt x="1726533" y="26038"/>
                </a:lnTo>
                <a:lnTo>
                  <a:pt x="1745603" y="54296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03" y="479103"/>
                </a:lnTo>
                <a:lnTo>
                  <a:pt x="1726533" y="507361"/>
                </a:lnTo>
                <a:lnTo>
                  <a:pt x="1698271" y="526413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13"/>
                </a:lnTo>
                <a:lnTo>
                  <a:pt x="26019" y="507361"/>
                </a:lnTo>
                <a:lnTo>
                  <a:pt x="6979" y="479103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85" name="Google Shape;885;p74"/>
          <p:cNvSpPr/>
          <p:nvPr/>
        </p:nvSpPr>
        <p:spPr>
          <a:xfrm>
            <a:off x="323532" y="4221098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86" y="54274"/>
                </a:lnTo>
                <a:lnTo>
                  <a:pt x="26038" y="26019"/>
                </a:lnTo>
                <a:lnTo>
                  <a:pt x="54296" y="6979"/>
                </a:lnTo>
                <a:lnTo>
                  <a:pt x="88900" y="0"/>
                </a:lnTo>
                <a:lnTo>
                  <a:pt x="1663636" y="0"/>
                </a:lnTo>
                <a:lnTo>
                  <a:pt x="1698261" y="6979"/>
                </a:lnTo>
                <a:lnTo>
                  <a:pt x="1726517" y="26019"/>
                </a:lnTo>
                <a:lnTo>
                  <a:pt x="1745557" y="54274"/>
                </a:lnTo>
                <a:lnTo>
                  <a:pt x="1752536" y="88900"/>
                </a:lnTo>
                <a:lnTo>
                  <a:pt x="1752536" y="444500"/>
                </a:lnTo>
                <a:lnTo>
                  <a:pt x="1745557" y="479125"/>
                </a:lnTo>
                <a:lnTo>
                  <a:pt x="1726517" y="507380"/>
                </a:lnTo>
                <a:lnTo>
                  <a:pt x="1698261" y="526420"/>
                </a:lnTo>
                <a:lnTo>
                  <a:pt x="1663636" y="533400"/>
                </a:lnTo>
                <a:lnTo>
                  <a:pt x="88900" y="533400"/>
                </a:lnTo>
                <a:lnTo>
                  <a:pt x="54296" y="526420"/>
                </a:lnTo>
                <a:lnTo>
                  <a:pt x="26038" y="507380"/>
                </a:lnTo>
                <a:lnTo>
                  <a:pt x="6986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86" name="Google Shape;886;p74"/>
          <p:cNvSpPr txBox="1"/>
          <p:nvPr/>
        </p:nvSpPr>
        <p:spPr>
          <a:xfrm>
            <a:off x="829767" y="4320158"/>
            <a:ext cx="73977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74"/>
          <p:cNvSpPr/>
          <p:nvPr/>
        </p:nvSpPr>
        <p:spPr>
          <a:xfrm>
            <a:off x="3707891" y="4221098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663700" y="0"/>
                </a:lnTo>
                <a:lnTo>
                  <a:pt x="1698325" y="6979"/>
                </a:lnTo>
                <a:lnTo>
                  <a:pt x="1726580" y="26019"/>
                </a:lnTo>
                <a:lnTo>
                  <a:pt x="1745620" y="54274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20" y="479125"/>
                </a:lnTo>
                <a:lnTo>
                  <a:pt x="1726580" y="507380"/>
                </a:lnTo>
                <a:lnTo>
                  <a:pt x="1698325" y="526420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88" name="Google Shape;888;p74"/>
          <p:cNvSpPr txBox="1"/>
          <p:nvPr/>
        </p:nvSpPr>
        <p:spPr>
          <a:xfrm>
            <a:off x="4169155" y="4320158"/>
            <a:ext cx="829944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74"/>
          <p:cNvSpPr/>
          <p:nvPr/>
        </p:nvSpPr>
        <p:spPr>
          <a:xfrm>
            <a:off x="3707891" y="2996945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663700" y="0"/>
                </a:lnTo>
                <a:lnTo>
                  <a:pt x="1698325" y="6979"/>
                </a:lnTo>
                <a:lnTo>
                  <a:pt x="1726580" y="26019"/>
                </a:lnTo>
                <a:lnTo>
                  <a:pt x="1745620" y="54274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20" y="479125"/>
                </a:lnTo>
                <a:lnTo>
                  <a:pt x="1726580" y="507380"/>
                </a:lnTo>
                <a:lnTo>
                  <a:pt x="1698325" y="526420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90" name="Google Shape;890;p74"/>
          <p:cNvSpPr txBox="1"/>
          <p:nvPr/>
        </p:nvSpPr>
        <p:spPr>
          <a:xfrm>
            <a:off x="3942079" y="3095752"/>
            <a:ext cx="128460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Department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74"/>
          <p:cNvSpPr/>
          <p:nvPr/>
        </p:nvSpPr>
        <p:spPr>
          <a:xfrm>
            <a:off x="7067931" y="4221098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663700" y="0"/>
                </a:lnTo>
                <a:lnTo>
                  <a:pt x="1698271" y="6979"/>
                </a:lnTo>
                <a:lnTo>
                  <a:pt x="1726533" y="26019"/>
                </a:lnTo>
                <a:lnTo>
                  <a:pt x="1745603" y="54274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03" y="479125"/>
                </a:lnTo>
                <a:lnTo>
                  <a:pt x="1726533" y="507380"/>
                </a:lnTo>
                <a:lnTo>
                  <a:pt x="1698271" y="526420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92" name="Google Shape;892;p74"/>
          <p:cNvSpPr txBox="1"/>
          <p:nvPr/>
        </p:nvSpPr>
        <p:spPr>
          <a:xfrm>
            <a:off x="7502143" y="4320158"/>
            <a:ext cx="88773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Lecturer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74"/>
          <p:cNvSpPr/>
          <p:nvPr/>
        </p:nvSpPr>
        <p:spPr>
          <a:xfrm>
            <a:off x="589330" y="2883407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599" y="0"/>
                </a:lnTo>
                <a:lnTo>
                  <a:pt x="1219149" y="381000"/>
                </a:lnTo>
                <a:lnTo>
                  <a:pt x="609599" y="761999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94" name="Google Shape;894;p74"/>
          <p:cNvSpPr txBox="1"/>
          <p:nvPr/>
        </p:nvSpPr>
        <p:spPr>
          <a:xfrm>
            <a:off x="905052" y="3112642"/>
            <a:ext cx="58737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Offers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74"/>
          <p:cNvSpPr/>
          <p:nvPr/>
        </p:nvSpPr>
        <p:spPr>
          <a:xfrm>
            <a:off x="1808479" y="3263646"/>
            <a:ext cx="1899920" cy="1270"/>
          </a:xfrm>
          <a:custGeom>
            <a:avLst/>
            <a:gdLst/>
            <a:ahLst/>
            <a:cxnLst/>
            <a:rect l="l" t="t" r="r" b="b"/>
            <a:pathLst>
              <a:path w="1899920" h="1270" extrusionOk="0">
                <a:moveTo>
                  <a:pt x="1899411" y="0"/>
                </a:moveTo>
                <a:lnTo>
                  <a:pt x="0" y="762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96" name="Google Shape;896;p74"/>
          <p:cNvSpPr/>
          <p:nvPr/>
        </p:nvSpPr>
        <p:spPr>
          <a:xfrm>
            <a:off x="1198930" y="3645408"/>
            <a:ext cx="1270" cy="575945"/>
          </a:xfrm>
          <a:custGeom>
            <a:avLst/>
            <a:gdLst/>
            <a:ahLst/>
            <a:cxnLst/>
            <a:rect l="l" t="t" r="r" b="b"/>
            <a:pathLst>
              <a:path w="1269" h="575945" extrusionOk="0">
                <a:moveTo>
                  <a:pt x="901" y="575691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97" name="Google Shape;897;p74"/>
          <p:cNvSpPr/>
          <p:nvPr/>
        </p:nvSpPr>
        <p:spPr>
          <a:xfrm>
            <a:off x="1043609" y="4077080"/>
            <a:ext cx="300355" cy="152400"/>
          </a:xfrm>
          <a:custGeom>
            <a:avLst/>
            <a:gdLst/>
            <a:ahLst/>
            <a:cxnLst/>
            <a:rect l="l" t="t" r="r" b="b"/>
            <a:pathLst>
              <a:path w="300355" h="152400" extrusionOk="0">
                <a:moveTo>
                  <a:pt x="0" y="152400"/>
                </a:moveTo>
                <a:lnTo>
                  <a:pt x="7647" y="104217"/>
                </a:lnTo>
                <a:lnTo>
                  <a:pt x="28942" y="62380"/>
                </a:lnTo>
                <a:lnTo>
                  <a:pt x="61414" y="29394"/>
                </a:lnTo>
                <a:lnTo>
                  <a:pt x="102594" y="7766"/>
                </a:lnTo>
                <a:lnTo>
                  <a:pt x="150012" y="0"/>
                </a:lnTo>
                <a:lnTo>
                  <a:pt x="197371" y="7752"/>
                </a:lnTo>
                <a:lnTo>
                  <a:pt x="238527" y="29342"/>
                </a:lnTo>
                <a:lnTo>
                  <a:pt x="271007" y="62270"/>
                </a:lnTo>
                <a:lnTo>
                  <a:pt x="292339" y="104038"/>
                </a:lnTo>
                <a:lnTo>
                  <a:pt x="300050" y="152146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98" name="Google Shape;898;p74"/>
          <p:cNvSpPr/>
          <p:nvPr/>
        </p:nvSpPr>
        <p:spPr>
          <a:xfrm>
            <a:off x="2267711" y="4107179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600" y="0"/>
                </a:lnTo>
                <a:lnTo>
                  <a:pt x="1219200" y="381000"/>
                </a:lnTo>
                <a:lnTo>
                  <a:pt x="609600" y="762000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99" name="Google Shape;899;p74"/>
          <p:cNvSpPr txBox="1"/>
          <p:nvPr/>
        </p:nvSpPr>
        <p:spPr>
          <a:xfrm>
            <a:off x="2480310" y="4336669"/>
            <a:ext cx="79565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Includes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74"/>
          <p:cNvSpPr/>
          <p:nvPr/>
        </p:nvSpPr>
        <p:spPr>
          <a:xfrm>
            <a:off x="2076069" y="4487798"/>
            <a:ext cx="191770" cy="635"/>
          </a:xfrm>
          <a:custGeom>
            <a:avLst/>
            <a:gdLst/>
            <a:ahLst/>
            <a:cxnLst/>
            <a:rect l="l" t="t" r="r" b="b"/>
            <a:pathLst>
              <a:path w="191769" h="635" extrusionOk="0">
                <a:moveTo>
                  <a:pt x="0" y="0"/>
                </a:moveTo>
                <a:lnTo>
                  <a:pt x="191643" y="381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01" name="Google Shape;901;p74"/>
          <p:cNvSpPr/>
          <p:nvPr/>
        </p:nvSpPr>
        <p:spPr>
          <a:xfrm>
            <a:off x="3486911" y="4487798"/>
            <a:ext cx="220979" cy="635"/>
          </a:xfrm>
          <a:custGeom>
            <a:avLst/>
            <a:gdLst/>
            <a:ahLst/>
            <a:cxnLst/>
            <a:rect l="l" t="t" r="r" b="b"/>
            <a:pathLst>
              <a:path w="220979" h="635" extrusionOk="0">
                <a:moveTo>
                  <a:pt x="0" y="381"/>
                </a:moveTo>
                <a:lnTo>
                  <a:pt x="220979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02" name="Google Shape;902;p74"/>
          <p:cNvSpPr/>
          <p:nvPr/>
        </p:nvSpPr>
        <p:spPr>
          <a:xfrm>
            <a:off x="2072385" y="4338954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0" y="0"/>
                </a:moveTo>
                <a:lnTo>
                  <a:pt x="48134" y="7637"/>
                </a:lnTo>
                <a:lnTo>
                  <a:pt x="89964" y="28911"/>
                </a:lnTo>
                <a:lnTo>
                  <a:pt x="122968" y="61365"/>
                </a:lnTo>
                <a:lnTo>
                  <a:pt x="144621" y="102542"/>
                </a:lnTo>
                <a:lnTo>
                  <a:pt x="152400" y="149987"/>
                </a:lnTo>
                <a:lnTo>
                  <a:pt x="144634" y="197370"/>
                </a:lnTo>
                <a:lnTo>
                  <a:pt x="123013" y="238517"/>
                </a:lnTo>
                <a:lnTo>
                  <a:pt x="90047" y="270971"/>
                </a:lnTo>
                <a:lnTo>
                  <a:pt x="48247" y="292275"/>
                </a:lnTo>
                <a:lnTo>
                  <a:pt x="126" y="299974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03" name="Google Shape;903;p74"/>
          <p:cNvSpPr/>
          <p:nvPr/>
        </p:nvSpPr>
        <p:spPr>
          <a:xfrm>
            <a:off x="3563873" y="4335907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152400" y="300101"/>
                </a:moveTo>
                <a:lnTo>
                  <a:pt x="104217" y="292451"/>
                </a:lnTo>
                <a:lnTo>
                  <a:pt x="62380" y="271153"/>
                </a:lnTo>
                <a:lnTo>
                  <a:pt x="29394" y="238680"/>
                </a:lnTo>
                <a:lnTo>
                  <a:pt x="7766" y="197509"/>
                </a:lnTo>
                <a:lnTo>
                  <a:pt x="0" y="150114"/>
                </a:lnTo>
                <a:lnTo>
                  <a:pt x="7753" y="102717"/>
                </a:lnTo>
                <a:lnTo>
                  <a:pt x="29350" y="61539"/>
                </a:lnTo>
                <a:lnTo>
                  <a:pt x="62298" y="29047"/>
                </a:lnTo>
                <a:lnTo>
                  <a:pt x="104103" y="7711"/>
                </a:lnTo>
                <a:lnTo>
                  <a:pt x="152273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04" name="Google Shape;904;p74"/>
          <p:cNvSpPr/>
          <p:nvPr/>
        </p:nvSpPr>
        <p:spPr>
          <a:xfrm>
            <a:off x="590130" y="5835357"/>
            <a:ext cx="1219835" cy="762000"/>
          </a:xfrm>
          <a:custGeom>
            <a:avLst/>
            <a:gdLst/>
            <a:ahLst/>
            <a:cxnLst/>
            <a:rect l="l" t="t" r="r" b="b"/>
            <a:pathLst>
              <a:path w="1219835" h="762000" extrusionOk="0">
                <a:moveTo>
                  <a:pt x="0" y="381000"/>
                </a:moveTo>
                <a:lnTo>
                  <a:pt x="609600" y="0"/>
                </a:lnTo>
                <a:lnTo>
                  <a:pt x="1219238" y="381000"/>
                </a:lnTo>
                <a:lnTo>
                  <a:pt x="609600" y="762000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05" name="Google Shape;905;p74"/>
          <p:cNvSpPr/>
          <p:nvPr/>
        </p:nvSpPr>
        <p:spPr>
          <a:xfrm>
            <a:off x="1809369" y="6215976"/>
            <a:ext cx="1898650" cy="635"/>
          </a:xfrm>
          <a:custGeom>
            <a:avLst/>
            <a:gdLst/>
            <a:ahLst/>
            <a:cxnLst/>
            <a:rect l="l" t="t" r="r" b="b"/>
            <a:pathLst>
              <a:path w="1898650" h="635" extrusionOk="0">
                <a:moveTo>
                  <a:pt x="1898650" y="0"/>
                </a:moveTo>
                <a:lnTo>
                  <a:pt x="0" y="38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06" name="Google Shape;906;p74"/>
          <p:cNvSpPr/>
          <p:nvPr/>
        </p:nvSpPr>
        <p:spPr>
          <a:xfrm>
            <a:off x="1199730" y="4754498"/>
            <a:ext cx="635" cy="1081405"/>
          </a:xfrm>
          <a:custGeom>
            <a:avLst/>
            <a:gdLst/>
            <a:ahLst/>
            <a:cxnLst/>
            <a:rect l="l" t="t" r="r" b="b"/>
            <a:pathLst>
              <a:path w="634" h="1081404" extrusionOk="0">
                <a:moveTo>
                  <a:pt x="0" y="1080858"/>
                </a:moveTo>
                <a:lnTo>
                  <a:pt x="101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07" name="Google Shape;907;p74"/>
          <p:cNvSpPr/>
          <p:nvPr/>
        </p:nvSpPr>
        <p:spPr>
          <a:xfrm>
            <a:off x="3565525" y="6067107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152400" y="300037"/>
                </a:moveTo>
                <a:lnTo>
                  <a:pt x="104217" y="292390"/>
                </a:lnTo>
                <a:lnTo>
                  <a:pt x="62380" y="271094"/>
                </a:lnTo>
                <a:lnTo>
                  <a:pt x="29394" y="238619"/>
                </a:lnTo>
                <a:lnTo>
                  <a:pt x="7766" y="197436"/>
                </a:lnTo>
                <a:lnTo>
                  <a:pt x="0" y="150012"/>
                </a:lnTo>
                <a:lnTo>
                  <a:pt x="7752" y="102638"/>
                </a:lnTo>
                <a:lnTo>
                  <a:pt x="29342" y="61482"/>
                </a:lnTo>
                <a:lnTo>
                  <a:pt x="62270" y="29011"/>
                </a:lnTo>
                <a:lnTo>
                  <a:pt x="104038" y="7694"/>
                </a:lnTo>
                <a:lnTo>
                  <a:pt x="152146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08" name="Google Shape;908;p74"/>
          <p:cNvSpPr txBox="1"/>
          <p:nvPr/>
        </p:nvSpPr>
        <p:spPr>
          <a:xfrm>
            <a:off x="4164584" y="6099073"/>
            <a:ext cx="838835" cy="280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74"/>
          <p:cNvSpPr txBox="1"/>
          <p:nvPr/>
        </p:nvSpPr>
        <p:spPr>
          <a:xfrm>
            <a:off x="902919" y="6109665"/>
            <a:ext cx="594995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03328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7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30619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Example – E/R Diagram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914" name="Google Shape;914;p7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21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16" name="Google Shape;916;p75"/>
          <p:cNvSpPr txBox="1"/>
          <p:nvPr/>
        </p:nvSpPr>
        <p:spPr>
          <a:xfrm>
            <a:off x="535940" y="1620773"/>
            <a:ext cx="5044440" cy="521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 take several modules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75"/>
          <p:cNvSpPr/>
          <p:nvPr/>
        </p:nvSpPr>
        <p:spPr>
          <a:xfrm>
            <a:off x="3708019" y="5949276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96"/>
                </a:lnTo>
                <a:lnTo>
                  <a:pt x="26019" y="26038"/>
                </a:lnTo>
                <a:lnTo>
                  <a:pt x="54274" y="6986"/>
                </a:lnTo>
                <a:lnTo>
                  <a:pt x="88900" y="0"/>
                </a:lnTo>
                <a:lnTo>
                  <a:pt x="1663700" y="0"/>
                </a:lnTo>
                <a:lnTo>
                  <a:pt x="1698271" y="6986"/>
                </a:lnTo>
                <a:lnTo>
                  <a:pt x="1726533" y="26038"/>
                </a:lnTo>
                <a:lnTo>
                  <a:pt x="1745603" y="54296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03" y="479103"/>
                </a:lnTo>
                <a:lnTo>
                  <a:pt x="1726533" y="507361"/>
                </a:lnTo>
                <a:lnTo>
                  <a:pt x="1698271" y="526413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13"/>
                </a:lnTo>
                <a:lnTo>
                  <a:pt x="26019" y="507361"/>
                </a:lnTo>
                <a:lnTo>
                  <a:pt x="6979" y="479103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18" name="Google Shape;918;p75"/>
          <p:cNvSpPr/>
          <p:nvPr/>
        </p:nvSpPr>
        <p:spPr>
          <a:xfrm>
            <a:off x="323532" y="4221098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86" y="54274"/>
                </a:lnTo>
                <a:lnTo>
                  <a:pt x="26038" y="26019"/>
                </a:lnTo>
                <a:lnTo>
                  <a:pt x="54296" y="6979"/>
                </a:lnTo>
                <a:lnTo>
                  <a:pt x="88900" y="0"/>
                </a:lnTo>
                <a:lnTo>
                  <a:pt x="1663636" y="0"/>
                </a:lnTo>
                <a:lnTo>
                  <a:pt x="1698261" y="6979"/>
                </a:lnTo>
                <a:lnTo>
                  <a:pt x="1726517" y="26019"/>
                </a:lnTo>
                <a:lnTo>
                  <a:pt x="1745557" y="54274"/>
                </a:lnTo>
                <a:lnTo>
                  <a:pt x="1752536" y="88900"/>
                </a:lnTo>
                <a:lnTo>
                  <a:pt x="1752536" y="444500"/>
                </a:lnTo>
                <a:lnTo>
                  <a:pt x="1745557" y="479125"/>
                </a:lnTo>
                <a:lnTo>
                  <a:pt x="1726517" y="507380"/>
                </a:lnTo>
                <a:lnTo>
                  <a:pt x="1698261" y="526420"/>
                </a:lnTo>
                <a:lnTo>
                  <a:pt x="1663636" y="533400"/>
                </a:lnTo>
                <a:lnTo>
                  <a:pt x="88900" y="533400"/>
                </a:lnTo>
                <a:lnTo>
                  <a:pt x="54296" y="526420"/>
                </a:lnTo>
                <a:lnTo>
                  <a:pt x="26038" y="507380"/>
                </a:lnTo>
                <a:lnTo>
                  <a:pt x="6986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19" name="Google Shape;919;p75"/>
          <p:cNvSpPr txBox="1"/>
          <p:nvPr/>
        </p:nvSpPr>
        <p:spPr>
          <a:xfrm>
            <a:off x="829767" y="4320158"/>
            <a:ext cx="73977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75"/>
          <p:cNvSpPr/>
          <p:nvPr/>
        </p:nvSpPr>
        <p:spPr>
          <a:xfrm>
            <a:off x="3707891" y="4221098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663700" y="0"/>
                </a:lnTo>
                <a:lnTo>
                  <a:pt x="1698325" y="6979"/>
                </a:lnTo>
                <a:lnTo>
                  <a:pt x="1726580" y="26019"/>
                </a:lnTo>
                <a:lnTo>
                  <a:pt x="1745620" y="54274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20" y="479125"/>
                </a:lnTo>
                <a:lnTo>
                  <a:pt x="1726580" y="507380"/>
                </a:lnTo>
                <a:lnTo>
                  <a:pt x="1698325" y="526420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21" name="Google Shape;921;p75"/>
          <p:cNvSpPr txBox="1"/>
          <p:nvPr/>
        </p:nvSpPr>
        <p:spPr>
          <a:xfrm>
            <a:off x="4169155" y="4320158"/>
            <a:ext cx="829944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75"/>
          <p:cNvSpPr/>
          <p:nvPr/>
        </p:nvSpPr>
        <p:spPr>
          <a:xfrm>
            <a:off x="3707891" y="2996945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663700" y="0"/>
                </a:lnTo>
                <a:lnTo>
                  <a:pt x="1698325" y="6979"/>
                </a:lnTo>
                <a:lnTo>
                  <a:pt x="1726580" y="26019"/>
                </a:lnTo>
                <a:lnTo>
                  <a:pt x="1745620" y="54274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20" y="479125"/>
                </a:lnTo>
                <a:lnTo>
                  <a:pt x="1726580" y="507380"/>
                </a:lnTo>
                <a:lnTo>
                  <a:pt x="1698325" y="526420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23" name="Google Shape;923;p75"/>
          <p:cNvSpPr txBox="1"/>
          <p:nvPr/>
        </p:nvSpPr>
        <p:spPr>
          <a:xfrm>
            <a:off x="3942079" y="3095752"/>
            <a:ext cx="128460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Department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75"/>
          <p:cNvSpPr/>
          <p:nvPr/>
        </p:nvSpPr>
        <p:spPr>
          <a:xfrm>
            <a:off x="7067931" y="4221098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663700" y="0"/>
                </a:lnTo>
                <a:lnTo>
                  <a:pt x="1698271" y="6979"/>
                </a:lnTo>
                <a:lnTo>
                  <a:pt x="1726533" y="26019"/>
                </a:lnTo>
                <a:lnTo>
                  <a:pt x="1745603" y="54274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03" y="479125"/>
                </a:lnTo>
                <a:lnTo>
                  <a:pt x="1726533" y="507380"/>
                </a:lnTo>
                <a:lnTo>
                  <a:pt x="1698271" y="526420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25" name="Google Shape;925;p75"/>
          <p:cNvSpPr txBox="1"/>
          <p:nvPr/>
        </p:nvSpPr>
        <p:spPr>
          <a:xfrm>
            <a:off x="7502143" y="4320158"/>
            <a:ext cx="88773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Lecturer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75"/>
          <p:cNvSpPr/>
          <p:nvPr/>
        </p:nvSpPr>
        <p:spPr>
          <a:xfrm>
            <a:off x="589330" y="2883407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599" y="0"/>
                </a:lnTo>
                <a:lnTo>
                  <a:pt x="1219149" y="381000"/>
                </a:lnTo>
                <a:lnTo>
                  <a:pt x="609599" y="761999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27" name="Google Shape;927;p75"/>
          <p:cNvSpPr txBox="1"/>
          <p:nvPr/>
        </p:nvSpPr>
        <p:spPr>
          <a:xfrm>
            <a:off x="905052" y="3112642"/>
            <a:ext cx="58737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Offers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75"/>
          <p:cNvSpPr/>
          <p:nvPr/>
        </p:nvSpPr>
        <p:spPr>
          <a:xfrm>
            <a:off x="1808479" y="3263646"/>
            <a:ext cx="1899920" cy="1270"/>
          </a:xfrm>
          <a:custGeom>
            <a:avLst/>
            <a:gdLst/>
            <a:ahLst/>
            <a:cxnLst/>
            <a:rect l="l" t="t" r="r" b="b"/>
            <a:pathLst>
              <a:path w="1899920" h="1270" extrusionOk="0">
                <a:moveTo>
                  <a:pt x="1899411" y="0"/>
                </a:moveTo>
                <a:lnTo>
                  <a:pt x="0" y="762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29" name="Google Shape;929;p75"/>
          <p:cNvSpPr/>
          <p:nvPr/>
        </p:nvSpPr>
        <p:spPr>
          <a:xfrm>
            <a:off x="1198930" y="3645408"/>
            <a:ext cx="1270" cy="575945"/>
          </a:xfrm>
          <a:custGeom>
            <a:avLst/>
            <a:gdLst/>
            <a:ahLst/>
            <a:cxnLst/>
            <a:rect l="l" t="t" r="r" b="b"/>
            <a:pathLst>
              <a:path w="1269" h="575945" extrusionOk="0">
                <a:moveTo>
                  <a:pt x="901" y="575691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30" name="Google Shape;930;p75"/>
          <p:cNvSpPr/>
          <p:nvPr/>
        </p:nvSpPr>
        <p:spPr>
          <a:xfrm>
            <a:off x="1043609" y="4077080"/>
            <a:ext cx="300355" cy="152400"/>
          </a:xfrm>
          <a:custGeom>
            <a:avLst/>
            <a:gdLst/>
            <a:ahLst/>
            <a:cxnLst/>
            <a:rect l="l" t="t" r="r" b="b"/>
            <a:pathLst>
              <a:path w="300355" h="152400" extrusionOk="0">
                <a:moveTo>
                  <a:pt x="0" y="152400"/>
                </a:moveTo>
                <a:lnTo>
                  <a:pt x="7647" y="104217"/>
                </a:lnTo>
                <a:lnTo>
                  <a:pt x="28942" y="62380"/>
                </a:lnTo>
                <a:lnTo>
                  <a:pt x="61414" y="29394"/>
                </a:lnTo>
                <a:lnTo>
                  <a:pt x="102594" y="7766"/>
                </a:lnTo>
                <a:lnTo>
                  <a:pt x="150012" y="0"/>
                </a:lnTo>
                <a:lnTo>
                  <a:pt x="197371" y="7752"/>
                </a:lnTo>
                <a:lnTo>
                  <a:pt x="238527" y="29342"/>
                </a:lnTo>
                <a:lnTo>
                  <a:pt x="271007" y="62270"/>
                </a:lnTo>
                <a:lnTo>
                  <a:pt x="292339" y="104038"/>
                </a:lnTo>
                <a:lnTo>
                  <a:pt x="300050" y="152146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31" name="Google Shape;931;p75"/>
          <p:cNvSpPr/>
          <p:nvPr/>
        </p:nvSpPr>
        <p:spPr>
          <a:xfrm>
            <a:off x="2267711" y="4107179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600" y="0"/>
                </a:lnTo>
                <a:lnTo>
                  <a:pt x="1219200" y="381000"/>
                </a:lnTo>
                <a:lnTo>
                  <a:pt x="609600" y="762000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32" name="Google Shape;932;p75"/>
          <p:cNvSpPr txBox="1"/>
          <p:nvPr/>
        </p:nvSpPr>
        <p:spPr>
          <a:xfrm>
            <a:off x="2480310" y="4336669"/>
            <a:ext cx="79565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Includes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75"/>
          <p:cNvSpPr/>
          <p:nvPr/>
        </p:nvSpPr>
        <p:spPr>
          <a:xfrm>
            <a:off x="2076069" y="4487798"/>
            <a:ext cx="191770" cy="635"/>
          </a:xfrm>
          <a:custGeom>
            <a:avLst/>
            <a:gdLst/>
            <a:ahLst/>
            <a:cxnLst/>
            <a:rect l="l" t="t" r="r" b="b"/>
            <a:pathLst>
              <a:path w="191769" h="635" extrusionOk="0">
                <a:moveTo>
                  <a:pt x="0" y="0"/>
                </a:moveTo>
                <a:lnTo>
                  <a:pt x="191643" y="381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34" name="Google Shape;934;p75"/>
          <p:cNvSpPr/>
          <p:nvPr/>
        </p:nvSpPr>
        <p:spPr>
          <a:xfrm>
            <a:off x="3486911" y="4487798"/>
            <a:ext cx="220979" cy="635"/>
          </a:xfrm>
          <a:custGeom>
            <a:avLst/>
            <a:gdLst/>
            <a:ahLst/>
            <a:cxnLst/>
            <a:rect l="l" t="t" r="r" b="b"/>
            <a:pathLst>
              <a:path w="220979" h="635" extrusionOk="0">
                <a:moveTo>
                  <a:pt x="0" y="381"/>
                </a:moveTo>
                <a:lnTo>
                  <a:pt x="220979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35" name="Google Shape;935;p75"/>
          <p:cNvSpPr/>
          <p:nvPr/>
        </p:nvSpPr>
        <p:spPr>
          <a:xfrm>
            <a:off x="2072385" y="4338954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0" y="0"/>
                </a:moveTo>
                <a:lnTo>
                  <a:pt x="48134" y="7637"/>
                </a:lnTo>
                <a:lnTo>
                  <a:pt x="89964" y="28911"/>
                </a:lnTo>
                <a:lnTo>
                  <a:pt x="122968" y="61365"/>
                </a:lnTo>
                <a:lnTo>
                  <a:pt x="144621" y="102542"/>
                </a:lnTo>
                <a:lnTo>
                  <a:pt x="152400" y="149987"/>
                </a:lnTo>
                <a:lnTo>
                  <a:pt x="144634" y="197370"/>
                </a:lnTo>
                <a:lnTo>
                  <a:pt x="123013" y="238517"/>
                </a:lnTo>
                <a:lnTo>
                  <a:pt x="90047" y="270971"/>
                </a:lnTo>
                <a:lnTo>
                  <a:pt x="48247" y="292275"/>
                </a:lnTo>
                <a:lnTo>
                  <a:pt x="126" y="299974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36" name="Google Shape;936;p75"/>
          <p:cNvSpPr/>
          <p:nvPr/>
        </p:nvSpPr>
        <p:spPr>
          <a:xfrm>
            <a:off x="3563873" y="4335907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152400" y="300101"/>
                </a:moveTo>
                <a:lnTo>
                  <a:pt x="104217" y="292451"/>
                </a:lnTo>
                <a:lnTo>
                  <a:pt x="62380" y="271153"/>
                </a:lnTo>
                <a:lnTo>
                  <a:pt x="29394" y="238680"/>
                </a:lnTo>
                <a:lnTo>
                  <a:pt x="7766" y="197509"/>
                </a:lnTo>
                <a:lnTo>
                  <a:pt x="0" y="150114"/>
                </a:lnTo>
                <a:lnTo>
                  <a:pt x="7753" y="102717"/>
                </a:lnTo>
                <a:lnTo>
                  <a:pt x="29350" y="61539"/>
                </a:lnTo>
                <a:lnTo>
                  <a:pt x="62298" y="29047"/>
                </a:lnTo>
                <a:lnTo>
                  <a:pt x="104103" y="7711"/>
                </a:lnTo>
                <a:lnTo>
                  <a:pt x="152273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37" name="Google Shape;937;p75"/>
          <p:cNvSpPr/>
          <p:nvPr/>
        </p:nvSpPr>
        <p:spPr>
          <a:xfrm>
            <a:off x="590130" y="5835357"/>
            <a:ext cx="1219835" cy="762000"/>
          </a:xfrm>
          <a:custGeom>
            <a:avLst/>
            <a:gdLst/>
            <a:ahLst/>
            <a:cxnLst/>
            <a:rect l="l" t="t" r="r" b="b"/>
            <a:pathLst>
              <a:path w="1219835" h="762000" extrusionOk="0">
                <a:moveTo>
                  <a:pt x="0" y="381000"/>
                </a:moveTo>
                <a:lnTo>
                  <a:pt x="609600" y="0"/>
                </a:lnTo>
                <a:lnTo>
                  <a:pt x="1219238" y="381000"/>
                </a:lnTo>
                <a:lnTo>
                  <a:pt x="609600" y="762000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38" name="Google Shape;938;p75"/>
          <p:cNvSpPr/>
          <p:nvPr/>
        </p:nvSpPr>
        <p:spPr>
          <a:xfrm>
            <a:off x="1809369" y="6215976"/>
            <a:ext cx="1898650" cy="635"/>
          </a:xfrm>
          <a:custGeom>
            <a:avLst/>
            <a:gdLst/>
            <a:ahLst/>
            <a:cxnLst/>
            <a:rect l="l" t="t" r="r" b="b"/>
            <a:pathLst>
              <a:path w="1898650" h="635" extrusionOk="0">
                <a:moveTo>
                  <a:pt x="1898650" y="0"/>
                </a:moveTo>
                <a:lnTo>
                  <a:pt x="0" y="38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39" name="Google Shape;939;p75"/>
          <p:cNvSpPr/>
          <p:nvPr/>
        </p:nvSpPr>
        <p:spPr>
          <a:xfrm>
            <a:off x="1199730" y="4754498"/>
            <a:ext cx="635" cy="1081405"/>
          </a:xfrm>
          <a:custGeom>
            <a:avLst/>
            <a:gdLst/>
            <a:ahLst/>
            <a:cxnLst/>
            <a:rect l="l" t="t" r="r" b="b"/>
            <a:pathLst>
              <a:path w="634" h="1081404" extrusionOk="0">
                <a:moveTo>
                  <a:pt x="0" y="1080858"/>
                </a:moveTo>
                <a:lnTo>
                  <a:pt x="101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40" name="Google Shape;940;p75"/>
          <p:cNvSpPr/>
          <p:nvPr/>
        </p:nvSpPr>
        <p:spPr>
          <a:xfrm>
            <a:off x="3565525" y="6067107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152400" y="300037"/>
                </a:moveTo>
                <a:lnTo>
                  <a:pt x="104217" y="292390"/>
                </a:lnTo>
                <a:lnTo>
                  <a:pt x="62380" y="271094"/>
                </a:lnTo>
                <a:lnTo>
                  <a:pt x="29394" y="238619"/>
                </a:lnTo>
                <a:lnTo>
                  <a:pt x="7766" y="197436"/>
                </a:lnTo>
                <a:lnTo>
                  <a:pt x="0" y="150012"/>
                </a:lnTo>
                <a:lnTo>
                  <a:pt x="7752" y="102638"/>
                </a:lnTo>
                <a:lnTo>
                  <a:pt x="29342" y="61482"/>
                </a:lnTo>
                <a:lnTo>
                  <a:pt x="62270" y="29011"/>
                </a:lnTo>
                <a:lnTo>
                  <a:pt x="104038" y="7694"/>
                </a:lnTo>
                <a:lnTo>
                  <a:pt x="152146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41" name="Google Shape;941;p75"/>
          <p:cNvSpPr/>
          <p:nvPr/>
        </p:nvSpPr>
        <p:spPr>
          <a:xfrm>
            <a:off x="3974084" y="4971288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600" y="0"/>
                </a:lnTo>
                <a:lnTo>
                  <a:pt x="1219200" y="381000"/>
                </a:lnTo>
                <a:lnTo>
                  <a:pt x="609600" y="761961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42" name="Google Shape;942;p75"/>
          <p:cNvSpPr txBox="1"/>
          <p:nvPr/>
        </p:nvSpPr>
        <p:spPr>
          <a:xfrm>
            <a:off x="4320921" y="5200777"/>
            <a:ext cx="708279" cy="285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75"/>
          <p:cNvSpPr/>
          <p:nvPr/>
        </p:nvSpPr>
        <p:spPr>
          <a:xfrm>
            <a:off x="4583684" y="4754498"/>
            <a:ext cx="635" cy="217170"/>
          </a:xfrm>
          <a:custGeom>
            <a:avLst/>
            <a:gdLst/>
            <a:ahLst/>
            <a:cxnLst/>
            <a:rect l="l" t="t" r="r" b="b"/>
            <a:pathLst>
              <a:path w="635" h="217170" extrusionOk="0">
                <a:moveTo>
                  <a:pt x="0" y="216788"/>
                </a:moveTo>
                <a:lnTo>
                  <a:pt x="507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44" name="Google Shape;944;p75"/>
          <p:cNvSpPr/>
          <p:nvPr/>
        </p:nvSpPr>
        <p:spPr>
          <a:xfrm>
            <a:off x="4583684" y="5733250"/>
            <a:ext cx="635" cy="216535"/>
          </a:xfrm>
          <a:custGeom>
            <a:avLst/>
            <a:gdLst/>
            <a:ahLst/>
            <a:cxnLst/>
            <a:rect l="l" t="t" r="r" b="b"/>
            <a:pathLst>
              <a:path w="635" h="216535" extrusionOk="0">
                <a:moveTo>
                  <a:pt x="635" y="216026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45" name="Google Shape;945;p75"/>
          <p:cNvSpPr/>
          <p:nvPr/>
        </p:nvSpPr>
        <p:spPr>
          <a:xfrm>
            <a:off x="4427982" y="5805258"/>
            <a:ext cx="300355" cy="153035"/>
          </a:xfrm>
          <a:custGeom>
            <a:avLst/>
            <a:gdLst/>
            <a:ahLst/>
            <a:cxnLst/>
            <a:rect l="l" t="t" r="r" b="b"/>
            <a:pathLst>
              <a:path w="300354" h="153035" extrusionOk="0">
                <a:moveTo>
                  <a:pt x="0" y="152412"/>
                </a:moveTo>
                <a:lnTo>
                  <a:pt x="7649" y="104238"/>
                </a:lnTo>
                <a:lnTo>
                  <a:pt x="28947" y="62399"/>
                </a:lnTo>
                <a:lnTo>
                  <a:pt x="61420" y="29406"/>
                </a:lnTo>
                <a:lnTo>
                  <a:pt x="102591" y="7770"/>
                </a:lnTo>
                <a:lnTo>
                  <a:pt x="149987" y="0"/>
                </a:lnTo>
                <a:lnTo>
                  <a:pt x="197382" y="7757"/>
                </a:lnTo>
                <a:lnTo>
                  <a:pt x="238553" y="29361"/>
                </a:lnTo>
                <a:lnTo>
                  <a:pt x="271026" y="62309"/>
                </a:lnTo>
                <a:lnTo>
                  <a:pt x="292324" y="104096"/>
                </a:lnTo>
                <a:lnTo>
                  <a:pt x="299973" y="152222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46" name="Google Shape;946;p75"/>
          <p:cNvSpPr/>
          <p:nvPr/>
        </p:nvSpPr>
        <p:spPr>
          <a:xfrm>
            <a:off x="4430395" y="4751323"/>
            <a:ext cx="300355" cy="152400"/>
          </a:xfrm>
          <a:custGeom>
            <a:avLst/>
            <a:gdLst/>
            <a:ahLst/>
            <a:cxnLst/>
            <a:rect l="l" t="t" r="r" b="b"/>
            <a:pathLst>
              <a:path w="300354" h="152400" extrusionOk="0">
                <a:moveTo>
                  <a:pt x="299974" y="0"/>
                </a:moveTo>
                <a:lnTo>
                  <a:pt x="292324" y="48182"/>
                </a:lnTo>
                <a:lnTo>
                  <a:pt x="271026" y="90019"/>
                </a:lnTo>
                <a:lnTo>
                  <a:pt x="238553" y="123005"/>
                </a:lnTo>
                <a:lnTo>
                  <a:pt x="197382" y="144633"/>
                </a:lnTo>
                <a:lnTo>
                  <a:pt x="149987" y="152400"/>
                </a:lnTo>
                <a:lnTo>
                  <a:pt x="102603" y="144647"/>
                </a:lnTo>
                <a:lnTo>
                  <a:pt x="61456" y="123057"/>
                </a:lnTo>
                <a:lnTo>
                  <a:pt x="29002" y="90129"/>
                </a:lnTo>
                <a:lnTo>
                  <a:pt x="7698" y="48361"/>
                </a:lnTo>
                <a:lnTo>
                  <a:pt x="0" y="253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47" name="Google Shape;947;p75"/>
          <p:cNvSpPr txBox="1"/>
          <p:nvPr/>
        </p:nvSpPr>
        <p:spPr>
          <a:xfrm>
            <a:off x="4164584" y="6099073"/>
            <a:ext cx="838835" cy="280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75"/>
          <p:cNvSpPr txBox="1"/>
          <p:nvPr/>
        </p:nvSpPr>
        <p:spPr>
          <a:xfrm>
            <a:off x="902919" y="6109665"/>
            <a:ext cx="594995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63480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7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30619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Example – E/R Diagram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953" name="Google Shape;953;p7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22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55" name="Google Shape;955;p76"/>
          <p:cNvSpPr txBox="1"/>
          <p:nvPr/>
        </p:nvSpPr>
        <p:spPr>
          <a:xfrm>
            <a:off x="535940" y="1620773"/>
            <a:ext cx="5936615" cy="521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Module is taught by a Lecturer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76"/>
          <p:cNvSpPr/>
          <p:nvPr/>
        </p:nvSpPr>
        <p:spPr>
          <a:xfrm>
            <a:off x="3708019" y="5949276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96"/>
                </a:lnTo>
                <a:lnTo>
                  <a:pt x="26019" y="26038"/>
                </a:lnTo>
                <a:lnTo>
                  <a:pt x="54274" y="6986"/>
                </a:lnTo>
                <a:lnTo>
                  <a:pt x="88900" y="0"/>
                </a:lnTo>
                <a:lnTo>
                  <a:pt x="1663700" y="0"/>
                </a:lnTo>
                <a:lnTo>
                  <a:pt x="1698271" y="6986"/>
                </a:lnTo>
                <a:lnTo>
                  <a:pt x="1726533" y="26038"/>
                </a:lnTo>
                <a:lnTo>
                  <a:pt x="1745603" y="54296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03" y="479103"/>
                </a:lnTo>
                <a:lnTo>
                  <a:pt x="1726533" y="507361"/>
                </a:lnTo>
                <a:lnTo>
                  <a:pt x="1698271" y="526413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13"/>
                </a:lnTo>
                <a:lnTo>
                  <a:pt x="26019" y="507361"/>
                </a:lnTo>
                <a:lnTo>
                  <a:pt x="6979" y="479103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57" name="Google Shape;957;p76"/>
          <p:cNvSpPr/>
          <p:nvPr/>
        </p:nvSpPr>
        <p:spPr>
          <a:xfrm>
            <a:off x="323532" y="4221098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86" y="54274"/>
                </a:lnTo>
                <a:lnTo>
                  <a:pt x="26038" y="26019"/>
                </a:lnTo>
                <a:lnTo>
                  <a:pt x="54296" y="6979"/>
                </a:lnTo>
                <a:lnTo>
                  <a:pt x="88900" y="0"/>
                </a:lnTo>
                <a:lnTo>
                  <a:pt x="1663636" y="0"/>
                </a:lnTo>
                <a:lnTo>
                  <a:pt x="1698261" y="6979"/>
                </a:lnTo>
                <a:lnTo>
                  <a:pt x="1726517" y="26019"/>
                </a:lnTo>
                <a:lnTo>
                  <a:pt x="1745557" y="54274"/>
                </a:lnTo>
                <a:lnTo>
                  <a:pt x="1752536" y="88900"/>
                </a:lnTo>
                <a:lnTo>
                  <a:pt x="1752536" y="444500"/>
                </a:lnTo>
                <a:lnTo>
                  <a:pt x="1745557" y="479125"/>
                </a:lnTo>
                <a:lnTo>
                  <a:pt x="1726517" y="507380"/>
                </a:lnTo>
                <a:lnTo>
                  <a:pt x="1698261" y="526420"/>
                </a:lnTo>
                <a:lnTo>
                  <a:pt x="1663636" y="533400"/>
                </a:lnTo>
                <a:lnTo>
                  <a:pt x="88900" y="533400"/>
                </a:lnTo>
                <a:lnTo>
                  <a:pt x="54296" y="526420"/>
                </a:lnTo>
                <a:lnTo>
                  <a:pt x="26038" y="507380"/>
                </a:lnTo>
                <a:lnTo>
                  <a:pt x="6986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58" name="Google Shape;958;p76"/>
          <p:cNvSpPr txBox="1"/>
          <p:nvPr/>
        </p:nvSpPr>
        <p:spPr>
          <a:xfrm>
            <a:off x="829767" y="4320158"/>
            <a:ext cx="73977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76"/>
          <p:cNvSpPr/>
          <p:nvPr/>
        </p:nvSpPr>
        <p:spPr>
          <a:xfrm>
            <a:off x="3707891" y="4221098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663700" y="0"/>
                </a:lnTo>
                <a:lnTo>
                  <a:pt x="1698325" y="6979"/>
                </a:lnTo>
                <a:lnTo>
                  <a:pt x="1726580" y="26019"/>
                </a:lnTo>
                <a:lnTo>
                  <a:pt x="1745620" y="54274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20" y="479125"/>
                </a:lnTo>
                <a:lnTo>
                  <a:pt x="1726580" y="507380"/>
                </a:lnTo>
                <a:lnTo>
                  <a:pt x="1698325" y="526420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60" name="Google Shape;960;p76"/>
          <p:cNvSpPr txBox="1"/>
          <p:nvPr/>
        </p:nvSpPr>
        <p:spPr>
          <a:xfrm>
            <a:off x="4169155" y="4320158"/>
            <a:ext cx="829944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76"/>
          <p:cNvSpPr/>
          <p:nvPr/>
        </p:nvSpPr>
        <p:spPr>
          <a:xfrm>
            <a:off x="3707891" y="2996945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663700" y="0"/>
                </a:lnTo>
                <a:lnTo>
                  <a:pt x="1698325" y="6979"/>
                </a:lnTo>
                <a:lnTo>
                  <a:pt x="1726580" y="26019"/>
                </a:lnTo>
                <a:lnTo>
                  <a:pt x="1745620" y="54274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20" y="479125"/>
                </a:lnTo>
                <a:lnTo>
                  <a:pt x="1726580" y="507380"/>
                </a:lnTo>
                <a:lnTo>
                  <a:pt x="1698325" y="526420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62" name="Google Shape;962;p76"/>
          <p:cNvSpPr txBox="1"/>
          <p:nvPr/>
        </p:nvSpPr>
        <p:spPr>
          <a:xfrm>
            <a:off x="3942079" y="3095752"/>
            <a:ext cx="128460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Department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76"/>
          <p:cNvSpPr/>
          <p:nvPr/>
        </p:nvSpPr>
        <p:spPr>
          <a:xfrm>
            <a:off x="7067931" y="4221098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663700" y="0"/>
                </a:lnTo>
                <a:lnTo>
                  <a:pt x="1698271" y="6979"/>
                </a:lnTo>
                <a:lnTo>
                  <a:pt x="1726533" y="26019"/>
                </a:lnTo>
                <a:lnTo>
                  <a:pt x="1745603" y="54274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03" y="479125"/>
                </a:lnTo>
                <a:lnTo>
                  <a:pt x="1726533" y="507380"/>
                </a:lnTo>
                <a:lnTo>
                  <a:pt x="1698271" y="526420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64" name="Google Shape;964;p76"/>
          <p:cNvSpPr txBox="1"/>
          <p:nvPr/>
        </p:nvSpPr>
        <p:spPr>
          <a:xfrm>
            <a:off x="7502143" y="4320158"/>
            <a:ext cx="88773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76"/>
          <p:cNvSpPr/>
          <p:nvPr/>
        </p:nvSpPr>
        <p:spPr>
          <a:xfrm>
            <a:off x="589330" y="2883407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599" y="0"/>
                </a:lnTo>
                <a:lnTo>
                  <a:pt x="1219149" y="381000"/>
                </a:lnTo>
                <a:lnTo>
                  <a:pt x="609599" y="761999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66" name="Google Shape;966;p76"/>
          <p:cNvSpPr txBox="1"/>
          <p:nvPr/>
        </p:nvSpPr>
        <p:spPr>
          <a:xfrm>
            <a:off x="905052" y="3112642"/>
            <a:ext cx="58737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Offers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76"/>
          <p:cNvSpPr/>
          <p:nvPr/>
        </p:nvSpPr>
        <p:spPr>
          <a:xfrm>
            <a:off x="1808479" y="3263646"/>
            <a:ext cx="1899920" cy="1270"/>
          </a:xfrm>
          <a:custGeom>
            <a:avLst/>
            <a:gdLst/>
            <a:ahLst/>
            <a:cxnLst/>
            <a:rect l="l" t="t" r="r" b="b"/>
            <a:pathLst>
              <a:path w="1899920" h="1270" extrusionOk="0">
                <a:moveTo>
                  <a:pt x="1899411" y="0"/>
                </a:moveTo>
                <a:lnTo>
                  <a:pt x="0" y="762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68" name="Google Shape;968;p76"/>
          <p:cNvSpPr/>
          <p:nvPr/>
        </p:nvSpPr>
        <p:spPr>
          <a:xfrm>
            <a:off x="1198930" y="3645408"/>
            <a:ext cx="1270" cy="575945"/>
          </a:xfrm>
          <a:custGeom>
            <a:avLst/>
            <a:gdLst/>
            <a:ahLst/>
            <a:cxnLst/>
            <a:rect l="l" t="t" r="r" b="b"/>
            <a:pathLst>
              <a:path w="1269" h="575945" extrusionOk="0">
                <a:moveTo>
                  <a:pt x="901" y="575691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69" name="Google Shape;969;p76"/>
          <p:cNvSpPr/>
          <p:nvPr/>
        </p:nvSpPr>
        <p:spPr>
          <a:xfrm>
            <a:off x="1043609" y="4077080"/>
            <a:ext cx="300355" cy="152400"/>
          </a:xfrm>
          <a:custGeom>
            <a:avLst/>
            <a:gdLst/>
            <a:ahLst/>
            <a:cxnLst/>
            <a:rect l="l" t="t" r="r" b="b"/>
            <a:pathLst>
              <a:path w="300355" h="152400" extrusionOk="0">
                <a:moveTo>
                  <a:pt x="0" y="152400"/>
                </a:moveTo>
                <a:lnTo>
                  <a:pt x="7647" y="104217"/>
                </a:lnTo>
                <a:lnTo>
                  <a:pt x="28942" y="62380"/>
                </a:lnTo>
                <a:lnTo>
                  <a:pt x="61414" y="29394"/>
                </a:lnTo>
                <a:lnTo>
                  <a:pt x="102594" y="7766"/>
                </a:lnTo>
                <a:lnTo>
                  <a:pt x="150012" y="0"/>
                </a:lnTo>
                <a:lnTo>
                  <a:pt x="197371" y="7752"/>
                </a:lnTo>
                <a:lnTo>
                  <a:pt x="238527" y="29342"/>
                </a:lnTo>
                <a:lnTo>
                  <a:pt x="271007" y="62270"/>
                </a:lnTo>
                <a:lnTo>
                  <a:pt x="292339" y="104038"/>
                </a:lnTo>
                <a:lnTo>
                  <a:pt x="300050" y="152146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70" name="Google Shape;970;p76"/>
          <p:cNvSpPr/>
          <p:nvPr/>
        </p:nvSpPr>
        <p:spPr>
          <a:xfrm>
            <a:off x="2267711" y="4107179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600" y="0"/>
                </a:lnTo>
                <a:lnTo>
                  <a:pt x="1219200" y="381000"/>
                </a:lnTo>
                <a:lnTo>
                  <a:pt x="609600" y="762000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71" name="Google Shape;971;p76"/>
          <p:cNvSpPr txBox="1"/>
          <p:nvPr/>
        </p:nvSpPr>
        <p:spPr>
          <a:xfrm>
            <a:off x="2480310" y="4336669"/>
            <a:ext cx="79565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Includes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76"/>
          <p:cNvSpPr/>
          <p:nvPr/>
        </p:nvSpPr>
        <p:spPr>
          <a:xfrm>
            <a:off x="2076069" y="4487798"/>
            <a:ext cx="191770" cy="635"/>
          </a:xfrm>
          <a:custGeom>
            <a:avLst/>
            <a:gdLst/>
            <a:ahLst/>
            <a:cxnLst/>
            <a:rect l="l" t="t" r="r" b="b"/>
            <a:pathLst>
              <a:path w="191769" h="635" extrusionOk="0">
                <a:moveTo>
                  <a:pt x="0" y="0"/>
                </a:moveTo>
                <a:lnTo>
                  <a:pt x="191643" y="381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73" name="Google Shape;973;p76"/>
          <p:cNvSpPr/>
          <p:nvPr/>
        </p:nvSpPr>
        <p:spPr>
          <a:xfrm>
            <a:off x="3486911" y="4487798"/>
            <a:ext cx="220979" cy="635"/>
          </a:xfrm>
          <a:custGeom>
            <a:avLst/>
            <a:gdLst/>
            <a:ahLst/>
            <a:cxnLst/>
            <a:rect l="l" t="t" r="r" b="b"/>
            <a:pathLst>
              <a:path w="220979" h="635" extrusionOk="0">
                <a:moveTo>
                  <a:pt x="0" y="381"/>
                </a:moveTo>
                <a:lnTo>
                  <a:pt x="220979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74" name="Google Shape;974;p76"/>
          <p:cNvSpPr/>
          <p:nvPr/>
        </p:nvSpPr>
        <p:spPr>
          <a:xfrm>
            <a:off x="2072385" y="4338954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0" y="0"/>
                </a:moveTo>
                <a:lnTo>
                  <a:pt x="48134" y="7637"/>
                </a:lnTo>
                <a:lnTo>
                  <a:pt x="89964" y="28911"/>
                </a:lnTo>
                <a:lnTo>
                  <a:pt x="122968" y="61365"/>
                </a:lnTo>
                <a:lnTo>
                  <a:pt x="144621" y="102542"/>
                </a:lnTo>
                <a:lnTo>
                  <a:pt x="152400" y="149987"/>
                </a:lnTo>
                <a:lnTo>
                  <a:pt x="144634" y="197370"/>
                </a:lnTo>
                <a:lnTo>
                  <a:pt x="123013" y="238517"/>
                </a:lnTo>
                <a:lnTo>
                  <a:pt x="90047" y="270971"/>
                </a:lnTo>
                <a:lnTo>
                  <a:pt x="48247" y="292275"/>
                </a:lnTo>
                <a:lnTo>
                  <a:pt x="126" y="299974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75" name="Google Shape;975;p76"/>
          <p:cNvSpPr/>
          <p:nvPr/>
        </p:nvSpPr>
        <p:spPr>
          <a:xfrm>
            <a:off x="3563873" y="4335907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152400" y="300101"/>
                </a:moveTo>
                <a:lnTo>
                  <a:pt x="104217" y="292451"/>
                </a:lnTo>
                <a:lnTo>
                  <a:pt x="62380" y="271153"/>
                </a:lnTo>
                <a:lnTo>
                  <a:pt x="29394" y="238680"/>
                </a:lnTo>
                <a:lnTo>
                  <a:pt x="7766" y="197509"/>
                </a:lnTo>
                <a:lnTo>
                  <a:pt x="0" y="150114"/>
                </a:lnTo>
                <a:lnTo>
                  <a:pt x="7753" y="102717"/>
                </a:lnTo>
                <a:lnTo>
                  <a:pt x="29350" y="61539"/>
                </a:lnTo>
                <a:lnTo>
                  <a:pt x="62298" y="29047"/>
                </a:lnTo>
                <a:lnTo>
                  <a:pt x="104103" y="7711"/>
                </a:lnTo>
                <a:lnTo>
                  <a:pt x="152273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76" name="Google Shape;976;p76"/>
          <p:cNvSpPr/>
          <p:nvPr/>
        </p:nvSpPr>
        <p:spPr>
          <a:xfrm>
            <a:off x="590130" y="5835357"/>
            <a:ext cx="1219835" cy="762000"/>
          </a:xfrm>
          <a:custGeom>
            <a:avLst/>
            <a:gdLst/>
            <a:ahLst/>
            <a:cxnLst/>
            <a:rect l="l" t="t" r="r" b="b"/>
            <a:pathLst>
              <a:path w="1219835" h="762000" extrusionOk="0">
                <a:moveTo>
                  <a:pt x="0" y="381000"/>
                </a:moveTo>
                <a:lnTo>
                  <a:pt x="609600" y="0"/>
                </a:lnTo>
                <a:lnTo>
                  <a:pt x="1219238" y="381000"/>
                </a:lnTo>
                <a:lnTo>
                  <a:pt x="609600" y="762000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77" name="Google Shape;977;p76"/>
          <p:cNvSpPr/>
          <p:nvPr/>
        </p:nvSpPr>
        <p:spPr>
          <a:xfrm>
            <a:off x="1809369" y="6215976"/>
            <a:ext cx="1898650" cy="635"/>
          </a:xfrm>
          <a:custGeom>
            <a:avLst/>
            <a:gdLst/>
            <a:ahLst/>
            <a:cxnLst/>
            <a:rect l="l" t="t" r="r" b="b"/>
            <a:pathLst>
              <a:path w="1898650" h="635" extrusionOk="0">
                <a:moveTo>
                  <a:pt x="1898650" y="0"/>
                </a:moveTo>
                <a:lnTo>
                  <a:pt x="0" y="38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78" name="Google Shape;978;p76"/>
          <p:cNvSpPr/>
          <p:nvPr/>
        </p:nvSpPr>
        <p:spPr>
          <a:xfrm>
            <a:off x="1199730" y="4754498"/>
            <a:ext cx="635" cy="1081405"/>
          </a:xfrm>
          <a:custGeom>
            <a:avLst/>
            <a:gdLst/>
            <a:ahLst/>
            <a:cxnLst/>
            <a:rect l="l" t="t" r="r" b="b"/>
            <a:pathLst>
              <a:path w="634" h="1081404" extrusionOk="0">
                <a:moveTo>
                  <a:pt x="0" y="1080858"/>
                </a:moveTo>
                <a:lnTo>
                  <a:pt x="101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79" name="Google Shape;979;p76"/>
          <p:cNvSpPr/>
          <p:nvPr/>
        </p:nvSpPr>
        <p:spPr>
          <a:xfrm>
            <a:off x="3565525" y="6067107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152400" y="300037"/>
                </a:moveTo>
                <a:lnTo>
                  <a:pt x="104217" y="292390"/>
                </a:lnTo>
                <a:lnTo>
                  <a:pt x="62380" y="271094"/>
                </a:lnTo>
                <a:lnTo>
                  <a:pt x="29394" y="238619"/>
                </a:lnTo>
                <a:lnTo>
                  <a:pt x="7766" y="197436"/>
                </a:lnTo>
                <a:lnTo>
                  <a:pt x="0" y="150012"/>
                </a:lnTo>
                <a:lnTo>
                  <a:pt x="7752" y="102638"/>
                </a:lnTo>
                <a:lnTo>
                  <a:pt x="29342" y="61482"/>
                </a:lnTo>
                <a:lnTo>
                  <a:pt x="62270" y="29011"/>
                </a:lnTo>
                <a:lnTo>
                  <a:pt x="104038" y="7694"/>
                </a:lnTo>
                <a:lnTo>
                  <a:pt x="152146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80" name="Google Shape;980;p76"/>
          <p:cNvSpPr/>
          <p:nvPr/>
        </p:nvSpPr>
        <p:spPr>
          <a:xfrm>
            <a:off x="3974084" y="4971288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600" y="0"/>
                </a:lnTo>
                <a:lnTo>
                  <a:pt x="1219200" y="381000"/>
                </a:lnTo>
                <a:lnTo>
                  <a:pt x="609600" y="761961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81" name="Google Shape;981;p76"/>
          <p:cNvSpPr txBox="1"/>
          <p:nvPr/>
        </p:nvSpPr>
        <p:spPr>
          <a:xfrm>
            <a:off x="4320921" y="5200777"/>
            <a:ext cx="784479" cy="209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Takes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76"/>
          <p:cNvSpPr/>
          <p:nvPr/>
        </p:nvSpPr>
        <p:spPr>
          <a:xfrm>
            <a:off x="4583684" y="4754498"/>
            <a:ext cx="635" cy="217170"/>
          </a:xfrm>
          <a:custGeom>
            <a:avLst/>
            <a:gdLst/>
            <a:ahLst/>
            <a:cxnLst/>
            <a:rect l="l" t="t" r="r" b="b"/>
            <a:pathLst>
              <a:path w="635" h="217170" extrusionOk="0">
                <a:moveTo>
                  <a:pt x="0" y="216788"/>
                </a:moveTo>
                <a:lnTo>
                  <a:pt x="507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83" name="Google Shape;983;p76"/>
          <p:cNvSpPr/>
          <p:nvPr/>
        </p:nvSpPr>
        <p:spPr>
          <a:xfrm>
            <a:off x="4583684" y="5733250"/>
            <a:ext cx="635" cy="216535"/>
          </a:xfrm>
          <a:custGeom>
            <a:avLst/>
            <a:gdLst/>
            <a:ahLst/>
            <a:cxnLst/>
            <a:rect l="l" t="t" r="r" b="b"/>
            <a:pathLst>
              <a:path w="635" h="216535" extrusionOk="0">
                <a:moveTo>
                  <a:pt x="635" y="216026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84" name="Google Shape;984;p76"/>
          <p:cNvSpPr/>
          <p:nvPr/>
        </p:nvSpPr>
        <p:spPr>
          <a:xfrm>
            <a:off x="5652134" y="4107179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600" y="0"/>
                </a:lnTo>
                <a:lnTo>
                  <a:pt x="1219199" y="381000"/>
                </a:lnTo>
                <a:lnTo>
                  <a:pt x="609600" y="762000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85" name="Google Shape;985;p76"/>
          <p:cNvSpPr txBox="1"/>
          <p:nvPr/>
        </p:nvSpPr>
        <p:spPr>
          <a:xfrm>
            <a:off x="5798058" y="4336669"/>
            <a:ext cx="1136142" cy="235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Taught By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76"/>
          <p:cNvSpPr/>
          <p:nvPr/>
        </p:nvSpPr>
        <p:spPr>
          <a:xfrm>
            <a:off x="5460491" y="4487798"/>
            <a:ext cx="191770" cy="635"/>
          </a:xfrm>
          <a:custGeom>
            <a:avLst/>
            <a:gdLst/>
            <a:ahLst/>
            <a:cxnLst/>
            <a:rect l="l" t="t" r="r" b="b"/>
            <a:pathLst>
              <a:path w="191770" h="635" extrusionOk="0">
                <a:moveTo>
                  <a:pt x="0" y="0"/>
                </a:moveTo>
                <a:lnTo>
                  <a:pt x="191643" y="381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87" name="Google Shape;987;p76"/>
          <p:cNvSpPr/>
          <p:nvPr/>
        </p:nvSpPr>
        <p:spPr>
          <a:xfrm>
            <a:off x="6871334" y="4487798"/>
            <a:ext cx="196850" cy="635"/>
          </a:xfrm>
          <a:custGeom>
            <a:avLst/>
            <a:gdLst/>
            <a:ahLst/>
            <a:cxnLst/>
            <a:rect l="l" t="t" r="r" b="b"/>
            <a:pathLst>
              <a:path w="196850" h="635" extrusionOk="0">
                <a:moveTo>
                  <a:pt x="0" y="381"/>
                </a:moveTo>
                <a:lnTo>
                  <a:pt x="196596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88" name="Google Shape;988;p76"/>
          <p:cNvSpPr/>
          <p:nvPr/>
        </p:nvSpPr>
        <p:spPr>
          <a:xfrm>
            <a:off x="5456682" y="4334002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0" y="0"/>
                </a:moveTo>
                <a:lnTo>
                  <a:pt x="48182" y="7650"/>
                </a:lnTo>
                <a:lnTo>
                  <a:pt x="90019" y="28956"/>
                </a:lnTo>
                <a:lnTo>
                  <a:pt x="123005" y="61447"/>
                </a:lnTo>
                <a:lnTo>
                  <a:pt x="144633" y="102656"/>
                </a:lnTo>
                <a:lnTo>
                  <a:pt x="152400" y="150114"/>
                </a:lnTo>
                <a:lnTo>
                  <a:pt x="144647" y="197448"/>
                </a:lnTo>
                <a:lnTo>
                  <a:pt x="123057" y="238589"/>
                </a:lnTo>
                <a:lnTo>
                  <a:pt x="90129" y="271061"/>
                </a:lnTo>
                <a:lnTo>
                  <a:pt x="48361" y="292390"/>
                </a:lnTo>
                <a:lnTo>
                  <a:pt x="253" y="3001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89" name="Google Shape;989;p76"/>
          <p:cNvSpPr/>
          <p:nvPr/>
        </p:nvSpPr>
        <p:spPr>
          <a:xfrm>
            <a:off x="4432808" y="5805258"/>
            <a:ext cx="300355" cy="153035"/>
          </a:xfrm>
          <a:custGeom>
            <a:avLst/>
            <a:gdLst/>
            <a:ahLst/>
            <a:cxnLst/>
            <a:rect l="l" t="t" r="r" b="b"/>
            <a:pathLst>
              <a:path w="300354" h="153035" extrusionOk="0">
                <a:moveTo>
                  <a:pt x="0" y="152412"/>
                </a:moveTo>
                <a:lnTo>
                  <a:pt x="7637" y="104238"/>
                </a:lnTo>
                <a:lnTo>
                  <a:pt x="28911" y="62399"/>
                </a:lnTo>
                <a:lnTo>
                  <a:pt x="61365" y="29406"/>
                </a:lnTo>
                <a:lnTo>
                  <a:pt x="102542" y="7770"/>
                </a:lnTo>
                <a:lnTo>
                  <a:pt x="149987" y="0"/>
                </a:lnTo>
                <a:lnTo>
                  <a:pt x="197370" y="7757"/>
                </a:lnTo>
                <a:lnTo>
                  <a:pt x="238517" y="29361"/>
                </a:lnTo>
                <a:lnTo>
                  <a:pt x="270971" y="62309"/>
                </a:lnTo>
                <a:lnTo>
                  <a:pt x="292275" y="104096"/>
                </a:lnTo>
                <a:lnTo>
                  <a:pt x="299974" y="152222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90" name="Google Shape;990;p76"/>
          <p:cNvSpPr/>
          <p:nvPr/>
        </p:nvSpPr>
        <p:spPr>
          <a:xfrm>
            <a:off x="4435094" y="4751323"/>
            <a:ext cx="300355" cy="152400"/>
          </a:xfrm>
          <a:custGeom>
            <a:avLst/>
            <a:gdLst/>
            <a:ahLst/>
            <a:cxnLst/>
            <a:rect l="l" t="t" r="r" b="b"/>
            <a:pathLst>
              <a:path w="300354" h="152400" extrusionOk="0">
                <a:moveTo>
                  <a:pt x="300100" y="0"/>
                </a:moveTo>
                <a:lnTo>
                  <a:pt x="292451" y="48182"/>
                </a:lnTo>
                <a:lnTo>
                  <a:pt x="271153" y="90019"/>
                </a:lnTo>
                <a:lnTo>
                  <a:pt x="238680" y="123005"/>
                </a:lnTo>
                <a:lnTo>
                  <a:pt x="197509" y="144633"/>
                </a:lnTo>
                <a:lnTo>
                  <a:pt x="150113" y="152400"/>
                </a:lnTo>
                <a:lnTo>
                  <a:pt x="102717" y="144647"/>
                </a:lnTo>
                <a:lnTo>
                  <a:pt x="61539" y="123057"/>
                </a:lnTo>
                <a:lnTo>
                  <a:pt x="29047" y="90129"/>
                </a:lnTo>
                <a:lnTo>
                  <a:pt x="7711" y="48361"/>
                </a:lnTo>
                <a:lnTo>
                  <a:pt x="0" y="253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91" name="Google Shape;991;p76"/>
          <p:cNvSpPr txBox="1"/>
          <p:nvPr/>
        </p:nvSpPr>
        <p:spPr>
          <a:xfrm>
            <a:off x="4164584" y="6099073"/>
            <a:ext cx="838835" cy="280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76"/>
          <p:cNvSpPr txBox="1"/>
          <p:nvPr/>
        </p:nvSpPr>
        <p:spPr>
          <a:xfrm>
            <a:off x="902919" y="6109665"/>
            <a:ext cx="594995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5246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7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30619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Example – E/R Diagram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997" name="Google Shape;997;p7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23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99" name="Google Shape;999;p77"/>
          <p:cNvSpPr txBox="1"/>
          <p:nvPr/>
        </p:nvSpPr>
        <p:spPr>
          <a:xfrm>
            <a:off x="535940" y="1620773"/>
            <a:ext cx="8009255" cy="521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department employs a number of lecturers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77"/>
          <p:cNvSpPr/>
          <p:nvPr/>
        </p:nvSpPr>
        <p:spPr>
          <a:xfrm>
            <a:off x="3708019" y="5949276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96"/>
                </a:lnTo>
                <a:lnTo>
                  <a:pt x="26019" y="26038"/>
                </a:lnTo>
                <a:lnTo>
                  <a:pt x="54274" y="6986"/>
                </a:lnTo>
                <a:lnTo>
                  <a:pt x="88900" y="0"/>
                </a:lnTo>
                <a:lnTo>
                  <a:pt x="1663700" y="0"/>
                </a:lnTo>
                <a:lnTo>
                  <a:pt x="1698271" y="6986"/>
                </a:lnTo>
                <a:lnTo>
                  <a:pt x="1726533" y="26038"/>
                </a:lnTo>
                <a:lnTo>
                  <a:pt x="1745603" y="54296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03" y="479103"/>
                </a:lnTo>
                <a:lnTo>
                  <a:pt x="1726533" y="507361"/>
                </a:lnTo>
                <a:lnTo>
                  <a:pt x="1698271" y="526413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13"/>
                </a:lnTo>
                <a:lnTo>
                  <a:pt x="26019" y="507361"/>
                </a:lnTo>
                <a:lnTo>
                  <a:pt x="6979" y="479103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01" name="Google Shape;1001;p77"/>
          <p:cNvSpPr/>
          <p:nvPr/>
        </p:nvSpPr>
        <p:spPr>
          <a:xfrm>
            <a:off x="323532" y="4221098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86" y="54274"/>
                </a:lnTo>
                <a:lnTo>
                  <a:pt x="26038" y="26019"/>
                </a:lnTo>
                <a:lnTo>
                  <a:pt x="54296" y="6979"/>
                </a:lnTo>
                <a:lnTo>
                  <a:pt x="88900" y="0"/>
                </a:lnTo>
                <a:lnTo>
                  <a:pt x="1663636" y="0"/>
                </a:lnTo>
                <a:lnTo>
                  <a:pt x="1698261" y="6979"/>
                </a:lnTo>
                <a:lnTo>
                  <a:pt x="1726517" y="26019"/>
                </a:lnTo>
                <a:lnTo>
                  <a:pt x="1745557" y="54274"/>
                </a:lnTo>
                <a:lnTo>
                  <a:pt x="1752536" y="88900"/>
                </a:lnTo>
                <a:lnTo>
                  <a:pt x="1752536" y="444500"/>
                </a:lnTo>
                <a:lnTo>
                  <a:pt x="1745557" y="479125"/>
                </a:lnTo>
                <a:lnTo>
                  <a:pt x="1726517" y="507380"/>
                </a:lnTo>
                <a:lnTo>
                  <a:pt x="1698261" y="526420"/>
                </a:lnTo>
                <a:lnTo>
                  <a:pt x="1663636" y="533400"/>
                </a:lnTo>
                <a:lnTo>
                  <a:pt x="88900" y="533400"/>
                </a:lnTo>
                <a:lnTo>
                  <a:pt x="54296" y="526420"/>
                </a:lnTo>
                <a:lnTo>
                  <a:pt x="26038" y="507380"/>
                </a:lnTo>
                <a:lnTo>
                  <a:pt x="6986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02" name="Google Shape;1002;p77"/>
          <p:cNvSpPr txBox="1"/>
          <p:nvPr/>
        </p:nvSpPr>
        <p:spPr>
          <a:xfrm>
            <a:off x="829767" y="4320158"/>
            <a:ext cx="73977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77"/>
          <p:cNvSpPr/>
          <p:nvPr/>
        </p:nvSpPr>
        <p:spPr>
          <a:xfrm>
            <a:off x="3707891" y="4221098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663700" y="0"/>
                </a:lnTo>
                <a:lnTo>
                  <a:pt x="1698325" y="6979"/>
                </a:lnTo>
                <a:lnTo>
                  <a:pt x="1726580" y="26019"/>
                </a:lnTo>
                <a:lnTo>
                  <a:pt x="1745620" y="54274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20" y="479125"/>
                </a:lnTo>
                <a:lnTo>
                  <a:pt x="1726580" y="507380"/>
                </a:lnTo>
                <a:lnTo>
                  <a:pt x="1698325" y="526420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04" name="Google Shape;1004;p77"/>
          <p:cNvSpPr txBox="1"/>
          <p:nvPr/>
        </p:nvSpPr>
        <p:spPr>
          <a:xfrm>
            <a:off x="4169155" y="4320158"/>
            <a:ext cx="829944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77"/>
          <p:cNvSpPr/>
          <p:nvPr/>
        </p:nvSpPr>
        <p:spPr>
          <a:xfrm>
            <a:off x="3707891" y="2996945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663700" y="0"/>
                </a:lnTo>
                <a:lnTo>
                  <a:pt x="1698325" y="6979"/>
                </a:lnTo>
                <a:lnTo>
                  <a:pt x="1726580" y="26019"/>
                </a:lnTo>
                <a:lnTo>
                  <a:pt x="1745620" y="54274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20" y="479125"/>
                </a:lnTo>
                <a:lnTo>
                  <a:pt x="1726580" y="507380"/>
                </a:lnTo>
                <a:lnTo>
                  <a:pt x="1698325" y="526420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06" name="Google Shape;1006;p77"/>
          <p:cNvSpPr txBox="1"/>
          <p:nvPr/>
        </p:nvSpPr>
        <p:spPr>
          <a:xfrm>
            <a:off x="3942079" y="3095752"/>
            <a:ext cx="128460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77"/>
          <p:cNvSpPr/>
          <p:nvPr/>
        </p:nvSpPr>
        <p:spPr>
          <a:xfrm>
            <a:off x="7067931" y="4221098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663700" y="0"/>
                </a:lnTo>
                <a:lnTo>
                  <a:pt x="1698271" y="6979"/>
                </a:lnTo>
                <a:lnTo>
                  <a:pt x="1726533" y="26019"/>
                </a:lnTo>
                <a:lnTo>
                  <a:pt x="1745603" y="54274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03" y="479125"/>
                </a:lnTo>
                <a:lnTo>
                  <a:pt x="1726533" y="507380"/>
                </a:lnTo>
                <a:lnTo>
                  <a:pt x="1698271" y="526420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08" name="Google Shape;1008;p77"/>
          <p:cNvSpPr txBox="1"/>
          <p:nvPr/>
        </p:nvSpPr>
        <p:spPr>
          <a:xfrm>
            <a:off x="7502143" y="4320158"/>
            <a:ext cx="88773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77"/>
          <p:cNvSpPr/>
          <p:nvPr/>
        </p:nvSpPr>
        <p:spPr>
          <a:xfrm>
            <a:off x="589330" y="2883407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599" y="0"/>
                </a:lnTo>
                <a:lnTo>
                  <a:pt x="1219149" y="381000"/>
                </a:lnTo>
                <a:lnTo>
                  <a:pt x="609599" y="761999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10" name="Google Shape;1010;p77"/>
          <p:cNvSpPr txBox="1"/>
          <p:nvPr/>
        </p:nvSpPr>
        <p:spPr>
          <a:xfrm>
            <a:off x="905052" y="3112642"/>
            <a:ext cx="58737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Offers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77"/>
          <p:cNvSpPr/>
          <p:nvPr/>
        </p:nvSpPr>
        <p:spPr>
          <a:xfrm>
            <a:off x="1808479" y="3263646"/>
            <a:ext cx="1899920" cy="1270"/>
          </a:xfrm>
          <a:custGeom>
            <a:avLst/>
            <a:gdLst/>
            <a:ahLst/>
            <a:cxnLst/>
            <a:rect l="l" t="t" r="r" b="b"/>
            <a:pathLst>
              <a:path w="1899920" h="1270" extrusionOk="0">
                <a:moveTo>
                  <a:pt x="1899411" y="0"/>
                </a:moveTo>
                <a:lnTo>
                  <a:pt x="0" y="762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12" name="Google Shape;1012;p77"/>
          <p:cNvSpPr/>
          <p:nvPr/>
        </p:nvSpPr>
        <p:spPr>
          <a:xfrm>
            <a:off x="1198930" y="3645408"/>
            <a:ext cx="1270" cy="575945"/>
          </a:xfrm>
          <a:custGeom>
            <a:avLst/>
            <a:gdLst/>
            <a:ahLst/>
            <a:cxnLst/>
            <a:rect l="l" t="t" r="r" b="b"/>
            <a:pathLst>
              <a:path w="1269" h="575945" extrusionOk="0">
                <a:moveTo>
                  <a:pt x="901" y="575691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13" name="Google Shape;1013;p77"/>
          <p:cNvSpPr/>
          <p:nvPr/>
        </p:nvSpPr>
        <p:spPr>
          <a:xfrm>
            <a:off x="1043609" y="4077080"/>
            <a:ext cx="300355" cy="152400"/>
          </a:xfrm>
          <a:custGeom>
            <a:avLst/>
            <a:gdLst/>
            <a:ahLst/>
            <a:cxnLst/>
            <a:rect l="l" t="t" r="r" b="b"/>
            <a:pathLst>
              <a:path w="300355" h="152400" extrusionOk="0">
                <a:moveTo>
                  <a:pt x="0" y="152400"/>
                </a:moveTo>
                <a:lnTo>
                  <a:pt x="7647" y="104217"/>
                </a:lnTo>
                <a:lnTo>
                  <a:pt x="28942" y="62380"/>
                </a:lnTo>
                <a:lnTo>
                  <a:pt x="61414" y="29394"/>
                </a:lnTo>
                <a:lnTo>
                  <a:pt x="102594" y="7766"/>
                </a:lnTo>
                <a:lnTo>
                  <a:pt x="150012" y="0"/>
                </a:lnTo>
                <a:lnTo>
                  <a:pt x="197371" y="7752"/>
                </a:lnTo>
                <a:lnTo>
                  <a:pt x="238527" y="29342"/>
                </a:lnTo>
                <a:lnTo>
                  <a:pt x="271007" y="62270"/>
                </a:lnTo>
                <a:lnTo>
                  <a:pt x="292339" y="104038"/>
                </a:lnTo>
                <a:lnTo>
                  <a:pt x="300050" y="152146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14" name="Google Shape;1014;p77"/>
          <p:cNvSpPr/>
          <p:nvPr/>
        </p:nvSpPr>
        <p:spPr>
          <a:xfrm>
            <a:off x="2267711" y="4107179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600" y="0"/>
                </a:lnTo>
                <a:lnTo>
                  <a:pt x="1219200" y="381000"/>
                </a:lnTo>
                <a:lnTo>
                  <a:pt x="609600" y="762000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15" name="Google Shape;1015;p77"/>
          <p:cNvSpPr txBox="1"/>
          <p:nvPr/>
        </p:nvSpPr>
        <p:spPr>
          <a:xfrm>
            <a:off x="2480310" y="4336669"/>
            <a:ext cx="79565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Includes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77"/>
          <p:cNvSpPr/>
          <p:nvPr/>
        </p:nvSpPr>
        <p:spPr>
          <a:xfrm>
            <a:off x="2076069" y="4487798"/>
            <a:ext cx="191770" cy="635"/>
          </a:xfrm>
          <a:custGeom>
            <a:avLst/>
            <a:gdLst/>
            <a:ahLst/>
            <a:cxnLst/>
            <a:rect l="l" t="t" r="r" b="b"/>
            <a:pathLst>
              <a:path w="191769" h="635" extrusionOk="0">
                <a:moveTo>
                  <a:pt x="0" y="0"/>
                </a:moveTo>
                <a:lnTo>
                  <a:pt x="191643" y="381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17" name="Google Shape;1017;p77"/>
          <p:cNvSpPr/>
          <p:nvPr/>
        </p:nvSpPr>
        <p:spPr>
          <a:xfrm>
            <a:off x="3486911" y="4487798"/>
            <a:ext cx="220979" cy="635"/>
          </a:xfrm>
          <a:custGeom>
            <a:avLst/>
            <a:gdLst/>
            <a:ahLst/>
            <a:cxnLst/>
            <a:rect l="l" t="t" r="r" b="b"/>
            <a:pathLst>
              <a:path w="220979" h="635" extrusionOk="0">
                <a:moveTo>
                  <a:pt x="0" y="381"/>
                </a:moveTo>
                <a:lnTo>
                  <a:pt x="220979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18" name="Google Shape;1018;p77"/>
          <p:cNvSpPr/>
          <p:nvPr/>
        </p:nvSpPr>
        <p:spPr>
          <a:xfrm>
            <a:off x="2072385" y="4338954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0" y="0"/>
                </a:moveTo>
                <a:lnTo>
                  <a:pt x="48134" y="7637"/>
                </a:lnTo>
                <a:lnTo>
                  <a:pt x="89964" y="28911"/>
                </a:lnTo>
                <a:lnTo>
                  <a:pt x="122968" y="61365"/>
                </a:lnTo>
                <a:lnTo>
                  <a:pt x="144621" y="102542"/>
                </a:lnTo>
                <a:lnTo>
                  <a:pt x="152400" y="149987"/>
                </a:lnTo>
                <a:lnTo>
                  <a:pt x="144634" y="197370"/>
                </a:lnTo>
                <a:lnTo>
                  <a:pt x="123013" y="238517"/>
                </a:lnTo>
                <a:lnTo>
                  <a:pt x="90047" y="270971"/>
                </a:lnTo>
                <a:lnTo>
                  <a:pt x="48247" y="292275"/>
                </a:lnTo>
                <a:lnTo>
                  <a:pt x="126" y="299974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19" name="Google Shape;1019;p77"/>
          <p:cNvSpPr/>
          <p:nvPr/>
        </p:nvSpPr>
        <p:spPr>
          <a:xfrm>
            <a:off x="3563873" y="4335907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152400" y="300101"/>
                </a:moveTo>
                <a:lnTo>
                  <a:pt x="104217" y="292451"/>
                </a:lnTo>
                <a:lnTo>
                  <a:pt x="62380" y="271153"/>
                </a:lnTo>
                <a:lnTo>
                  <a:pt x="29394" y="238680"/>
                </a:lnTo>
                <a:lnTo>
                  <a:pt x="7766" y="197509"/>
                </a:lnTo>
                <a:lnTo>
                  <a:pt x="0" y="150114"/>
                </a:lnTo>
                <a:lnTo>
                  <a:pt x="7753" y="102717"/>
                </a:lnTo>
                <a:lnTo>
                  <a:pt x="29350" y="61539"/>
                </a:lnTo>
                <a:lnTo>
                  <a:pt x="62298" y="29047"/>
                </a:lnTo>
                <a:lnTo>
                  <a:pt x="104103" y="7711"/>
                </a:lnTo>
                <a:lnTo>
                  <a:pt x="152273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20" name="Google Shape;1020;p77"/>
          <p:cNvSpPr/>
          <p:nvPr/>
        </p:nvSpPr>
        <p:spPr>
          <a:xfrm>
            <a:off x="590130" y="5835357"/>
            <a:ext cx="1219835" cy="762000"/>
          </a:xfrm>
          <a:custGeom>
            <a:avLst/>
            <a:gdLst/>
            <a:ahLst/>
            <a:cxnLst/>
            <a:rect l="l" t="t" r="r" b="b"/>
            <a:pathLst>
              <a:path w="1219835" h="762000" extrusionOk="0">
                <a:moveTo>
                  <a:pt x="0" y="381000"/>
                </a:moveTo>
                <a:lnTo>
                  <a:pt x="609600" y="0"/>
                </a:lnTo>
                <a:lnTo>
                  <a:pt x="1219238" y="381000"/>
                </a:lnTo>
                <a:lnTo>
                  <a:pt x="609600" y="762000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21" name="Google Shape;1021;p77"/>
          <p:cNvSpPr/>
          <p:nvPr/>
        </p:nvSpPr>
        <p:spPr>
          <a:xfrm>
            <a:off x="1809369" y="6215976"/>
            <a:ext cx="1898650" cy="635"/>
          </a:xfrm>
          <a:custGeom>
            <a:avLst/>
            <a:gdLst/>
            <a:ahLst/>
            <a:cxnLst/>
            <a:rect l="l" t="t" r="r" b="b"/>
            <a:pathLst>
              <a:path w="1898650" h="635" extrusionOk="0">
                <a:moveTo>
                  <a:pt x="1898650" y="0"/>
                </a:moveTo>
                <a:lnTo>
                  <a:pt x="0" y="38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22" name="Google Shape;1022;p77"/>
          <p:cNvSpPr/>
          <p:nvPr/>
        </p:nvSpPr>
        <p:spPr>
          <a:xfrm>
            <a:off x="1199730" y="4754498"/>
            <a:ext cx="635" cy="1081405"/>
          </a:xfrm>
          <a:custGeom>
            <a:avLst/>
            <a:gdLst/>
            <a:ahLst/>
            <a:cxnLst/>
            <a:rect l="l" t="t" r="r" b="b"/>
            <a:pathLst>
              <a:path w="634" h="1081404" extrusionOk="0">
                <a:moveTo>
                  <a:pt x="0" y="1080858"/>
                </a:moveTo>
                <a:lnTo>
                  <a:pt x="101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23" name="Google Shape;1023;p77"/>
          <p:cNvSpPr/>
          <p:nvPr/>
        </p:nvSpPr>
        <p:spPr>
          <a:xfrm>
            <a:off x="3565525" y="6067107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152400" y="300037"/>
                </a:moveTo>
                <a:lnTo>
                  <a:pt x="104217" y="292390"/>
                </a:lnTo>
                <a:lnTo>
                  <a:pt x="62380" y="271094"/>
                </a:lnTo>
                <a:lnTo>
                  <a:pt x="29394" y="238619"/>
                </a:lnTo>
                <a:lnTo>
                  <a:pt x="7766" y="197436"/>
                </a:lnTo>
                <a:lnTo>
                  <a:pt x="0" y="150012"/>
                </a:lnTo>
                <a:lnTo>
                  <a:pt x="7752" y="102638"/>
                </a:lnTo>
                <a:lnTo>
                  <a:pt x="29342" y="61482"/>
                </a:lnTo>
                <a:lnTo>
                  <a:pt x="62270" y="29011"/>
                </a:lnTo>
                <a:lnTo>
                  <a:pt x="104038" y="7694"/>
                </a:lnTo>
                <a:lnTo>
                  <a:pt x="152146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24" name="Google Shape;1024;p77"/>
          <p:cNvSpPr/>
          <p:nvPr/>
        </p:nvSpPr>
        <p:spPr>
          <a:xfrm>
            <a:off x="3974084" y="4971288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600" y="0"/>
                </a:lnTo>
                <a:lnTo>
                  <a:pt x="1219200" y="381000"/>
                </a:lnTo>
                <a:lnTo>
                  <a:pt x="609600" y="761961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25" name="Google Shape;1025;p77"/>
          <p:cNvSpPr txBox="1"/>
          <p:nvPr/>
        </p:nvSpPr>
        <p:spPr>
          <a:xfrm>
            <a:off x="4320921" y="5200777"/>
            <a:ext cx="784479" cy="285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Takes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77"/>
          <p:cNvSpPr/>
          <p:nvPr/>
        </p:nvSpPr>
        <p:spPr>
          <a:xfrm>
            <a:off x="4583684" y="4754498"/>
            <a:ext cx="635" cy="217170"/>
          </a:xfrm>
          <a:custGeom>
            <a:avLst/>
            <a:gdLst/>
            <a:ahLst/>
            <a:cxnLst/>
            <a:rect l="l" t="t" r="r" b="b"/>
            <a:pathLst>
              <a:path w="635" h="217170" extrusionOk="0">
                <a:moveTo>
                  <a:pt x="0" y="216788"/>
                </a:moveTo>
                <a:lnTo>
                  <a:pt x="507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27" name="Google Shape;1027;p77"/>
          <p:cNvSpPr/>
          <p:nvPr/>
        </p:nvSpPr>
        <p:spPr>
          <a:xfrm>
            <a:off x="4583684" y="5733250"/>
            <a:ext cx="635" cy="216535"/>
          </a:xfrm>
          <a:custGeom>
            <a:avLst/>
            <a:gdLst/>
            <a:ahLst/>
            <a:cxnLst/>
            <a:rect l="l" t="t" r="r" b="b"/>
            <a:pathLst>
              <a:path w="635" h="216535" extrusionOk="0">
                <a:moveTo>
                  <a:pt x="635" y="216026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28" name="Google Shape;1028;p77"/>
          <p:cNvSpPr/>
          <p:nvPr/>
        </p:nvSpPr>
        <p:spPr>
          <a:xfrm>
            <a:off x="5652134" y="4107179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600" y="0"/>
                </a:lnTo>
                <a:lnTo>
                  <a:pt x="1219199" y="381000"/>
                </a:lnTo>
                <a:lnTo>
                  <a:pt x="609600" y="762000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29" name="Google Shape;1029;p77"/>
          <p:cNvSpPr txBox="1"/>
          <p:nvPr/>
        </p:nvSpPr>
        <p:spPr>
          <a:xfrm>
            <a:off x="5798058" y="4336669"/>
            <a:ext cx="1136142" cy="235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Taught By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77"/>
          <p:cNvSpPr/>
          <p:nvPr/>
        </p:nvSpPr>
        <p:spPr>
          <a:xfrm>
            <a:off x="5460491" y="4487798"/>
            <a:ext cx="191770" cy="635"/>
          </a:xfrm>
          <a:custGeom>
            <a:avLst/>
            <a:gdLst/>
            <a:ahLst/>
            <a:cxnLst/>
            <a:rect l="l" t="t" r="r" b="b"/>
            <a:pathLst>
              <a:path w="191770" h="635" extrusionOk="0">
                <a:moveTo>
                  <a:pt x="0" y="0"/>
                </a:moveTo>
                <a:lnTo>
                  <a:pt x="191643" y="381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31" name="Google Shape;1031;p77"/>
          <p:cNvSpPr/>
          <p:nvPr/>
        </p:nvSpPr>
        <p:spPr>
          <a:xfrm>
            <a:off x="6871334" y="4487798"/>
            <a:ext cx="196850" cy="635"/>
          </a:xfrm>
          <a:custGeom>
            <a:avLst/>
            <a:gdLst/>
            <a:ahLst/>
            <a:cxnLst/>
            <a:rect l="l" t="t" r="r" b="b"/>
            <a:pathLst>
              <a:path w="196850" h="635" extrusionOk="0">
                <a:moveTo>
                  <a:pt x="0" y="381"/>
                </a:moveTo>
                <a:lnTo>
                  <a:pt x="196596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32" name="Google Shape;1032;p77"/>
          <p:cNvSpPr/>
          <p:nvPr/>
        </p:nvSpPr>
        <p:spPr>
          <a:xfrm>
            <a:off x="5456682" y="4334002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0" y="0"/>
                </a:moveTo>
                <a:lnTo>
                  <a:pt x="48182" y="7650"/>
                </a:lnTo>
                <a:lnTo>
                  <a:pt x="90019" y="28956"/>
                </a:lnTo>
                <a:lnTo>
                  <a:pt x="123005" y="61447"/>
                </a:lnTo>
                <a:lnTo>
                  <a:pt x="144633" y="102656"/>
                </a:lnTo>
                <a:lnTo>
                  <a:pt x="152400" y="150114"/>
                </a:lnTo>
                <a:lnTo>
                  <a:pt x="144647" y="197448"/>
                </a:lnTo>
                <a:lnTo>
                  <a:pt x="123057" y="238589"/>
                </a:lnTo>
                <a:lnTo>
                  <a:pt x="90129" y="271061"/>
                </a:lnTo>
                <a:lnTo>
                  <a:pt x="48361" y="292390"/>
                </a:lnTo>
                <a:lnTo>
                  <a:pt x="253" y="30010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33" name="Google Shape;1033;p77"/>
          <p:cNvSpPr/>
          <p:nvPr/>
        </p:nvSpPr>
        <p:spPr>
          <a:xfrm>
            <a:off x="7333742" y="2882138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600" y="0"/>
                </a:lnTo>
                <a:lnTo>
                  <a:pt x="1219200" y="381000"/>
                </a:lnTo>
                <a:lnTo>
                  <a:pt x="609600" y="762000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34" name="Google Shape;1034;p77"/>
          <p:cNvSpPr txBox="1"/>
          <p:nvPr/>
        </p:nvSpPr>
        <p:spPr>
          <a:xfrm>
            <a:off x="7543927" y="3111372"/>
            <a:ext cx="802640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77"/>
          <p:cNvSpPr/>
          <p:nvPr/>
        </p:nvSpPr>
        <p:spPr>
          <a:xfrm>
            <a:off x="5460491" y="3263138"/>
            <a:ext cx="1873250" cy="635"/>
          </a:xfrm>
          <a:custGeom>
            <a:avLst/>
            <a:gdLst/>
            <a:ahLst/>
            <a:cxnLst/>
            <a:rect l="l" t="t" r="r" b="b"/>
            <a:pathLst>
              <a:path w="1873250" h="635" extrusionOk="0">
                <a:moveTo>
                  <a:pt x="1873250" y="0"/>
                </a:moveTo>
                <a:lnTo>
                  <a:pt x="0" y="508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36" name="Google Shape;1036;p77"/>
          <p:cNvSpPr/>
          <p:nvPr/>
        </p:nvSpPr>
        <p:spPr>
          <a:xfrm>
            <a:off x="7943342" y="3644138"/>
            <a:ext cx="1270" cy="577215"/>
          </a:xfrm>
          <a:custGeom>
            <a:avLst/>
            <a:gdLst/>
            <a:ahLst/>
            <a:cxnLst/>
            <a:rect l="l" t="t" r="r" b="b"/>
            <a:pathLst>
              <a:path w="1270" h="577214" extrusionOk="0">
                <a:moveTo>
                  <a:pt x="0" y="0"/>
                </a:moveTo>
                <a:lnTo>
                  <a:pt x="888" y="576961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37" name="Google Shape;1037;p77"/>
          <p:cNvSpPr/>
          <p:nvPr/>
        </p:nvSpPr>
        <p:spPr>
          <a:xfrm>
            <a:off x="7795641" y="4077080"/>
            <a:ext cx="300355" cy="152400"/>
          </a:xfrm>
          <a:custGeom>
            <a:avLst/>
            <a:gdLst/>
            <a:ahLst/>
            <a:cxnLst/>
            <a:rect l="l" t="t" r="r" b="b"/>
            <a:pathLst>
              <a:path w="300354" h="152400" extrusionOk="0">
                <a:moveTo>
                  <a:pt x="0" y="152400"/>
                </a:moveTo>
                <a:lnTo>
                  <a:pt x="7650" y="104217"/>
                </a:lnTo>
                <a:lnTo>
                  <a:pt x="28955" y="62380"/>
                </a:lnTo>
                <a:lnTo>
                  <a:pt x="61447" y="29394"/>
                </a:lnTo>
                <a:lnTo>
                  <a:pt x="102656" y="7766"/>
                </a:lnTo>
                <a:lnTo>
                  <a:pt x="150113" y="0"/>
                </a:lnTo>
                <a:lnTo>
                  <a:pt x="197448" y="7752"/>
                </a:lnTo>
                <a:lnTo>
                  <a:pt x="238589" y="29342"/>
                </a:lnTo>
                <a:lnTo>
                  <a:pt x="271061" y="62270"/>
                </a:lnTo>
                <a:lnTo>
                  <a:pt x="292390" y="104038"/>
                </a:lnTo>
                <a:lnTo>
                  <a:pt x="300100" y="152146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38" name="Google Shape;1038;p77"/>
          <p:cNvSpPr/>
          <p:nvPr/>
        </p:nvSpPr>
        <p:spPr>
          <a:xfrm>
            <a:off x="4432808" y="5805258"/>
            <a:ext cx="300355" cy="153035"/>
          </a:xfrm>
          <a:custGeom>
            <a:avLst/>
            <a:gdLst/>
            <a:ahLst/>
            <a:cxnLst/>
            <a:rect l="l" t="t" r="r" b="b"/>
            <a:pathLst>
              <a:path w="300354" h="153035" extrusionOk="0">
                <a:moveTo>
                  <a:pt x="0" y="152412"/>
                </a:moveTo>
                <a:lnTo>
                  <a:pt x="7637" y="104238"/>
                </a:lnTo>
                <a:lnTo>
                  <a:pt x="28911" y="62399"/>
                </a:lnTo>
                <a:lnTo>
                  <a:pt x="61365" y="29406"/>
                </a:lnTo>
                <a:lnTo>
                  <a:pt x="102542" y="7770"/>
                </a:lnTo>
                <a:lnTo>
                  <a:pt x="149987" y="0"/>
                </a:lnTo>
                <a:lnTo>
                  <a:pt x="197370" y="7757"/>
                </a:lnTo>
                <a:lnTo>
                  <a:pt x="238517" y="29361"/>
                </a:lnTo>
                <a:lnTo>
                  <a:pt x="270971" y="62309"/>
                </a:lnTo>
                <a:lnTo>
                  <a:pt x="292275" y="104096"/>
                </a:lnTo>
                <a:lnTo>
                  <a:pt x="299974" y="152222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39" name="Google Shape;1039;p77"/>
          <p:cNvSpPr/>
          <p:nvPr/>
        </p:nvSpPr>
        <p:spPr>
          <a:xfrm>
            <a:off x="4435094" y="4751323"/>
            <a:ext cx="300355" cy="152400"/>
          </a:xfrm>
          <a:custGeom>
            <a:avLst/>
            <a:gdLst/>
            <a:ahLst/>
            <a:cxnLst/>
            <a:rect l="l" t="t" r="r" b="b"/>
            <a:pathLst>
              <a:path w="300354" h="152400" extrusionOk="0">
                <a:moveTo>
                  <a:pt x="300100" y="0"/>
                </a:moveTo>
                <a:lnTo>
                  <a:pt x="292451" y="48182"/>
                </a:lnTo>
                <a:lnTo>
                  <a:pt x="271153" y="90019"/>
                </a:lnTo>
                <a:lnTo>
                  <a:pt x="238680" y="123005"/>
                </a:lnTo>
                <a:lnTo>
                  <a:pt x="197509" y="144633"/>
                </a:lnTo>
                <a:lnTo>
                  <a:pt x="150113" y="152400"/>
                </a:lnTo>
                <a:lnTo>
                  <a:pt x="102717" y="144647"/>
                </a:lnTo>
                <a:lnTo>
                  <a:pt x="61539" y="123057"/>
                </a:lnTo>
                <a:lnTo>
                  <a:pt x="29047" y="90129"/>
                </a:lnTo>
                <a:lnTo>
                  <a:pt x="7711" y="48361"/>
                </a:lnTo>
                <a:lnTo>
                  <a:pt x="0" y="253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40" name="Google Shape;1040;p77"/>
          <p:cNvSpPr txBox="1"/>
          <p:nvPr/>
        </p:nvSpPr>
        <p:spPr>
          <a:xfrm>
            <a:off x="4164584" y="6099073"/>
            <a:ext cx="838835" cy="280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77"/>
          <p:cNvSpPr txBox="1"/>
          <p:nvPr/>
        </p:nvSpPr>
        <p:spPr>
          <a:xfrm>
            <a:off x="902919" y="6109665"/>
            <a:ext cx="594995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42060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7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30619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Example – E/R Diagram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1046" name="Google Shape;1046;p7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24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48" name="Google Shape;1048;p78"/>
          <p:cNvSpPr txBox="1"/>
          <p:nvPr/>
        </p:nvSpPr>
        <p:spPr>
          <a:xfrm>
            <a:off x="535940" y="1620773"/>
            <a:ext cx="7018020" cy="521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Lecturer tutors a number of Students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78"/>
          <p:cNvSpPr/>
          <p:nvPr/>
        </p:nvSpPr>
        <p:spPr>
          <a:xfrm>
            <a:off x="3708019" y="5949276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96"/>
                </a:lnTo>
                <a:lnTo>
                  <a:pt x="26019" y="26038"/>
                </a:lnTo>
                <a:lnTo>
                  <a:pt x="54274" y="6986"/>
                </a:lnTo>
                <a:lnTo>
                  <a:pt x="88900" y="0"/>
                </a:lnTo>
                <a:lnTo>
                  <a:pt x="1663700" y="0"/>
                </a:lnTo>
                <a:lnTo>
                  <a:pt x="1698271" y="6986"/>
                </a:lnTo>
                <a:lnTo>
                  <a:pt x="1726533" y="26038"/>
                </a:lnTo>
                <a:lnTo>
                  <a:pt x="1745603" y="54296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03" y="479103"/>
                </a:lnTo>
                <a:lnTo>
                  <a:pt x="1726533" y="507361"/>
                </a:lnTo>
                <a:lnTo>
                  <a:pt x="1698271" y="526413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13"/>
                </a:lnTo>
                <a:lnTo>
                  <a:pt x="26019" y="507361"/>
                </a:lnTo>
                <a:lnTo>
                  <a:pt x="6979" y="479103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50" name="Google Shape;1050;p78"/>
          <p:cNvSpPr/>
          <p:nvPr/>
        </p:nvSpPr>
        <p:spPr>
          <a:xfrm>
            <a:off x="323532" y="4221098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86" y="54274"/>
                </a:lnTo>
                <a:lnTo>
                  <a:pt x="26038" y="26019"/>
                </a:lnTo>
                <a:lnTo>
                  <a:pt x="54296" y="6979"/>
                </a:lnTo>
                <a:lnTo>
                  <a:pt x="88900" y="0"/>
                </a:lnTo>
                <a:lnTo>
                  <a:pt x="1663636" y="0"/>
                </a:lnTo>
                <a:lnTo>
                  <a:pt x="1698261" y="6979"/>
                </a:lnTo>
                <a:lnTo>
                  <a:pt x="1726517" y="26019"/>
                </a:lnTo>
                <a:lnTo>
                  <a:pt x="1745557" y="54274"/>
                </a:lnTo>
                <a:lnTo>
                  <a:pt x="1752536" y="88900"/>
                </a:lnTo>
                <a:lnTo>
                  <a:pt x="1752536" y="444500"/>
                </a:lnTo>
                <a:lnTo>
                  <a:pt x="1745557" y="479125"/>
                </a:lnTo>
                <a:lnTo>
                  <a:pt x="1726517" y="507380"/>
                </a:lnTo>
                <a:lnTo>
                  <a:pt x="1698261" y="526420"/>
                </a:lnTo>
                <a:lnTo>
                  <a:pt x="1663636" y="533400"/>
                </a:lnTo>
                <a:lnTo>
                  <a:pt x="88900" y="533400"/>
                </a:lnTo>
                <a:lnTo>
                  <a:pt x="54296" y="526420"/>
                </a:lnTo>
                <a:lnTo>
                  <a:pt x="26038" y="507380"/>
                </a:lnTo>
                <a:lnTo>
                  <a:pt x="6986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51" name="Google Shape;1051;p78"/>
          <p:cNvSpPr txBox="1"/>
          <p:nvPr/>
        </p:nvSpPr>
        <p:spPr>
          <a:xfrm>
            <a:off x="829767" y="4320158"/>
            <a:ext cx="73977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78"/>
          <p:cNvSpPr/>
          <p:nvPr/>
        </p:nvSpPr>
        <p:spPr>
          <a:xfrm>
            <a:off x="3707891" y="4221098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663700" y="0"/>
                </a:lnTo>
                <a:lnTo>
                  <a:pt x="1698325" y="6979"/>
                </a:lnTo>
                <a:lnTo>
                  <a:pt x="1726580" y="26019"/>
                </a:lnTo>
                <a:lnTo>
                  <a:pt x="1745620" y="54274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20" y="479125"/>
                </a:lnTo>
                <a:lnTo>
                  <a:pt x="1726580" y="507380"/>
                </a:lnTo>
                <a:lnTo>
                  <a:pt x="1698325" y="526420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53" name="Google Shape;1053;p78"/>
          <p:cNvSpPr txBox="1"/>
          <p:nvPr/>
        </p:nvSpPr>
        <p:spPr>
          <a:xfrm>
            <a:off x="4169155" y="4320158"/>
            <a:ext cx="829944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78"/>
          <p:cNvSpPr/>
          <p:nvPr/>
        </p:nvSpPr>
        <p:spPr>
          <a:xfrm>
            <a:off x="3707891" y="2996945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663700" y="0"/>
                </a:lnTo>
                <a:lnTo>
                  <a:pt x="1698325" y="6979"/>
                </a:lnTo>
                <a:lnTo>
                  <a:pt x="1726580" y="26019"/>
                </a:lnTo>
                <a:lnTo>
                  <a:pt x="1745620" y="54274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20" y="479125"/>
                </a:lnTo>
                <a:lnTo>
                  <a:pt x="1726580" y="507380"/>
                </a:lnTo>
                <a:lnTo>
                  <a:pt x="1698325" y="526420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55" name="Google Shape;1055;p78"/>
          <p:cNvSpPr txBox="1"/>
          <p:nvPr/>
        </p:nvSpPr>
        <p:spPr>
          <a:xfrm>
            <a:off x="3942079" y="3095752"/>
            <a:ext cx="128460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Department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78"/>
          <p:cNvSpPr/>
          <p:nvPr/>
        </p:nvSpPr>
        <p:spPr>
          <a:xfrm>
            <a:off x="7067931" y="4221098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663700" y="0"/>
                </a:lnTo>
                <a:lnTo>
                  <a:pt x="1698271" y="6979"/>
                </a:lnTo>
                <a:lnTo>
                  <a:pt x="1726533" y="26019"/>
                </a:lnTo>
                <a:lnTo>
                  <a:pt x="1745603" y="54274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03" y="479125"/>
                </a:lnTo>
                <a:lnTo>
                  <a:pt x="1726533" y="507380"/>
                </a:lnTo>
                <a:lnTo>
                  <a:pt x="1698271" y="526420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57" name="Google Shape;1057;p78"/>
          <p:cNvSpPr txBox="1"/>
          <p:nvPr/>
        </p:nvSpPr>
        <p:spPr>
          <a:xfrm>
            <a:off x="7502143" y="4320158"/>
            <a:ext cx="88773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78"/>
          <p:cNvSpPr/>
          <p:nvPr/>
        </p:nvSpPr>
        <p:spPr>
          <a:xfrm>
            <a:off x="589330" y="2883407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599" y="0"/>
                </a:lnTo>
                <a:lnTo>
                  <a:pt x="1219149" y="381000"/>
                </a:lnTo>
                <a:lnTo>
                  <a:pt x="609599" y="761999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59" name="Google Shape;1059;p78"/>
          <p:cNvSpPr txBox="1"/>
          <p:nvPr/>
        </p:nvSpPr>
        <p:spPr>
          <a:xfrm>
            <a:off x="905052" y="3112642"/>
            <a:ext cx="58737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Offers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78"/>
          <p:cNvSpPr/>
          <p:nvPr/>
        </p:nvSpPr>
        <p:spPr>
          <a:xfrm>
            <a:off x="1808479" y="3263646"/>
            <a:ext cx="1899920" cy="1270"/>
          </a:xfrm>
          <a:custGeom>
            <a:avLst/>
            <a:gdLst/>
            <a:ahLst/>
            <a:cxnLst/>
            <a:rect l="l" t="t" r="r" b="b"/>
            <a:pathLst>
              <a:path w="1899920" h="1270" extrusionOk="0">
                <a:moveTo>
                  <a:pt x="1899411" y="0"/>
                </a:moveTo>
                <a:lnTo>
                  <a:pt x="0" y="762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61" name="Google Shape;1061;p78"/>
          <p:cNvSpPr/>
          <p:nvPr/>
        </p:nvSpPr>
        <p:spPr>
          <a:xfrm>
            <a:off x="1198930" y="3645408"/>
            <a:ext cx="1270" cy="575945"/>
          </a:xfrm>
          <a:custGeom>
            <a:avLst/>
            <a:gdLst/>
            <a:ahLst/>
            <a:cxnLst/>
            <a:rect l="l" t="t" r="r" b="b"/>
            <a:pathLst>
              <a:path w="1269" h="575945" extrusionOk="0">
                <a:moveTo>
                  <a:pt x="901" y="575691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62" name="Google Shape;1062;p78"/>
          <p:cNvSpPr/>
          <p:nvPr/>
        </p:nvSpPr>
        <p:spPr>
          <a:xfrm>
            <a:off x="1043609" y="4077080"/>
            <a:ext cx="300355" cy="152400"/>
          </a:xfrm>
          <a:custGeom>
            <a:avLst/>
            <a:gdLst/>
            <a:ahLst/>
            <a:cxnLst/>
            <a:rect l="l" t="t" r="r" b="b"/>
            <a:pathLst>
              <a:path w="300355" h="152400" extrusionOk="0">
                <a:moveTo>
                  <a:pt x="0" y="152400"/>
                </a:moveTo>
                <a:lnTo>
                  <a:pt x="7647" y="104217"/>
                </a:lnTo>
                <a:lnTo>
                  <a:pt x="28942" y="62380"/>
                </a:lnTo>
                <a:lnTo>
                  <a:pt x="61414" y="29394"/>
                </a:lnTo>
                <a:lnTo>
                  <a:pt x="102594" y="7766"/>
                </a:lnTo>
                <a:lnTo>
                  <a:pt x="150012" y="0"/>
                </a:lnTo>
                <a:lnTo>
                  <a:pt x="197371" y="7752"/>
                </a:lnTo>
                <a:lnTo>
                  <a:pt x="238527" y="29342"/>
                </a:lnTo>
                <a:lnTo>
                  <a:pt x="271007" y="62270"/>
                </a:lnTo>
                <a:lnTo>
                  <a:pt x="292339" y="104038"/>
                </a:lnTo>
                <a:lnTo>
                  <a:pt x="300050" y="152146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63" name="Google Shape;1063;p78"/>
          <p:cNvSpPr/>
          <p:nvPr/>
        </p:nvSpPr>
        <p:spPr>
          <a:xfrm>
            <a:off x="2267711" y="4107179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600" y="0"/>
                </a:lnTo>
                <a:lnTo>
                  <a:pt x="1219200" y="381000"/>
                </a:lnTo>
                <a:lnTo>
                  <a:pt x="609600" y="762000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64" name="Google Shape;1064;p78"/>
          <p:cNvSpPr txBox="1"/>
          <p:nvPr/>
        </p:nvSpPr>
        <p:spPr>
          <a:xfrm>
            <a:off x="2480310" y="4336669"/>
            <a:ext cx="79565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Includes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78"/>
          <p:cNvSpPr/>
          <p:nvPr/>
        </p:nvSpPr>
        <p:spPr>
          <a:xfrm>
            <a:off x="2076069" y="4487798"/>
            <a:ext cx="191770" cy="635"/>
          </a:xfrm>
          <a:custGeom>
            <a:avLst/>
            <a:gdLst/>
            <a:ahLst/>
            <a:cxnLst/>
            <a:rect l="l" t="t" r="r" b="b"/>
            <a:pathLst>
              <a:path w="191769" h="635" extrusionOk="0">
                <a:moveTo>
                  <a:pt x="0" y="0"/>
                </a:moveTo>
                <a:lnTo>
                  <a:pt x="191643" y="381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66" name="Google Shape;1066;p78"/>
          <p:cNvSpPr/>
          <p:nvPr/>
        </p:nvSpPr>
        <p:spPr>
          <a:xfrm>
            <a:off x="3486911" y="4487798"/>
            <a:ext cx="220979" cy="635"/>
          </a:xfrm>
          <a:custGeom>
            <a:avLst/>
            <a:gdLst/>
            <a:ahLst/>
            <a:cxnLst/>
            <a:rect l="l" t="t" r="r" b="b"/>
            <a:pathLst>
              <a:path w="220979" h="635" extrusionOk="0">
                <a:moveTo>
                  <a:pt x="0" y="381"/>
                </a:moveTo>
                <a:lnTo>
                  <a:pt x="220979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67" name="Google Shape;1067;p78"/>
          <p:cNvSpPr/>
          <p:nvPr/>
        </p:nvSpPr>
        <p:spPr>
          <a:xfrm>
            <a:off x="2072385" y="4338954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0" y="0"/>
                </a:moveTo>
                <a:lnTo>
                  <a:pt x="48134" y="7637"/>
                </a:lnTo>
                <a:lnTo>
                  <a:pt x="89964" y="28911"/>
                </a:lnTo>
                <a:lnTo>
                  <a:pt x="122968" y="61365"/>
                </a:lnTo>
                <a:lnTo>
                  <a:pt x="144621" y="102542"/>
                </a:lnTo>
                <a:lnTo>
                  <a:pt x="152400" y="149987"/>
                </a:lnTo>
                <a:lnTo>
                  <a:pt x="144634" y="197370"/>
                </a:lnTo>
                <a:lnTo>
                  <a:pt x="123013" y="238517"/>
                </a:lnTo>
                <a:lnTo>
                  <a:pt x="90047" y="270971"/>
                </a:lnTo>
                <a:lnTo>
                  <a:pt x="48247" y="292275"/>
                </a:lnTo>
                <a:lnTo>
                  <a:pt x="126" y="299974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68" name="Google Shape;1068;p78"/>
          <p:cNvSpPr/>
          <p:nvPr/>
        </p:nvSpPr>
        <p:spPr>
          <a:xfrm>
            <a:off x="3563873" y="4335907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152400" y="300101"/>
                </a:moveTo>
                <a:lnTo>
                  <a:pt x="104217" y="292451"/>
                </a:lnTo>
                <a:lnTo>
                  <a:pt x="62380" y="271153"/>
                </a:lnTo>
                <a:lnTo>
                  <a:pt x="29394" y="238680"/>
                </a:lnTo>
                <a:lnTo>
                  <a:pt x="7766" y="197509"/>
                </a:lnTo>
                <a:lnTo>
                  <a:pt x="0" y="150114"/>
                </a:lnTo>
                <a:lnTo>
                  <a:pt x="7753" y="102717"/>
                </a:lnTo>
                <a:lnTo>
                  <a:pt x="29350" y="61539"/>
                </a:lnTo>
                <a:lnTo>
                  <a:pt x="62298" y="29047"/>
                </a:lnTo>
                <a:lnTo>
                  <a:pt x="104103" y="7711"/>
                </a:lnTo>
                <a:lnTo>
                  <a:pt x="152273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69" name="Google Shape;1069;p78"/>
          <p:cNvSpPr/>
          <p:nvPr/>
        </p:nvSpPr>
        <p:spPr>
          <a:xfrm>
            <a:off x="590130" y="5835357"/>
            <a:ext cx="1219835" cy="762000"/>
          </a:xfrm>
          <a:custGeom>
            <a:avLst/>
            <a:gdLst/>
            <a:ahLst/>
            <a:cxnLst/>
            <a:rect l="l" t="t" r="r" b="b"/>
            <a:pathLst>
              <a:path w="1219835" h="762000" extrusionOk="0">
                <a:moveTo>
                  <a:pt x="0" y="381000"/>
                </a:moveTo>
                <a:lnTo>
                  <a:pt x="609600" y="0"/>
                </a:lnTo>
                <a:lnTo>
                  <a:pt x="1219238" y="381000"/>
                </a:lnTo>
                <a:lnTo>
                  <a:pt x="609600" y="762000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70" name="Google Shape;1070;p78"/>
          <p:cNvSpPr/>
          <p:nvPr/>
        </p:nvSpPr>
        <p:spPr>
          <a:xfrm>
            <a:off x="1809369" y="6215976"/>
            <a:ext cx="1898650" cy="635"/>
          </a:xfrm>
          <a:custGeom>
            <a:avLst/>
            <a:gdLst/>
            <a:ahLst/>
            <a:cxnLst/>
            <a:rect l="l" t="t" r="r" b="b"/>
            <a:pathLst>
              <a:path w="1898650" h="635" extrusionOk="0">
                <a:moveTo>
                  <a:pt x="1898650" y="0"/>
                </a:moveTo>
                <a:lnTo>
                  <a:pt x="0" y="38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71" name="Google Shape;1071;p78"/>
          <p:cNvSpPr/>
          <p:nvPr/>
        </p:nvSpPr>
        <p:spPr>
          <a:xfrm>
            <a:off x="1199730" y="4754498"/>
            <a:ext cx="635" cy="1081405"/>
          </a:xfrm>
          <a:custGeom>
            <a:avLst/>
            <a:gdLst/>
            <a:ahLst/>
            <a:cxnLst/>
            <a:rect l="l" t="t" r="r" b="b"/>
            <a:pathLst>
              <a:path w="634" h="1081404" extrusionOk="0">
                <a:moveTo>
                  <a:pt x="0" y="1080858"/>
                </a:moveTo>
                <a:lnTo>
                  <a:pt x="101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72" name="Google Shape;1072;p78"/>
          <p:cNvSpPr/>
          <p:nvPr/>
        </p:nvSpPr>
        <p:spPr>
          <a:xfrm>
            <a:off x="3565525" y="6067107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152400" y="300037"/>
                </a:moveTo>
                <a:lnTo>
                  <a:pt x="104217" y="292390"/>
                </a:lnTo>
                <a:lnTo>
                  <a:pt x="62380" y="271094"/>
                </a:lnTo>
                <a:lnTo>
                  <a:pt x="29394" y="238619"/>
                </a:lnTo>
                <a:lnTo>
                  <a:pt x="7766" y="197436"/>
                </a:lnTo>
                <a:lnTo>
                  <a:pt x="0" y="150012"/>
                </a:lnTo>
                <a:lnTo>
                  <a:pt x="7752" y="102638"/>
                </a:lnTo>
                <a:lnTo>
                  <a:pt x="29342" y="61482"/>
                </a:lnTo>
                <a:lnTo>
                  <a:pt x="62270" y="29011"/>
                </a:lnTo>
                <a:lnTo>
                  <a:pt x="104038" y="7694"/>
                </a:lnTo>
                <a:lnTo>
                  <a:pt x="152146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73" name="Google Shape;1073;p78"/>
          <p:cNvSpPr/>
          <p:nvPr/>
        </p:nvSpPr>
        <p:spPr>
          <a:xfrm>
            <a:off x="3974084" y="4971288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600" y="0"/>
                </a:lnTo>
                <a:lnTo>
                  <a:pt x="1219200" y="381000"/>
                </a:lnTo>
                <a:lnTo>
                  <a:pt x="609600" y="761961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74" name="Google Shape;1074;p78"/>
          <p:cNvSpPr txBox="1"/>
          <p:nvPr/>
        </p:nvSpPr>
        <p:spPr>
          <a:xfrm>
            <a:off x="4320921" y="5200777"/>
            <a:ext cx="784479" cy="285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Takes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78"/>
          <p:cNvSpPr/>
          <p:nvPr/>
        </p:nvSpPr>
        <p:spPr>
          <a:xfrm>
            <a:off x="4583684" y="4754498"/>
            <a:ext cx="635" cy="217170"/>
          </a:xfrm>
          <a:custGeom>
            <a:avLst/>
            <a:gdLst/>
            <a:ahLst/>
            <a:cxnLst/>
            <a:rect l="l" t="t" r="r" b="b"/>
            <a:pathLst>
              <a:path w="635" h="217170" extrusionOk="0">
                <a:moveTo>
                  <a:pt x="0" y="216788"/>
                </a:moveTo>
                <a:lnTo>
                  <a:pt x="507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76" name="Google Shape;1076;p78"/>
          <p:cNvSpPr/>
          <p:nvPr/>
        </p:nvSpPr>
        <p:spPr>
          <a:xfrm>
            <a:off x="4583684" y="5733250"/>
            <a:ext cx="635" cy="216535"/>
          </a:xfrm>
          <a:custGeom>
            <a:avLst/>
            <a:gdLst/>
            <a:ahLst/>
            <a:cxnLst/>
            <a:rect l="l" t="t" r="r" b="b"/>
            <a:pathLst>
              <a:path w="635" h="216535" extrusionOk="0">
                <a:moveTo>
                  <a:pt x="635" y="216026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77" name="Google Shape;1077;p78"/>
          <p:cNvSpPr/>
          <p:nvPr/>
        </p:nvSpPr>
        <p:spPr>
          <a:xfrm>
            <a:off x="5652134" y="4107179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600" y="0"/>
                </a:lnTo>
                <a:lnTo>
                  <a:pt x="1219199" y="381000"/>
                </a:lnTo>
                <a:lnTo>
                  <a:pt x="609600" y="762000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78" name="Google Shape;1078;p78"/>
          <p:cNvSpPr txBox="1"/>
          <p:nvPr/>
        </p:nvSpPr>
        <p:spPr>
          <a:xfrm>
            <a:off x="5798058" y="4336669"/>
            <a:ext cx="1288542" cy="235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Taught By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78"/>
          <p:cNvSpPr/>
          <p:nvPr/>
        </p:nvSpPr>
        <p:spPr>
          <a:xfrm>
            <a:off x="5460491" y="4487798"/>
            <a:ext cx="191770" cy="635"/>
          </a:xfrm>
          <a:custGeom>
            <a:avLst/>
            <a:gdLst/>
            <a:ahLst/>
            <a:cxnLst/>
            <a:rect l="l" t="t" r="r" b="b"/>
            <a:pathLst>
              <a:path w="191770" h="635" extrusionOk="0">
                <a:moveTo>
                  <a:pt x="0" y="0"/>
                </a:moveTo>
                <a:lnTo>
                  <a:pt x="191643" y="381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80" name="Google Shape;1080;p78"/>
          <p:cNvSpPr/>
          <p:nvPr/>
        </p:nvSpPr>
        <p:spPr>
          <a:xfrm>
            <a:off x="6871334" y="4487798"/>
            <a:ext cx="196850" cy="635"/>
          </a:xfrm>
          <a:custGeom>
            <a:avLst/>
            <a:gdLst/>
            <a:ahLst/>
            <a:cxnLst/>
            <a:rect l="l" t="t" r="r" b="b"/>
            <a:pathLst>
              <a:path w="196850" h="635" extrusionOk="0">
                <a:moveTo>
                  <a:pt x="0" y="381"/>
                </a:moveTo>
                <a:lnTo>
                  <a:pt x="196596" y="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81" name="Google Shape;1081;p78"/>
          <p:cNvSpPr/>
          <p:nvPr/>
        </p:nvSpPr>
        <p:spPr>
          <a:xfrm>
            <a:off x="5456682" y="4334002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0" y="0"/>
                </a:moveTo>
                <a:lnTo>
                  <a:pt x="48182" y="7650"/>
                </a:lnTo>
                <a:lnTo>
                  <a:pt x="90019" y="28956"/>
                </a:lnTo>
                <a:lnTo>
                  <a:pt x="123005" y="61447"/>
                </a:lnTo>
                <a:lnTo>
                  <a:pt x="144633" y="102656"/>
                </a:lnTo>
                <a:lnTo>
                  <a:pt x="152400" y="150114"/>
                </a:lnTo>
                <a:lnTo>
                  <a:pt x="144647" y="197448"/>
                </a:lnTo>
                <a:lnTo>
                  <a:pt x="123057" y="238589"/>
                </a:lnTo>
                <a:lnTo>
                  <a:pt x="90129" y="271061"/>
                </a:lnTo>
                <a:lnTo>
                  <a:pt x="48361" y="292390"/>
                </a:lnTo>
                <a:lnTo>
                  <a:pt x="253" y="300100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82" name="Google Shape;1082;p78"/>
          <p:cNvSpPr/>
          <p:nvPr/>
        </p:nvSpPr>
        <p:spPr>
          <a:xfrm>
            <a:off x="7333742" y="2882138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600" y="0"/>
                </a:lnTo>
                <a:lnTo>
                  <a:pt x="1219200" y="381000"/>
                </a:lnTo>
                <a:lnTo>
                  <a:pt x="609600" y="762000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83" name="Google Shape;1083;p78"/>
          <p:cNvSpPr txBox="1"/>
          <p:nvPr/>
        </p:nvSpPr>
        <p:spPr>
          <a:xfrm>
            <a:off x="7543927" y="3111372"/>
            <a:ext cx="802640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Employs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78"/>
          <p:cNvSpPr/>
          <p:nvPr/>
        </p:nvSpPr>
        <p:spPr>
          <a:xfrm>
            <a:off x="5460491" y="3263138"/>
            <a:ext cx="1873250" cy="635"/>
          </a:xfrm>
          <a:custGeom>
            <a:avLst/>
            <a:gdLst/>
            <a:ahLst/>
            <a:cxnLst/>
            <a:rect l="l" t="t" r="r" b="b"/>
            <a:pathLst>
              <a:path w="1873250" h="635" extrusionOk="0">
                <a:moveTo>
                  <a:pt x="1873250" y="0"/>
                </a:moveTo>
                <a:lnTo>
                  <a:pt x="0" y="508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85" name="Google Shape;1085;p78"/>
          <p:cNvSpPr/>
          <p:nvPr/>
        </p:nvSpPr>
        <p:spPr>
          <a:xfrm>
            <a:off x="7943342" y="3644138"/>
            <a:ext cx="1270" cy="577215"/>
          </a:xfrm>
          <a:custGeom>
            <a:avLst/>
            <a:gdLst/>
            <a:ahLst/>
            <a:cxnLst/>
            <a:rect l="l" t="t" r="r" b="b"/>
            <a:pathLst>
              <a:path w="1270" h="577214" extrusionOk="0">
                <a:moveTo>
                  <a:pt x="0" y="0"/>
                </a:moveTo>
                <a:lnTo>
                  <a:pt x="888" y="576961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86" name="Google Shape;1086;p78"/>
          <p:cNvSpPr/>
          <p:nvPr/>
        </p:nvSpPr>
        <p:spPr>
          <a:xfrm>
            <a:off x="7795641" y="4077080"/>
            <a:ext cx="300355" cy="152400"/>
          </a:xfrm>
          <a:custGeom>
            <a:avLst/>
            <a:gdLst/>
            <a:ahLst/>
            <a:cxnLst/>
            <a:rect l="l" t="t" r="r" b="b"/>
            <a:pathLst>
              <a:path w="300354" h="152400" extrusionOk="0">
                <a:moveTo>
                  <a:pt x="0" y="152400"/>
                </a:moveTo>
                <a:lnTo>
                  <a:pt x="7650" y="104217"/>
                </a:lnTo>
                <a:lnTo>
                  <a:pt x="28955" y="62380"/>
                </a:lnTo>
                <a:lnTo>
                  <a:pt x="61447" y="29394"/>
                </a:lnTo>
                <a:lnTo>
                  <a:pt x="102656" y="7766"/>
                </a:lnTo>
                <a:lnTo>
                  <a:pt x="150113" y="0"/>
                </a:lnTo>
                <a:lnTo>
                  <a:pt x="197448" y="7752"/>
                </a:lnTo>
                <a:lnTo>
                  <a:pt x="238589" y="29342"/>
                </a:lnTo>
                <a:lnTo>
                  <a:pt x="271061" y="62270"/>
                </a:lnTo>
                <a:lnTo>
                  <a:pt x="292390" y="104038"/>
                </a:lnTo>
                <a:lnTo>
                  <a:pt x="300100" y="152146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87" name="Google Shape;1087;p78"/>
          <p:cNvSpPr/>
          <p:nvPr/>
        </p:nvSpPr>
        <p:spPr>
          <a:xfrm>
            <a:off x="7332471" y="5835154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0999"/>
                </a:moveTo>
                <a:lnTo>
                  <a:pt x="609600" y="0"/>
                </a:lnTo>
                <a:lnTo>
                  <a:pt x="1219200" y="380999"/>
                </a:lnTo>
                <a:lnTo>
                  <a:pt x="609600" y="761999"/>
                </a:lnTo>
                <a:lnTo>
                  <a:pt x="0" y="380999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88" name="Google Shape;1088;p78"/>
          <p:cNvSpPr/>
          <p:nvPr/>
        </p:nvSpPr>
        <p:spPr>
          <a:xfrm>
            <a:off x="7942071" y="4754498"/>
            <a:ext cx="2540" cy="1080770"/>
          </a:xfrm>
          <a:custGeom>
            <a:avLst/>
            <a:gdLst/>
            <a:ahLst/>
            <a:cxnLst/>
            <a:rect l="l" t="t" r="r" b="b"/>
            <a:pathLst>
              <a:path w="2540" h="1080770" extrusionOk="0">
                <a:moveTo>
                  <a:pt x="0" y="1080655"/>
                </a:moveTo>
                <a:lnTo>
                  <a:pt x="2158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89" name="Google Shape;1089;p78"/>
          <p:cNvSpPr/>
          <p:nvPr/>
        </p:nvSpPr>
        <p:spPr>
          <a:xfrm>
            <a:off x="5460619" y="6215976"/>
            <a:ext cx="1871980" cy="635"/>
          </a:xfrm>
          <a:custGeom>
            <a:avLst/>
            <a:gdLst/>
            <a:ahLst/>
            <a:cxnLst/>
            <a:rect l="l" t="t" r="r" b="b"/>
            <a:pathLst>
              <a:path w="1871979" h="635" extrusionOk="0">
                <a:moveTo>
                  <a:pt x="1871852" y="177"/>
                </a:moveTo>
                <a:lnTo>
                  <a:pt x="0" y="0"/>
                </a:lnTo>
              </a:path>
            </a:pathLst>
          </a:custGeom>
          <a:noFill/>
          <a:ln w="190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90" name="Google Shape;1090;p78"/>
          <p:cNvSpPr/>
          <p:nvPr/>
        </p:nvSpPr>
        <p:spPr>
          <a:xfrm>
            <a:off x="5455158" y="6064148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0" y="0"/>
                </a:moveTo>
                <a:lnTo>
                  <a:pt x="48182" y="7647"/>
                </a:lnTo>
                <a:lnTo>
                  <a:pt x="90019" y="28942"/>
                </a:lnTo>
                <a:lnTo>
                  <a:pt x="123005" y="61414"/>
                </a:lnTo>
                <a:lnTo>
                  <a:pt x="144633" y="102594"/>
                </a:lnTo>
                <a:lnTo>
                  <a:pt x="152400" y="150012"/>
                </a:lnTo>
                <a:lnTo>
                  <a:pt x="144634" y="197392"/>
                </a:lnTo>
                <a:lnTo>
                  <a:pt x="123013" y="238551"/>
                </a:lnTo>
                <a:lnTo>
                  <a:pt x="90047" y="271022"/>
                </a:lnTo>
                <a:lnTo>
                  <a:pt x="48247" y="292336"/>
                </a:lnTo>
                <a:lnTo>
                  <a:pt x="126" y="300024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91" name="Google Shape;1091;p78"/>
          <p:cNvSpPr/>
          <p:nvPr/>
        </p:nvSpPr>
        <p:spPr>
          <a:xfrm>
            <a:off x="4432808" y="5805258"/>
            <a:ext cx="300355" cy="153035"/>
          </a:xfrm>
          <a:custGeom>
            <a:avLst/>
            <a:gdLst/>
            <a:ahLst/>
            <a:cxnLst/>
            <a:rect l="l" t="t" r="r" b="b"/>
            <a:pathLst>
              <a:path w="300354" h="153035" extrusionOk="0">
                <a:moveTo>
                  <a:pt x="0" y="152412"/>
                </a:moveTo>
                <a:lnTo>
                  <a:pt x="7637" y="104238"/>
                </a:lnTo>
                <a:lnTo>
                  <a:pt x="28911" y="62399"/>
                </a:lnTo>
                <a:lnTo>
                  <a:pt x="61365" y="29406"/>
                </a:lnTo>
                <a:lnTo>
                  <a:pt x="102542" y="7770"/>
                </a:lnTo>
                <a:lnTo>
                  <a:pt x="149987" y="0"/>
                </a:lnTo>
                <a:lnTo>
                  <a:pt x="197370" y="7757"/>
                </a:lnTo>
                <a:lnTo>
                  <a:pt x="238517" y="29361"/>
                </a:lnTo>
                <a:lnTo>
                  <a:pt x="270971" y="62309"/>
                </a:lnTo>
                <a:lnTo>
                  <a:pt x="292275" y="104096"/>
                </a:lnTo>
                <a:lnTo>
                  <a:pt x="299974" y="152222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92" name="Google Shape;1092;p78"/>
          <p:cNvSpPr/>
          <p:nvPr/>
        </p:nvSpPr>
        <p:spPr>
          <a:xfrm>
            <a:off x="4435094" y="4751323"/>
            <a:ext cx="300355" cy="152400"/>
          </a:xfrm>
          <a:custGeom>
            <a:avLst/>
            <a:gdLst/>
            <a:ahLst/>
            <a:cxnLst/>
            <a:rect l="l" t="t" r="r" b="b"/>
            <a:pathLst>
              <a:path w="300354" h="152400" extrusionOk="0">
                <a:moveTo>
                  <a:pt x="300100" y="0"/>
                </a:moveTo>
                <a:lnTo>
                  <a:pt x="292451" y="48182"/>
                </a:lnTo>
                <a:lnTo>
                  <a:pt x="271153" y="90019"/>
                </a:lnTo>
                <a:lnTo>
                  <a:pt x="238680" y="123005"/>
                </a:lnTo>
                <a:lnTo>
                  <a:pt x="197509" y="144633"/>
                </a:lnTo>
                <a:lnTo>
                  <a:pt x="150113" y="152400"/>
                </a:lnTo>
                <a:lnTo>
                  <a:pt x="102717" y="144647"/>
                </a:lnTo>
                <a:lnTo>
                  <a:pt x="61539" y="123057"/>
                </a:lnTo>
                <a:lnTo>
                  <a:pt x="29047" y="90129"/>
                </a:lnTo>
                <a:lnTo>
                  <a:pt x="7711" y="48361"/>
                </a:lnTo>
                <a:lnTo>
                  <a:pt x="0" y="253"/>
                </a:lnTo>
              </a:path>
            </a:pathLst>
          </a:custGeom>
          <a:noFill/>
          <a:ln w="19050" cap="flat" cmpd="sng">
            <a:solidFill>
              <a:srgbClr val="BEB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93" name="Google Shape;1093;p78"/>
          <p:cNvSpPr txBox="1"/>
          <p:nvPr/>
        </p:nvSpPr>
        <p:spPr>
          <a:xfrm>
            <a:off x="4164584" y="6099073"/>
            <a:ext cx="838835" cy="280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78"/>
          <p:cNvSpPr txBox="1"/>
          <p:nvPr/>
        </p:nvSpPr>
        <p:spPr>
          <a:xfrm>
            <a:off x="902919" y="6109665"/>
            <a:ext cx="594995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Enrols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78"/>
          <p:cNvSpPr txBox="1"/>
          <p:nvPr/>
        </p:nvSpPr>
        <p:spPr>
          <a:xfrm>
            <a:off x="7641717" y="6109360"/>
            <a:ext cx="892683" cy="2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Tutors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47360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7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30619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Example – E/R Diagram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1100" name="Google Shape;1100;p7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25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02" name="Google Shape;1102;p79"/>
          <p:cNvSpPr txBox="1"/>
          <p:nvPr/>
        </p:nvSpPr>
        <p:spPr>
          <a:xfrm>
            <a:off x="535940" y="1620773"/>
            <a:ext cx="7524115" cy="1009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sz="3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completed diagram. All that remains 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to remove M:M relationships</a:t>
            </a: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79"/>
          <p:cNvSpPr/>
          <p:nvPr/>
        </p:nvSpPr>
        <p:spPr>
          <a:xfrm>
            <a:off x="3708019" y="5949276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96"/>
                </a:lnTo>
                <a:lnTo>
                  <a:pt x="26019" y="26038"/>
                </a:lnTo>
                <a:lnTo>
                  <a:pt x="54274" y="6986"/>
                </a:lnTo>
                <a:lnTo>
                  <a:pt x="88900" y="0"/>
                </a:lnTo>
                <a:lnTo>
                  <a:pt x="1663700" y="0"/>
                </a:lnTo>
                <a:lnTo>
                  <a:pt x="1698271" y="6986"/>
                </a:lnTo>
                <a:lnTo>
                  <a:pt x="1726533" y="26038"/>
                </a:lnTo>
                <a:lnTo>
                  <a:pt x="1745603" y="54296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03" y="479103"/>
                </a:lnTo>
                <a:lnTo>
                  <a:pt x="1726533" y="507361"/>
                </a:lnTo>
                <a:lnTo>
                  <a:pt x="1698271" y="526413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13"/>
                </a:lnTo>
                <a:lnTo>
                  <a:pt x="26019" y="507361"/>
                </a:lnTo>
                <a:lnTo>
                  <a:pt x="6979" y="479103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04" name="Google Shape;1104;p79"/>
          <p:cNvSpPr/>
          <p:nvPr/>
        </p:nvSpPr>
        <p:spPr>
          <a:xfrm>
            <a:off x="323532" y="4221098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86" y="54274"/>
                </a:lnTo>
                <a:lnTo>
                  <a:pt x="26038" y="26019"/>
                </a:lnTo>
                <a:lnTo>
                  <a:pt x="54296" y="6979"/>
                </a:lnTo>
                <a:lnTo>
                  <a:pt x="88900" y="0"/>
                </a:lnTo>
                <a:lnTo>
                  <a:pt x="1663636" y="0"/>
                </a:lnTo>
                <a:lnTo>
                  <a:pt x="1698261" y="6979"/>
                </a:lnTo>
                <a:lnTo>
                  <a:pt x="1726517" y="26019"/>
                </a:lnTo>
                <a:lnTo>
                  <a:pt x="1745557" y="54274"/>
                </a:lnTo>
                <a:lnTo>
                  <a:pt x="1752536" y="88900"/>
                </a:lnTo>
                <a:lnTo>
                  <a:pt x="1752536" y="444500"/>
                </a:lnTo>
                <a:lnTo>
                  <a:pt x="1745557" y="479125"/>
                </a:lnTo>
                <a:lnTo>
                  <a:pt x="1726517" y="507380"/>
                </a:lnTo>
                <a:lnTo>
                  <a:pt x="1698261" y="526420"/>
                </a:lnTo>
                <a:lnTo>
                  <a:pt x="1663636" y="533400"/>
                </a:lnTo>
                <a:lnTo>
                  <a:pt x="88900" y="533400"/>
                </a:lnTo>
                <a:lnTo>
                  <a:pt x="54296" y="526420"/>
                </a:lnTo>
                <a:lnTo>
                  <a:pt x="26038" y="507380"/>
                </a:lnTo>
                <a:lnTo>
                  <a:pt x="6986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05" name="Google Shape;1105;p79"/>
          <p:cNvSpPr txBox="1"/>
          <p:nvPr/>
        </p:nvSpPr>
        <p:spPr>
          <a:xfrm>
            <a:off x="829767" y="4320158"/>
            <a:ext cx="73977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79"/>
          <p:cNvSpPr/>
          <p:nvPr/>
        </p:nvSpPr>
        <p:spPr>
          <a:xfrm>
            <a:off x="3707891" y="4221098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663700" y="0"/>
                </a:lnTo>
                <a:lnTo>
                  <a:pt x="1698325" y="6979"/>
                </a:lnTo>
                <a:lnTo>
                  <a:pt x="1726580" y="26019"/>
                </a:lnTo>
                <a:lnTo>
                  <a:pt x="1745620" y="54274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20" y="479125"/>
                </a:lnTo>
                <a:lnTo>
                  <a:pt x="1726580" y="507380"/>
                </a:lnTo>
                <a:lnTo>
                  <a:pt x="1698325" y="526420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07" name="Google Shape;1107;p79"/>
          <p:cNvSpPr txBox="1"/>
          <p:nvPr/>
        </p:nvSpPr>
        <p:spPr>
          <a:xfrm>
            <a:off x="4169155" y="4320158"/>
            <a:ext cx="829944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79"/>
          <p:cNvSpPr/>
          <p:nvPr/>
        </p:nvSpPr>
        <p:spPr>
          <a:xfrm>
            <a:off x="3707891" y="2996945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663700" y="0"/>
                </a:lnTo>
                <a:lnTo>
                  <a:pt x="1698325" y="6979"/>
                </a:lnTo>
                <a:lnTo>
                  <a:pt x="1726580" y="26019"/>
                </a:lnTo>
                <a:lnTo>
                  <a:pt x="1745620" y="54274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20" y="479125"/>
                </a:lnTo>
                <a:lnTo>
                  <a:pt x="1726580" y="507380"/>
                </a:lnTo>
                <a:lnTo>
                  <a:pt x="1698325" y="526420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09" name="Google Shape;1109;p79"/>
          <p:cNvSpPr txBox="1"/>
          <p:nvPr/>
        </p:nvSpPr>
        <p:spPr>
          <a:xfrm>
            <a:off x="3942079" y="3095752"/>
            <a:ext cx="128460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79"/>
          <p:cNvSpPr/>
          <p:nvPr/>
        </p:nvSpPr>
        <p:spPr>
          <a:xfrm>
            <a:off x="7067931" y="4221098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663700" y="0"/>
                </a:lnTo>
                <a:lnTo>
                  <a:pt x="1698271" y="6979"/>
                </a:lnTo>
                <a:lnTo>
                  <a:pt x="1726533" y="26019"/>
                </a:lnTo>
                <a:lnTo>
                  <a:pt x="1745603" y="54274"/>
                </a:lnTo>
                <a:lnTo>
                  <a:pt x="1752600" y="88900"/>
                </a:lnTo>
                <a:lnTo>
                  <a:pt x="1752600" y="444500"/>
                </a:lnTo>
                <a:lnTo>
                  <a:pt x="1745603" y="479125"/>
                </a:lnTo>
                <a:lnTo>
                  <a:pt x="1726533" y="507380"/>
                </a:lnTo>
                <a:lnTo>
                  <a:pt x="1698271" y="526420"/>
                </a:lnTo>
                <a:lnTo>
                  <a:pt x="16637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11" name="Google Shape;1111;p79"/>
          <p:cNvSpPr txBox="1"/>
          <p:nvPr/>
        </p:nvSpPr>
        <p:spPr>
          <a:xfrm>
            <a:off x="7502143" y="4320158"/>
            <a:ext cx="88773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79"/>
          <p:cNvSpPr/>
          <p:nvPr/>
        </p:nvSpPr>
        <p:spPr>
          <a:xfrm>
            <a:off x="589330" y="2883407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599" y="0"/>
                </a:lnTo>
                <a:lnTo>
                  <a:pt x="1219149" y="381000"/>
                </a:lnTo>
                <a:lnTo>
                  <a:pt x="609599" y="761999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13" name="Google Shape;1113;p79"/>
          <p:cNvSpPr txBox="1"/>
          <p:nvPr/>
        </p:nvSpPr>
        <p:spPr>
          <a:xfrm>
            <a:off x="905052" y="3112642"/>
            <a:ext cx="58737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Offers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79"/>
          <p:cNvSpPr/>
          <p:nvPr/>
        </p:nvSpPr>
        <p:spPr>
          <a:xfrm>
            <a:off x="1808479" y="3263646"/>
            <a:ext cx="1899920" cy="1270"/>
          </a:xfrm>
          <a:custGeom>
            <a:avLst/>
            <a:gdLst/>
            <a:ahLst/>
            <a:cxnLst/>
            <a:rect l="l" t="t" r="r" b="b"/>
            <a:pathLst>
              <a:path w="1899920" h="1270" extrusionOk="0">
                <a:moveTo>
                  <a:pt x="1899411" y="0"/>
                </a:moveTo>
                <a:lnTo>
                  <a:pt x="0" y="762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15" name="Google Shape;1115;p79"/>
          <p:cNvSpPr/>
          <p:nvPr/>
        </p:nvSpPr>
        <p:spPr>
          <a:xfrm>
            <a:off x="1198930" y="3645408"/>
            <a:ext cx="1270" cy="575945"/>
          </a:xfrm>
          <a:custGeom>
            <a:avLst/>
            <a:gdLst/>
            <a:ahLst/>
            <a:cxnLst/>
            <a:rect l="l" t="t" r="r" b="b"/>
            <a:pathLst>
              <a:path w="1269" h="575945" extrusionOk="0">
                <a:moveTo>
                  <a:pt x="901" y="575691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16" name="Google Shape;1116;p79"/>
          <p:cNvSpPr/>
          <p:nvPr/>
        </p:nvSpPr>
        <p:spPr>
          <a:xfrm>
            <a:off x="1043609" y="4077080"/>
            <a:ext cx="300355" cy="152400"/>
          </a:xfrm>
          <a:custGeom>
            <a:avLst/>
            <a:gdLst/>
            <a:ahLst/>
            <a:cxnLst/>
            <a:rect l="l" t="t" r="r" b="b"/>
            <a:pathLst>
              <a:path w="300355" h="152400" extrusionOk="0">
                <a:moveTo>
                  <a:pt x="0" y="152400"/>
                </a:moveTo>
                <a:lnTo>
                  <a:pt x="7647" y="104217"/>
                </a:lnTo>
                <a:lnTo>
                  <a:pt x="28942" y="62380"/>
                </a:lnTo>
                <a:lnTo>
                  <a:pt x="61414" y="29394"/>
                </a:lnTo>
                <a:lnTo>
                  <a:pt x="102594" y="7766"/>
                </a:lnTo>
                <a:lnTo>
                  <a:pt x="150012" y="0"/>
                </a:lnTo>
                <a:lnTo>
                  <a:pt x="197371" y="7752"/>
                </a:lnTo>
                <a:lnTo>
                  <a:pt x="238527" y="29342"/>
                </a:lnTo>
                <a:lnTo>
                  <a:pt x="271007" y="62270"/>
                </a:lnTo>
                <a:lnTo>
                  <a:pt x="292339" y="104038"/>
                </a:lnTo>
                <a:lnTo>
                  <a:pt x="300050" y="152146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17" name="Google Shape;1117;p79"/>
          <p:cNvSpPr/>
          <p:nvPr/>
        </p:nvSpPr>
        <p:spPr>
          <a:xfrm>
            <a:off x="2267711" y="4107179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600" y="0"/>
                </a:lnTo>
                <a:lnTo>
                  <a:pt x="1219200" y="381000"/>
                </a:lnTo>
                <a:lnTo>
                  <a:pt x="609600" y="762000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18" name="Google Shape;1118;p79"/>
          <p:cNvSpPr txBox="1"/>
          <p:nvPr/>
        </p:nvSpPr>
        <p:spPr>
          <a:xfrm>
            <a:off x="2480310" y="4336669"/>
            <a:ext cx="79565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Includes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79"/>
          <p:cNvSpPr/>
          <p:nvPr/>
        </p:nvSpPr>
        <p:spPr>
          <a:xfrm>
            <a:off x="2076069" y="4487798"/>
            <a:ext cx="191770" cy="635"/>
          </a:xfrm>
          <a:custGeom>
            <a:avLst/>
            <a:gdLst/>
            <a:ahLst/>
            <a:cxnLst/>
            <a:rect l="l" t="t" r="r" b="b"/>
            <a:pathLst>
              <a:path w="191769" h="635" extrusionOk="0">
                <a:moveTo>
                  <a:pt x="0" y="0"/>
                </a:moveTo>
                <a:lnTo>
                  <a:pt x="191643" y="381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20" name="Google Shape;1120;p79"/>
          <p:cNvSpPr/>
          <p:nvPr/>
        </p:nvSpPr>
        <p:spPr>
          <a:xfrm>
            <a:off x="3486911" y="4487798"/>
            <a:ext cx="220979" cy="635"/>
          </a:xfrm>
          <a:custGeom>
            <a:avLst/>
            <a:gdLst/>
            <a:ahLst/>
            <a:cxnLst/>
            <a:rect l="l" t="t" r="r" b="b"/>
            <a:pathLst>
              <a:path w="220979" h="635" extrusionOk="0">
                <a:moveTo>
                  <a:pt x="0" y="381"/>
                </a:moveTo>
                <a:lnTo>
                  <a:pt x="220979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21" name="Google Shape;1121;p79"/>
          <p:cNvSpPr/>
          <p:nvPr/>
        </p:nvSpPr>
        <p:spPr>
          <a:xfrm>
            <a:off x="2072385" y="4338954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0" y="0"/>
                </a:moveTo>
                <a:lnTo>
                  <a:pt x="48134" y="7637"/>
                </a:lnTo>
                <a:lnTo>
                  <a:pt x="89964" y="28911"/>
                </a:lnTo>
                <a:lnTo>
                  <a:pt x="122968" y="61365"/>
                </a:lnTo>
                <a:lnTo>
                  <a:pt x="144621" y="102542"/>
                </a:lnTo>
                <a:lnTo>
                  <a:pt x="152400" y="149987"/>
                </a:lnTo>
                <a:lnTo>
                  <a:pt x="144634" y="197370"/>
                </a:lnTo>
                <a:lnTo>
                  <a:pt x="123013" y="238517"/>
                </a:lnTo>
                <a:lnTo>
                  <a:pt x="90047" y="270971"/>
                </a:lnTo>
                <a:lnTo>
                  <a:pt x="48247" y="292275"/>
                </a:lnTo>
                <a:lnTo>
                  <a:pt x="126" y="299974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22" name="Google Shape;1122;p79"/>
          <p:cNvSpPr/>
          <p:nvPr/>
        </p:nvSpPr>
        <p:spPr>
          <a:xfrm>
            <a:off x="3563873" y="4335907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152400" y="300101"/>
                </a:moveTo>
                <a:lnTo>
                  <a:pt x="104217" y="292451"/>
                </a:lnTo>
                <a:lnTo>
                  <a:pt x="62380" y="271153"/>
                </a:lnTo>
                <a:lnTo>
                  <a:pt x="29394" y="238680"/>
                </a:lnTo>
                <a:lnTo>
                  <a:pt x="7766" y="197509"/>
                </a:lnTo>
                <a:lnTo>
                  <a:pt x="0" y="150114"/>
                </a:lnTo>
                <a:lnTo>
                  <a:pt x="7753" y="102717"/>
                </a:lnTo>
                <a:lnTo>
                  <a:pt x="29350" y="61539"/>
                </a:lnTo>
                <a:lnTo>
                  <a:pt x="62298" y="29047"/>
                </a:lnTo>
                <a:lnTo>
                  <a:pt x="104103" y="7711"/>
                </a:lnTo>
                <a:lnTo>
                  <a:pt x="152273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23" name="Google Shape;1123;p79"/>
          <p:cNvSpPr/>
          <p:nvPr/>
        </p:nvSpPr>
        <p:spPr>
          <a:xfrm>
            <a:off x="590130" y="5835357"/>
            <a:ext cx="1219835" cy="762000"/>
          </a:xfrm>
          <a:custGeom>
            <a:avLst/>
            <a:gdLst/>
            <a:ahLst/>
            <a:cxnLst/>
            <a:rect l="l" t="t" r="r" b="b"/>
            <a:pathLst>
              <a:path w="1219835" h="762000" extrusionOk="0">
                <a:moveTo>
                  <a:pt x="0" y="381000"/>
                </a:moveTo>
                <a:lnTo>
                  <a:pt x="609600" y="0"/>
                </a:lnTo>
                <a:lnTo>
                  <a:pt x="1219238" y="381000"/>
                </a:lnTo>
                <a:lnTo>
                  <a:pt x="609600" y="762000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24" name="Google Shape;1124;p79"/>
          <p:cNvSpPr/>
          <p:nvPr/>
        </p:nvSpPr>
        <p:spPr>
          <a:xfrm>
            <a:off x="1809369" y="6215976"/>
            <a:ext cx="1898650" cy="635"/>
          </a:xfrm>
          <a:custGeom>
            <a:avLst/>
            <a:gdLst/>
            <a:ahLst/>
            <a:cxnLst/>
            <a:rect l="l" t="t" r="r" b="b"/>
            <a:pathLst>
              <a:path w="1898650" h="635" extrusionOk="0">
                <a:moveTo>
                  <a:pt x="1898650" y="0"/>
                </a:moveTo>
                <a:lnTo>
                  <a:pt x="0" y="38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25" name="Google Shape;1125;p79"/>
          <p:cNvSpPr/>
          <p:nvPr/>
        </p:nvSpPr>
        <p:spPr>
          <a:xfrm>
            <a:off x="1199730" y="4754498"/>
            <a:ext cx="635" cy="1081405"/>
          </a:xfrm>
          <a:custGeom>
            <a:avLst/>
            <a:gdLst/>
            <a:ahLst/>
            <a:cxnLst/>
            <a:rect l="l" t="t" r="r" b="b"/>
            <a:pathLst>
              <a:path w="634" h="1081404" extrusionOk="0">
                <a:moveTo>
                  <a:pt x="0" y="1080858"/>
                </a:moveTo>
                <a:lnTo>
                  <a:pt x="101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26" name="Google Shape;1126;p79"/>
          <p:cNvSpPr/>
          <p:nvPr/>
        </p:nvSpPr>
        <p:spPr>
          <a:xfrm>
            <a:off x="3565525" y="6067107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152400" y="300037"/>
                </a:moveTo>
                <a:lnTo>
                  <a:pt x="104217" y="292390"/>
                </a:lnTo>
                <a:lnTo>
                  <a:pt x="62380" y="271094"/>
                </a:lnTo>
                <a:lnTo>
                  <a:pt x="29394" y="238619"/>
                </a:lnTo>
                <a:lnTo>
                  <a:pt x="7766" y="197436"/>
                </a:lnTo>
                <a:lnTo>
                  <a:pt x="0" y="150012"/>
                </a:lnTo>
                <a:lnTo>
                  <a:pt x="7752" y="102638"/>
                </a:lnTo>
                <a:lnTo>
                  <a:pt x="29342" y="61482"/>
                </a:lnTo>
                <a:lnTo>
                  <a:pt x="62270" y="29011"/>
                </a:lnTo>
                <a:lnTo>
                  <a:pt x="104038" y="7694"/>
                </a:lnTo>
                <a:lnTo>
                  <a:pt x="152146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27" name="Google Shape;1127;p79"/>
          <p:cNvSpPr/>
          <p:nvPr/>
        </p:nvSpPr>
        <p:spPr>
          <a:xfrm>
            <a:off x="3974084" y="4971288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600" y="0"/>
                </a:lnTo>
                <a:lnTo>
                  <a:pt x="1219200" y="381000"/>
                </a:lnTo>
                <a:lnTo>
                  <a:pt x="609600" y="761961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28" name="Google Shape;1128;p79"/>
          <p:cNvSpPr txBox="1"/>
          <p:nvPr/>
        </p:nvSpPr>
        <p:spPr>
          <a:xfrm>
            <a:off x="4320921" y="5200777"/>
            <a:ext cx="784479" cy="285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79"/>
          <p:cNvSpPr/>
          <p:nvPr/>
        </p:nvSpPr>
        <p:spPr>
          <a:xfrm>
            <a:off x="4583684" y="4754498"/>
            <a:ext cx="635" cy="217170"/>
          </a:xfrm>
          <a:custGeom>
            <a:avLst/>
            <a:gdLst/>
            <a:ahLst/>
            <a:cxnLst/>
            <a:rect l="l" t="t" r="r" b="b"/>
            <a:pathLst>
              <a:path w="635" h="217170" extrusionOk="0">
                <a:moveTo>
                  <a:pt x="0" y="216788"/>
                </a:moveTo>
                <a:lnTo>
                  <a:pt x="507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30" name="Google Shape;1130;p79"/>
          <p:cNvSpPr/>
          <p:nvPr/>
        </p:nvSpPr>
        <p:spPr>
          <a:xfrm>
            <a:off x="4583684" y="5733250"/>
            <a:ext cx="635" cy="216535"/>
          </a:xfrm>
          <a:custGeom>
            <a:avLst/>
            <a:gdLst/>
            <a:ahLst/>
            <a:cxnLst/>
            <a:rect l="l" t="t" r="r" b="b"/>
            <a:pathLst>
              <a:path w="635" h="216535" extrusionOk="0">
                <a:moveTo>
                  <a:pt x="635" y="216026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31" name="Google Shape;1131;p79"/>
          <p:cNvSpPr/>
          <p:nvPr/>
        </p:nvSpPr>
        <p:spPr>
          <a:xfrm>
            <a:off x="5652134" y="4107179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600" y="0"/>
                </a:lnTo>
                <a:lnTo>
                  <a:pt x="1219199" y="381000"/>
                </a:lnTo>
                <a:lnTo>
                  <a:pt x="609600" y="762000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32" name="Google Shape;1132;p79"/>
          <p:cNvSpPr txBox="1"/>
          <p:nvPr/>
        </p:nvSpPr>
        <p:spPr>
          <a:xfrm>
            <a:off x="5798058" y="4336668"/>
            <a:ext cx="1212342" cy="311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Taught By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79"/>
          <p:cNvSpPr/>
          <p:nvPr/>
        </p:nvSpPr>
        <p:spPr>
          <a:xfrm>
            <a:off x="5460491" y="4487798"/>
            <a:ext cx="191770" cy="635"/>
          </a:xfrm>
          <a:custGeom>
            <a:avLst/>
            <a:gdLst/>
            <a:ahLst/>
            <a:cxnLst/>
            <a:rect l="l" t="t" r="r" b="b"/>
            <a:pathLst>
              <a:path w="191770" h="635" extrusionOk="0">
                <a:moveTo>
                  <a:pt x="0" y="0"/>
                </a:moveTo>
                <a:lnTo>
                  <a:pt x="191643" y="381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34" name="Google Shape;1134;p79"/>
          <p:cNvSpPr/>
          <p:nvPr/>
        </p:nvSpPr>
        <p:spPr>
          <a:xfrm>
            <a:off x="6871334" y="4487798"/>
            <a:ext cx="196850" cy="635"/>
          </a:xfrm>
          <a:custGeom>
            <a:avLst/>
            <a:gdLst/>
            <a:ahLst/>
            <a:cxnLst/>
            <a:rect l="l" t="t" r="r" b="b"/>
            <a:pathLst>
              <a:path w="196850" h="635" extrusionOk="0">
                <a:moveTo>
                  <a:pt x="0" y="381"/>
                </a:moveTo>
                <a:lnTo>
                  <a:pt x="196596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35" name="Google Shape;1135;p79"/>
          <p:cNvSpPr/>
          <p:nvPr/>
        </p:nvSpPr>
        <p:spPr>
          <a:xfrm>
            <a:off x="5456682" y="4334002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0" y="0"/>
                </a:moveTo>
                <a:lnTo>
                  <a:pt x="48182" y="7650"/>
                </a:lnTo>
                <a:lnTo>
                  <a:pt x="90019" y="28956"/>
                </a:lnTo>
                <a:lnTo>
                  <a:pt x="123005" y="61447"/>
                </a:lnTo>
                <a:lnTo>
                  <a:pt x="144633" y="102656"/>
                </a:lnTo>
                <a:lnTo>
                  <a:pt x="152400" y="150114"/>
                </a:lnTo>
                <a:lnTo>
                  <a:pt x="144647" y="197448"/>
                </a:lnTo>
                <a:lnTo>
                  <a:pt x="123057" y="238589"/>
                </a:lnTo>
                <a:lnTo>
                  <a:pt x="90129" y="271061"/>
                </a:lnTo>
                <a:lnTo>
                  <a:pt x="48361" y="292390"/>
                </a:lnTo>
                <a:lnTo>
                  <a:pt x="253" y="3001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36" name="Google Shape;1136;p79"/>
          <p:cNvSpPr/>
          <p:nvPr/>
        </p:nvSpPr>
        <p:spPr>
          <a:xfrm>
            <a:off x="7333742" y="2882138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1000"/>
                </a:moveTo>
                <a:lnTo>
                  <a:pt x="609600" y="0"/>
                </a:lnTo>
                <a:lnTo>
                  <a:pt x="1219200" y="381000"/>
                </a:lnTo>
                <a:lnTo>
                  <a:pt x="609600" y="762000"/>
                </a:lnTo>
                <a:lnTo>
                  <a:pt x="0" y="3810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37" name="Google Shape;1137;p79"/>
          <p:cNvSpPr txBox="1"/>
          <p:nvPr/>
        </p:nvSpPr>
        <p:spPr>
          <a:xfrm>
            <a:off x="7543927" y="3111372"/>
            <a:ext cx="802640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79"/>
          <p:cNvSpPr/>
          <p:nvPr/>
        </p:nvSpPr>
        <p:spPr>
          <a:xfrm>
            <a:off x="5460491" y="3263138"/>
            <a:ext cx="1873250" cy="635"/>
          </a:xfrm>
          <a:custGeom>
            <a:avLst/>
            <a:gdLst/>
            <a:ahLst/>
            <a:cxnLst/>
            <a:rect l="l" t="t" r="r" b="b"/>
            <a:pathLst>
              <a:path w="1873250" h="635" extrusionOk="0">
                <a:moveTo>
                  <a:pt x="1873250" y="0"/>
                </a:moveTo>
                <a:lnTo>
                  <a:pt x="0" y="508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39" name="Google Shape;1139;p79"/>
          <p:cNvSpPr/>
          <p:nvPr/>
        </p:nvSpPr>
        <p:spPr>
          <a:xfrm>
            <a:off x="7943342" y="3644138"/>
            <a:ext cx="1270" cy="577215"/>
          </a:xfrm>
          <a:custGeom>
            <a:avLst/>
            <a:gdLst/>
            <a:ahLst/>
            <a:cxnLst/>
            <a:rect l="l" t="t" r="r" b="b"/>
            <a:pathLst>
              <a:path w="1270" h="577214" extrusionOk="0">
                <a:moveTo>
                  <a:pt x="0" y="0"/>
                </a:moveTo>
                <a:lnTo>
                  <a:pt x="888" y="576961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40" name="Google Shape;1140;p79"/>
          <p:cNvSpPr/>
          <p:nvPr/>
        </p:nvSpPr>
        <p:spPr>
          <a:xfrm>
            <a:off x="7795641" y="4077080"/>
            <a:ext cx="300355" cy="152400"/>
          </a:xfrm>
          <a:custGeom>
            <a:avLst/>
            <a:gdLst/>
            <a:ahLst/>
            <a:cxnLst/>
            <a:rect l="l" t="t" r="r" b="b"/>
            <a:pathLst>
              <a:path w="300354" h="152400" extrusionOk="0">
                <a:moveTo>
                  <a:pt x="0" y="152400"/>
                </a:moveTo>
                <a:lnTo>
                  <a:pt x="7650" y="104217"/>
                </a:lnTo>
                <a:lnTo>
                  <a:pt x="28955" y="62380"/>
                </a:lnTo>
                <a:lnTo>
                  <a:pt x="61447" y="29394"/>
                </a:lnTo>
                <a:lnTo>
                  <a:pt x="102656" y="7766"/>
                </a:lnTo>
                <a:lnTo>
                  <a:pt x="150113" y="0"/>
                </a:lnTo>
                <a:lnTo>
                  <a:pt x="197448" y="7752"/>
                </a:lnTo>
                <a:lnTo>
                  <a:pt x="238589" y="29342"/>
                </a:lnTo>
                <a:lnTo>
                  <a:pt x="271061" y="62270"/>
                </a:lnTo>
                <a:lnTo>
                  <a:pt x="292390" y="104038"/>
                </a:lnTo>
                <a:lnTo>
                  <a:pt x="300100" y="152146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41" name="Google Shape;1141;p79"/>
          <p:cNvSpPr/>
          <p:nvPr/>
        </p:nvSpPr>
        <p:spPr>
          <a:xfrm>
            <a:off x="7332471" y="5835154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 extrusionOk="0">
                <a:moveTo>
                  <a:pt x="0" y="380999"/>
                </a:moveTo>
                <a:lnTo>
                  <a:pt x="609600" y="0"/>
                </a:lnTo>
                <a:lnTo>
                  <a:pt x="1219200" y="380999"/>
                </a:lnTo>
                <a:lnTo>
                  <a:pt x="609600" y="761999"/>
                </a:lnTo>
                <a:lnTo>
                  <a:pt x="0" y="380999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42" name="Google Shape;1142;p79"/>
          <p:cNvSpPr/>
          <p:nvPr/>
        </p:nvSpPr>
        <p:spPr>
          <a:xfrm>
            <a:off x="7942071" y="4754498"/>
            <a:ext cx="2540" cy="1080770"/>
          </a:xfrm>
          <a:custGeom>
            <a:avLst/>
            <a:gdLst/>
            <a:ahLst/>
            <a:cxnLst/>
            <a:rect l="l" t="t" r="r" b="b"/>
            <a:pathLst>
              <a:path w="2540" h="1080770" extrusionOk="0">
                <a:moveTo>
                  <a:pt x="0" y="1080655"/>
                </a:moveTo>
                <a:lnTo>
                  <a:pt x="2158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43" name="Google Shape;1143;p79"/>
          <p:cNvSpPr/>
          <p:nvPr/>
        </p:nvSpPr>
        <p:spPr>
          <a:xfrm>
            <a:off x="5460619" y="6215976"/>
            <a:ext cx="1871980" cy="635"/>
          </a:xfrm>
          <a:custGeom>
            <a:avLst/>
            <a:gdLst/>
            <a:ahLst/>
            <a:cxnLst/>
            <a:rect l="l" t="t" r="r" b="b"/>
            <a:pathLst>
              <a:path w="1871979" h="635" extrusionOk="0">
                <a:moveTo>
                  <a:pt x="1871852" y="177"/>
                </a:moveTo>
                <a:lnTo>
                  <a:pt x="0" y="0"/>
                </a:lnTo>
              </a:path>
            </a:pathLst>
          </a:custGeom>
          <a:noFill/>
          <a:ln w="190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44" name="Google Shape;1144;p79"/>
          <p:cNvSpPr/>
          <p:nvPr/>
        </p:nvSpPr>
        <p:spPr>
          <a:xfrm>
            <a:off x="5455158" y="6064148"/>
            <a:ext cx="152400" cy="300355"/>
          </a:xfrm>
          <a:custGeom>
            <a:avLst/>
            <a:gdLst/>
            <a:ahLst/>
            <a:cxnLst/>
            <a:rect l="l" t="t" r="r" b="b"/>
            <a:pathLst>
              <a:path w="152400" h="300354" extrusionOk="0">
                <a:moveTo>
                  <a:pt x="0" y="0"/>
                </a:moveTo>
                <a:lnTo>
                  <a:pt x="48182" y="7647"/>
                </a:lnTo>
                <a:lnTo>
                  <a:pt x="90019" y="28942"/>
                </a:lnTo>
                <a:lnTo>
                  <a:pt x="123005" y="61414"/>
                </a:lnTo>
                <a:lnTo>
                  <a:pt x="144633" y="102594"/>
                </a:lnTo>
                <a:lnTo>
                  <a:pt x="152400" y="150012"/>
                </a:lnTo>
                <a:lnTo>
                  <a:pt x="144634" y="197392"/>
                </a:lnTo>
                <a:lnTo>
                  <a:pt x="123013" y="238551"/>
                </a:lnTo>
                <a:lnTo>
                  <a:pt x="90047" y="271022"/>
                </a:lnTo>
                <a:lnTo>
                  <a:pt x="48247" y="292336"/>
                </a:lnTo>
                <a:lnTo>
                  <a:pt x="126" y="300024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45" name="Google Shape;1145;p79"/>
          <p:cNvSpPr/>
          <p:nvPr/>
        </p:nvSpPr>
        <p:spPr>
          <a:xfrm>
            <a:off x="4432808" y="5805258"/>
            <a:ext cx="300355" cy="153035"/>
          </a:xfrm>
          <a:custGeom>
            <a:avLst/>
            <a:gdLst/>
            <a:ahLst/>
            <a:cxnLst/>
            <a:rect l="l" t="t" r="r" b="b"/>
            <a:pathLst>
              <a:path w="300354" h="153035" extrusionOk="0">
                <a:moveTo>
                  <a:pt x="0" y="152412"/>
                </a:moveTo>
                <a:lnTo>
                  <a:pt x="7637" y="104238"/>
                </a:lnTo>
                <a:lnTo>
                  <a:pt x="28911" y="62399"/>
                </a:lnTo>
                <a:lnTo>
                  <a:pt x="61365" y="29406"/>
                </a:lnTo>
                <a:lnTo>
                  <a:pt x="102542" y="7770"/>
                </a:lnTo>
                <a:lnTo>
                  <a:pt x="149987" y="0"/>
                </a:lnTo>
                <a:lnTo>
                  <a:pt x="197370" y="7757"/>
                </a:lnTo>
                <a:lnTo>
                  <a:pt x="238517" y="29361"/>
                </a:lnTo>
                <a:lnTo>
                  <a:pt x="270971" y="62309"/>
                </a:lnTo>
                <a:lnTo>
                  <a:pt x="292275" y="104096"/>
                </a:lnTo>
                <a:lnTo>
                  <a:pt x="299974" y="152222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46" name="Google Shape;1146;p79"/>
          <p:cNvSpPr/>
          <p:nvPr/>
        </p:nvSpPr>
        <p:spPr>
          <a:xfrm>
            <a:off x="4435094" y="4751323"/>
            <a:ext cx="300355" cy="152400"/>
          </a:xfrm>
          <a:custGeom>
            <a:avLst/>
            <a:gdLst/>
            <a:ahLst/>
            <a:cxnLst/>
            <a:rect l="l" t="t" r="r" b="b"/>
            <a:pathLst>
              <a:path w="300354" h="152400" extrusionOk="0">
                <a:moveTo>
                  <a:pt x="300100" y="0"/>
                </a:moveTo>
                <a:lnTo>
                  <a:pt x="292451" y="48182"/>
                </a:lnTo>
                <a:lnTo>
                  <a:pt x="271153" y="90019"/>
                </a:lnTo>
                <a:lnTo>
                  <a:pt x="238680" y="123005"/>
                </a:lnTo>
                <a:lnTo>
                  <a:pt x="197509" y="144633"/>
                </a:lnTo>
                <a:lnTo>
                  <a:pt x="150113" y="152400"/>
                </a:lnTo>
                <a:lnTo>
                  <a:pt x="102717" y="144647"/>
                </a:lnTo>
                <a:lnTo>
                  <a:pt x="61539" y="123057"/>
                </a:lnTo>
                <a:lnTo>
                  <a:pt x="29047" y="90129"/>
                </a:lnTo>
                <a:lnTo>
                  <a:pt x="7711" y="48361"/>
                </a:lnTo>
                <a:lnTo>
                  <a:pt x="0" y="253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47" name="Google Shape;1147;p79"/>
          <p:cNvSpPr txBox="1"/>
          <p:nvPr/>
        </p:nvSpPr>
        <p:spPr>
          <a:xfrm>
            <a:off x="4164584" y="6099073"/>
            <a:ext cx="838835" cy="280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79"/>
          <p:cNvSpPr txBox="1"/>
          <p:nvPr/>
        </p:nvSpPr>
        <p:spPr>
          <a:xfrm>
            <a:off x="902919" y="6109665"/>
            <a:ext cx="594995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EBEBE"/>
                </a:solidFill>
                <a:latin typeface="Calibri"/>
                <a:ea typeface="Calibri"/>
                <a:cs typeface="Calibri"/>
                <a:sym typeface="Calibri"/>
              </a:rPr>
              <a:t>Enrols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79"/>
          <p:cNvSpPr txBox="1"/>
          <p:nvPr/>
        </p:nvSpPr>
        <p:spPr>
          <a:xfrm>
            <a:off x="7641717" y="6109360"/>
            <a:ext cx="740283" cy="2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Tutors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39640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8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Removing </a:t>
            </a:r>
            <a:r>
              <a:rPr lang="en-US" sz="4400" b="0" i="0" u="none" strike="noStrike" cap="none" dirty="0" smtClean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M:N 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Relationships </a:t>
            </a:r>
            <a:endParaRPr sz="4400" b="0" i="0" u="none" strike="noStrike" cap="none" dirty="0">
              <a:solidFill>
                <a:srgbClr val="000000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54" name="Google Shape;1154;p80"/>
          <p:cNvSpPr txBox="1">
            <a:spLocks noGrp="1"/>
          </p:cNvSpPr>
          <p:nvPr>
            <p:ph idx="1"/>
          </p:nvPr>
        </p:nvSpPr>
        <p:spPr>
          <a:xfrm>
            <a:off x="867833" y="1752600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∗"/>
            </a:pPr>
            <a:r>
              <a:rPr lang="en-US" sz="2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Many to many relationships are difficult to represent in a database: </a:t>
            </a:r>
            <a:endParaRPr sz="2400" b="0" i="0" u="none" strike="noStrike" cap="none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274320" marR="0" lvl="0" indent="-12192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1156" name="Google Shape;1156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2667000"/>
            <a:ext cx="7391400" cy="39945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43232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8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Removing </a:t>
            </a:r>
            <a:r>
              <a:rPr lang="en-US" sz="4400" b="0" i="0" u="none" strike="noStrike" cap="none" dirty="0" smtClean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M:N 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Relationships </a:t>
            </a:r>
            <a:endParaRPr sz="4400" b="0" i="0" u="none" strike="noStrike" cap="none" dirty="0">
              <a:solidFill>
                <a:srgbClr val="000000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61" name="Google Shape;1161;p8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∗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Many to many relationships are difficult to represent in a database </a:t>
            </a:r>
            <a:endParaRPr dirty="0"/>
          </a:p>
          <a:p>
            <a:pPr marL="274320" marR="0" lvl="0" indent="-27432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∗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We can split a many to many relationship into two one to many relationships </a:t>
            </a:r>
            <a:endParaRPr dirty="0"/>
          </a:p>
          <a:p>
            <a:pPr marL="274320" marR="0" lvl="0" indent="-27432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∗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An additional entity is created to represent the </a:t>
            </a:r>
            <a:r>
              <a:rPr lang="en-US" sz="2400" b="0" i="0" u="none" strike="noStrike" cap="none" dirty="0" smtClean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M:N </a:t>
            </a:r>
            <a:r>
              <a:rPr lang="en-US" sz="24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relationship </a:t>
            </a:r>
            <a:endParaRPr dirty="0"/>
          </a:p>
          <a:p>
            <a:pPr marL="274320" marR="0" lvl="0" indent="-12192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220104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8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Removing </a:t>
            </a:r>
            <a:r>
              <a:rPr lang="en-US" sz="4400" b="0" i="0" u="none" strike="noStrike" cap="none" dirty="0" smtClean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M:N 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Relationships </a:t>
            </a:r>
            <a:endParaRPr dirty="0">
              <a:solidFill>
                <a:srgbClr val="000000"/>
              </a:solidFill>
            </a:endParaRPr>
          </a:p>
        </p:txBody>
      </p:sp>
      <p:pic>
        <p:nvPicPr>
          <p:cNvPr id="1167" name="Google Shape;1167;p82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 l="-44609" r="-44609"/>
          <a:stretch/>
        </p:blipFill>
        <p:spPr>
          <a:xfrm>
            <a:off x="1447800" y="2057400"/>
            <a:ext cx="6461125" cy="3505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17398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8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409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Entities</a:t>
            </a:r>
            <a:r>
              <a:rPr lang="en-US" sz="4400" b="0" i="0" u="none" strike="noStrike" cap="none" dirty="0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and Attributes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1174" name="Google Shape;1174;p8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29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75" name="Google Shape;1175;p83"/>
          <p:cNvSpPr txBox="1"/>
          <p:nvPr/>
        </p:nvSpPr>
        <p:spPr>
          <a:xfrm>
            <a:off x="535940" y="1622805"/>
            <a:ext cx="3771900" cy="4080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28575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Sometimes it is hard to  tell if something should  be an entity or an  attribute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328930" lvl="1" indent="-286385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both represent  objects or facts about  the world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5080" lvl="1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are both often  represented by nouns in  descriptions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83"/>
          <p:cNvSpPr txBox="1"/>
          <p:nvPr/>
        </p:nvSpPr>
        <p:spPr>
          <a:xfrm>
            <a:off x="4727828" y="1622805"/>
            <a:ext cx="3848735" cy="316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 guidelines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106045" lvl="1" indent="-286385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Entities can have  attributes but attributes  have no smaller parts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5080" lvl="1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Entities can have  relationships between  them, but an attribute  belongs to a single entity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11027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8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98323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Example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1181" name="Google Shape;1181;p8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0995" marR="5080" lvl="0" indent="-2743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∗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We want to represent information about  products in a database. Each product has a  description, a price and a supplier. Suppliers  have addresses, phone numbers, and names.  Each address is made up of a street address, a  city, and a postcode.</a:t>
            </a:r>
            <a:endParaRPr dirty="0"/>
          </a:p>
        </p:txBody>
      </p:sp>
      <p:sp>
        <p:nvSpPr>
          <p:cNvPr id="1183" name="Google Shape;1183;p84"/>
          <p:cNvSpPr txBox="1"/>
          <p:nvPr/>
        </p:nvSpPr>
        <p:spPr>
          <a:xfrm>
            <a:off x="8427211" y="6464909"/>
            <a:ext cx="18097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90370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8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69342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Example - Entities/Attributes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1189" name="Google Shape;1189;p8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31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90" name="Google Shape;1190;p85"/>
          <p:cNvSpPr txBox="1"/>
          <p:nvPr/>
        </p:nvSpPr>
        <p:spPr>
          <a:xfrm>
            <a:off x="535940" y="1580134"/>
            <a:ext cx="3417570" cy="44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Entities or attributes: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55700" marR="0" lvl="1" indent="-228600" algn="l" rtl="0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55700" marR="0" lvl="1" indent="-228600" algn="l" rtl="0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55700" marR="0" lvl="1" indent="-228600" algn="l" rtl="0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price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55700" marR="0" lvl="1" indent="-228600" algn="l" rtl="0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supplier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55700" marR="0" lvl="1" indent="-228600" algn="l" rtl="0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55700" marR="0" lvl="1" indent="-228600" algn="l" rtl="0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phone number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55700" marR="0" lvl="1" indent="-228600" algn="l" rtl="0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55700" marR="0" lvl="1" indent="-228600" algn="l" rtl="0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street address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55700" marR="0" lvl="1" indent="-228600" algn="l" rtl="0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city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55700" marR="0" lvl="1" indent="-228600" algn="l" rtl="0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postcode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85"/>
          <p:cNvSpPr txBox="1"/>
          <p:nvPr/>
        </p:nvSpPr>
        <p:spPr>
          <a:xfrm>
            <a:off x="4727828" y="1622805"/>
            <a:ext cx="3822065" cy="310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508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Products, suppliers, and  addresses all have  smaller parts so we  make them entities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6350" lvl="0" indent="-342900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others have no  smaller parts and  belong to a single entity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068648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8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35953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Example - E/R Diagram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1196" name="Google Shape;1196;p8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32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98" name="Google Shape;1198;p86"/>
          <p:cNvSpPr/>
          <p:nvPr/>
        </p:nvSpPr>
        <p:spPr>
          <a:xfrm>
            <a:off x="2524886" y="2892932"/>
            <a:ext cx="1371600" cy="533400"/>
          </a:xfrm>
          <a:custGeom>
            <a:avLst/>
            <a:gdLst/>
            <a:ahLst/>
            <a:cxnLst/>
            <a:rect l="l" t="t" r="r" b="b"/>
            <a:pathLst>
              <a:path w="1371600" h="533400" extrusionOk="0">
                <a:moveTo>
                  <a:pt x="0" y="88900"/>
                </a:moveTo>
                <a:lnTo>
                  <a:pt x="6996" y="54274"/>
                </a:lnTo>
                <a:lnTo>
                  <a:pt x="26066" y="26019"/>
                </a:lnTo>
                <a:lnTo>
                  <a:pt x="54328" y="6979"/>
                </a:lnTo>
                <a:lnTo>
                  <a:pt x="88900" y="0"/>
                </a:lnTo>
                <a:lnTo>
                  <a:pt x="1282700" y="0"/>
                </a:lnTo>
                <a:lnTo>
                  <a:pt x="1317325" y="6979"/>
                </a:lnTo>
                <a:lnTo>
                  <a:pt x="1345580" y="26019"/>
                </a:lnTo>
                <a:lnTo>
                  <a:pt x="1364620" y="54274"/>
                </a:lnTo>
                <a:lnTo>
                  <a:pt x="1371600" y="88900"/>
                </a:lnTo>
                <a:lnTo>
                  <a:pt x="1371600" y="444500"/>
                </a:lnTo>
                <a:lnTo>
                  <a:pt x="1364620" y="479071"/>
                </a:lnTo>
                <a:lnTo>
                  <a:pt x="1345580" y="507333"/>
                </a:lnTo>
                <a:lnTo>
                  <a:pt x="1317325" y="526403"/>
                </a:lnTo>
                <a:lnTo>
                  <a:pt x="1282700" y="533400"/>
                </a:lnTo>
                <a:lnTo>
                  <a:pt x="88900" y="533400"/>
                </a:lnTo>
                <a:lnTo>
                  <a:pt x="54328" y="526403"/>
                </a:lnTo>
                <a:lnTo>
                  <a:pt x="26066" y="507333"/>
                </a:lnTo>
                <a:lnTo>
                  <a:pt x="6996" y="479071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99" name="Google Shape;1199;p86"/>
          <p:cNvSpPr txBox="1"/>
          <p:nvPr/>
        </p:nvSpPr>
        <p:spPr>
          <a:xfrm>
            <a:off x="2792348" y="2991484"/>
            <a:ext cx="83566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86"/>
          <p:cNvSpPr/>
          <p:nvPr/>
        </p:nvSpPr>
        <p:spPr>
          <a:xfrm>
            <a:off x="2524886" y="4721733"/>
            <a:ext cx="1371600" cy="533400"/>
          </a:xfrm>
          <a:custGeom>
            <a:avLst/>
            <a:gdLst/>
            <a:ahLst/>
            <a:cxnLst/>
            <a:rect l="l" t="t" r="r" b="b"/>
            <a:pathLst>
              <a:path w="1371600" h="533400" extrusionOk="0">
                <a:moveTo>
                  <a:pt x="0" y="88900"/>
                </a:moveTo>
                <a:lnTo>
                  <a:pt x="6996" y="54274"/>
                </a:lnTo>
                <a:lnTo>
                  <a:pt x="26066" y="26019"/>
                </a:lnTo>
                <a:lnTo>
                  <a:pt x="54328" y="6979"/>
                </a:lnTo>
                <a:lnTo>
                  <a:pt x="88900" y="0"/>
                </a:lnTo>
                <a:lnTo>
                  <a:pt x="1282700" y="0"/>
                </a:lnTo>
                <a:lnTo>
                  <a:pt x="1317325" y="6979"/>
                </a:lnTo>
                <a:lnTo>
                  <a:pt x="1345580" y="26019"/>
                </a:lnTo>
                <a:lnTo>
                  <a:pt x="1364620" y="54274"/>
                </a:lnTo>
                <a:lnTo>
                  <a:pt x="1371600" y="88900"/>
                </a:lnTo>
                <a:lnTo>
                  <a:pt x="1371600" y="444500"/>
                </a:lnTo>
                <a:lnTo>
                  <a:pt x="1364620" y="479071"/>
                </a:lnTo>
                <a:lnTo>
                  <a:pt x="1345580" y="507333"/>
                </a:lnTo>
                <a:lnTo>
                  <a:pt x="1317325" y="526403"/>
                </a:lnTo>
                <a:lnTo>
                  <a:pt x="1282700" y="533400"/>
                </a:lnTo>
                <a:lnTo>
                  <a:pt x="88900" y="533400"/>
                </a:lnTo>
                <a:lnTo>
                  <a:pt x="54328" y="526403"/>
                </a:lnTo>
                <a:lnTo>
                  <a:pt x="26066" y="507333"/>
                </a:lnTo>
                <a:lnTo>
                  <a:pt x="6996" y="479071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01" name="Google Shape;1201;p86"/>
          <p:cNvSpPr txBox="1"/>
          <p:nvPr/>
        </p:nvSpPr>
        <p:spPr>
          <a:xfrm>
            <a:off x="2772536" y="4820666"/>
            <a:ext cx="87630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Supplier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86"/>
          <p:cNvSpPr/>
          <p:nvPr/>
        </p:nvSpPr>
        <p:spPr>
          <a:xfrm>
            <a:off x="5420486" y="4721733"/>
            <a:ext cx="1371600" cy="533400"/>
          </a:xfrm>
          <a:custGeom>
            <a:avLst/>
            <a:gdLst/>
            <a:ahLst/>
            <a:cxnLst/>
            <a:rect l="l" t="t" r="r" b="b"/>
            <a:pathLst>
              <a:path w="1371600" h="533400" extrusionOk="0">
                <a:moveTo>
                  <a:pt x="0" y="88900"/>
                </a:moveTo>
                <a:lnTo>
                  <a:pt x="6996" y="54274"/>
                </a:lnTo>
                <a:lnTo>
                  <a:pt x="26066" y="26019"/>
                </a:lnTo>
                <a:lnTo>
                  <a:pt x="54328" y="6979"/>
                </a:lnTo>
                <a:lnTo>
                  <a:pt x="88900" y="0"/>
                </a:lnTo>
                <a:lnTo>
                  <a:pt x="1282699" y="0"/>
                </a:lnTo>
                <a:lnTo>
                  <a:pt x="1317325" y="6979"/>
                </a:lnTo>
                <a:lnTo>
                  <a:pt x="1345580" y="26019"/>
                </a:lnTo>
                <a:lnTo>
                  <a:pt x="1364620" y="54274"/>
                </a:lnTo>
                <a:lnTo>
                  <a:pt x="1371599" y="88900"/>
                </a:lnTo>
                <a:lnTo>
                  <a:pt x="1371599" y="444500"/>
                </a:lnTo>
                <a:lnTo>
                  <a:pt x="1364620" y="479071"/>
                </a:lnTo>
                <a:lnTo>
                  <a:pt x="1345580" y="507333"/>
                </a:lnTo>
                <a:lnTo>
                  <a:pt x="1317325" y="526403"/>
                </a:lnTo>
                <a:lnTo>
                  <a:pt x="1282699" y="533400"/>
                </a:lnTo>
                <a:lnTo>
                  <a:pt x="88900" y="533400"/>
                </a:lnTo>
                <a:lnTo>
                  <a:pt x="54328" y="526403"/>
                </a:lnTo>
                <a:lnTo>
                  <a:pt x="26066" y="507333"/>
                </a:lnTo>
                <a:lnTo>
                  <a:pt x="6996" y="479071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03" name="Google Shape;1203;p86"/>
          <p:cNvSpPr txBox="1"/>
          <p:nvPr/>
        </p:nvSpPr>
        <p:spPr>
          <a:xfrm>
            <a:off x="5680709" y="4820666"/>
            <a:ext cx="85280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86"/>
          <p:cNvSpPr/>
          <p:nvPr/>
        </p:nvSpPr>
        <p:spPr>
          <a:xfrm>
            <a:off x="5268086" y="3883533"/>
            <a:ext cx="1676400" cy="533400"/>
          </a:xfrm>
          <a:custGeom>
            <a:avLst/>
            <a:gdLst/>
            <a:ahLst/>
            <a:cxnLst/>
            <a:rect l="l" t="t" r="r" b="b"/>
            <a:pathLst>
              <a:path w="1676400" h="533400" extrusionOk="0">
                <a:moveTo>
                  <a:pt x="0" y="266700"/>
                </a:moveTo>
                <a:lnTo>
                  <a:pt x="10970" y="223433"/>
                </a:lnTo>
                <a:lnTo>
                  <a:pt x="42732" y="182392"/>
                </a:lnTo>
                <a:lnTo>
                  <a:pt x="93560" y="144124"/>
                </a:lnTo>
                <a:lnTo>
                  <a:pt x="161726" y="109179"/>
                </a:lnTo>
                <a:lnTo>
                  <a:pt x="201773" y="93124"/>
                </a:lnTo>
                <a:lnTo>
                  <a:pt x="245506" y="78105"/>
                </a:lnTo>
                <a:lnTo>
                  <a:pt x="292712" y="64190"/>
                </a:lnTo>
                <a:lnTo>
                  <a:pt x="343174" y="51450"/>
                </a:lnTo>
                <a:lnTo>
                  <a:pt x="396676" y="39951"/>
                </a:lnTo>
                <a:lnTo>
                  <a:pt x="453003" y="29763"/>
                </a:lnTo>
                <a:lnTo>
                  <a:pt x="511938" y="20955"/>
                </a:lnTo>
                <a:lnTo>
                  <a:pt x="573267" y="13594"/>
                </a:lnTo>
                <a:lnTo>
                  <a:pt x="636774" y="7749"/>
                </a:lnTo>
                <a:lnTo>
                  <a:pt x="702242" y="3489"/>
                </a:lnTo>
                <a:lnTo>
                  <a:pt x="769455" y="883"/>
                </a:lnTo>
                <a:lnTo>
                  <a:pt x="838200" y="0"/>
                </a:lnTo>
                <a:lnTo>
                  <a:pt x="906961" y="883"/>
                </a:lnTo>
                <a:lnTo>
                  <a:pt x="974188" y="3489"/>
                </a:lnTo>
                <a:lnTo>
                  <a:pt x="1039667" y="7749"/>
                </a:lnTo>
                <a:lnTo>
                  <a:pt x="1103180" y="13594"/>
                </a:lnTo>
                <a:lnTo>
                  <a:pt x="1164514" y="20955"/>
                </a:lnTo>
                <a:lnTo>
                  <a:pt x="1223452" y="29763"/>
                </a:lnTo>
                <a:lnTo>
                  <a:pt x="1279779" y="39951"/>
                </a:lnTo>
                <a:lnTo>
                  <a:pt x="1333280" y="51450"/>
                </a:lnTo>
                <a:lnTo>
                  <a:pt x="1383739" y="64190"/>
                </a:lnTo>
                <a:lnTo>
                  <a:pt x="1430940" y="78105"/>
                </a:lnTo>
                <a:lnTo>
                  <a:pt x="1474669" y="93124"/>
                </a:lnTo>
                <a:lnTo>
                  <a:pt x="1514709" y="109179"/>
                </a:lnTo>
                <a:lnTo>
                  <a:pt x="1550846" y="126202"/>
                </a:lnTo>
                <a:lnTo>
                  <a:pt x="1610546" y="162877"/>
                </a:lnTo>
                <a:lnTo>
                  <a:pt x="1652046" y="202600"/>
                </a:lnTo>
                <a:lnTo>
                  <a:pt x="1673622" y="244822"/>
                </a:lnTo>
                <a:lnTo>
                  <a:pt x="1676399" y="266700"/>
                </a:lnTo>
                <a:lnTo>
                  <a:pt x="1673622" y="288577"/>
                </a:lnTo>
                <a:lnTo>
                  <a:pt x="1652046" y="330799"/>
                </a:lnTo>
                <a:lnTo>
                  <a:pt x="1610546" y="370522"/>
                </a:lnTo>
                <a:lnTo>
                  <a:pt x="1550846" y="407197"/>
                </a:lnTo>
                <a:lnTo>
                  <a:pt x="1514709" y="424220"/>
                </a:lnTo>
                <a:lnTo>
                  <a:pt x="1474669" y="440275"/>
                </a:lnTo>
                <a:lnTo>
                  <a:pt x="1430940" y="455294"/>
                </a:lnTo>
                <a:lnTo>
                  <a:pt x="1383739" y="469209"/>
                </a:lnTo>
                <a:lnTo>
                  <a:pt x="1333280" y="481949"/>
                </a:lnTo>
                <a:lnTo>
                  <a:pt x="1279779" y="493448"/>
                </a:lnTo>
                <a:lnTo>
                  <a:pt x="1223452" y="503636"/>
                </a:lnTo>
                <a:lnTo>
                  <a:pt x="1164514" y="512444"/>
                </a:lnTo>
                <a:lnTo>
                  <a:pt x="1103180" y="519805"/>
                </a:lnTo>
                <a:lnTo>
                  <a:pt x="1039667" y="525650"/>
                </a:lnTo>
                <a:lnTo>
                  <a:pt x="974188" y="529910"/>
                </a:lnTo>
                <a:lnTo>
                  <a:pt x="906961" y="532516"/>
                </a:lnTo>
                <a:lnTo>
                  <a:pt x="838200" y="533400"/>
                </a:lnTo>
                <a:lnTo>
                  <a:pt x="769455" y="532516"/>
                </a:lnTo>
                <a:lnTo>
                  <a:pt x="702242" y="529910"/>
                </a:lnTo>
                <a:lnTo>
                  <a:pt x="636774" y="525650"/>
                </a:lnTo>
                <a:lnTo>
                  <a:pt x="573267" y="519805"/>
                </a:lnTo>
                <a:lnTo>
                  <a:pt x="511938" y="512445"/>
                </a:lnTo>
                <a:lnTo>
                  <a:pt x="453003" y="503636"/>
                </a:lnTo>
                <a:lnTo>
                  <a:pt x="396676" y="493448"/>
                </a:lnTo>
                <a:lnTo>
                  <a:pt x="343174" y="481949"/>
                </a:lnTo>
                <a:lnTo>
                  <a:pt x="292712" y="469209"/>
                </a:lnTo>
                <a:lnTo>
                  <a:pt x="245506" y="455295"/>
                </a:lnTo>
                <a:lnTo>
                  <a:pt x="201773" y="440275"/>
                </a:lnTo>
                <a:lnTo>
                  <a:pt x="161726" y="424220"/>
                </a:lnTo>
                <a:lnTo>
                  <a:pt x="125584" y="407197"/>
                </a:lnTo>
                <a:lnTo>
                  <a:pt x="65871" y="370522"/>
                </a:lnTo>
                <a:lnTo>
                  <a:pt x="24360" y="330799"/>
                </a:lnTo>
                <a:lnTo>
                  <a:pt x="2778" y="288577"/>
                </a:lnTo>
                <a:lnTo>
                  <a:pt x="0" y="2667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05" name="Google Shape;1205;p86"/>
          <p:cNvSpPr txBox="1"/>
          <p:nvPr/>
        </p:nvSpPr>
        <p:spPr>
          <a:xfrm>
            <a:off x="5503545" y="4016502"/>
            <a:ext cx="1209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Street address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86"/>
          <p:cNvSpPr/>
          <p:nvPr/>
        </p:nvSpPr>
        <p:spPr>
          <a:xfrm>
            <a:off x="7096886" y="4721733"/>
            <a:ext cx="1676400" cy="533400"/>
          </a:xfrm>
          <a:custGeom>
            <a:avLst/>
            <a:gdLst/>
            <a:ahLst/>
            <a:cxnLst/>
            <a:rect l="l" t="t" r="r" b="b"/>
            <a:pathLst>
              <a:path w="1676400" h="533400" extrusionOk="0">
                <a:moveTo>
                  <a:pt x="0" y="266700"/>
                </a:moveTo>
                <a:lnTo>
                  <a:pt x="10970" y="223433"/>
                </a:lnTo>
                <a:lnTo>
                  <a:pt x="42732" y="182392"/>
                </a:lnTo>
                <a:lnTo>
                  <a:pt x="93560" y="144124"/>
                </a:lnTo>
                <a:lnTo>
                  <a:pt x="161726" y="109179"/>
                </a:lnTo>
                <a:lnTo>
                  <a:pt x="201773" y="93124"/>
                </a:lnTo>
                <a:lnTo>
                  <a:pt x="245506" y="78105"/>
                </a:lnTo>
                <a:lnTo>
                  <a:pt x="292712" y="64190"/>
                </a:lnTo>
                <a:lnTo>
                  <a:pt x="343174" y="51450"/>
                </a:lnTo>
                <a:lnTo>
                  <a:pt x="396676" y="39951"/>
                </a:lnTo>
                <a:lnTo>
                  <a:pt x="453003" y="29763"/>
                </a:lnTo>
                <a:lnTo>
                  <a:pt x="511938" y="20955"/>
                </a:lnTo>
                <a:lnTo>
                  <a:pt x="573267" y="13594"/>
                </a:lnTo>
                <a:lnTo>
                  <a:pt x="636774" y="7749"/>
                </a:lnTo>
                <a:lnTo>
                  <a:pt x="702242" y="3489"/>
                </a:lnTo>
                <a:lnTo>
                  <a:pt x="769455" y="883"/>
                </a:lnTo>
                <a:lnTo>
                  <a:pt x="838200" y="0"/>
                </a:lnTo>
                <a:lnTo>
                  <a:pt x="906961" y="883"/>
                </a:lnTo>
                <a:lnTo>
                  <a:pt x="974188" y="3489"/>
                </a:lnTo>
                <a:lnTo>
                  <a:pt x="1039667" y="7749"/>
                </a:lnTo>
                <a:lnTo>
                  <a:pt x="1103180" y="13594"/>
                </a:lnTo>
                <a:lnTo>
                  <a:pt x="1164514" y="20955"/>
                </a:lnTo>
                <a:lnTo>
                  <a:pt x="1223452" y="29763"/>
                </a:lnTo>
                <a:lnTo>
                  <a:pt x="1279779" y="39951"/>
                </a:lnTo>
                <a:lnTo>
                  <a:pt x="1333280" y="51450"/>
                </a:lnTo>
                <a:lnTo>
                  <a:pt x="1383739" y="64190"/>
                </a:lnTo>
                <a:lnTo>
                  <a:pt x="1430940" y="78105"/>
                </a:lnTo>
                <a:lnTo>
                  <a:pt x="1474669" y="93124"/>
                </a:lnTo>
                <a:lnTo>
                  <a:pt x="1514709" y="109179"/>
                </a:lnTo>
                <a:lnTo>
                  <a:pt x="1550846" y="126202"/>
                </a:lnTo>
                <a:lnTo>
                  <a:pt x="1610546" y="162877"/>
                </a:lnTo>
                <a:lnTo>
                  <a:pt x="1652046" y="202600"/>
                </a:lnTo>
                <a:lnTo>
                  <a:pt x="1673622" y="244822"/>
                </a:lnTo>
                <a:lnTo>
                  <a:pt x="1676400" y="266700"/>
                </a:lnTo>
                <a:lnTo>
                  <a:pt x="1673622" y="288577"/>
                </a:lnTo>
                <a:lnTo>
                  <a:pt x="1652046" y="330799"/>
                </a:lnTo>
                <a:lnTo>
                  <a:pt x="1610546" y="370522"/>
                </a:lnTo>
                <a:lnTo>
                  <a:pt x="1550846" y="407197"/>
                </a:lnTo>
                <a:lnTo>
                  <a:pt x="1514709" y="424220"/>
                </a:lnTo>
                <a:lnTo>
                  <a:pt x="1474669" y="440275"/>
                </a:lnTo>
                <a:lnTo>
                  <a:pt x="1430940" y="455295"/>
                </a:lnTo>
                <a:lnTo>
                  <a:pt x="1383739" y="469209"/>
                </a:lnTo>
                <a:lnTo>
                  <a:pt x="1333280" y="481949"/>
                </a:lnTo>
                <a:lnTo>
                  <a:pt x="1279779" y="493448"/>
                </a:lnTo>
                <a:lnTo>
                  <a:pt x="1223452" y="503636"/>
                </a:lnTo>
                <a:lnTo>
                  <a:pt x="1164514" y="512445"/>
                </a:lnTo>
                <a:lnTo>
                  <a:pt x="1103180" y="519805"/>
                </a:lnTo>
                <a:lnTo>
                  <a:pt x="1039667" y="525650"/>
                </a:lnTo>
                <a:lnTo>
                  <a:pt x="974188" y="529910"/>
                </a:lnTo>
                <a:lnTo>
                  <a:pt x="906961" y="532516"/>
                </a:lnTo>
                <a:lnTo>
                  <a:pt x="838200" y="533400"/>
                </a:lnTo>
                <a:lnTo>
                  <a:pt x="769455" y="532516"/>
                </a:lnTo>
                <a:lnTo>
                  <a:pt x="702242" y="529910"/>
                </a:lnTo>
                <a:lnTo>
                  <a:pt x="636774" y="525650"/>
                </a:lnTo>
                <a:lnTo>
                  <a:pt x="573267" y="519805"/>
                </a:lnTo>
                <a:lnTo>
                  <a:pt x="511938" y="512445"/>
                </a:lnTo>
                <a:lnTo>
                  <a:pt x="453003" y="503636"/>
                </a:lnTo>
                <a:lnTo>
                  <a:pt x="396676" y="493448"/>
                </a:lnTo>
                <a:lnTo>
                  <a:pt x="343174" y="481949"/>
                </a:lnTo>
                <a:lnTo>
                  <a:pt x="292712" y="469209"/>
                </a:lnTo>
                <a:lnTo>
                  <a:pt x="245506" y="455295"/>
                </a:lnTo>
                <a:lnTo>
                  <a:pt x="201773" y="440275"/>
                </a:lnTo>
                <a:lnTo>
                  <a:pt x="161726" y="424220"/>
                </a:lnTo>
                <a:lnTo>
                  <a:pt x="125584" y="407197"/>
                </a:lnTo>
                <a:lnTo>
                  <a:pt x="65871" y="370522"/>
                </a:lnTo>
                <a:lnTo>
                  <a:pt x="24360" y="330799"/>
                </a:lnTo>
                <a:lnTo>
                  <a:pt x="2778" y="288577"/>
                </a:lnTo>
                <a:lnTo>
                  <a:pt x="0" y="2667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07" name="Google Shape;1207;p86"/>
          <p:cNvSpPr txBox="1"/>
          <p:nvPr/>
        </p:nvSpPr>
        <p:spPr>
          <a:xfrm>
            <a:off x="7765542" y="4854702"/>
            <a:ext cx="34099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86"/>
          <p:cNvSpPr/>
          <p:nvPr/>
        </p:nvSpPr>
        <p:spPr>
          <a:xfrm>
            <a:off x="5268086" y="5559933"/>
            <a:ext cx="1676400" cy="533400"/>
          </a:xfrm>
          <a:custGeom>
            <a:avLst/>
            <a:gdLst/>
            <a:ahLst/>
            <a:cxnLst/>
            <a:rect l="l" t="t" r="r" b="b"/>
            <a:pathLst>
              <a:path w="1676400" h="533400" extrusionOk="0">
                <a:moveTo>
                  <a:pt x="0" y="266661"/>
                </a:moveTo>
                <a:lnTo>
                  <a:pt x="10970" y="223402"/>
                </a:lnTo>
                <a:lnTo>
                  <a:pt x="42732" y="182367"/>
                </a:lnTo>
                <a:lnTo>
                  <a:pt x="93560" y="144106"/>
                </a:lnTo>
                <a:lnTo>
                  <a:pt x="161726" y="109165"/>
                </a:lnTo>
                <a:lnTo>
                  <a:pt x="201773" y="93112"/>
                </a:lnTo>
                <a:lnTo>
                  <a:pt x="245506" y="78095"/>
                </a:lnTo>
                <a:lnTo>
                  <a:pt x="292712" y="64183"/>
                </a:lnTo>
                <a:lnTo>
                  <a:pt x="343174" y="51444"/>
                </a:lnTo>
                <a:lnTo>
                  <a:pt x="396676" y="39946"/>
                </a:lnTo>
                <a:lnTo>
                  <a:pt x="453003" y="29760"/>
                </a:lnTo>
                <a:lnTo>
                  <a:pt x="511938" y="20952"/>
                </a:lnTo>
                <a:lnTo>
                  <a:pt x="573267" y="13592"/>
                </a:lnTo>
                <a:lnTo>
                  <a:pt x="636774" y="7748"/>
                </a:lnTo>
                <a:lnTo>
                  <a:pt x="702242" y="3489"/>
                </a:lnTo>
                <a:lnTo>
                  <a:pt x="769455" y="883"/>
                </a:lnTo>
                <a:lnTo>
                  <a:pt x="838200" y="0"/>
                </a:lnTo>
                <a:lnTo>
                  <a:pt x="906961" y="883"/>
                </a:lnTo>
                <a:lnTo>
                  <a:pt x="974188" y="3489"/>
                </a:lnTo>
                <a:lnTo>
                  <a:pt x="1039667" y="7748"/>
                </a:lnTo>
                <a:lnTo>
                  <a:pt x="1103180" y="13592"/>
                </a:lnTo>
                <a:lnTo>
                  <a:pt x="1164514" y="20952"/>
                </a:lnTo>
                <a:lnTo>
                  <a:pt x="1223452" y="29760"/>
                </a:lnTo>
                <a:lnTo>
                  <a:pt x="1279779" y="39946"/>
                </a:lnTo>
                <a:lnTo>
                  <a:pt x="1333280" y="51444"/>
                </a:lnTo>
                <a:lnTo>
                  <a:pt x="1383739" y="64183"/>
                </a:lnTo>
                <a:lnTo>
                  <a:pt x="1430940" y="78095"/>
                </a:lnTo>
                <a:lnTo>
                  <a:pt x="1474669" y="93112"/>
                </a:lnTo>
                <a:lnTo>
                  <a:pt x="1514709" y="109165"/>
                </a:lnTo>
                <a:lnTo>
                  <a:pt x="1550846" y="126186"/>
                </a:lnTo>
                <a:lnTo>
                  <a:pt x="1610546" y="162856"/>
                </a:lnTo>
                <a:lnTo>
                  <a:pt x="1652046" y="202573"/>
                </a:lnTo>
                <a:lnTo>
                  <a:pt x="1673622" y="244788"/>
                </a:lnTo>
                <a:lnTo>
                  <a:pt x="1676399" y="266661"/>
                </a:lnTo>
                <a:lnTo>
                  <a:pt x="1673622" y="288535"/>
                </a:lnTo>
                <a:lnTo>
                  <a:pt x="1652046" y="330753"/>
                </a:lnTo>
                <a:lnTo>
                  <a:pt x="1610546" y="370473"/>
                </a:lnTo>
                <a:lnTo>
                  <a:pt x="1550846" y="407148"/>
                </a:lnTo>
                <a:lnTo>
                  <a:pt x="1514709" y="424171"/>
                </a:lnTo>
                <a:lnTo>
                  <a:pt x="1474669" y="440227"/>
                </a:lnTo>
                <a:lnTo>
                  <a:pt x="1430940" y="455247"/>
                </a:lnTo>
                <a:lnTo>
                  <a:pt x="1383739" y="469162"/>
                </a:lnTo>
                <a:lnTo>
                  <a:pt x="1333280" y="481904"/>
                </a:lnTo>
                <a:lnTo>
                  <a:pt x="1279779" y="493404"/>
                </a:lnTo>
                <a:lnTo>
                  <a:pt x="1223452" y="503593"/>
                </a:lnTo>
                <a:lnTo>
                  <a:pt x="1164514" y="512403"/>
                </a:lnTo>
                <a:lnTo>
                  <a:pt x="1103180" y="519765"/>
                </a:lnTo>
                <a:lnTo>
                  <a:pt x="1039667" y="525610"/>
                </a:lnTo>
                <a:lnTo>
                  <a:pt x="974188" y="529871"/>
                </a:lnTo>
                <a:lnTo>
                  <a:pt x="906961" y="532477"/>
                </a:lnTo>
                <a:lnTo>
                  <a:pt x="838200" y="533361"/>
                </a:lnTo>
                <a:lnTo>
                  <a:pt x="769455" y="532477"/>
                </a:lnTo>
                <a:lnTo>
                  <a:pt x="702242" y="529871"/>
                </a:lnTo>
                <a:lnTo>
                  <a:pt x="636774" y="525610"/>
                </a:lnTo>
                <a:lnTo>
                  <a:pt x="573267" y="519765"/>
                </a:lnTo>
                <a:lnTo>
                  <a:pt x="511938" y="512403"/>
                </a:lnTo>
                <a:lnTo>
                  <a:pt x="453003" y="503593"/>
                </a:lnTo>
                <a:lnTo>
                  <a:pt x="396676" y="493404"/>
                </a:lnTo>
                <a:lnTo>
                  <a:pt x="343174" y="481904"/>
                </a:lnTo>
                <a:lnTo>
                  <a:pt x="292712" y="469162"/>
                </a:lnTo>
                <a:lnTo>
                  <a:pt x="245506" y="455247"/>
                </a:lnTo>
                <a:lnTo>
                  <a:pt x="201773" y="440227"/>
                </a:lnTo>
                <a:lnTo>
                  <a:pt x="161726" y="424171"/>
                </a:lnTo>
                <a:lnTo>
                  <a:pt x="125584" y="407148"/>
                </a:lnTo>
                <a:lnTo>
                  <a:pt x="65871" y="370473"/>
                </a:lnTo>
                <a:lnTo>
                  <a:pt x="24360" y="330753"/>
                </a:lnTo>
                <a:lnTo>
                  <a:pt x="2778" y="288535"/>
                </a:lnTo>
                <a:lnTo>
                  <a:pt x="0" y="266661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09" name="Google Shape;1209;p86"/>
          <p:cNvSpPr txBox="1"/>
          <p:nvPr/>
        </p:nvSpPr>
        <p:spPr>
          <a:xfrm>
            <a:off x="5719953" y="5693155"/>
            <a:ext cx="77406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Postcode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86"/>
          <p:cNvSpPr/>
          <p:nvPr/>
        </p:nvSpPr>
        <p:spPr>
          <a:xfrm>
            <a:off x="467537" y="4721733"/>
            <a:ext cx="1676400" cy="533400"/>
          </a:xfrm>
          <a:custGeom>
            <a:avLst/>
            <a:gdLst/>
            <a:ahLst/>
            <a:cxnLst/>
            <a:rect l="l" t="t" r="r" b="b"/>
            <a:pathLst>
              <a:path w="1676400" h="533400" extrusionOk="0">
                <a:moveTo>
                  <a:pt x="0" y="266700"/>
                </a:moveTo>
                <a:lnTo>
                  <a:pt x="10970" y="223433"/>
                </a:lnTo>
                <a:lnTo>
                  <a:pt x="42732" y="182392"/>
                </a:lnTo>
                <a:lnTo>
                  <a:pt x="93558" y="144124"/>
                </a:lnTo>
                <a:lnTo>
                  <a:pt x="161723" y="109179"/>
                </a:lnTo>
                <a:lnTo>
                  <a:pt x="201768" y="93124"/>
                </a:lnTo>
                <a:lnTo>
                  <a:pt x="245500" y="78105"/>
                </a:lnTo>
                <a:lnTo>
                  <a:pt x="292704" y="64190"/>
                </a:lnTo>
                <a:lnTo>
                  <a:pt x="343163" y="51450"/>
                </a:lnTo>
                <a:lnTo>
                  <a:pt x="396662" y="39951"/>
                </a:lnTo>
                <a:lnTo>
                  <a:pt x="452985" y="29763"/>
                </a:lnTo>
                <a:lnTo>
                  <a:pt x="511917" y="20955"/>
                </a:lnTo>
                <a:lnTo>
                  <a:pt x="573241" y="13594"/>
                </a:lnTo>
                <a:lnTo>
                  <a:pt x="636742" y="7749"/>
                </a:lnTo>
                <a:lnTo>
                  <a:pt x="702205" y="3489"/>
                </a:lnTo>
                <a:lnTo>
                  <a:pt x="769412" y="883"/>
                </a:lnTo>
                <a:lnTo>
                  <a:pt x="838149" y="0"/>
                </a:lnTo>
                <a:lnTo>
                  <a:pt x="906910" y="883"/>
                </a:lnTo>
                <a:lnTo>
                  <a:pt x="974138" y="3489"/>
                </a:lnTo>
                <a:lnTo>
                  <a:pt x="1039616" y="7749"/>
                </a:lnTo>
                <a:lnTo>
                  <a:pt x="1103130" y="13594"/>
                </a:lnTo>
                <a:lnTo>
                  <a:pt x="1164463" y="20955"/>
                </a:lnTo>
                <a:lnTo>
                  <a:pt x="1223401" y="29763"/>
                </a:lnTo>
                <a:lnTo>
                  <a:pt x="1279729" y="39951"/>
                </a:lnTo>
                <a:lnTo>
                  <a:pt x="1333229" y="51450"/>
                </a:lnTo>
                <a:lnTo>
                  <a:pt x="1383688" y="64190"/>
                </a:lnTo>
                <a:lnTo>
                  <a:pt x="1430889" y="78105"/>
                </a:lnTo>
                <a:lnTo>
                  <a:pt x="1474618" y="93124"/>
                </a:lnTo>
                <a:lnTo>
                  <a:pt x="1514658" y="109179"/>
                </a:lnTo>
                <a:lnTo>
                  <a:pt x="1550795" y="126202"/>
                </a:lnTo>
                <a:lnTo>
                  <a:pt x="1610495" y="162877"/>
                </a:lnTo>
                <a:lnTo>
                  <a:pt x="1651995" y="202600"/>
                </a:lnTo>
                <a:lnTo>
                  <a:pt x="1673571" y="244822"/>
                </a:lnTo>
                <a:lnTo>
                  <a:pt x="1676349" y="266700"/>
                </a:lnTo>
                <a:lnTo>
                  <a:pt x="1673571" y="288577"/>
                </a:lnTo>
                <a:lnTo>
                  <a:pt x="1651995" y="330799"/>
                </a:lnTo>
                <a:lnTo>
                  <a:pt x="1610495" y="370522"/>
                </a:lnTo>
                <a:lnTo>
                  <a:pt x="1550795" y="407197"/>
                </a:lnTo>
                <a:lnTo>
                  <a:pt x="1514658" y="424220"/>
                </a:lnTo>
                <a:lnTo>
                  <a:pt x="1474618" y="440275"/>
                </a:lnTo>
                <a:lnTo>
                  <a:pt x="1430889" y="455295"/>
                </a:lnTo>
                <a:lnTo>
                  <a:pt x="1383688" y="469209"/>
                </a:lnTo>
                <a:lnTo>
                  <a:pt x="1333229" y="481949"/>
                </a:lnTo>
                <a:lnTo>
                  <a:pt x="1279729" y="493448"/>
                </a:lnTo>
                <a:lnTo>
                  <a:pt x="1223401" y="503636"/>
                </a:lnTo>
                <a:lnTo>
                  <a:pt x="1164463" y="512445"/>
                </a:lnTo>
                <a:lnTo>
                  <a:pt x="1103130" y="519805"/>
                </a:lnTo>
                <a:lnTo>
                  <a:pt x="1039616" y="525650"/>
                </a:lnTo>
                <a:lnTo>
                  <a:pt x="974138" y="529910"/>
                </a:lnTo>
                <a:lnTo>
                  <a:pt x="906910" y="532516"/>
                </a:lnTo>
                <a:lnTo>
                  <a:pt x="838149" y="533400"/>
                </a:lnTo>
                <a:lnTo>
                  <a:pt x="769412" y="532516"/>
                </a:lnTo>
                <a:lnTo>
                  <a:pt x="702205" y="529910"/>
                </a:lnTo>
                <a:lnTo>
                  <a:pt x="636742" y="525650"/>
                </a:lnTo>
                <a:lnTo>
                  <a:pt x="573241" y="519805"/>
                </a:lnTo>
                <a:lnTo>
                  <a:pt x="511917" y="512445"/>
                </a:lnTo>
                <a:lnTo>
                  <a:pt x="452985" y="503636"/>
                </a:lnTo>
                <a:lnTo>
                  <a:pt x="396662" y="493448"/>
                </a:lnTo>
                <a:lnTo>
                  <a:pt x="343163" y="481949"/>
                </a:lnTo>
                <a:lnTo>
                  <a:pt x="292704" y="469209"/>
                </a:lnTo>
                <a:lnTo>
                  <a:pt x="245500" y="455295"/>
                </a:lnTo>
                <a:lnTo>
                  <a:pt x="201768" y="440275"/>
                </a:lnTo>
                <a:lnTo>
                  <a:pt x="161723" y="424220"/>
                </a:lnTo>
                <a:lnTo>
                  <a:pt x="125581" y="407197"/>
                </a:lnTo>
                <a:lnTo>
                  <a:pt x="65870" y="370522"/>
                </a:lnTo>
                <a:lnTo>
                  <a:pt x="24360" y="330799"/>
                </a:lnTo>
                <a:lnTo>
                  <a:pt x="2778" y="288577"/>
                </a:lnTo>
                <a:lnTo>
                  <a:pt x="0" y="2667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11" name="Google Shape;1211;p86"/>
          <p:cNvSpPr txBox="1"/>
          <p:nvPr/>
        </p:nvSpPr>
        <p:spPr>
          <a:xfrm>
            <a:off x="1048308" y="4854702"/>
            <a:ext cx="51689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86"/>
          <p:cNvSpPr/>
          <p:nvPr/>
        </p:nvSpPr>
        <p:spPr>
          <a:xfrm>
            <a:off x="2372486" y="5559933"/>
            <a:ext cx="1676400" cy="533400"/>
          </a:xfrm>
          <a:custGeom>
            <a:avLst/>
            <a:gdLst/>
            <a:ahLst/>
            <a:cxnLst/>
            <a:rect l="l" t="t" r="r" b="b"/>
            <a:pathLst>
              <a:path w="1676400" h="533400" extrusionOk="0">
                <a:moveTo>
                  <a:pt x="0" y="266661"/>
                </a:moveTo>
                <a:lnTo>
                  <a:pt x="10970" y="223402"/>
                </a:lnTo>
                <a:lnTo>
                  <a:pt x="42732" y="182367"/>
                </a:lnTo>
                <a:lnTo>
                  <a:pt x="93560" y="144106"/>
                </a:lnTo>
                <a:lnTo>
                  <a:pt x="161726" y="109165"/>
                </a:lnTo>
                <a:lnTo>
                  <a:pt x="201773" y="93112"/>
                </a:lnTo>
                <a:lnTo>
                  <a:pt x="245506" y="78095"/>
                </a:lnTo>
                <a:lnTo>
                  <a:pt x="292712" y="64183"/>
                </a:lnTo>
                <a:lnTo>
                  <a:pt x="343174" y="51444"/>
                </a:lnTo>
                <a:lnTo>
                  <a:pt x="396676" y="39946"/>
                </a:lnTo>
                <a:lnTo>
                  <a:pt x="453003" y="29760"/>
                </a:lnTo>
                <a:lnTo>
                  <a:pt x="511938" y="20952"/>
                </a:lnTo>
                <a:lnTo>
                  <a:pt x="573267" y="13592"/>
                </a:lnTo>
                <a:lnTo>
                  <a:pt x="636774" y="7748"/>
                </a:lnTo>
                <a:lnTo>
                  <a:pt x="702242" y="3489"/>
                </a:lnTo>
                <a:lnTo>
                  <a:pt x="769455" y="883"/>
                </a:lnTo>
                <a:lnTo>
                  <a:pt x="838200" y="0"/>
                </a:lnTo>
                <a:lnTo>
                  <a:pt x="906961" y="883"/>
                </a:lnTo>
                <a:lnTo>
                  <a:pt x="974188" y="3489"/>
                </a:lnTo>
                <a:lnTo>
                  <a:pt x="1039667" y="7748"/>
                </a:lnTo>
                <a:lnTo>
                  <a:pt x="1103180" y="13592"/>
                </a:lnTo>
                <a:lnTo>
                  <a:pt x="1164514" y="20952"/>
                </a:lnTo>
                <a:lnTo>
                  <a:pt x="1223452" y="29760"/>
                </a:lnTo>
                <a:lnTo>
                  <a:pt x="1279779" y="39946"/>
                </a:lnTo>
                <a:lnTo>
                  <a:pt x="1333280" y="51444"/>
                </a:lnTo>
                <a:lnTo>
                  <a:pt x="1383739" y="64183"/>
                </a:lnTo>
                <a:lnTo>
                  <a:pt x="1430940" y="78095"/>
                </a:lnTo>
                <a:lnTo>
                  <a:pt x="1474669" y="93112"/>
                </a:lnTo>
                <a:lnTo>
                  <a:pt x="1514709" y="109165"/>
                </a:lnTo>
                <a:lnTo>
                  <a:pt x="1550846" y="126186"/>
                </a:lnTo>
                <a:lnTo>
                  <a:pt x="1610546" y="162856"/>
                </a:lnTo>
                <a:lnTo>
                  <a:pt x="1652046" y="202573"/>
                </a:lnTo>
                <a:lnTo>
                  <a:pt x="1673622" y="244788"/>
                </a:lnTo>
                <a:lnTo>
                  <a:pt x="1676400" y="266661"/>
                </a:lnTo>
                <a:lnTo>
                  <a:pt x="1673622" y="288535"/>
                </a:lnTo>
                <a:lnTo>
                  <a:pt x="1652046" y="330753"/>
                </a:lnTo>
                <a:lnTo>
                  <a:pt x="1610546" y="370473"/>
                </a:lnTo>
                <a:lnTo>
                  <a:pt x="1550846" y="407148"/>
                </a:lnTo>
                <a:lnTo>
                  <a:pt x="1514709" y="424171"/>
                </a:lnTo>
                <a:lnTo>
                  <a:pt x="1474669" y="440227"/>
                </a:lnTo>
                <a:lnTo>
                  <a:pt x="1430940" y="455247"/>
                </a:lnTo>
                <a:lnTo>
                  <a:pt x="1383739" y="469162"/>
                </a:lnTo>
                <a:lnTo>
                  <a:pt x="1333280" y="481904"/>
                </a:lnTo>
                <a:lnTo>
                  <a:pt x="1279779" y="493404"/>
                </a:lnTo>
                <a:lnTo>
                  <a:pt x="1223452" y="503593"/>
                </a:lnTo>
                <a:lnTo>
                  <a:pt x="1164514" y="512403"/>
                </a:lnTo>
                <a:lnTo>
                  <a:pt x="1103180" y="519765"/>
                </a:lnTo>
                <a:lnTo>
                  <a:pt x="1039667" y="525610"/>
                </a:lnTo>
                <a:lnTo>
                  <a:pt x="974188" y="529871"/>
                </a:lnTo>
                <a:lnTo>
                  <a:pt x="906961" y="532477"/>
                </a:lnTo>
                <a:lnTo>
                  <a:pt x="838200" y="533361"/>
                </a:lnTo>
                <a:lnTo>
                  <a:pt x="769455" y="532477"/>
                </a:lnTo>
                <a:lnTo>
                  <a:pt x="702242" y="529871"/>
                </a:lnTo>
                <a:lnTo>
                  <a:pt x="636774" y="525610"/>
                </a:lnTo>
                <a:lnTo>
                  <a:pt x="573267" y="519765"/>
                </a:lnTo>
                <a:lnTo>
                  <a:pt x="511938" y="512403"/>
                </a:lnTo>
                <a:lnTo>
                  <a:pt x="453003" y="503593"/>
                </a:lnTo>
                <a:lnTo>
                  <a:pt x="396676" y="493404"/>
                </a:lnTo>
                <a:lnTo>
                  <a:pt x="343174" y="481904"/>
                </a:lnTo>
                <a:lnTo>
                  <a:pt x="292712" y="469162"/>
                </a:lnTo>
                <a:lnTo>
                  <a:pt x="245506" y="455247"/>
                </a:lnTo>
                <a:lnTo>
                  <a:pt x="201773" y="440227"/>
                </a:lnTo>
                <a:lnTo>
                  <a:pt x="161726" y="424171"/>
                </a:lnTo>
                <a:lnTo>
                  <a:pt x="125584" y="407148"/>
                </a:lnTo>
                <a:lnTo>
                  <a:pt x="65871" y="370473"/>
                </a:lnTo>
                <a:lnTo>
                  <a:pt x="24360" y="330753"/>
                </a:lnTo>
                <a:lnTo>
                  <a:pt x="2778" y="288535"/>
                </a:lnTo>
                <a:lnTo>
                  <a:pt x="0" y="266661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13" name="Google Shape;1213;p86"/>
          <p:cNvSpPr txBox="1"/>
          <p:nvPr/>
        </p:nvSpPr>
        <p:spPr>
          <a:xfrm>
            <a:off x="2586354" y="5693155"/>
            <a:ext cx="12509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Phone number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86"/>
          <p:cNvSpPr/>
          <p:nvPr/>
        </p:nvSpPr>
        <p:spPr>
          <a:xfrm>
            <a:off x="2372486" y="2054732"/>
            <a:ext cx="1676400" cy="533400"/>
          </a:xfrm>
          <a:custGeom>
            <a:avLst/>
            <a:gdLst/>
            <a:ahLst/>
            <a:cxnLst/>
            <a:rect l="l" t="t" r="r" b="b"/>
            <a:pathLst>
              <a:path w="1676400" h="533400" extrusionOk="0">
                <a:moveTo>
                  <a:pt x="0" y="266700"/>
                </a:moveTo>
                <a:lnTo>
                  <a:pt x="10970" y="223433"/>
                </a:lnTo>
                <a:lnTo>
                  <a:pt x="42732" y="182392"/>
                </a:lnTo>
                <a:lnTo>
                  <a:pt x="93560" y="144124"/>
                </a:lnTo>
                <a:lnTo>
                  <a:pt x="161726" y="109179"/>
                </a:lnTo>
                <a:lnTo>
                  <a:pt x="201773" y="93124"/>
                </a:lnTo>
                <a:lnTo>
                  <a:pt x="245506" y="78104"/>
                </a:lnTo>
                <a:lnTo>
                  <a:pt x="292712" y="64190"/>
                </a:lnTo>
                <a:lnTo>
                  <a:pt x="343174" y="51450"/>
                </a:lnTo>
                <a:lnTo>
                  <a:pt x="396676" y="39951"/>
                </a:lnTo>
                <a:lnTo>
                  <a:pt x="453003" y="29763"/>
                </a:lnTo>
                <a:lnTo>
                  <a:pt x="511938" y="20955"/>
                </a:lnTo>
                <a:lnTo>
                  <a:pt x="573267" y="13594"/>
                </a:lnTo>
                <a:lnTo>
                  <a:pt x="636774" y="7749"/>
                </a:lnTo>
                <a:lnTo>
                  <a:pt x="702242" y="3489"/>
                </a:lnTo>
                <a:lnTo>
                  <a:pt x="769455" y="883"/>
                </a:lnTo>
                <a:lnTo>
                  <a:pt x="838200" y="0"/>
                </a:lnTo>
                <a:lnTo>
                  <a:pt x="906961" y="883"/>
                </a:lnTo>
                <a:lnTo>
                  <a:pt x="974188" y="3489"/>
                </a:lnTo>
                <a:lnTo>
                  <a:pt x="1039667" y="7749"/>
                </a:lnTo>
                <a:lnTo>
                  <a:pt x="1103180" y="13594"/>
                </a:lnTo>
                <a:lnTo>
                  <a:pt x="1164514" y="20954"/>
                </a:lnTo>
                <a:lnTo>
                  <a:pt x="1223452" y="29763"/>
                </a:lnTo>
                <a:lnTo>
                  <a:pt x="1279779" y="39951"/>
                </a:lnTo>
                <a:lnTo>
                  <a:pt x="1333280" y="51450"/>
                </a:lnTo>
                <a:lnTo>
                  <a:pt x="1383739" y="64190"/>
                </a:lnTo>
                <a:lnTo>
                  <a:pt x="1430940" y="78104"/>
                </a:lnTo>
                <a:lnTo>
                  <a:pt x="1474669" y="93124"/>
                </a:lnTo>
                <a:lnTo>
                  <a:pt x="1514709" y="109179"/>
                </a:lnTo>
                <a:lnTo>
                  <a:pt x="1550846" y="126202"/>
                </a:lnTo>
                <a:lnTo>
                  <a:pt x="1610546" y="162877"/>
                </a:lnTo>
                <a:lnTo>
                  <a:pt x="1652046" y="202600"/>
                </a:lnTo>
                <a:lnTo>
                  <a:pt x="1673622" y="244822"/>
                </a:lnTo>
                <a:lnTo>
                  <a:pt x="1676400" y="266700"/>
                </a:lnTo>
                <a:lnTo>
                  <a:pt x="1673622" y="288577"/>
                </a:lnTo>
                <a:lnTo>
                  <a:pt x="1652046" y="330799"/>
                </a:lnTo>
                <a:lnTo>
                  <a:pt x="1610546" y="370522"/>
                </a:lnTo>
                <a:lnTo>
                  <a:pt x="1550846" y="407197"/>
                </a:lnTo>
                <a:lnTo>
                  <a:pt x="1514709" y="424220"/>
                </a:lnTo>
                <a:lnTo>
                  <a:pt x="1474669" y="440275"/>
                </a:lnTo>
                <a:lnTo>
                  <a:pt x="1430940" y="455295"/>
                </a:lnTo>
                <a:lnTo>
                  <a:pt x="1383739" y="469209"/>
                </a:lnTo>
                <a:lnTo>
                  <a:pt x="1333280" y="481949"/>
                </a:lnTo>
                <a:lnTo>
                  <a:pt x="1279779" y="493448"/>
                </a:lnTo>
                <a:lnTo>
                  <a:pt x="1223452" y="503636"/>
                </a:lnTo>
                <a:lnTo>
                  <a:pt x="1164514" y="512445"/>
                </a:lnTo>
                <a:lnTo>
                  <a:pt x="1103180" y="519805"/>
                </a:lnTo>
                <a:lnTo>
                  <a:pt x="1039667" y="525650"/>
                </a:lnTo>
                <a:lnTo>
                  <a:pt x="974188" y="529910"/>
                </a:lnTo>
                <a:lnTo>
                  <a:pt x="906961" y="532516"/>
                </a:lnTo>
                <a:lnTo>
                  <a:pt x="838200" y="533400"/>
                </a:lnTo>
                <a:lnTo>
                  <a:pt x="769455" y="532516"/>
                </a:lnTo>
                <a:lnTo>
                  <a:pt x="702242" y="529910"/>
                </a:lnTo>
                <a:lnTo>
                  <a:pt x="636774" y="525650"/>
                </a:lnTo>
                <a:lnTo>
                  <a:pt x="573267" y="519805"/>
                </a:lnTo>
                <a:lnTo>
                  <a:pt x="511938" y="512445"/>
                </a:lnTo>
                <a:lnTo>
                  <a:pt x="453003" y="503636"/>
                </a:lnTo>
                <a:lnTo>
                  <a:pt x="396676" y="493448"/>
                </a:lnTo>
                <a:lnTo>
                  <a:pt x="343174" y="481949"/>
                </a:lnTo>
                <a:lnTo>
                  <a:pt x="292712" y="469209"/>
                </a:lnTo>
                <a:lnTo>
                  <a:pt x="245506" y="455295"/>
                </a:lnTo>
                <a:lnTo>
                  <a:pt x="201773" y="440275"/>
                </a:lnTo>
                <a:lnTo>
                  <a:pt x="161726" y="424220"/>
                </a:lnTo>
                <a:lnTo>
                  <a:pt x="125584" y="407197"/>
                </a:lnTo>
                <a:lnTo>
                  <a:pt x="65871" y="370522"/>
                </a:lnTo>
                <a:lnTo>
                  <a:pt x="24360" y="330799"/>
                </a:lnTo>
                <a:lnTo>
                  <a:pt x="2778" y="288577"/>
                </a:lnTo>
                <a:lnTo>
                  <a:pt x="0" y="2667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15" name="Google Shape;1215;p86"/>
          <p:cNvSpPr txBox="1"/>
          <p:nvPr/>
        </p:nvSpPr>
        <p:spPr>
          <a:xfrm>
            <a:off x="2994786" y="2187321"/>
            <a:ext cx="43434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86"/>
          <p:cNvSpPr/>
          <p:nvPr/>
        </p:nvSpPr>
        <p:spPr>
          <a:xfrm>
            <a:off x="467537" y="2892932"/>
            <a:ext cx="1676400" cy="533400"/>
          </a:xfrm>
          <a:custGeom>
            <a:avLst/>
            <a:gdLst/>
            <a:ahLst/>
            <a:cxnLst/>
            <a:rect l="l" t="t" r="r" b="b"/>
            <a:pathLst>
              <a:path w="1676400" h="533400" extrusionOk="0">
                <a:moveTo>
                  <a:pt x="0" y="266700"/>
                </a:moveTo>
                <a:lnTo>
                  <a:pt x="10970" y="223433"/>
                </a:lnTo>
                <a:lnTo>
                  <a:pt x="42732" y="182392"/>
                </a:lnTo>
                <a:lnTo>
                  <a:pt x="93558" y="144124"/>
                </a:lnTo>
                <a:lnTo>
                  <a:pt x="161723" y="109179"/>
                </a:lnTo>
                <a:lnTo>
                  <a:pt x="201768" y="93124"/>
                </a:lnTo>
                <a:lnTo>
                  <a:pt x="245500" y="78104"/>
                </a:lnTo>
                <a:lnTo>
                  <a:pt x="292704" y="64190"/>
                </a:lnTo>
                <a:lnTo>
                  <a:pt x="343163" y="51450"/>
                </a:lnTo>
                <a:lnTo>
                  <a:pt x="396662" y="39951"/>
                </a:lnTo>
                <a:lnTo>
                  <a:pt x="452985" y="29763"/>
                </a:lnTo>
                <a:lnTo>
                  <a:pt x="511917" y="20955"/>
                </a:lnTo>
                <a:lnTo>
                  <a:pt x="573241" y="13594"/>
                </a:lnTo>
                <a:lnTo>
                  <a:pt x="636742" y="7749"/>
                </a:lnTo>
                <a:lnTo>
                  <a:pt x="702205" y="3489"/>
                </a:lnTo>
                <a:lnTo>
                  <a:pt x="769412" y="883"/>
                </a:lnTo>
                <a:lnTo>
                  <a:pt x="838149" y="0"/>
                </a:lnTo>
                <a:lnTo>
                  <a:pt x="906910" y="883"/>
                </a:lnTo>
                <a:lnTo>
                  <a:pt x="974138" y="3489"/>
                </a:lnTo>
                <a:lnTo>
                  <a:pt x="1039616" y="7749"/>
                </a:lnTo>
                <a:lnTo>
                  <a:pt x="1103130" y="13594"/>
                </a:lnTo>
                <a:lnTo>
                  <a:pt x="1164463" y="20954"/>
                </a:lnTo>
                <a:lnTo>
                  <a:pt x="1223401" y="29763"/>
                </a:lnTo>
                <a:lnTo>
                  <a:pt x="1279729" y="39951"/>
                </a:lnTo>
                <a:lnTo>
                  <a:pt x="1333229" y="51450"/>
                </a:lnTo>
                <a:lnTo>
                  <a:pt x="1383688" y="64190"/>
                </a:lnTo>
                <a:lnTo>
                  <a:pt x="1430889" y="78104"/>
                </a:lnTo>
                <a:lnTo>
                  <a:pt x="1474618" y="93124"/>
                </a:lnTo>
                <a:lnTo>
                  <a:pt x="1514658" y="109179"/>
                </a:lnTo>
                <a:lnTo>
                  <a:pt x="1550795" y="126202"/>
                </a:lnTo>
                <a:lnTo>
                  <a:pt x="1610495" y="162877"/>
                </a:lnTo>
                <a:lnTo>
                  <a:pt x="1651995" y="202600"/>
                </a:lnTo>
                <a:lnTo>
                  <a:pt x="1673571" y="244822"/>
                </a:lnTo>
                <a:lnTo>
                  <a:pt x="1676349" y="266700"/>
                </a:lnTo>
                <a:lnTo>
                  <a:pt x="1673571" y="288577"/>
                </a:lnTo>
                <a:lnTo>
                  <a:pt x="1651995" y="330799"/>
                </a:lnTo>
                <a:lnTo>
                  <a:pt x="1610495" y="370522"/>
                </a:lnTo>
                <a:lnTo>
                  <a:pt x="1550795" y="407197"/>
                </a:lnTo>
                <a:lnTo>
                  <a:pt x="1514658" y="424220"/>
                </a:lnTo>
                <a:lnTo>
                  <a:pt x="1474618" y="440275"/>
                </a:lnTo>
                <a:lnTo>
                  <a:pt x="1430889" y="455295"/>
                </a:lnTo>
                <a:lnTo>
                  <a:pt x="1383688" y="469209"/>
                </a:lnTo>
                <a:lnTo>
                  <a:pt x="1333229" y="481949"/>
                </a:lnTo>
                <a:lnTo>
                  <a:pt x="1279729" y="493448"/>
                </a:lnTo>
                <a:lnTo>
                  <a:pt x="1223401" y="503636"/>
                </a:lnTo>
                <a:lnTo>
                  <a:pt x="1164463" y="512445"/>
                </a:lnTo>
                <a:lnTo>
                  <a:pt x="1103130" y="519805"/>
                </a:lnTo>
                <a:lnTo>
                  <a:pt x="1039616" y="525650"/>
                </a:lnTo>
                <a:lnTo>
                  <a:pt x="974138" y="529910"/>
                </a:lnTo>
                <a:lnTo>
                  <a:pt x="906910" y="532516"/>
                </a:lnTo>
                <a:lnTo>
                  <a:pt x="838149" y="533400"/>
                </a:lnTo>
                <a:lnTo>
                  <a:pt x="769412" y="532516"/>
                </a:lnTo>
                <a:lnTo>
                  <a:pt x="702205" y="529910"/>
                </a:lnTo>
                <a:lnTo>
                  <a:pt x="636742" y="525650"/>
                </a:lnTo>
                <a:lnTo>
                  <a:pt x="573241" y="519805"/>
                </a:lnTo>
                <a:lnTo>
                  <a:pt x="511917" y="512445"/>
                </a:lnTo>
                <a:lnTo>
                  <a:pt x="452985" y="503636"/>
                </a:lnTo>
                <a:lnTo>
                  <a:pt x="396662" y="493448"/>
                </a:lnTo>
                <a:lnTo>
                  <a:pt x="343163" y="481949"/>
                </a:lnTo>
                <a:lnTo>
                  <a:pt x="292704" y="469209"/>
                </a:lnTo>
                <a:lnTo>
                  <a:pt x="245500" y="455295"/>
                </a:lnTo>
                <a:lnTo>
                  <a:pt x="201768" y="440275"/>
                </a:lnTo>
                <a:lnTo>
                  <a:pt x="161723" y="424220"/>
                </a:lnTo>
                <a:lnTo>
                  <a:pt x="125581" y="407197"/>
                </a:lnTo>
                <a:lnTo>
                  <a:pt x="65870" y="370522"/>
                </a:lnTo>
                <a:lnTo>
                  <a:pt x="24360" y="330799"/>
                </a:lnTo>
                <a:lnTo>
                  <a:pt x="2778" y="288577"/>
                </a:lnTo>
                <a:lnTo>
                  <a:pt x="0" y="2667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17" name="Google Shape;1217;p86"/>
          <p:cNvSpPr txBox="1"/>
          <p:nvPr/>
        </p:nvSpPr>
        <p:spPr>
          <a:xfrm>
            <a:off x="822756" y="3025521"/>
            <a:ext cx="96710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86"/>
          <p:cNvSpPr/>
          <p:nvPr/>
        </p:nvSpPr>
        <p:spPr>
          <a:xfrm>
            <a:off x="3210686" y="2597657"/>
            <a:ext cx="0" cy="285750"/>
          </a:xfrm>
          <a:custGeom>
            <a:avLst/>
            <a:gdLst/>
            <a:ahLst/>
            <a:cxnLst/>
            <a:rect l="l" t="t" r="r" b="b"/>
            <a:pathLst>
              <a:path w="120000" h="285750" extrusionOk="0">
                <a:moveTo>
                  <a:pt x="0" y="285750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19" name="Google Shape;1219;p86"/>
          <p:cNvSpPr/>
          <p:nvPr/>
        </p:nvSpPr>
        <p:spPr>
          <a:xfrm>
            <a:off x="2153411" y="3159632"/>
            <a:ext cx="361950" cy="0"/>
          </a:xfrm>
          <a:custGeom>
            <a:avLst/>
            <a:gdLst/>
            <a:ahLst/>
            <a:cxnLst/>
            <a:rect l="l" t="t" r="r" b="b"/>
            <a:pathLst>
              <a:path w="361950" h="120000" extrusionOk="0">
                <a:moveTo>
                  <a:pt x="361950" y="0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20" name="Google Shape;1220;p86"/>
          <p:cNvSpPr/>
          <p:nvPr/>
        </p:nvSpPr>
        <p:spPr>
          <a:xfrm>
            <a:off x="2153411" y="4988433"/>
            <a:ext cx="361950" cy="0"/>
          </a:xfrm>
          <a:custGeom>
            <a:avLst/>
            <a:gdLst/>
            <a:ahLst/>
            <a:cxnLst/>
            <a:rect l="l" t="t" r="r" b="b"/>
            <a:pathLst>
              <a:path w="361950" h="120000" extrusionOk="0">
                <a:moveTo>
                  <a:pt x="361950" y="0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21" name="Google Shape;1221;p86"/>
          <p:cNvSpPr/>
          <p:nvPr/>
        </p:nvSpPr>
        <p:spPr>
          <a:xfrm>
            <a:off x="3210686" y="5264658"/>
            <a:ext cx="0" cy="285750"/>
          </a:xfrm>
          <a:custGeom>
            <a:avLst/>
            <a:gdLst/>
            <a:ahLst/>
            <a:cxnLst/>
            <a:rect l="l" t="t" r="r" b="b"/>
            <a:pathLst>
              <a:path w="120000" h="285750" extrusionOk="0">
                <a:moveTo>
                  <a:pt x="0" y="0"/>
                </a:moveTo>
                <a:lnTo>
                  <a:pt x="0" y="285749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22" name="Google Shape;1222;p86"/>
          <p:cNvSpPr/>
          <p:nvPr/>
        </p:nvSpPr>
        <p:spPr>
          <a:xfrm>
            <a:off x="6106286" y="5264658"/>
            <a:ext cx="0" cy="285750"/>
          </a:xfrm>
          <a:custGeom>
            <a:avLst/>
            <a:gdLst/>
            <a:ahLst/>
            <a:cxnLst/>
            <a:rect l="l" t="t" r="r" b="b"/>
            <a:pathLst>
              <a:path w="120000" h="285750" extrusionOk="0">
                <a:moveTo>
                  <a:pt x="0" y="0"/>
                </a:moveTo>
                <a:lnTo>
                  <a:pt x="0" y="285749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23" name="Google Shape;1223;p86"/>
          <p:cNvSpPr/>
          <p:nvPr/>
        </p:nvSpPr>
        <p:spPr>
          <a:xfrm>
            <a:off x="6801611" y="4988433"/>
            <a:ext cx="285750" cy="0"/>
          </a:xfrm>
          <a:custGeom>
            <a:avLst/>
            <a:gdLst/>
            <a:ahLst/>
            <a:cxnLst/>
            <a:rect l="l" t="t" r="r" b="b"/>
            <a:pathLst>
              <a:path w="285750" h="120000" extrusionOk="0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24" name="Google Shape;1224;p86"/>
          <p:cNvSpPr/>
          <p:nvPr/>
        </p:nvSpPr>
        <p:spPr>
          <a:xfrm>
            <a:off x="6106286" y="4426458"/>
            <a:ext cx="0" cy="285750"/>
          </a:xfrm>
          <a:custGeom>
            <a:avLst/>
            <a:gdLst/>
            <a:ahLst/>
            <a:cxnLst/>
            <a:rect l="l" t="t" r="r" b="b"/>
            <a:pathLst>
              <a:path w="120000" h="285750" extrusionOk="0">
                <a:moveTo>
                  <a:pt x="0" y="285750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0566586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8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26047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Example - Relationships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1230" name="Google Shape;1230;p8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33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31" name="Google Shape;1231;p87"/>
          <p:cNvSpPr txBox="1"/>
          <p:nvPr/>
        </p:nvSpPr>
        <p:spPr>
          <a:xfrm>
            <a:off x="535940" y="1622805"/>
            <a:ext cx="3879215" cy="3592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product has 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supplier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5080" lvl="1" indent="-28638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product has a single  supplier but there is  nothing to stop a  supplier supplying many  products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1320800" lvl="1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many to one  relationship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87"/>
          <p:cNvSpPr txBox="1"/>
          <p:nvPr/>
        </p:nvSpPr>
        <p:spPr>
          <a:xfrm>
            <a:off x="4727828" y="1622805"/>
            <a:ext cx="3596640" cy="4031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supplier has an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98425" lvl="1" indent="-28638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supplier has a single  address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5080" lvl="1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does not seem  sensible for two  different suppliers to  have the same address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1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one to one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relationship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11075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8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35953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Example - E/R Diagram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1237" name="Google Shape;1237;p8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34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39" name="Google Shape;1239;p88"/>
          <p:cNvSpPr/>
          <p:nvPr/>
        </p:nvSpPr>
        <p:spPr>
          <a:xfrm>
            <a:off x="2524886" y="2892932"/>
            <a:ext cx="1371600" cy="533400"/>
          </a:xfrm>
          <a:custGeom>
            <a:avLst/>
            <a:gdLst/>
            <a:ahLst/>
            <a:cxnLst/>
            <a:rect l="l" t="t" r="r" b="b"/>
            <a:pathLst>
              <a:path w="1371600" h="533400" extrusionOk="0">
                <a:moveTo>
                  <a:pt x="0" y="88900"/>
                </a:moveTo>
                <a:lnTo>
                  <a:pt x="6996" y="54274"/>
                </a:lnTo>
                <a:lnTo>
                  <a:pt x="26066" y="26019"/>
                </a:lnTo>
                <a:lnTo>
                  <a:pt x="54328" y="6979"/>
                </a:lnTo>
                <a:lnTo>
                  <a:pt x="88900" y="0"/>
                </a:lnTo>
                <a:lnTo>
                  <a:pt x="1282700" y="0"/>
                </a:lnTo>
                <a:lnTo>
                  <a:pt x="1317325" y="6979"/>
                </a:lnTo>
                <a:lnTo>
                  <a:pt x="1345580" y="26019"/>
                </a:lnTo>
                <a:lnTo>
                  <a:pt x="1364620" y="54274"/>
                </a:lnTo>
                <a:lnTo>
                  <a:pt x="1371600" y="88900"/>
                </a:lnTo>
                <a:lnTo>
                  <a:pt x="1371600" y="444500"/>
                </a:lnTo>
                <a:lnTo>
                  <a:pt x="1364620" y="479071"/>
                </a:lnTo>
                <a:lnTo>
                  <a:pt x="1345580" y="507333"/>
                </a:lnTo>
                <a:lnTo>
                  <a:pt x="1317325" y="526403"/>
                </a:lnTo>
                <a:lnTo>
                  <a:pt x="1282700" y="533400"/>
                </a:lnTo>
                <a:lnTo>
                  <a:pt x="88900" y="533400"/>
                </a:lnTo>
                <a:lnTo>
                  <a:pt x="54328" y="526403"/>
                </a:lnTo>
                <a:lnTo>
                  <a:pt x="26066" y="507333"/>
                </a:lnTo>
                <a:lnTo>
                  <a:pt x="6996" y="479071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40" name="Google Shape;1240;p88"/>
          <p:cNvSpPr txBox="1"/>
          <p:nvPr/>
        </p:nvSpPr>
        <p:spPr>
          <a:xfrm>
            <a:off x="2792348" y="2991484"/>
            <a:ext cx="83566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88"/>
          <p:cNvSpPr/>
          <p:nvPr/>
        </p:nvSpPr>
        <p:spPr>
          <a:xfrm>
            <a:off x="2524886" y="4721733"/>
            <a:ext cx="1371600" cy="533400"/>
          </a:xfrm>
          <a:custGeom>
            <a:avLst/>
            <a:gdLst/>
            <a:ahLst/>
            <a:cxnLst/>
            <a:rect l="l" t="t" r="r" b="b"/>
            <a:pathLst>
              <a:path w="1371600" h="533400" extrusionOk="0">
                <a:moveTo>
                  <a:pt x="0" y="88900"/>
                </a:moveTo>
                <a:lnTo>
                  <a:pt x="6996" y="54274"/>
                </a:lnTo>
                <a:lnTo>
                  <a:pt x="26066" y="26019"/>
                </a:lnTo>
                <a:lnTo>
                  <a:pt x="54328" y="6979"/>
                </a:lnTo>
                <a:lnTo>
                  <a:pt x="88900" y="0"/>
                </a:lnTo>
                <a:lnTo>
                  <a:pt x="1282700" y="0"/>
                </a:lnTo>
                <a:lnTo>
                  <a:pt x="1317325" y="6979"/>
                </a:lnTo>
                <a:lnTo>
                  <a:pt x="1345580" y="26019"/>
                </a:lnTo>
                <a:lnTo>
                  <a:pt x="1364620" y="54274"/>
                </a:lnTo>
                <a:lnTo>
                  <a:pt x="1371600" y="88900"/>
                </a:lnTo>
                <a:lnTo>
                  <a:pt x="1371600" y="444500"/>
                </a:lnTo>
                <a:lnTo>
                  <a:pt x="1364620" y="479071"/>
                </a:lnTo>
                <a:lnTo>
                  <a:pt x="1345580" y="507333"/>
                </a:lnTo>
                <a:lnTo>
                  <a:pt x="1317325" y="526403"/>
                </a:lnTo>
                <a:lnTo>
                  <a:pt x="1282700" y="533400"/>
                </a:lnTo>
                <a:lnTo>
                  <a:pt x="88900" y="533400"/>
                </a:lnTo>
                <a:lnTo>
                  <a:pt x="54328" y="526403"/>
                </a:lnTo>
                <a:lnTo>
                  <a:pt x="26066" y="507333"/>
                </a:lnTo>
                <a:lnTo>
                  <a:pt x="6996" y="479071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42" name="Google Shape;1242;p88"/>
          <p:cNvSpPr txBox="1"/>
          <p:nvPr/>
        </p:nvSpPr>
        <p:spPr>
          <a:xfrm>
            <a:off x="2772536" y="4820666"/>
            <a:ext cx="87630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Supplier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88"/>
          <p:cNvSpPr/>
          <p:nvPr/>
        </p:nvSpPr>
        <p:spPr>
          <a:xfrm>
            <a:off x="5420486" y="4721733"/>
            <a:ext cx="1371600" cy="533400"/>
          </a:xfrm>
          <a:custGeom>
            <a:avLst/>
            <a:gdLst/>
            <a:ahLst/>
            <a:cxnLst/>
            <a:rect l="l" t="t" r="r" b="b"/>
            <a:pathLst>
              <a:path w="1371600" h="533400" extrusionOk="0">
                <a:moveTo>
                  <a:pt x="0" y="88900"/>
                </a:moveTo>
                <a:lnTo>
                  <a:pt x="6996" y="54274"/>
                </a:lnTo>
                <a:lnTo>
                  <a:pt x="26066" y="26019"/>
                </a:lnTo>
                <a:lnTo>
                  <a:pt x="54328" y="6979"/>
                </a:lnTo>
                <a:lnTo>
                  <a:pt x="88900" y="0"/>
                </a:lnTo>
                <a:lnTo>
                  <a:pt x="1282699" y="0"/>
                </a:lnTo>
                <a:lnTo>
                  <a:pt x="1317325" y="6979"/>
                </a:lnTo>
                <a:lnTo>
                  <a:pt x="1345580" y="26019"/>
                </a:lnTo>
                <a:lnTo>
                  <a:pt x="1364620" y="54274"/>
                </a:lnTo>
                <a:lnTo>
                  <a:pt x="1371599" y="88900"/>
                </a:lnTo>
                <a:lnTo>
                  <a:pt x="1371599" y="444500"/>
                </a:lnTo>
                <a:lnTo>
                  <a:pt x="1364620" y="479071"/>
                </a:lnTo>
                <a:lnTo>
                  <a:pt x="1345580" y="507333"/>
                </a:lnTo>
                <a:lnTo>
                  <a:pt x="1317325" y="526403"/>
                </a:lnTo>
                <a:lnTo>
                  <a:pt x="1282699" y="533400"/>
                </a:lnTo>
                <a:lnTo>
                  <a:pt x="88900" y="533400"/>
                </a:lnTo>
                <a:lnTo>
                  <a:pt x="54328" y="526403"/>
                </a:lnTo>
                <a:lnTo>
                  <a:pt x="26066" y="507333"/>
                </a:lnTo>
                <a:lnTo>
                  <a:pt x="6996" y="479071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44" name="Google Shape;1244;p88"/>
          <p:cNvSpPr txBox="1"/>
          <p:nvPr/>
        </p:nvSpPr>
        <p:spPr>
          <a:xfrm>
            <a:off x="5680709" y="4820666"/>
            <a:ext cx="85280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88"/>
          <p:cNvSpPr/>
          <p:nvPr/>
        </p:nvSpPr>
        <p:spPr>
          <a:xfrm>
            <a:off x="5268086" y="3883533"/>
            <a:ext cx="1676400" cy="533400"/>
          </a:xfrm>
          <a:custGeom>
            <a:avLst/>
            <a:gdLst/>
            <a:ahLst/>
            <a:cxnLst/>
            <a:rect l="l" t="t" r="r" b="b"/>
            <a:pathLst>
              <a:path w="1676400" h="533400" extrusionOk="0">
                <a:moveTo>
                  <a:pt x="0" y="266700"/>
                </a:moveTo>
                <a:lnTo>
                  <a:pt x="10970" y="223433"/>
                </a:lnTo>
                <a:lnTo>
                  <a:pt x="42732" y="182392"/>
                </a:lnTo>
                <a:lnTo>
                  <a:pt x="93560" y="144124"/>
                </a:lnTo>
                <a:lnTo>
                  <a:pt x="161726" y="109179"/>
                </a:lnTo>
                <a:lnTo>
                  <a:pt x="201773" y="93124"/>
                </a:lnTo>
                <a:lnTo>
                  <a:pt x="245506" y="78105"/>
                </a:lnTo>
                <a:lnTo>
                  <a:pt x="292712" y="64190"/>
                </a:lnTo>
                <a:lnTo>
                  <a:pt x="343174" y="51450"/>
                </a:lnTo>
                <a:lnTo>
                  <a:pt x="396676" y="39951"/>
                </a:lnTo>
                <a:lnTo>
                  <a:pt x="453003" y="29763"/>
                </a:lnTo>
                <a:lnTo>
                  <a:pt x="511938" y="20955"/>
                </a:lnTo>
                <a:lnTo>
                  <a:pt x="573267" y="13594"/>
                </a:lnTo>
                <a:lnTo>
                  <a:pt x="636774" y="7749"/>
                </a:lnTo>
                <a:lnTo>
                  <a:pt x="702242" y="3489"/>
                </a:lnTo>
                <a:lnTo>
                  <a:pt x="769455" y="883"/>
                </a:lnTo>
                <a:lnTo>
                  <a:pt x="838200" y="0"/>
                </a:lnTo>
                <a:lnTo>
                  <a:pt x="906961" y="883"/>
                </a:lnTo>
                <a:lnTo>
                  <a:pt x="974188" y="3489"/>
                </a:lnTo>
                <a:lnTo>
                  <a:pt x="1039667" y="7749"/>
                </a:lnTo>
                <a:lnTo>
                  <a:pt x="1103180" y="13594"/>
                </a:lnTo>
                <a:lnTo>
                  <a:pt x="1164514" y="20955"/>
                </a:lnTo>
                <a:lnTo>
                  <a:pt x="1223452" y="29763"/>
                </a:lnTo>
                <a:lnTo>
                  <a:pt x="1279779" y="39951"/>
                </a:lnTo>
                <a:lnTo>
                  <a:pt x="1333280" y="51450"/>
                </a:lnTo>
                <a:lnTo>
                  <a:pt x="1383739" y="64190"/>
                </a:lnTo>
                <a:lnTo>
                  <a:pt x="1430940" y="78105"/>
                </a:lnTo>
                <a:lnTo>
                  <a:pt x="1474669" y="93124"/>
                </a:lnTo>
                <a:lnTo>
                  <a:pt x="1514709" y="109179"/>
                </a:lnTo>
                <a:lnTo>
                  <a:pt x="1550846" y="126202"/>
                </a:lnTo>
                <a:lnTo>
                  <a:pt x="1610546" y="162877"/>
                </a:lnTo>
                <a:lnTo>
                  <a:pt x="1652046" y="202600"/>
                </a:lnTo>
                <a:lnTo>
                  <a:pt x="1673622" y="244822"/>
                </a:lnTo>
                <a:lnTo>
                  <a:pt x="1676399" y="266700"/>
                </a:lnTo>
                <a:lnTo>
                  <a:pt x="1673622" y="288577"/>
                </a:lnTo>
                <a:lnTo>
                  <a:pt x="1652046" y="330799"/>
                </a:lnTo>
                <a:lnTo>
                  <a:pt x="1610546" y="370522"/>
                </a:lnTo>
                <a:lnTo>
                  <a:pt x="1550846" y="407197"/>
                </a:lnTo>
                <a:lnTo>
                  <a:pt x="1514709" y="424220"/>
                </a:lnTo>
                <a:lnTo>
                  <a:pt x="1474669" y="440275"/>
                </a:lnTo>
                <a:lnTo>
                  <a:pt x="1430940" y="455294"/>
                </a:lnTo>
                <a:lnTo>
                  <a:pt x="1383739" y="469209"/>
                </a:lnTo>
                <a:lnTo>
                  <a:pt x="1333280" y="481949"/>
                </a:lnTo>
                <a:lnTo>
                  <a:pt x="1279779" y="493448"/>
                </a:lnTo>
                <a:lnTo>
                  <a:pt x="1223452" y="503636"/>
                </a:lnTo>
                <a:lnTo>
                  <a:pt x="1164514" y="512444"/>
                </a:lnTo>
                <a:lnTo>
                  <a:pt x="1103180" y="519805"/>
                </a:lnTo>
                <a:lnTo>
                  <a:pt x="1039667" y="525650"/>
                </a:lnTo>
                <a:lnTo>
                  <a:pt x="974188" y="529910"/>
                </a:lnTo>
                <a:lnTo>
                  <a:pt x="906961" y="532516"/>
                </a:lnTo>
                <a:lnTo>
                  <a:pt x="838200" y="533400"/>
                </a:lnTo>
                <a:lnTo>
                  <a:pt x="769455" y="532516"/>
                </a:lnTo>
                <a:lnTo>
                  <a:pt x="702242" y="529910"/>
                </a:lnTo>
                <a:lnTo>
                  <a:pt x="636774" y="525650"/>
                </a:lnTo>
                <a:lnTo>
                  <a:pt x="573267" y="519805"/>
                </a:lnTo>
                <a:lnTo>
                  <a:pt x="511938" y="512445"/>
                </a:lnTo>
                <a:lnTo>
                  <a:pt x="453003" y="503636"/>
                </a:lnTo>
                <a:lnTo>
                  <a:pt x="396676" y="493448"/>
                </a:lnTo>
                <a:lnTo>
                  <a:pt x="343174" y="481949"/>
                </a:lnTo>
                <a:lnTo>
                  <a:pt x="292712" y="469209"/>
                </a:lnTo>
                <a:lnTo>
                  <a:pt x="245506" y="455295"/>
                </a:lnTo>
                <a:lnTo>
                  <a:pt x="201773" y="440275"/>
                </a:lnTo>
                <a:lnTo>
                  <a:pt x="161726" y="424220"/>
                </a:lnTo>
                <a:lnTo>
                  <a:pt x="125584" y="407197"/>
                </a:lnTo>
                <a:lnTo>
                  <a:pt x="65871" y="370522"/>
                </a:lnTo>
                <a:lnTo>
                  <a:pt x="24360" y="330799"/>
                </a:lnTo>
                <a:lnTo>
                  <a:pt x="2778" y="288577"/>
                </a:lnTo>
                <a:lnTo>
                  <a:pt x="0" y="2667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46" name="Google Shape;1246;p88"/>
          <p:cNvSpPr txBox="1"/>
          <p:nvPr/>
        </p:nvSpPr>
        <p:spPr>
          <a:xfrm>
            <a:off x="5503545" y="4016502"/>
            <a:ext cx="1209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Street address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88"/>
          <p:cNvSpPr/>
          <p:nvPr/>
        </p:nvSpPr>
        <p:spPr>
          <a:xfrm>
            <a:off x="7096886" y="4721733"/>
            <a:ext cx="1676400" cy="533400"/>
          </a:xfrm>
          <a:custGeom>
            <a:avLst/>
            <a:gdLst/>
            <a:ahLst/>
            <a:cxnLst/>
            <a:rect l="l" t="t" r="r" b="b"/>
            <a:pathLst>
              <a:path w="1676400" h="533400" extrusionOk="0">
                <a:moveTo>
                  <a:pt x="0" y="266700"/>
                </a:moveTo>
                <a:lnTo>
                  <a:pt x="10970" y="223433"/>
                </a:lnTo>
                <a:lnTo>
                  <a:pt x="42732" y="182392"/>
                </a:lnTo>
                <a:lnTo>
                  <a:pt x="93560" y="144124"/>
                </a:lnTo>
                <a:lnTo>
                  <a:pt x="161726" y="109179"/>
                </a:lnTo>
                <a:lnTo>
                  <a:pt x="201773" y="93124"/>
                </a:lnTo>
                <a:lnTo>
                  <a:pt x="245506" y="78105"/>
                </a:lnTo>
                <a:lnTo>
                  <a:pt x="292712" y="64190"/>
                </a:lnTo>
                <a:lnTo>
                  <a:pt x="343174" y="51450"/>
                </a:lnTo>
                <a:lnTo>
                  <a:pt x="396676" y="39951"/>
                </a:lnTo>
                <a:lnTo>
                  <a:pt x="453003" y="29763"/>
                </a:lnTo>
                <a:lnTo>
                  <a:pt x="511938" y="20955"/>
                </a:lnTo>
                <a:lnTo>
                  <a:pt x="573267" y="13594"/>
                </a:lnTo>
                <a:lnTo>
                  <a:pt x="636774" y="7749"/>
                </a:lnTo>
                <a:lnTo>
                  <a:pt x="702242" y="3489"/>
                </a:lnTo>
                <a:lnTo>
                  <a:pt x="769455" y="883"/>
                </a:lnTo>
                <a:lnTo>
                  <a:pt x="838200" y="0"/>
                </a:lnTo>
                <a:lnTo>
                  <a:pt x="906961" y="883"/>
                </a:lnTo>
                <a:lnTo>
                  <a:pt x="974188" y="3489"/>
                </a:lnTo>
                <a:lnTo>
                  <a:pt x="1039667" y="7749"/>
                </a:lnTo>
                <a:lnTo>
                  <a:pt x="1103180" y="13594"/>
                </a:lnTo>
                <a:lnTo>
                  <a:pt x="1164514" y="20955"/>
                </a:lnTo>
                <a:lnTo>
                  <a:pt x="1223452" y="29763"/>
                </a:lnTo>
                <a:lnTo>
                  <a:pt x="1279779" y="39951"/>
                </a:lnTo>
                <a:lnTo>
                  <a:pt x="1333280" y="51450"/>
                </a:lnTo>
                <a:lnTo>
                  <a:pt x="1383739" y="64190"/>
                </a:lnTo>
                <a:lnTo>
                  <a:pt x="1430940" y="78105"/>
                </a:lnTo>
                <a:lnTo>
                  <a:pt x="1474669" y="93124"/>
                </a:lnTo>
                <a:lnTo>
                  <a:pt x="1514709" y="109179"/>
                </a:lnTo>
                <a:lnTo>
                  <a:pt x="1550846" y="126202"/>
                </a:lnTo>
                <a:lnTo>
                  <a:pt x="1610546" y="162877"/>
                </a:lnTo>
                <a:lnTo>
                  <a:pt x="1652046" y="202600"/>
                </a:lnTo>
                <a:lnTo>
                  <a:pt x="1673622" y="244822"/>
                </a:lnTo>
                <a:lnTo>
                  <a:pt x="1676400" y="266700"/>
                </a:lnTo>
                <a:lnTo>
                  <a:pt x="1673622" y="288577"/>
                </a:lnTo>
                <a:lnTo>
                  <a:pt x="1652046" y="330799"/>
                </a:lnTo>
                <a:lnTo>
                  <a:pt x="1610546" y="370522"/>
                </a:lnTo>
                <a:lnTo>
                  <a:pt x="1550846" y="407197"/>
                </a:lnTo>
                <a:lnTo>
                  <a:pt x="1514709" y="424220"/>
                </a:lnTo>
                <a:lnTo>
                  <a:pt x="1474669" y="440275"/>
                </a:lnTo>
                <a:lnTo>
                  <a:pt x="1430940" y="455295"/>
                </a:lnTo>
                <a:lnTo>
                  <a:pt x="1383739" y="469209"/>
                </a:lnTo>
                <a:lnTo>
                  <a:pt x="1333280" y="481949"/>
                </a:lnTo>
                <a:lnTo>
                  <a:pt x="1279779" y="493448"/>
                </a:lnTo>
                <a:lnTo>
                  <a:pt x="1223452" y="503636"/>
                </a:lnTo>
                <a:lnTo>
                  <a:pt x="1164514" y="512445"/>
                </a:lnTo>
                <a:lnTo>
                  <a:pt x="1103180" y="519805"/>
                </a:lnTo>
                <a:lnTo>
                  <a:pt x="1039667" y="525650"/>
                </a:lnTo>
                <a:lnTo>
                  <a:pt x="974188" y="529910"/>
                </a:lnTo>
                <a:lnTo>
                  <a:pt x="906961" y="532516"/>
                </a:lnTo>
                <a:lnTo>
                  <a:pt x="838200" y="533400"/>
                </a:lnTo>
                <a:lnTo>
                  <a:pt x="769455" y="532516"/>
                </a:lnTo>
                <a:lnTo>
                  <a:pt x="702242" y="529910"/>
                </a:lnTo>
                <a:lnTo>
                  <a:pt x="636774" y="525650"/>
                </a:lnTo>
                <a:lnTo>
                  <a:pt x="573267" y="519805"/>
                </a:lnTo>
                <a:lnTo>
                  <a:pt x="511938" y="512445"/>
                </a:lnTo>
                <a:lnTo>
                  <a:pt x="453003" y="503636"/>
                </a:lnTo>
                <a:lnTo>
                  <a:pt x="396676" y="493448"/>
                </a:lnTo>
                <a:lnTo>
                  <a:pt x="343174" y="481949"/>
                </a:lnTo>
                <a:lnTo>
                  <a:pt x="292712" y="469209"/>
                </a:lnTo>
                <a:lnTo>
                  <a:pt x="245506" y="455295"/>
                </a:lnTo>
                <a:lnTo>
                  <a:pt x="201773" y="440275"/>
                </a:lnTo>
                <a:lnTo>
                  <a:pt x="161726" y="424220"/>
                </a:lnTo>
                <a:lnTo>
                  <a:pt x="125584" y="407197"/>
                </a:lnTo>
                <a:lnTo>
                  <a:pt x="65871" y="370522"/>
                </a:lnTo>
                <a:lnTo>
                  <a:pt x="24360" y="330799"/>
                </a:lnTo>
                <a:lnTo>
                  <a:pt x="2778" y="288577"/>
                </a:lnTo>
                <a:lnTo>
                  <a:pt x="0" y="2667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48" name="Google Shape;1248;p88"/>
          <p:cNvSpPr txBox="1"/>
          <p:nvPr/>
        </p:nvSpPr>
        <p:spPr>
          <a:xfrm>
            <a:off x="7765542" y="4854702"/>
            <a:ext cx="34099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88"/>
          <p:cNvSpPr/>
          <p:nvPr/>
        </p:nvSpPr>
        <p:spPr>
          <a:xfrm>
            <a:off x="5268086" y="5559933"/>
            <a:ext cx="1676400" cy="533400"/>
          </a:xfrm>
          <a:custGeom>
            <a:avLst/>
            <a:gdLst/>
            <a:ahLst/>
            <a:cxnLst/>
            <a:rect l="l" t="t" r="r" b="b"/>
            <a:pathLst>
              <a:path w="1676400" h="533400" extrusionOk="0">
                <a:moveTo>
                  <a:pt x="0" y="266661"/>
                </a:moveTo>
                <a:lnTo>
                  <a:pt x="10970" y="223402"/>
                </a:lnTo>
                <a:lnTo>
                  <a:pt x="42732" y="182367"/>
                </a:lnTo>
                <a:lnTo>
                  <a:pt x="93560" y="144106"/>
                </a:lnTo>
                <a:lnTo>
                  <a:pt x="161726" y="109165"/>
                </a:lnTo>
                <a:lnTo>
                  <a:pt x="201773" y="93112"/>
                </a:lnTo>
                <a:lnTo>
                  <a:pt x="245506" y="78095"/>
                </a:lnTo>
                <a:lnTo>
                  <a:pt x="292712" y="64183"/>
                </a:lnTo>
                <a:lnTo>
                  <a:pt x="343174" y="51444"/>
                </a:lnTo>
                <a:lnTo>
                  <a:pt x="396676" y="39946"/>
                </a:lnTo>
                <a:lnTo>
                  <a:pt x="453003" y="29760"/>
                </a:lnTo>
                <a:lnTo>
                  <a:pt x="511938" y="20952"/>
                </a:lnTo>
                <a:lnTo>
                  <a:pt x="573267" y="13592"/>
                </a:lnTo>
                <a:lnTo>
                  <a:pt x="636774" y="7748"/>
                </a:lnTo>
                <a:lnTo>
                  <a:pt x="702242" y="3489"/>
                </a:lnTo>
                <a:lnTo>
                  <a:pt x="769455" y="883"/>
                </a:lnTo>
                <a:lnTo>
                  <a:pt x="838200" y="0"/>
                </a:lnTo>
                <a:lnTo>
                  <a:pt x="906961" y="883"/>
                </a:lnTo>
                <a:lnTo>
                  <a:pt x="974188" y="3489"/>
                </a:lnTo>
                <a:lnTo>
                  <a:pt x="1039667" y="7748"/>
                </a:lnTo>
                <a:lnTo>
                  <a:pt x="1103180" y="13592"/>
                </a:lnTo>
                <a:lnTo>
                  <a:pt x="1164514" y="20952"/>
                </a:lnTo>
                <a:lnTo>
                  <a:pt x="1223452" y="29760"/>
                </a:lnTo>
                <a:lnTo>
                  <a:pt x="1279779" y="39946"/>
                </a:lnTo>
                <a:lnTo>
                  <a:pt x="1333280" y="51444"/>
                </a:lnTo>
                <a:lnTo>
                  <a:pt x="1383739" y="64183"/>
                </a:lnTo>
                <a:lnTo>
                  <a:pt x="1430940" y="78095"/>
                </a:lnTo>
                <a:lnTo>
                  <a:pt x="1474669" y="93112"/>
                </a:lnTo>
                <a:lnTo>
                  <a:pt x="1514709" y="109165"/>
                </a:lnTo>
                <a:lnTo>
                  <a:pt x="1550846" y="126186"/>
                </a:lnTo>
                <a:lnTo>
                  <a:pt x="1610546" y="162856"/>
                </a:lnTo>
                <a:lnTo>
                  <a:pt x="1652046" y="202573"/>
                </a:lnTo>
                <a:lnTo>
                  <a:pt x="1673622" y="244788"/>
                </a:lnTo>
                <a:lnTo>
                  <a:pt x="1676399" y="266661"/>
                </a:lnTo>
                <a:lnTo>
                  <a:pt x="1673622" y="288535"/>
                </a:lnTo>
                <a:lnTo>
                  <a:pt x="1652046" y="330753"/>
                </a:lnTo>
                <a:lnTo>
                  <a:pt x="1610546" y="370473"/>
                </a:lnTo>
                <a:lnTo>
                  <a:pt x="1550846" y="407148"/>
                </a:lnTo>
                <a:lnTo>
                  <a:pt x="1514709" y="424171"/>
                </a:lnTo>
                <a:lnTo>
                  <a:pt x="1474669" y="440227"/>
                </a:lnTo>
                <a:lnTo>
                  <a:pt x="1430940" y="455247"/>
                </a:lnTo>
                <a:lnTo>
                  <a:pt x="1383739" y="469162"/>
                </a:lnTo>
                <a:lnTo>
                  <a:pt x="1333280" y="481904"/>
                </a:lnTo>
                <a:lnTo>
                  <a:pt x="1279779" y="493404"/>
                </a:lnTo>
                <a:lnTo>
                  <a:pt x="1223452" y="503593"/>
                </a:lnTo>
                <a:lnTo>
                  <a:pt x="1164514" y="512403"/>
                </a:lnTo>
                <a:lnTo>
                  <a:pt x="1103180" y="519765"/>
                </a:lnTo>
                <a:lnTo>
                  <a:pt x="1039667" y="525610"/>
                </a:lnTo>
                <a:lnTo>
                  <a:pt x="974188" y="529871"/>
                </a:lnTo>
                <a:lnTo>
                  <a:pt x="906961" y="532477"/>
                </a:lnTo>
                <a:lnTo>
                  <a:pt x="838200" y="533361"/>
                </a:lnTo>
                <a:lnTo>
                  <a:pt x="769455" y="532477"/>
                </a:lnTo>
                <a:lnTo>
                  <a:pt x="702242" y="529871"/>
                </a:lnTo>
                <a:lnTo>
                  <a:pt x="636774" y="525610"/>
                </a:lnTo>
                <a:lnTo>
                  <a:pt x="573267" y="519765"/>
                </a:lnTo>
                <a:lnTo>
                  <a:pt x="511938" y="512403"/>
                </a:lnTo>
                <a:lnTo>
                  <a:pt x="453003" y="503593"/>
                </a:lnTo>
                <a:lnTo>
                  <a:pt x="396676" y="493404"/>
                </a:lnTo>
                <a:lnTo>
                  <a:pt x="343174" y="481904"/>
                </a:lnTo>
                <a:lnTo>
                  <a:pt x="292712" y="469162"/>
                </a:lnTo>
                <a:lnTo>
                  <a:pt x="245506" y="455247"/>
                </a:lnTo>
                <a:lnTo>
                  <a:pt x="201773" y="440227"/>
                </a:lnTo>
                <a:lnTo>
                  <a:pt x="161726" y="424171"/>
                </a:lnTo>
                <a:lnTo>
                  <a:pt x="125584" y="407148"/>
                </a:lnTo>
                <a:lnTo>
                  <a:pt x="65871" y="370473"/>
                </a:lnTo>
                <a:lnTo>
                  <a:pt x="24360" y="330753"/>
                </a:lnTo>
                <a:lnTo>
                  <a:pt x="2778" y="288535"/>
                </a:lnTo>
                <a:lnTo>
                  <a:pt x="0" y="266661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50" name="Google Shape;1250;p88"/>
          <p:cNvSpPr txBox="1"/>
          <p:nvPr/>
        </p:nvSpPr>
        <p:spPr>
          <a:xfrm>
            <a:off x="5719953" y="5693155"/>
            <a:ext cx="77406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Postcode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88"/>
          <p:cNvSpPr/>
          <p:nvPr/>
        </p:nvSpPr>
        <p:spPr>
          <a:xfrm>
            <a:off x="467537" y="4721733"/>
            <a:ext cx="1676400" cy="533400"/>
          </a:xfrm>
          <a:custGeom>
            <a:avLst/>
            <a:gdLst/>
            <a:ahLst/>
            <a:cxnLst/>
            <a:rect l="l" t="t" r="r" b="b"/>
            <a:pathLst>
              <a:path w="1676400" h="533400" extrusionOk="0">
                <a:moveTo>
                  <a:pt x="0" y="266700"/>
                </a:moveTo>
                <a:lnTo>
                  <a:pt x="10970" y="223433"/>
                </a:lnTo>
                <a:lnTo>
                  <a:pt x="42732" y="182392"/>
                </a:lnTo>
                <a:lnTo>
                  <a:pt x="93558" y="144124"/>
                </a:lnTo>
                <a:lnTo>
                  <a:pt x="161723" y="109179"/>
                </a:lnTo>
                <a:lnTo>
                  <a:pt x="201768" y="93124"/>
                </a:lnTo>
                <a:lnTo>
                  <a:pt x="245500" y="78105"/>
                </a:lnTo>
                <a:lnTo>
                  <a:pt x="292704" y="64190"/>
                </a:lnTo>
                <a:lnTo>
                  <a:pt x="343163" y="51450"/>
                </a:lnTo>
                <a:lnTo>
                  <a:pt x="396662" y="39951"/>
                </a:lnTo>
                <a:lnTo>
                  <a:pt x="452985" y="29763"/>
                </a:lnTo>
                <a:lnTo>
                  <a:pt x="511917" y="20955"/>
                </a:lnTo>
                <a:lnTo>
                  <a:pt x="573241" y="13594"/>
                </a:lnTo>
                <a:lnTo>
                  <a:pt x="636742" y="7749"/>
                </a:lnTo>
                <a:lnTo>
                  <a:pt x="702205" y="3489"/>
                </a:lnTo>
                <a:lnTo>
                  <a:pt x="769412" y="883"/>
                </a:lnTo>
                <a:lnTo>
                  <a:pt x="838149" y="0"/>
                </a:lnTo>
                <a:lnTo>
                  <a:pt x="906910" y="883"/>
                </a:lnTo>
                <a:lnTo>
                  <a:pt x="974138" y="3489"/>
                </a:lnTo>
                <a:lnTo>
                  <a:pt x="1039616" y="7749"/>
                </a:lnTo>
                <a:lnTo>
                  <a:pt x="1103130" y="13594"/>
                </a:lnTo>
                <a:lnTo>
                  <a:pt x="1164463" y="20955"/>
                </a:lnTo>
                <a:lnTo>
                  <a:pt x="1223401" y="29763"/>
                </a:lnTo>
                <a:lnTo>
                  <a:pt x="1279729" y="39951"/>
                </a:lnTo>
                <a:lnTo>
                  <a:pt x="1333229" y="51450"/>
                </a:lnTo>
                <a:lnTo>
                  <a:pt x="1383688" y="64190"/>
                </a:lnTo>
                <a:lnTo>
                  <a:pt x="1430889" y="78105"/>
                </a:lnTo>
                <a:lnTo>
                  <a:pt x="1474618" y="93124"/>
                </a:lnTo>
                <a:lnTo>
                  <a:pt x="1514658" y="109179"/>
                </a:lnTo>
                <a:lnTo>
                  <a:pt x="1550795" y="126202"/>
                </a:lnTo>
                <a:lnTo>
                  <a:pt x="1610495" y="162877"/>
                </a:lnTo>
                <a:lnTo>
                  <a:pt x="1651995" y="202600"/>
                </a:lnTo>
                <a:lnTo>
                  <a:pt x="1673571" y="244822"/>
                </a:lnTo>
                <a:lnTo>
                  <a:pt x="1676349" y="266700"/>
                </a:lnTo>
                <a:lnTo>
                  <a:pt x="1673571" y="288577"/>
                </a:lnTo>
                <a:lnTo>
                  <a:pt x="1651995" y="330799"/>
                </a:lnTo>
                <a:lnTo>
                  <a:pt x="1610495" y="370522"/>
                </a:lnTo>
                <a:lnTo>
                  <a:pt x="1550795" y="407197"/>
                </a:lnTo>
                <a:lnTo>
                  <a:pt x="1514658" y="424220"/>
                </a:lnTo>
                <a:lnTo>
                  <a:pt x="1474618" y="440275"/>
                </a:lnTo>
                <a:lnTo>
                  <a:pt x="1430889" y="455295"/>
                </a:lnTo>
                <a:lnTo>
                  <a:pt x="1383688" y="469209"/>
                </a:lnTo>
                <a:lnTo>
                  <a:pt x="1333229" y="481949"/>
                </a:lnTo>
                <a:lnTo>
                  <a:pt x="1279729" y="493448"/>
                </a:lnTo>
                <a:lnTo>
                  <a:pt x="1223401" y="503636"/>
                </a:lnTo>
                <a:lnTo>
                  <a:pt x="1164463" y="512445"/>
                </a:lnTo>
                <a:lnTo>
                  <a:pt x="1103130" y="519805"/>
                </a:lnTo>
                <a:lnTo>
                  <a:pt x="1039616" y="525650"/>
                </a:lnTo>
                <a:lnTo>
                  <a:pt x="974138" y="529910"/>
                </a:lnTo>
                <a:lnTo>
                  <a:pt x="906910" y="532516"/>
                </a:lnTo>
                <a:lnTo>
                  <a:pt x="838149" y="533400"/>
                </a:lnTo>
                <a:lnTo>
                  <a:pt x="769412" y="532516"/>
                </a:lnTo>
                <a:lnTo>
                  <a:pt x="702205" y="529910"/>
                </a:lnTo>
                <a:lnTo>
                  <a:pt x="636742" y="525650"/>
                </a:lnTo>
                <a:lnTo>
                  <a:pt x="573241" y="519805"/>
                </a:lnTo>
                <a:lnTo>
                  <a:pt x="511917" y="512445"/>
                </a:lnTo>
                <a:lnTo>
                  <a:pt x="452985" y="503636"/>
                </a:lnTo>
                <a:lnTo>
                  <a:pt x="396662" y="493448"/>
                </a:lnTo>
                <a:lnTo>
                  <a:pt x="343163" y="481949"/>
                </a:lnTo>
                <a:lnTo>
                  <a:pt x="292704" y="469209"/>
                </a:lnTo>
                <a:lnTo>
                  <a:pt x="245500" y="455295"/>
                </a:lnTo>
                <a:lnTo>
                  <a:pt x="201768" y="440275"/>
                </a:lnTo>
                <a:lnTo>
                  <a:pt x="161723" y="424220"/>
                </a:lnTo>
                <a:lnTo>
                  <a:pt x="125581" y="407197"/>
                </a:lnTo>
                <a:lnTo>
                  <a:pt x="65870" y="370522"/>
                </a:lnTo>
                <a:lnTo>
                  <a:pt x="24360" y="330799"/>
                </a:lnTo>
                <a:lnTo>
                  <a:pt x="2778" y="288577"/>
                </a:lnTo>
                <a:lnTo>
                  <a:pt x="0" y="2667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52" name="Google Shape;1252;p88"/>
          <p:cNvSpPr txBox="1"/>
          <p:nvPr/>
        </p:nvSpPr>
        <p:spPr>
          <a:xfrm>
            <a:off x="1048308" y="4854702"/>
            <a:ext cx="51689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88"/>
          <p:cNvSpPr/>
          <p:nvPr/>
        </p:nvSpPr>
        <p:spPr>
          <a:xfrm>
            <a:off x="2372486" y="5559933"/>
            <a:ext cx="1676400" cy="533400"/>
          </a:xfrm>
          <a:custGeom>
            <a:avLst/>
            <a:gdLst/>
            <a:ahLst/>
            <a:cxnLst/>
            <a:rect l="l" t="t" r="r" b="b"/>
            <a:pathLst>
              <a:path w="1676400" h="533400" extrusionOk="0">
                <a:moveTo>
                  <a:pt x="0" y="266661"/>
                </a:moveTo>
                <a:lnTo>
                  <a:pt x="10970" y="223402"/>
                </a:lnTo>
                <a:lnTo>
                  <a:pt x="42732" y="182367"/>
                </a:lnTo>
                <a:lnTo>
                  <a:pt x="93560" y="144106"/>
                </a:lnTo>
                <a:lnTo>
                  <a:pt x="161726" y="109165"/>
                </a:lnTo>
                <a:lnTo>
                  <a:pt x="201773" y="93112"/>
                </a:lnTo>
                <a:lnTo>
                  <a:pt x="245506" y="78095"/>
                </a:lnTo>
                <a:lnTo>
                  <a:pt x="292712" y="64183"/>
                </a:lnTo>
                <a:lnTo>
                  <a:pt x="343174" y="51444"/>
                </a:lnTo>
                <a:lnTo>
                  <a:pt x="396676" y="39946"/>
                </a:lnTo>
                <a:lnTo>
                  <a:pt x="453003" y="29760"/>
                </a:lnTo>
                <a:lnTo>
                  <a:pt x="511938" y="20952"/>
                </a:lnTo>
                <a:lnTo>
                  <a:pt x="573267" y="13592"/>
                </a:lnTo>
                <a:lnTo>
                  <a:pt x="636774" y="7748"/>
                </a:lnTo>
                <a:lnTo>
                  <a:pt x="702242" y="3489"/>
                </a:lnTo>
                <a:lnTo>
                  <a:pt x="769455" y="883"/>
                </a:lnTo>
                <a:lnTo>
                  <a:pt x="838200" y="0"/>
                </a:lnTo>
                <a:lnTo>
                  <a:pt x="906961" y="883"/>
                </a:lnTo>
                <a:lnTo>
                  <a:pt x="974188" y="3489"/>
                </a:lnTo>
                <a:lnTo>
                  <a:pt x="1039667" y="7748"/>
                </a:lnTo>
                <a:lnTo>
                  <a:pt x="1103180" y="13592"/>
                </a:lnTo>
                <a:lnTo>
                  <a:pt x="1164514" y="20952"/>
                </a:lnTo>
                <a:lnTo>
                  <a:pt x="1223452" y="29760"/>
                </a:lnTo>
                <a:lnTo>
                  <a:pt x="1279779" y="39946"/>
                </a:lnTo>
                <a:lnTo>
                  <a:pt x="1333280" y="51444"/>
                </a:lnTo>
                <a:lnTo>
                  <a:pt x="1383739" y="64183"/>
                </a:lnTo>
                <a:lnTo>
                  <a:pt x="1430940" y="78095"/>
                </a:lnTo>
                <a:lnTo>
                  <a:pt x="1474669" y="93112"/>
                </a:lnTo>
                <a:lnTo>
                  <a:pt x="1514709" y="109165"/>
                </a:lnTo>
                <a:lnTo>
                  <a:pt x="1550846" y="126186"/>
                </a:lnTo>
                <a:lnTo>
                  <a:pt x="1610546" y="162856"/>
                </a:lnTo>
                <a:lnTo>
                  <a:pt x="1652046" y="202573"/>
                </a:lnTo>
                <a:lnTo>
                  <a:pt x="1673622" y="244788"/>
                </a:lnTo>
                <a:lnTo>
                  <a:pt x="1676400" y="266661"/>
                </a:lnTo>
                <a:lnTo>
                  <a:pt x="1673622" y="288535"/>
                </a:lnTo>
                <a:lnTo>
                  <a:pt x="1652046" y="330753"/>
                </a:lnTo>
                <a:lnTo>
                  <a:pt x="1610546" y="370473"/>
                </a:lnTo>
                <a:lnTo>
                  <a:pt x="1550846" y="407148"/>
                </a:lnTo>
                <a:lnTo>
                  <a:pt x="1514709" y="424171"/>
                </a:lnTo>
                <a:lnTo>
                  <a:pt x="1474669" y="440227"/>
                </a:lnTo>
                <a:lnTo>
                  <a:pt x="1430940" y="455247"/>
                </a:lnTo>
                <a:lnTo>
                  <a:pt x="1383739" y="469162"/>
                </a:lnTo>
                <a:lnTo>
                  <a:pt x="1333280" y="481904"/>
                </a:lnTo>
                <a:lnTo>
                  <a:pt x="1279779" y="493404"/>
                </a:lnTo>
                <a:lnTo>
                  <a:pt x="1223452" y="503593"/>
                </a:lnTo>
                <a:lnTo>
                  <a:pt x="1164514" y="512403"/>
                </a:lnTo>
                <a:lnTo>
                  <a:pt x="1103180" y="519765"/>
                </a:lnTo>
                <a:lnTo>
                  <a:pt x="1039667" y="525610"/>
                </a:lnTo>
                <a:lnTo>
                  <a:pt x="974188" y="529871"/>
                </a:lnTo>
                <a:lnTo>
                  <a:pt x="906961" y="532477"/>
                </a:lnTo>
                <a:lnTo>
                  <a:pt x="838200" y="533361"/>
                </a:lnTo>
                <a:lnTo>
                  <a:pt x="769455" y="532477"/>
                </a:lnTo>
                <a:lnTo>
                  <a:pt x="702242" y="529871"/>
                </a:lnTo>
                <a:lnTo>
                  <a:pt x="636774" y="525610"/>
                </a:lnTo>
                <a:lnTo>
                  <a:pt x="573267" y="519765"/>
                </a:lnTo>
                <a:lnTo>
                  <a:pt x="511938" y="512403"/>
                </a:lnTo>
                <a:lnTo>
                  <a:pt x="453003" y="503593"/>
                </a:lnTo>
                <a:lnTo>
                  <a:pt x="396676" y="493404"/>
                </a:lnTo>
                <a:lnTo>
                  <a:pt x="343174" y="481904"/>
                </a:lnTo>
                <a:lnTo>
                  <a:pt x="292712" y="469162"/>
                </a:lnTo>
                <a:lnTo>
                  <a:pt x="245506" y="455247"/>
                </a:lnTo>
                <a:lnTo>
                  <a:pt x="201773" y="440227"/>
                </a:lnTo>
                <a:lnTo>
                  <a:pt x="161726" y="424171"/>
                </a:lnTo>
                <a:lnTo>
                  <a:pt x="125584" y="407148"/>
                </a:lnTo>
                <a:lnTo>
                  <a:pt x="65871" y="370473"/>
                </a:lnTo>
                <a:lnTo>
                  <a:pt x="24360" y="330753"/>
                </a:lnTo>
                <a:lnTo>
                  <a:pt x="2778" y="288535"/>
                </a:lnTo>
                <a:lnTo>
                  <a:pt x="0" y="266661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54" name="Google Shape;1254;p88"/>
          <p:cNvSpPr txBox="1"/>
          <p:nvPr/>
        </p:nvSpPr>
        <p:spPr>
          <a:xfrm>
            <a:off x="2586354" y="5693155"/>
            <a:ext cx="12509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Phone number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88"/>
          <p:cNvSpPr/>
          <p:nvPr/>
        </p:nvSpPr>
        <p:spPr>
          <a:xfrm>
            <a:off x="2372486" y="2054732"/>
            <a:ext cx="1676400" cy="533400"/>
          </a:xfrm>
          <a:custGeom>
            <a:avLst/>
            <a:gdLst/>
            <a:ahLst/>
            <a:cxnLst/>
            <a:rect l="l" t="t" r="r" b="b"/>
            <a:pathLst>
              <a:path w="1676400" h="533400" extrusionOk="0">
                <a:moveTo>
                  <a:pt x="0" y="266700"/>
                </a:moveTo>
                <a:lnTo>
                  <a:pt x="10970" y="223433"/>
                </a:lnTo>
                <a:lnTo>
                  <a:pt x="42732" y="182392"/>
                </a:lnTo>
                <a:lnTo>
                  <a:pt x="93560" y="144124"/>
                </a:lnTo>
                <a:lnTo>
                  <a:pt x="161726" y="109179"/>
                </a:lnTo>
                <a:lnTo>
                  <a:pt x="201773" y="93124"/>
                </a:lnTo>
                <a:lnTo>
                  <a:pt x="245506" y="78104"/>
                </a:lnTo>
                <a:lnTo>
                  <a:pt x="292712" y="64190"/>
                </a:lnTo>
                <a:lnTo>
                  <a:pt x="343174" y="51450"/>
                </a:lnTo>
                <a:lnTo>
                  <a:pt x="396676" y="39951"/>
                </a:lnTo>
                <a:lnTo>
                  <a:pt x="453003" y="29763"/>
                </a:lnTo>
                <a:lnTo>
                  <a:pt x="511938" y="20955"/>
                </a:lnTo>
                <a:lnTo>
                  <a:pt x="573267" y="13594"/>
                </a:lnTo>
                <a:lnTo>
                  <a:pt x="636774" y="7749"/>
                </a:lnTo>
                <a:lnTo>
                  <a:pt x="702242" y="3489"/>
                </a:lnTo>
                <a:lnTo>
                  <a:pt x="769455" y="883"/>
                </a:lnTo>
                <a:lnTo>
                  <a:pt x="838200" y="0"/>
                </a:lnTo>
                <a:lnTo>
                  <a:pt x="906961" y="883"/>
                </a:lnTo>
                <a:lnTo>
                  <a:pt x="974188" y="3489"/>
                </a:lnTo>
                <a:lnTo>
                  <a:pt x="1039667" y="7749"/>
                </a:lnTo>
                <a:lnTo>
                  <a:pt x="1103180" y="13594"/>
                </a:lnTo>
                <a:lnTo>
                  <a:pt x="1164514" y="20954"/>
                </a:lnTo>
                <a:lnTo>
                  <a:pt x="1223452" y="29763"/>
                </a:lnTo>
                <a:lnTo>
                  <a:pt x="1279779" y="39951"/>
                </a:lnTo>
                <a:lnTo>
                  <a:pt x="1333280" y="51450"/>
                </a:lnTo>
                <a:lnTo>
                  <a:pt x="1383739" y="64190"/>
                </a:lnTo>
                <a:lnTo>
                  <a:pt x="1430940" y="78104"/>
                </a:lnTo>
                <a:lnTo>
                  <a:pt x="1474669" y="93124"/>
                </a:lnTo>
                <a:lnTo>
                  <a:pt x="1514709" y="109179"/>
                </a:lnTo>
                <a:lnTo>
                  <a:pt x="1550846" y="126202"/>
                </a:lnTo>
                <a:lnTo>
                  <a:pt x="1610546" y="162877"/>
                </a:lnTo>
                <a:lnTo>
                  <a:pt x="1652046" y="202600"/>
                </a:lnTo>
                <a:lnTo>
                  <a:pt x="1673622" y="244822"/>
                </a:lnTo>
                <a:lnTo>
                  <a:pt x="1676400" y="266700"/>
                </a:lnTo>
                <a:lnTo>
                  <a:pt x="1673622" y="288577"/>
                </a:lnTo>
                <a:lnTo>
                  <a:pt x="1652046" y="330799"/>
                </a:lnTo>
                <a:lnTo>
                  <a:pt x="1610546" y="370522"/>
                </a:lnTo>
                <a:lnTo>
                  <a:pt x="1550846" y="407197"/>
                </a:lnTo>
                <a:lnTo>
                  <a:pt x="1514709" y="424220"/>
                </a:lnTo>
                <a:lnTo>
                  <a:pt x="1474669" y="440275"/>
                </a:lnTo>
                <a:lnTo>
                  <a:pt x="1430940" y="455295"/>
                </a:lnTo>
                <a:lnTo>
                  <a:pt x="1383739" y="469209"/>
                </a:lnTo>
                <a:lnTo>
                  <a:pt x="1333280" y="481949"/>
                </a:lnTo>
                <a:lnTo>
                  <a:pt x="1279779" y="493448"/>
                </a:lnTo>
                <a:lnTo>
                  <a:pt x="1223452" y="503636"/>
                </a:lnTo>
                <a:lnTo>
                  <a:pt x="1164514" y="512445"/>
                </a:lnTo>
                <a:lnTo>
                  <a:pt x="1103180" y="519805"/>
                </a:lnTo>
                <a:lnTo>
                  <a:pt x="1039667" y="525650"/>
                </a:lnTo>
                <a:lnTo>
                  <a:pt x="974188" y="529910"/>
                </a:lnTo>
                <a:lnTo>
                  <a:pt x="906961" y="532516"/>
                </a:lnTo>
                <a:lnTo>
                  <a:pt x="838200" y="533400"/>
                </a:lnTo>
                <a:lnTo>
                  <a:pt x="769455" y="532516"/>
                </a:lnTo>
                <a:lnTo>
                  <a:pt x="702242" y="529910"/>
                </a:lnTo>
                <a:lnTo>
                  <a:pt x="636774" y="525650"/>
                </a:lnTo>
                <a:lnTo>
                  <a:pt x="573267" y="519805"/>
                </a:lnTo>
                <a:lnTo>
                  <a:pt x="511938" y="512445"/>
                </a:lnTo>
                <a:lnTo>
                  <a:pt x="453003" y="503636"/>
                </a:lnTo>
                <a:lnTo>
                  <a:pt x="396676" y="493448"/>
                </a:lnTo>
                <a:lnTo>
                  <a:pt x="343174" y="481949"/>
                </a:lnTo>
                <a:lnTo>
                  <a:pt x="292712" y="469209"/>
                </a:lnTo>
                <a:lnTo>
                  <a:pt x="245506" y="455295"/>
                </a:lnTo>
                <a:lnTo>
                  <a:pt x="201773" y="440275"/>
                </a:lnTo>
                <a:lnTo>
                  <a:pt x="161726" y="424220"/>
                </a:lnTo>
                <a:lnTo>
                  <a:pt x="125584" y="407197"/>
                </a:lnTo>
                <a:lnTo>
                  <a:pt x="65871" y="370522"/>
                </a:lnTo>
                <a:lnTo>
                  <a:pt x="24360" y="330799"/>
                </a:lnTo>
                <a:lnTo>
                  <a:pt x="2778" y="288577"/>
                </a:lnTo>
                <a:lnTo>
                  <a:pt x="0" y="2667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56" name="Google Shape;1256;p88"/>
          <p:cNvSpPr txBox="1"/>
          <p:nvPr/>
        </p:nvSpPr>
        <p:spPr>
          <a:xfrm>
            <a:off x="2994786" y="2187321"/>
            <a:ext cx="43434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88"/>
          <p:cNvSpPr/>
          <p:nvPr/>
        </p:nvSpPr>
        <p:spPr>
          <a:xfrm>
            <a:off x="467537" y="2892932"/>
            <a:ext cx="1676400" cy="533400"/>
          </a:xfrm>
          <a:custGeom>
            <a:avLst/>
            <a:gdLst/>
            <a:ahLst/>
            <a:cxnLst/>
            <a:rect l="l" t="t" r="r" b="b"/>
            <a:pathLst>
              <a:path w="1676400" h="533400" extrusionOk="0">
                <a:moveTo>
                  <a:pt x="0" y="266700"/>
                </a:moveTo>
                <a:lnTo>
                  <a:pt x="10970" y="223433"/>
                </a:lnTo>
                <a:lnTo>
                  <a:pt x="42732" y="182392"/>
                </a:lnTo>
                <a:lnTo>
                  <a:pt x="93558" y="144124"/>
                </a:lnTo>
                <a:lnTo>
                  <a:pt x="161723" y="109179"/>
                </a:lnTo>
                <a:lnTo>
                  <a:pt x="201768" y="93124"/>
                </a:lnTo>
                <a:lnTo>
                  <a:pt x="245500" y="78104"/>
                </a:lnTo>
                <a:lnTo>
                  <a:pt x="292704" y="64190"/>
                </a:lnTo>
                <a:lnTo>
                  <a:pt x="343163" y="51450"/>
                </a:lnTo>
                <a:lnTo>
                  <a:pt x="396662" y="39951"/>
                </a:lnTo>
                <a:lnTo>
                  <a:pt x="452985" y="29763"/>
                </a:lnTo>
                <a:lnTo>
                  <a:pt x="511917" y="20955"/>
                </a:lnTo>
                <a:lnTo>
                  <a:pt x="573241" y="13594"/>
                </a:lnTo>
                <a:lnTo>
                  <a:pt x="636742" y="7749"/>
                </a:lnTo>
                <a:lnTo>
                  <a:pt x="702205" y="3489"/>
                </a:lnTo>
                <a:lnTo>
                  <a:pt x="769412" y="883"/>
                </a:lnTo>
                <a:lnTo>
                  <a:pt x="838149" y="0"/>
                </a:lnTo>
                <a:lnTo>
                  <a:pt x="906910" y="883"/>
                </a:lnTo>
                <a:lnTo>
                  <a:pt x="974138" y="3489"/>
                </a:lnTo>
                <a:lnTo>
                  <a:pt x="1039616" y="7749"/>
                </a:lnTo>
                <a:lnTo>
                  <a:pt x="1103130" y="13594"/>
                </a:lnTo>
                <a:lnTo>
                  <a:pt x="1164463" y="20954"/>
                </a:lnTo>
                <a:lnTo>
                  <a:pt x="1223401" y="29763"/>
                </a:lnTo>
                <a:lnTo>
                  <a:pt x="1279729" y="39951"/>
                </a:lnTo>
                <a:lnTo>
                  <a:pt x="1333229" y="51450"/>
                </a:lnTo>
                <a:lnTo>
                  <a:pt x="1383688" y="64190"/>
                </a:lnTo>
                <a:lnTo>
                  <a:pt x="1430889" y="78104"/>
                </a:lnTo>
                <a:lnTo>
                  <a:pt x="1474618" y="93124"/>
                </a:lnTo>
                <a:lnTo>
                  <a:pt x="1514658" y="109179"/>
                </a:lnTo>
                <a:lnTo>
                  <a:pt x="1550795" y="126202"/>
                </a:lnTo>
                <a:lnTo>
                  <a:pt x="1610495" y="162877"/>
                </a:lnTo>
                <a:lnTo>
                  <a:pt x="1651995" y="202600"/>
                </a:lnTo>
                <a:lnTo>
                  <a:pt x="1673571" y="244822"/>
                </a:lnTo>
                <a:lnTo>
                  <a:pt x="1676349" y="266700"/>
                </a:lnTo>
                <a:lnTo>
                  <a:pt x="1673571" y="288577"/>
                </a:lnTo>
                <a:lnTo>
                  <a:pt x="1651995" y="330799"/>
                </a:lnTo>
                <a:lnTo>
                  <a:pt x="1610495" y="370522"/>
                </a:lnTo>
                <a:lnTo>
                  <a:pt x="1550795" y="407197"/>
                </a:lnTo>
                <a:lnTo>
                  <a:pt x="1514658" y="424220"/>
                </a:lnTo>
                <a:lnTo>
                  <a:pt x="1474618" y="440275"/>
                </a:lnTo>
                <a:lnTo>
                  <a:pt x="1430889" y="455295"/>
                </a:lnTo>
                <a:lnTo>
                  <a:pt x="1383688" y="469209"/>
                </a:lnTo>
                <a:lnTo>
                  <a:pt x="1333229" y="481949"/>
                </a:lnTo>
                <a:lnTo>
                  <a:pt x="1279729" y="493448"/>
                </a:lnTo>
                <a:lnTo>
                  <a:pt x="1223401" y="503636"/>
                </a:lnTo>
                <a:lnTo>
                  <a:pt x="1164463" y="512445"/>
                </a:lnTo>
                <a:lnTo>
                  <a:pt x="1103130" y="519805"/>
                </a:lnTo>
                <a:lnTo>
                  <a:pt x="1039616" y="525650"/>
                </a:lnTo>
                <a:lnTo>
                  <a:pt x="974138" y="529910"/>
                </a:lnTo>
                <a:lnTo>
                  <a:pt x="906910" y="532516"/>
                </a:lnTo>
                <a:lnTo>
                  <a:pt x="838149" y="533400"/>
                </a:lnTo>
                <a:lnTo>
                  <a:pt x="769412" y="532516"/>
                </a:lnTo>
                <a:lnTo>
                  <a:pt x="702205" y="529910"/>
                </a:lnTo>
                <a:lnTo>
                  <a:pt x="636742" y="525650"/>
                </a:lnTo>
                <a:lnTo>
                  <a:pt x="573241" y="519805"/>
                </a:lnTo>
                <a:lnTo>
                  <a:pt x="511917" y="512445"/>
                </a:lnTo>
                <a:lnTo>
                  <a:pt x="452985" y="503636"/>
                </a:lnTo>
                <a:lnTo>
                  <a:pt x="396662" y="493448"/>
                </a:lnTo>
                <a:lnTo>
                  <a:pt x="343163" y="481949"/>
                </a:lnTo>
                <a:lnTo>
                  <a:pt x="292704" y="469209"/>
                </a:lnTo>
                <a:lnTo>
                  <a:pt x="245500" y="455295"/>
                </a:lnTo>
                <a:lnTo>
                  <a:pt x="201768" y="440275"/>
                </a:lnTo>
                <a:lnTo>
                  <a:pt x="161723" y="424220"/>
                </a:lnTo>
                <a:lnTo>
                  <a:pt x="125581" y="407197"/>
                </a:lnTo>
                <a:lnTo>
                  <a:pt x="65870" y="370522"/>
                </a:lnTo>
                <a:lnTo>
                  <a:pt x="24360" y="330799"/>
                </a:lnTo>
                <a:lnTo>
                  <a:pt x="2778" y="288577"/>
                </a:lnTo>
                <a:lnTo>
                  <a:pt x="0" y="2667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58" name="Google Shape;1258;p88"/>
          <p:cNvSpPr txBox="1"/>
          <p:nvPr/>
        </p:nvSpPr>
        <p:spPr>
          <a:xfrm>
            <a:off x="822756" y="3025521"/>
            <a:ext cx="96710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88"/>
          <p:cNvSpPr/>
          <p:nvPr/>
        </p:nvSpPr>
        <p:spPr>
          <a:xfrm>
            <a:off x="3210686" y="2597657"/>
            <a:ext cx="0" cy="285750"/>
          </a:xfrm>
          <a:custGeom>
            <a:avLst/>
            <a:gdLst/>
            <a:ahLst/>
            <a:cxnLst/>
            <a:rect l="l" t="t" r="r" b="b"/>
            <a:pathLst>
              <a:path w="120000" h="285750" extrusionOk="0">
                <a:moveTo>
                  <a:pt x="0" y="285750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60" name="Google Shape;1260;p88"/>
          <p:cNvSpPr/>
          <p:nvPr/>
        </p:nvSpPr>
        <p:spPr>
          <a:xfrm>
            <a:off x="2153411" y="3159632"/>
            <a:ext cx="361950" cy="0"/>
          </a:xfrm>
          <a:custGeom>
            <a:avLst/>
            <a:gdLst/>
            <a:ahLst/>
            <a:cxnLst/>
            <a:rect l="l" t="t" r="r" b="b"/>
            <a:pathLst>
              <a:path w="361950" h="120000" extrusionOk="0">
                <a:moveTo>
                  <a:pt x="361950" y="0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61" name="Google Shape;1261;p88"/>
          <p:cNvSpPr/>
          <p:nvPr/>
        </p:nvSpPr>
        <p:spPr>
          <a:xfrm>
            <a:off x="2153411" y="4988433"/>
            <a:ext cx="361950" cy="0"/>
          </a:xfrm>
          <a:custGeom>
            <a:avLst/>
            <a:gdLst/>
            <a:ahLst/>
            <a:cxnLst/>
            <a:rect l="l" t="t" r="r" b="b"/>
            <a:pathLst>
              <a:path w="361950" h="120000" extrusionOk="0">
                <a:moveTo>
                  <a:pt x="361950" y="0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62" name="Google Shape;1262;p88"/>
          <p:cNvSpPr/>
          <p:nvPr/>
        </p:nvSpPr>
        <p:spPr>
          <a:xfrm>
            <a:off x="3210686" y="5264658"/>
            <a:ext cx="0" cy="285750"/>
          </a:xfrm>
          <a:custGeom>
            <a:avLst/>
            <a:gdLst/>
            <a:ahLst/>
            <a:cxnLst/>
            <a:rect l="l" t="t" r="r" b="b"/>
            <a:pathLst>
              <a:path w="120000" h="285750" extrusionOk="0">
                <a:moveTo>
                  <a:pt x="0" y="0"/>
                </a:moveTo>
                <a:lnTo>
                  <a:pt x="0" y="285749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63" name="Google Shape;1263;p88"/>
          <p:cNvSpPr/>
          <p:nvPr/>
        </p:nvSpPr>
        <p:spPr>
          <a:xfrm>
            <a:off x="6106286" y="5264658"/>
            <a:ext cx="0" cy="285750"/>
          </a:xfrm>
          <a:custGeom>
            <a:avLst/>
            <a:gdLst/>
            <a:ahLst/>
            <a:cxnLst/>
            <a:rect l="l" t="t" r="r" b="b"/>
            <a:pathLst>
              <a:path w="120000" h="285750" extrusionOk="0">
                <a:moveTo>
                  <a:pt x="0" y="0"/>
                </a:moveTo>
                <a:lnTo>
                  <a:pt x="0" y="285749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64" name="Google Shape;1264;p88"/>
          <p:cNvSpPr/>
          <p:nvPr/>
        </p:nvSpPr>
        <p:spPr>
          <a:xfrm>
            <a:off x="6801611" y="4988433"/>
            <a:ext cx="285750" cy="0"/>
          </a:xfrm>
          <a:custGeom>
            <a:avLst/>
            <a:gdLst/>
            <a:ahLst/>
            <a:cxnLst/>
            <a:rect l="l" t="t" r="r" b="b"/>
            <a:pathLst>
              <a:path w="285750" h="120000" extrusionOk="0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65" name="Google Shape;1265;p88"/>
          <p:cNvSpPr/>
          <p:nvPr/>
        </p:nvSpPr>
        <p:spPr>
          <a:xfrm>
            <a:off x="6106286" y="4426458"/>
            <a:ext cx="0" cy="285750"/>
          </a:xfrm>
          <a:custGeom>
            <a:avLst/>
            <a:gdLst/>
            <a:ahLst/>
            <a:cxnLst/>
            <a:rect l="l" t="t" r="r" b="b"/>
            <a:pathLst>
              <a:path w="120000" h="285750" extrusionOk="0">
                <a:moveTo>
                  <a:pt x="0" y="285750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66" name="Google Shape;1266;p88"/>
          <p:cNvSpPr/>
          <p:nvPr/>
        </p:nvSpPr>
        <p:spPr>
          <a:xfrm>
            <a:off x="4219575" y="4631435"/>
            <a:ext cx="914400" cy="685800"/>
          </a:xfrm>
          <a:custGeom>
            <a:avLst/>
            <a:gdLst/>
            <a:ahLst/>
            <a:cxnLst/>
            <a:rect l="l" t="t" r="r" b="b"/>
            <a:pathLst>
              <a:path w="914400" h="685800" extrusionOk="0">
                <a:moveTo>
                  <a:pt x="0" y="342900"/>
                </a:moveTo>
                <a:lnTo>
                  <a:pt x="457200" y="0"/>
                </a:lnTo>
                <a:lnTo>
                  <a:pt x="914400" y="342900"/>
                </a:lnTo>
                <a:lnTo>
                  <a:pt x="457200" y="685800"/>
                </a:lnTo>
                <a:lnTo>
                  <a:pt x="0" y="342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67" name="Google Shape;1267;p88"/>
          <p:cNvSpPr txBox="1"/>
          <p:nvPr/>
        </p:nvSpPr>
        <p:spPr>
          <a:xfrm>
            <a:off x="4378833" y="4840604"/>
            <a:ext cx="59880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An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88"/>
          <p:cNvSpPr/>
          <p:nvPr/>
        </p:nvSpPr>
        <p:spPr>
          <a:xfrm>
            <a:off x="5133975" y="4974335"/>
            <a:ext cx="295275" cy="1905"/>
          </a:xfrm>
          <a:custGeom>
            <a:avLst/>
            <a:gdLst/>
            <a:ahLst/>
            <a:cxnLst/>
            <a:rect l="l" t="t" r="r" b="b"/>
            <a:pathLst>
              <a:path w="295275" h="1904" extrusionOk="0">
                <a:moveTo>
                  <a:pt x="0" y="0"/>
                </a:moveTo>
                <a:lnTo>
                  <a:pt x="295275" y="1524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69" name="Google Shape;1269;p88"/>
          <p:cNvSpPr/>
          <p:nvPr/>
        </p:nvSpPr>
        <p:spPr>
          <a:xfrm>
            <a:off x="3905250" y="4974335"/>
            <a:ext cx="314325" cy="1905"/>
          </a:xfrm>
          <a:custGeom>
            <a:avLst/>
            <a:gdLst/>
            <a:ahLst/>
            <a:cxnLst/>
            <a:rect l="l" t="t" r="r" b="b"/>
            <a:pathLst>
              <a:path w="314325" h="1904" extrusionOk="0">
                <a:moveTo>
                  <a:pt x="314325" y="1524"/>
                </a:moveTo>
                <a:lnTo>
                  <a:pt x="0" y="0"/>
                </a:lnTo>
              </a:path>
            </a:pathLst>
          </a:custGeom>
          <a:noFill/>
          <a:ln w="190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70" name="Google Shape;1270;p88"/>
          <p:cNvSpPr/>
          <p:nvPr/>
        </p:nvSpPr>
        <p:spPr>
          <a:xfrm>
            <a:off x="2771775" y="3717035"/>
            <a:ext cx="914400" cy="685800"/>
          </a:xfrm>
          <a:custGeom>
            <a:avLst/>
            <a:gdLst/>
            <a:ahLst/>
            <a:cxnLst/>
            <a:rect l="l" t="t" r="r" b="b"/>
            <a:pathLst>
              <a:path w="914400" h="685800" extrusionOk="0">
                <a:moveTo>
                  <a:pt x="0" y="342900"/>
                </a:moveTo>
                <a:lnTo>
                  <a:pt x="457200" y="0"/>
                </a:lnTo>
                <a:lnTo>
                  <a:pt x="914400" y="342900"/>
                </a:lnTo>
                <a:lnTo>
                  <a:pt x="457200" y="685800"/>
                </a:lnTo>
                <a:lnTo>
                  <a:pt x="0" y="342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71" name="Google Shape;1271;p88"/>
          <p:cNvSpPr txBox="1"/>
          <p:nvPr/>
        </p:nvSpPr>
        <p:spPr>
          <a:xfrm>
            <a:off x="2984373" y="3926204"/>
            <a:ext cx="4921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88"/>
          <p:cNvSpPr/>
          <p:nvPr/>
        </p:nvSpPr>
        <p:spPr>
          <a:xfrm>
            <a:off x="3228213" y="4403597"/>
            <a:ext cx="1905" cy="317500"/>
          </a:xfrm>
          <a:custGeom>
            <a:avLst/>
            <a:gdLst/>
            <a:ahLst/>
            <a:cxnLst/>
            <a:rect l="l" t="t" r="r" b="b"/>
            <a:pathLst>
              <a:path w="1905" h="317500" extrusionOk="0">
                <a:moveTo>
                  <a:pt x="1524" y="0"/>
                </a:moveTo>
                <a:lnTo>
                  <a:pt x="0" y="317500"/>
                </a:lnTo>
              </a:path>
            </a:pathLst>
          </a:custGeom>
          <a:noFill/>
          <a:ln w="190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73" name="Google Shape;1273;p88"/>
          <p:cNvSpPr/>
          <p:nvPr/>
        </p:nvSpPr>
        <p:spPr>
          <a:xfrm>
            <a:off x="3228213" y="3422522"/>
            <a:ext cx="1905" cy="295275"/>
          </a:xfrm>
          <a:custGeom>
            <a:avLst/>
            <a:gdLst/>
            <a:ahLst/>
            <a:cxnLst/>
            <a:rect l="l" t="t" r="r" b="b"/>
            <a:pathLst>
              <a:path w="1905" h="295275" extrusionOk="0">
                <a:moveTo>
                  <a:pt x="0" y="295275"/>
                </a:moveTo>
                <a:lnTo>
                  <a:pt x="1524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74" name="Google Shape;1274;p88"/>
          <p:cNvSpPr/>
          <p:nvPr/>
        </p:nvSpPr>
        <p:spPr>
          <a:xfrm>
            <a:off x="3076575" y="3421760"/>
            <a:ext cx="300355" cy="152400"/>
          </a:xfrm>
          <a:custGeom>
            <a:avLst/>
            <a:gdLst/>
            <a:ahLst/>
            <a:cxnLst/>
            <a:rect l="l" t="t" r="r" b="b"/>
            <a:pathLst>
              <a:path w="300354" h="152400" extrusionOk="0">
                <a:moveTo>
                  <a:pt x="300100" y="0"/>
                </a:moveTo>
                <a:lnTo>
                  <a:pt x="292450" y="48182"/>
                </a:lnTo>
                <a:lnTo>
                  <a:pt x="271145" y="90019"/>
                </a:lnTo>
                <a:lnTo>
                  <a:pt x="238653" y="123005"/>
                </a:lnTo>
                <a:lnTo>
                  <a:pt x="197444" y="144633"/>
                </a:lnTo>
                <a:lnTo>
                  <a:pt x="149987" y="152400"/>
                </a:lnTo>
                <a:lnTo>
                  <a:pt x="102652" y="144646"/>
                </a:lnTo>
                <a:lnTo>
                  <a:pt x="61511" y="123049"/>
                </a:lnTo>
                <a:lnTo>
                  <a:pt x="29039" y="90101"/>
                </a:lnTo>
                <a:lnTo>
                  <a:pt x="7710" y="48296"/>
                </a:lnTo>
                <a:lnTo>
                  <a:pt x="0" y="126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5521929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8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06108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One to One Relationships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1280" name="Google Shape;1280;p8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35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81" name="Google Shape;1281;p89"/>
          <p:cNvSpPr txBox="1"/>
          <p:nvPr/>
        </p:nvSpPr>
        <p:spPr>
          <a:xfrm>
            <a:off x="535940" y="1622805"/>
            <a:ext cx="3797935" cy="3714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508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relationships  between entities, A and  B, </a:t>
            </a:r>
            <a:r>
              <a:rPr lang="en-US" sz="2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might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redundant  if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1" indent="-286385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 1:1 relationship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between A and B</a:t>
            </a:r>
            <a:endParaRPr/>
          </a:p>
          <a:p>
            <a:pPr marL="756285" marR="48260" lvl="1" indent="-286385" algn="just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A is related to a B  and every B is related to  an A</a:t>
            </a:r>
            <a:endParaRPr/>
          </a:p>
        </p:txBody>
      </p:sp>
      <p:sp>
        <p:nvSpPr>
          <p:cNvPr id="1282" name="Google Shape;1282;p89"/>
          <p:cNvSpPr txBox="1"/>
          <p:nvPr/>
        </p:nvSpPr>
        <p:spPr>
          <a:xfrm>
            <a:off x="4727828" y="1622805"/>
            <a:ext cx="3689985" cy="330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- the supplier-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59689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 relationship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1" indent="-28638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one to one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314960" lvl="1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supplier has an  address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160020" lvl="1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don’t need  addresses that are not  related to a supplier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83442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9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12331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Redundant Relationships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1288" name="Google Shape;1288;p9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36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89" name="Google Shape;1289;p90"/>
          <p:cNvSpPr txBox="1"/>
          <p:nvPr/>
        </p:nvSpPr>
        <p:spPr>
          <a:xfrm>
            <a:off x="535940" y="1622805"/>
            <a:ext cx="3839210" cy="3714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508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merge the two  entities that take part in  a redundant  relationship together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1" indent="-286385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become a single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118745" lvl="1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new entity has all  the attributes of the old  ones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90"/>
          <p:cNvSpPr/>
          <p:nvPr/>
        </p:nvSpPr>
        <p:spPr>
          <a:xfrm>
            <a:off x="6629400" y="2667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0" y="152400"/>
                </a:moveTo>
                <a:lnTo>
                  <a:pt x="152400" y="0"/>
                </a:lnTo>
                <a:lnTo>
                  <a:pt x="304800" y="152400"/>
                </a:lnTo>
                <a:lnTo>
                  <a:pt x="152400" y="304800"/>
                </a:lnTo>
                <a:lnTo>
                  <a:pt x="0" y="1524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91" name="Google Shape;1291;p90"/>
          <p:cNvSpPr/>
          <p:nvPr/>
        </p:nvSpPr>
        <p:spPr>
          <a:xfrm>
            <a:off x="5715000" y="2590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381000" y="0"/>
                </a:lnTo>
                <a:lnTo>
                  <a:pt x="410640" y="5994"/>
                </a:lnTo>
                <a:lnTo>
                  <a:pt x="434863" y="22336"/>
                </a:lnTo>
                <a:lnTo>
                  <a:pt x="451205" y="46559"/>
                </a:lnTo>
                <a:lnTo>
                  <a:pt x="457200" y="76200"/>
                </a:lnTo>
                <a:lnTo>
                  <a:pt x="457200" y="381000"/>
                </a:lnTo>
                <a:lnTo>
                  <a:pt x="451205" y="410640"/>
                </a:lnTo>
                <a:lnTo>
                  <a:pt x="434863" y="434863"/>
                </a:lnTo>
                <a:lnTo>
                  <a:pt x="410640" y="451205"/>
                </a:lnTo>
                <a:lnTo>
                  <a:pt x="381000" y="457200"/>
                </a:lnTo>
                <a:lnTo>
                  <a:pt x="76200" y="457200"/>
                </a:lnTo>
                <a:lnTo>
                  <a:pt x="46559" y="451205"/>
                </a:lnTo>
                <a:lnTo>
                  <a:pt x="22336" y="434863"/>
                </a:lnTo>
                <a:lnTo>
                  <a:pt x="5994" y="410640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92" name="Google Shape;1292;p90"/>
          <p:cNvSpPr txBox="1"/>
          <p:nvPr/>
        </p:nvSpPr>
        <p:spPr>
          <a:xfrm>
            <a:off x="5857113" y="2651378"/>
            <a:ext cx="17272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90"/>
          <p:cNvSpPr/>
          <p:nvPr/>
        </p:nvSpPr>
        <p:spPr>
          <a:xfrm>
            <a:off x="7315200" y="2590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381000" y="0"/>
                </a:lnTo>
                <a:lnTo>
                  <a:pt x="410640" y="5994"/>
                </a:lnTo>
                <a:lnTo>
                  <a:pt x="434863" y="22336"/>
                </a:lnTo>
                <a:lnTo>
                  <a:pt x="451205" y="46559"/>
                </a:lnTo>
                <a:lnTo>
                  <a:pt x="457200" y="76200"/>
                </a:lnTo>
                <a:lnTo>
                  <a:pt x="457200" y="381000"/>
                </a:lnTo>
                <a:lnTo>
                  <a:pt x="451205" y="410640"/>
                </a:lnTo>
                <a:lnTo>
                  <a:pt x="434863" y="434863"/>
                </a:lnTo>
                <a:lnTo>
                  <a:pt x="410640" y="451205"/>
                </a:lnTo>
                <a:lnTo>
                  <a:pt x="381000" y="457200"/>
                </a:lnTo>
                <a:lnTo>
                  <a:pt x="76200" y="457200"/>
                </a:lnTo>
                <a:lnTo>
                  <a:pt x="46559" y="451205"/>
                </a:lnTo>
                <a:lnTo>
                  <a:pt x="22336" y="434863"/>
                </a:lnTo>
                <a:lnTo>
                  <a:pt x="5994" y="410640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94" name="Google Shape;1294;p90"/>
          <p:cNvSpPr txBox="1"/>
          <p:nvPr/>
        </p:nvSpPr>
        <p:spPr>
          <a:xfrm>
            <a:off x="7462266" y="2651378"/>
            <a:ext cx="16383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90"/>
          <p:cNvSpPr/>
          <p:nvPr/>
        </p:nvSpPr>
        <p:spPr>
          <a:xfrm>
            <a:off x="6172200" y="2819400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 h="120000" extrusionOk="0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96" name="Google Shape;1296;p90"/>
          <p:cNvSpPr/>
          <p:nvPr/>
        </p:nvSpPr>
        <p:spPr>
          <a:xfrm>
            <a:off x="6934200" y="2819400"/>
            <a:ext cx="381000" cy="0"/>
          </a:xfrm>
          <a:custGeom>
            <a:avLst/>
            <a:gdLst/>
            <a:ahLst/>
            <a:cxnLst/>
            <a:rect l="l" t="t" r="r" b="b"/>
            <a:pathLst>
              <a:path w="381000" h="120000" extrusionOk="0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97" name="Google Shape;1297;p90"/>
          <p:cNvSpPr/>
          <p:nvPr/>
        </p:nvSpPr>
        <p:spPr>
          <a:xfrm>
            <a:off x="5791200" y="1981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0" y="152400"/>
                </a:moveTo>
                <a:lnTo>
                  <a:pt x="7766" y="104217"/>
                </a:lnTo>
                <a:lnTo>
                  <a:pt x="29394" y="62380"/>
                </a:lnTo>
                <a:lnTo>
                  <a:pt x="62380" y="29394"/>
                </a:lnTo>
                <a:lnTo>
                  <a:pt x="104217" y="7766"/>
                </a:lnTo>
                <a:lnTo>
                  <a:pt x="152400" y="0"/>
                </a:lnTo>
                <a:lnTo>
                  <a:pt x="200582" y="7766"/>
                </a:lnTo>
                <a:lnTo>
                  <a:pt x="242419" y="29394"/>
                </a:lnTo>
                <a:lnTo>
                  <a:pt x="275405" y="62380"/>
                </a:lnTo>
                <a:lnTo>
                  <a:pt x="297033" y="104217"/>
                </a:lnTo>
                <a:lnTo>
                  <a:pt x="304800" y="152400"/>
                </a:lnTo>
                <a:lnTo>
                  <a:pt x="297033" y="200582"/>
                </a:lnTo>
                <a:lnTo>
                  <a:pt x="275405" y="242419"/>
                </a:lnTo>
                <a:lnTo>
                  <a:pt x="242419" y="275405"/>
                </a:lnTo>
                <a:lnTo>
                  <a:pt x="200582" y="297033"/>
                </a:lnTo>
                <a:lnTo>
                  <a:pt x="152400" y="304800"/>
                </a:lnTo>
                <a:lnTo>
                  <a:pt x="104217" y="297033"/>
                </a:lnTo>
                <a:lnTo>
                  <a:pt x="62380" y="275405"/>
                </a:lnTo>
                <a:lnTo>
                  <a:pt x="29394" y="242419"/>
                </a:lnTo>
                <a:lnTo>
                  <a:pt x="7766" y="200582"/>
                </a:lnTo>
                <a:lnTo>
                  <a:pt x="0" y="1524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98" name="Google Shape;1298;p90"/>
          <p:cNvSpPr txBox="1"/>
          <p:nvPr/>
        </p:nvSpPr>
        <p:spPr>
          <a:xfrm>
            <a:off x="5883909" y="1999234"/>
            <a:ext cx="12255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90"/>
          <p:cNvSpPr/>
          <p:nvPr/>
        </p:nvSpPr>
        <p:spPr>
          <a:xfrm>
            <a:off x="5791200" y="3352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0" y="152400"/>
                </a:moveTo>
                <a:lnTo>
                  <a:pt x="7766" y="104217"/>
                </a:lnTo>
                <a:lnTo>
                  <a:pt x="29394" y="62380"/>
                </a:lnTo>
                <a:lnTo>
                  <a:pt x="62380" y="29394"/>
                </a:lnTo>
                <a:lnTo>
                  <a:pt x="104217" y="7766"/>
                </a:lnTo>
                <a:lnTo>
                  <a:pt x="152400" y="0"/>
                </a:lnTo>
                <a:lnTo>
                  <a:pt x="200582" y="7766"/>
                </a:lnTo>
                <a:lnTo>
                  <a:pt x="242419" y="29394"/>
                </a:lnTo>
                <a:lnTo>
                  <a:pt x="275405" y="62380"/>
                </a:lnTo>
                <a:lnTo>
                  <a:pt x="297033" y="104217"/>
                </a:lnTo>
                <a:lnTo>
                  <a:pt x="304800" y="152400"/>
                </a:lnTo>
                <a:lnTo>
                  <a:pt x="297033" y="200582"/>
                </a:lnTo>
                <a:lnTo>
                  <a:pt x="275405" y="242419"/>
                </a:lnTo>
                <a:lnTo>
                  <a:pt x="242419" y="275405"/>
                </a:lnTo>
                <a:lnTo>
                  <a:pt x="200582" y="297033"/>
                </a:lnTo>
                <a:lnTo>
                  <a:pt x="152400" y="304800"/>
                </a:lnTo>
                <a:lnTo>
                  <a:pt x="104217" y="297033"/>
                </a:lnTo>
                <a:lnTo>
                  <a:pt x="62380" y="275405"/>
                </a:lnTo>
                <a:lnTo>
                  <a:pt x="29394" y="242419"/>
                </a:lnTo>
                <a:lnTo>
                  <a:pt x="7766" y="200582"/>
                </a:lnTo>
                <a:lnTo>
                  <a:pt x="0" y="1524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00" name="Google Shape;1300;p90"/>
          <p:cNvSpPr txBox="1"/>
          <p:nvPr/>
        </p:nvSpPr>
        <p:spPr>
          <a:xfrm>
            <a:off x="5890005" y="3371215"/>
            <a:ext cx="1111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90"/>
          <p:cNvSpPr/>
          <p:nvPr/>
        </p:nvSpPr>
        <p:spPr>
          <a:xfrm>
            <a:off x="7391400" y="3352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0" y="152400"/>
                </a:moveTo>
                <a:lnTo>
                  <a:pt x="7766" y="104217"/>
                </a:lnTo>
                <a:lnTo>
                  <a:pt x="29394" y="62380"/>
                </a:lnTo>
                <a:lnTo>
                  <a:pt x="62380" y="29394"/>
                </a:lnTo>
                <a:lnTo>
                  <a:pt x="104217" y="7766"/>
                </a:lnTo>
                <a:lnTo>
                  <a:pt x="152400" y="0"/>
                </a:lnTo>
                <a:lnTo>
                  <a:pt x="200582" y="7766"/>
                </a:lnTo>
                <a:lnTo>
                  <a:pt x="242419" y="29394"/>
                </a:lnTo>
                <a:lnTo>
                  <a:pt x="275405" y="62380"/>
                </a:lnTo>
                <a:lnTo>
                  <a:pt x="297033" y="104217"/>
                </a:lnTo>
                <a:lnTo>
                  <a:pt x="304800" y="152400"/>
                </a:lnTo>
                <a:lnTo>
                  <a:pt x="297033" y="200582"/>
                </a:lnTo>
                <a:lnTo>
                  <a:pt x="275405" y="242419"/>
                </a:lnTo>
                <a:lnTo>
                  <a:pt x="242419" y="275405"/>
                </a:lnTo>
                <a:lnTo>
                  <a:pt x="200582" y="297033"/>
                </a:lnTo>
                <a:lnTo>
                  <a:pt x="152400" y="304800"/>
                </a:lnTo>
                <a:lnTo>
                  <a:pt x="104217" y="297033"/>
                </a:lnTo>
                <a:lnTo>
                  <a:pt x="62380" y="275405"/>
                </a:lnTo>
                <a:lnTo>
                  <a:pt x="29394" y="242419"/>
                </a:lnTo>
                <a:lnTo>
                  <a:pt x="7766" y="200582"/>
                </a:lnTo>
                <a:lnTo>
                  <a:pt x="0" y="1524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02" name="Google Shape;1302;p90"/>
          <p:cNvSpPr txBox="1"/>
          <p:nvPr/>
        </p:nvSpPr>
        <p:spPr>
          <a:xfrm>
            <a:off x="7492110" y="3371215"/>
            <a:ext cx="10604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90"/>
          <p:cNvSpPr/>
          <p:nvPr/>
        </p:nvSpPr>
        <p:spPr>
          <a:xfrm>
            <a:off x="8077200" y="2667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0" y="152400"/>
                </a:moveTo>
                <a:lnTo>
                  <a:pt x="7766" y="104217"/>
                </a:lnTo>
                <a:lnTo>
                  <a:pt x="29394" y="62380"/>
                </a:lnTo>
                <a:lnTo>
                  <a:pt x="62380" y="29394"/>
                </a:lnTo>
                <a:lnTo>
                  <a:pt x="104217" y="7766"/>
                </a:lnTo>
                <a:lnTo>
                  <a:pt x="152400" y="0"/>
                </a:lnTo>
                <a:lnTo>
                  <a:pt x="200582" y="7766"/>
                </a:lnTo>
                <a:lnTo>
                  <a:pt x="242419" y="29394"/>
                </a:lnTo>
                <a:lnTo>
                  <a:pt x="275405" y="62380"/>
                </a:lnTo>
                <a:lnTo>
                  <a:pt x="297033" y="104217"/>
                </a:lnTo>
                <a:lnTo>
                  <a:pt x="304800" y="152400"/>
                </a:lnTo>
                <a:lnTo>
                  <a:pt x="297033" y="200582"/>
                </a:lnTo>
                <a:lnTo>
                  <a:pt x="275405" y="242419"/>
                </a:lnTo>
                <a:lnTo>
                  <a:pt x="242419" y="275405"/>
                </a:lnTo>
                <a:lnTo>
                  <a:pt x="200582" y="297033"/>
                </a:lnTo>
                <a:lnTo>
                  <a:pt x="152400" y="304800"/>
                </a:lnTo>
                <a:lnTo>
                  <a:pt x="104217" y="297033"/>
                </a:lnTo>
                <a:lnTo>
                  <a:pt x="62380" y="275405"/>
                </a:lnTo>
                <a:lnTo>
                  <a:pt x="29394" y="242419"/>
                </a:lnTo>
                <a:lnTo>
                  <a:pt x="7766" y="200582"/>
                </a:lnTo>
                <a:lnTo>
                  <a:pt x="0" y="1524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04" name="Google Shape;1304;p90"/>
          <p:cNvSpPr txBox="1"/>
          <p:nvPr/>
        </p:nvSpPr>
        <p:spPr>
          <a:xfrm>
            <a:off x="8173339" y="2685415"/>
            <a:ext cx="1174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90"/>
          <p:cNvSpPr/>
          <p:nvPr/>
        </p:nvSpPr>
        <p:spPr>
          <a:xfrm>
            <a:off x="5105400" y="2667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0" y="152400"/>
                </a:moveTo>
                <a:lnTo>
                  <a:pt x="7766" y="104217"/>
                </a:lnTo>
                <a:lnTo>
                  <a:pt x="29394" y="62380"/>
                </a:lnTo>
                <a:lnTo>
                  <a:pt x="62380" y="29394"/>
                </a:lnTo>
                <a:lnTo>
                  <a:pt x="104217" y="7766"/>
                </a:lnTo>
                <a:lnTo>
                  <a:pt x="152400" y="0"/>
                </a:lnTo>
                <a:lnTo>
                  <a:pt x="200582" y="7766"/>
                </a:lnTo>
                <a:lnTo>
                  <a:pt x="242419" y="29394"/>
                </a:lnTo>
                <a:lnTo>
                  <a:pt x="275405" y="62380"/>
                </a:lnTo>
                <a:lnTo>
                  <a:pt x="297033" y="104217"/>
                </a:lnTo>
                <a:lnTo>
                  <a:pt x="304800" y="152400"/>
                </a:lnTo>
                <a:lnTo>
                  <a:pt x="297033" y="200582"/>
                </a:lnTo>
                <a:lnTo>
                  <a:pt x="275405" y="242419"/>
                </a:lnTo>
                <a:lnTo>
                  <a:pt x="242419" y="275405"/>
                </a:lnTo>
                <a:lnTo>
                  <a:pt x="200582" y="297033"/>
                </a:lnTo>
                <a:lnTo>
                  <a:pt x="152400" y="304800"/>
                </a:lnTo>
                <a:lnTo>
                  <a:pt x="104217" y="297033"/>
                </a:lnTo>
                <a:lnTo>
                  <a:pt x="62380" y="275405"/>
                </a:lnTo>
                <a:lnTo>
                  <a:pt x="29394" y="242419"/>
                </a:lnTo>
                <a:lnTo>
                  <a:pt x="7766" y="200582"/>
                </a:lnTo>
                <a:lnTo>
                  <a:pt x="0" y="1524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06" name="Google Shape;1306;p90"/>
          <p:cNvSpPr txBox="1"/>
          <p:nvPr/>
        </p:nvSpPr>
        <p:spPr>
          <a:xfrm>
            <a:off x="5193538" y="2685415"/>
            <a:ext cx="13208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90"/>
          <p:cNvSpPr/>
          <p:nvPr/>
        </p:nvSpPr>
        <p:spPr>
          <a:xfrm>
            <a:off x="7391400" y="1981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0" y="152400"/>
                </a:moveTo>
                <a:lnTo>
                  <a:pt x="7766" y="104217"/>
                </a:lnTo>
                <a:lnTo>
                  <a:pt x="29394" y="62380"/>
                </a:lnTo>
                <a:lnTo>
                  <a:pt x="62380" y="29394"/>
                </a:lnTo>
                <a:lnTo>
                  <a:pt x="104217" y="7766"/>
                </a:lnTo>
                <a:lnTo>
                  <a:pt x="152400" y="0"/>
                </a:lnTo>
                <a:lnTo>
                  <a:pt x="200582" y="7766"/>
                </a:lnTo>
                <a:lnTo>
                  <a:pt x="242419" y="29394"/>
                </a:lnTo>
                <a:lnTo>
                  <a:pt x="275405" y="62380"/>
                </a:lnTo>
                <a:lnTo>
                  <a:pt x="297033" y="104217"/>
                </a:lnTo>
                <a:lnTo>
                  <a:pt x="304800" y="152400"/>
                </a:lnTo>
                <a:lnTo>
                  <a:pt x="297033" y="200582"/>
                </a:lnTo>
                <a:lnTo>
                  <a:pt x="275405" y="242419"/>
                </a:lnTo>
                <a:lnTo>
                  <a:pt x="242419" y="275405"/>
                </a:lnTo>
                <a:lnTo>
                  <a:pt x="200582" y="297033"/>
                </a:lnTo>
                <a:lnTo>
                  <a:pt x="152400" y="304800"/>
                </a:lnTo>
                <a:lnTo>
                  <a:pt x="104217" y="297033"/>
                </a:lnTo>
                <a:lnTo>
                  <a:pt x="62380" y="275405"/>
                </a:lnTo>
                <a:lnTo>
                  <a:pt x="29394" y="242419"/>
                </a:lnTo>
                <a:lnTo>
                  <a:pt x="7766" y="200582"/>
                </a:lnTo>
                <a:lnTo>
                  <a:pt x="0" y="1524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08" name="Google Shape;1308;p90"/>
          <p:cNvSpPr txBox="1"/>
          <p:nvPr/>
        </p:nvSpPr>
        <p:spPr>
          <a:xfrm>
            <a:off x="7489063" y="1999234"/>
            <a:ext cx="11366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90"/>
          <p:cNvSpPr/>
          <p:nvPr/>
        </p:nvSpPr>
        <p:spPr>
          <a:xfrm>
            <a:off x="5943600" y="3057525"/>
            <a:ext cx="0" cy="285750"/>
          </a:xfrm>
          <a:custGeom>
            <a:avLst/>
            <a:gdLst/>
            <a:ahLst/>
            <a:cxnLst/>
            <a:rect l="l" t="t" r="r" b="b"/>
            <a:pathLst>
              <a:path w="120000" h="285750" extrusionOk="0">
                <a:moveTo>
                  <a:pt x="0" y="285750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10" name="Google Shape;1310;p90"/>
          <p:cNvSpPr/>
          <p:nvPr/>
        </p:nvSpPr>
        <p:spPr>
          <a:xfrm>
            <a:off x="7543800" y="3057525"/>
            <a:ext cx="0" cy="285750"/>
          </a:xfrm>
          <a:custGeom>
            <a:avLst/>
            <a:gdLst/>
            <a:ahLst/>
            <a:cxnLst/>
            <a:rect l="l" t="t" r="r" b="b"/>
            <a:pathLst>
              <a:path w="120000" h="285750" extrusionOk="0">
                <a:moveTo>
                  <a:pt x="0" y="285750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11" name="Google Shape;1311;p90"/>
          <p:cNvSpPr/>
          <p:nvPr/>
        </p:nvSpPr>
        <p:spPr>
          <a:xfrm>
            <a:off x="7781925" y="2819400"/>
            <a:ext cx="285750" cy="0"/>
          </a:xfrm>
          <a:custGeom>
            <a:avLst/>
            <a:gdLst/>
            <a:ahLst/>
            <a:cxnLst/>
            <a:rect l="l" t="t" r="r" b="b"/>
            <a:pathLst>
              <a:path w="285750" h="120000" extrusionOk="0">
                <a:moveTo>
                  <a:pt x="285750" y="0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12" name="Google Shape;1312;p90"/>
          <p:cNvSpPr/>
          <p:nvPr/>
        </p:nvSpPr>
        <p:spPr>
          <a:xfrm>
            <a:off x="7543800" y="2295525"/>
            <a:ext cx="0" cy="285750"/>
          </a:xfrm>
          <a:custGeom>
            <a:avLst/>
            <a:gdLst/>
            <a:ahLst/>
            <a:cxnLst/>
            <a:rect l="l" t="t" r="r" b="b"/>
            <a:pathLst>
              <a:path w="120000" h="285750" extrusionOk="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13" name="Google Shape;1313;p90"/>
          <p:cNvSpPr/>
          <p:nvPr/>
        </p:nvSpPr>
        <p:spPr>
          <a:xfrm>
            <a:off x="5943600" y="2295525"/>
            <a:ext cx="0" cy="285750"/>
          </a:xfrm>
          <a:custGeom>
            <a:avLst/>
            <a:gdLst/>
            <a:ahLst/>
            <a:cxnLst/>
            <a:rect l="l" t="t" r="r" b="b"/>
            <a:pathLst>
              <a:path w="120000" h="285750" extrusionOk="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14" name="Google Shape;1314;p90"/>
          <p:cNvSpPr/>
          <p:nvPr/>
        </p:nvSpPr>
        <p:spPr>
          <a:xfrm>
            <a:off x="5419725" y="2819400"/>
            <a:ext cx="285750" cy="0"/>
          </a:xfrm>
          <a:custGeom>
            <a:avLst/>
            <a:gdLst/>
            <a:ahLst/>
            <a:cxnLst/>
            <a:rect l="l" t="t" r="r" b="b"/>
            <a:pathLst>
              <a:path w="285750" h="120000" extrusionOk="0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15" name="Google Shape;1315;p90"/>
          <p:cNvSpPr/>
          <p:nvPr/>
        </p:nvSpPr>
        <p:spPr>
          <a:xfrm>
            <a:off x="6553200" y="4876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381000" y="0"/>
                </a:lnTo>
                <a:lnTo>
                  <a:pt x="410640" y="5994"/>
                </a:lnTo>
                <a:lnTo>
                  <a:pt x="434863" y="22336"/>
                </a:lnTo>
                <a:lnTo>
                  <a:pt x="451205" y="46559"/>
                </a:lnTo>
                <a:lnTo>
                  <a:pt x="457200" y="76200"/>
                </a:lnTo>
                <a:lnTo>
                  <a:pt x="457200" y="381000"/>
                </a:lnTo>
                <a:lnTo>
                  <a:pt x="451205" y="410640"/>
                </a:lnTo>
                <a:lnTo>
                  <a:pt x="434863" y="434863"/>
                </a:lnTo>
                <a:lnTo>
                  <a:pt x="410640" y="451205"/>
                </a:lnTo>
                <a:lnTo>
                  <a:pt x="381000" y="457200"/>
                </a:lnTo>
                <a:lnTo>
                  <a:pt x="76200" y="457200"/>
                </a:lnTo>
                <a:lnTo>
                  <a:pt x="46559" y="451205"/>
                </a:lnTo>
                <a:lnTo>
                  <a:pt x="22336" y="434863"/>
                </a:lnTo>
                <a:lnTo>
                  <a:pt x="5994" y="410640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16" name="Google Shape;1316;p90"/>
          <p:cNvSpPr txBox="1"/>
          <p:nvPr/>
        </p:nvSpPr>
        <p:spPr>
          <a:xfrm>
            <a:off x="6627114" y="4937632"/>
            <a:ext cx="31242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90"/>
          <p:cNvSpPr/>
          <p:nvPr/>
        </p:nvSpPr>
        <p:spPr>
          <a:xfrm>
            <a:off x="6934200" y="5638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0" y="152400"/>
                </a:moveTo>
                <a:lnTo>
                  <a:pt x="7766" y="104231"/>
                </a:lnTo>
                <a:lnTo>
                  <a:pt x="29394" y="62396"/>
                </a:lnTo>
                <a:lnTo>
                  <a:pt x="62380" y="29405"/>
                </a:lnTo>
                <a:lnTo>
                  <a:pt x="104217" y="7769"/>
                </a:lnTo>
                <a:lnTo>
                  <a:pt x="152400" y="0"/>
                </a:lnTo>
                <a:lnTo>
                  <a:pt x="200582" y="7769"/>
                </a:lnTo>
                <a:lnTo>
                  <a:pt x="242419" y="29405"/>
                </a:lnTo>
                <a:lnTo>
                  <a:pt x="275405" y="62396"/>
                </a:lnTo>
                <a:lnTo>
                  <a:pt x="297033" y="104231"/>
                </a:lnTo>
                <a:lnTo>
                  <a:pt x="304800" y="152400"/>
                </a:lnTo>
                <a:lnTo>
                  <a:pt x="297033" y="200568"/>
                </a:lnTo>
                <a:lnTo>
                  <a:pt x="275405" y="242403"/>
                </a:lnTo>
                <a:lnTo>
                  <a:pt x="242419" y="275394"/>
                </a:lnTo>
                <a:lnTo>
                  <a:pt x="200582" y="297030"/>
                </a:lnTo>
                <a:lnTo>
                  <a:pt x="152400" y="304800"/>
                </a:lnTo>
                <a:lnTo>
                  <a:pt x="104217" y="297030"/>
                </a:lnTo>
                <a:lnTo>
                  <a:pt x="62380" y="275394"/>
                </a:lnTo>
                <a:lnTo>
                  <a:pt x="29394" y="242403"/>
                </a:lnTo>
                <a:lnTo>
                  <a:pt x="7766" y="200568"/>
                </a:lnTo>
                <a:lnTo>
                  <a:pt x="0" y="1524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18" name="Google Shape;1318;p90"/>
          <p:cNvSpPr txBox="1"/>
          <p:nvPr/>
        </p:nvSpPr>
        <p:spPr>
          <a:xfrm>
            <a:off x="7034910" y="5657799"/>
            <a:ext cx="10604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90"/>
          <p:cNvSpPr/>
          <p:nvPr/>
        </p:nvSpPr>
        <p:spPr>
          <a:xfrm>
            <a:off x="7315200" y="495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0" y="152400"/>
                </a:moveTo>
                <a:lnTo>
                  <a:pt x="7766" y="104217"/>
                </a:lnTo>
                <a:lnTo>
                  <a:pt x="29394" y="62380"/>
                </a:lnTo>
                <a:lnTo>
                  <a:pt x="62380" y="29394"/>
                </a:lnTo>
                <a:lnTo>
                  <a:pt x="104217" y="7766"/>
                </a:lnTo>
                <a:lnTo>
                  <a:pt x="152400" y="0"/>
                </a:lnTo>
                <a:lnTo>
                  <a:pt x="200582" y="7766"/>
                </a:lnTo>
                <a:lnTo>
                  <a:pt x="242419" y="29394"/>
                </a:lnTo>
                <a:lnTo>
                  <a:pt x="275405" y="62380"/>
                </a:lnTo>
                <a:lnTo>
                  <a:pt x="297033" y="104217"/>
                </a:lnTo>
                <a:lnTo>
                  <a:pt x="304800" y="152400"/>
                </a:lnTo>
                <a:lnTo>
                  <a:pt x="297033" y="200582"/>
                </a:lnTo>
                <a:lnTo>
                  <a:pt x="275405" y="242419"/>
                </a:lnTo>
                <a:lnTo>
                  <a:pt x="242419" y="275405"/>
                </a:lnTo>
                <a:lnTo>
                  <a:pt x="200582" y="297033"/>
                </a:lnTo>
                <a:lnTo>
                  <a:pt x="152400" y="304800"/>
                </a:lnTo>
                <a:lnTo>
                  <a:pt x="104217" y="297033"/>
                </a:lnTo>
                <a:lnTo>
                  <a:pt x="62380" y="275405"/>
                </a:lnTo>
                <a:lnTo>
                  <a:pt x="29394" y="242419"/>
                </a:lnTo>
                <a:lnTo>
                  <a:pt x="7766" y="200582"/>
                </a:lnTo>
                <a:lnTo>
                  <a:pt x="0" y="1524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20" name="Google Shape;1320;p90"/>
          <p:cNvSpPr txBox="1"/>
          <p:nvPr/>
        </p:nvSpPr>
        <p:spPr>
          <a:xfrm>
            <a:off x="7411339" y="4971669"/>
            <a:ext cx="1174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90"/>
          <p:cNvSpPr/>
          <p:nvPr/>
        </p:nvSpPr>
        <p:spPr>
          <a:xfrm>
            <a:off x="6934200" y="4267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0" y="152400"/>
                </a:moveTo>
                <a:lnTo>
                  <a:pt x="7766" y="104217"/>
                </a:lnTo>
                <a:lnTo>
                  <a:pt x="29394" y="62380"/>
                </a:lnTo>
                <a:lnTo>
                  <a:pt x="62380" y="29394"/>
                </a:lnTo>
                <a:lnTo>
                  <a:pt x="104217" y="7766"/>
                </a:lnTo>
                <a:lnTo>
                  <a:pt x="152400" y="0"/>
                </a:lnTo>
                <a:lnTo>
                  <a:pt x="200582" y="7766"/>
                </a:lnTo>
                <a:lnTo>
                  <a:pt x="242419" y="29394"/>
                </a:lnTo>
                <a:lnTo>
                  <a:pt x="275405" y="62380"/>
                </a:lnTo>
                <a:lnTo>
                  <a:pt x="297033" y="104217"/>
                </a:lnTo>
                <a:lnTo>
                  <a:pt x="304800" y="152400"/>
                </a:lnTo>
                <a:lnTo>
                  <a:pt x="297033" y="200582"/>
                </a:lnTo>
                <a:lnTo>
                  <a:pt x="275405" y="242419"/>
                </a:lnTo>
                <a:lnTo>
                  <a:pt x="242419" y="275405"/>
                </a:lnTo>
                <a:lnTo>
                  <a:pt x="200582" y="297033"/>
                </a:lnTo>
                <a:lnTo>
                  <a:pt x="152400" y="304800"/>
                </a:lnTo>
                <a:lnTo>
                  <a:pt x="104217" y="297033"/>
                </a:lnTo>
                <a:lnTo>
                  <a:pt x="62380" y="275405"/>
                </a:lnTo>
                <a:lnTo>
                  <a:pt x="29394" y="242419"/>
                </a:lnTo>
                <a:lnTo>
                  <a:pt x="7766" y="200582"/>
                </a:lnTo>
                <a:lnTo>
                  <a:pt x="0" y="1524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22" name="Google Shape;1322;p90"/>
          <p:cNvSpPr txBox="1"/>
          <p:nvPr/>
        </p:nvSpPr>
        <p:spPr>
          <a:xfrm>
            <a:off x="7031863" y="4285869"/>
            <a:ext cx="11366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90"/>
          <p:cNvSpPr/>
          <p:nvPr/>
        </p:nvSpPr>
        <p:spPr>
          <a:xfrm>
            <a:off x="6935723" y="5334000"/>
            <a:ext cx="151130" cy="304800"/>
          </a:xfrm>
          <a:custGeom>
            <a:avLst/>
            <a:gdLst/>
            <a:ahLst/>
            <a:cxnLst/>
            <a:rect l="l" t="t" r="r" b="b"/>
            <a:pathLst>
              <a:path w="151129" h="304800" extrusionOk="0">
                <a:moveTo>
                  <a:pt x="150875" y="304800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24" name="Google Shape;1324;p90"/>
          <p:cNvSpPr/>
          <p:nvPr/>
        </p:nvSpPr>
        <p:spPr>
          <a:xfrm>
            <a:off x="7010400" y="5105400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120000" extrusionOk="0">
                <a:moveTo>
                  <a:pt x="304800" y="0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25" name="Google Shape;1325;p90"/>
          <p:cNvSpPr/>
          <p:nvPr/>
        </p:nvSpPr>
        <p:spPr>
          <a:xfrm>
            <a:off x="6935723" y="4572000"/>
            <a:ext cx="151130" cy="304800"/>
          </a:xfrm>
          <a:custGeom>
            <a:avLst/>
            <a:gdLst/>
            <a:ahLst/>
            <a:cxnLst/>
            <a:rect l="l" t="t" r="r" b="b"/>
            <a:pathLst>
              <a:path w="151129" h="304800" extrusionOk="0">
                <a:moveTo>
                  <a:pt x="150875" y="0"/>
                </a:moveTo>
                <a:lnTo>
                  <a:pt x="0" y="3048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26" name="Google Shape;1326;p90"/>
          <p:cNvSpPr/>
          <p:nvPr/>
        </p:nvSpPr>
        <p:spPr>
          <a:xfrm>
            <a:off x="6324600" y="4267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0" y="152400"/>
                </a:moveTo>
                <a:lnTo>
                  <a:pt x="7766" y="104217"/>
                </a:lnTo>
                <a:lnTo>
                  <a:pt x="29394" y="62380"/>
                </a:lnTo>
                <a:lnTo>
                  <a:pt x="62380" y="29394"/>
                </a:lnTo>
                <a:lnTo>
                  <a:pt x="104217" y="7766"/>
                </a:lnTo>
                <a:lnTo>
                  <a:pt x="152400" y="0"/>
                </a:lnTo>
                <a:lnTo>
                  <a:pt x="200582" y="7766"/>
                </a:lnTo>
                <a:lnTo>
                  <a:pt x="242419" y="29394"/>
                </a:lnTo>
                <a:lnTo>
                  <a:pt x="275405" y="62380"/>
                </a:lnTo>
                <a:lnTo>
                  <a:pt x="297033" y="104217"/>
                </a:lnTo>
                <a:lnTo>
                  <a:pt x="304800" y="152400"/>
                </a:lnTo>
                <a:lnTo>
                  <a:pt x="297033" y="200582"/>
                </a:lnTo>
                <a:lnTo>
                  <a:pt x="275405" y="242419"/>
                </a:lnTo>
                <a:lnTo>
                  <a:pt x="242419" y="275405"/>
                </a:lnTo>
                <a:lnTo>
                  <a:pt x="200582" y="297033"/>
                </a:lnTo>
                <a:lnTo>
                  <a:pt x="152400" y="304800"/>
                </a:lnTo>
                <a:lnTo>
                  <a:pt x="104217" y="297033"/>
                </a:lnTo>
                <a:lnTo>
                  <a:pt x="62380" y="275405"/>
                </a:lnTo>
                <a:lnTo>
                  <a:pt x="29394" y="242419"/>
                </a:lnTo>
                <a:lnTo>
                  <a:pt x="7766" y="200582"/>
                </a:lnTo>
                <a:lnTo>
                  <a:pt x="0" y="1524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27" name="Google Shape;1327;p90"/>
          <p:cNvSpPr txBox="1"/>
          <p:nvPr/>
        </p:nvSpPr>
        <p:spPr>
          <a:xfrm>
            <a:off x="6417309" y="4285869"/>
            <a:ext cx="12255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90"/>
          <p:cNvSpPr/>
          <p:nvPr/>
        </p:nvSpPr>
        <p:spPr>
          <a:xfrm>
            <a:off x="6324600" y="5638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0" y="152400"/>
                </a:moveTo>
                <a:lnTo>
                  <a:pt x="7766" y="104231"/>
                </a:lnTo>
                <a:lnTo>
                  <a:pt x="29394" y="62396"/>
                </a:lnTo>
                <a:lnTo>
                  <a:pt x="62380" y="29405"/>
                </a:lnTo>
                <a:lnTo>
                  <a:pt x="104217" y="7769"/>
                </a:lnTo>
                <a:lnTo>
                  <a:pt x="152400" y="0"/>
                </a:lnTo>
                <a:lnTo>
                  <a:pt x="200582" y="7769"/>
                </a:lnTo>
                <a:lnTo>
                  <a:pt x="242419" y="29405"/>
                </a:lnTo>
                <a:lnTo>
                  <a:pt x="275405" y="62396"/>
                </a:lnTo>
                <a:lnTo>
                  <a:pt x="297033" y="104231"/>
                </a:lnTo>
                <a:lnTo>
                  <a:pt x="304800" y="152400"/>
                </a:lnTo>
                <a:lnTo>
                  <a:pt x="297033" y="200568"/>
                </a:lnTo>
                <a:lnTo>
                  <a:pt x="275405" y="242403"/>
                </a:lnTo>
                <a:lnTo>
                  <a:pt x="242419" y="275394"/>
                </a:lnTo>
                <a:lnTo>
                  <a:pt x="200582" y="297030"/>
                </a:lnTo>
                <a:lnTo>
                  <a:pt x="152400" y="304800"/>
                </a:lnTo>
                <a:lnTo>
                  <a:pt x="104217" y="297030"/>
                </a:lnTo>
                <a:lnTo>
                  <a:pt x="62380" y="275394"/>
                </a:lnTo>
                <a:lnTo>
                  <a:pt x="29394" y="242403"/>
                </a:lnTo>
                <a:lnTo>
                  <a:pt x="7766" y="200568"/>
                </a:lnTo>
                <a:lnTo>
                  <a:pt x="0" y="1524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29" name="Google Shape;1329;p90"/>
          <p:cNvSpPr txBox="1"/>
          <p:nvPr/>
        </p:nvSpPr>
        <p:spPr>
          <a:xfrm>
            <a:off x="6423405" y="5657799"/>
            <a:ext cx="1111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90"/>
          <p:cNvSpPr/>
          <p:nvPr/>
        </p:nvSpPr>
        <p:spPr>
          <a:xfrm>
            <a:off x="5943600" y="495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0" y="152400"/>
                </a:moveTo>
                <a:lnTo>
                  <a:pt x="7766" y="104217"/>
                </a:lnTo>
                <a:lnTo>
                  <a:pt x="29394" y="62380"/>
                </a:lnTo>
                <a:lnTo>
                  <a:pt x="62380" y="29394"/>
                </a:lnTo>
                <a:lnTo>
                  <a:pt x="104217" y="7766"/>
                </a:lnTo>
                <a:lnTo>
                  <a:pt x="152400" y="0"/>
                </a:lnTo>
                <a:lnTo>
                  <a:pt x="200582" y="7766"/>
                </a:lnTo>
                <a:lnTo>
                  <a:pt x="242419" y="29394"/>
                </a:lnTo>
                <a:lnTo>
                  <a:pt x="275405" y="62380"/>
                </a:lnTo>
                <a:lnTo>
                  <a:pt x="297033" y="104217"/>
                </a:lnTo>
                <a:lnTo>
                  <a:pt x="304800" y="152400"/>
                </a:lnTo>
                <a:lnTo>
                  <a:pt x="297033" y="200582"/>
                </a:lnTo>
                <a:lnTo>
                  <a:pt x="275405" y="242419"/>
                </a:lnTo>
                <a:lnTo>
                  <a:pt x="242419" y="275405"/>
                </a:lnTo>
                <a:lnTo>
                  <a:pt x="200582" y="297033"/>
                </a:lnTo>
                <a:lnTo>
                  <a:pt x="152400" y="304800"/>
                </a:lnTo>
                <a:lnTo>
                  <a:pt x="104217" y="297033"/>
                </a:lnTo>
                <a:lnTo>
                  <a:pt x="62380" y="275405"/>
                </a:lnTo>
                <a:lnTo>
                  <a:pt x="29394" y="242419"/>
                </a:lnTo>
                <a:lnTo>
                  <a:pt x="7766" y="200582"/>
                </a:lnTo>
                <a:lnTo>
                  <a:pt x="0" y="1524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31" name="Google Shape;1331;p90"/>
          <p:cNvSpPr txBox="1"/>
          <p:nvPr/>
        </p:nvSpPr>
        <p:spPr>
          <a:xfrm>
            <a:off x="6031738" y="4971669"/>
            <a:ext cx="13208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90"/>
          <p:cNvSpPr/>
          <p:nvPr/>
        </p:nvSpPr>
        <p:spPr>
          <a:xfrm>
            <a:off x="6477000" y="5334000"/>
            <a:ext cx="154305" cy="304800"/>
          </a:xfrm>
          <a:custGeom>
            <a:avLst/>
            <a:gdLst/>
            <a:ahLst/>
            <a:cxnLst/>
            <a:rect l="l" t="t" r="r" b="b"/>
            <a:pathLst>
              <a:path w="154304" h="304800" extrusionOk="0">
                <a:moveTo>
                  <a:pt x="0" y="304800"/>
                </a:moveTo>
                <a:lnTo>
                  <a:pt x="15405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33" name="Google Shape;1333;p90"/>
          <p:cNvSpPr/>
          <p:nvPr/>
        </p:nvSpPr>
        <p:spPr>
          <a:xfrm>
            <a:off x="6477000" y="4572000"/>
            <a:ext cx="154305" cy="304800"/>
          </a:xfrm>
          <a:custGeom>
            <a:avLst/>
            <a:gdLst/>
            <a:ahLst/>
            <a:cxnLst/>
            <a:rect l="l" t="t" r="r" b="b"/>
            <a:pathLst>
              <a:path w="154304" h="304800" extrusionOk="0">
                <a:moveTo>
                  <a:pt x="0" y="0"/>
                </a:moveTo>
                <a:lnTo>
                  <a:pt x="154050" y="3048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34" name="Google Shape;1334;p90"/>
          <p:cNvSpPr/>
          <p:nvPr/>
        </p:nvSpPr>
        <p:spPr>
          <a:xfrm>
            <a:off x="6248400" y="5105400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120000" extrusionOk="0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35" name="Google Shape;1335;p90"/>
          <p:cNvSpPr/>
          <p:nvPr/>
        </p:nvSpPr>
        <p:spPr>
          <a:xfrm>
            <a:off x="6726428" y="3276600"/>
            <a:ext cx="111125" cy="762000"/>
          </a:xfrm>
          <a:custGeom>
            <a:avLst/>
            <a:gdLst/>
            <a:ahLst/>
            <a:cxnLst/>
            <a:rect l="l" t="t" r="r" b="b"/>
            <a:pathLst>
              <a:path w="111125" h="762000" extrusionOk="0">
                <a:moveTo>
                  <a:pt x="10668" y="656082"/>
                </a:moveTo>
                <a:lnTo>
                  <a:pt x="1524" y="661416"/>
                </a:lnTo>
                <a:lnTo>
                  <a:pt x="0" y="667131"/>
                </a:lnTo>
                <a:lnTo>
                  <a:pt x="55372" y="762000"/>
                </a:lnTo>
                <a:lnTo>
                  <a:pt x="66342" y="743204"/>
                </a:lnTo>
                <a:lnTo>
                  <a:pt x="45847" y="743204"/>
                </a:lnTo>
                <a:lnTo>
                  <a:pt x="45847" y="707897"/>
                </a:lnTo>
                <a:lnTo>
                  <a:pt x="16510" y="657606"/>
                </a:lnTo>
                <a:lnTo>
                  <a:pt x="10668" y="656082"/>
                </a:lnTo>
                <a:close/>
              </a:path>
              <a:path w="111125" h="762000" extrusionOk="0">
                <a:moveTo>
                  <a:pt x="45847" y="707897"/>
                </a:moveTo>
                <a:lnTo>
                  <a:pt x="45847" y="743204"/>
                </a:lnTo>
                <a:lnTo>
                  <a:pt x="64897" y="743204"/>
                </a:lnTo>
                <a:lnTo>
                  <a:pt x="64897" y="738377"/>
                </a:lnTo>
                <a:lnTo>
                  <a:pt x="47117" y="738377"/>
                </a:lnTo>
                <a:lnTo>
                  <a:pt x="55372" y="724226"/>
                </a:lnTo>
                <a:lnTo>
                  <a:pt x="45847" y="707897"/>
                </a:lnTo>
                <a:close/>
              </a:path>
              <a:path w="111125" h="762000" extrusionOk="0">
                <a:moveTo>
                  <a:pt x="100075" y="656082"/>
                </a:moveTo>
                <a:lnTo>
                  <a:pt x="94233" y="657606"/>
                </a:lnTo>
                <a:lnTo>
                  <a:pt x="64897" y="707897"/>
                </a:lnTo>
                <a:lnTo>
                  <a:pt x="64897" y="743204"/>
                </a:lnTo>
                <a:lnTo>
                  <a:pt x="66342" y="743204"/>
                </a:lnTo>
                <a:lnTo>
                  <a:pt x="110744" y="667131"/>
                </a:lnTo>
                <a:lnTo>
                  <a:pt x="109220" y="661416"/>
                </a:lnTo>
                <a:lnTo>
                  <a:pt x="100075" y="656082"/>
                </a:lnTo>
                <a:close/>
              </a:path>
              <a:path w="111125" h="762000" extrusionOk="0">
                <a:moveTo>
                  <a:pt x="55372" y="724226"/>
                </a:moveTo>
                <a:lnTo>
                  <a:pt x="47117" y="738377"/>
                </a:lnTo>
                <a:lnTo>
                  <a:pt x="63626" y="738377"/>
                </a:lnTo>
                <a:lnTo>
                  <a:pt x="55372" y="724226"/>
                </a:lnTo>
                <a:close/>
              </a:path>
              <a:path w="111125" h="762000" extrusionOk="0">
                <a:moveTo>
                  <a:pt x="64897" y="707897"/>
                </a:moveTo>
                <a:lnTo>
                  <a:pt x="55372" y="724226"/>
                </a:lnTo>
                <a:lnTo>
                  <a:pt x="63626" y="738377"/>
                </a:lnTo>
                <a:lnTo>
                  <a:pt x="64897" y="738377"/>
                </a:lnTo>
                <a:lnTo>
                  <a:pt x="64897" y="707897"/>
                </a:lnTo>
                <a:close/>
              </a:path>
              <a:path w="111125" h="762000" extrusionOk="0">
                <a:moveTo>
                  <a:pt x="64897" y="0"/>
                </a:moveTo>
                <a:lnTo>
                  <a:pt x="45847" y="0"/>
                </a:lnTo>
                <a:lnTo>
                  <a:pt x="45847" y="707897"/>
                </a:lnTo>
                <a:lnTo>
                  <a:pt x="55372" y="724226"/>
                </a:lnTo>
                <a:lnTo>
                  <a:pt x="64897" y="707897"/>
                </a:lnTo>
                <a:lnTo>
                  <a:pt x="6489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5074080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9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35953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Example - E/R Diagram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1340" name="Google Shape;1340;p9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37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42" name="Google Shape;1342;p91"/>
          <p:cNvSpPr/>
          <p:nvPr/>
        </p:nvSpPr>
        <p:spPr>
          <a:xfrm>
            <a:off x="3886200" y="2590800"/>
            <a:ext cx="1371600" cy="533400"/>
          </a:xfrm>
          <a:custGeom>
            <a:avLst/>
            <a:gdLst/>
            <a:ahLst/>
            <a:cxnLst/>
            <a:rect l="l" t="t" r="r" b="b"/>
            <a:pathLst>
              <a:path w="13716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282700" y="0"/>
                </a:lnTo>
                <a:lnTo>
                  <a:pt x="1317325" y="6979"/>
                </a:lnTo>
                <a:lnTo>
                  <a:pt x="1345580" y="26019"/>
                </a:lnTo>
                <a:lnTo>
                  <a:pt x="1364620" y="54274"/>
                </a:lnTo>
                <a:lnTo>
                  <a:pt x="1371600" y="88900"/>
                </a:lnTo>
                <a:lnTo>
                  <a:pt x="1371600" y="444500"/>
                </a:lnTo>
                <a:lnTo>
                  <a:pt x="1364620" y="479125"/>
                </a:lnTo>
                <a:lnTo>
                  <a:pt x="1345580" y="507380"/>
                </a:lnTo>
                <a:lnTo>
                  <a:pt x="1317325" y="526420"/>
                </a:lnTo>
                <a:lnTo>
                  <a:pt x="12827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43" name="Google Shape;1343;p91"/>
          <p:cNvSpPr txBox="1"/>
          <p:nvPr/>
        </p:nvSpPr>
        <p:spPr>
          <a:xfrm>
            <a:off x="4153915" y="2689478"/>
            <a:ext cx="83566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91"/>
          <p:cNvSpPr/>
          <p:nvPr/>
        </p:nvSpPr>
        <p:spPr>
          <a:xfrm>
            <a:off x="3886200" y="4419600"/>
            <a:ext cx="1371600" cy="533400"/>
          </a:xfrm>
          <a:custGeom>
            <a:avLst/>
            <a:gdLst/>
            <a:ahLst/>
            <a:cxnLst/>
            <a:rect l="l" t="t" r="r" b="b"/>
            <a:pathLst>
              <a:path w="13716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282700" y="0"/>
                </a:lnTo>
                <a:lnTo>
                  <a:pt x="1317325" y="6979"/>
                </a:lnTo>
                <a:lnTo>
                  <a:pt x="1345580" y="26019"/>
                </a:lnTo>
                <a:lnTo>
                  <a:pt x="1364620" y="54274"/>
                </a:lnTo>
                <a:lnTo>
                  <a:pt x="1371600" y="88900"/>
                </a:lnTo>
                <a:lnTo>
                  <a:pt x="1371600" y="444500"/>
                </a:lnTo>
                <a:lnTo>
                  <a:pt x="1364620" y="479125"/>
                </a:lnTo>
                <a:lnTo>
                  <a:pt x="1345580" y="507380"/>
                </a:lnTo>
                <a:lnTo>
                  <a:pt x="1317325" y="526420"/>
                </a:lnTo>
                <a:lnTo>
                  <a:pt x="12827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45" name="Google Shape;1345;p91"/>
          <p:cNvSpPr txBox="1"/>
          <p:nvPr/>
        </p:nvSpPr>
        <p:spPr>
          <a:xfrm>
            <a:off x="4134103" y="4518532"/>
            <a:ext cx="87630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Supplier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91"/>
          <p:cNvSpPr/>
          <p:nvPr/>
        </p:nvSpPr>
        <p:spPr>
          <a:xfrm>
            <a:off x="5638800" y="5257800"/>
            <a:ext cx="1676400" cy="533400"/>
          </a:xfrm>
          <a:custGeom>
            <a:avLst/>
            <a:gdLst/>
            <a:ahLst/>
            <a:cxnLst/>
            <a:rect l="l" t="t" r="r" b="b"/>
            <a:pathLst>
              <a:path w="1676400" h="533400" extrusionOk="0">
                <a:moveTo>
                  <a:pt x="0" y="266700"/>
                </a:moveTo>
                <a:lnTo>
                  <a:pt x="10970" y="223433"/>
                </a:lnTo>
                <a:lnTo>
                  <a:pt x="42732" y="182392"/>
                </a:lnTo>
                <a:lnTo>
                  <a:pt x="93560" y="144124"/>
                </a:lnTo>
                <a:lnTo>
                  <a:pt x="161726" y="109179"/>
                </a:lnTo>
                <a:lnTo>
                  <a:pt x="201773" y="93124"/>
                </a:lnTo>
                <a:lnTo>
                  <a:pt x="245506" y="78104"/>
                </a:lnTo>
                <a:lnTo>
                  <a:pt x="292712" y="64190"/>
                </a:lnTo>
                <a:lnTo>
                  <a:pt x="343174" y="51450"/>
                </a:lnTo>
                <a:lnTo>
                  <a:pt x="396676" y="39951"/>
                </a:lnTo>
                <a:lnTo>
                  <a:pt x="453003" y="29763"/>
                </a:lnTo>
                <a:lnTo>
                  <a:pt x="511938" y="20954"/>
                </a:lnTo>
                <a:lnTo>
                  <a:pt x="573267" y="13594"/>
                </a:lnTo>
                <a:lnTo>
                  <a:pt x="636774" y="7749"/>
                </a:lnTo>
                <a:lnTo>
                  <a:pt x="702242" y="3489"/>
                </a:lnTo>
                <a:lnTo>
                  <a:pt x="769455" y="883"/>
                </a:lnTo>
                <a:lnTo>
                  <a:pt x="838200" y="0"/>
                </a:lnTo>
                <a:lnTo>
                  <a:pt x="906944" y="883"/>
                </a:lnTo>
                <a:lnTo>
                  <a:pt x="974157" y="3489"/>
                </a:lnTo>
                <a:lnTo>
                  <a:pt x="1039625" y="7749"/>
                </a:lnTo>
                <a:lnTo>
                  <a:pt x="1103132" y="13594"/>
                </a:lnTo>
                <a:lnTo>
                  <a:pt x="1164461" y="20955"/>
                </a:lnTo>
                <a:lnTo>
                  <a:pt x="1223396" y="29763"/>
                </a:lnTo>
                <a:lnTo>
                  <a:pt x="1279723" y="39951"/>
                </a:lnTo>
                <a:lnTo>
                  <a:pt x="1333225" y="51450"/>
                </a:lnTo>
                <a:lnTo>
                  <a:pt x="1383687" y="64190"/>
                </a:lnTo>
                <a:lnTo>
                  <a:pt x="1430893" y="78105"/>
                </a:lnTo>
                <a:lnTo>
                  <a:pt x="1474626" y="93124"/>
                </a:lnTo>
                <a:lnTo>
                  <a:pt x="1514673" y="109179"/>
                </a:lnTo>
                <a:lnTo>
                  <a:pt x="1550815" y="126202"/>
                </a:lnTo>
                <a:lnTo>
                  <a:pt x="1610528" y="162877"/>
                </a:lnTo>
                <a:lnTo>
                  <a:pt x="1652039" y="202600"/>
                </a:lnTo>
                <a:lnTo>
                  <a:pt x="1673621" y="244822"/>
                </a:lnTo>
                <a:lnTo>
                  <a:pt x="1676400" y="266700"/>
                </a:lnTo>
                <a:lnTo>
                  <a:pt x="1673621" y="288573"/>
                </a:lnTo>
                <a:lnTo>
                  <a:pt x="1652039" y="330791"/>
                </a:lnTo>
                <a:lnTo>
                  <a:pt x="1610528" y="370511"/>
                </a:lnTo>
                <a:lnTo>
                  <a:pt x="1550815" y="407186"/>
                </a:lnTo>
                <a:lnTo>
                  <a:pt x="1514673" y="424209"/>
                </a:lnTo>
                <a:lnTo>
                  <a:pt x="1474626" y="440265"/>
                </a:lnTo>
                <a:lnTo>
                  <a:pt x="1430893" y="455285"/>
                </a:lnTo>
                <a:lnTo>
                  <a:pt x="1383687" y="469200"/>
                </a:lnTo>
                <a:lnTo>
                  <a:pt x="1333225" y="481942"/>
                </a:lnTo>
                <a:lnTo>
                  <a:pt x="1279723" y="493442"/>
                </a:lnTo>
                <a:lnTo>
                  <a:pt x="1223396" y="503631"/>
                </a:lnTo>
                <a:lnTo>
                  <a:pt x="1164461" y="512441"/>
                </a:lnTo>
                <a:lnTo>
                  <a:pt x="1103132" y="519803"/>
                </a:lnTo>
                <a:lnTo>
                  <a:pt x="1039625" y="525649"/>
                </a:lnTo>
                <a:lnTo>
                  <a:pt x="974157" y="529909"/>
                </a:lnTo>
                <a:lnTo>
                  <a:pt x="906944" y="532515"/>
                </a:lnTo>
                <a:lnTo>
                  <a:pt x="838200" y="533400"/>
                </a:lnTo>
                <a:lnTo>
                  <a:pt x="769455" y="532515"/>
                </a:lnTo>
                <a:lnTo>
                  <a:pt x="702242" y="529909"/>
                </a:lnTo>
                <a:lnTo>
                  <a:pt x="636774" y="525649"/>
                </a:lnTo>
                <a:lnTo>
                  <a:pt x="573267" y="519803"/>
                </a:lnTo>
                <a:lnTo>
                  <a:pt x="511938" y="512441"/>
                </a:lnTo>
                <a:lnTo>
                  <a:pt x="453003" y="503631"/>
                </a:lnTo>
                <a:lnTo>
                  <a:pt x="396676" y="493442"/>
                </a:lnTo>
                <a:lnTo>
                  <a:pt x="343174" y="481942"/>
                </a:lnTo>
                <a:lnTo>
                  <a:pt x="292712" y="469200"/>
                </a:lnTo>
                <a:lnTo>
                  <a:pt x="245506" y="455285"/>
                </a:lnTo>
                <a:lnTo>
                  <a:pt x="201773" y="440265"/>
                </a:lnTo>
                <a:lnTo>
                  <a:pt x="161726" y="424209"/>
                </a:lnTo>
                <a:lnTo>
                  <a:pt x="125584" y="407186"/>
                </a:lnTo>
                <a:lnTo>
                  <a:pt x="65871" y="370511"/>
                </a:lnTo>
                <a:lnTo>
                  <a:pt x="24360" y="330791"/>
                </a:lnTo>
                <a:lnTo>
                  <a:pt x="2778" y="288573"/>
                </a:lnTo>
                <a:lnTo>
                  <a:pt x="0" y="2667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47" name="Google Shape;1347;p91"/>
          <p:cNvSpPr txBox="1"/>
          <p:nvPr/>
        </p:nvSpPr>
        <p:spPr>
          <a:xfrm>
            <a:off x="5874258" y="5391099"/>
            <a:ext cx="1209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Street address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91"/>
          <p:cNvSpPr/>
          <p:nvPr/>
        </p:nvSpPr>
        <p:spPr>
          <a:xfrm>
            <a:off x="5638800" y="4419600"/>
            <a:ext cx="1676400" cy="533400"/>
          </a:xfrm>
          <a:custGeom>
            <a:avLst/>
            <a:gdLst/>
            <a:ahLst/>
            <a:cxnLst/>
            <a:rect l="l" t="t" r="r" b="b"/>
            <a:pathLst>
              <a:path w="1676400" h="533400" extrusionOk="0">
                <a:moveTo>
                  <a:pt x="0" y="266700"/>
                </a:moveTo>
                <a:lnTo>
                  <a:pt x="10970" y="223433"/>
                </a:lnTo>
                <a:lnTo>
                  <a:pt x="42732" y="182392"/>
                </a:lnTo>
                <a:lnTo>
                  <a:pt x="93560" y="144124"/>
                </a:lnTo>
                <a:lnTo>
                  <a:pt x="161726" y="109179"/>
                </a:lnTo>
                <a:lnTo>
                  <a:pt x="201773" y="93124"/>
                </a:lnTo>
                <a:lnTo>
                  <a:pt x="245506" y="78105"/>
                </a:lnTo>
                <a:lnTo>
                  <a:pt x="292712" y="64190"/>
                </a:lnTo>
                <a:lnTo>
                  <a:pt x="343174" y="51450"/>
                </a:lnTo>
                <a:lnTo>
                  <a:pt x="396676" y="39951"/>
                </a:lnTo>
                <a:lnTo>
                  <a:pt x="453003" y="29763"/>
                </a:lnTo>
                <a:lnTo>
                  <a:pt x="511938" y="20955"/>
                </a:lnTo>
                <a:lnTo>
                  <a:pt x="573267" y="13594"/>
                </a:lnTo>
                <a:lnTo>
                  <a:pt x="636774" y="7749"/>
                </a:lnTo>
                <a:lnTo>
                  <a:pt x="702242" y="3489"/>
                </a:lnTo>
                <a:lnTo>
                  <a:pt x="769455" y="883"/>
                </a:lnTo>
                <a:lnTo>
                  <a:pt x="838200" y="0"/>
                </a:lnTo>
                <a:lnTo>
                  <a:pt x="906944" y="883"/>
                </a:lnTo>
                <a:lnTo>
                  <a:pt x="974157" y="3489"/>
                </a:lnTo>
                <a:lnTo>
                  <a:pt x="1039625" y="7749"/>
                </a:lnTo>
                <a:lnTo>
                  <a:pt x="1103132" y="13594"/>
                </a:lnTo>
                <a:lnTo>
                  <a:pt x="1164461" y="20954"/>
                </a:lnTo>
                <a:lnTo>
                  <a:pt x="1223396" y="29763"/>
                </a:lnTo>
                <a:lnTo>
                  <a:pt x="1279723" y="39951"/>
                </a:lnTo>
                <a:lnTo>
                  <a:pt x="1333225" y="51450"/>
                </a:lnTo>
                <a:lnTo>
                  <a:pt x="1383687" y="64190"/>
                </a:lnTo>
                <a:lnTo>
                  <a:pt x="1430893" y="78104"/>
                </a:lnTo>
                <a:lnTo>
                  <a:pt x="1474626" y="93124"/>
                </a:lnTo>
                <a:lnTo>
                  <a:pt x="1514673" y="109179"/>
                </a:lnTo>
                <a:lnTo>
                  <a:pt x="1550815" y="126202"/>
                </a:lnTo>
                <a:lnTo>
                  <a:pt x="1610528" y="162877"/>
                </a:lnTo>
                <a:lnTo>
                  <a:pt x="1652039" y="202600"/>
                </a:lnTo>
                <a:lnTo>
                  <a:pt x="1673621" y="244822"/>
                </a:lnTo>
                <a:lnTo>
                  <a:pt x="1676400" y="266700"/>
                </a:lnTo>
                <a:lnTo>
                  <a:pt x="1673621" y="288577"/>
                </a:lnTo>
                <a:lnTo>
                  <a:pt x="1652039" y="330799"/>
                </a:lnTo>
                <a:lnTo>
                  <a:pt x="1610528" y="370522"/>
                </a:lnTo>
                <a:lnTo>
                  <a:pt x="1550815" y="407197"/>
                </a:lnTo>
                <a:lnTo>
                  <a:pt x="1514673" y="424220"/>
                </a:lnTo>
                <a:lnTo>
                  <a:pt x="1474626" y="440275"/>
                </a:lnTo>
                <a:lnTo>
                  <a:pt x="1430893" y="455294"/>
                </a:lnTo>
                <a:lnTo>
                  <a:pt x="1383687" y="469209"/>
                </a:lnTo>
                <a:lnTo>
                  <a:pt x="1333225" y="481949"/>
                </a:lnTo>
                <a:lnTo>
                  <a:pt x="1279723" y="493448"/>
                </a:lnTo>
                <a:lnTo>
                  <a:pt x="1223396" y="503636"/>
                </a:lnTo>
                <a:lnTo>
                  <a:pt x="1164461" y="512444"/>
                </a:lnTo>
                <a:lnTo>
                  <a:pt x="1103132" y="519805"/>
                </a:lnTo>
                <a:lnTo>
                  <a:pt x="1039625" y="525650"/>
                </a:lnTo>
                <a:lnTo>
                  <a:pt x="974157" y="529910"/>
                </a:lnTo>
                <a:lnTo>
                  <a:pt x="906944" y="532516"/>
                </a:lnTo>
                <a:lnTo>
                  <a:pt x="838200" y="533400"/>
                </a:lnTo>
                <a:lnTo>
                  <a:pt x="769455" y="532516"/>
                </a:lnTo>
                <a:lnTo>
                  <a:pt x="702242" y="529910"/>
                </a:lnTo>
                <a:lnTo>
                  <a:pt x="636774" y="525650"/>
                </a:lnTo>
                <a:lnTo>
                  <a:pt x="573267" y="519805"/>
                </a:lnTo>
                <a:lnTo>
                  <a:pt x="511938" y="512445"/>
                </a:lnTo>
                <a:lnTo>
                  <a:pt x="453003" y="503636"/>
                </a:lnTo>
                <a:lnTo>
                  <a:pt x="396676" y="493448"/>
                </a:lnTo>
                <a:lnTo>
                  <a:pt x="343174" y="481949"/>
                </a:lnTo>
                <a:lnTo>
                  <a:pt x="292712" y="469209"/>
                </a:lnTo>
                <a:lnTo>
                  <a:pt x="245506" y="455295"/>
                </a:lnTo>
                <a:lnTo>
                  <a:pt x="201773" y="440275"/>
                </a:lnTo>
                <a:lnTo>
                  <a:pt x="161726" y="424220"/>
                </a:lnTo>
                <a:lnTo>
                  <a:pt x="125584" y="407197"/>
                </a:lnTo>
                <a:lnTo>
                  <a:pt x="65871" y="370522"/>
                </a:lnTo>
                <a:lnTo>
                  <a:pt x="24360" y="330799"/>
                </a:lnTo>
                <a:lnTo>
                  <a:pt x="2778" y="288577"/>
                </a:lnTo>
                <a:lnTo>
                  <a:pt x="0" y="2667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49" name="Google Shape;1349;p91"/>
          <p:cNvSpPr txBox="1"/>
          <p:nvPr/>
        </p:nvSpPr>
        <p:spPr>
          <a:xfrm>
            <a:off x="6307328" y="4552569"/>
            <a:ext cx="34099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91"/>
          <p:cNvSpPr/>
          <p:nvPr/>
        </p:nvSpPr>
        <p:spPr>
          <a:xfrm>
            <a:off x="3733800" y="5257800"/>
            <a:ext cx="1676400" cy="533400"/>
          </a:xfrm>
          <a:custGeom>
            <a:avLst/>
            <a:gdLst/>
            <a:ahLst/>
            <a:cxnLst/>
            <a:rect l="l" t="t" r="r" b="b"/>
            <a:pathLst>
              <a:path w="1676400" h="533400" extrusionOk="0">
                <a:moveTo>
                  <a:pt x="0" y="266700"/>
                </a:moveTo>
                <a:lnTo>
                  <a:pt x="10970" y="223433"/>
                </a:lnTo>
                <a:lnTo>
                  <a:pt x="42732" y="182392"/>
                </a:lnTo>
                <a:lnTo>
                  <a:pt x="93560" y="144124"/>
                </a:lnTo>
                <a:lnTo>
                  <a:pt x="161726" y="109179"/>
                </a:lnTo>
                <a:lnTo>
                  <a:pt x="201773" y="93124"/>
                </a:lnTo>
                <a:lnTo>
                  <a:pt x="245506" y="78104"/>
                </a:lnTo>
                <a:lnTo>
                  <a:pt x="292712" y="64190"/>
                </a:lnTo>
                <a:lnTo>
                  <a:pt x="343174" y="51450"/>
                </a:lnTo>
                <a:lnTo>
                  <a:pt x="396676" y="39951"/>
                </a:lnTo>
                <a:lnTo>
                  <a:pt x="453003" y="29763"/>
                </a:lnTo>
                <a:lnTo>
                  <a:pt x="511938" y="20954"/>
                </a:lnTo>
                <a:lnTo>
                  <a:pt x="573267" y="13594"/>
                </a:lnTo>
                <a:lnTo>
                  <a:pt x="636774" y="7749"/>
                </a:lnTo>
                <a:lnTo>
                  <a:pt x="702242" y="3489"/>
                </a:lnTo>
                <a:lnTo>
                  <a:pt x="769455" y="883"/>
                </a:lnTo>
                <a:lnTo>
                  <a:pt x="838200" y="0"/>
                </a:lnTo>
                <a:lnTo>
                  <a:pt x="906944" y="883"/>
                </a:lnTo>
                <a:lnTo>
                  <a:pt x="974157" y="3489"/>
                </a:lnTo>
                <a:lnTo>
                  <a:pt x="1039625" y="7749"/>
                </a:lnTo>
                <a:lnTo>
                  <a:pt x="1103132" y="13594"/>
                </a:lnTo>
                <a:lnTo>
                  <a:pt x="1164461" y="20955"/>
                </a:lnTo>
                <a:lnTo>
                  <a:pt x="1223396" y="29763"/>
                </a:lnTo>
                <a:lnTo>
                  <a:pt x="1279723" y="39951"/>
                </a:lnTo>
                <a:lnTo>
                  <a:pt x="1333225" y="51450"/>
                </a:lnTo>
                <a:lnTo>
                  <a:pt x="1383687" y="64190"/>
                </a:lnTo>
                <a:lnTo>
                  <a:pt x="1430893" y="78105"/>
                </a:lnTo>
                <a:lnTo>
                  <a:pt x="1474626" y="93124"/>
                </a:lnTo>
                <a:lnTo>
                  <a:pt x="1514673" y="109179"/>
                </a:lnTo>
                <a:lnTo>
                  <a:pt x="1550815" y="126202"/>
                </a:lnTo>
                <a:lnTo>
                  <a:pt x="1610528" y="162877"/>
                </a:lnTo>
                <a:lnTo>
                  <a:pt x="1652039" y="202600"/>
                </a:lnTo>
                <a:lnTo>
                  <a:pt x="1673621" y="244822"/>
                </a:lnTo>
                <a:lnTo>
                  <a:pt x="1676400" y="266700"/>
                </a:lnTo>
                <a:lnTo>
                  <a:pt x="1673621" y="288573"/>
                </a:lnTo>
                <a:lnTo>
                  <a:pt x="1652039" y="330791"/>
                </a:lnTo>
                <a:lnTo>
                  <a:pt x="1610528" y="370511"/>
                </a:lnTo>
                <a:lnTo>
                  <a:pt x="1550815" y="407186"/>
                </a:lnTo>
                <a:lnTo>
                  <a:pt x="1514673" y="424209"/>
                </a:lnTo>
                <a:lnTo>
                  <a:pt x="1474626" y="440265"/>
                </a:lnTo>
                <a:lnTo>
                  <a:pt x="1430893" y="455285"/>
                </a:lnTo>
                <a:lnTo>
                  <a:pt x="1383687" y="469200"/>
                </a:lnTo>
                <a:lnTo>
                  <a:pt x="1333225" y="481942"/>
                </a:lnTo>
                <a:lnTo>
                  <a:pt x="1279723" y="493442"/>
                </a:lnTo>
                <a:lnTo>
                  <a:pt x="1223396" y="503631"/>
                </a:lnTo>
                <a:lnTo>
                  <a:pt x="1164461" y="512441"/>
                </a:lnTo>
                <a:lnTo>
                  <a:pt x="1103132" y="519803"/>
                </a:lnTo>
                <a:lnTo>
                  <a:pt x="1039625" y="525649"/>
                </a:lnTo>
                <a:lnTo>
                  <a:pt x="974157" y="529909"/>
                </a:lnTo>
                <a:lnTo>
                  <a:pt x="906944" y="532515"/>
                </a:lnTo>
                <a:lnTo>
                  <a:pt x="838200" y="533400"/>
                </a:lnTo>
                <a:lnTo>
                  <a:pt x="769455" y="532515"/>
                </a:lnTo>
                <a:lnTo>
                  <a:pt x="702242" y="529909"/>
                </a:lnTo>
                <a:lnTo>
                  <a:pt x="636774" y="525649"/>
                </a:lnTo>
                <a:lnTo>
                  <a:pt x="573267" y="519803"/>
                </a:lnTo>
                <a:lnTo>
                  <a:pt x="511938" y="512441"/>
                </a:lnTo>
                <a:lnTo>
                  <a:pt x="453003" y="503631"/>
                </a:lnTo>
                <a:lnTo>
                  <a:pt x="396676" y="493442"/>
                </a:lnTo>
                <a:lnTo>
                  <a:pt x="343174" y="481942"/>
                </a:lnTo>
                <a:lnTo>
                  <a:pt x="292712" y="469200"/>
                </a:lnTo>
                <a:lnTo>
                  <a:pt x="245506" y="455285"/>
                </a:lnTo>
                <a:lnTo>
                  <a:pt x="201773" y="440265"/>
                </a:lnTo>
                <a:lnTo>
                  <a:pt x="161726" y="424209"/>
                </a:lnTo>
                <a:lnTo>
                  <a:pt x="125584" y="407186"/>
                </a:lnTo>
                <a:lnTo>
                  <a:pt x="65871" y="370511"/>
                </a:lnTo>
                <a:lnTo>
                  <a:pt x="24360" y="330791"/>
                </a:lnTo>
                <a:lnTo>
                  <a:pt x="2778" y="288573"/>
                </a:lnTo>
                <a:lnTo>
                  <a:pt x="0" y="2667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51" name="Google Shape;1351;p91"/>
          <p:cNvSpPr txBox="1"/>
          <p:nvPr/>
        </p:nvSpPr>
        <p:spPr>
          <a:xfrm>
            <a:off x="4185665" y="5391099"/>
            <a:ext cx="77406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Postcode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91"/>
          <p:cNvSpPr/>
          <p:nvPr/>
        </p:nvSpPr>
        <p:spPr>
          <a:xfrm>
            <a:off x="1828800" y="4419600"/>
            <a:ext cx="1676400" cy="533400"/>
          </a:xfrm>
          <a:custGeom>
            <a:avLst/>
            <a:gdLst/>
            <a:ahLst/>
            <a:cxnLst/>
            <a:rect l="l" t="t" r="r" b="b"/>
            <a:pathLst>
              <a:path w="1676400" h="533400" extrusionOk="0">
                <a:moveTo>
                  <a:pt x="0" y="266700"/>
                </a:moveTo>
                <a:lnTo>
                  <a:pt x="10970" y="223433"/>
                </a:lnTo>
                <a:lnTo>
                  <a:pt x="42732" y="182392"/>
                </a:lnTo>
                <a:lnTo>
                  <a:pt x="93560" y="144124"/>
                </a:lnTo>
                <a:lnTo>
                  <a:pt x="161726" y="109179"/>
                </a:lnTo>
                <a:lnTo>
                  <a:pt x="201773" y="93124"/>
                </a:lnTo>
                <a:lnTo>
                  <a:pt x="245506" y="78105"/>
                </a:lnTo>
                <a:lnTo>
                  <a:pt x="292712" y="64190"/>
                </a:lnTo>
                <a:lnTo>
                  <a:pt x="343174" y="51450"/>
                </a:lnTo>
                <a:lnTo>
                  <a:pt x="396676" y="39951"/>
                </a:lnTo>
                <a:lnTo>
                  <a:pt x="453003" y="29763"/>
                </a:lnTo>
                <a:lnTo>
                  <a:pt x="511938" y="20955"/>
                </a:lnTo>
                <a:lnTo>
                  <a:pt x="573267" y="13594"/>
                </a:lnTo>
                <a:lnTo>
                  <a:pt x="636774" y="7749"/>
                </a:lnTo>
                <a:lnTo>
                  <a:pt x="702242" y="3489"/>
                </a:lnTo>
                <a:lnTo>
                  <a:pt x="769455" y="883"/>
                </a:lnTo>
                <a:lnTo>
                  <a:pt x="838200" y="0"/>
                </a:lnTo>
                <a:lnTo>
                  <a:pt x="906944" y="883"/>
                </a:lnTo>
                <a:lnTo>
                  <a:pt x="974157" y="3489"/>
                </a:lnTo>
                <a:lnTo>
                  <a:pt x="1039625" y="7749"/>
                </a:lnTo>
                <a:lnTo>
                  <a:pt x="1103132" y="13594"/>
                </a:lnTo>
                <a:lnTo>
                  <a:pt x="1164461" y="20954"/>
                </a:lnTo>
                <a:lnTo>
                  <a:pt x="1223396" y="29763"/>
                </a:lnTo>
                <a:lnTo>
                  <a:pt x="1279723" y="39951"/>
                </a:lnTo>
                <a:lnTo>
                  <a:pt x="1333225" y="51450"/>
                </a:lnTo>
                <a:lnTo>
                  <a:pt x="1383687" y="64190"/>
                </a:lnTo>
                <a:lnTo>
                  <a:pt x="1430893" y="78104"/>
                </a:lnTo>
                <a:lnTo>
                  <a:pt x="1474626" y="93124"/>
                </a:lnTo>
                <a:lnTo>
                  <a:pt x="1514673" y="109179"/>
                </a:lnTo>
                <a:lnTo>
                  <a:pt x="1550815" y="126202"/>
                </a:lnTo>
                <a:lnTo>
                  <a:pt x="1610528" y="162877"/>
                </a:lnTo>
                <a:lnTo>
                  <a:pt x="1652039" y="202600"/>
                </a:lnTo>
                <a:lnTo>
                  <a:pt x="1673621" y="244822"/>
                </a:lnTo>
                <a:lnTo>
                  <a:pt x="1676400" y="266700"/>
                </a:lnTo>
                <a:lnTo>
                  <a:pt x="1673621" y="288577"/>
                </a:lnTo>
                <a:lnTo>
                  <a:pt x="1652039" y="330799"/>
                </a:lnTo>
                <a:lnTo>
                  <a:pt x="1610528" y="370522"/>
                </a:lnTo>
                <a:lnTo>
                  <a:pt x="1550815" y="407197"/>
                </a:lnTo>
                <a:lnTo>
                  <a:pt x="1514673" y="424220"/>
                </a:lnTo>
                <a:lnTo>
                  <a:pt x="1474626" y="440275"/>
                </a:lnTo>
                <a:lnTo>
                  <a:pt x="1430893" y="455294"/>
                </a:lnTo>
                <a:lnTo>
                  <a:pt x="1383687" y="469209"/>
                </a:lnTo>
                <a:lnTo>
                  <a:pt x="1333225" y="481949"/>
                </a:lnTo>
                <a:lnTo>
                  <a:pt x="1279723" y="493448"/>
                </a:lnTo>
                <a:lnTo>
                  <a:pt x="1223396" y="503636"/>
                </a:lnTo>
                <a:lnTo>
                  <a:pt x="1164461" y="512444"/>
                </a:lnTo>
                <a:lnTo>
                  <a:pt x="1103132" y="519805"/>
                </a:lnTo>
                <a:lnTo>
                  <a:pt x="1039625" y="525650"/>
                </a:lnTo>
                <a:lnTo>
                  <a:pt x="974157" y="529910"/>
                </a:lnTo>
                <a:lnTo>
                  <a:pt x="906944" y="532516"/>
                </a:lnTo>
                <a:lnTo>
                  <a:pt x="838200" y="533400"/>
                </a:lnTo>
                <a:lnTo>
                  <a:pt x="769455" y="532516"/>
                </a:lnTo>
                <a:lnTo>
                  <a:pt x="702242" y="529910"/>
                </a:lnTo>
                <a:lnTo>
                  <a:pt x="636774" y="525650"/>
                </a:lnTo>
                <a:lnTo>
                  <a:pt x="573267" y="519805"/>
                </a:lnTo>
                <a:lnTo>
                  <a:pt x="511938" y="512445"/>
                </a:lnTo>
                <a:lnTo>
                  <a:pt x="453003" y="503636"/>
                </a:lnTo>
                <a:lnTo>
                  <a:pt x="396676" y="493448"/>
                </a:lnTo>
                <a:lnTo>
                  <a:pt x="343174" y="481949"/>
                </a:lnTo>
                <a:lnTo>
                  <a:pt x="292712" y="469209"/>
                </a:lnTo>
                <a:lnTo>
                  <a:pt x="245506" y="455295"/>
                </a:lnTo>
                <a:lnTo>
                  <a:pt x="201773" y="440275"/>
                </a:lnTo>
                <a:lnTo>
                  <a:pt x="161726" y="424220"/>
                </a:lnTo>
                <a:lnTo>
                  <a:pt x="125584" y="407197"/>
                </a:lnTo>
                <a:lnTo>
                  <a:pt x="65871" y="370522"/>
                </a:lnTo>
                <a:lnTo>
                  <a:pt x="24360" y="330799"/>
                </a:lnTo>
                <a:lnTo>
                  <a:pt x="2778" y="288577"/>
                </a:lnTo>
                <a:lnTo>
                  <a:pt x="0" y="2667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53" name="Google Shape;1353;p91"/>
          <p:cNvSpPr txBox="1"/>
          <p:nvPr/>
        </p:nvSpPr>
        <p:spPr>
          <a:xfrm>
            <a:off x="2409825" y="4552569"/>
            <a:ext cx="51689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91"/>
          <p:cNvSpPr/>
          <p:nvPr/>
        </p:nvSpPr>
        <p:spPr>
          <a:xfrm>
            <a:off x="1828800" y="5257800"/>
            <a:ext cx="1676400" cy="533400"/>
          </a:xfrm>
          <a:custGeom>
            <a:avLst/>
            <a:gdLst/>
            <a:ahLst/>
            <a:cxnLst/>
            <a:rect l="l" t="t" r="r" b="b"/>
            <a:pathLst>
              <a:path w="1676400" h="533400" extrusionOk="0">
                <a:moveTo>
                  <a:pt x="0" y="266700"/>
                </a:moveTo>
                <a:lnTo>
                  <a:pt x="10970" y="223433"/>
                </a:lnTo>
                <a:lnTo>
                  <a:pt x="42732" y="182392"/>
                </a:lnTo>
                <a:lnTo>
                  <a:pt x="93560" y="144124"/>
                </a:lnTo>
                <a:lnTo>
                  <a:pt x="161726" y="109179"/>
                </a:lnTo>
                <a:lnTo>
                  <a:pt x="201773" y="93124"/>
                </a:lnTo>
                <a:lnTo>
                  <a:pt x="245506" y="78104"/>
                </a:lnTo>
                <a:lnTo>
                  <a:pt x="292712" y="64190"/>
                </a:lnTo>
                <a:lnTo>
                  <a:pt x="343174" y="51450"/>
                </a:lnTo>
                <a:lnTo>
                  <a:pt x="396676" y="39951"/>
                </a:lnTo>
                <a:lnTo>
                  <a:pt x="453003" y="29763"/>
                </a:lnTo>
                <a:lnTo>
                  <a:pt x="511938" y="20954"/>
                </a:lnTo>
                <a:lnTo>
                  <a:pt x="573267" y="13594"/>
                </a:lnTo>
                <a:lnTo>
                  <a:pt x="636774" y="7749"/>
                </a:lnTo>
                <a:lnTo>
                  <a:pt x="702242" y="3489"/>
                </a:lnTo>
                <a:lnTo>
                  <a:pt x="769455" y="883"/>
                </a:lnTo>
                <a:lnTo>
                  <a:pt x="838200" y="0"/>
                </a:lnTo>
                <a:lnTo>
                  <a:pt x="906944" y="883"/>
                </a:lnTo>
                <a:lnTo>
                  <a:pt x="974157" y="3489"/>
                </a:lnTo>
                <a:lnTo>
                  <a:pt x="1039625" y="7749"/>
                </a:lnTo>
                <a:lnTo>
                  <a:pt x="1103132" y="13594"/>
                </a:lnTo>
                <a:lnTo>
                  <a:pt x="1164461" y="20955"/>
                </a:lnTo>
                <a:lnTo>
                  <a:pt x="1223396" y="29763"/>
                </a:lnTo>
                <a:lnTo>
                  <a:pt x="1279723" y="39951"/>
                </a:lnTo>
                <a:lnTo>
                  <a:pt x="1333225" y="51450"/>
                </a:lnTo>
                <a:lnTo>
                  <a:pt x="1383687" y="64190"/>
                </a:lnTo>
                <a:lnTo>
                  <a:pt x="1430893" y="78105"/>
                </a:lnTo>
                <a:lnTo>
                  <a:pt x="1474626" y="93124"/>
                </a:lnTo>
                <a:lnTo>
                  <a:pt x="1514673" y="109179"/>
                </a:lnTo>
                <a:lnTo>
                  <a:pt x="1550815" y="126202"/>
                </a:lnTo>
                <a:lnTo>
                  <a:pt x="1610528" y="162877"/>
                </a:lnTo>
                <a:lnTo>
                  <a:pt x="1652039" y="202600"/>
                </a:lnTo>
                <a:lnTo>
                  <a:pt x="1673621" y="244822"/>
                </a:lnTo>
                <a:lnTo>
                  <a:pt x="1676400" y="266700"/>
                </a:lnTo>
                <a:lnTo>
                  <a:pt x="1673621" y="288573"/>
                </a:lnTo>
                <a:lnTo>
                  <a:pt x="1652039" y="330791"/>
                </a:lnTo>
                <a:lnTo>
                  <a:pt x="1610528" y="370511"/>
                </a:lnTo>
                <a:lnTo>
                  <a:pt x="1550815" y="407186"/>
                </a:lnTo>
                <a:lnTo>
                  <a:pt x="1514673" y="424209"/>
                </a:lnTo>
                <a:lnTo>
                  <a:pt x="1474626" y="440265"/>
                </a:lnTo>
                <a:lnTo>
                  <a:pt x="1430893" y="455285"/>
                </a:lnTo>
                <a:lnTo>
                  <a:pt x="1383687" y="469200"/>
                </a:lnTo>
                <a:lnTo>
                  <a:pt x="1333225" y="481942"/>
                </a:lnTo>
                <a:lnTo>
                  <a:pt x="1279723" y="493442"/>
                </a:lnTo>
                <a:lnTo>
                  <a:pt x="1223396" y="503631"/>
                </a:lnTo>
                <a:lnTo>
                  <a:pt x="1164461" y="512441"/>
                </a:lnTo>
                <a:lnTo>
                  <a:pt x="1103132" y="519803"/>
                </a:lnTo>
                <a:lnTo>
                  <a:pt x="1039625" y="525649"/>
                </a:lnTo>
                <a:lnTo>
                  <a:pt x="974157" y="529909"/>
                </a:lnTo>
                <a:lnTo>
                  <a:pt x="906944" y="532515"/>
                </a:lnTo>
                <a:lnTo>
                  <a:pt x="838200" y="533400"/>
                </a:lnTo>
                <a:lnTo>
                  <a:pt x="769455" y="532515"/>
                </a:lnTo>
                <a:lnTo>
                  <a:pt x="702242" y="529909"/>
                </a:lnTo>
                <a:lnTo>
                  <a:pt x="636774" y="525649"/>
                </a:lnTo>
                <a:lnTo>
                  <a:pt x="573267" y="519803"/>
                </a:lnTo>
                <a:lnTo>
                  <a:pt x="511938" y="512441"/>
                </a:lnTo>
                <a:lnTo>
                  <a:pt x="453003" y="503631"/>
                </a:lnTo>
                <a:lnTo>
                  <a:pt x="396676" y="493442"/>
                </a:lnTo>
                <a:lnTo>
                  <a:pt x="343174" y="481942"/>
                </a:lnTo>
                <a:lnTo>
                  <a:pt x="292712" y="469200"/>
                </a:lnTo>
                <a:lnTo>
                  <a:pt x="245506" y="455285"/>
                </a:lnTo>
                <a:lnTo>
                  <a:pt x="201773" y="440265"/>
                </a:lnTo>
                <a:lnTo>
                  <a:pt x="161726" y="424209"/>
                </a:lnTo>
                <a:lnTo>
                  <a:pt x="125584" y="407186"/>
                </a:lnTo>
                <a:lnTo>
                  <a:pt x="65871" y="370511"/>
                </a:lnTo>
                <a:lnTo>
                  <a:pt x="24360" y="330791"/>
                </a:lnTo>
                <a:lnTo>
                  <a:pt x="2778" y="288573"/>
                </a:lnTo>
                <a:lnTo>
                  <a:pt x="0" y="2667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55" name="Google Shape;1355;p91"/>
          <p:cNvSpPr txBox="1"/>
          <p:nvPr/>
        </p:nvSpPr>
        <p:spPr>
          <a:xfrm>
            <a:off x="2042286" y="5391099"/>
            <a:ext cx="12509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Phone number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91"/>
          <p:cNvSpPr/>
          <p:nvPr/>
        </p:nvSpPr>
        <p:spPr>
          <a:xfrm>
            <a:off x="3733800" y="1752600"/>
            <a:ext cx="1676400" cy="533400"/>
          </a:xfrm>
          <a:custGeom>
            <a:avLst/>
            <a:gdLst/>
            <a:ahLst/>
            <a:cxnLst/>
            <a:rect l="l" t="t" r="r" b="b"/>
            <a:pathLst>
              <a:path w="1676400" h="533400" extrusionOk="0">
                <a:moveTo>
                  <a:pt x="0" y="266700"/>
                </a:moveTo>
                <a:lnTo>
                  <a:pt x="10970" y="223433"/>
                </a:lnTo>
                <a:lnTo>
                  <a:pt x="42732" y="182392"/>
                </a:lnTo>
                <a:lnTo>
                  <a:pt x="93560" y="144124"/>
                </a:lnTo>
                <a:lnTo>
                  <a:pt x="161726" y="109179"/>
                </a:lnTo>
                <a:lnTo>
                  <a:pt x="201773" y="93124"/>
                </a:lnTo>
                <a:lnTo>
                  <a:pt x="245506" y="78104"/>
                </a:lnTo>
                <a:lnTo>
                  <a:pt x="292712" y="64190"/>
                </a:lnTo>
                <a:lnTo>
                  <a:pt x="343174" y="51450"/>
                </a:lnTo>
                <a:lnTo>
                  <a:pt x="396676" y="39951"/>
                </a:lnTo>
                <a:lnTo>
                  <a:pt x="453003" y="29763"/>
                </a:lnTo>
                <a:lnTo>
                  <a:pt x="511938" y="20955"/>
                </a:lnTo>
                <a:lnTo>
                  <a:pt x="573267" y="13594"/>
                </a:lnTo>
                <a:lnTo>
                  <a:pt x="636774" y="7749"/>
                </a:lnTo>
                <a:lnTo>
                  <a:pt x="702242" y="3489"/>
                </a:lnTo>
                <a:lnTo>
                  <a:pt x="769455" y="883"/>
                </a:lnTo>
                <a:lnTo>
                  <a:pt x="838200" y="0"/>
                </a:lnTo>
                <a:lnTo>
                  <a:pt x="906944" y="883"/>
                </a:lnTo>
                <a:lnTo>
                  <a:pt x="974157" y="3489"/>
                </a:lnTo>
                <a:lnTo>
                  <a:pt x="1039625" y="7749"/>
                </a:lnTo>
                <a:lnTo>
                  <a:pt x="1103132" y="13594"/>
                </a:lnTo>
                <a:lnTo>
                  <a:pt x="1164461" y="20954"/>
                </a:lnTo>
                <a:lnTo>
                  <a:pt x="1223396" y="29763"/>
                </a:lnTo>
                <a:lnTo>
                  <a:pt x="1279723" y="39951"/>
                </a:lnTo>
                <a:lnTo>
                  <a:pt x="1333225" y="51450"/>
                </a:lnTo>
                <a:lnTo>
                  <a:pt x="1383687" y="64190"/>
                </a:lnTo>
                <a:lnTo>
                  <a:pt x="1430893" y="78104"/>
                </a:lnTo>
                <a:lnTo>
                  <a:pt x="1474626" y="93124"/>
                </a:lnTo>
                <a:lnTo>
                  <a:pt x="1514673" y="109179"/>
                </a:lnTo>
                <a:lnTo>
                  <a:pt x="1550815" y="126202"/>
                </a:lnTo>
                <a:lnTo>
                  <a:pt x="1610528" y="162877"/>
                </a:lnTo>
                <a:lnTo>
                  <a:pt x="1652039" y="202600"/>
                </a:lnTo>
                <a:lnTo>
                  <a:pt x="1673621" y="244822"/>
                </a:lnTo>
                <a:lnTo>
                  <a:pt x="1676400" y="266700"/>
                </a:lnTo>
                <a:lnTo>
                  <a:pt x="1673621" y="288577"/>
                </a:lnTo>
                <a:lnTo>
                  <a:pt x="1652039" y="330799"/>
                </a:lnTo>
                <a:lnTo>
                  <a:pt x="1610528" y="370522"/>
                </a:lnTo>
                <a:lnTo>
                  <a:pt x="1550815" y="407197"/>
                </a:lnTo>
                <a:lnTo>
                  <a:pt x="1514673" y="424220"/>
                </a:lnTo>
                <a:lnTo>
                  <a:pt x="1474626" y="440275"/>
                </a:lnTo>
                <a:lnTo>
                  <a:pt x="1430893" y="455295"/>
                </a:lnTo>
                <a:lnTo>
                  <a:pt x="1383687" y="469209"/>
                </a:lnTo>
                <a:lnTo>
                  <a:pt x="1333225" y="481949"/>
                </a:lnTo>
                <a:lnTo>
                  <a:pt x="1279723" y="493448"/>
                </a:lnTo>
                <a:lnTo>
                  <a:pt x="1223396" y="503636"/>
                </a:lnTo>
                <a:lnTo>
                  <a:pt x="1164461" y="512444"/>
                </a:lnTo>
                <a:lnTo>
                  <a:pt x="1103132" y="519805"/>
                </a:lnTo>
                <a:lnTo>
                  <a:pt x="1039625" y="525650"/>
                </a:lnTo>
                <a:lnTo>
                  <a:pt x="974157" y="529910"/>
                </a:lnTo>
                <a:lnTo>
                  <a:pt x="906944" y="532516"/>
                </a:lnTo>
                <a:lnTo>
                  <a:pt x="838200" y="533400"/>
                </a:lnTo>
                <a:lnTo>
                  <a:pt x="769455" y="532516"/>
                </a:lnTo>
                <a:lnTo>
                  <a:pt x="702242" y="529910"/>
                </a:lnTo>
                <a:lnTo>
                  <a:pt x="636774" y="525650"/>
                </a:lnTo>
                <a:lnTo>
                  <a:pt x="573267" y="519805"/>
                </a:lnTo>
                <a:lnTo>
                  <a:pt x="511938" y="512445"/>
                </a:lnTo>
                <a:lnTo>
                  <a:pt x="453003" y="503636"/>
                </a:lnTo>
                <a:lnTo>
                  <a:pt x="396676" y="493448"/>
                </a:lnTo>
                <a:lnTo>
                  <a:pt x="343174" y="481949"/>
                </a:lnTo>
                <a:lnTo>
                  <a:pt x="292712" y="469209"/>
                </a:lnTo>
                <a:lnTo>
                  <a:pt x="245506" y="455295"/>
                </a:lnTo>
                <a:lnTo>
                  <a:pt x="201773" y="440275"/>
                </a:lnTo>
                <a:lnTo>
                  <a:pt x="161726" y="424220"/>
                </a:lnTo>
                <a:lnTo>
                  <a:pt x="125584" y="407197"/>
                </a:lnTo>
                <a:lnTo>
                  <a:pt x="65871" y="370522"/>
                </a:lnTo>
                <a:lnTo>
                  <a:pt x="24360" y="330799"/>
                </a:lnTo>
                <a:lnTo>
                  <a:pt x="2778" y="288577"/>
                </a:lnTo>
                <a:lnTo>
                  <a:pt x="0" y="2667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57" name="Google Shape;1357;p91"/>
          <p:cNvSpPr txBox="1"/>
          <p:nvPr/>
        </p:nvSpPr>
        <p:spPr>
          <a:xfrm>
            <a:off x="4356353" y="1884934"/>
            <a:ext cx="43434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91"/>
          <p:cNvSpPr/>
          <p:nvPr/>
        </p:nvSpPr>
        <p:spPr>
          <a:xfrm>
            <a:off x="1828800" y="2590800"/>
            <a:ext cx="1676400" cy="533400"/>
          </a:xfrm>
          <a:custGeom>
            <a:avLst/>
            <a:gdLst/>
            <a:ahLst/>
            <a:cxnLst/>
            <a:rect l="l" t="t" r="r" b="b"/>
            <a:pathLst>
              <a:path w="1676400" h="533400" extrusionOk="0">
                <a:moveTo>
                  <a:pt x="0" y="266700"/>
                </a:moveTo>
                <a:lnTo>
                  <a:pt x="10970" y="223433"/>
                </a:lnTo>
                <a:lnTo>
                  <a:pt x="42732" y="182392"/>
                </a:lnTo>
                <a:lnTo>
                  <a:pt x="93560" y="144124"/>
                </a:lnTo>
                <a:lnTo>
                  <a:pt x="161726" y="109179"/>
                </a:lnTo>
                <a:lnTo>
                  <a:pt x="201773" y="93124"/>
                </a:lnTo>
                <a:lnTo>
                  <a:pt x="245506" y="78104"/>
                </a:lnTo>
                <a:lnTo>
                  <a:pt x="292712" y="64190"/>
                </a:lnTo>
                <a:lnTo>
                  <a:pt x="343174" y="51450"/>
                </a:lnTo>
                <a:lnTo>
                  <a:pt x="396676" y="39951"/>
                </a:lnTo>
                <a:lnTo>
                  <a:pt x="453003" y="29763"/>
                </a:lnTo>
                <a:lnTo>
                  <a:pt x="511938" y="20955"/>
                </a:lnTo>
                <a:lnTo>
                  <a:pt x="573267" y="13594"/>
                </a:lnTo>
                <a:lnTo>
                  <a:pt x="636774" y="7749"/>
                </a:lnTo>
                <a:lnTo>
                  <a:pt x="702242" y="3489"/>
                </a:lnTo>
                <a:lnTo>
                  <a:pt x="769455" y="883"/>
                </a:lnTo>
                <a:lnTo>
                  <a:pt x="838200" y="0"/>
                </a:lnTo>
                <a:lnTo>
                  <a:pt x="906944" y="883"/>
                </a:lnTo>
                <a:lnTo>
                  <a:pt x="974157" y="3489"/>
                </a:lnTo>
                <a:lnTo>
                  <a:pt x="1039625" y="7749"/>
                </a:lnTo>
                <a:lnTo>
                  <a:pt x="1103132" y="13594"/>
                </a:lnTo>
                <a:lnTo>
                  <a:pt x="1164461" y="20954"/>
                </a:lnTo>
                <a:lnTo>
                  <a:pt x="1223396" y="29763"/>
                </a:lnTo>
                <a:lnTo>
                  <a:pt x="1279723" y="39951"/>
                </a:lnTo>
                <a:lnTo>
                  <a:pt x="1333225" y="51450"/>
                </a:lnTo>
                <a:lnTo>
                  <a:pt x="1383687" y="64190"/>
                </a:lnTo>
                <a:lnTo>
                  <a:pt x="1430893" y="78104"/>
                </a:lnTo>
                <a:lnTo>
                  <a:pt x="1474626" y="93124"/>
                </a:lnTo>
                <a:lnTo>
                  <a:pt x="1514673" y="109179"/>
                </a:lnTo>
                <a:lnTo>
                  <a:pt x="1550815" y="126202"/>
                </a:lnTo>
                <a:lnTo>
                  <a:pt x="1610528" y="162877"/>
                </a:lnTo>
                <a:lnTo>
                  <a:pt x="1652039" y="202600"/>
                </a:lnTo>
                <a:lnTo>
                  <a:pt x="1673621" y="244822"/>
                </a:lnTo>
                <a:lnTo>
                  <a:pt x="1676400" y="266700"/>
                </a:lnTo>
                <a:lnTo>
                  <a:pt x="1673621" y="288577"/>
                </a:lnTo>
                <a:lnTo>
                  <a:pt x="1652039" y="330799"/>
                </a:lnTo>
                <a:lnTo>
                  <a:pt x="1610528" y="370522"/>
                </a:lnTo>
                <a:lnTo>
                  <a:pt x="1550815" y="407197"/>
                </a:lnTo>
                <a:lnTo>
                  <a:pt x="1514673" y="424220"/>
                </a:lnTo>
                <a:lnTo>
                  <a:pt x="1474626" y="440275"/>
                </a:lnTo>
                <a:lnTo>
                  <a:pt x="1430893" y="455295"/>
                </a:lnTo>
                <a:lnTo>
                  <a:pt x="1383687" y="469209"/>
                </a:lnTo>
                <a:lnTo>
                  <a:pt x="1333225" y="481949"/>
                </a:lnTo>
                <a:lnTo>
                  <a:pt x="1279723" y="493448"/>
                </a:lnTo>
                <a:lnTo>
                  <a:pt x="1223396" y="503636"/>
                </a:lnTo>
                <a:lnTo>
                  <a:pt x="1164461" y="512444"/>
                </a:lnTo>
                <a:lnTo>
                  <a:pt x="1103132" y="519805"/>
                </a:lnTo>
                <a:lnTo>
                  <a:pt x="1039625" y="525650"/>
                </a:lnTo>
                <a:lnTo>
                  <a:pt x="974157" y="529910"/>
                </a:lnTo>
                <a:lnTo>
                  <a:pt x="906944" y="532516"/>
                </a:lnTo>
                <a:lnTo>
                  <a:pt x="838200" y="533400"/>
                </a:lnTo>
                <a:lnTo>
                  <a:pt x="769455" y="532516"/>
                </a:lnTo>
                <a:lnTo>
                  <a:pt x="702242" y="529910"/>
                </a:lnTo>
                <a:lnTo>
                  <a:pt x="636774" y="525650"/>
                </a:lnTo>
                <a:lnTo>
                  <a:pt x="573267" y="519805"/>
                </a:lnTo>
                <a:lnTo>
                  <a:pt x="511938" y="512445"/>
                </a:lnTo>
                <a:lnTo>
                  <a:pt x="453003" y="503636"/>
                </a:lnTo>
                <a:lnTo>
                  <a:pt x="396676" y="493448"/>
                </a:lnTo>
                <a:lnTo>
                  <a:pt x="343174" y="481949"/>
                </a:lnTo>
                <a:lnTo>
                  <a:pt x="292712" y="469209"/>
                </a:lnTo>
                <a:lnTo>
                  <a:pt x="245506" y="455295"/>
                </a:lnTo>
                <a:lnTo>
                  <a:pt x="201773" y="440275"/>
                </a:lnTo>
                <a:lnTo>
                  <a:pt x="161726" y="424220"/>
                </a:lnTo>
                <a:lnTo>
                  <a:pt x="125584" y="407197"/>
                </a:lnTo>
                <a:lnTo>
                  <a:pt x="65871" y="370522"/>
                </a:lnTo>
                <a:lnTo>
                  <a:pt x="24360" y="330799"/>
                </a:lnTo>
                <a:lnTo>
                  <a:pt x="2778" y="288577"/>
                </a:lnTo>
                <a:lnTo>
                  <a:pt x="0" y="2667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59" name="Google Shape;1359;p91"/>
          <p:cNvSpPr txBox="1"/>
          <p:nvPr/>
        </p:nvSpPr>
        <p:spPr>
          <a:xfrm>
            <a:off x="2184273" y="2723515"/>
            <a:ext cx="96710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91"/>
          <p:cNvSpPr/>
          <p:nvPr/>
        </p:nvSpPr>
        <p:spPr>
          <a:xfrm>
            <a:off x="4114800" y="3429000"/>
            <a:ext cx="914400" cy="685800"/>
          </a:xfrm>
          <a:custGeom>
            <a:avLst/>
            <a:gdLst/>
            <a:ahLst/>
            <a:cxnLst/>
            <a:rect l="l" t="t" r="r" b="b"/>
            <a:pathLst>
              <a:path w="914400" h="685800" extrusionOk="0">
                <a:moveTo>
                  <a:pt x="0" y="342900"/>
                </a:moveTo>
                <a:lnTo>
                  <a:pt x="457200" y="0"/>
                </a:lnTo>
                <a:lnTo>
                  <a:pt x="914400" y="342900"/>
                </a:lnTo>
                <a:lnTo>
                  <a:pt x="457200" y="685800"/>
                </a:lnTo>
                <a:lnTo>
                  <a:pt x="0" y="342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61" name="Google Shape;1361;p91"/>
          <p:cNvSpPr txBox="1"/>
          <p:nvPr/>
        </p:nvSpPr>
        <p:spPr>
          <a:xfrm>
            <a:off x="4327397" y="3637915"/>
            <a:ext cx="49275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91"/>
          <p:cNvSpPr/>
          <p:nvPr/>
        </p:nvSpPr>
        <p:spPr>
          <a:xfrm>
            <a:off x="4572000" y="4124325"/>
            <a:ext cx="0" cy="285750"/>
          </a:xfrm>
          <a:custGeom>
            <a:avLst/>
            <a:gdLst/>
            <a:ahLst/>
            <a:cxnLst/>
            <a:rect l="l" t="t" r="r" b="b"/>
            <a:pathLst>
              <a:path w="120000" h="285750" extrusionOk="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63" name="Google Shape;1363;p91"/>
          <p:cNvSpPr/>
          <p:nvPr/>
        </p:nvSpPr>
        <p:spPr>
          <a:xfrm>
            <a:off x="4572000" y="3133725"/>
            <a:ext cx="0" cy="285750"/>
          </a:xfrm>
          <a:custGeom>
            <a:avLst/>
            <a:gdLst/>
            <a:ahLst/>
            <a:cxnLst/>
            <a:rect l="l" t="t" r="r" b="b"/>
            <a:pathLst>
              <a:path w="120000" h="285750" extrusionOk="0">
                <a:moveTo>
                  <a:pt x="0" y="285750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64" name="Google Shape;1364;p91"/>
          <p:cNvSpPr/>
          <p:nvPr/>
        </p:nvSpPr>
        <p:spPr>
          <a:xfrm>
            <a:off x="4572000" y="2295525"/>
            <a:ext cx="0" cy="285750"/>
          </a:xfrm>
          <a:custGeom>
            <a:avLst/>
            <a:gdLst/>
            <a:ahLst/>
            <a:cxnLst/>
            <a:rect l="l" t="t" r="r" b="b"/>
            <a:pathLst>
              <a:path w="120000" h="285750" extrusionOk="0">
                <a:moveTo>
                  <a:pt x="0" y="285750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65" name="Google Shape;1365;p91"/>
          <p:cNvSpPr/>
          <p:nvPr/>
        </p:nvSpPr>
        <p:spPr>
          <a:xfrm>
            <a:off x="3514725" y="2857500"/>
            <a:ext cx="361950" cy="0"/>
          </a:xfrm>
          <a:custGeom>
            <a:avLst/>
            <a:gdLst/>
            <a:ahLst/>
            <a:cxnLst/>
            <a:rect l="l" t="t" r="r" b="b"/>
            <a:pathLst>
              <a:path w="361950" h="120000" extrusionOk="0">
                <a:moveTo>
                  <a:pt x="361950" y="0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66" name="Google Shape;1366;p91"/>
          <p:cNvSpPr/>
          <p:nvPr/>
        </p:nvSpPr>
        <p:spPr>
          <a:xfrm>
            <a:off x="3505200" y="4686300"/>
            <a:ext cx="381000" cy="0"/>
          </a:xfrm>
          <a:custGeom>
            <a:avLst/>
            <a:gdLst/>
            <a:ahLst/>
            <a:cxnLst/>
            <a:rect l="l" t="t" r="r" b="b"/>
            <a:pathLst>
              <a:path w="381000" h="120000" extrusionOk="0">
                <a:moveTo>
                  <a:pt x="381000" y="0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67" name="Google Shape;1367;p91"/>
          <p:cNvSpPr/>
          <p:nvPr/>
        </p:nvSpPr>
        <p:spPr>
          <a:xfrm>
            <a:off x="3259201" y="4953000"/>
            <a:ext cx="703580" cy="373380"/>
          </a:xfrm>
          <a:custGeom>
            <a:avLst/>
            <a:gdLst/>
            <a:ahLst/>
            <a:cxnLst/>
            <a:rect l="l" t="t" r="r" b="b"/>
            <a:pathLst>
              <a:path w="703579" h="373379" extrusionOk="0">
                <a:moveTo>
                  <a:pt x="703199" y="0"/>
                </a:moveTo>
                <a:lnTo>
                  <a:pt x="0" y="373125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68" name="Google Shape;1368;p91"/>
          <p:cNvSpPr/>
          <p:nvPr/>
        </p:nvSpPr>
        <p:spPr>
          <a:xfrm>
            <a:off x="4572000" y="4962525"/>
            <a:ext cx="0" cy="285750"/>
          </a:xfrm>
          <a:custGeom>
            <a:avLst/>
            <a:gdLst/>
            <a:ahLst/>
            <a:cxnLst/>
            <a:rect l="l" t="t" r="r" b="b"/>
            <a:pathLst>
              <a:path w="120000" h="285750" extrusionOk="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69" name="Google Shape;1369;p91"/>
          <p:cNvSpPr/>
          <p:nvPr/>
        </p:nvSpPr>
        <p:spPr>
          <a:xfrm>
            <a:off x="5257800" y="4686300"/>
            <a:ext cx="381000" cy="0"/>
          </a:xfrm>
          <a:custGeom>
            <a:avLst/>
            <a:gdLst/>
            <a:ahLst/>
            <a:cxnLst/>
            <a:rect l="l" t="t" r="r" b="b"/>
            <a:pathLst>
              <a:path w="381000" h="120000" extrusionOk="0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70" name="Google Shape;1370;p91"/>
          <p:cNvSpPr/>
          <p:nvPr/>
        </p:nvSpPr>
        <p:spPr>
          <a:xfrm>
            <a:off x="5148071" y="4953000"/>
            <a:ext cx="736600" cy="382905"/>
          </a:xfrm>
          <a:custGeom>
            <a:avLst/>
            <a:gdLst/>
            <a:ahLst/>
            <a:cxnLst/>
            <a:rect l="l" t="t" r="r" b="b"/>
            <a:pathLst>
              <a:path w="736600" h="382904" extrusionOk="0">
                <a:moveTo>
                  <a:pt x="0" y="0"/>
                </a:moveTo>
                <a:lnTo>
                  <a:pt x="736218" y="382905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71" name="Google Shape;1371;p91"/>
          <p:cNvSpPr/>
          <p:nvPr/>
        </p:nvSpPr>
        <p:spPr>
          <a:xfrm>
            <a:off x="4419600" y="3124200"/>
            <a:ext cx="300355" cy="152400"/>
          </a:xfrm>
          <a:custGeom>
            <a:avLst/>
            <a:gdLst/>
            <a:ahLst/>
            <a:cxnLst/>
            <a:rect l="l" t="t" r="r" b="b"/>
            <a:pathLst>
              <a:path w="300354" h="152400" extrusionOk="0">
                <a:moveTo>
                  <a:pt x="300100" y="0"/>
                </a:moveTo>
                <a:lnTo>
                  <a:pt x="292450" y="48182"/>
                </a:lnTo>
                <a:lnTo>
                  <a:pt x="271145" y="90019"/>
                </a:lnTo>
                <a:lnTo>
                  <a:pt x="238653" y="123005"/>
                </a:lnTo>
                <a:lnTo>
                  <a:pt x="197444" y="144633"/>
                </a:lnTo>
                <a:lnTo>
                  <a:pt x="149987" y="152400"/>
                </a:lnTo>
                <a:lnTo>
                  <a:pt x="102603" y="144646"/>
                </a:lnTo>
                <a:lnTo>
                  <a:pt x="61456" y="123049"/>
                </a:lnTo>
                <a:lnTo>
                  <a:pt x="29002" y="90101"/>
                </a:lnTo>
                <a:lnTo>
                  <a:pt x="7698" y="48296"/>
                </a:lnTo>
                <a:lnTo>
                  <a:pt x="0" y="126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33161387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9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51511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Making E/R Diagrams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1378" name="Google Shape;1378;p92"/>
          <p:cNvSpPr txBox="1">
            <a:spLocks noGrp="1"/>
          </p:cNvSpPr>
          <p:nvPr>
            <p:ph sz="half" idx="1"/>
          </p:nvPr>
        </p:nvSpPr>
        <p:spPr>
          <a:xfrm>
            <a:off x="4572000" y="2286000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Draw the E/R diagram</a:t>
            </a:r>
            <a:endParaRPr dirty="0"/>
          </a:p>
          <a:p>
            <a:pPr marL="8128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and then</a:t>
            </a:r>
            <a:endParaRPr dirty="0"/>
          </a:p>
          <a:p>
            <a:pPr marL="756285" marR="501015" lvl="1" indent="-28638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Look at one to one  relationships as they  might be redundant</a:t>
            </a:r>
            <a:endParaRPr sz="2400" b="0" i="0" u="none" strike="noStrike" cap="none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5080" lvl="1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Look at many to many  relationships as they will  often need to be split  into two one to many  links, using an  intermediate entity</a:t>
            </a:r>
            <a:endParaRPr sz="2400" b="0" i="0" u="none" strike="noStrike" cap="none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9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38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79" name="Google Shape;1379;p92"/>
          <p:cNvSpPr txBox="1"/>
          <p:nvPr/>
        </p:nvSpPr>
        <p:spPr>
          <a:xfrm>
            <a:off x="533400" y="2209800"/>
            <a:ext cx="3662045" cy="3434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217804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a description of  the requirements  identify the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1" indent="-28638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Entities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1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Attributes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1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Relationships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5080" lvl="1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Cardinality ratios of the  relationships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71843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792604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Debugging Designs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1385" name="Google Shape;1385;p9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39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86" name="Google Shape;1386;p93"/>
          <p:cNvSpPr txBox="1"/>
          <p:nvPr/>
        </p:nvSpPr>
        <p:spPr>
          <a:xfrm>
            <a:off x="535940" y="1622805"/>
            <a:ext cx="3791585" cy="4385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399415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a bit of practice  E/R diagrams can be  used to plan queries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202565" lvl="1" indent="-28638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look at the  diagram and figure out  how to find useful  information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5080" lvl="1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can’t find the  information you need,  you may need to change  the design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93"/>
          <p:cNvSpPr/>
          <p:nvPr/>
        </p:nvSpPr>
        <p:spPr>
          <a:xfrm>
            <a:off x="4876800" y="3810000"/>
            <a:ext cx="1295400" cy="533400"/>
          </a:xfrm>
          <a:custGeom>
            <a:avLst/>
            <a:gdLst/>
            <a:ahLst/>
            <a:cxnLst/>
            <a:rect l="l" t="t" r="r" b="b"/>
            <a:pathLst>
              <a:path w="12954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206500" y="0"/>
                </a:lnTo>
                <a:lnTo>
                  <a:pt x="1241125" y="6979"/>
                </a:lnTo>
                <a:lnTo>
                  <a:pt x="1269380" y="26019"/>
                </a:lnTo>
                <a:lnTo>
                  <a:pt x="1288420" y="54274"/>
                </a:lnTo>
                <a:lnTo>
                  <a:pt x="1295400" y="88900"/>
                </a:lnTo>
                <a:lnTo>
                  <a:pt x="1295400" y="444500"/>
                </a:lnTo>
                <a:lnTo>
                  <a:pt x="1288420" y="479125"/>
                </a:lnTo>
                <a:lnTo>
                  <a:pt x="1269380" y="507380"/>
                </a:lnTo>
                <a:lnTo>
                  <a:pt x="1241125" y="526420"/>
                </a:lnTo>
                <a:lnTo>
                  <a:pt x="12065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88" name="Google Shape;1388;p93"/>
          <p:cNvSpPr txBox="1"/>
          <p:nvPr/>
        </p:nvSpPr>
        <p:spPr>
          <a:xfrm>
            <a:off x="4972303" y="3908932"/>
            <a:ext cx="110553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Enrolment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93"/>
          <p:cNvSpPr/>
          <p:nvPr/>
        </p:nvSpPr>
        <p:spPr>
          <a:xfrm>
            <a:off x="4953000" y="2133600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054100" y="0"/>
                </a:lnTo>
                <a:lnTo>
                  <a:pt x="1088725" y="6979"/>
                </a:lnTo>
                <a:lnTo>
                  <a:pt x="1116980" y="26019"/>
                </a:lnTo>
                <a:lnTo>
                  <a:pt x="1136020" y="54274"/>
                </a:lnTo>
                <a:lnTo>
                  <a:pt x="1143000" y="88900"/>
                </a:lnTo>
                <a:lnTo>
                  <a:pt x="1143000" y="444500"/>
                </a:lnTo>
                <a:lnTo>
                  <a:pt x="1136020" y="479125"/>
                </a:lnTo>
                <a:lnTo>
                  <a:pt x="1116980" y="507380"/>
                </a:lnTo>
                <a:lnTo>
                  <a:pt x="1088725" y="526420"/>
                </a:lnTo>
                <a:lnTo>
                  <a:pt x="10541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90" name="Google Shape;1390;p93"/>
          <p:cNvSpPr txBox="1"/>
          <p:nvPr/>
        </p:nvSpPr>
        <p:spPr>
          <a:xfrm>
            <a:off x="5104891" y="2232278"/>
            <a:ext cx="839469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93"/>
          <p:cNvSpPr/>
          <p:nvPr/>
        </p:nvSpPr>
        <p:spPr>
          <a:xfrm>
            <a:off x="4953000" y="5486400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 extrusionOk="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054100" y="0"/>
                </a:lnTo>
                <a:lnTo>
                  <a:pt x="1088725" y="6979"/>
                </a:lnTo>
                <a:lnTo>
                  <a:pt x="1116980" y="26019"/>
                </a:lnTo>
                <a:lnTo>
                  <a:pt x="1136020" y="54274"/>
                </a:lnTo>
                <a:lnTo>
                  <a:pt x="1143000" y="88900"/>
                </a:lnTo>
                <a:lnTo>
                  <a:pt x="1143000" y="444500"/>
                </a:lnTo>
                <a:lnTo>
                  <a:pt x="1136020" y="479103"/>
                </a:lnTo>
                <a:lnTo>
                  <a:pt x="1116980" y="507361"/>
                </a:lnTo>
                <a:lnTo>
                  <a:pt x="1088725" y="526413"/>
                </a:lnTo>
                <a:lnTo>
                  <a:pt x="1054100" y="533400"/>
                </a:lnTo>
                <a:lnTo>
                  <a:pt x="88900" y="533400"/>
                </a:lnTo>
                <a:lnTo>
                  <a:pt x="54274" y="526413"/>
                </a:lnTo>
                <a:lnTo>
                  <a:pt x="26019" y="507361"/>
                </a:lnTo>
                <a:lnTo>
                  <a:pt x="6979" y="479103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92" name="Google Shape;1392;p93"/>
          <p:cNvSpPr txBox="1"/>
          <p:nvPr/>
        </p:nvSpPr>
        <p:spPr>
          <a:xfrm>
            <a:off x="5109464" y="5585663"/>
            <a:ext cx="829944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93"/>
          <p:cNvSpPr/>
          <p:nvPr/>
        </p:nvSpPr>
        <p:spPr>
          <a:xfrm>
            <a:off x="5029200" y="4648200"/>
            <a:ext cx="990600" cy="533400"/>
          </a:xfrm>
          <a:custGeom>
            <a:avLst/>
            <a:gdLst/>
            <a:ahLst/>
            <a:cxnLst/>
            <a:rect l="l" t="t" r="r" b="b"/>
            <a:pathLst>
              <a:path w="990600" h="533400" extrusionOk="0">
                <a:moveTo>
                  <a:pt x="0" y="266700"/>
                </a:moveTo>
                <a:lnTo>
                  <a:pt x="495300" y="0"/>
                </a:lnTo>
                <a:lnTo>
                  <a:pt x="990600" y="266700"/>
                </a:lnTo>
                <a:lnTo>
                  <a:pt x="495300" y="533400"/>
                </a:lnTo>
                <a:lnTo>
                  <a:pt x="0" y="2667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94" name="Google Shape;1394;p93"/>
          <p:cNvSpPr txBox="1"/>
          <p:nvPr/>
        </p:nvSpPr>
        <p:spPr>
          <a:xfrm>
            <a:off x="5433440" y="4781169"/>
            <a:ext cx="18478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93"/>
          <p:cNvSpPr/>
          <p:nvPr/>
        </p:nvSpPr>
        <p:spPr>
          <a:xfrm>
            <a:off x="5029200" y="2971800"/>
            <a:ext cx="990600" cy="533400"/>
          </a:xfrm>
          <a:custGeom>
            <a:avLst/>
            <a:gdLst/>
            <a:ahLst/>
            <a:cxnLst/>
            <a:rect l="l" t="t" r="r" b="b"/>
            <a:pathLst>
              <a:path w="990600" h="533400" extrusionOk="0">
                <a:moveTo>
                  <a:pt x="0" y="266700"/>
                </a:moveTo>
                <a:lnTo>
                  <a:pt x="495300" y="0"/>
                </a:lnTo>
                <a:lnTo>
                  <a:pt x="990600" y="266700"/>
                </a:lnTo>
                <a:lnTo>
                  <a:pt x="495300" y="533400"/>
                </a:lnTo>
                <a:lnTo>
                  <a:pt x="0" y="2667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96" name="Google Shape;1396;p93"/>
          <p:cNvSpPr txBox="1"/>
          <p:nvPr/>
        </p:nvSpPr>
        <p:spPr>
          <a:xfrm>
            <a:off x="5360289" y="3104515"/>
            <a:ext cx="32893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93"/>
          <p:cNvSpPr/>
          <p:nvPr/>
        </p:nvSpPr>
        <p:spPr>
          <a:xfrm>
            <a:off x="5524500" y="2667000"/>
            <a:ext cx="0" cy="304800"/>
          </a:xfrm>
          <a:custGeom>
            <a:avLst/>
            <a:gdLst/>
            <a:ahLst/>
            <a:cxnLst/>
            <a:rect l="l" t="t" r="r" b="b"/>
            <a:pathLst>
              <a:path w="120000" h="304800" extrusionOk="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98" name="Google Shape;1398;p93"/>
          <p:cNvSpPr/>
          <p:nvPr/>
        </p:nvSpPr>
        <p:spPr>
          <a:xfrm>
            <a:off x="5524500" y="3505200"/>
            <a:ext cx="0" cy="304800"/>
          </a:xfrm>
          <a:custGeom>
            <a:avLst/>
            <a:gdLst/>
            <a:ahLst/>
            <a:cxnLst/>
            <a:rect l="l" t="t" r="r" b="b"/>
            <a:pathLst>
              <a:path w="120000" h="304800" extrusionOk="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99" name="Google Shape;1399;p93"/>
          <p:cNvSpPr/>
          <p:nvPr/>
        </p:nvSpPr>
        <p:spPr>
          <a:xfrm>
            <a:off x="5524500" y="4343400"/>
            <a:ext cx="0" cy="304800"/>
          </a:xfrm>
          <a:custGeom>
            <a:avLst/>
            <a:gdLst/>
            <a:ahLst/>
            <a:cxnLst/>
            <a:rect l="l" t="t" r="r" b="b"/>
            <a:pathLst>
              <a:path w="120000" h="304800" extrusionOk="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00" name="Google Shape;1400;p93"/>
          <p:cNvSpPr/>
          <p:nvPr/>
        </p:nvSpPr>
        <p:spPr>
          <a:xfrm>
            <a:off x="5524500" y="5181600"/>
            <a:ext cx="0" cy="304800"/>
          </a:xfrm>
          <a:custGeom>
            <a:avLst/>
            <a:gdLst/>
            <a:ahLst/>
            <a:cxnLst/>
            <a:rect l="l" t="t" r="r" b="b"/>
            <a:pathLst>
              <a:path w="120000" h="304800" extrusionOk="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01" name="Google Shape;1401;p93"/>
          <p:cNvSpPr/>
          <p:nvPr/>
        </p:nvSpPr>
        <p:spPr>
          <a:xfrm>
            <a:off x="5410200" y="4343400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 extrusionOk="0">
                <a:moveTo>
                  <a:pt x="228600" y="0"/>
                </a:moveTo>
                <a:lnTo>
                  <a:pt x="222772" y="48182"/>
                </a:lnTo>
                <a:lnTo>
                  <a:pt x="206544" y="90019"/>
                </a:lnTo>
                <a:lnTo>
                  <a:pt x="181801" y="123005"/>
                </a:lnTo>
                <a:lnTo>
                  <a:pt x="150424" y="144633"/>
                </a:lnTo>
                <a:lnTo>
                  <a:pt x="114300" y="152400"/>
                </a:lnTo>
                <a:lnTo>
                  <a:pt x="78187" y="144646"/>
                </a:lnTo>
                <a:lnTo>
                  <a:pt x="46835" y="123049"/>
                </a:lnTo>
                <a:lnTo>
                  <a:pt x="22110" y="90101"/>
                </a:lnTo>
                <a:lnTo>
                  <a:pt x="5876" y="48296"/>
                </a:lnTo>
                <a:lnTo>
                  <a:pt x="0" y="126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02" name="Google Shape;1402;p93"/>
          <p:cNvSpPr/>
          <p:nvPr/>
        </p:nvSpPr>
        <p:spPr>
          <a:xfrm>
            <a:off x="5410200" y="3657600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 extrusionOk="0">
                <a:moveTo>
                  <a:pt x="228600" y="152400"/>
                </a:moveTo>
                <a:lnTo>
                  <a:pt x="222772" y="104217"/>
                </a:lnTo>
                <a:lnTo>
                  <a:pt x="206544" y="62380"/>
                </a:lnTo>
                <a:lnTo>
                  <a:pt x="181801" y="29394"/>
                </a:lnTo>
                <a:lnTo>
                  <a:pt x="150424" y="7766"/>
                </a:lnTo>
                <a:lnTo>
                  <a:pt x="114300" y="0"/>
                </a:lnTo>
                <a:lnTo>
                  <a:pt x="78187" y="7753"/>
                </a:lnTo>
                <a:lnTo>
                  <a:pt x="46835" y="29350"/>
                </a:lnTo>
                <a:lnTo>
                  <a:pt x="22110" y="62298"/>
                </a:lnTo>
                <a:lnTo>
                  <a:pt x="5876" y="104103"/>
                </a:lnTo>
                <a:lnTo>
                  <a:pt x="0" y="152273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03" name="Google Shape;1403;p93"/>
          <p:cNvSpPr txBox="1"/>
          <p:nvPr/>
        </p:nvSpPr>
        <p:spPr>
          <a:xfrm>
            <a:off x="6922134" y="2889122"/>
            <a:ext cx="1426210" cy="1854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can you  find a list of  students who  are enrolled  in Database  systems?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04708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9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792604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Debugging Designs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1409" name="Google Shape;1409;p94"/>
          <p:cNvSpPr txBox="1"/>
          <p:nvPr/>
        </p:nvSpPr>
        <p:spPr>
          <a:xfrm>
            <a:off x="3859148" y="1625346"/>
            <a:ext cx="4298315" cy="1218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27685" marR="5080" lvl="0" indent="-5156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	Find the instance of Module  with the title ‘Database  Systems’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94"/>
          <p:cNvSpPr/>
          <p:nvPr/>
        </p:nvSpPr>
        <p:spPr>
          <a:xfrm>
            <a:off x="1764410" y="3810000"/>
            <a:ext cx="1295400" cy="533400"/>
          </a:xfrm>
          <a:custGeom>
            <a:avLst/>
            <a:gdLst/>
            <a:ahLst/>
            <a:cxnLst/>
            <a:rect l="l" t="t" r="r" b="b"/>
            <a:pathLst>
              <a:path w="1295400" h="533400" extrusionOk="0">
                <a:moveTo>
                  <a:pt x="0" y="88900"/>
                </a:moveTo>
                <a:lnTo>
                  <a:pt x="6996" y="54274"/>
                </a:lnTo>
                <a:lnTo>
                  <a:pt x="26066" y="26019"/>
                </a:lnTo>
                <a:lnTo>
                  <a:pt x="54328" y="6979"/>
                </a:lnTo>
                <a:lnTo>
                  <a:pt x="88900" y="0"/>
                </a:lnTo>
                <a:lnTo>
                  <a:pt x="1206500" y="0"/>
                </a:lnTo>
                <a:lnTo>
                  <a:pt x="1241125" y="6979"/>
                </a:lnTo>
                <a:lnTo>
                  <a:pt x="1269380" y="26019"/>
                </a:lnTo>
                <a:lnTo>
                  <a:pt x="1288420" y="54274"/>
                </a:lnTo>
                <a:lnTo>
                  <a:pt x="1295400" y="88900"/>
                </a:lnTo>
                <a:lnTo>
                  <a:pt x="1295400" y="444500"/>
                </a:lnTo>
                <a:lnTo>
                  <a:pt x="1288420" y="479125"/>
                </a:lnTo>
                <a:lnTo>
                  <a:pt x="1269380" y="507380"/>
                </a:lnTo>
                <a:lnTo>
                  <a:pt x="1241125" y="526420"/>
                </a:lnTo>
                <a:lnTo>
                  <a:pt x="1206500" y="533400"/>
                </a:lnTo>
                <a:lnTo>
                  <a:pt x="88900" y="533400"/>
                </a:lnTo>
                <a:lnTo>
                  <a:pt x="54328" y="526420"/>
                </a:lnTo>
                <a:lnTo>
                  <a:pt x="26066" y="507380"/>
                </a:lnTo>
                <a:lnTo>
                  <a:pt x="6996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11" name="Google Shape;1411;p94"/>
          <p:cNvSpPr/>
          <p:nvPr/>
        </p:nvSpPr>
        <p:spPr>
          <a:xfrm>
            <a:off x="1840610" y="2133600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 extrusionOk="0">
                <a:moveTo>
                  <a:pt x="0" y="88900"/>
                </a:moveTo>
                <a:lnTo>
                  <a:pt x="6996" y="54274"/>
                </a:lnTo>
                <a:lnTo>
                  <a:pt x="26066" y="26019"/>
                </a:lnTo>
                <a:lnTo>
                  <a:pt x="54328" y="6979"/>
                </a:lnTo>
                <a:lnTo>
                  <a:pt x="88900" y="0"/>
                </a:lnTo>
                <a:lnTo>
                  <a:pt x="1054100" y="0"/>
                </a:lnTo>
                <a:lnTo>
                  <a:pt x="1088725" y="6979"/>
                </a:lnTo>
                <a:lnTo>
                  <a:pt x="1116980" y="26019"/>
                </a:lnTo>
                <a:lnTo>
                  <a:pt x="1136020" y="54274"/>
                </a:lnTo>
                <a:lnTo>
                  <a:pt x="1143000" y="88900"/>
                </a:lnTo>
                <a:lnTo>
                  <a:pt x="1143000" y="444500"/>
                </a:lnTo>
                <a:lnTo>
                  <a:pt x="1136020" y="479125"/>
                </a:lnTo>
                <a:lnTo>
                  <a:pt x="1116980" y="507380"/>
                </a:lnTo>
                <a:lnTo>
                  <a:pt x="1088725" y="526420"/>
                </a:lnTo>
                <a:lnTo>
                  <a:pt x="1054100" y="533400"/>
                </a:lnTo>
                <a:lnTo>
                  <a:pt x="88900" y="533400"/>
                </a:lnTo>
                <a:lnTo>
                  <a:pt x="54328" y="526420"/>
                </a:lnTo>
                <a:lnTo>
                  <a:pt x="26066" y="507380"/>
                </a:lnTo>
                <a:lnTo>
                  <a:pt x="6996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12" name="Google Shape;1412;p94"/>
          <p:cNvSpPr txBox="1"/>
          <p:nvPr/>
        </p:nvSpPr>
        <p:spPr>
          <a:xfrm>
            <a:off x="1961514" y="2241422"/>
            <a:ext cx="903605" cy="315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94"/>
          <p:cNvSpPr/>
          <p:nvPr/>
        </p:nvSpPr>
        <p:spPr>
          <a:xfrm>
            <a:off x="1840610" y="5486400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 extrusionOk="0">
                <a:moveTo>
                  <a:pt x="0" y="88900"/>
                </a:moveTo>
                <a:lnTo>
                  <a:pt x="6996" y="54274"/>
                </a:lnTo>
                <a:lnTo>
                  <a:pt x="26066" y="26019"/>
                </a:lnTo>
                <a:lnTo>
                  <a:pt x="54328" y="6979"/>
                </a:lnTo>
                <a:lnTo>
                  <a:pt x="88900" y="0"/>
                </a:lnTo>
                <a:lnTo>
                  <a:pt x="1054100" y="0"/>
                </a:lnTo>
                <a:lnTo>
                  <a:pt x="1088725" y="6979"/>
                </a:lnTo>
                <a:lnTo>
                  <a:pt x="1116980" y="26019"/>
                </a:lnTo>
                <a:lnTo>
                  <a:pt x="1136020" y="54274"/>
                </a:lnTo>
                <a:lnTo>
                  <a:pt x="1143000" y="88900"/>
                </a:lnTo>
                <a:lnTo>
                  <a:pt x="1143000" y="444500"/>
                </a:lnTo>
                <a:lnTo>
                  <a:pt x="1136020" y="479103"/>
                </a:lnTo>
                <a:lnTo>
                  <a:pt x="1116980" y="507361"/>
                </a:lnTo>
                <a:lnTo>
                  <a:pt x="1088725" y="526413"/>
                </a:lnTo>
                <a:lnTo>
                  <a:pt x="1054100" y="533400"/>
                </a:lnTo>
                <a:lnTo>
                  <a:pt x="88900" y="533400"/>
                </a:lnTo>
                <a:lnTo>
                  <a:pt x="54328" y="526413"/>
                </a:lnTo>
                <a:lnTo>
                  <a:pt x="26066" y="507361"/>
                </a:lnTo>
                <a:lnTo>
                  <a:pt x="6996" y="479103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14" name="Google Shape;1414;p94"/>
          <p:cNvSpPr/>
          <p:nvPr/>
        </p:nvSpPr>
        <p:spPr>
          <a:xfrm>
            <a:off x="1916810" y="4648200"/>
            <a:ext cx="990600" cy="533400"/>
          </a:xfrm>
          <a:custGeom>
            <a:avLst/>
            <a:gdLst/>
            <a:ahLst/>
            <a:cxnLst/>
            <a:rect l="l" t="t" r="r" b="b"/>
            <a:pathLst>
              <a:path w="990600" h="533400" extrusionOk="0">
                <a:moveTo>
                  <a:pt x="0" y="266700"/>
                </a:moveTo>
                <a:lnTo>
                  <a:pt x="495300" y="0"/>
                </a:lnTo>
                <a:lnTo>
                  <a:pt x="990600" y="266700"/>
                </a:lnTo>
                <a:lnTo>
                  <a:pt x="495300" y="533400"/>
                </a:lnTo>
                <a:lnTo>
                  <a:pt x="0" y="2667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15" name="Google Shape;1415;p94"/>
          <p:cNvSpPr/>
          <p:nvPr/>
        </p:nvSpPr>
        <p:spPr>
          <a:xfrm>
            <a:off x="1916810" y="2971800"/>
            <a:ext cx="990600" cy="533400"/>
          </a:xfrm>
          <a:custGeom>
            <a:avLst/>
            <a:gdLst/>
            <a:ahLst/>
            <a:cxnLst/>
            <a:rect l="l" t="t" r="r" b="b"/>
            <a:pathLst>
              <a:path w="990600" h="533400" extrusionOk="0">
                <a:moveTo>
                  <a:pt x="0" y="266700"/>
                </a:moveTo>
                <a:lnTo>
                  <a:pt x="495300" y="0"/>
                </a:lnTo>
                <a:lnTo>
                  <a:pt x="990600" y="266700"/>
                </a:lnTo>
                <a:lnTo>
                  <a:pt x="495300" y="533400"/>
                </a:lnTo>
                <a:lnTo>
                  <a:pt x="0" y="2667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16" name="Google Shape;1416;p94"/>
          <p:cNvSpPr/>
          <p:nvPr/>
        </p:nvSpPr>
        <p:spPr>
          <a:xfrm>
            <a:off x="2412110" y="2667000"/>
            <a:ext cx="0" cy="304800"/>
          </a:xfrm>
          <a:custGeom>
            <a:avLst/>
            <a:gdLst/>
            <a:ahLst/>
            <a:cxnLst/>
            <a:rect l="l" t="t" r="r" b="b"/>
            <a:pathLst>
              <a:path w="120000" h="304800" extrusionOk="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17" name="Google Shape;1417;p94"/>
          <p:cNvSpPr/>
          <p:nvPr/>
        </p:nvSpPr>
        <p:spPr>
          <a:xfrm>
            <a:off x="2412110" y="3505200"/>
            <a:ext cx="0" cy="304800"/>
          </a:xfrm>
          <a:custGeom>
            <a:avLst/>
            <a:gdLst/>
            <a:ahLst/>
            <a:cxnLst/>
            <a:rect l="l" t="t" r="r" b="b"/>
            <a:pathLst>
              <a:path w="120000" h="304800" extrusionOk="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18" name="Google Shape;1418;p94"/>
          <p:cNvSpPr/>
          <p:nvPr/>
        </p:nvSpPr>
        <p:spPr>
          <a:xfrm>
            <a:off x="2412110" y="4343400"/>
            <a:ext cx="0" cy="304800"/>
          </a:xfrm>
          <a:custGeom>
            <a:avLst/>
            <a:gdLst/>
            <a:ahLst/>
            <a:cxnLst/>
            <a:rect l="l" t="t" r="r" b="b"/>
            <a:pathLst>
              <a:path w="120000" h="304800" extrusionOk="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19" name="Google Shape;1419;p94"/>
          <p:cNvSpPr/>
          <p:nvPr/>
        </p:nvSpPr>
        <p:spPr>
          <a:xfrm>
            <a:off x="2412110" y="5181600"/>
            <a:ext cx="0" cy="304800"/>
          </a:xfrm>
          <a:custGeom>
            <a:avLst/>
            <a:gdLst/>
            <a:ahLst/>
            <a:cxnLst/>
            <a:rect l="l" t="t" r="r" b="b"/>
            <a:pathLst>
              <a:path w="120000" h="304800" extrusionOk="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20" name="Google Shape;1420;p94"/>
          <p:cNvSpPr/>
          <p:nvPr/>
        </p:nvSpPr>
        <p:spPr>
          <a:xfrm>
            <a:off x="2297810" y="4343400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 extrusionOk="0">
                <a:moveTo>
                  <a:pt x="228600" y="0"/>
                </a:moveTo>
                <a:lnTo>
                  <a:pt x="222772" y="48182"/>
                </a:lnTo>
                <a:lnTo>
                  <a:pt x="206544" y="90019"/>
                </a:lnTo>
                <a:lnTo>
                  <a:pt x="181801" y="123005"/>
                </a:lnTo>
                <a:lnTo>
                  <a:pt x="150424" y="144633"/>
                </a:lnTo>
                <a:lnTo>
                  <a:pt x="114300" y="152400"/>
                </a:lnTo>
                <a:lnTo>
                  <a:pt x="78236" y="144646"/>
                </a:lnTo>
                <a:lnTo>
                  <a:pt x="46890" y="123049"/>
                </a:lnTo>
                <a:lnTo>
                  <a:pt x="22146" y="90101"/>
                </a:lnTo>
                <a:lnTo>
                  <a:pt x="5888" y="48296"/>
                </a:lnTo>
                <a:lnTo>
                  <a:pt x="0" y="126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21" name="Google Shape;1421;p94"/>
          <p:cNvSpPr/>
          <p:nvPr/>
        </p:nvSpPr>
        <p:spPr>
          <a:xfrm>
            <a:off x="2297810" y="3657600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 extrusionOk="0">
                <a:moveTo>
                  <a:pt x="228600" y="152400"/>
                </a:moveTo>
                <a:lnTo>
                  <a:pt x="222772" y="104217"/>
                </a:lnTo>
                <a:lnTo>
                  <a:pt x="206544" y="62380"/>
                </a:lnTo>
                <a:lnTo>
                  <a:pt x="181801" y="29394"/>
                </a:lnTo>
                <a:lnTo>
                  <a:pt x="150424" y="7766"/>
                </a:lnTo>
                <a:lnTo>
                  <a:pt x="114300" y="0"/>
                </a:lnTo>
                <a:lnTo>
                  <a:pt x="78236" y="7753"/>
                </a:lnTo>
                <a:lnTo>
                  <a:pt x="46890" y="29350"/>
                </a:lnTo>
                <a:lnTo>
                  <a:pt x="22146" y="62298"/>
                </a:lnTo>
                <a:lnTo>
                  <a:pt x="5888" y="104103"/>
                </a:lnTo>
                <a:lnTo>
                  <a:pt x="0" y="152273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22" name="Google Shape;1422;p94"/>
          <p:cNvSpPr/>
          <p:nvPr/>
        </p:nvSpPr>
        <p:spPr>
          <a:xfrm>
            <a:off x="773836" y="1905000"/>
            <a:ext cx="685800" cy="381000"/>
          </a:xfrm>
          <a:custGeom>
            <a:avLst/>
            <a:gdLst/>
            <a:ahLst/>
            <a:cxnLst/>
            <a:rect l="l" t="t" r="r" b="b"/>
            <a:pathLst>
              <a:path w="685800" h="381000" extrusionOk="0">
                <a:moveTo>
                  <a:pt x="0" y="190500"/>
                </a:moveTo>
                <a:lnTo>
                  <a:pt x="21452" y="124050"/>
                </a:lnTo>
                <a:lnTo>
                  <a:pt x="46815" y="94375"/>
                </a:lnTo>
                <a:lnTo>
                  <a:pt x="80644" y="67785"/>
                </a:lnTo>
                <a:lnTo>
                  <a:pt x="121972" y="44821"/>
                </a:lnTo>
                <a:lnTo>
                  <a:pt x="169830" y="26020"/>
                </a:lnTo>
                <a:lnTo>
                  <a:pt x="223249" y="11924"/>
                </a:lnTo>
                <a:lnTo>
                  <a:pt x="281262" y="3070"/>
                </a:lnTo>
                <a:lnTo>
                  <a:pt x="342900" y="0"/>
                </a:lnTo>
                <a:lnTo>
                  <a:pt x="404523" y="3070"/>
                </a:lnTo>
                <a:lnTo>
                  <a:pt x="462526" y="11924"/>
                </a:lnTo>
                <a:lnTo>
                  <a:pt x="515940" y="26020"/>
                </a:lnTo>
                <a:lnTo>
                  <a:pt x="563796" y="44821"/>
                </a:lnTo>
                <a:lnTo>
                  <a:pt x="605123" y="67785"/>
                </a:lnTo>
                <a:lnTo>
                  <a:pt x="638954" y="94375"/>
                </a:lnTo>
                <a:lnTo>
                  <a:pt x="664319" y="124050"/>
                </a:lnTo>
                <a:lnTo>
                  <a:pt x="685774" y="190500"/>
                </a:lnTo>
                <a:lnTo>
                  <a:pt x="680249" y="224728"/>
                </a:lnTo>
                <a:lnTo>
                  <a:pt x="638954" y="286624"/>
                </a:lnTo>
                <a:lnTo>
                  <a:pt x="605123" y="313214"/>
                </a:lnTo>
                <a:lnTo>
                  <a:pt x="563796" y="336178"/>
                </a:lnTo>
                <a:lnTo>
                  <a:pt x="515940" y="354979"/>
                </a:lnTo>
                <a:lnTo>
                  <a:pt x="462526" y="369075"/>
                </a:lnTo>
                <a:lnTo>
                  <a:pt x="404523" y="377929"/>
                </a:lnTo>
                <a:lnTo>
                  <a:pt x="342900" y="381000"/>
                </a:lnTo>
                <a:lnTo>
                  <a:pt x="281262" y="377929"/>
                </a:lnTo>
                <a:lnTo>
                  <a:pt x="223249" y="369075"/>
                </a:lnTo>
                <a:lnTo>
                  <a:pt x="169830" y="354979"/>
                </a:lnTo>
                <a:lnTo>
                  <a:pt x="121972" y="336178"/>
                </a:lnTo>
                <a:lnTo>
                  <a:pt x="80644" y="313214"/>
                </a:lnTo>
                <a:lnTo>
                  <a:pt x="46815" y="286624"/>
                </a:lnTo>
                <a:lnTo>
                  <a:pt x="21452" y="256949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23" name="Google Shape;1423;p94"/>
          <p:cNvSpPr txBox="1"/>
          <p:nvPr/>
        </p:nvSpPr>
        <p:spPr>
          <a:xfrm>
            <a:off x="990091" y="1952497"/>
            <a:ext cx="255270" cy="285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4" name="Google Shape;1424;p94"/>
          <p:cNvSpPr/>
          <p:nvPr/>
        </p:nvSpPr>
        <p:spPr>
          <a:xfrm>
            <a:off x="773836" y="5257800"/>
            <a:ext cx="685800" cy="381000"/>
          </a:xfrm>
          <a:custGeom>
            <a:avLst/>
            <a:gdLst/>
            <a:ahLst/>
            <a:cxnLst/>
            <a:rect l="l" t="t" r="r" b="b"/>
            <a:pathLst>
              <a:path w="685800" h="381000" extrusionOk="0">
                <a:moveTo>
                  <a:pt x="0" y="190500"/>
                </a:moveTo>
                <a:lnTo>
                  <a:pt x="21452" y="124050"/>
                </a:lnTo>
                <a:lnTo>
                  <a:pt x="46815" y="94375"/>
                </a:lnTo>
                <a:lnTo>
                  <a:pt x="80644" y="67785"/>
                </a:lnTo>
                <a:lnTo>
                  <a:pt x="121972" y="44821"/>
                </a:lnTo>
                <a:lnTo>
                  <a:pt x="169830" y="26020"/>
                </a:lnTo>
                <a:lnTo>
                  <a:pt x="223249" y="11924"/>
                </a:lnTo>
                <a:lnTo>
                  <a:pt x="281262" y="3070"/>
                </a:lnTo>
                <a:lnTo>
                  <a:pt x="342900" y="0"/>
                </a:lnTo>
                <a:lnTo>
                  <a:pt x="404523" y="3070"/>
                </a:lnTo>
                <a:lnTo>
                  <a:pt x="462526" y="11924"/>
                </a:lnTo>
                <a:lnTo>
                  <a:pt x="515940" y="26020"/>
                </a:lnTo>
                <a:lnTo>
                  <a:pt x="563796" y="44821"/>
                </a:lnTo>
                <a:lnTo>
                  <a:pt x="605123" y="67785"/>
                </a:lnTo>
                <a:lnTo>
                  <a:pt x="638954" y="94375"/>
                </a:lnTo>
                <a:lnTo>
                  <a:pt x="664319" y="124050"/>
                </a:lnTo>
                <a:lnTo>
                  <a:pt x="685774" y="190500"/>
                </a:lnTo>
                <a:lnTo>
                  <a:pt x="680249" y="224728"/>
                </a:lnTo>
                <a:lnTo>
                  <a:pt x="638954" y="286624"/>
                </a:lnTo>
                <a:lnTo>
                  <a:pt x="605123" y="313214"/>
                </a:lnTo>
                <a:lnTo>
                  <a:pt x="563796" y="336178"/>
                </a:lnTo>
                <a:lnTo>
                  <a:pt x="515940" y="354979"/>
                </a:lnTo>
                <a:lnTo>
                  <a:pt x="462526" y="369075"/>
                </a:lnTo>
                <a:lnTo>
                  <a:pt x="404523" y="377929"/>
                </a:lnTo>
                <a:lnTo>
                  <a:pt x="342900" y="381000"/>
                </a:lnTo>
                <a:lnTo>
                  <a:pt x="281262" y="377929"/>
                </a:lnTo>
                <a:lnTo>
                  <a:pt x="223249" y="369075"/>
                </a:lnTo>
                <a:lnTo>
                  <a:pt x="169830" y="354979"/>
                </a:lnTo>
                <a:lnTo>
                  <a:pt x="121972" y="336178"/>
                </a:lnTo>
                <a:lnTo>
                  <a:pt x="80644" y="313214"/>
                </a:lnTo>
                <a:lnTo>
                  <a:pt x="46815" y="286624"/>
                </a:lnTo>
                <a:lnTo>
                  <a:pt x="21452" y="256949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25" name="Google Shape;1425;p94"/>
          <p:cNvSpPr/>
          <p:nvPr/>
        </p:nvSpPr>
        <p:spPr>
          <a:xfrm>
            <a:off x="773836" y="5867400"/>
            <a:ext cx="685800" cy="381000"/>
          </a:xfrm>
          <a:custGeom>
            <a:avLst/>
            <a:gdLst/>
            <a:ahLst/>
            <a:cxnLst/>
            <a:rect l="l" t="t" r="r" b="b"/>
            <a:pathLst>
              <a:path w="685800" h="381000" extrusionOk="0">
                <a:moveTo>
                  <a:pt x="0" y="190500"/>
                </a:moveTo>
                <a:lnTo>
                  <a:pt x="21452" y="124029"/>
                </a:lnTo>
                <a:lnTo>
                  <a:pt x="46815" y="94352"/>
                </a:lnTo>
                <a:lnTo>
                  <a:pt x="80644" y="67764"/>
                </a:lnTo>
                <a:lnTo>
                  <a:pt x="121972" y="44804"/>
                </a:lnTo>
                <a:lnTo>
                  <a:pt x="169830" y="26009"/>
                </a:lnTo>
                <a:lnTo>
                  <a:pt x="223249" y="11918"/>
                </a:lnTo>
                <a:lnTo>
                  <a:pt x="281262" y="3069"/>
                </a:lnTo>
                <a:lnTo>
                  <a:pt x="342900" y="0"/>
                </a:lnTo>
                <a:lnTo>
                  <a:pt x="404523" y="3069"/>
                </a:lnTo>
                <a:lnTo>
                  <a:pt x="462526" y="11918"/>
                </a:lnTo>
                <a:lnTo>
                  <a:pt x="515940" y="26009"/>
                </a:lnTo>
                <a:lnTo>
                  <a:pt x="563796" y="44804"/>
                </a:lnTo>
                <a:lnTo>
                  <a:pt x="605123" y="67764"/>
                </a:lnTo>
                <a:lnTo>
                  <a:pt x="638954" y="94352"/>
                </a:lnTo>
                <a:lnTo>
                  <a:pt x="664319" y="124029"/>
                </a:lnTo>
                <a:lnTo>
                  <a:pt x="685774" y="190500"/>
                </a:lnTo>
                <a:lnTo>
                  <a:pt x="680249" y="224741"/>
                </a:lnTo>
                <a:lnTo>
                  <a:pt x="638954" y="286647"/>
                </a:lnTo>
                <a:lnTo>
                  <a:pt x="605123" y="313235"/>
                </a:lnTo>
                <a:lnTo>
                  <a:pt x="563796" y="336195"/>
                </a:lnTo>
                <a:lnTo>
                  <a:pt x="515940" y="354990"/>
                </a:lnTo>
                <a:lnTo>
                  <a:pt x="462526" y="369081"/>
                </a:lnTo>
                <a:lnTo>
                  <a:pt x="404523" y="377930"/>
                </a:lnTo>
                <a:lnTo>
                  <a:pt x="342900" y="381000"/>
                </a:lnTo>
                <a:lnTo>
                  <a:pt x="281262" y="377930"/>
                </a:lnTo>
                <a:lnTo>
                  <a:pt x="223249" y="369081"/>
                </a:lnTo>
                <a:lnTo>
                  <a:pt x="169830" y="354990"/>
                </a:lnTo>
                <a:lnTo>
                  <a:pt x="121972" y="336195"/>
                </a:lnTo>
                <a:lnTo>
                  <a:pt x="80644" y="313235"/>
                </a:lnTo>
                <a:lnTo>
                  <a:pt x="46815" y="286647"/>
                </a:lnTo>
                <a:lnTo>
                  <a:pt x="21452" y="256970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26" name="Google Shape;1426;p94"/>
          <p:cNvSpPr/>
          <p:nvPr/>
        </p:nvSpPr>
        <p:spPr>
          <a:xfrm>
            <a:off x="773836" y="2514600"/>
            <a:ext cx="685800" cy="381000"/>
          </a:xfrm>
          <a:custGeom>
            <a:avLst/>
            <a:gdLst/>
            <a:ahLst/>
            <a:cxnLst/>
            <a:rect l="l" t="t" r="r" b="b"/>
            <a:pathLst>
              <a:path w="685800" h="381000" extrusionOk="0">
                <a:moveTo>
                  <a:pt x="0" y="190500"/>
                </a:moveTo>
                <a:lnTo>
                  <a:pt x="21452" y="124050"/>
                </a:lnTo>
                <a:lnTo>
                  <a:pt x="46815" y="94375"/>
                </a:lnTo>
                <a:lnTo>
                  <a:pt x="80644" y="67785"/>
                </a:lnTo>
                <a:lnTo>
                  <a:pt x="121972" y="44821"/>
                </a:lnTo>
                <a:lnTo>
                  <a:pt x="169830" y="26020"/>
                </a:lnTo>
                <a:lnTo>
                  <a:pt x="223249" y="11924"/>
                </a:lnTo>
                <a:lnTo>
                  <a:pt x="281262" y="3070"/>
                </a:lnTo>
                <a:lnTo>
                  <a:pt x="342900" y="0"/>
                </a:lnTo>
                <a:lnTo>
                  <a:pt x="404523" y="3070"/>
                </a:lnTo>
                <a:lnTo>
                  <a:pt x="462526" y="11924"/>
                </a:lnTo>
                <a:lnTo>
                  <a:pt x="515940" y="26020"/>
                </a:lnTo>
                <a:lnTo>
                  <a:pt x="563796" y="44821"/>
                </a:lnTo>
                <a:lnTo>
                  <a:pt x="605123" y="67785"/>
                </a:lnTo>
                <a:lnTo>
                  <a:pt x="638954" y="94375"/>
                </a:lnTo>
                <a:lnTo>
                  <a:pt x="664319" y="124050"/>
                </a:lnTo>
                <a:lnTo>
                  <a:pt x="685774" y="190500"/>
                </a:lnTo>
                <a:lnTo>
                  <a:pt x="680249" y="224728"/>
                </a:lnTo>
                <a:lnTo>
                  <a:pt x="638954" y="286624"/>
                </a:lnTo>
                <a:lnTo>
                  <a:pt x="605123" y="313214"/>
                </a:lnTo>
                <a:lnTo>
                  <a:pt x="563796" y="336178"/>
                </a:lnTo>
                <a:lnTo>
                  <a:pt x="515940" y="354979"/>
                </a:lnTo>
                <a:lnTo>
                  <a:pt x="462526" y="369075"/>
                </a:lnTo>
                <a:lnTo>
                  <a:pt x="404523" y="377929"/>
                </a:lnTo>
                <a:lnTo>
                  <a:pt x="342900" y="381000"/>
                </a:lnTo>
                <a:lnTo>
                  <a:pt x="281262" y="377929"/>
                </a:lnTo>
                <a:lnTo>
                  <a:pt x="223249" y="369075"/>
                </a:lnTo>
                <a:lnTo>
                  <a:pt x="169830" y="354979"/>
                </a:lnTo>
                <a:lnTo>
                  <a:pt x="121972" y="336178"/>
                </a:lnTo>
                <a:lnTo>
                  <a:pt x="80644" y="313214"/>
                </a:lnTo>
                <a:lnTo>
                  <a:pt x="46815" y="286624"/>
                </a:lnTo>
                <a:lnTo>
                  <a:pt x="21452" y="256949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27" name="Google Shape;1427;p94"/>
          <p:cNvSpPr txBox="1"/>
          <p:nvPr/>
        </p:nvSpPr>
        <p:spPr>
          <a:xfrm>
            <a:off x="801116" y="2562478"/>
            <a:ext cx="634365" cy="285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8" name="Google Shape;1428;p94"/>
          <p:cNvSpPr/>
          <p:nvPr/>
        </p:nvSpPr>
        <p:spPr>
          <a:xfrm>
            <a:off x="773836" y="3581400"/>
            <a:ext cx="685800" cy="381000"/>
          </a:xfrm>
          <a:custGeom>
            <a:avLst/>
            <a:gdLst/>
            <a:ahLst/>
            <a:cxnLst/>
            <a:rect l="l" t="t" r="r" b="b"/>
            <a:pathLst>
              <a:path w="685800" h="381000" extrusionOk="0">
                <a:moveTo>
                  <a:pt x="0" y="190500"/>
                </a:moveTo>
                <a:lnTo>
                  <a:pt x="21452" y="124050"/>
                </a:lnTo>
                <a:lnTo>
                  <a:pt x="46815" y="94375"/>
                </a:lnTo>
                <a:lnTo>
                  <a:pt x="80644" y="67785"/>
                </a:lnTo>
                <a:lnTo>
                  <a:pt x="121972" y="44821"/>
                </a:lnTo>
                <a:lnTo>
                  <a:pt x="169830" y="26020"/>
                </a:lnTo>
                <a:lnTo>
                  <a:pt x="223249" y="11924"/>
                </a:lnTo>
                <a:lnTo>
                  <a:pt x="281262" y="3070"/>
                </a:lnTo>
                <a:lnTo>
                  <a:pt x="342900" y="0"/>
                </a:lnTo>
                <a:lnTo>
                  <a:pt x="404523" y="3070"/>
                </a:lnTo>
                <a:lnTo>
                  <a:pt x="462526" y="11924"/>
                </a:lnTo>
                <a:lnTo>
                  <a:pt x="515940" y="26020"/>
                </a:lnTo>
                <a:lnTo>
                  <a:pt x="563796" y="44821"/>
                </a:lnTo>
                <a:lnTo>
                  <a:pt x="605123" y="67785"/>
                </a:lnTo>
                <a:lnTo>
                  <a:pt x="638954" y="94375"/>
                </a:lnTo>
                <a:lnTo>
                  <a:pt x="664319" y="124050"/>
                </a:lnTo>
                <a:lnTo>
                  <a:pt x="685774" y="190500"/>
                </a:lnTo>
                <a:lnTo>
                  <a:pt x="680249" y="224728"/>
                </a:lnTo>
                <a:lnTo>
                  <a:pt x="638954" y="286624"/>
                </a:lnTo>
                <a:lnTo>
                  <a:pt x="605123" y="313214"/>
                </a:lnTo>
                <a:lnTo>
                  <a:pt x="563796" y="336178"/>
                </a:lnTo>
                <a:lnTo>
                  <a:pt x="515940" y="354979"/>
                </a:lnTo>
                <a:lnTo>
                  <a:pt x="462526" y="369075"/>
                </a:lnTo>
                <a:lnTo>
                  <a:pt x="404523" y="377929"/>
                </a:lnTo>
                <a:lnTo>
                  <a:pt x="342900" y="381000"/>
                </a:lnTo>
                <a:lnTo>
                  <a:pt x="281262" y="377929"/>
                </a:lnTo>
                <a:lnTo>
                  <a:pt x="223249" y="369075"/>
                </a:lnTo>
                <a:lnTo>
                  <a:pt x="169830" y="354979"/>
                </a:lnTo>
                <a:lnTo>
                  <a:pt x="121972" y="336178"/>
                </a:lnTo>
                <a:lnTo>
                  <a:pt x="80644" y="313214"/>
                </a:lnTo>
                <a:lnTo>
                  <a:pt x="46815" y="286624"/>
                </a:lnTo>
                <a:lnTo>
                  <a:pt x="21452" y="256949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29" name="Google Shape;1429;p94"/>
          <p:cNvSpPr/>
          <p:nvPr/>
        </p:nvSpPr>
        <p:spPr>
          <a:xfrm>
            <a:off x="773836" y="4191000"/>
            <a:ext cx="685800" cy="381000"/>
          </a:xfrm>
          <a:custGeom>
            <a:avLst/>
            <a:gdLst/>
            <a:ahLst/>
            <a:cxnLst/>
            <a:rect l="l" t="t" r="r" b="b"/>
            <a:pathLst>
              <a:path w="685800" h="381000" extrusionOk="0">
                <a:moveTo>
                  <a:pt x="0" y="190500"/>
                </a:moveTo>
                <a:lnTo>
                  <a:pt x="21452" y="124050"/>
                </a:lnTo>
                <a:lnTo>
                  <a:pt x="46815" y="94375"/>
                </a:lnTo>
                <a:lnTo>
                  <a:pt x="80644" y="67785"/>
                </a:lnTo>
                <a:lnTo>
                  <a:pt x="121972" y="44821"/>
                </a:lnTo>
                <a:lnTo>
                  <a:pt x="169830" y="26020"/>
                </a:lnTo>
                <a:lnTo>
                  <a:pt x="223249" y="11924"/>
                </a:lnTo>
                <a:lnTo>
                  <a:pt x="281262" y="3070"/>
                </a:lnTo>
                <a:lnTo>
                  <a:pt x="342900" y="0"/>
                </a:lnTo>
                <a:lnTo>
                  <a:pt x="404523" y="3070"/>
                </a:lnTo>
                <a:lnTo>
                  <a:pt x="462526" y="11924"/>
                </a:lnTo>
                <a:lnTo>
                  <a:pt x="515940" y="26020"/>
                </a:lnTo>
                <a:lnTo>
                  <a:pt x="563796" y="44821"/>
                </a:lnTo>
                <a:lnTo>
                  <a:pt x="605123" y="67785"/>
                </a:lnTo>
                <a:lnTo>
                  <a:pt x="638954" y="94375"/>
                </a:lnTo>
                <a:lnTo>
                  <a:pt x="664319" y="124050"/>
                </a:lnTo>
                <a:lnTo>
                  <a:pt x="685774" y="190500"/>
                </a:lnTo>
                <a:lnTo>
                  <a:pt x="680249" y="224728"/>
                </a:lnTo>
                <a:lnTo>
                  <a:pt x="638954" y="286624"/>
                </a:lnTo>
                <a:lnTo>
                  <a:pt x="605123" y="313214"/>
                </a:lnTo>
                <a:lnTo>
                  <a:pt x="563796" y="336178"/>
                </a:lnTo>
                <a:lnTo>
                  <a:pt x="515940" y="354979"/>
                </a:lnTo>
                <a:lnTo>
                  <a:pt x="462526" y="369075"/>
                </a:lnTo>
                <a:lnTo>
                  <a:pt x="404523" y="377929"/>
                </a:lnTo>
                <a:lnTo>
                  <a:pt x="342900" y="381000"/>
                </a:lnTo>
                <a:lnTo>
                  <a:pt x="281262" y="377929"/>
                </a:lnTo>
                <a:lnTo>
                  <a:pt x="223249" y="369075"/>
                </a:lnTo>
                <a:lnTo>
                  <a:pt x="169830" y="354979"/>
                </a:lnTo>
                <a:lnTo>
                  <a:pt x="121972" y="336178"/>
                </a:lnTo>
                <a:lnTo>
                  <a:pt x="80644" y="313214"/>
                </a:lnTo>
                <a:lnTo>
                  <a:pt x="46815" y="286624"/>
                </a:lnTo>
                <a:lnTo>
                  <a:pt x="21452" y="256949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30" name="Google Shape;1430;p94"/>
          <p:cNvSpPr txBox="1"/>
          <p:nvPr/>
        </p:nvSpPr>
        <p:spPr>
          <a:xfrm>
            <a:off x="833119" y="3112134"/>
            <a:ext cx="2172335" cy="308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954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59512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86155" marR="0" lvl="0" indent="0" algn="ctr" rtl="0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Enrolment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1593215" lvl="0" indent="0" algn="ctr" rtl="0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501015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59385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84885" marR="0" lvl="0" indent="0" algn="ctr" rtl="0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1595120" lvl="0" indent="0" algn="ctr" rtl="0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p94"/>
          <p:cNvSpPr/>
          <p:nvPr/>
        </p:nvSpPr>
        <p:spPr>
          <a:xfrm>
            <a:off x="1469136" y="3771900"/>
            <a:ext cx="285750" cy="304800"/>
          </a:xfrm>
          <a:custGeom>
            <a:avLst/>
            <a:gdLst/>
            <a:ahLst/>
            <a:cxnLst/>
            <a:rect l="l" t="t" r="r" b="b"/>
            <a:pathLst>
              <a:path w="285750" h="304800" extrusionOk="0">
                <a:moveTo>
                  <a:pt x="0" y="0"/>
                </a:moveTo>
                <a:lnTo>
                  <a:pt x="285750" y="3048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32" name="Google Shape;1432;p94"/>
          <p:cNvSpPr/>
          <p:nvPr/>
        </p:nvSpPr>
        <p:spPr>
          <a:xfrm>
            <a:off x="1469136" y="4076700"/>
            <a:ext cx="285750" cy="304800"/>
          </a:xfrm>
          <a:custGeom>
            <a:avLst/>
            <a:gdLst/>
            <a:ahLst/>
            <a:cxnLst/>
            <a:rect l="l" t="t" r="r" b="b"/>
            <a:pathLst>
              <a:path w="285750" h="304800" extrusionOk="0">
                <a:moveTo>
                  <a:pt x="0" y="304800"/>
                </a:moveTo>
                <a:lnTo>
                  <a:pt x="28575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33" name="Google Shape;1433;p94"/>
          <p:cNvSpPr/>
          <p:nvPr/>
        </p:nvSpPr>
        <p:spPr>
          <a:xfrm>
            <a:off x="1469136" y="5448300"/>
            <a:ext cx="361950" cy="304800"/>
          </a:xfrm>
          <a:custGeom>
            <a:avLst/>
            <a:gdLst/>
            <a:ahLst/>
            <a:cxnLst/>
            <a:rect l="l" t="t" r="r" b="b"/>
            <a:pathLst>
              <a:path w="361950" h="304800" extrusionOk="0">
                <a:moveTo>
                  <a:pt x="0" y="0"/>
                </a:moveTo>
                <a:lnTo>
                  <a:pt x="361950" y="3048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34" name="Google Shape;1434;p94"/>
          <p:cNvSpPr/>
          <p:nvPr/>
        </p:nvSpPr>
        <p:spPr>
          <a:xfrm>
            <a:off x="1469136" y="5753100"/>
            <a:ext cx="361950" cy="304800"/>
          </a:xfrm>
          <a:custGeom>
            <a:avLst/>
            <a:gdLst/>
            <a:ahLst/>
            <a:cxnLst/>
            <a:rect l="l" t="t" r="r" b="b"/>
            <a:pathLst>
              <a:path w="361950" h="304800" extrusionOk="0">
                <a:moveTo>
                  <a:pt x="0" y="304800"/>
                </a:moveTo>
                <a:lnTo>
                  <a:pt x="36195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35" name="Google Shape;1435;p94"/>
          <p:cNvSpPr/>
          <p:nvPr/>
        </p:nvSpPr>
        <p:spPr>
          <a:xfrm>
            <a:off x="1469136" y="2400300"/>
            <a:ext cx="361950" cy="304800"/>
          </a:xfrm>
          <a:custGeom>
            <a:avLst/>
            <a:gdLst/>
            <a:ahLst/>
            <a:cxnLst/>
            <a:rect l="l" t="t" r="r" b="b"/>
            <a:pathLst>
              <a:path w="361950" h="304800" extrusionOk="0">
                <a:moveTo>
                  <a:pt x="0" y="304800"/>
                </a:moveTo>
                <a:lnTo>
                  <a:pt x="36195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36" name="Google Shape;1436;p94"/>
          <p:cNvSpPr/>
          <p:nvPr/>
        </p:nvSpPr>
        <p:spPr>
          <a:xfrm>
            <a:off x="1469136" y="2095500"/>
            <a:ext cx="361950" cy="304800"/>
          </a:xfrm>
          <a:custGeom>
            <a:avLst/>
            <a:gdLst/>
            <a:ahLst/>
            <a:cxnLst/>
            <a:rect l="l" t="t" r="r" b="b"/>
            <a:pathLst>
              <a:path w="361950" h="304800" extrusionOk="0">
                <a:moveTo>
                  <a:pt x="0" y="0"/>
                </a:moveTo>
                <a:lnTo>
                  <a:pt x="361950" y="3048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37" name="Google Shape;1437;p94"/>
          <p:cNvSpPr/>
          <p:nvPr/>
        </p:nvSpPr>
        <p:spPr>
          <a:xfrm>
            <a:off x="3153155" y="5538215"/>
            <a:ext cx="1008888" cy="47548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38" name="Google Shape;1438;p94"/>
          <p:cNvSpPr/>
          <p:nvPr/>
        </p:nvSpPr>
        <p:spPr>
          <a:xfrm>
            <a:off x="3200400" y="5562600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 extrusionOk="0">
                <a:moveTo>
                  <a:pt x="190500" y="0"/>
                </a:moveTo>
                <a:lnTo>
                  <a:pt x="0" y="190500"/>
                </a:lnTo>
                <a:lnTo>
                  <a:pt x="190500" y="381000"/>
                </a:lnTo>
                <a:lnTo>
                  <a:pt x="190500" y="285750"/>
                </a:lnTo>
                <a:lnTo>
                  <a:pt x="914400" y="285750"/>
                </a:lnTo>
                <a:lnTo>
                  <a:pt x="914400" y="95250"/>
                </a:lnTo>
                <a:lnTo>
                  <a:pt x="190500" y="95250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39" name="Google Shape;1439;p94"/>
          <p:cNvSpPr/>
          <p:nvPr/>
        </p:nvSpPr>
        <p:spPr>
          <a:xfrm>
            <a:off x="3200400" y="5562600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 extrusionOk="0">
                <a:moveTo>
                  <a:pt x="0" y="190500"/>
                </a:moveTo>
                <a:lnTo>
                  <a:pt x="190500" y="0"/>
                </a:lnTo>
                <a:lnTo>
                  <a:pt x="190500" y="95250"/>
                </a:lnTo>
                <a:lnTo>
                  <a:pt x="914400" y="95250"/>
                </a:lnTo>
                <a:lnTo>
                  <a:pt x="914400" y="285750"/>
                </a:lnTo>
                <a:lnTo>
                  <a:pt x="190500" y="285750"/>
                </a:lnTo>
                <a:lnTo>
                  <a:pt x="190500" y="381000"/>
                </a:lnTo>
                <a:lnTo>
                  <a:pt x="0" y="190500"/>
                </a:lnTo>
                <a:close/>
              </a:path>
            </a:pathLst>
          </a:custGeom>
          <a:noFill/>
          <a:ln w="9525" cap="flat" cmpd="sng">
            <a:solidFill>
              <a:srgbClr val="CCB6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9325533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9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792604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Debugging Designs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1444" name="Google Shape;1444;p9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41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46" name="Google Shape;1446;p95"/>
          <p:cNvSpPr txBox="1"/>
          <p:nvPr/>
        </p:nvSpPr>
        <p:spPr>
          <a:xfrm>
            <a:off x="3859148" y="1625346"/>
            <a:ext cx="4532630" cy="248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27685" marR="238759" lvl="0" indent="-51498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instance of Module  with the title ‘Database  Systems’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7685" marR="5080" lvl="0" indent="-514983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instances of the  Enrolment entity with the  same Code as the result of (1)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95"/>
          <p:cNvSpPr/>
          <p:nvPr/>
        </p:nvSpPr>
        <p:spPr>
          <a:xfrm>
            <a:off x="1764410" y="3810000"/>
            <a:ext cx="1295400" cy="533400"/>
          </a:xfrm>
          <a:custGeom>
            <a:avLst/>
            <a:gdLst/>
            <a:ahLst/>
            <a:cxnLst/>
            <a:rect l="l" t="t" r="r" b="b"/>
            <a:pathLst>
              <a:path w="1295400" h="533400" extrusionOk="0">
                <a:moveTo>
                  <a:pt x="0" y="88900"/>
                </a:moveTo>
                <a:lnTo>
                  <a:pt x="6996" y="54274"/>
                </a:lnTo>
                <a:lnTo>
                  <a:pt x="26066" y="26019"/>
                </a:lnTo>
                <a:lnTo>
                  <a:pt x="54328" y="6979"/>
                </a:lnTo>
                <a:lnTo>
                  <a:pt x="88900" y="0"/>
                </a:lnTo>
                <a:lnTo>
                  <a:pt x="1206500" y="0"/>
                </a:lnTo>
                <a:lnTo>
                  <a:pt x="1241125" y="6979"/>
                </a:lnTo>
                <a:lnTo>
                  <a:pt x="1269380" y="26019"/>
                </a:lnTo>
                <a:lnTo>
                  <a:pt x="1288420" y="54274"/>
                </a:lnTo>
                <a:lnTo>
                  <a:pt x="1295400" y="88900"/>
                </a:lnTo>
                <a:lnTo>
                  <a:pt x="1295400" y="444500"/>
                </a:lnTo>
                <a:lnTo>
                  <a:pt x="1288420" y="479125"/>
                </a:lnTo>
                <a:lnTo>
                  <a:pt x="1269380" y="507380"/>
                </a:lnTo>
                <a:lnTo>
                  <a:pt x="1241125" y="526420"/>
                </a:lnTo>
                <a:lnTo>
                  <a:pt x="1206500" y="533400"/>
                </a:lnTo>
                <a:lnTo>
                  <a:pt x="88900" y="533400"/>
                </a:lnTo>
                <a:lnTo>
                  <a:pt x="54328" y="526420"/>
                </a:lnTo>
                <a:lnTo>
                  <a:pt x="26066" y="507380"/>
                </a:lnTo>
                <a:lnTo>
                  <a:pt x="6996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48" name="Google Shape;1448;p95"/>
          <p:cNvSpPr txBox="1"/>
          <p:nvPr/>
        </p:nvSpPr>
        <p:spPr>
          <a:xfrm>
            <a:off x="1819782" y="3918077"/>
            <a:ext cx="1185545" cy="315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Enrolment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p95"/>
          <p:cNvSpPr/>
          <p:nvPr/>
        </p:nvSpPr>
        <p:spPr>
          <a:xfrm>
            <a:off x="1840610" y="2133600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 extrusionOk="0">
                <a:moveTo>
                  <a:pt x="0" y="88900"/>
                </a:moveTo>
                <a:lnTo>
                  <a:pt x="6996" y="54274"/>
                </a:lnTo>
                <a:lnTo>
                  <a:pt x="26066" y="26019"/>
                </a:lnTo>
                <a:lnTo>
                  <a:pt x="54328" y="6979"/>
                </a:lnTo>
                <a:lnTo>
                  <a:pt x="88900" y="0"/>
                </a:lnTo>
                <a:lnTo>
                  <a:pt x="1054100" y="0"/>
                </a:lnTo>
                <a:lnTo>
                  <a:pt x="1088725" y="6979"/>
                </a:lnTo>
                <a:lnTo>
                  <a:pt x="1116980" y="26019"/>
                </a:lnTo>
                <a:lnTo>
                  <a:pt x="1136020" y="54274"/>
                </a:lnTo>
                <a:lnTo>
                  <a:pt x="1143000" y="88900"/>
                </a:lnTo>
                <a:lnTo>
                  <a:pt x="1143000" y="444500"/>
                </a:lnTo>
                <a:lnTo>
                  <a:pt x="1136020" y="479125"/>
                </a:lnTo>
                <a:lnTo>
                  <a:pt x="1116980" y="507380"/>
                </a:lnTo>
                <a:lnTo>
                  <a:pt x="1088725" y="526420"/>
                </a:lnTo>
                <a:lnTo>
                  <a:pt x="1054100" y="533400"/>
                </a:lnTo>
                <a:lnTo>
                  <a:pt x="88900" y="533400"/>
                </a:lnTo>
                <a:lnTo>
                  <a:pt x="54328" y="526420"/>
                </a:lnTo>
                <a:lnTo>
                  <a:pt x="26066" y="507380"/>
                </a:lnTo>
                <a:lnTo>
                  <a:pt x="6996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50" name="Google Shape;1450;p95"/>
          <p:cNvSpPr txBox="1"/>
          <p:nvPr/>
        </p:nvSpPr>
        <p:spPr>
          <a:xfrm>
            <a:off x="1961514" y="2241422"/>
            <a:ext cx="903605" cy="315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p95"/>
          <p:cNvSpPr/>
          <p:nvPr/>
        </p:nvSpPr>
        <p:spPr>
          <a:xfrm>
            <a:off x="1840610" y="5486400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 extrusionOk="0">
                <a:moveTo>
                  <a:pt x="0" y="88900"/>
                </a:moveTo>
                <a:lnTo>
                  <a:pt x="6996" y="54274"/>
                </a:lnTo>
                <a:lnTo>
                  <a:pt x="26066" y="26019"/>
                </a:lnTo>
                <a:lnTo>
                  <a:pt x="54328" y="6979"/>
                </a:lnTo>
                <a:lnTo>
                  <a:pt x="88900" y="0"/>
                </a:lnTo>
                <a:lnTo>
                  <a:pt x="1054100" y="0"/>
                </a:lnTo>
                <a:lnTo>
                  <a:pt x="1088725" y="6979"/>
                </a:lnTo>
                <a:lnTo>
                  <a:pt x="1116980" y="26019"/>
                </a:lnTo>
                <a:lnTo>
                  <a:pt x="1136020" y="54274"/>
                </a:lnTo>
                <a:lnTo>
                  <a:pt x="1143000" y="88900"/>
                </a:lnTo>
                <a:lnTo>
                  <a:pt x="1143000" y="444500"/>
                </a:lnTo>
                <a:lnTo>
                  <a:pt x="1136020" y="479103"/>
                </a:lnTo>
                <a:lnTo>
                  <a:pt x="1116980" y="507361"/>
                </a:lnTo>
                <a:lnTo>
                  <a:pt x="1088725" y="526413"/>
                </a:lnTo>
                <a:lnTo>
                  <a:pt x="1054100" y="533400"/>
                </a:lnTo>
                <a:lnTo>
                  <a:pt x="88900" y="533400"/>
                </a:lnTo>
                <a:lnTo>
                  <a:pt x="54328" y="526413"/>
                </a:lnTo>
                <a:lnTo>
                  <a:pt x="26066" y="507361"/>
                </a:lnTo>
                <a:lnTo>
                  <a:pt x="6996" y="479103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52" name="Google Shape;1452;p95"/>
          <p:cNvSpPr/>
          <p:nvPr/>
        </p:nvSpPr>
        <p:spPr>
          <a:xfrm>
            <a:off x="1916810" y="4648200"/>
            <a:ext cx="990600" cy="533400"/>
          </a:xfrm>
          <a:custGeom>
            <a:avLst/>
            <a:gdLst/>
            <a:ahLst/>
            <a:cxnLst/>
            <a:rect l="l" t="t" r="r" b="b"/>
            <a:pathLst>
              <a:path w="990600" h="533400" extrusionOk="0">
                <a:moveTo>
                  <a:pt x="0" y="266700"/>
                </a:moveTo>
                <a:lnTo>
                  <a:pt x="495300" y="0"/>
                </a:lnTo>
                <a:lnTo>
                  <a:pt x="990600" y="266700"/>
                </a:lnTo>
                <a:lnTo>
                  <a:pt x="495300" y="533400"/>
                </a:lnTo>
                <a:lnTo>
                  <a:pt x="0" y="2667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53" name="Google Shape;1453;p95"/>
          <p:cNvSpPr/>
          <p:nvPr/>
        </p:nvSpPr>
        <p:spPr>
          <a:xfrm>
            <a:off x="1916810" y="2971800"/>
            <a:ext cx="990600" cy="533400"/>
          </a:xfrm>
          <a:custGeom>
            <a:avLst/>
            <a:gdLst/>
            <a:ahLst/>
            <a:cxnLst/>
            <a:rect l="l" t="t" r="r" b="b"/>
            <a:pathLst>
              <a:path w="990600" h="533400" extrusionOk="0">
                <a:moveTo>
                  <a:pt x="0" y="266700"/>
                </a:moveTo>
                <a:lnTo>
                  <a:pt x="495300" y="0"/>
                </a:lnTo>
                <a:lnTo>
                  <a:pt x="990600" y="266700"/>
                </a:lnTo>
                <a:lnTo>
                  <a:pt x="495300" y="533400"/>
                </a:lnTo>
                <a:lnTo>
                  <a:pt x="0" y="2667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54" name="Google Shape;1454;p95"/>
          <p:cNvSpPr txBox="1"/>
          <p:nvPr/>
        </p:nvSpPr>
        <p:spPr>
          <a:xfrm>
            <a:off x="2219960" y="3112134"/>
            <a:ext cx="386080" cy="254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Google Shape;1455;p95"/>
          <p:cNvSpPr/>
          <p:nvPr/>
        </p:nvSpPr>
        <p:spPr>
          <a:xfrm>
            <a:off x="2412110" y="2667000"/>
            <a:ext cx="0" cy="304800"/>
          </a:xfrm>
          <a:custGeom>
            <a:avLst/>
            <a:gdLst/>
            <a:ahLst/>
            <a:cxnLst/>
            <a:rect l="l" t="t" r="r" b="b"/>
            <a:pathLst>
              <a:path w="120000" h="304800" extrusionOk="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56" name="Google Shape;1456;p95"/>
          <p:cNvSpPr/>
          <p:nvPr/>
        </p:nvSpPr>
        <p:spPr>
          <a:xfrm>
            <a:off x="2412110" y="3505200"/>
            <a:ext cx="0" cy="304800"/>
          </a:xfrm>
          <a:custGeom>
            <a:avLst/>
            <a:gdLst/>
            <a:ahLst/>
            <a:cxnLst/>
            <a:rect l="l" t="t" r="r" b="b"/>
            <a:pathLst>
              <a:path w="120000" h="304800" extrusionOk="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57" name="Google Shape;1457;p95"/>
          <p:cNvSpPr/>
          <p:nvPr/>
        </p:nvSpPr>
        <p:spPr>
          <a:xfrm>
            <a:off x="2412110" y="4343400"/>
            <a:ext cx="0" cy="304800"/>
          </a:xfrm>
          <a:custGeom>
            <a:avLst/>
            <a:gdLst/>
            <a:ahLst/>
            <a:cxnLst/>
            <a:rect l="l" t="t" r="r" b="b"/>
            <a:pathLst>
              <a:path w="120000" h="304800" extrusionOk="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58" name="Google Shape;1458;p95"/>
          <p:cNvSpPr/>
          <p:nvPr/>
        </p:nvSpPr>
        <p:spPr>
          <a:xfrm>
            <a:off x="2412110" y="5181600"/>
            <a:ext cx="0" cy="304800"/>
          </a:xfrm>
          <a:custGeom>
            <a:avLst/>
            <a:gdLst/>
            <a:ahLst/>
            <a:cxnLst/>
            <a:rect l="l" t="t" r="r" b="b"/>
            <a:pathLst>
              <a:path w="120000" h="304800" extrusionOk="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59" name="Google Shape;1459;p95"/>
          <p:cNvSpPr/>
          <p:nvPr/>
        </p:nvSpPr>
        <p:spPr>
          <a:xfrm>
            <a:off x="2297810" y="4343400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 extrusionOk="0">
                <a:moveTo>
                  <a:pt x="228600" y="0"/>
                </a:moveTo>
                <a:lnTo>
                  <a:pt x="222772" y="48182"/>
                </a:lnTo>
                <a:lnTo>
                  <a:pt x="206544" y="90019"/>
                </a:lnTo>
                <a:lnTo>
                  <a:pt x="181801" y="123005"/>
                </a:lnTo>
                <a:lnTo>
                  <a:pt x="150424" y="144633"/>
                </a:lnTo>
                <a:lnTo>
                  <a:pt x="114300" y="152400"/>
                </a:lnTo>
                <a:lnTo>
                  <a:pt x="78236" y="144646"/>
                </a:lnTo>
                <a:lnTo>
                  <a:pt x="46890" y="123049"/>
                </a:lnTo>
                <a:lnTo>
                  <a:pt x="22146" y="90101"/>
                </a:lnTo>
                <a:lnTo>
                  <a:pt x="5888" y="48296"/>
                </a:lnTo>
                <a:lnTo>
                  <a:pt x="0" y="126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60" name="Google Shape;1460;p95"/>
          <p:cNvSpPr/>
          <p:nvPr/>
        </p:nvSpPr>
        <p:spPr>
          <a:xfrm>
            <a:off x="2297810" y="3657600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 extrusionOk="0">
                <a:moveTo>
                  <a:pt x="228600" y="152400"/>
                </a:moveTo>
                <a:lnTo>
                  <a:pt x="222772" y="104217"/>
                </a:lnTo>
                <a:lnTo>
                  <a:pt x="206544" y="62380"/>
                </a:lnTo>
                <a:lnTo>
                  <a:pt x="181801" y="29394"/>
                </a:lnTo>
                <a:lnTo>
                  <a:pt x="150424" y="7766"/>
                </a:lnTo>
                <a:lnTo>
                  <a:pt x="114300" y="0"/>
                </a:lnTo>
                <a:lnTo>
                  <a:pt x="78236" y="7753"/>
                </a:lnTo>
                <a:lnTo>
                  <a:pt x="46890" y="29350"/>
                </a:lnTo>
                <a:lnTo>
                  <a:pt x="22146" y="62298"/>
                </a:lnTo>
                <a:lnTo>
                  <a:pt x="5888" y="104103"/>
                </a:lnTo>
                <a:lnTo>
                  <a:pt x="0" y="152273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61" name="Google Shape;1461;p95"/>
          <p:cNvSpPr/>
          <p:nvPr/>
        </p:nvSpPr>
        <p:spPr>
          <a:xfrm>
            <a:off x="773836" y="1905000"/>
            <a:ext cx="685800" cy="381000"/>
          </a:xfrm>
          <a:custGeom>
            <a:avLst/>
            <a:gdLst/>
            <a:ahLst/>
            <a:cxnLst/>
            <a:rect l="l" t="t" r="r" b="b"/>
            <a:pathLst>
              <a:path w="685800" h="381000" extrusionOk="0">
                <a:moveTo>
                  <a:pt x="0" y="190500"/>
                </a:moveTo>
                <a:lnTo>
                  <a:pt x="21452" y="124050"/>
                </a:lnTo>
                <a:lnTo>
                  <a:pt x="46815" y="94375"/>
                </a:lnTo>
                <a:lnTo>
                  <a:pt x="80644" y="67785"/>
                </a:lnTo>
                <a:lnTo>
                  <a:pt x="121972" y="44821"/>
                </a:lnTo>
                <a:lnTo>
                  <a:pt x="169830" y="26020"/>
                </a:lnTo>
                <a:lnTo>
                  <a:pt x="223249" y="11924"/>
                </a:lnTo>
                <a:lnTo>
                  <a:pt x="281262" y="3070"/>
                </a:lnTo>
                <a:lnTo>
                  <a:pt x="342900" y="0"/>
                </a:lnTo>
                <a:lnTo>
                  <a:pt x="404523" y="3070"/>
                </a:lnTo>
                <a:lnTo>
                  <a:pt x="462526" y="11924"/>
                </a:lnTo>
                <a:lnTo>
                  <a:pt x="515940" y="26020"/>
                </a:lnTo>
                <a:lnTo>
                  <a:pt x="563796" y="44821"/>
                </a:lnTo>
                <a:lnTo>
                  <a:pt x="605123" y="67785"/>
                </a:lnTo>
                <a:lnTo>
                  <a:pt x="638954" y="94375"/>
                </a:lnTo>
                <a:lnTo>
                  <a:pt x="664319" y="124050"/>
                </a:lnTo>
                <a:lnTo>
                  <a:pt x="685774" y="190500"/>
                </a:lnTo>
                <a:lnTo>
                  <a:pt x="680249" y="224728"/>
                </a:lnTo>
                <a:lnTo>
                  <a:pt x="638954" y="286624"/>
                </a:lnTo>
                <a:lnTo>
                  <a:pt x="605123" y="313214"/>
                </a:lnTo>
                <a:lnTo>
                  <a:pt x="563796" y="336178"/>
                </a:lnTo>
                <a:lnTo>
                  <a:pt x="515940" y="354979"/>
                </a:lnTo>
                <a:lnTo>
                  <a:pt x="462526" y="369075"/>
                </a:lnTo>
                <a:lnTo>
                  <a:pt x="404523" y="377929"/>
                </a:lnTo>
                <a:lnTo>
                  <a:pt x="342900" y="381000"/>
                </a:lnTo>
                <a:lnTo>
                  <a:pt x="281262" y="377929"/>
                </a:lnTo>
                <a:lnTo>
                  <a:pt x="223249" y="369075"/>
                </a:lnTo>
                <a:lnTo>
                  <a:pt x="169830" y="354979"/>
                </a:lnTo>
                <a:lnTo>
                  <a:pt x="121972" y="336178"/>
                </a:lnTo>
                <a:lnTo>
                  <a:pt x="80644" y="313214"/>
                </a:lnTo>
                <a:lnTo>
                  <a:pt x="46815" y="286624"/>
                </a:lnTo>
                <a:lnTo>
                  <a:pt x="21452" y="256949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62" name="Google Shape;1462;p95"/>
          <p:cNvSpPr txBox="1"/>
          <p:nvPr/>
        </p:nvSpPr>
        <p:spPr>
          <a:xfrm>
            <a:off x="990091" y="1952497"/>
            <a:ext cx="255270" cy="285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p95"/>
          <p:cNvSpPr/>
          <p:nvPr/>
        </p:nvSpPr>
        <p:spPr>
          <a:xfrm>
            <a:off x="773836" y="5257800"/>
            <a:ext cx="685800" cy="381000"/>
          </a:xfrm>
          <a:custGeom>
            <a:avLst/>
            <a:gdLst/>
            <a:ahLst/>
            <a:cxnLst/>
            <a:rect l="l" t="t" r="r" b="b"/>
            <a:pathLst>
              <a:path w="685800" h="381000" extrusionOk="0">
                <a:moveTo>
                  <a:pt x="0" y="190500"/>
                </a:moveTo>
                <a:lnTo>
                  <a:pt x="21452" y="124050"/>
                </a:lnTo>
                <a:lnTo>
                  <a:pt x="46815" y="94375"/>
                </a:lnTo>
                <a:lnTo>
                  <a:pt x="80644" y="67785"/>
                </a:lnTo>
                <a:lnTo>
                  <a:pt x="121972" y="44821"/>
                </a:lnTo>
                <a:lnTo>
                  <a:pt x="169830" y="26020"/>
                </a:lnTo>
                <a:lnTo>
                  <a:pt x="223249" y="11924"/>
                </a:lnTo>
                <a:lnTo>
                  <a:pt x="281262" y="3070"/>
                </a:lnTo>
                <a:lnTo>
                  <a:pt x="342900" y="0"/>
                </a:lnTo>
                <a:lnTo>
                  <a:pt x="404523" y="3070"/>
                </a:lnTo>
                <a:lnTo>
                  <a:pt x="462526" y="11924"/>
                </a:lnTo>
                <a:lnTo>
                  <a:pt x="515940" y="26020"/>
                </a:lnTo>
                <a:lnTo>
                  <a:pt x="563796" y="44821"/>
                </a:lnTo>
                <a:lnTo>
                  <a:pt x="605123" y="67785"/>
                </a:lnTo>
                <a:lnTo>
                  <a:pt x="638954" y="94375"/>
                </a:lnTo>
                <a:lnTo>
                  <a:pt x="664319" y="124050"/>
                </a:lnTo>
                <a:lnTo>
                  <a:pt x="685774" y="190500"/>
                </a:lnTo>
                <a:lnTo>
                  <a:pt x="680249" y="224728"/>
                </a:lnTo>
                <a:lnTo>
                  <a:pt x="638954" y="286624"/>
                </a:lnTo>
                <a:lnTo>
                  <a:pt x="605123" y="313214"/>
                </a:lnTo>
                <a:lnTo>
                  <a:pt x="563796" y="336178"/>
                </a:lnTo>
                <a:lnTo>
                  <a:pt x="515940" y="354979"/>
                </a:lnTo>
                <a:lnTo>
                  <a:pt x="462526" y="369075"/>
                </a:lnTo>
                <a:lnTo>
                  <a:pt x="404523" y="377929"/>
                </a:lnTo>
                <a:lnTo>
                  <a:pt x="342900" y="381000"/>
                </a:lnTo>
                <a:lnTo>
                  <a:pt x="281262" y="377929"/>
                </a:lnTo>
                <a:lnTo>
                  <a:pt x="223249" y="369075"/>
                </a:lnTo>
                <a:lnTo>
                  <a:pt x="169830" y="354979"/>
                </a:lnTo>
                <a:lnTo>
                  <a:pt x="121972" y="336178"/>
                </a:lnTo>
                <a:lnTo>
                  <a:pt x="80644" y="313214"/>
                </a:lnTo>
                <a:lnTo>
                  <a:pt x="46815" y="286624"/>
                </a:lnTo>
                <a:lnTo>
                  <a:pt x="21452" y="256949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64" name="Google Shape;1464;p95"/>
          <p:cNvSpPr/>
          <p:nvPr/>
        </p:nvSpPr>
        <p:spPr>
          <a:xfrm>
            <a:off x="773836" y="5867400"/>
            <a:ext cx="685800" cy="381000"/>
          </a:xfrm>
          <a:custGeom>
            <a:avLst/>
            <a:gdLst/>
            <a:ahLst/>
            <a:cxnLst/>
            <a:rect l="l" t="t" r="r" b="b"/>
            <a:pathLst>
              <a:path w="685800" h="381000" extrusionOk="0">
                <a:moveTo>
                  <a:pt x="0" y="190500"/>
                </a:moveTo>
                <a:lnTo>
                  <a:pt x="21452" y="124029"/>
                </a:lnTo>
                <a:lnTo>
                  <a:pt x="46815" y="94352"/>
                </a:lnTo>
                <a:lnTo>
                  <a:pt x="80644" y="67764"/>
                </a:lnTo>
                <a:lnTo>
                  <a:pt x="121972" y="44804"/>
                </a:lnTo>
                <a:lnTo>
                  <a:pt x="169830" y="26009"/>
                </a:lnTo>
                <a:lnTo>
                  <a:pt x="223249" y="11918"/>
                </a:lnTo>
                <a:lnTo>
                  <a:pt x="281262" y="3069"/>
                </a:lnTo>
                <a:lnTo>
                  <a:pt x="342900" y="0"/>
                </a:lnTo>
                <a:lnTo>
                  <a:pt x="404523" y="3069"/>
                </a:lnTo>
                <a:lnTo>
                  <a:pt x="462526" y="11918"/>
                </a:lnTo>
                <a:lnTo>
                  <a:pt x="515940" y="26009"/>
                </a:lnTo>
                <a:lnTo>
                  <a:pt x="563796" y="44804"/>
                </a:lnTo>
                <a:lnTo>
                  <a:pt x="605123" y="67764"/>
                </a:lnTo>
                <a:lnTo>
                  <a:pt x="638954" y="94352"/>
                </a:lnTo>
                <a:lnTo>
                  <a:pt x="664319" y="124029"/>
                </a:lnTo>
                <a:lnTo>
                  <a:pt x="685774" y="190500"/>
                </a:lnTo>
                <a:lnTo>
                  <a:pt x="680249" y="224741"/>
                </a:lnTo>
                <a:lnTo>
                  <a:pt x="638954" y="286647"/>
                </a:lnTo>
                <a:lnTo>
                  <a:pt x="605123" y="313235"/>
                </a:lnTo>
                <a:lnTo>
                  <a:pt x="563796" y="336195"/>
                </a:lnTo>
                <a:lnTo>
                  <a:pt x="515940" y="354990"/>
                </a:lnTo>
                <a:lnTo>
                  <a:pt x="462526" y="369081"/>
                </a:lnTo>
                <a:lnTo>
                  <a:pt x="404523" y="377930"/>
                </a:lnTo>
                <a:lnTo>
                  <a:pt x="342900" y="381000"/>
                </a:lnTo>
                <a:lnTo>
                  <a:pt x="281262" y="377930"/>
                </a:lnTo>
                <a:lnTo>
                  <a:pt x="223249" y="369081"/>
                </a:lnTo>
                <a:lnTo>
                  <a:pt x="169830" y="354990"/>
                </a:lnTo>
                <a:lnTo>
                  <a:pt x="121972" y="336195"/>
                </a:lnTo>
                <a:lnTo>
                  <a:pt x="80644" y="313235"/>
                </a:lnTo>
                <a:lnTo>
                  <a:pt x="46815" y="286647"/>
                </a:lnTo>
                <a:lnTo>
                  <a:pt x="21452" y="256970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65" name="Google Shape;1465;p95"/>
          <p:cNvSpPr/>
          <p:nvPr/>
        </p:nvSpPr>
        <p:spPr>
          <a:xfrm>
            <a:off x="773836" y="2514600"/>
            <a:ext cx="685800" cy="381000"/>
          </a:xfrm>
          <a:custGeom>
            <a:avLst/>
            <a:gdLst/>
            <a:ahLst/>
            <a:cxnLst/>
            <a:rect l="l" t="t" r="r" b="b"/>
            <a:pathLst>
              <a:path w="685800" h="381000" extrusionOk="0">
                <a:moveTo>
                  <a:pt x="0" y="190500"/>
                </a:moveTo>
                <a:lnTo>
                  <a:pt x="21452" y="124050"/>
                </a:lnTo>
                <a:lnTo>
                  <a:pt x="46815" y="94375"/>
                </a:lnTo>
                <a:lnTo>
                  <a:pt x="80644" y="67785"/>
                </a:lnTo>
                <a:lnTo>
                  <a:pt x="121972" y="44821"/>
                </a:lnTo>
                <a:lnTo>
                  <a:pt x="169830" y="26020"/>
                </a:lnTo>
                <a:lnTo>
                  <a:pt x="223249" y="11924"/>
                </a:lnTo>
                <a:lnTo>
                  <a:pt x="281262" y="3070"/>
                </a:lnTo>
                <a:lnTo>
                  <a:pt x="342900" y="0"/>
                </a:lnTo>
                <a:lnTo>
                  <a:pt x="404523" y="3070"/>
                </a:lnTo>
                <a:lnTo>
                  <a:pt x="462526" y="11924"/>
                </a:lnTo>
                <a:lnTo>
                  <a:pt x="515940" y="26020"/>
                </a:lnTo>
                <a:lnTo>
                  <a:pt x="563796" y="44821"/>
                </a:lnTo>
                <a:lnTo>
                  <a:pt x="605123" y="67785"/>
                </a:lnTo>
                <a:lnTo>
                  <a:pt x="638954" y="94375"/>
                </a:lnTo>
                <a:lnTo>
                  <a:pt x="664319" y="124050"/>
                </a:lnTo>
                <a:lnTo>
                  <a:pt x="685774" y="190500"/>
                </a:lnTo>
                <a:lnTo>
                  <a:pt x="680249" y="224728"/>
                </a:lnTo>
                <a:lnTo>
                  <a:pt x="638954" y="286624"/>
                </a:lnTo>
                <a:lnTo>
                  <a:pt x="605123" y="313214"/>
                </a:lnTo>
                <a:lnTo>
                  <a:pt x="563796" y="336178"/>
                </a:lnTo>
                <a:lnTo>
                  <a:pt x="515940" y="354979"/>
                </a:lnTo>
                <a:lnTo>
                  <a:pt x="462526" y="369075"/>
                </a:lnTo>
                <a:lnTo>
                  <a:pt x="404523" y="377929"/>
                </a:lnTo>
                <a:lnTo>
                  <a:pt x="342900" y="381000"/>
                </a:lnTo>
                <a:lnTo>
                  <a:pt x="281262" y="377929"/>
                </a:lnTo>
                <a:lnTo>
                  <a:pt x="223249" y="369075"/>
                </a:lnTo>
                <a:lnTo>
                  <a:pt x="169830" y="354979"/>
                </a:lnTo>
                <a:lnTo>
                  <a:pt x="121972" y="336178"/>
                </a:lnTo>
                <a:lnTo>
                  <a:pt x="80644" y="313214"/>
                </a:lnTo>
                <a:lnTo>
                  <a:pt x="46815" y="286624"/>
                </a:lnTo>
                <a:lnTo>
                  <a:pt x="21452" y="256949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66" name="Google Shape;1466;p95"/>
          <p:cNvSpPr txBox="1"/>
          <p:nvPr/>
        </p:nvSpPr>
        <p:spPr>
          <a:xfrm>
            <a:off x="801116" y="2562478"/>
            <a:ext cx="634365" cy="285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95"/>
          <p:cNvSpPr/>
          <p:nvPr/>
        </p:nvSpPr>
        <p:spPr>
          <a:xfrm>
            <a:off x="773836" y="3581400"/>
            <a:ext cx="685800" cy="381000"/>
          </a:xfrm>
          <a:custGeom>
            <a:avLst/>
            <a:gdLst/>
            <a:ahLst/>
            <a:cxnLst/>
            <a:rect l="l" t="t" r="r" b="b"/>
            <a:pathLst>
              <a:path w="685800" h="381000" extrusionOk="0">
                <a:moveTo>
                  <a:pt x="0" y="190500"/>
                </a:moveTo>
                <a:lnTo>
                  <a:pt x="21452" y="124050"/>
                </a:lnTo>
                <a:lnTo>
                  <a:pt x="46815" y="94375"/>
                </a:lnTo>
                <a:lnTo>
                  <a:pt x="80644" y="67785"/>
                </a:lnTo>
                <a:lnTo>
                  <a:pt x="121972" y="44821"/>
                </a:lnTo>
                <a:lnTo>
                  <a:pt x="169830" y="26020"/>
                </a:lnTo>
                <a:lnTo>
                  <a:pt x="223249" y="11924"/>
                </a:lnTo>
                <a:lnTo>
                  <a:pt x="281262" y="3070"/>
                </a:lnTo>
                <a:lnTo>
                  <a:pt x="342900" y="0"/>
                </a:lnTo>
                <a:lnTo>
                  <a:pt x="404523" y="3070"/>
                </a:lnTo>
                <a:lnTo>
                  <a:pt x="462526" y="11924"/>
                </a:lnTo>
                <a:lnTo>
                  <a:pt x="515940" y="26020"/>
                </a:lnTo>
                <a:lnTo>
                  <a:pt x="563796" y="44821"/>
                </a:lnTo>
                <a:lnTo>
                  <a:pt x="605123" y="67785"/>
                </a:lnTo>
                <a:lnTo>
                  <a:pt x="638954" y="94375"/>
                </a:lnTo>
                <a:lnTo>
                  <a:pt x="664319" y="124050"/>
                </a:lnTo>
                <a:lnTo>
                  <a:pt x="685774" y="190500"/>
                </a:lnTo>
                <a:lnTo>
                  <a:pt x="680249" y="224728"/>
                </a:lnTo>
                <a:lnTo>
                  <a:pt x="638954" y="286624"/>
                </a:lnTo>
                <a:lnTo>
                  <a:pt x="605123" y="313214"/>
                </a:lnTo>
                <a:lnTo>
                  <a:pt x="563796" y="336178"/>
                </a:lnTo>
                <a:lnTo>
                  <a:pt x="515940" y="354979"/>
                </a:lnTo>
                <a:lnTo>
                  <a:pt x="462526" y="369075"/>
                </a:lnTo>
                <a:lnTo>
                  <a:pt x="404523" y="377929"/>
                </a:lnTo>
                <a:lnTo>
                  <a:pt x="342900" y="381000"/>
                </a:lnTo>
                <a:lnTo>
                  <a:pt x="281262" y="377929"/>
                </a:lnTo>
                <a:lnTo>
                  <a:pt x="223249" y="369075"/>
                </a:lnTo>
                <a:lnTo>
                  <a:pt x="169830" y="354979"/>
                </a:lnTo>
                <a:lnTo>
                  <a:pt x="121972" y="336178"/>
                </a:lnTo>
                <a:lnTo>
                  <a:pt x="80644" y="313214"/>
                </a:lnTo>
                <a:lnTo>
                  <a:pt x="46815" y="286624"/>
                </a:lnTo>
                <a:lnTo>
                  <a:pt x="21452" y="256949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68" name="Google Shape;1468;p95"/>
          <p:cNvSpPr txBox="1"/>
          <p:nvPr/>
        </p:nvSpPr>
        <p:spPr>
          <a:xfrm>
            <a:off x="990091" y="3629279"/>
            <a:ext cx="255270" cy="285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95"/>
          <p:cNvSpPr/>
          <p:nvPr/>
        </p:nvSpPr>
        <p:spPr>
          <a:xfrm>
            <a:off x="773836" y="4191000"/>
            <a:ext cx="685800" cy="381000"/>
          </a:xfrm>
          <a:custGeom>
            <a:avLst/>
            <a:gdLst/>
            <a:ahLst/>
            <a:cxnLst/>
            <a:rect l="l" t="t" r="r" b="b"/>
            <a:pathLst>
              <a:path w="685800" h="381000" extrusionOk="0">
                <a:moveTo>
                  <a:pt x="0" y="190500"/>
                </a:moveTo>
                <a:lnTo>
                  <a:pt x="21452" y="124050"/>
                </a:lnTo>
                <a:lnTo>
                  <a:pt x="46815" y="94375"/>
                </a:lnTo>
                <a:lnTo>
                  <a:pt x="80644" y="67785"/>
                </a:lnTo>
                <a:lnTo>
                  <a:pt x="121972" y="44821"/>
                </a:lnTo>
                <a:lnTo>
                  <a:pt x="169830" y="26020"/>
                </a:lnTo>
                <a:lnTo>
                  <a:pt x="223249" y="11924"/>
                </a:lnTo>
                <a:lnTo>
                  <a:pt x="281262" y="3070"/>
                </a:lnTo>
                <a:lnTo>
                  <a:pt x="342900" y="0"/>
                </a:lnTo>
                <a:lnTo>
                  <a:pt x="404523" y="3070"/>
                </a:lnTo>
                <a:lnTo>
                  <a:pt x="462526" y="11924"/>
                </a:lnTo>
                <a:lnTo>
                  <a:pt x="515940" y="26020"/>
                </a:lnTo>
                <a:lnTo>
                  <a:pt x="563796" y="44821"/>
                </a:lnTo>
                <a:lnTo>
                  <a:pt x="605123" y="67785"/>
                </a:lnTo>
                <a:lnTo>
                  <a:pt x="638954" y="94375"/>
                </a:lnTo>
                <a:lnTo>
                  <a:pt x="664319" y="124050"/>
                </a:lnTo>
                <a:lnTo>
                  <a:pt x="685774" y="190500"/>
                </a:lnTo>
                <a:lnTo>
                  <a:pt x="680249" y="224728"/>
                </a:lnTo>
                <a:lnTo>
                  <a:pt x="638954" y="286624"/>
                </a:lnTo>
                <a:lnTo>
                  <a:pt x="605123" y="313214"/>
                </a:lnTo>
                <a:lnTo>
                  <a:pt x="563796" y="336178"/>
                </a:lnTo>
                <a:lnTo>
                  <a:pt x="515940" y="354979"/>
                </a:lnTo>
                <a:lnTo>
                  <a:pt x="462526" y="369075"/>
                </a:lnTo>
                <a:lnTo>
                  <a:pt x="404523" y="377929"/>
                </a:lnTo>
                <a:lnTo>
                  <a:pt x="342900" y="381000"/>
                </a:lnTo>
                <a:lnTo>
                  <a:pt x="281262" y="377929"/>
                </a:lnTo>
                <a:lnTo>
                  <a:pt x="223249" y="369075"/>
                </a:lnTo>
                <a:lnTo>
                  <a:pt x="169830" y="354979"/>
                </a:lnTo>
                <a:lnTo>
                  <a:pt x="121972" y="336178"/>
                </a:lnTo>
                <a:lnTo>
                  <a:pt x="80644" y="313214"/>
                </a:lnTo>
                <a:lnTo>
                  <a:pt x="46815" y="286624"/>
                </a:lnTo>
                <a:lnTo>
                  <a:pt x="21452" y="256949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70" name="Google Shape;1470;p95"/>
          <p:cNvSpPr txBox="1"/>
          <p:nvPr/>
        </p:nvSpPr>
        <p:spPr>
          <a:xfrm>
            <a:off x="833119" y="4239132"/>
            <a:ext cx="2009775" cy="1961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33782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8080" marR="0" lvl="0" indent="0" algn="ctr" rtl="0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755" marR="0" lvl="0" indent="0" algn="l" rtl="0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95"/>
          <p:cNvSpPr/>
          <p:nvPr/>
        </p:nvSpPr>
        <p:spPr>
          <a:xfrm>
            <a:off x="1469136" y="3771900"/>
            <a:ext cx="285750" cy="304800"/>
          </a:xfrm>
          <a:custGeom>
            <a:avLst/>
            <a:gdLst/>
            <a:ahLst/>
            <a:cxnLst/>
            <a:rect l="l" t="t" r="r" b="b"/>
            <a:pathLst>
              <a:path w="285750" h="304800" extrusionOk="0">
                <a:moveTo>
                  <a:pt x="0" y="0"/>
                </a:moveTo>
                <a:lnTo>
                  <a:pt x="285750" y="3048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72" name="Google Shape;1472;p95"/>
          <p:cNvSpPr/>
          <p:nvPr/>
        </p:nvSpPr>
        <p:spPr>
          <a:xfrm>
            <a:off x="1469136" y="4076700"/>
            <a:ext cx="285750" cy="304800"/>
          </a:xfrm>
          <a:custGeom>
            <a:avLst/>
            <a:gdLst/>
            <a:ahLst/>
            <a:cxnLst/>
            <a:rect l="l" t="t" r="r" b="b"/>
            <a:pathLst>
              <a:path w="285750" h="304800" extrusionOk="0">
                <a:moveTo>
                  <a:pt x="0" y="304800"/>
                </a:moveTo>
                <a:lnTo>
                  <a:pt x="28575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73" name="Google Shape;1473;p95"/>
          <p:cNvSpPr/>
          <p:nvPr/>
        </p:nvSpPr>
        <p:spPr>
          <a:xfrm>
            <a:off x="1469136" y="5448300"/>
            <a:ext cx="361950" cy="304800"/>
          </a:xfrm>
          <a:custGeom>
            <a:avLst/>
            <a:gdLst/>
            <a:ahLst/>
            <a:cxnLst/>
            <a:rect l="l" t="t" r="r" b="b"/>
            <a:pathLst>
              <a:path w="361950" h="304800" extrusionOk="0">
                <a:moveTo>
                  <a:pt x="0" y="0"/>
                </a:moveTo>
                <a:lnTo>
                  <a:pt x="361950" y="3048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74" name="Google Shape;1474;p95"/>
          <p:cNvSpPr/>
          <p:nvPr/>
        </p:nvSpPr>
        <p:spPr>
          <a:xfrm>
            <a:off x="1469136" y="5753100"/>
            <a:ext cx="361950" cy="304800"/>
          </a:xfrm>
          <a:custGeom>
            <a:avLst/>
            <a:gdLst/>
            <a:ahLst/>
            <a:cxnLst/>
            <a:rect l="l" t="t" r="r" b="b"/>
            <a:pathLst>
              <a:path w="361950" h="304800" extrusionOk="0">
                <a:moveTo>
                  <a:pt x="0" y="304800"/>
                </a:moveTo>
                <a:lnTo>
                  <a:pt x="36195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75" name="Google Shape;1475;p95"/>
          <p:cNvSpPr/>
          <p:nvPr/>
        </p:nvSpPr>
        <p:spPr>
          <a:xfrm>
            <a:off x="1469136" y="2400300"/>
            <a:ext cx="361950" cy="304800"/>
          </a:xfrm>
          <a:custGeom>
            <a:avLst/>
            <a:gdLst/>
            <a:ahLst/>
            <a:cxnLst/>
            <a:rect l="l" t="t" r="r" b="b"/>
            <a:pathLst>
              <a:path w="361950" h="304800" extrusionOk="0">
                <a:moveTo>
                  <a:pt x="0" y="304800"/>
                </a:moveTo>
                <a:lnTo>
                  <a:pt x="36195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76" name="Google Shape;1476;p95"/>
          <p:cNvSpPr/>
          <p:nvPr/>
        </p:nvSpPr>
        <p:spPr>
          <a:xfrm>
            <a:off x="1469136" y="2095500"/>
            <a:ext cx="361950" cy="304800"/>
          </a:xfrm>
          <a:custGeom>
            <a:avLst/>
            <a:gdLst/>
            <a:ahLst/>
            <a:cxnLst/>
            <a:rect l="l" t="t" r="r" b="b"/>
            <a:pathLst>
              <a:path w="361950" h="304800" extrusionOk="0">
                <a:moveTo>
                  <a:pt x="0" y="0"/>
                </a:moveTo>
                <a:lnTo>
                  <a:pt x="361950" y="3048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77" name="Google Shape;1477;p95"/>
          <p:cNvSpPr/>
          <p:nvPr/>
        </p:nvSpPr>
        <p:spPr>
          <a:xfrm>
            <a:off x="3229355" y="3861815"/>
            <a:ext cx="1008888" cy="47548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78" name="Google Shape;1478;p95"/>
          <p:cNvSpPr/>
          <p:nvPr/>
        </p:nvSpPr>
        <p:spPr>
          <a:xfrm>
            <a:off x="3276600" y="3886200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 extrusionOk="0">
                <a:moveTo>
                  <a:pt x="190500" y="0"/>
                </a:moveTo>
                <a:lnTo>
                  <a:pt x="0" y="190500"/>
                </a:lnTo>
                <a:lnTo>
                  <a:pt x="190500" y="381000"/>
                </a:lnTo>
                <a:lnTo>
                  <a:pt x="190500" y="285750"/>
                </a:lnTo>
                <a:lnTo>
                  <a:pt x="914400" y="285750"/>
                </a:lnTo>
                <a:lnTo>
                  <a:pt x="914400" y="95250"/>
                </a:lnTo>
                <a:lnTo>
                  <a:pt x="190500" y="95250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79" name="Google Shape;1479;p95"/>
          <p:cNvSpPr/>
          <p:nvPr/>
        </p:nvSpPr>
        <p:spPr>
          <a:xfrm>
            <a:off x="3276600" y="3886200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 extrusionOk="0">
                <a:moveTo>
                  <a:pt x="0" y="190500"/>
                </a:moveTo>
                <a:lnTo>
                  <a:pt x="190500" y="0"/>
                </a:lnTo>
                <a:lnTo>
                  <a:pt x="190500" y="95250"/>
                </a:lnTo>
                <a:lnTo>
                  <a:pt x="914400" y="95250"/>
                </a:lnTo>
                <a:lnTo>
                  <a:pt x="914400" y="285750"/>
                </a:lnTo>
                <a:lnTo>
                  <a:pt x="190500" y="285750"/>
                </a:lnTo>
                <a:lnTo>
                  <a:pt x="190500" y="381000"/>
                </a:lnTo>
                <a:lnTo>
                  <a:pt x="0" y="190500"/>
                </a:lnTo>
                <a:close/>
              </a:path>
            </a:pathLst>
          </a:custGeom>
          <a:noFill/>
          <a:ln w="9525" cap="flat" cmpd="sng">
            <a:solidFill>
              <a:srgbClr val="CCB6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6311954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9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792604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Debugging Designs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1484" name="Google Shape;1484;p9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42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86" name="Google Shape;1486;p96"/>
          <p:cNvSpPr txBox="1"/>
          <p:nvPr/>
        </p:nvSpPr>
        <p:spPr>
          <a:xfrm>
            <a:off x="3859148" y="1625346"/>
            <a:ext cx="4711065" cy="375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27685" marR="417194" lvl="0" indent="-51498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instance of Module  with the title ‘Database  Systems’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7685" marR="182880" lvl="0" indent="-514983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instances of the  Enrolment entity with the  same Code as the result of (1)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7685" marR="5080" lvl="0" indent="-514983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instance of Enrolment  in the result of (2) find the  corresponding student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96"/>
          <p:cNvSpPr/>
          <p:nvPr/>
        </p:nvSpPr>
        <p:spPr>
          <a:xfrm>
            <a:off x="1764410" y="3810000"/>
            <a:ext cx="1295400" cy="533400"/>
          </a:xfrm>
          <a:custGeom>
            <a:avLst/>
            <a:gdLst/>
            <a:ahLst/>
            <a:cxnLst/>
            <a:rect l="l" t="t" r="r" b="b"/>
            <a:pathLst>
              <a:path w="1295400" h="533400" extrusionOk="0">
                <a:moveTo>
                  <a:pt x="0" y="88900"/>
                </a:moveTo>
                <a:lnTo>
                  <a:pt x="6996" y="54274"/>
                </a:lnTo>
                <a:lnTo>
                  <a:pt x="26066" y="26019"/>
                </a:lnTo>
                <a:lnTo>
                  <a:pt x="54328" y="6979"/>
                </a:lnTo>
                <a:lnTo>
                  <a:pt x="88900" y="0"/>
                </a:lnTo>
                <a:lnTo>
                  <a:pt x="1206500" y="0"/>
                </a:lnTo>
                <a:lnTo>
                  <a:pt x="1241125" y="6979"/>
                </a:lnTo>
                <a:lnTo>
                  <a:pt x="1269380" y="26019"/>
                </a:lnTo>
                <a:lnTo>
                  <a:pt x="1288420" y="54274"/>
                </a:lnTo>
                <a:lnTo>
                  <a:pt x="1295400" y="88900"/>
                </a:lnTo>
                <a:lnTo>
                  <a:pt x="1295400" y="444500"/>
                </a:lnTo>
                <a:lnTo>
                  <a:pt x="1288420" y="479125"/>
                </a:lnTo>
                <a:lnTo>
                  <a:pt x="1269380" y="507380"/>
                </a:lnTo>
                <a:lnTo>
                  <a:pt x="1241125" y="526420"/>
                </a:lnTo>
                <a:lnTo>
                  <a:pt x="1206500" y="533400"/>
                </a:lnTo>
                <a:lnTo>
                  <a:pt x="88900" y="533400"/>
                </a:lnTo>
                <a:lnTo>
                  <a:pt x="54328" y="526420"/>
                </a:lnTo>
                <a:lnTo>
                  <a:pt x="26066" y="507380"/>
                </a:lnTo>
                <a:lnTo>
                  <a:pt x="6996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88" name="Google Shape;1488;p96"/>
          <p:cNvSpPr txBox="1"/>
          <p:nvPr/>
        </p:nvSpPr>
        <p:spPr>
          <a:xfrm>
            <a:off x="1819782" y="3918077"/>
            <a:ext cx="1185545" cy="315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Enrolment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96"/>
          <p:cNvSpPr/>
          <p:nvPr/>
        </p:nvSpPr>
        <p:spPr>
          <a:xfrm>
            <a:off x="1840610" y="2133600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 extrusionOk="0">
                <a:moveTo>
                  <a:pt x="0" y="88900"/>
                </a:moveTo>
                <a:lnTo>
                  <a:pt x="6996" y="54274"/>
                </a:lnTo>
                <a:lnTo>
                  <a:pt x="26066" y="26019"/>
                </a:lnTo>
                <a:lnTo>
                  <a:pt x="54328" y="6979"/>
                </a:lnTo>
                <a:lnTo>
                  <a:pt x="88900" y="0"/>
                </a:lnTo>
                <a:lnTo>
                  <a:pt x="1054100" y="0"/>
                </a:lnTo>
                <a:lnTo>
                  <a:pt x="1088725" y="6979"/>
                </a:lnTo>
                <a:lnTo>
                  <a:pt x="1116980" y="26019"/>
                </a:lnTo>
                <a:lnTo>
                  <a:pt x="1136020" y="54274"/>
                </a:lnTo>
                <a:lnTo>
                  <a:pt x="1143000" y="88900"/>
                </a:lnTo>
                <a:lnTo>
                  <a:pt x="1143000" y="444500"/>
                </a:lnTo>
                <a:lnTo>
                  <a:pt x="1136020" y="479125"/>
                </a:lnTo>
                <a:lnTo>
                  <a:pt x="1116980" y="507380"/>
                </a:lnTo>
                <a:lnTo>
                  <a:pt x="1088725" y="526420"/>
                </a:lnTo>
                <a:lnTo>
                  <a:pt x="1054100" y="533400"/>
                </a:lnTo>
                <a:lnTo>
                  <a:pt x="88900" y="533400"/>
                </a:lnTo>
                <a:lnTo>
                  <a:pt x="54328" y="526420"/>
                </a:lnTo>
                <a:lnTo>
                  <a:pt x="26066" y="507380"/>
                </a:lnTo>
                <a:lnTo>
                  <a:pt x="6996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90" name="Google Shape;1490;p96"/>
          <p:cNvSpPr txBox="1"/>
          <p:nvPr/>
        </p:nvSpPr>
        <p:spPr>
          <a:xfrm>
            <a:off x="1961514" y="2241422"/>
            <a:ext cx="903605" cy="315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1" name="Google Shape;1491;p96"/>
          <p:cNvSpPr/>
          <p:nvPr/>
        </p:nvSpPr>
        <p:spPr>
          <a:xfrm>
            <a:off x="1840610" y="5486400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 extrusionOk="0">
                <a:moveTo>
                  <a:pt x="0" y="88900"/>
                </a:moveTo>
                <a:lnTo>
                  <a:pt x="6996" y="54274"/>
                </a:lnTo>
                <a:lnTo>
                  <a:pt x="26066" y="26019"/>
                </a:lnTo>
                <a:lnTo>
                  <a:pt x="54328" y="6979"/>
                </a:lnTo>
                <a:lnTo>
                  <a:pt x="88900" y="0"/>
                </a:lnTo>
                <a:lnTo>
                  <a:pt x="1054100" y="0"/>
                </a:lnTo>
                <a:lnTo>
                  <a:pt x="1088725" y="6979"/>
                </a:lnTo>
                <a:lnTo>
                  <a:pt x="1116980" y="26019"/>
                </a:lnTo>
                <a:lnTo>
                  <a:pt x="1136020" y="54274"/>
                </a:lnTo>
                <a:lnTo>
                  <a:pt x="1143000" y="88900"/>
                </a:lnTo>
                <a:lnTo>
                  <a:pt x="1143000" y="444500"/>
                </a:lnTo>
                <a:lnTo>
                  <a:pt x="1136020" y="479103"/>
                </a:lnTo>
                <a:lnTo>
                  <a:pt x="1116980" y="507361"/>
                </a:lnTo>
                <a:lnTo>
                  <a:pt x="1088725" y="526413"/>
                </a:lnTo>
                <a:lnTo>
                  <a:pt x="1054100" y="533400"/>
                </a:lnTo>
                <a:lnTo>
                  <a:pt x="88900" y="533400"/>
                </a:lnTo>
                <a:lnTo>
                  <a:pt x="54328" y="526413"/>
                </a:lnTo>
                <a:lnTo>
                  <a:pt x="26066" y="507361"/>
                </a:lnTo>
                <a:lnTo>
                  <a:pt x="6996" y="479103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92" name="Google Shape;1492;p96"/>
          <p:cNvSpPr/>
          <p:nvPr/>
        </p:nvSpPr>
        <p:spPr>
          <a:xfrm>
            <a:off x="1916810" y="4648200"/>
            <a:ext cx="990600" cy="533400"/>
          </a:xfrm>
          <a:custGeom>
            <a:avLst/>
            <a:gdLst/>
            <a:ahLst/>
            <a:cxnLst/>
            <a:rect l="l" t="t" r="r" b="b"/>
            <a:pathLst>
              <a:path w="990600" h="533400" extrusionOk="0">
                <a:moveTo>
                  <a:pt x="0" y="266700"/>
                </a:moveTo>
                <a:lnTo>
                  <a:pt x="495300" y="0"/>
                </a:lnTo>
                <a:lnTo>
                  <a:pt x="990600" y="266700"/>
                </a:lnTo>
                <a:lnTo>
                  <a:pt x="495300" y="533400"/>
                </a:lnTo>
                <a:lnTo>
                  <a:pt x="0" y="2667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93" name="Google Shape;1493;p96"/>
          <p:cNvSpPr txBox="1"/>
          <p:nvPr/>
        </p:nvSpPr>
        <p:spPr>
          <a:xfrm>
            <a:off x="2314448" y="4788789"/>
            <a:ext cx="194945" cy="254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p96"/>
          <p:cNvSpPr/>
          <p:nvPr/>
        </p:nvSpPr>
        <p:spPr>
          <a:xfrm>
            <a:off x="1916810" y="2971800"/>
            <a:ext cx="990600" cy="533400"/>
          </a:xfrm>
          <a:custGeom>
            <a:avLst/>
            <a:gdLst/>
            <a:ahLst/>
            <a:cxnLst/>
            <a:rect l="l" t="t" r="r" b="b"/>
            <a:pathLst>
              <a:path w="990600" h="533400" extrusionOk="0">
                <a:moveTo>
                  <a:pt x="0" y="266700"/>
                </a:moveTo>
                <a:lnTo>
                  <a:pt x="495300" y="0"/>
                </a:lnTo>
                <a:lnTo>
                  <a:pt x="990600" y="266700"/>
                </a:lnTo>
                <a:lnTo>
                  <a:pt x="495300" y="533400"/>
                </a:lnTo>
                <a:lnTo>
                  <a:pt x="0" y="2667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95" name="Google Shape;1495;p96"/>
          <p:cNvSpPr txBox="1"/>
          <p:nvPr/>
        </p:nvSpPr>
        <p:spPr>
          <a:xfrm>
            <a:off x="2219960" y="3112134"/>
            <a:ext cx="386080" cy="254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96"/>
          <p:cNvSpPr/>
          <p:nvPr/>
        </p:nvSpPr>
        <p:spPr>
          <a:xfrm>
            <a:off x="2412110" y="2667000"/>
            <a:ext cx="0" cy="304800"/>
          </a:xfrm>
          <a:custGeom>
            <a:avLst/>
            <a:gdLst/>
            <a:ahLst/>
            <a:cxnLst/>
            <a:rect l="l" t="t" r="r" b="b"/>
            <a:pathLst>
              <a:path w="120000" h="304800" extrusionOk="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97" name="Google Shape;1497;p96"/>
          <p:cNvSpPr/>
          <p:nvPr/>
        </p:nvSpPr>
        <p:spPr>
          <a:xfrm>
            <a:off x="2412110" y="3505200"/>
            <a:ext cx="0" cy="304800"/>
          </a:xfrm>
          <a:custGeom>
            <a:avLst/>
            <a:gdLst/>
            <a:ahLst/>
            <a:cxnLst/>
            <a:rect l="l" t="t" r="r" b="b"/>
            <a:pathLst>
              <a:path w="120000" h="304800" extrusionOk="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98" name="Google Shape;1498;p96"/>
          <p:cNvSpPr/>
          <p:nvPr/>
        </p:nvSpPr>
        <p:spPr>
          <a:xfrm>
            <a:off x="2412110" y="4343400"/>
            <a:ext cx="0" cy="304800"/>
          </a:xfrm>
          <a:custGeom>
            <a:avLst/>
            <a:gdLst/>
            <a:ahLst/>
            <a:cxnLst/>
            <a:rect l="l" t="t" r="r" b="b"/>
            <a:pathLst>
              <a:path w="120000" h="304800" extrusionOk="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499" name="Google Shape;1499;p96"/>
          <p:cNvSpPr/>
          <p:nvPr/>
        </p:nvSpPr>
        <p:spPr>
          <a:xfrm>
            <a:off x="2412110" y="5181600"/>
            <a:ext cx="0" cy="304800"/>
          </a:xfrm>
          <a:custGeom>
            <a:avLst/>
            <a:gdLst/>
            <a:ahLst/>
            <a:cxnLst/>
            <a:rect l="l" t="t" r="r" b="b"/>
            <a:pathLst>
              <a:path w="120000" h="304800" extrusionOk="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500" name="Google Shape;1500;p96"/>
          <p:cNvSpPr/>
          <p:nvPr/>
        </p:nvSpPr>
        <p:spPr>
          <a:xfrm>
            <a:off x="2297810" y="4343400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 extrusionOk="0">
                <a:moveTo>
                  <a:pt x="228600" y="0"/>
                </a:moveTo>
                <a:lnTo>
                  <a:pt x="222772" y="48182"/>
                </a:lnTo>
                <a:lnTo>
                  <a:pt x="206544" y="90019"/>
                </a:lnTo>
                <a:lnTo>
                  <a:pt x="181801" y="123005"/>
                </a:lnTo>
                <a:lnTo>
                  <a:pt x="150424" y="144633"/>
                </a:lnTo>
                <a:lnTo>
                  <a:pt x="114300" y="152400"/>
                </a:lnTo>
                <a:lnTo>
                  <a:pt x="78236" y="144646"/>
                </a:lnTo>
                <a:lnTo>
                  <a:pt x="46890" y="123049"/>
                </a:lnTo>
                <a:lnTo>
                  <a:pt x="22146" y="90101"/>
                </a:lnTo>
                <a:lnTo>
                  <a:pt x="5888" y="48296"/>
                </a:lnTo>
                <a:lnTo>
                  <a:pt x="0" y="126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501" name="Google Shape;1501;p96"/>
          <p:cNvSpPr/>
          <p:nvPr/>
        </p:nvSpPr>
        <p:spPr>
          <a:xfrm>
            <a:off x="2297810" y="3657600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 extrusionOk="0">
                <a:moveTo>
                  <a:pt x="228600" y="152400"/>
                </a:moveTo>
                <a:lnTo>
                  <a:pt x="222772" y="104217"/>
                </a:lnTo>
                <a:lnTo>
                  <a:pt x="206544" y="62380"/>
                </a:lnTo>
                <a:lnTo>
                  <a:pt x="181801" y="29394"/>
                </a:lnTo>
                <a:lnTo>
                  <a:pt x="150424" y="7766"/>
                </a:lnTo>
                <a:lnTo>
                  <a:pt x="114300" y="0"/>
                </a:lnTo>
                <a:lnTo>
                  <a:pt x="78236" y="7753"/>
                </a:lnTo>
                <a:lnTo>
                  <a:pt x="46890" y="29350"/>
                </a:lnTo>
                <a:lnTo>
                  <a:pt x="22146" y="62298"/>
                </a:lnTo>
                <a:lnTo>
                  <a:pt x="5888" y="104103"/>
                </a:lnTo>
                <a:lnTo>
                  <a:pt x="0" y="152273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502" name="Google Shape;1502;p96"/>
          <p:cNvSpPr/>
          <p:nvPr/>
        </p:nvSpPr>
        <p:spPr>
          <a:xfrm>
            <a:off x="773836" y="1905000"/>
            <a:ext cx="685800" cy="381000"/>
          </a:xfrm>
          <a:custGeom>
            <a:avLst/>
            <a:gdLst/>
            <a:ahLst/>
            <a:cxnLst/>
            <a:rect l="l" t="t" r="r" b="b"/>
            <a:pathLst>
              <a:path w="685800" h="381000" extrusionOk="0">
                <a:moveTo>
                  <a:pt x="0" y="190500"/>
                </a:moveTo>
                <a:lnTo>
                  <a:pt x="21452" y="124050"/>
                </a:lnTo>
                <a:lnTo>
                  <a:pt x="46815" y="94375"/>
                </a:lnTo>
                <a:lnTo>
                  <a:pt x="80644" y="67785"/>
                </a:lnTo>
                <a:lnTo>
                  <a:pt x="121972" y="44821"/>
                </a:lnTo>
                <a:lnTo>
                  <a:pt x="169830" y="26020"/>
                </a:lnTo>
                <a:lnTo>
                  <a:pt x="223249" y="11924"/>
                </a:lnTo>
                <a:lnTo>
                  <a:pt x="281262" y="3070"/>
                </a:lnTo>
                <a:lnTo>
                  <a:pt x="342900" y="0"/>
                </a:lnTo>
                <a:lnTo>
                  <a:pt x="404523" y="3070"/>
                </a:lnTo>
                <a:lnTo>
                  <a:pt x="462526" y="11924"/>
                </a:lnTo>
                <a:lnTo>
                  <a:pt x="515940" y="26020"/>
                </a:lnTo>
                <a:lnTo>
                  <a:pt x="563796" y="44821"/>
                </a:lnTo>
                <a:lnTo>
                  <a:pt x="605123" y="67785"/>
                </a:lnTo>
                <a:lnTo>
                  <a:pt x="638954" y="94375"/>
                </a:lnTo>
                <a:lnTo>
                  <a:pt x="664319" y="124050"/>
                </a:lnTo>
                <a:lnTo>
                  <a:pt x="685774" y="190500"/>
                </a:lnTo>
                <a:lnTo>
                  <a:pt x="680249" y="224728"/>
                </a:lnTo>
                <a:lnTo>
                  <a:pt x="638954" y="286624"/>
                </a:lnTo>
                <a:lnTo>
                  <a:pt x="605123" y="313214"/>
                </a:lnTo>
                <a:lnTo>
                  <a:pt x="563796" y="336178"/>
                </a:lnTo>
                <a:lnTo>
                  <a:pt x="515940" y="354979"/>
                </a:lnTo>
                <a:lnTo>
                  <a:pt x="462526" y="369075"/>
                </a:lnTo>
                <a:lnTo>
                  <a:pt x="404523" y="377929"/>
                </a:lnTo>
                <a:lnTo>
                  <a:pt x="342900" y="381000"/>
                </a:lnTo>
                <a:lnTo>
                  <a:pt x="281262" y="377929"/>
                </a:lnTo>
                <a:lnTo>
                  <a:pt x="223249" y="369075"/>
                </a:lnTo>
                <a:lnTo>
                  <a:pt x="169830" y="354979"/>
                </a:lnTo>
                <a:lnTo>
                  <a:pt x="121972" y="336178"/>
                </a:lnTo>
                <a:lnTo>
                  <a:pt x="80644" y="313214"/>
                </a:lnTo>
                <a:lnTo>
                  <a:pt x="46815" y="286624"/>
                </a:lnTo>
                <a:lnTo>
                  <a:pt x="21452" y="256949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503" name="Google Shape;1503;p96"/>
          <p:cNvSpPr txBox="1"/>
          <p:nvPr/>
        </p:nvSpPr>
        <p:spPr>
          <a:xfrm>
            <a:off x="990091" y="1952497"/>
            <a:ext cx="255270" cy="285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4" name="Google Shape;1504;p96"/>
          <p:cNvSpPr/>
          <p:nvPr/>
        </p:nvSpPr>
        <p:spPr>
          <a:xfrm>
            <a:off x="773836" y="5257800"/>
            <a:ext cx="685800" cy="381000"/>
          </a:xfrm>
          <a:custGeom>
            <a:avLst/>
            <a:gdLst/>
            <a:ahLst/>
            <a:cxnLst/>
            <a:rect l="l" t="t" r="r" b="b"/>
            <a:pathLst>
              <a:path w="685800" h="381000" extrusionOk="0">
                <a:moveTo>
                  <a:pt x="0" y="190500"/>
                </a:moveTo>
                <a:lnTo>
                  <a:pt x="21452" y="124050"/>
                </a:lnTo>
                <a:lnTo>
                  <a:pt x="46815" y="94375"/>
                </a:lnTo>
                <a:lnTo>
                  <a:pt x="80644" y="67785"/>
                </a:lnTo>
                <a:lnTo>
                  <a:pt x="121972" y="44821"/>
                </a:lnTo>
                <a:lnTo>
                  <a:pt x="169830" y="26020"/>
                </a:lnTo>
                <a:lnTo>
                  <a:pt x="223249" y="11924"/>
                </a:lnTo>
                <a:lnTo>
                  <a:pt x="281262" y="3070"/>
                </a:lnTo>
                <a:lnTo>
                  <a:pt x="342900" y="0"/>
                </a:lnTo>
                <a:lnTo>
                  <a:pt x="404523" y="3070"/>
                </a:lnTo>
                <a:lnTo>
                  <a:pt x="462526" y="11924"/>
                </a:lnTo>
                <a:lnTo>
                  <a:pt x="515940" y="26020"/>
                </a:lnTo>
                <a:lnTo>
                  <a:pt x="563796" y="44821"/>
                </a:lnTo>
                <a:lnTo>
                  <a:pt x="605123" y="67785"/>
                </a:lnTo>
                <a:lnTo>
                  <a:pt x="638954" y="94375"/>
                </a:lnTo>
                <a:lnTo>
                  <a:pt x="664319" y="124050"/>
                </a:lnTo>
                <a:lnTo>
                  <a:pt x="685774" y="190500"/>
                </a:lnTo>
                <a:lnTo>
                  <a:pt x="680249" y="224728"/>
                </a:lnTo>
                <a:lnTo>
                  <a:pt x="638954" y="286624"/>
                </a:lnTo>
                <a:lnTo>
                  <a:pt x="605123" y="313214"/>
                </a:lnTo>
                <a:lnTo>
                  <a:pt x="563796" y="336178"/>
                </a:lnTo>
                <a:lnTo>
                  <a:pt x="515940" y="354979"/>
                </a:lnTo>
                <a:lnTo>
                  <a:pt x="462526" y="369075"/>
                </a:lnTo>
                <a:lnTo>
                  <a:pt x="404523" y="377929"/>
                </a:lnTo>
                <a:lnTo>
                  <a:pt x="342900" y="381000"/>
                </a:lnTo>
                <a:lnTo>
                  <a:pt x="281262" y="377929"/>
                </a:lnTo>
                <a:lnTo>
                  <a:pt x="223249" y="369075"/>
                </a:lnTo>
                <a:lnTo>
                  <a:pt x="169830" y="354979"/>
                </a:lnTo>
                <a:lnTo>
                  <a:pt x="121972" y="336178"/>
                </a:lnTo>
                <a:lnTo>
                  <a:pt x="80644" y="313214"/>
                </a:lnTo>
                <a:lnTo>
                  <a:pt x="46815" y="286624"/>
                </a:lnTo>
                <a:lnTo>
                  <a:pt x="21452" y="256949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505" name="Google Shape;1505;p96"/>
          <p:cNvSpPr txBox="1"/>
          <p:nvPr/>
        </p:nvSpPr>
        <p:spPr>
          <a:xfrm>
            <a:off x="833119" y="5306314"/>
            <a:ext cx="570230" cy="285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6" name="Google Shape;1506;p96"/>
          <p:cNvSpPr/>
          <p:nvPr/>
        </p:nvSpPr>
        <p:spPr>
          <a:xfrm>
            <a:off x="773836" y="5867400"/>
            <a:ext cx="685800" cy="381000"/>
          </a:xfrm>
          <a:custGeom>
            <a:avLst/>
            <a:gdLst/>
            <a:ahLst/>
            <a:cxnLst/>
            <a:rect l="l" t="t" r="r" b="b"/>
            <a:pathLst>
              <a:path w="685800" h="381000" extrusionOk="0">
                <a:moveTo>
                  <a:pt x="0" y="190500"/>
                </a:moveTo>
                <a:lnTo>
                  <a:pt x="21452" y="124029"/>
                </a:lnTo>
                <a:lnTo>
                  <a:pt x="46815" y="94352"/>
                </a:lnTo>
                <a:lnTo>
                  <a:pt x="80644" y="67764"/>
                </a:lnTo>
                <a:lnTo>
                  <a:pt x="121972" y="44804"/>
                </a:lnTo>
                <a:lnTo>
                  <a:pt x="169830" y="26009"/>
                </a:lnTo>
                <a:lnTo>
                  <a:pt x="223249" y="11918"/>
                </a:lnTo>
                <a:lnTo>
                  <a:pt x="281262" y="3069"/>
                </a:lnTo>
                <a:lnTo>
                  <a:pt x="342900" y="0"/>
                </a:lnTo>
                <a:lnTo>
                  <a:pt x="404523" y="3069"/>
                </a:lnTo>
                <a:lnTo>
                  <a:pt x="462526" y="11918"/>
                </a:lnTo>
                <a:lnTo>
                  <a:pt x="515940" y="26009"/>
                </a:lnTo>
                <a:lnTo>
                  <a:pt x="563796" y="44804"/>
                </a:lnTo>
                <a:lnTo>
                  <a:pt x="605123" y="67764"/>
                </a:lnTo>
                <a:lnTo>
                  <a:pt x="638954" y="94352"/>
                </a:lnTo>
                <a:lnTo>
                  <a:pt x="664319" y="124029"/>
                </a:lnTo>
                <a:lnTo>
                  <a:pt x="685774" y="190500"/>
                </a:lnTo>
                <a:lnTo>
                  <a:pt x="680249" y="224741"/>
                </a:lnTo>
                <a:lnTo>
                  <a:pt x="638954" y="286647"/>
                </a:lnTo>
                <a:lnTo>
                  <a:pt x="605123" y="313235"/>
                </a:lnTo>
                <a:lnTo>
                  <a:pt x="563796" y="336195"/>
                </a:lnTo>
                <a:lnTo>
                  <a:pt x="515940" y="354990"/>
                </a:lnTo>
                <a:lnTo>
                  <a:pt x="462526" y="369081"/>
                </a:lnTo>
                <a:lnTo>
                  <a:pt x="404523" y="377930"/>
                </a:lnTo>
                <a:lnTo>
                  <a:pt x="342900" y="381000"/>
                </a:lnTo>
                <a:lnTo>
                  <a:pt x="281262" y="377930"/>
                </a:lnTo>
                <a:lnTo>
                  <a:pt x="223249" y="369081"/>
                </a:lnTo>
                <a:lnTo>
                  <a:pt x="169830" y="354990"/>
                </a:lnTo>
                <a:lnTo>
                  <a:pt x="121972" y="336195"/>
                </a:lnTo>
                <a:lnTo>
                  <a:pt x="80644" y="313235"/>
                </a:lnTo>
                <a:lnTo>
                  <a:pt x="46815" y="286647"/>
                </a:lnTo>
                <a:lnTo>
                  <a:pt x="21452" y="256970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507" name="Google Shape;1507;p96"/>
          <p:cNvSpPr txBox="1"/>
          <p:nvPr/>
        </p:nvSpPr>
        <p:spPr>
          <a:xfrm>
            <a:off x="892555" y="5594807"/>
            <a:ext cx="1950085" cy="605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0109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96"/>
          <p:cNvSpPr/>
          <p:nvPr/>
        </p:nvSpPr>
        <p:spPr>
          <a:xfrm>
            <a:off x="773836" y="2514600"/>
            <a:ext cx="685800" cy="381000"/>
          </a:xfrm>
          <a:custGeom>
            <a:avLst/>
            <a:gdLst/>
            <a:ahLst/>
            <a:cxnLst/>
            <a:rect l="l" t="t" r="r" b="b"/>
            <a:pathLst>
              <a:path w="685800" h="381000" extrusionOk="0">
                <a:moveTo>
                  <a:pt x="0" y="190500"/>
                </a:moveTo>
                <a:lnTo>
                  <a:pt x="21452" y="124050"/>
                </a:lnTo>
                <a:lnTo>
                  <a:pt x="46815" y="94375"/>
                </a:lnTo>
                <a:lnTo>
                  <a:pt x="80644" y="67785"/>
                </a:lnTo>
                <a:lnTo>
                  <a:pt x="121972" y="44821"/>
                </a:lnTo>
                <a:lnTo>
                  <a:pt x="169830" y="26020"/>
                </a:lnTo>
                <a:lnTo>
                  <a:pt x="223249" y="11924"/>
                </a:lnTo>
                <a:lnTo>
                  <a:pt x="281262" y="3070"/>
                </a:lnTo>
                <a:lnTo>
                  <a:pt x="342900" y="0"/>
                </a:lnTo>
                <a:lnTo>
                  <a:pt x="404523" y="3070"/>
                </a:lnTo>
                <a:lnTo>
                  <a:pt x="462526" y="11924"/>
                </a:lnTo>
                <a:lnTo>
                  <a:pt x="515940" y="26020"/>
                </a:lnTo>
                <a:lnTo>
                  <a:pt x="563796" y="44821"/>
                </a:lnTo>
                <a:lnTo>
                  <a:pt x="605123" y="67785"/>
                </a:lnTo>
                <a:lnTo>
                  <a:pt x="638954" y="94375"/>
                </a:lnTo>
                <a:lnTo>
                  <a:pt x="664319" y="124050"/>
                </a:lnTo>
                <a:lnTo>
                  <a:pt x="685774" y="190500"/>
                </a:lnTo>
                <a:lnTo>
                  <a:pt x="680249" y="224728"/>
                </a:lnTo>
                <a:lnTo>
                  <a:pt x="638954" y="286624"/>
                </a:lnTo>
                <a:lnTo>
                  <a:pt x="605123" y="313214"/>
                </a:lnTo>
                <a:lnTo>
                  <a:pt x="563796" y="336178"/>
                </a:lnTo>
                <a:lnTo>
                  <a:pt x="515940" y="354979"/>
                </a:lnTo>
                <a:lnTo>
                  <a:pt x="462526" y="369075"/>
                </a:lnTo>
                <a:lnTo>
                  <a:pt x="404523" y="377929"/>
                </a:lnTo>
                <a:lnTo>
                  <a:pt x="342900" y="381000"/>
                </a:lnTo>
                <a:lnTo>
                  <a:pt x="281262" y="377929"/>
                </a:lnTo>
                <a:lnTo>
                  <a:pt x="223249" y="369075"/>
                </a:lnTo>
                <a:lnTo>
                  <a:pt x="169830" y="354979"/>
                </a:lnTo>
                <a:lnTo>
                  <a:pt x="121972" y="336178"/>
                </a:lnTo>
                <a:lnTo>
                  <a:pt x="80644" y="313214"/>
                </a:lnTo>
                <a:lnTo>
                  <a:pt x="46815" y="286624"/>
                </a:lnTo>
                <a:lnTo>
                  <a:pt x="21452" y="256949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509" name="Google Shape;1509;p96"/>
          <p:cNvSpPr txBox="1"/>
          <p:nvPr/>
        </p:nvSpPr>
        <p:spPr>
          <a:xfrm>
            <a:off x="801116" y="2562478"/>
            <a:ext cx="634365" cy="285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0" name="Google Shape;1510;p96"/>
          <p:cNvSpPr/>
          <p:nvPr/>
        </p:nvSpPr>
        <p:spPr>
          <a:xfrm>
            <a:off x="773836" y="3581400"/>
            <a:ext cx="685800" cy="381000"/>
          </a:xfrm>
          <a:custGeom>
            <a:avLst/>
            <a:gdLst/>
            <a:ahLst/>
            <a:cxnLst/>
            <a:rect l="l" t="t" r="r" b="b"/>
            <a:pathLst>
              <a:path w="685800" h="381000" extrusionOk="0">
                <a:moveTo>
                  <a:pt x="0" y="190500"/>
                </a:moveTo>
                <a:lnTo>
                  <a:pt x="21452" y="124050"/>
                </a:lnTo>
                <a:lnTo>
                  <a:pt x="46815" y="94375"/>
                </a:lnTo>
                <a:lnTo>
                  <a:pt x="80644" y="67785"/>
                </a:lnTo>
                <a:lnTo>
                  <a:pt x="121972" y="44821"/>
                </a:lnTo>
                <a:lnTo>
                  <a:pt x="169830" y="26020"/>
                </a:lnTo>
                <a:lnTo>
                  <a:pt x="223249" y="11924"/>
                </a:lnTo>
                <a:lnTo>
                  <a:pt x="281262" y="3070"/>
                </a:lnTo>
                <a:lnTo>
                  <a:pt x="342900" y="0"/>
                </a:lnTo>
                <a:lnTo>
                  <a:pt x="404523" y="3070"/>
                </a:lnTo>
                <a:lnTo>
                  <a:pt x="462526" y="11924"/>
                </a:lnTo>
                <a:lnTo>
                  <a:pt x="515940" y="26020"/>
                </a:lnTo>
                <a:lnTo>
                  <a:pt x="563796" y="44821"/>
                </a:lnTo>
                <a:lnTo>
                  <a:pt x="605123" y="67785"/>
                </a:lnTo>
                <a:lnTo>
                  <a:pt x="638954" y="94375"/>
                </a:lnTo>
                <a:lnTo>
                  <a:pt x="664319" y="124050"/>
                </a:lnTo>
                <a:lnTo>
                  <a:pt x="685774" y="190500"/>
                </a:lnTo>
                <a:lnTo>
                  <a:pt x="680249" y="224728"/>
                </a:lnTo>
                <a:lnTo>
                  <a:pt x="638954" y="286624"/>
                </a:lnTo>
                <a:lnTo>
                  <a:pt x="605123" y="313214"/>
                </a:lnTo>
                <a:lnTo>
                  <a:pt x="563796" y="336178"/>
                </a:lnTo>
                <a:lnTo>
                  <a:pt x="515940" y="354979"/>
                </a:lnTo>
                <a:lnTo>
                  <a:pt x="462526" y="369075"/>
                </a:lnTo>
                <a:lnTo>
                  <a:pt x="404523" y="377929"/>
                </a:lnTo>
                <a:lnTo>
                  <a:pt x="342900" y="381000"/>
                </a:lnTo>
                <a:lnTo>
                  <a:pt x="281262" y="377929"/>
                </a:lnTo>
                <a:lnTo>
                  <a:pt x="223249" y="369075"/>
                </a:lnTo>
                <a:lnTo>
                  <a:pt x="169830" y="354979"/>
                </a:lnTo>
                <a:lnTo>
                  <a:pt x="121972" y="336178"/>
                </a:lnTo>
                <a:lnTo>
                  <a:pt x="80644" y="313214"/>
                </a:lnTo>
                <a:lnTo>
                  <a:pt x="46815" y="286624"/>
                </a:lnTo>
                <a:lnTo>
                  <a:pt x="21452" y="256949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511" name="Google Shape;1511;p96"/>
          <p:cNvSpPr txBox="1"/>
          <p:nvPr/>
        </p:nvSpPr>
        <p:spPr>
          <a:xfrm>
            <a:off x="990091" y="3629279"/>
            <a:ext cx="255270" cy="285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p96"/>
          <p:cNvSpPr/>
          <p:nvPr/>
        </p:nvSpPr>
        <p:spPr>
          <a:xfrm>
            <a:off x="773836" y="4191000"/>
            <a:ext cx="685800" cy="381000"/>
          </a:xfrm>
          <a:custGeom>
            <a:avLst/>
            <a:gdLst/>
            <a:ahLst/>
            <a:cxnLst/>
            <a:rect l="l" t="t" r="r" b="b"/>
            <a:pathLst>
              <a:path w="685800" h="381000" extrusionOk="0">
                <a:moveTo>
                  <a:pt x="0" y="190500"/>
                </a:moveTo>
                <a:lnTo>
                  <a:pt x="21452" y="124050"/>
                </a:lnTo>
                <a:lnTo>
                  <a:pt x="46815" y="94375"/>
                </a:lnTo>
                <a:lnTo>
                  <a:pt x="80644" y="67785"/>
                </a:lnTo>
                <a:lnTo>
                  <a:pt x="121972" y="44821"/>
                </a:lnTo>
                <a:lnTo>
                  <a:pt x="169830" y="26020"/>
                </a:lnTo>
                <a:lnTo>
                  <a:pt x="223249" y="11924"/>
                </a:lnTo>
                <a:lnTo>
                  <a:pt x="281262" y="3070"/>
                </a:lnTo>
                <a:lnTo>
                  <a:pt x="342900" y="0"/>
                </a:lnTo>
                <a:lnTo>
                  <a:pt x="404523" y="3070"/>
                </a:lnTo>
                <a:lnTo>
                  <a:pt x="462526" y="11924"/>
                </a:lnTo>
                <a:lnTo>
                  <a:pt x="515940" y="26020"/>
                </a:lnTo>
                <a:lnTo>
                  <a:pt x="563796" y="44821"/>
                </a:lnTo>
                <a:lnTo>
                  <a:pt x="605123" y="67785"/>
                </a:lnTo>
                <a:lnTo>
                  <a:pt x="638954" y="94375"/>
                </a:lnTo>
                <a:lnTo>
                  <a:pt x="664319" y="124050"/>
                </a:lnTo>
                <a:lnTo>
                  <a:pt x="685774" y="190500"/>
                </a:lnTo>
                <a:lnTo>
                  <a:pt x="680249" y="224728"/>
                </a:lnTo>
                <a:lnTo>
                  <a:pt x="638954" y="286624"/>
                </a:lnTo>
                <a:lnTo>
                  <a:pt x="605123" y="313214"/>
                </a:lnTo>
                <a:lnTo>
                  <a:pt x="563796" y="336178"/>
                </a:lnTo>
                <a:lnTo>
                  <a:pt x="515940" y="354979"/>
                </a:lnTo>
                <a:lnTo>
                  <a:pt x="462526" y="369075"/>
                </a:lnTo>
                <a:lnTo>
                  <a:pt x="404523" y="377929"/>
                </a:lnTo>
                <a:lnTo>
                  <a:pt x="342900" y="381000"/>
                </a:lnTo>
                <a:lnTo>
                  <a:pt x="281262" y="377929"/>
                </a:lnTo>
                <a:lnTo>
                  <a:pt x="223249" y="369075"/>
                </a:lnTo>
                <a:lnTo>
                  <a:pt x="169830" y="354979"/>
                </a:lnTo>
                <a:lnTo>
                  <a:pt x="121972" y="336178"/>
                </a:lnTo>
                <a:lnTo>
                  <a:pt x="80644" y="313214"/>
                </a:lnTo>
                <a:lnTo>
                  <a:pt x="46815" y="286624"/>
                </a:lnTo>
                <a:lnTo>
                  <a:pt x="21452" y="256949"/>
                </a:lnTo>
                <a:lnTo>
                  <a:pt x="0" y="190500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513" name="Google Shape;1513;p96"/>
          <p:cNvSpPr txBox="1"/>
          <p:nvPr/>
        </p:nvSpPr>
        <p:spPr>
          <a:xfrm>
            <a:off x="833119" y="4239132"/>
            <a:ext cx="570865" cy="285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4" name="Google Shape;1514;p96"/>
          <p:cNvSpPr/>
          <p:nvPr/>
        </p:nvSpPr>
        <p:spPr>
          <a:xfrm>
            <a:off x="1469136" y="3771900"/>
            <a:ext cx="285750" cy="304800"/>
          </a:xfrm>
          <a:custGeom>
            <a:avLst/>
            <a:gdLst/>
            <a:ahLst/>
            <a:cxnLst/>
            <a:rect l="l" t="t" r="r" b="b"/>
            <a:pathLst>
              <a:path w="285750" h="304800" extrusionOk="0">
                <a:moveTo>
                  <a:pt x="0" y="0"/>
                </a:moveTo>
                <a:lnTo>
                  <a:pt x="285750" y="3048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515" name="Google Shape;1515;p96"/>
          <p:cNvSpPr/>
          <p:nvPr/>
        </p:nvSpPr>
        <p:spPr>
          <a:xfrm>
            <a:off x="1469136" y="4076700"/>
            <a:ext cx="285750" cy="304800"/>
          </a:xfrm>
          <a:custGeom>
            <a:avLst/>
            <a:gdLst/>
            <a:ahLst/>
            <a:cxnLst/>
            <a:rect l="l" t="t" r="r" b="b"/>
            <a:pathLst>
              <a:path w="285750" h="304800" extrusionOk="0">
                <a:moveTo>
                  <a:pt x="0" y="304800"/>
                </a:moveTo>
                <a:lnTo>
                  <a:pt x="28575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516" name="Google Shape;1516;p96"/>
          <p:cNvSpPr/>
          <p:nvPr/>
        </p:nvSpPr>
        <p:spPr>
          <a:xfrm>
            <a:off x="1469136" y="5448300"/>
            <a:ext cx="361950" cy="304800"/>
          </a:xfrm>
          <a:custGeom>
            <a:avLst/>
            <a:gdLst/>
            <a:ahLst/>
            <a:cxnLst/>
            <a:rect l="l" t="t" r="r" b="b"/>
            <a:pathLst>
              <a:path w="361950" h="304800" extrusionOk="0">
                <a:moveTo>
                  <a:pt x="0" y="0"/>
                </a:moveTo>
                <a:lnTo>
                  <a:pt x="361950" y="3048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517" name="Google Shape;1517;p96"/>
          <p:cNvSpPr/>
          <p:nvPr/>
        </p:nvSpPr>
        <p:spPr>
          <a:xfrm>
            <a:off x="1469136" y="5753100"/>
            <a:ext cx="361950" cy="304800"/>
          </a:xfrm>
          <a:custGeom>
            <a:avLst/>
            <a:gdLst/>
            <a:ahLst/>
            <a:cxnLst/>
            <a:rect l="l" t="t" r="r" b="b"/>
            <a:pathLst>
              <a:path w="361950" h="304800" extrusionOk="0">
                <a:moveTo>
                  <a:pt x="0" y="304800"/>
                </a:moveTo>
                <a:lnTo>
                  <a:pt x="36195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518" name="Google Shape;1518;p96"/>
          <p:cNvSpPr/>
          <p:nvPr/>
        </p:nvSpPr>
        <p:spPr>
          <a:xfrm>
            <a:off x="1469136" y="2400300"/>
            <a:ext cx="361950" cy="304800"/>
          </a:xfrm>
          <a:custGeom>
            <a:avLst/>
            <a:gdLst/>
            <a:ahLst/>
            <a:cxnLst/>
            <a:rect l="l" t="t" r="r" b="b"/>
            <a:pathLst>
              <a:path w="361950" h="304800" extrusionOk="0">
                <a:moveTo>
                  <a:pt x="0" y="304800"/>
                </a:moveTo>
                <a:lnTo>
                  <a:pt x="361950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519" name="Google Shape;1519;p96"/>
          <p:cNvSpPr/>
          <p:nvPr/>
        </p:nvSpPr>
        <p:spPr>
          <a:xfrm>
            <a:off x="1469136" y="2095500"/>
            <a:ext cx="361950" cy="304800"/>
          </a:xfrm>
          <a:custGeom>
            <a:avLst/>
            <a:gdLst/>
            <a:ahLst/>
            <a:cxnLst/>
            <a:rect l="l" t="t" r="r" b="b"/>
            <a:pathLst>
              <a:path w="361950" h="304800" extrusionOk="0">
                <a:moveTo>
                  <a:pt x="0" y="0"/>
                </a:moveTo>
                <a:lnTo>
                  <a:pt x="361950" y="30480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520" name="Google Shape;1520;p96"/>
          <p:cNvSpPr/>
          <p:nvPr/>
        </p:nvSpPr>
        <p:spPr>
          <a:xfrm>
            <a:off x="3000755" y="2185416"/>
            <a:ext cx="1008888" cy="47548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521" name="Google Shape;1521;p96"/>
          <p:cNvSpPr/>
          <p:nvPr/>
        </p:nvSpPr>
        <p:spPr>
          <a:xfrm>
            <a:off x="3048000" y="2209800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 extrusionOk="0">
                <a:moveTo>
                  <a:pt x="190500" y="0"/>
                </a:moveTo>
                <a:lnTo>
                  <a:pt x="0" y="190500"/>
                </a:lnTo>
                <a:lnTo>
                  <a:pt x="190500" y="381000"/>
                </a:lnTo>
                <a:lnTo>
                  <a:pt x="190500" y="285750"/>
                </a:lnTo>
                <a:lnTo>
                  <a:pt x="914400" y="285750"/>
                </a:lnTo>
                <a:lnTo>
                  <a:pt x="914400" y="95250"/>
                </a:lnTo>
                <a:lnTo>
                  <a:pt x="190500" y="95250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522" name="Google Shape;1522;p96"/>
          <p:cNvSpPr/>
          <p:nvPr/>
        </p:nvSpPr>
        <p:spPr>
          <a:xfrm>
            <a:off x="3048000" y="2209800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 extrusionOk="0">
                <a:moveTo>
                  <a:pt x="0" y="190500"/>
                </a:moveTo>
                <a:lnTo>
                  <a:pt x="190500" y="0"/>
                </a:lnTo>
                <a:lnTo>
                  <a:pt x="190500" y="95250"/>
                </a:lnTo>
                <a:lnTo>
                  <a:pt x="914400" y="95250"/>
                </a:lnTo>
                <a:lnTo>
                  <a:pt x="914400" y="285750"/>
                </a:lnTo>
                <a:lnTo>
                  <a:pt x="190500" y="285750"/>
                </a:lnTo>
                <a:lnTo>
                  <a:pt x="190500" y="381000"/>
                </a:lnTo>
                <a:lnTo>
                  <a:pt x="0" y="190500"/>
                </a:lnTo>
                <a:close/>
              </a:path>
            </a:pathLst>
          </a:custGeom>
          <a:noFill/>
          <a:ln w="9525" cap="flat" cmpd="sng">
            <a:solidFill>
              <a:srgbClr val="CCB6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24163808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9275" y="723181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0">
              <a:lnSpc>
                <a:spcPct val="100000"/>
              </a:lnSpc>
              <a:spcBef>
                <a:spcPts val="105"/>
              </a:spcBef>
            </a:pPr>
            <a:r>
              <a:rPr spc="-434" dirty="0"/>
              <a:t>NORMALIZATION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1000" y="1752600"/>
            <a:ext cx="8305800" cy="23980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sz="2000" spc="65" dirty="0">
                <a:solidFill>
                  <a:srgbClr val="3493B9"/>
                </a:solidFill>
                <a:latin typeface="Microsoft Sans Serif"/>
                <a:cs typeface="Microsoft Sans Serif"/>
              </a:rPr>
              <a:t>Normalization</a:t>
            </a:r>
            <a:r>
              <a:rPr sz="2000" spc="325" dirty="0">
                <a:solidFill>
                  <a:srgbClr val="3493B9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320" dirty="0">
                <a:latin typeface="Microsoft Sans Serif"/>
                <a:cs typeface="Microsoft Sans Serif"/>
              </a:rPr>
              <a:t> 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325" dirty="0">
                <a:latin typeface="Microsoft Sans Serif"/>
                <a:cs typeface="Microsoft Sans Serif"/>
              </a:rPr>
              <a:t>  </a:t>
            </a:r>
            <a:r>
              <a:rPr sz="2000" dirty="0">
                <a:latin typeface="Microsoft Sans Serif"/>
                <a:cs typeface="Microsoft Sans Serif"/>
              </a:rPr>
              <a:t>database</a:t>
            </a:r>
            <a:r>
              <a:rPr sz="2000" spc="320" dirty="0">
                <a:latin typeface="Microsoft Sans Serif"/>
                <a:cs typeface="Microsoft Sans Serif"/>
              </a:rPr>
              <a:t>  </a:t>
            </a:r>
            <a:r>
              <a:rPr sz="2000" dirty="0">
                <a:latin typeface="Microsoft Sans Serif"/>
                <a:cs typeface="Microsoft Sans Serif"/>
              </a:rPr>
              <a:t>design</a:t>
            </a:r>
            <a:r>
              <a:rPr sz="2000" spc="315" dirty="0">
                <a:latin typeface="Microsoft Sans Serif"/>
                <a:cs typeface="Microsoft Sans Serif"/>
              </a:rPr>
              <a:t>  </a:t>
            </a:r>
            <a:r>
              <a:rPr sz="2000" spc="65" dirty="0">
                <a:latin typeface="Microsoft Sans Serif"/>
                <a:cs typeface="Microsoft Sans Serif"/>
              </a:rPr>
              <a:t>technique</a:t>
            </a:r>
            <a:r>
              <a:rPr sz="2000" spc="315" dirty="0">
                <a:latin typeface="Microsoft Sans Serif"/>
                <a:cs typeface="Microsoft Sans Serif"/>
              </a:rPr>
              <a:t>  </a:t>
            </a:r>
            <a:r>
              <a:rPr sz="2000" spc="150" dirty="0">
                <a:latin typeface="Microsoft Sans Serif"/>
                <a:cs typeface="Microsoft Sans Serif"/>
              </a:rPr>
              <a:t>that </a:t>
            </a:r>
            <a:r>
              <a:rPr sz="2000" dirty="0">
                <a:latin typeface="Microsoft Sans Serif"/>
                <a:cs typeface="Microsoft Sans Serif"/>
              </a:rPr>
              <a:t>organizes</a:t>
            </a:r>
            <a:r>
              <a:rPr sz="2000" spc="490" dirty="0">
                <a:latin typeface="Microsoft Sans Serif"/>
                <a:cs typeface="Microsoft Sans Serif"/>
              </a:rPr>
              <a:t> </a:t>
            </a:r>
            <a:r>
              <a:rPr sz="2000" spc="55" dirty="0">
                <a:latin typeface="Microsoft Sans Serif"/>
                <a:cs typeface="Microsoft Sans Serif"/>
              </a:rPr>
              <a:t>tables</a:t>
            </a:r>
            <a:r>
              <a:rPr sz="2000" spc="490" dirty="0">
                <a:latin typeface="Microsoft Sans Serif"/>
                <a:cs typeface="Microsoft Sans Serif"/>
              </a:rPr>
              <a:t> </a:t>
            </a:r>
            <a:r>
              <a:rPr sz="2000" spc="65" dirty="0">
                <a:latin typeface="Microsoft Sans Serif"/>
                <a:cs typeface="Microsoft Sans Serif"/>
              </a:rPr>
              <a:t>in</a:t>
            </a:r>
            <a:r>
              <a:rPr sz="2000" spc="47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47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manner</a:t>
            </a:r>
            <a:r>
              <a:rPr sz="2000" spc="495" dirty="0">
                <a:latin typeface="Microsoft Sans Serif"/>
                <a:cs typeface="Microsoft Sans Serif"/>
              </a:rPr>
              <a:t> </a:t>
            </a:r>
            <a:r>
              <a:rPr sz="2000" spc="170" dirty="0">
                <a:latin typeface="Microsoft Sans Serif"/>
                <a:cs typeface="Microsoft Sans Serif"/>
              </a:rPr>
              <a:t>that</a:t>
            </a:r>
            <a:r>
              <a:rPr sz="2000" spc="484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reduces</a:t>
            </a:r>
            <a:r>
              <a:rPr sz="2000" spc="484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redundancy 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75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dependency</a:t>
            </a:r>
            <a:r>
              <a:rPr sz="2000" spc="765" dirty="0">
                <a:latin typeface="Microsoft Sans Serif"/>
                <a:cs typeface="Microsoft Sans Serif"/>
              </a:rPr>
              <a:t> </a:t>
            </a:r>
            <a:r>
              <a:rPr sz="2000" spc="225" dirty="0">
                <a:latin typeface="Microsoft Sans Serif"/>
                <a:cs typeface="Microsoft Sans Serif"/>
              </a:rPr>
              <a:t>of</a:t>
            </a:r>
            <a:r>
              <a:rPr sz="2000" spc="7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data.</a:t>
            </a:r>
            <a:r>
              <a:rPr sz="2000" spc="770" dirty="0">
                <a:latin typeface="Microsoft Sans Serif"/>
                <a:cs typeface="Microsoft Sans Serif"/>
              </a:rPr>
              <a:t> </a:t>
            </a:r>
            <a:r>
              <a:rPr sz="2000" spc="65" dirty="0">
                <a:latin typeface="Microsoft Sans Serif"/>
                <a:cs typeface="Microsoft Sans Serif"/>
              </a:rPr>
              <a:t>Normalization</a:t>
            </a:r>
            <a:r>
              <a:rPr sz="2000" spc="76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divides</a:t>
            </a:r>
            <a:r>
              <a:rPr sz="2000" spc="755" dirty="0">
                <a:latin typeface="Microsoft Sans Serif"/>
                <a:cs typeface="Microsoft Sans Serif"/>
              </a:rPr>
              <a:t> </a:t>
            </a:r>
            <a:r>
              <a:rPr sz="2000" spc="60" dirty="0">
                <a:latin typeface="Microsoft Sans Serif"/>
                <a:cs typeface="Microsoft Sans Serif"/>
              </a:rPr>
              <a:t>larger </a:t>
            </a:r>
            <a:r>
              <a:rPr sz="2000" spc="55" dirty="0">
                <a:latin typeface="Microsoft Sans Serif"/>
                <a:cs typeface="Microsoft Sans Serif"/>
              </a:rPr>
              <a:t>tables</a:t>
            </a:r>
            <a:r>
              <a:rPr sz="2000" spc="635" dirty="0">
                <a:latin typeface="Microsoft Sans Serif"/>
                <a:cs typeface="Microsoft Sans Serif"/>
              </a:rPr>
              <a:t>  </a:t>
            </a:r>
            <a:r>
              <a:rPr sz="2000" spc="150" dirty="0">
                <a:latin typeface="Microsoft Sans Serif"/>
                <a:cs typeface="Microsoft Sans Serif"/>
              </a:rPr>
              <a:t>into</a:t>
            </a:r>
            <a:r>
              <a:rPr sz="2000" spc="640" dirty="0">
                <a:latin typeface="Microsoft Sans Serif"/>
                <a:cs typeface="Microsoft Sans Serif"/>
              </a:rPr>
              <a:t>  </a:t>
            </a:r>
            <a:r>
              <a:rPr sz="2000" dirty="0">
                <a:latin typeface="Microsoft Sans Serif"/>
                <a:cs typeface="Microsoft Sans Serif"/>
              </a:rPr>
              <a:t>smaller</a:t>
            </a:r>
            <a:r>
              <a:rPr sz="2000" spc="630" dirty="0">
                <a:latin typeface="Microsoft Sans Serif"/>
                <a:cs typeface="Microsoft Sans Serif"/>
              </a:rPr>
              <a:t>  </a:t>
            </a:r>
            <a:r>
              <a:rPr sz="2000" spc="55" dirty="0">
                <a:latin typeface="Microsoft Sans Serif"/>
                <a:cs typeface="Microsoft Sans Serif"/>
              </a:rPr>
              <a:t>tables</a:t>
            </a:r>
            <a:r>
              <a:rPr sz="2000" spc="640" dirty="0">
                <a:latin typeface="Microsoft Sans Serif"/>
                <a:cs typeface="Microsoft Sans Serif"/>
              </a:rPr>
              <a:t>  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635" dirty="0">
                <a:latin typeface="Microsoft Sans Serif"/>
                <a:cs typeface="Microsoft Sans Serif"/>
              </a:rPr>
              <a:t>  </a:t>
            </a:r>
            <a:r>
              <a:rPr sz="2000" dirty="0">
                <a:latin typeface="Microsoft Sans Serif"/>
                <a:cs typeface="Microsoft Sans Serif"/>
              </a:rPr>
              <a:t>links</a:t>
            </a:r>
            <a:r>
              <a:rPr sz="2000" spc="640" dirty="0">
                <a:latin typeface="Microsoft Sans Serif"/>
                <a:cs typeface="Microsoft Sans Serif"/>
              </a:rPr>
              <a:t>  </a:t>
            </a:r>
            <a:r>
              <a:rPr sz="2000" spc="125" dirty="0">
                <a:latin typeface="Microsoft Sans Serif"/>
                <a:cs typeface="Microsoft Sans Serif"/>
              </a:rPr>
              <a:t>them</a:t>
            </a:r>
            <a:r>
              <a:rPr sz="2000" spc="635" dirty="0">
                <a:latin typeface="Microsoft Sans Serif"/>
                <a:cs typeface="Microsoft Sans Serif"/>
              </a:rPr>
              <a:t>  </a:t>
            </a:r>
            <a:r>
              <a:rPr sz="2000" spc="-10" dirty="0">
                <a:latin typeface="Microsoft Sans Serif"/>
                <a:cs typeface="Microsoft Sans Serif"/>
              </a:rPr>
              <a:t>using </a:t>
            </a:r>
            <a:r>
              <a:rPr sz="2000" dirty="0">
                <a:latin typeface="Microsoft Sans Serif"/>
                <a:cs typeface="Microsoft Sans Serif"/>
              </a:rPr>
              <a:t>relationships.</a:t>
            </a:r>
            <a:r>
              <a:rPr sz="2000" spc="509" dirty="0">
                <a:latin typeface="Microsoft Sans Serif"/>
                <a:cs typeface="Microsoft Sans Serif"/>
              </a:rPr>
              <a:t> 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520" dirty="0">
                <a:latin typeface="Microsoft Sans Serif"/>
                <a:cs typeface="Microsoft Sans Serif"/>
              </a:rPr>
              <a:t>  </a:t>
            </a:r>
            <a:r>
              <a:rPr sz="2000" spc="55" dirty="0">
                <a:latin typeface="Microsoft Sans Serif"/>
                <a:cs typeface="Microsoft Sans Serif"/>
              </a:rPr>
              <a:t>purpose</a:t>
            </a:r>
            <a:r>
              <a:rPr sz="2000" spc="515" dirty="0">
                <a:latin typeface="Microsoft Sans Serif"/>
                <a:cs typeface="Microsoft Sans Serif"/>
              </a:rPr>
              <a:t>  </a:t>
            </a:r>
            <a:r>
              <a:rPr sz="2000" spc="225" dirty="0">
                <a:latin typeface="Microsoft Sans Serif"/>
                <a:cs typeface="Microsoft Sans Serif"/>
              </a:rPr>
              <a:t>of</a:t>
            </a:r>
            <a:r>
              <a:rPr sz="2000" spc="515" dirty="0">
                <a:latin typeface="Microsoft Sans Serif"/>
                <a:cs typeface="Microsoft Sans Serif"/>
              </a:rPr>
              <a:t>  </a:t>
            </a:r>
            <a:r>
              <a:rPr sz="2000" spc="65" dirty="0">
                <a:latin typeface="Microsoft Sans Serif"/>
                <a:cs typeface="Microsoft Sans Serif"/>
              </a:rPr>
              <a:t>Normalization</a:t>
            </a:r>
            <a:r>
              <a:rPr sz="2000" spc="520" dirty="0">
                <a:latin typeface="Microsoft Sans Serif"/>
                <a:cs typeface="Microsoft Sans Serif"/>
              </a:rPr>
              <a:t> 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505" dirty="0">
                <a:latin typeface="Microsoft Sans Serif"/>
                <a:cs typeface="Microsoft Sans Serif"/>
              </a:rPr>
              <a:t>  </a:t>
            </a:r>
            <a:r>
              <a:rPr sz="2000" spc="220" dirty="0">
                <a:latin typeface="Microsoft Sans Serif"/>
                <a:cs typeface="Microsoft Sans Serif"/>
              </a:rPr>
              <a:t>to </a:t>
            </a:r>
            <a:r>
              <a:rPr sz="2000" spc="80" dirty="0">
                <a:latin typeface="Microsoft Sans Serif"/>
                <a:cs typeface="Microsoft Sans Serif"/>
              </a:rPr>
              <a:t>eliminate</a:t>
            </a:r>
            <a:r>
              <a:rPr sz="2000" spc="540" dirty="0">
                <a:latin typeface="Microsoft Sans Serif"/>
                <a:cs typeface="Microsoft Sans Serif"/>
              </a:rPr>
              <a:t> </a:t>
            </a:r>
            <a:r>
              <a:rPr sz="2000" spc="85" dirty="0">
                <a:latin typeface="Microsoft Sans Serif"/>
                <a:cs typeface="Microsoft Sans Serif"/>
              </a:rPr>
              <a:t>redundant</a:t>
            </a:r>
            <a:r>
              <a:rPr sz="2000" spc="5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(useless)</a:t>
            </a:r>
            <a:r>
              <a:rPr sz="2000" spc="525" dirty="0">
                <a:latin typeface="Microsoft Sans Serif"/>
                <a:cs typeface="Microsoft Sans Serif"/>
              </a:rPr>
              <a:t> </a:t>
            </a:r>
            <a:r>
              <a:rPr sz="2000" spc="60" dirty="0">
                <a:latin typeface="Microsoft Sans Serif"/>
                <a:cs typeface="Microsoft Sans Serif"/>
              </a:rPr>
              <a:t>data</a:t>
            </a:r>
            <a:r>
              <a:rPr sz="2000" spc="5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5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ensure</a:t>
            </a:r>
            <a:r>
              <a:rPr sz="2000" spc="540" dirty="0">
                <a:latin typeface="Microsoft Sans Serif"/>
                <a:cs typeface="Microsoft Sans Serif"/>
              </a:rPr>
              <a:t> </a:t>
            </a:r>
            <a:r>
              <a:rPr sz="2000" spc="65" dirty="0">
                <a:latin typeface="Microsoft Sans Serif"/>
                <a:cs typeface="Microsoft Sans Serif"/>
              </a:rPr>
              <a:t>data</a:t>
            </a:r>
            <a:r>
              <a:rPr sz="2000" spc="54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is </a:t>
            </a:r>
            <a:r>
              <a:rPr sz="2000" spc="100" dirty="0">
                <a:latin typeface="Microsoft Sans Serif"/>
                <a:cs typeface="Microsoft Sans Serif"/>
              </a:rPr>
              <a:t>stored</a:t>
            </a:r>
            <a:r>
              <a:rPr sz="2000" spc="-10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logically.</a:t>
            </a:r>
            <a:endParaRPr sz="20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2676621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6486" y="2426843"/>
            <a:ext cx="2798372" cy="443115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9275" y="723181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7975">
              <a:lnSpc>
                <a:spcPct val="100000"/>
              </a:lnSpc>
              <a:spcBef>
                <a:spcPts val="105"/>
              </a:spcBef>
            </a:pPr>
            <a:r>
              <a:rPr spc="-660" dirty="0">
                <a:latin typeface="+mn-lt"/>
              </a:rPr>
              <a:t>BENEFITS</a:t>
            </a:r>
            <a:r>
              <a:rPr spc="-130" dirty="0"/>
              <a:t> </a:t>
            </a:r>
            <a:r>
              <a:rPr spc="-425" dirty="0"/>
              <a:t>OF</a:t>
            </a:r>
            <a:r>
              <a:rPr spc="-114" dirty="0"/>
              <a:t> </a:t>
            </a:r>
            <a:r>
              <a:rPr spc="-440" dirty="0"/>
              <a:t>NORMALIZATION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06711" y="1406709"/>
            <a:ext cx="5903690" cy="4076757"/>
          </a:xfrm>
          <a:prstGeom prst="rect">
            <a:avLst/>
          </a:prstGeom>
        </p:spPr>
        <p:txBody>
          <a:bodyPr vert="horz" wrap="square" lIns="0" tIns="25717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2025"/>
              </a:spcBef>
              <a:buFont typeface="Arial MT"/>
              <a:buChar char="•"/>
              <a:tabLst>
                <a:tab pos="298450" algn="l"/>
              </a:tabLst>
            </a:pPr>
            <a:r>
              <a:rPr sz="2400" spc="80" dirty="0">
                <a:latin typeface="Microsoft Sans Serif"/>
                <a:cs typeface="Microsoft Sans Serif"/>
              </a:rPr>
              <a:t>improved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data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135" dirty="0">
                <a:latin typeface="Microsoft Sans Serif"/>
                <a:cs typeface="Microsoft Sans Serif"/>
              </a:rPr>
              <a:t>integrity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(no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85" dirty="0">
                <a:latin typeface="Microsoft Sans Serif"/>
                <a:cs typeface="Microsoft Sans Serif"/>
              </a:rPr>
              <a:t>redundant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data)</a:t>
            </a:r>
            <a:endParaRPr sz="2400" dirty="0">
              <a:latin typeface="Microsoft Sans Serif"/>
              <a:cs typeface="Microsoft Sans Serif"/>
            </a:endParaRPr>
          </a:p>
          <a:p>
            <a:pPr marL="298450" indent="-285750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298450" algn="l"/>
              </a:tabLst>
            </a:pPr>
            <a:r>
              <a:rPr sz="2400" dirty="0">
                <a:latin typeface="Microsoft Sans Serif"/>
                <a:cs typeface="Microsoft Sans Serif"/>
              </a:rPr>
              <a:t>smaller</a:t>
            </a:r>
            <a:r>
              <a:rPr sz="2400" spc="18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databases</a:t>
            </a:r>
            <a:endParaRPr sz="2400" dirty="0">
              <a:latin typeface="Microsoft Sans Serif"/>
              <a:cs typeface="Microsoft Sans Serif"/>
            </a:endParaRPr>
          </a:p>
          <a:p>
            <a:pPr marL="298450" indent="-285750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298450" algn="l"/>
              </a:tabLst>
            </a:pPr>
            <a:r>
              <a:rPr sz="2400" spc="170" dirty="0">
                <a:latin typeface="Microsoft Sans Serif"/>
                <a:cs typeface="Microsoft Sans Serif"/>
              </a:rPr>
              <a:t>better</a:t>
            </a:r>
            <a:r>
              <a:rPr sz="2400" spc="-110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performance</a:t>
            </a:r>
            <a:endParaRPr sz="2400" dirty="0">
              <a:latin typeface="Microsoft Sans Serif"/>
              <a:cs typeface="Microsoft Sans Serif"/>
            </a:endParaRPr>
          </a:p>
          <a:p>
            <a:pPr marL="298450" indent="-285750">
              <a:lnSpc>
                <a:spcPct val="100000"/>
              </a:lnSpc>
              <a:spcBef>
                <a:spcPts val="1925"/>
              </a:spcBef>
              <a:buFont typeface="Arial MT"/>
              <a:buChar char="•"/>
              <a:tabLst>
                <a:tab pos="298450" algn="l"/>
              </a:tabLst>
            </a:pPr>
            <a:r>
              <a:rPr sz="2400" spc="135" dirty="0">
                <a:latin typeface="Microsoft Sans Serif"/>
                <a:cs typeface="Microsoft Sans Serif"/>
              </a:rPr>
              <a:t>fewer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indexes</a:t>
            </a:r>
            <a:endParaRPr sz="2400" dirty="0">
              <a:latin typeface="Microsoft Sans Serif"/>
              <a:cs typeface="Microsoft Sans Serif"/>
            </a:endParaRPr>
          </a:p>
          <a:p>
            <a:pPr marL="298450" indent="-285750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298450" algn="l"/>
              </a:tabLst>
            </a:pPr>
            <a:r>
              <a:rPr sz="2400" spc="-55" dirty="0">
                <a:latin typeface="Microsoft Sans Serif"/>
                <a:cs typeface="Microsoft Sans Serif"/>
              </a:rPr>
              <a:t>less</a:t>
            </a:r>
            <a:r>
              <a:rPr sz="2400" spc="-140" dirty="0"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Microsoft Sans Serif"/>
                <a:cs typeface="Microsoft Sans Serif"/>
              </a:rPr>
              <a:t>management</a:t>
            </a:r>
            <a:endParaRPr sz="2400" dirty="0">
              <a:latin typeface="Microsoft Sans Serif"/>
              <a:cs typeface="Microsoft Sans Serif"/>
            </a:endParaRPr>
          </a:p>
          <a:p>
            <a:pPr marL="298450" indent="-285750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298450" algn="l"/>
              </a:tabLst>
            </a:pPr>
            <a:r>
              <a:rPr sz="2400" spc="70" dirty="0">
                <a:latin typeface="Microsoft Sans Serif"/>
                <a:cs typeface="Microsoft Sans Serif"/>
              </a:rPr>
              <a:t>prevents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data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95" dirty="0">
                <a:latin typeface="Microsoft Sans Serif"/>
                <a:cs typeface="Microsoft Sans Serif"/>
              </a:rPr>
              <a:t>modification</a:t>
            </a:r>
            <a:r>
              <a:rPr sz="2400" spc="-1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anomalies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40651165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6486" y="2426843"/>
            <a:ext cx="2798372" cy="443115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7200" y="381000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0">
              <a:lnSpc>
                <a:spcPct val="100000"/>
              </a:lnSpc>
              <a:spcBef>
                <a:spcPts val="105"/>
              </a:spcBef>
            </a:pPr>
            <a:r>
              <a:rPr spc="-434" dirty="0"/>
              <a:t>NORMALIZATION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995672" y="1356694"/>
            <a:ext cx="3263741" cy="506549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600" b="1" i="1" spc="-30" dirty="0">
                <a:latin typeface="Arial"/>
                <a:cs typeface="Arial"/>
              </a:rPr>
              <a:t>There</a:t>
            </a:r>
            <a:r>
              <a:rPr sz="1600" b="1" i="1" spc="-90" dirty="0">
                <a:latin typeface="Arial"/>
                <a:cs typeface="Arial"/>
              </a:rPr>
              <a:t> </a:t>
            </a:r>
            <a:r>
              <a:rPr sz="1600" b="1" i="1" spc="-70" dirty="0">
                <a:latin typeface="Arial"/>
                <a:cs typeface="Arial"/>
              </a:rPr>
              <a:t>is</a:t>
            </a:r>
            <a:r>
              <a:rPr sz="1600" b="1" i="1" spc="-75" dirty="0">
                <a:latin typeface="Arial"/>
                <a:cs typeface="Arial"/>
              </a:rPr>
              <a:t> </a:t>
            </a:r>
            <a:r>
              <a:rPr sz="1600" b="1" i="1" spc="55" dirty="0">
                <a:latin typeface="Arial"/>
                <a:cs typeface="Arial"/>
              </a:rPr>
              <a:t>a</a:t>
            </a:r>
            <a:r>
              <a:rPr sz="1600" b="1" i="1" spc="-75" dirty="0">
                <a:latin typeface="Arial"/>
                <a:cs typeface="Arial"/>
              </a:rPr>
              <a:t> </a:t>
            </a:r>
            <a:r>
              <a:rPr sz="1600" b="1" i="1" spc="-90" dirty="0">
                <a:latin typeface="Arial"/>
                <a:cs typeface="Arial"/>
              </a:rPr>
              <a:t>sequence </a:t>
            </a:r>
            <a:r>
              <a:rPr sz="1600" b="1" i="1" dirty="0">
                <a:latin typeface="Arial"/>
                <a:cs typeface="Arial"/>
              </a:rPr>
              <a:t>to</a:t>
            </a:r>
            <a:r>
              <a:rPr sz="1600" b="1" i="1" spc="-55" dirty="0">
                <a:latin typeface="Arial"/>
                <a:cs typeface="Arial"/>
              </a:rPr>
              <a:t> </a:t>
            </a:r>
            <a:r>
              <a:rPr sz="1600" b="1" i="1" spc="-10" dirty="0">
                <a:latin typeface="Arial"/>
                <a:cs typeface="Arial"/>
              </a:rPr>
              <a:t>normal</a:t>
            </a:r>
            <a:r>
              <a:rPr sz="1600" b="1" i="1" spc="-105" dirty="0">
                <a:latin typeface="Arial"/>
                <a:cs typeface="Arial"/>
              </a:rPr>
              <a:t> </a:t>
            </a:r>
            <a:r>
              <a:rPr sz="1600" b="1" i="1" spc="-10" dirty="0">
                <a:latin typeface="Arial"/>
                <a:cs typeface="Arial"/>
              </a:rPr>
              <a:t>forms: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600" i="1" spc="-85" dirty="0">
                <a:latin typeface="Arial"/>
                <a:cs typeface="Arial"/>
              </a:rPr>
              <a:t>1NF</a:t>
            </a:r>
            <a:r>
              <a:rPr sz="1600" i="1" spc="-60" dirty="0">
                <a:latin typeface="Arial"/>
                <a:cs typeface="Arial"/>
              </a:rPr>
              <a:t> </a:t>
            </a:r>
            <a:r>
              <a:rPr sz="1600" i="1" spc="-70" dirty="0">
                <a:latin typeface="Arial"/>
                <a:cs typeface="Arial"/>
              </a:rPr>
              <a:t>is</a:t>
            </a:r>
            <a:r>
              <a:rPr sz="1600" i="1" spc="-40" dirty="0">
                <a:latin typeface="Arial"/>
                <a:cs typeface="Arial"/>
              </a:rPr>
              <a:t> considered </a:t>
            </a:r>
            <a:r>
              <a:rPr sz="1600" i="1" dirty="0">
                <a:latin typeface="Arial"/>
                <a:cs typeface="Arial"/>
              </a:rPr>
              <a:t>the</a:t>
            </a:r>
            <a:r>
              <a:rPr sz="1600" i="1" spc="-60" dirty="0">
                <a:latin typeface="Arial"/>
                <a:cs typeface="Arial"/>
              </a:rPr>
              <a:t> </a:t>
            </a:r>
            <a:r>
              <a:rPr sz="1600" i="1" spc="-10" dirty="0">
                <a:latin typeface="Arial"/>
                <a:cs typeface="Arial"/>
              </a:rPr>
              <a:t>weakest,</a:t>
            </a:r>
            <a:endParaRPr sz="1600" dirty="0">
              <a:latin typeface="Arial"/>
              <a:cs typeface="Arial"/>
            </a:endParaRPr>
          </a:p>
          <a:p>
            <a:pPr marL="12700" marR="1019810">
              <a:lnSpc>
                <a:spcPct val="150000"/>
              </a:lnSpc>
            </a:pPr>
            <a:r>
              <a:rPr sz="1600" i="1" spc="-85" dirty="0">
                <a:latin typeface="Arial"/>
                <a:cs typeface="Arial"/>
              </a:rPr>
              <a:t>2NF</a:t>
            </a:r>
            <a:r>
              <a:rPr sz="1600" i="1" spc="-30" dirty="0">
                <a:latin typeface="Arial"/>
                <a:cs typeface="Arial"/>
              </a:rPr>
              <a:t> </a:t>
            </a:r>
            <a:r>
              <a:rPr sz="1600" i="1" spc="-70" dirty="0">
                <a:latin typeface="Arial"/>
                <a:cs typeface="Arial"/>
              </a:rPr>
              <a:t>is</a:t>
            </a:r>
            <a:r>
              <a:rPr sz="1600" i="1" spc="-20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stronger</a:t>
            </a:r>
            <a:r>
              <a:rPr sz="1600" i="1" spc="-20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than</a:t>
            </a:r>
            <a:r>
              <a:rPr sz="1600" i="1" spc="-40" dirty="0">
                <a:latin typeface="Arial"/>
                <a:cs typeface="Arial"/>
              </a:rPr>
              <a:t> </a:t>
            </a:r>
            <a:r>
              <a:rPr sz="1600" i="1" spc="-20" dirty="0">
                <a:latin typeface="Arial"/>
                <a:cs typeface="Arial"/>
              </a:rPr>
              <a:t>1NF, </a:t>
            </a:r>
            <a:r>
              <a:rPr sz="1600" i="1" spc="-85" dirty="0">
                <a:latin typeface="Arial"/>
                <a:cs typeface="Arial"/>
              </a:rPr>
              <a:t>3NF</a:t>
            </a:r>
            <a:r>
              <a:rPr sz="1600" i="1" spc="-45" dirty="0">
                <a:latin typeface="Arial"/>
                <a:cs typeface="Arial"/>
              </a:rPr>
              <a:t> </a:t>
            </a:r>
            <a:r>
              <a:rPr sz="1600" i="1" spc="-70" dirty="0">
                <a:latin typeface="Arial"/>
                <a:cs typeface="Arial"/>
              </a:rPr>
              <a:t>is</a:t>
            </a:r>
            <a:r>
              <a:rPr sz="1600" i="1" spc="-30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stronger</a:t>
            </a:r>
            <a:r>
              <a:rPr sz="1600" i="1" spc="-2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than</a:t>
            </a:r>
            <a:r>
              <a:rPr sz="1600" i="1" spc="-55" dirty="0">
                <a:latin typeface="Arial"/>
                <a:cs typeface="Arial"/>
              </a:rPr>
              <a:t> </a:t>
            </a:r>
            <a:r>
              <a:rPr sz="1600" i="1" spc="-75" dirty="0">
                <a:latin typeface="Arial"/>
                <a:cs typeface="Arial"/>
              </a:rPr>
              <a:t>2NF,</a:t>
            </a:r>
            <a:r>
              <a:rPr sz="1600" i="1" spc="-50" dirty="0">
                <a:latin typeface="Arial"/>
                <a:cs typeface="Arial"/>
              </a:rPr>
              <a:t> </a:t>
            </a:r>
            <a:r>
              <a:rPr sz="1600" i="1" spc="-25" dirty="0">
                <a:latin typeface="Arial"/>
                <a:cs typeface="Arial"/>
              </a:rPr>
              <a:t>and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600" i="1" spc="-160" dirty="0">
                <a:latin typeface="Arial"/>
                <a:cs typeface="Arial"/>
              </a:rPr>
              <a:t>BCNF</a:t>
            </a:r>
            <a:r>
              <a:rPr sz="1600" i="1" spc="-45" dirty="0">
                <a:latin typeface="Arial"/>
                <a:cs typeface="Arial"/>
              </a:rPr>
              <a:t> </a:t>
            </a:r>
            <a:r>
              <a:rPr sz="1600" i="1" spc="-70" dirty="0">
                <a:latin typeface="Arial"/>
                <a:cs typeface="Arial"/>
              </a:rPr>
              <a:t>is</a:t>
            </a:r>
            <a:r>
              <a:rPr sz="1600" i="1" spc="-40" dirty="0">
                <a:latin typeface="Arial"/>
                <a:cs typeface="Arial"/>
              </a:rPr>
              <a:t> considered</a:t>
            </a:r>
            <a:r>
              <a:rPr sz="1600" i="1" spc="-50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the</a:t>
            </a:r>
            <a:r>
              <a:rPr sz="1600" i="1" spc="-60" dirty="0">
                <a:latin typeface="Arial"/>
                <a:cs typeface="Arial"/>
              </a:rPr>
              <a:t> </a:t>
            </a:r>
            <a:r>
              <a:rPr sz="1600" i="1" spc="-10" dirty="0">
                <a:latin typeface="Arial"/>
                <a:cs typeface="Arial"/>
              </a:rPr>
              <a:t>strongest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i="1" spc="-10" dirty="0">
                <a:latin typeface="Arial"/>
                <a:cs typeface="Arial"/>
              </a:rPr>
              <a:t>Also,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600" i="1" spc="-40" dirty="0">
                <a:latin typeface="Arial"/>
                <a:cs typeface="Arial"/>
              </a:rPr>
              <a:t>any</a:t>
            </a:r>
            <a:r>
              <a:rPr sz="1600" i="1" spc="-6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relation</a:t>
            </a:r>
            <a:r>
              <a:rPr sz="1600" i="1" spc="-60" dirty="0">
                <a:latin typeface="Arial"/>
                <a:cs typeface="Arial"/>
              </a:rPr>
              <a:t> </a:t>
            </a:r>
            <a:r>
              <a:rPr sz="1600" i="1" spc="105" dirty="0">
                <a:latin typeface="Arial"/>
                <a:cs typeface="Arial"/>
              </a:rPr>
              <a:t>that</a:t>
            </a:r>
            <a:r>
              <a:rPr sz="1600" i="1" spc="-65" dirty="0">
                <a:latin typeface="Arial"/>
                <a:cs typeface="Arial"/>
              </a:rPr>
              <a:t> </a:t>
            </a:r>
            <a:r>
              <a:rPr sz="1600" i="1" spc="-70" dirty="0">
                <a:latin typeface="Arial"/>
                <a:cs typeface="Arial"/>
              </a:rPr>
              <a:t>is</a:t>
            </a:r>
            <a:r>
              <a:rPr sz="1600" i="1" spc="-3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in</a:t>
            </a:r>
            <a:r>
              <a:rPr sz="1600" i="1" spc="-65" dirty="0">
                <a:latin typeface="Arial"/>
                <a:cs typeface="Arial"/>
              </a:rPr>
              <a:t> </a:t>
            </a:r>
            <a:r>
              <a:rPr sz="1600" i="1" spc="-135" dirty="0">
                <a:latin typeface="Arial"/>
                <a:cs typeface="Arial"/>
              </a:rPr>
              <a:t>BCNF,</a:t>
            </a:r>
            <a:r>
              <a:rPr sz="1600" i="1" spc="-45" dirty="0">
                <a:latin typeface="Arial"/>
                <a:cs typeface="Arial"/>
              </a:rPr>
              <a:t> </a:t>
            </a:r>
            <a:r>
              <a:rPr sz="1600" i="1" spc="-70" dirty="0">
                <a:latin typeface="Arial"/>
                <a:cs typeface="Arial"/>
              </a:rPr>
              <a:t>is</a:t>
            </a:r>
            <a:r>
              <a:rPr sz="1600" i="1" spc="-40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in</a:t>
            </a:r>
            <a:r>
              <a:rPr sz="1600" i="1" spc="-45" dirty="0">
                <a:latin typeface="Arial"/>
                <a:cs typeface="Arial"/>
              </a:rPr>
              <a:t> </a:t>
            </a:r>
            <a:r>
              <a:rPr sz="1600" i="1" spc="-20" dirty="0">
                <a:latin typeface="Arial"/>
                <a:cs typeface="Arial"/>
              </a:rPr>
              <a:t>3NF;</a:t>
            </a:r>
            <a:endParaRPr sz="1600" dirty="0">
              <a:latin typeface="Arial"/>
              <a:cs typeface="Arial"/>
            </a:endParaRPr>
          </a:p>
          <a:p>
            <a:pPr marL="12700" marR="681355">
              <a:lnSpc>
                <a:spcPct val="150000"/>
              </a:lnSpc>
            </a:pPr>
            <a:r>
              <a:rPr sz="1600" i="1" spc="-40" dirty="0">
                <a:latin typeface="Arial"/>
                <a:cs typeface="Arial"/>
              </a:rPr>
              <a:t>any</a:t>
            </a:r>
            <a:r>
              <a:rPr sz="1600" i="1" spc="-4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relation</a:t>
            </a:r>
            <a:r>
              <a:rPr sz="1600" i="1" spc="-4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in</a:t>
            </a:r>
            <a:r>
              <a:rPr sz="1600" i="1" spc="-45" dirty="0">
                <a:latin typeface="Arial"/>
                <a:cs typeface="Arial"/>
              </a:rPr>
              <a:t> </a:t>
            </a:r>
            <a:r>
              <a:rPr sz="1600" i="1" spc="-85" dirty="0">
                <a:latin typeface="Arial"/>
                <a:cs typeface="Arial"/>
              </a:rPr>
              <a:t>3NF</a:t>
            </a:r>
            <a:r>
              <a:rPr sz="1600" i="1" spc="-30" dirty="0">
                <a:latin typeface="Arial"/>
                <a:cs typeface="Arial"/>
              </a:rPr>
              <a:t> </a:t>
            </a:r>
            <a:r>
              <a:rPr sz="1600" i="1" spc="-70" dirty="0">
                <a:latin typeface="Arial"/>
                <a:cs typeface="Arial"/>
              </a:rPr>
              <a:t>is</a:t>
            </a:r>
            <a:r>
              <a:rPr sz="1600" i="1" spc="-2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in</a:t>
            </a:r>
            <a:r>
              <a:rPr sz="1600" i="1" spc="-25" dirty="0">
                <a:latin typeface="Arial"/>
                <a:cs typeface="Arial"/>
              </a:rPr>
              <a:t> </a:t>
            </a:r>
            <a:r>
              <a:rPr sz="1600" i="1" spc="-75" dirty="0">
                <a:latin typeface="Arial"/>
                <a:cs typeface="Arial"/>
              </a:rPr>
              <a:t>2NF;</a:t>
            </a:r>
            <a:r>
              <a:rPr sz="1600" i="1" spc="-50" dirty="0">
                <a:latin typeface="Arial"/>
                <a:cs typeface="Arial"/>
              </a:rPr>
              <a:t> </a:t>
            </a:r>
            <a:r>
              <a:rPr sz="1600" i="1" spc="-25" dirty="0">
                <a:latin typeface="Arial"/>
                <a:cs typeface="Arial"/>
              </a:rPr>
              <a:t>and </a:t>
            </a:r>
            <a:r>
              <a:rPr sz="1600" i="1" spc="-40" dirty="0">
                <a:latin typeface="Arial"/>
                <a:cs typeface="Arial"/>
              </a:rPr>
              <a:t>any </a:t>
            </a:r>
            <a:r>
              <a:rPr sz="1600" i="1" dirty="0">
                <a:latin typeface="Arial"/>
                <a:cs typeface="Arial"/>
              </a:rPr>
              <a:t>relation</a:t>
            </a:r>
            <a:r>
              <a:rPr sz="1600" i="1" spc="-3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in</a:t>
            </a:r>
            <a:r>
              <a:rPr sz="1600" i="1" spc="-35" dirty="0">
                <a:latin typeface="Arial"/>
                <a:cs typeface="Arial"/>
              </a:rPr>
              <a:t> </a:t>
            </a:r>
            <a:r>
              <a:rPr sz="1600" i="1" spc="-85" dirty="0">
                <a:latin typeface="Arial"/>
                <a:cs typeface="Arial"/>
              </a:rPr>
              <a:t>2NF</a:t>
            </a:r>
            <a:r>
              <a:rPr sz="1600" i="1" spc="-20" dirty="0">
                <a:latin typeface="Arial"/>
                <a:cs typeface="Arial"/>
              </a:rPr>
              <a:t> </a:t>
            </a:r>
            <a:r>
              <a:rPr sz="1600" i="1" spc="-70" dirty="0">
                <a:latin typeface="Arial"/>
                <a:cs typeface="Arial"/>
              </a:rPr>
              <a:t>is</a:t>
            </a:r>
            <a:r>
              <a:rPr sz="1600" i="1" spc="-1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in</a:t>
            </a:r>
            <a:r>
              <a:rPr sz="1600" i="1" spc="-20" dirty="0">
                <a:latin typeface="Arial"/>
                <a:cs typeface="Arial"/>
              </a:rPr>
              <a:t> 1NF.</a:t>
            </a:r>
            <a:endParaRPr sz="1600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3266" y="1592986"/>
            <a:ext cx="3612452" cy="441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0698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563" y="2062099"/>
            <a:ext cx="7000875" cy="27336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9275" y="753958"/>
            <a:ext cx="8042276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52145">
              <a:lnSpc>
                <a:spcPct val="100000"/>
              </a:lnSpc>
              <a:spcBef>
                <a:spcPts val="105"/>
              </a:spcBef>
            </a:pPr>
            <a:r>
              <a:rPr spc="-665" dirty="0"/>
              <a:t>TYPES</a:t>
            </a:r>
            <a:r>
              <a:rPr spc="-125" dirty="0"/>
              <a:t> </a:t>
            </a:r>
            <a:r>
              <a:rPr spc="-425" dirty="0"/>
              <a:t>OF</a:t>
            </a:r>
            <a:r>
              <a:rPr spc="-125" dirty="0"/>
              <a:t> </a:t>
            </a:r>
            <a:r>
              <a:rPr spc="-430" dirty="0"/>
              <a:t>NORMALIZATION</a:t>
            </a:r>
          </a:p>
        </p:txBody>
      </p:sp>
    </p:spTree>
    <p:extLst>
      <p:ext uri="{BB962C8B-B14F-4D97-AF65-F5344CB8AC3E}">
        <p14:creationId xmlns:p14="http://schemas.microsoft.com/office/powerpoint/2010/main" val="5147906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6486" y="2426843"/>
            <a:ext cx="2798372" cy="443115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9275" y="723181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0245">
              <a:lnSpc>
                <a:spcPct val="100000"/>
              </a:lnSpc>
              <a:spcBef>
                <a:spcPts val="105"/>
              </a:spcBef>
            </a:pPr>
            <a:r>
              <a:rPr spc="-575" dirty="0"/>
              <a:t>First</a:t>
            </a:r>
            <a:r>
              <a:rPr spc="-150" dirty="0"/>
              <a:t> </a:t>
            </a:r>
            <a:r>
              <a:rPr spc="-405" dirty="0"/>
              <a:t>Normal</a:t>
            </a:r>
            <a:r>
              <a:rPr spc="-145" dirty="0"/>
              <a:t> </a:t>
            </a:r>
            <a:r>
              <a:rPr spc="-755" dirty="0"/>
              <a:t>Form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1665" y="1486027"/>
            <a:ext cx="6910864" cy="8880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We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-65" dirty="0">
                <a:latin typeface="Microsoft Sans Serif"/>
                <a:cs typeface="Microsoft Sans Serif"/>
              </a:rPr>
              <a:t>say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70" dirty="0">
                <a:latin typeface="Microsoft Sans Serif"/>
                <a:cs typeface="Microsoft Sans Serif"/>
              </a:rPr>
              <a:t>a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55" dirty="0">
                <a:latin typeface="Microsoft Sans Serif"/>
                <a:cs typeface="Microsoft Sans Serif"/>
              </a:rPr>
              <a:t>relation</a:t>
            </a:r>
            <a:r>
              <a:rPr sz="1400" spc="-50" dirty="0">
                <a:latin typeface="Microsoft Sans Serif"/>
                <a:cs typeface="Microsoft Sans Serif"/>
              </a:rPr>
              <a:t> </a:t>
            </a:r>
            <a:r>
              <a:rPr sz="1400" spc="-35" dirty="0">
                <a:latin typeface="Microsoft Sans Serif"/>
                <a:cs typeface="Microsoft Sans Serif"/>
              </a:rPr>
              <a:t>is</a:t>
            </a:r>
            <a:r>
              <a:rPr sz="1400" spc="-5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in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50" dirty="0">
                <a:latin typeface="Microsoft Sans Serif"/>
                <a:cs typeface="Microsoft Sans Serif"/>
              </a:rPr>
              <a:t>1NF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114" dirty="0">
                <a:latin typeface="Microsoft Sans Serif"/>
                <a:cs typeface="Microsoft Sans Serif"/>
              </a:rPr>
              <a:t>if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all</a:t>
            </a:r>
            <a:r>
              <a:rPr sz="1400" spc="-5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values</a:t>
            </a:r>
            <a:r>
              <a:rPr sz="1400" spc="-65" dirty="0">
                <a:latin typeface="Microsoft Sans Serif"/>
                <a:cs typeface="Microsoft Sans Serif"/>
              </a:rPr>
              <a:t> </a:t>
            </a:r>
            <a:r>
              <a:rPr sz="1400" spc="50" dirty="0">
                <a:latin typeface="Microsoft Sans Serif"/>
                <a:cs typeface="Microsoft Sans Serif"/>
              </a:rPr>
              <a:t>stored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in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80" dirty="0">
                <a:latin typeface="Microsoft Sans Serif"/>
                <a:cs typeface="Microsoft Sans Serif"/>
              </a:rPr>
              <a:t>the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50" dirty="0">
                <a:latin typeface="Microsoft Sans Serif"/>
                <a:cs typeface="Microsoft Sans Serif"/>
              </a:rPr>
              <a:t>relation</a:t>
            </a:r>
            <a:r>
              <a:rPr sz="1400" spc="-6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are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single-valued</a:t>
            </a:r>
            <a:r>
              <a:rPr sz="1400" spc="-6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and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atomic. </a:t>
            </a:r>
            <a:r>
              <a:rPr sz="1400" spc="-50" dirty="0">
                <a:latin typeface="Microsoft Sans Serif"/>
                <a:cs typeface="Microsoft Sans Serif"/>
              </a:rPr>
              <a:t>1NF</a:t>
            </a:r>
            <a:r>
              <a:rPr sz="1400" spc="2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places</a:t>
            </a:r>
            <a:r>
              <a:rPr sz="1400" spc="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restrictions</a:t>
            </a:r>
            <a:r>
              <a:rPr sz="1400" spc="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on</a:t>
            </a:r>
            <a:r>
              <a:rPr sz="1400" spc="70" dirty="0">
                <a:latin typeface="Microsoft Sans Serif"/>
                <a:cs typeface="Microsoft Sans Serif"/>
              </a:rPr>
              <a:t> </a:t>
            </a:r>
            <a:r>
              <a:rPr sz="1400" spc="80" dirty="0">
                <a:latin typeface="Microsoft Sans Serif"/>
                <a:cs typeface="Microsoft Sans Serif"/>
              </a:rPr>
              <a:t>the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spc="50" dirty="0">
                <a:latin typeface="Microsoft Sans Serif"/>
                <a:cs typeface="Microsoft Sans Serif"/>
              </a:rPr>
              <a:t>structure</a:t>
            </a:r>
            <a:r>
              <a:rPr sz="1400" spc="65" dirty="0">
                <a:latin typeface="Microsoft Sans Serif"/>
                <a:cs typeface="Microsoft Sans Serif"/>
              </a:rPr>
              <a:t> </a:t>
            </a:r>
            <a:r>
              <a:rPr sz="1400" spc="120" dirty="0">
                <a:latin typeface="Microsoft Sans Serif"/>
                <a:cs typeface="Microsoft Sans Serif"/>
              </a:rPr>
              <a:t>of</a:t>
            </a:r>
            <a:r>
              <a:rPr sz="1400" spc="5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relations.</a:t>
            </a:r>
            <a:r>
              <a:rPr sz="1400" spc="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Values </a:t>
            </a:r>
            <a:r>
              <a:rPr sz="1400" dirty="0">
                <a:latin typeface="Microsoft Sans Serif"/>
                <a:cs typeface="Microsoft Sans Serif"/>
              </a:rPr>
              <a:t>must</a:t>
            </a:r>
            <a:r>
              <a:rPr sz="1400" spc="5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be</a:t>
            </a:r>
            <a:r>
              <a:rPr sz="1400" spc="4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simple</a:t>
            </a:r>
            <a:r>
              <a:rPr sz="1400" spc="-10" dirty="0" smtClean="0">
                <a:latin typeface="Microsoft Sans Serif"/>
                <a:cs typeface="Microsoft Sans Serif"/>
              </a:rPr>
              <a:t>.</a:t>
            </a:r>
            <a:endParaRPr lang="en-US" sz="14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sz="14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20" dirty="0">
                <a:latin typeface="Microsoft Sans Serif"/>
                <a:cs typeface="Microsoft Sans Serif"/>
              </a:rPr>
              <a:t>The</a:t>
            </a:r>
            <a:r>
              <a:rPr sz="1400" spc="-75" dirty="0">
                <a:latin typeface="Microsoft Sans Serif"/>
                <a:cs typeface="Microsoft Sans Serif"/>
              </a:rPr>
              <a:t> </a:t>
            </a:r>
            <a:r>
              <a:rPr sz="1400" spc="70" dirty="0">
                <a:latin typeface="Microsoft Sans Serif"/>
                <a:cs typeface="Microsoft Sans Serif"/>
              </a:rPr>
              <a:t>following</a:t>
            </a:r>
            <a:r>
              <a:rPr sz="1400" spc="-60" dirty="0">
                <a:latin typeface="Microsoft Sans Serif"/>
                <a:cs typeface="Microsoft Sans Serif"/>
              </a:rPr>
              <a:t> </a:t>
            </a:r>
            <a:r>
              <a:rPr sz="1400" spc="-35" dirty="0">
                <a:latin typeface="Microsoft Sans Serif"/>
                <a:cs typeface="Microsoft Sans Serif"/>
              </a:rPr>
              <a:t>is</a:t>
            </a:r>
            <a:r>
              <a:rPr sz="1400" spc="-65" dirty="0">
                <a:latin typeface="Microsoft Sans Serif"/>
                <a:cs typeface="Microsoft Sans Serif"/>
              </a:rPr>
              <a:t> </a:t>
            </a:r>
            <a:r>
              <a:rPr sz="1400" spc="95" dirty="0">
                <a:latin typeface="Microsoft Sans Serif"/>
                <a:cs typeface="Microsoft Sans Serif"/>
              </a:rPr>
              <a:t>not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in</a:t>
            </a:r>
            <a:r>
              <a:rPr sz="1400" spc="-50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1NF:</a:t>
            </a:r>
            <a:endParaRPr sz="1400" dirty="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600" y="5105400"/>
            <a:ext cx="7518559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To</a:t>
            </a:r>
            <a:r>
              <a:rPr sz="1400" spc="30" dirty="0">
                <a:latin typeface="Microsoft Sans Serif"/>
                <a:cs typeface="Microsoft Sans Serif"/>
              </a:rPr>
              <a:t> </a:t>
            </a:r>
            <a:r>
              <a:rPr sz="1400" spc="50" dirty="0">
                <a:latin typeface="Microsoft Sans Serif"/>
                <a:cs typeface="Microsoft Sans Serif"/>
              </a:rPr>
              <a:t>obtain</a:t>
            </a:r>
            <a:r>
              <a:rPr sz="1400" spc="55" dirty="0">
                <a:latin typeface="Microsoft Sans Serif"/>
                <a:cs typeface="Microsoft Sans Serif"/>
              </a:rPr>
              <a:t> </a:t>
            </a:r>
            <a:r>
              <a:rPr sz="1400" spc="-45" dirty="0">
                <a:latin typeface="Microsoft Sans Serif"/>
                <a:cs typeface="Microsoft Sans Serif"/>
              </a:rPr>
              <a:t>1NF</a:t>
            </a:r>
            <a:r>
              <a:rPr sz="1400" spc="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relations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we</a:t>
            </a:r>
            <a:r>
              <a:rPr sz="1400" spc="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must,</a:t>
            </a:r>
            <a:r>
              <a:rPr sz="1400" spc="45" dirty="0">
                <a:latin typeface="Microsoft Sans Serif"/>
                <a:cs typeface="Microsoft Sans Serif"/>
              </a:rPr>
              <a:t> </a:t>
            </a:r>
            <a:r>
              <a:rPr sz="1400" spc="90" dirty="0">
                <a:latin typeface="Microsoft Sans Serif"/>
                <a:cs typeface="Microsoft Sans Serif"/>
              </a:rPr>
              <a:t>without</a:t>
            </a:r>
            <a:r>
              <a:rPr sz="1400" spc="4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loss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spc="120" dirty="0">
                <a:latin typeface="Microsoft Sans Serif"/>
                <a:cs typeface="Microsoft Sans Serif"/>
              </a:rPr>
              <a:t>of</a:t>
            </a:r>
            <a:r>
              <a:rPr sz="1400" spc="50" dirty="0">
                <a:latin typeface="Microsoft Sans Serif"/>
                <a:cs typeface="Microsoft Sans Serif"/>
              </a:rPr>
              <a:t> information,</a:t>
            </a:r>
            <a:r>
              <a:rPr sz="1400" spc="6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eliminate repeating</a:t>
            </a:r>
            <a:r>
              <a:rPr sz="1400" spc="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groups</a:t>
            </a:r>
            <a:r>
              <a:rPr sz="1400" spc="45" dirty="0">
                <a:latin typeface="Microsoft Sans Serif"/>
                <a:cs typeface="Microsoft Sans Serif"/>
              </a:rPr>
              <a:t> </a:t>
            </a:r>
            <a:r>
              <a:rPr sz="1400" spc="125" dirty="0">
                <a:latin typeface="Microsoft Sans Serif"/>
                <a:cs typeface="Microsoft Sans Serif"/>
              </a:rPr>
              <a:t>of</a:t>
            </a:r>
            <a:r>
              <a:rPr sz="1400" spc="4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data</a:t>
            </a:r>
            <a:endParaRPr sz="14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400" spc="70" dirty="0">
                <a:latin typeface="Microsoft Sans Serif"/>
                <a:cs typeface="Microsoft Sans Serif"/>
              </a:rPr>
              <a:t>or</a:t>
            </a:r>
            <a:r>
              <a:rPr sz="1400" spc="6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repeating</a:t>
            </a:r>
            <a:r>
              <a:rPr sz="1400" spc="5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columns</a:t>
            </a:r>
            <a:r>
              <a:rPr sz="1400" spc="5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+</a:t>
            </a:r>
            <a:r>
              <a:rPr sz="1400" spc="6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primary</a:t>
            </a:r>
            <a:r>
              <a:rPr sz="1400" spc="7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key.</a:t>
            </a:r>
            <a:endParaRPr sz="1400" dirty="0">
              <a:latin typeface="Microsoft Sans Serif"/>
              <a:cs typeface="Microsoft Sans Serif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580737"/>
              </p:ext>
            </p:extLst>
          </p:nvPr>
        </p:nvGraphicFramePr>
        <p:xfrm>
          <a:off x="990600" y="2590800"/>
          <a:ext cx="7102792" cy="2121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2006"/>
                <a:gridCol w="1140619"/>
                <a:gridCol w="1476375"/>
                <a:gridCol w="1224439"/>
                <a:gridCol w="1259681"/>
                <a:gridCol w="1189672"/>
              </a:tblGrid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Birth_date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3906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 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8542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 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 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John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1990/02/12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70" dirty="0">
                          <a:latin typeface="Microsoft Sans Serif"/>
                          <a:cs typeface="Microsoft Sans Serif"/>
                        </a:rPr>
                        <a:t>PBI,</a:t>
                      </a:r>
                      <a:r>
                        <a:rPr sz="14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-90" dirty="0">
                          <a:latin typeface="Microsoft Sans Serif"/>
                          <a:cs typeface="Microsoft Sans Serif"/>
                        </a:rPr>
                        <a:t>MCSA,</a:t>
                      </a:r>
                      <a:r>
                        <a:rPr sz="14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MTA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PBI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MCSA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MTA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Kelly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1988/10/01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Excel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Excel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NULL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NULL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Bryan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1991/01/15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70" dirty="0">
                          <a:latin typeface="Microsoft Sans Serif"/>
                          <a:cs typeface="Microsoft Sans Serif"/>
                        </a:rPr>
                        <a:t>PBI,</a:t>
                      </a:r>
                      <a:r>
                        <a:rPr sz="14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Excel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PBI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Excel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NULL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Rob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1986/08/07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PBI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PBI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NULL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NULL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46261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953" cy="6858000"/>
            <a:chOff x="0" y="0"/>
            <a:chExt cx="12193270" cy="6858000"/>
          </a:xfrm>
        </p:grpSpPr>
        <p:sp>
          <p:nvSpPr>
            <p:cNvPr id="3" name="object 3"/>
            <p:cNvSpPr/>
            <p:nvPr/>
          </p:nvSpPr>
          <p:spPr>
            <a:xfrm>
              <a:off x="11205556" y="311739"/>
              <a:ext cx="664845" cy="675005"/>
            </a:xfrm>
            <a:custGeom>
              <a:avLst/>
              <a:gdLst/>
              <a:ahLst/>
              <a:cxnLst/>
              <a:rect l="l" t="t" r="r" b="b"/>
              <a:pathLst>
                <a:path w="664845" h="675005">
                  <a:moveTo>
                    <a:pt x="304936" y="0"/>
                  </a:moveTo>
                  <a:lnTo>
                    <a:pt x="231485" y="20668"/>
                  </a:lnTo>
                  <a:lnTo>
                    <a:pt x="193074" y="41320"/>
                  </a:lnTo>
                  <a:lnTo>
                    <a:pt x="132835" y="83326"/>
                  </a:lnTo>
                  <a:lnTo>
                    <a:pt x="103641" y="108541"/>
                  </a:lnTo>
                  <a:lnTo>
                    <a:pt x="76302" y="136569"/>
                  </a:lnTo>
                  <a:lnTo>
                    <a:pt x="51750" y="167415"/>
                  </a:lnTo>
                  <a:lnTo>
                    <a:pt x="30914" y="201083"/>
                  </a:lnTo>
                  <a:lnTo>
                    <a:pt x="14723" y="237579"/>
                  </a:lnTo>
                  <a:lnTo>
                    <a:pt x="4109" y="276906"/>
                  </a:lnTo>
                  <a:lnTo>
                    <a:pt x="0" y="319069"/>
                  </a:lnTo>
                  <a:lnTo>
                    <a:pt x="3326" y="364073"/>
                  </a:lnTo>
                  <a:lnTo>
                    <a:pt x="15018" y="411922"/>
                  </a:lnTo>
                  <a:lnTo>
                    <a:pt x="36005" y="462620"/>
                  </a:lnTo>
                  <a:lnTo>
                    <a:pt x="67217" y="516173"/>
                  </a:lnTo>
                  <a:lnTo>
                    <a:pt x="105132" y="565754"/>
                  </a:lnTo>
                  <a:lnTo>
                    <a:pt x="144935" y="604847"/>
                  </a:lnTo>
                  <a:lnTo>
                    <a:pt x="186059" y="634365"/>
                  </a:lnTo>
                  <a:lnTo>
                    <a:pt x="227933" y="655219"/>
                  </a:lnTo>
                  <a:lnTo>
                    <a:pt x="269989" y="668321"/>
                  </a:lnTo>
                  <a:lnTo>
                    <a:pt x="311659" y="674581"/>
                  </a:lnTo>
                  <a:lnTo>
                    <a:pt x="352373" y="674912"/>
                  </a:lnTo>
                  <a:lnTo>
                    <a:pt x="391562" y="670225"/>
                  </a:lnTo>
                  <a:lnTo>
                    <a:pt x="428659" y="661432"/>
                  </a:lnTo>
                  <a:lnTo>
                    <a:pt x="494297" y="635171"/>
                  </a:lnTo>
                  <a:lnTo>
                    <a:pt x="544737" y="603422"/>
                  </a:lnTo>
                  <a:lnTo>
                    <a:pt x="593902" y="560949"/>
                  </a:lnTo>
                  <a:lnTo>
                    <a:pt x="636322" y="507656"/>
                  </a:lnTo>
                  <a:lnTo>
                    <a:pt x="661721" y="441262"/>
                  </a:lnTo>
                  <a:lnTo>
                    <a:pt x="664829" y="402439"/>
                  </a:lnTo>
                  <a:lnTo>
                    <a:pt x="659829" y="359486"/>
                  </a:lnTo>
                  <a:lnTo>
                    <a:pt x="645438" y="312117"/>
                  </a:lnTo>
                  <a:lnTo>
                    <a:pt x="620371" y="260047"/>
                  </a:lnTo>
                  <a:lnTo>
                    <a:pt x="583345" y="202991"/>
                  </a:lnTo>
                  <a:lnTo>
                    <a:pt x="537219" y="143302"/>
                  </a:lnTo>
                  <a:lnTo>
                    <a:pt x="494111" y="94774"/>
                  </a:lnTo>
                  <a:lnTo>
                    <a:pt x="453481" y="56848"/>
                  </a:lnTo>
                  <a:lnTo>
                    <a:pt x="414788" y="28967"/>
                  </a:lnTo>
                  <a:lnTo>
                    <a:pt x="377494" y="10570"/>
                  </a:lnTo>
                  <a:lnTo>
                    <a:pt x="304936" y="0"/>
                  </a:lnTo>
                  <a:close/>
                </a:path>
              </a:pathLst>
            </a:custGeom>
            <a:solidFill>
              <a:srgbClr val="3493B9">
                <a:alpha val="1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288051" y="347511"/>
              <a:ext cx="626745" cy="674370"/>
            </a:xfrm>
            <a:custGeom>
              <a:avLst/>
              <a:gdLst/>
              <a:ahLst/>
              <a:cxnLst/>
              <a:rect l="l" t="t" r="r" b="b"/>
              <a:pathLst>
                <a:path w="626745" h="674369">
                  <a:moveTo>
                    <a:pt x="304054" y="0"/>
                  </a:moveTo>
                  <a:lnTo>
                    <a:pt x="264547" y="2370"/>
                  </a:lnTo>
                  <a:lnTo>
                    <a:pt x="225407" y="10183"/>
                  </a:lnTo>
                  <a:lnTo>
                    <a:pt x="187167" y="24204"/>
                  </a:lnTo>
                  <a:lnTo>
                    <a:pt x="150361" y="45198"/>
                  </a:lnTo>
                  <a:lnTo>
                    <a:pt x="115524" y="73931"/>
                  </a:lnTo>
                  <a:lnTo>
                    <a:pt x="83188" y="111167"/>
                  </a:lnTo>
                  <a:lnTo>
                    <a:pt x="53887" y="157671"/>
                  </a:lnTo>
                  <a:lnTo>
                    <a:pt x="28156" y="214209"/>
                  </a:lnTo>
                  <a:lnTo>
                    <a:pt x="9480" y="273612"/>
                  </a:lnTo>
                  <a:lnTo>
                    <a:pt x="451" y="328535"/>
                  </a:lnTo>
                  <a:lnTo>
                    <a:pt x="0" y="379039"/>
                  </a:lnTo>
                  <a:lnTo>
                    <a:pt x="7054" y="425183"/>
                  </a:lnTo>
                  <a:lnTo>
                    <a:pt x="20545" y="467028"/>
                  </a:lnTo>
                  <a:lnTo>
                    <a:pt x="39402" y="504634"/>
                  </a:lnTo>
                  <a:lnTo>
                    <a:pt x="62554" y="538062"/>
                  </a:lnTo>
                  <a:lnTo>
                    <a:pt x="88932" y="567372"/>
                  </a:lnTo>
                  <a:lnTo>
                    <a:pt x="117465" y="592624"/>
                  </a:lnTo>
                  <a:lnTo>
                    <a:pt x="176713" y="631197"/>
                  </a:lnTo>
                  <a:lnTo>
                    <a:pt x="231737" y="654264"/>
                  </a:lnTo>
                  <a:lnTo>
                    <a:pt x="294818" y="669895"/>
                  </a:lnTo>
                  <a:lnTo>
                    <a:pt x="328481" y="673905"/>
                  </a:lnTo>
                  <a:lnTo>
                    <a:pt x="362877" y="673767"/>
                  </a:lnTo>
                  <a:lnTo>
                    <a:pt x="431825" y="656212"/>
                  </a:lnTo>
                  <a:lnTo>
                    <a:pt x="465354" y="636377"/>
                  </a:lnTo>
                  <a:lnTo>
                    <a:pt x="497571" y="607560"/>
                  </a:lnTo>
                  <a:lnTo>
                    <a:pt x="527966" y="568552"/>
                  </a:lnTo>
                  <a:lnTo>
                    <a:pt x="556026" y="518144"/>
                  </a:lnTo>
                  <a:lnTo>
                    <a:pt x="581241" y="455128"/>
                  </a:lnTo>
                  <a:lnTo>
                    <a:pt x="603512" y="383142"/>
                  </a:lnTo>
                  <a:lnTo>
                    <a:pt x="618379" y="319999"/>
                  </a:lnTo>
                  <a:lnTo>
                    <a:pt x="625989" y="264947"/>
                  </a:lnTo>
                  <a:lnTo>
                    <a:pt x="626488" y="217234"/>
                  </a:lnTo>
                  <a:lnTo>
                    <a:pt x="620024" y="176109"/>
                  </a:lnTo>
                  <a:lnTo>
                    <a:pt x="586795" y="110619"/>
                  </a:lnTo>
                  <a:lnTo>
                    <a:pt x="527478" y="62466"/>
                  </a:lnTo>
                  <a:lnTo>
                    <a:pt x="488404" y="43013"/>
                  </a:lnTo>
                  <a:lnTo>
                    <a:pt x="419436" y="17895"/>
                  </a:lnTo>
                  <a:lnTo>
                    <a:pt x="382032" y="8527"/>
                  </a:lnTo>
                  <a:lnTo>
                    <a:pt x="343393" y="2307"/>
                  </a:lnTo>
                  <a:lnTo>
                    <a:pt x="304054" y="0"/>
                  </a:lnTo>
                  <a:close/>
                </a:path>
              </a:pathLst>
            </a:custGeom>
            <a:solidFill>
              <a:srgbClr val="3493B9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182665" y="400997"/>
              <a:ext cx="671195" cy="522605"/>
            </a:xfrm>
            <a:custGeom>
              <a:avLst/>
              <a:gdLst/>
              <a:ahLst/>
              <a:cxnLst/>
              <a:rect l="l" t="t" r="r" b="b"/>
              <a:pathLst>
                <a:path w="671195" h="522605">
                  <a:moveTo>
                    <a:pt x="383181" y="0"/>
                  </a:moveTo>
                  <a:lnTo>
                    <a:pt x="330700" y="7701"/>
                  </a:lnTo>
                  <a:lnTo>
                    <a:pt x="279878" y="22999"/>
                  </a:lnTo>
                  <a:lnTo>
                    <a:pt x="231342" y="44706"/>
                  </a:lnTo>
                  <a:lnTo>
                    <a:pt x="185719" y="71632"/>
                  </a:lnTo>
                  <a:lnTo>
                    <a:pt x="143639" y="102589"/>
                  </a:lnTo>
                  <a:lnTo>
                    <a:pt x="105728" y="136387"/>
                  </a:lnTo>
                  <a:lnTo>
                    <a:pt x="72615" y="171838"/>
                  </a:lnTo>
                  <a:lnTo>
                    <a:pt x="44928" y="207753"/>
                  </a:lnTo>
                  <a:lnTo>
                    <a:pt x="23294" y="242943"/>
                  </a:lnTo>
                  <a:lnTo>
                    <a:pt x="700" y="306392"/>
                  </a:lnTo>
                  <a:lnTo>
                    <a:pt x="0" y="334768"/>
                  </a:lnTo>
                  <a:lnTo>
                    <a:pt x="5847" y="363020"/>
                  </a:lnTo>
                  <a:lnTo>
                    <a:pt x="37643" y="416985"/>
                  </a:lnTo>
                  <a:lnTo>
                    <a:pt x="96998" y="463951"/>
                  </a:lnTo>
                  <a:lnTo>
                    <a:pt x="137294" y="483455"/>
                  </a:lnTo>
                  <a:lnTo>
                    <a:pt x="184822" y="499583"/>
                  </a:lnTo>
                  <a:lnTo>
                    <a:pt x="239694" y="511793"/>
                  </a:lnTo>
                  <a:lnTo>
                    <a:pt x="302025" y="519543"/>
                  </a:lnTo>
                  <a:lnTo>
                    <a:pt x="371929" y="522292"/>
                  </a:lnTo>
                  <a:lnTo>
                    <a:pt x="449518" y="519498"/>
                  </a:lnTo>
                  <a:lnTo>
                    <a:pt x="493467" y="513231"/>
                  </a:lnTo>
                  <a:lnTo>
                    <a:pt x="532276" y="501521"/>
                  </a:lnTo>
                  <a:lnTo>
                    <a:pt x="594907" y="464046"/>
                  </a:lnTo>
                  <a:lnTo>
                    <a:pt x="638275" y="411624"/>
                  </a:lnTo>
                  <a:lnTo>
                    <a:pt x="663243" y="348801"/>
                  </a:lnTo>
                  <a:lnTo>
                    <a:pt x="670676" y="280127"/>
                  </a:lnTo>
                  <a:lnTo>
                    <a:pt x="668086" y="245017"/>
                  </a:lnTo>
                  <a:lnTo>
                    <a:pt x="650833" y="176094"/>
                  </a:lnTo>
                  <a:lnTo>
                    <a:pt x="618204" y="112691"/>
                  </a:lnTo>
                  <a:lnTo>
                    <a:pt x="571062" y="59356"/>
                  </a:lnTo>
                  <a:lnTo>
                    <a:pt x="510269" y="20637"/>
                  </a:lnTo>
                  <a:lnTo>
                    <a:pt x="436691" y="1084"/>
                  </a:lnTo>
                  <a:lnTo>
                    <a:pt x="383181" y="0"/>
                  </a:lnTo>
                  <a:close/>
                </a:path>
              </a:pathLst>
            </a:custGeom>
            <a:solidFill>
              <a:srgbClr val="3493B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3143" cy="685800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33400" y="533400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0245">
              <a:lnSpc>
                <a:spcPct val="100000"/>
              </a:lnSpc>
              <a:spcBef>
                <a:spcPts val="105"/>
              </a:spcBef>
            </a:pPr>
            <a:r>
              <a:rPr spc="-575" dirty="0"/>
              <a:t>First</a:t>
            </a:r>
            <a:r>
              <a:rPr spc="-150" dirty="0"/>
              <a:t> </a:t>
            </a:r>
            <a:r>
              <a:rPr spc="-405" dirty="0"/>
              <a:t>Normal</a:t>
            </a:r>
            <a:r>
              <a:rPr spc="-145" dirty="0"/>
              <a:t> </a:t>
            </a:r>
            <a:r>
              <a:rPr spc="-755" dirty="0"/>
              <a:t>Form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31665" y="1486027"/>
            <a:ext cx="691086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Microsoft Sans Serif"/>
                <a:cs typeface="Microsoft Sans Serif"/>
              </a:rPr>
              <a:t>We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spc="-65" dirty="0">
                <a:latin typeface="Microsoft Sans Serif"/>
                <a:cs typeface="Microsoft Sans Serif"/>
              </a:rPr>
              <a:t>say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-70" dirty="0">
                <a:latin typeface="Microsoft Sans Serif"/>
                <a:cs typeface="Microsoft Sans Serif"/>
              </a:rPr>
              <a:t>a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spc="55" dirty="0">
                <a:latin typeface="Microsoft Sans Serif"/>
                <a:cs typeface="Microsoft Sans Serif"/>
              </a:rPr>
              <a:t>relation</a:t>
            </a:r>
            <a:r>
              <a:rPr sz="1600" spc="-50" dirty="0">
                <a:latin typeface="Microsoft Sans Serif"/>
                <a:cs typeface="Microsoft Sans Serif"/>
              </a:rPr>
              <a:t> </a:t>
            </a:r>
            <a:r>
              <a:rPr sz="1600" spc="-35" dirty="0">
                <a:latin typeface="Microsoft Sans Serif"/>
                <a:cs typeface="Microsoft Sans Serif"/>
              </a:rPr>
              <a:t>is</a:t>
            </a:r>
            <a:r>
              <a:rPr sz="1600" spc="-5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in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-50" dirty="0">
                <a:latin typeface="Microsoft Sans Serif"/>
                <a:cs typeface="Microsoft Sans Serif"/>
              </a:rPr>
              <a:t>1NF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spc="114" dirty="0">
                <a:latin typeface="Microsoft Sans Serif"/>
                <a:cs typeface="Microsoft Sans Serif"/>
              </a:rPr>
              <a:t>if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all</a:t>
            </a:r>
            <a:r>
              <a:rPr sz="1600" spc="-5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values</a:t>
            </a:r>
            <a:r>
              <a:rPr sz="1600" spc="-65" dirty="0">
                <a:latin typeface="Microsoft Sans Serif"/>
                <a:cs typeface="Microsoft Sans Serif"/>
              </a:rPr>
              <a:t> </a:t>
            </a:r>
            <a:r>
              <a:rPr sz="1600" spc="50" dirty="0">
                <a:latin typeface="Microsoft Sans Serif"/>
                <a:cs typeface="Microsoft Sans Serif"/>
              </a:rPr>
              <a:t>stored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in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spc="80" dirty="0">
                <a:latin typeface="Microsoft Sans Serif"/>
                <a:cs typeface="Microsoft Sans Serif"/>
              </a:rPr>
              <a:t>the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spc="50" dirty="0">
                <a:latin typeface="Microsoft Sans Serif"/>
                <a:cs typeface="Microsoft Sans Serif"/>
              </a:rPr>
              <a:t>relation</a:t>
            </a:r>
            <a:r>
              <a:rPr sz="1600" spc="-6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are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single-valued</a:t>
            </a:r>
            <a:r>
              <a:rPr sz="1600" spc="-6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and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atomic. </a:t>
            </a:r>
            <a:r>
              <a:rPr sz="1600" spc="-50" dirty="0">
                <a:latin typeface="Microsoft Sans Serif"/>
                <a:cs typeface="Microsoft Sans Serif"/>
              </a:rPr>
              <a:t>1NF</a:t>
            </a:r>
            <a:r>
              <a:rPr sz="1600" spc="25" dirty="0">
                <a:latin typeface="Microsoft Sans Serif"/>
                <a:cs typeface="Microsoft Sans Serif"/>
              </a:rPr>
              <a:t> </a:t>
            </a:r>
            <a:r>
              <a:rPr sz="1600" spc="-20" dirty="0">
                <a:latin typeface="Microsoft Sans Serif"/>
                <a:cs typeface="Microsoft Sans Serif"/>
              </a:rPr>
              <a:t>places</a:t>
            </a:r>
            <a:r>
              <a:rPr sz="1600" spc="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restrictions</a:t>
            </a:r>
            <a:r>
              <a:rPr sz="1600" spc="4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on</a:t>
            </a:r>
            <a:r>
              <a:rPr sz="1600" spc="70" dirty="0">
                <a:latin typeface="Microsoft Sans Serif"/>
                <a:cs typeface="Microsoft Sans Serif"/>
              </a:rPr>
              <a:t> </a:t>
            </a:r>
            <a:r>
              <a:rPr sz="1600" spc="80" dirty="0">
                <a:latin typeface="Microsoft Sans Serif"/>
                <a:cs typeface="Microsoft Sans Serif"/>
              </a:rPr>
              <a:t>the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spc="50" dirty="0">
                <a:latin typeface="Microsoft Sans Serif"/>
                <a:cs typeface="Microsoft Sans Serif"/>
              </a:rPr>
              <a:t>structure</a:t>
            </a:r>
            <a:r>
              <a:rPr sz="1600" spc="65" dirty="0">
                <a:latin typeface="Microsoft Sans Serif"/>
                <a:cs typeface="Microsoft Sans Serif"/>
              </a:rPr>
              <a:t> </a:t>
            </a:r>
            <a:r>
              <a:rPr sz="1600" spc="120" dirty="0">
                <a:latin typeface="Microsoft Sans Serif"/>
                <a:cs typeface="Microsoft Sans Serif"/>
              </a:rPr>
              <a:t>of</a:t>
            </a:r>
            <a:r>
              <a:rPr sz="1600" spc="5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relations.</a:t>
            </a:r>
            <a:r>
              <a:rPr sz="1600" spc="2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Values </a:t>
            </a:r>
            <a:r>
              <a:rPr sz="1600" dirty="0">
                <a:latin typeface="Microsoft Sans Serif"/>
                <a:cs typeface="Microsoft Sans Serif"/>
              </a:rPr>
              <a:t>must</a:t>
            </a:r>
            <a:r>
              <a:rPr sz="1600" spc="5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be</a:t>
            </a:r>
            <a:r>
              <a:rPr sz="1600" spc="4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simple.</a:t>
            </a:r>
            <a:endParaRPr sz="1600" dirty="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3558" y="5688279"/>
            <a:ext cx="5180648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Microsoft Sans Serif"/>
                <a:cs typeface="Microsoft Sans Serif"/>
              </a:rPr>
              <a:t>An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75" dirty="0">
                <a:latin typeface="Microsoft Sans Serif"/>
                <a:cs typeface="Microsoft Sans Serif"/>
              </a:rPr>
              <a:t>outer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join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55" dirty="0">
                <a:latin typeface="Microsoft Sans Serif"/>
                <a:cs typeface="Microsoft Sans Serif"/>
              </a:rPr>
              <a:t>between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75" dirty="0">
                <a:latin typeface="Microsoft Sans Serif"/>
                <a:cs typeface="Microsoft Sans Serif"/>
              </a:rPr>
              <a:t>will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produce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80" dirty="0">
                <a:latin typeface="Microsoft Sans Serif"/>
                <a:cs typeface="Microsoft Sans Serif"/>
              </a:rPr>
              <a:t>the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spc="60" dirty="0">
                <a:latin typeface="Microsoft Sans Serif"/>
                <a:cs typeface="Microsoft Sans Serif"/>
              </a:rPr>
              <a:t>information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we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saw </a:t>
            </a:r>
            <a:r>
              <a:rPr sz="1600" spc="50" dirty="0">
                <a:latin typeface="Microsoft Sans Serif"/>
                <a:cs typeface="Microsoft Sans Serif"/>
              </a:rPr>
              <a:t>before</a:t>
            </a:r>
            <a:endParaRPr sz="1600" dirty="0">
              <a:latin typeface="Microsoft Sans Serif"/>
              <a:cs typeface="Microsoft Sans Serif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793846"/>
              </p:ext>
            </p:extLst>
          </p:nvPr>
        </p:nvGraphicFramePr>
        <p:xfrm>
          <a:off x="1089183" y="2327529"/>
          <a:ext cx="7589996" cy="3223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3435"/>
                <a:gridCol w="1114425"/>
                <a:gridCol w="1096804"/>
                <a:gridCol w="1241583"/>
                <a:gridCol w="1238250"/>
                <a:gridCol w="923449"/>
                <a:gridCol w="1162050"/>
              </a:tblGrid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Learner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Birth_date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_name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21018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Vendor_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2700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Date_acquir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John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1990/02/12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PBI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556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2017/01/08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John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1990/02/12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MCSA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556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2020/04/16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John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1990/02/12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MTA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556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2021/05/12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Kelly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1988/10/01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Excel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9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2018/06/03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Bryan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1991/01/15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PBI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9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2019/12/11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Bryan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1991/01/15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Excel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9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2020/04/07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Rob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1986/08/07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PBI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556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2022/01/15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00130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6486" y="2426843"/>
            <a:ext cx="2798372" cy="443115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3400" y="228600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95425">
              <a:lnSpc>
                <a:spcPct val="100000"/>
              </a:lnSpc>
              <a:spcBef>
                <a:spcPts val="105"/>
              </a:spcBef>
            </a:pPr>
            <a:r>
              <a:rPr spc="-325" dirty="0"/>
              <a:t>Second</a:t>
            </a:r>
            <a:r>
              <a:rPr spc="-145" dirty="0"/>
              <a:t> </a:t>
            </a:r>
            <a:r>
              <a:rPr spc="-405" dirty="0"/>
              <a:t>Normal</a:t>
            </a:r>
            <a:r>
              <a:rPr spc="-120" dirty="0"/>
              <a:t> </a:t>
            </a:r>
            <a:r>
              <a:rPr spc="-755" dirty="0"/>
              <a:t>Form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5800" y="990601"/>
            <a:ext cx="8305800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600" spc="55" dirty="0">
                <a:solidFill>
                  <a:srgbClr val="3493B9"/>
                </a:solidFill>
                <a:latin typeface="Microsoft Sans Serif"/>
                <a:cs typeface="Microsoft Sans Serif"/>
              </a:rPr>
              <a:t>Note:</a:t>
            </a:r>
            <a:r>
              <a:rPr sz="1600" spc="-80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z="1600" spc="95" dirty="0">
                <a:latin typeface="Microsoft Sans Serif"/>
                <a:cs typeface="Microsoft Sans Serif"/>
              </a:rPr>
              <a:t>If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-114" dirty="0">
                <a:latin typeface="Microsoft Sans Serif"/>
                <a:cs typeface="Microsoft Sans Serif"/>
              </a:rPr>
              <a:t>PK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is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set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spc="-105" dirty="0">
                <a:latin typeface="Microsoft Sans Serif"/>
                <a:cs typeface="Microsoft Sans Serif"/>
              </a:rPr>
              <a:t>as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single</a:t>
            </a:r>
            <a:r>
              <a:rPr sz="1600" spc="-60" dirty="0">
                <a:latin typeface="Microsoft Sans Serif"/>
                <a:cs typeface="Microsoft Sans Serif"/>
              </a:rPr>
              <a:t> </a:t>
            </a:r>
            <a:r>
              <a:rPr sz="1600" spc="75" dirty="0">
                <a:latin typeface="Microsoft Sans Serif"/>
                <a:cs typeface="Microsoft Sans Serif"/>
              </a:rPr>
              <a:t>then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you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95" dirty="0">
                <a:latin typeface="Microsoft Sans Serif"/>
                <a:cs typeface="Microsoft Sans Serif"/>
              </a:rPr>
              <a:t>don't</a:t>
            </a:r>
            <a:r>
              <a:rPr sz="1600" spc="-5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need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spc="155" dirty="0">
                <a:latin typeface="Microsoft Sans Serif"/>
                <a:cs typeface="Microsoft Sans Serif"/>
              </a:rPr>
              <a:t>to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spc="65" dirty="0">
                <a:latin typeface="Microsoft Sans Serif"/>
                <a:cs typeface="Microsoft Sans Serif"/>
              </a:rPr>
              <a:t>do</a:t>
            </a:r>
            <a:r>
              <a:rPr sz="1600" spc="-5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anything,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spc="90" dirty="0">
                <a:latin typeface="Microsoft Sans Serif"/>
                <a:cs typeface="Microsoft Sans Serif"/>
              </a:rPr>
              <a:t>the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spc="65" dirty="0">
                <a:latin typeface="Microsoft Sans Serif"/>
                <a:cs typeface="Microsoft Sans Serif"/>
              </a:rPr>
              <a:t>table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is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already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in 2NF</a:t>
            </a:r>
            <a:endParaRPr sz="1600" dirty="0">
              <a:latin typeface="Microsoft Sans Serif"/>
              <a:cs typeface="Microsoft Sans Serif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600" dirty="0">
                <a:latin typeface="Microsoft Sans Serif"/>
                <a:cs typeface="Microsoft Sans Serif"/>
              </a:rPr>
              <a:t>A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spc="60" dirty="0">
                <a:latin typeface="Microsoft Sans Serif"/>
                <a:cs typeface="Microsoft Sans Serif"/>
              </a:rPr>
              <a:t>relation</a:t>
            </a:r>
            <a:r>
              <a:rPr sz="1600" spc="-55" dirty="0">
                <a:latin typeface="Microsoft Sans Serif"/>
                <a:cs typeface="Microsoft Sans Serif"/>
              </a:rPr>
              <a:t> </a:t>
            </a:r>
            <a:r>
              <a:rPr sz="1600" spc="80" dirty="0">
                <a:latin typeface="Microsoft Sans Serif"/>
                <a:cs typeface="Microsoft Sans Serif"/>
              </a:rPr>
              <a:t>will</a:t>
            </a:r>
            <a:r>
              <a:rPr sz="1600" spc="-5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be</a:t>
            </a:r>
            <a:r>
              <a:rPr sz="1600" spc="-6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in</a:t>
            </a:r>
            <a:r>
              <a:rPr sz="1600" spc="-50" dirty="0">
                <a:latin typeface="Microsoft Sans Serif"/>
                <a:cs typeface="Microsoft Sans Serif"/>
              </a:rPr>
              <a:t> </a:t>
            </a:r>
            <a:r>
              <a:rPr sz="1600" spc="-60" dirty="0">
                <a:latin typeface="Microsoft Sans Serif"/>
                <a:cs typeface="Microsoft Sans Serif"/>
              </a:rPr>
              <a:t>2NF </a:t>
            </a:r>
            <a:r>
              <a:rPr sz="1600" spc="140" dirty="0">
                <a:latin typeface="Microsoft Sans Serif"/>
                <a:cs typeface="Microsoft Sans Serif"/>
              </a:rPr>
              <a:t>if</a:t>
            </a:r>
            <a:r>
              <a:rPr sz="1600" spc="-50" dirty="0">
                <a:latin typeface="Microsoft Sans Serif"/>
                <a:cs typeface="Microsoft Sans Serif"/>
              </a:rPr>
              <a:t> </a:t>
            </a:r>
            <a:r>
              <a:rPr sz="1600" spc="155" dirty="0">
                <a:latin typeface="Microsoft Sans Serif"/>
                <a:cs typeface="Microsoft Sans Serif"/>
              </a:rPr>
              <a:t>it</a:t>
            </a:r>
            <a:r>
              <a:rPr sz="1600" spc="-5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is</a:t>
            </a:r>
            <a:r>
              <a:rPr sz="1600" spc="-5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in</a:t>
            </a:r>
            <a:r>
              <a:rPr sz="1600" spc="-55" dirty="0">
                <a:latin typeface="Microsoft Sans Serif"/>
                <a:cs typeface="Microsoft Sans Serif"/>
              </a:rPr>
              <a:t> </a:t>
            </a:r>
            <a:r>
              <a:rPr sz="1600" spc="-20" dirty="0">
                <a:latin typeface="Microsoft Sans Serif"/>
                <a:cs typeface="Microsoft Sans Serif"/>
              </a:rPr>
              <a:t>1NF.</a:t>
            </a:r>
            <a:endParaRPr sz="1600" dirty="0">
              <a:latin typeface="Microsoft Sans Serif"/>
              <a:cs typeface="Microsoft Sans Serif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600" spc="55" dirty="0">
                <a:latin typeface="Microsoft Sans Serif"/>
                <a:cs typeface="Microsoft Sans Serif"/>
              </a:rPr>
              <a:t>All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non-key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spc="80" dirty="0">
                <a:latin typeface="Microsoft Sans Serif"/>
                <a:cs typeface="Microsoft Sans Serif"/>
              </a:rPr>
              <a:t>attributes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are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spc="85" dirty="0">
                <a:latin typeface="Microsoft Sans Serif"/>
                <a:cs typeface="Microsoft Sans Serif"/>
              </a:rPr>
              <a:t>fully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65" dirty="0">
                <a:latin typeface="Microsoft Sans Serif"/>
                <a:cs typeface="Microsoft Sans Serif"/>
              </a:rPr>
              <a:t>functional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spc="50" dirty="0">
                <a:latin typeface="Microsoft Sans Serif"/>
                <a:cs typeface="Microsoft Sans Serif"/>
              </a:rPr>
              <a:t>dependent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on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90" dirty="0">
                <a:latin typeface="Microsoft Sans Serif"/>
                <a:cs typeface="Microsoft Sans Serif"/>
              </a:rPr>
              <a:t>the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primary</a:t>
            </a:r>
            <a:r>
              <a:rPr sz="1600" spc="5" dirty="0">
                <a:latin typeface="Microsoft Sans Serif"/>
                <a:cs typeface="Microsoft Sans Serif"/>
              </a:rPr>
              <a:t> </a:t>
            </a:r>
            <a:r>
              <a:rPr sz="1600" spc="-20" dirty="0">
                <a:latin typeface="Microsoft Sans Serif"/>
                <a:cs typeface="Microsoft Sans Serif"/>
              </a:rPr>
              <a:t>key.</a:t>
            </a:r>
            <a:endParaRPr sz="1600" dirty="0">
              <a:latin typeface="Microsoft Sans Serif"/>
              <a:cs typeface="Microsoft Sans Serif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600" dirty="0">
                <a:latin typeface="Microsoft Sans Serif"/>
                <a:cs typeface="Microsoft Sans Serif"/>
              </a:rPr>
              <a:t>Create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separate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tables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125" dirty="0">
                <a:latin typeface="Microsoft Sans Serif"/>
                <a:cs typeface="Microsoft Sans Serif"/>
              </a:rPr>
              <a:t>for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sets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140" dirty="0">
                <a:latin typeface="Microsoft Sans Serif"/>
                <a:cs typeface="Microsoft Sans Serif"/>
              </a:rPr>
              <a:t>of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values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spc="110" dirty="0">
                <a:latin typeface="Microsoft Sans Serif"/>
                <a:cs typeface="Microsoft Sans Serif"/>
              </a:rPr>
              <a:t>that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apply </a:t>
            </a:r>
            <a:r>
              <a:rPr sz="1600" spc="155" dirty="0">
                <a:latin typeface="Microsoft Sans Serif"/>
                <a:cs typeface="Microsoft Sans Serif"/>
              </a:rPr>
              <a:t>to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spc="75" dirty="0">
                <a:latin typeface="Microsoft Sans Serif"/>
                <a:cs typeface="Microsoft Sans Serif"/>
              </a:rPr>
              <a:t>multiple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records.</a:t>
            </a:r>
            <a:endParaRPr sz="1600" dirty="0">
              <a:latin typeface="Microsoft Sans Serif"/>
              <a:cs typeface="Microsoft Sans Serif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600" dirty="0">
                <a:latin typeface="Microsoft Sans Serif"/>
                <a:cs typeface="Microsoft Sans Serif"/>
              </a:rPr>
              <a:t>Relate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these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tables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105" dirty="0">
                <a:latin typeface="Microsoft Sans Serif"/>
                <a:cs typeface="Microsoft Sans Serif"/>
              </a:rPr>
              <a:t>with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-70" dirty="0">
                <a:latin typeface="Microsoft Sans Serif"/>
                <a:cs typeface="Microsoft Sans Serif"/>
              </a:rPr>
              <a:t>a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spc="70" dirty="0">
                <a:latin typeface="Microsoft Sans Serif"/>
                <a:cs typeface="Microsoft Sans Serif"/>
              </a:rPr>
              <a:t>foreign</a:t>
            </a:r>
            <a:r>
              <a:rPr sz="1600" spc="-20" dirty="0">
                <a:latin typeface="Microsoft Sans Serif"/>
                <a:cs typeface="Microsoft Sans Serif"/>
              </a:rPr>
              <a:t> key.</a:t>
            </a:r>
            <a:endParaRPr sz="1600" dirty="0">
              <a:latin typeface="Microsoft Sans Serif"/>
              <a:cs typeface="Microsoft Sans Serif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242979"/>
              </p:ext>
            </p:extLst>
          </p:nvPr>
        </p:nvGraphicFramePr>
        <p:xfrm>
          <a:off x="609600" y="2362200"/>
          <a:ext cx="3346608" cy="1852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/>
                <a:gridCol w="825817"/>
                <a:gridCol w="1301591"/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Learner_ID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Birth_date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20" dirty="0">
                          <a:latin typeface="Microsoft Sans Serif"/>
                          <a:cs typeface="Microsoft Sans Serif"/>
                        </a:rPr>
                        <a:t>John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1990/02/12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Kelly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1988/10/01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Bryan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1991/01/15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Rob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1986/08/07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341998"/>
              </p:ext>
            </p:extLst>
          </p:nvPr>
        </p:nvGraphicFramePr>
        <p:xfrm>
          <a:off x="533400" y="4343400"/>
          <a:ext cx="4191000" cy="23622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3533"/>
                <a:gridCol w="1521884"/>
                <a:gridCol w="1155583"/>
              </a:tblGrid>
              <a:tr h="813293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</a:t>
                      </a:r>
                      <a:endParaRPr sz="1600" dirty="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_ID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</a:t>
                      </a:r>
                      <a:endParaRPr sz="1600" dirty="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_name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Vendor_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</a:tr>
              <a:tr h="38706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PBI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R="3492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8706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20" dirty="0">
                          <a:latin typeface="Microsoft Sans Serif"/>
                          <a:cs typeface="Microsoft Sans Serif"/>
                        </a:rPr>
                        <a:t>MCSA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R="3492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  <a:tr h="3877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MTA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R="3492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8706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Excel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R="3492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752025"/>
              </p:ext>
            </p:extLst>
          </p:nvPr>
        </p:nvGraphicFramePr>
        <p:xfrm>
          <a:off x="4953000" y="2438400"/>
          <a:ext cx="3981450" cy="3126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9677"/>
                <a:gridCol w="1326357"/>
                <a:gridCol w="1425416"/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Learner_</a:t>
                      </a:r>
                      <a:r>
                        <a:rPr sz="1600" b="1" spc="-1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160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Date_acquired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2017/01/08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2020/04/16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2021/05/12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2018/06/03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2019/12/11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2020/04/07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2022/01/15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18808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6486" y="2426843"/>
            <a:ext cx="2798372" cy="443115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35150">
              <a:lnSpc>
                <a:spcPct val="100000"/>
              </a:lnSpc>
              <a:spcBef>
                <a:spcPts val="105"/>
              </a:spcBef>
            </a:pPr>
            <a:r>
              <a:rPr spc="-490" dirty="0"/>
              <a:t>Third</a:t>
            </a:r>
            <a:r>
              <a:rPr spc="-140" dirty="0"/>
              <a:t> </a:t>
            </a:r>
            <a:r>
              <a:rPr spc="-405" dirty="0"/>
              <a:t>Normal</a:t>
            </a:r>
            <a:r>
              <a:rPr spc="-145" dirty="0"/>
              <a:t> </a:t>
            </a:r>
            <a:r>
              <a:rPr spc="-755" dirty="0"/>
              <a:t>Form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38200" y="1219200"/>
            <a:ext cx="6994684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spc="-50" dirty="0">
                <a:latin typeface="Microsoft Sans Serif"/>
                <a:cs typeface="Microsoft Sans Serif"/>
              </a:rPr>
              <a:t>3NF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satisfy</a:t>
            </a:r>
            <a:r>
              <a:rPr sz="1600" spc="5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all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conditions</a:t>
            </a:r>
            <a:r>
              <a:rPr sz="1600" spc="70" dirty="0">
                <a:latin typeface="Microsoft Sans Serif"/>
                <a:cs typeface="Microsoft Sans Serif"/>
              </a:rPr>
              <a:t> </a:t>
            </a:r>
            <a:r>
              <a:rPr sz="1600" spc="120" dirty="0">
                <a:latin typeface="Microsoft Sans Serif"/>
                <a:cs typeface="Microsoft Sans Serif"/>
              </a:rPr>
              <a:t>of</a:t>
            </a:r>
            <a:r>
              <a:rPr sz="1600" spc="60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2NF</a:t>
            </a:r>
            <a:endParaRPr sz="1600" dirty="0">
              <a:latin typeface="Microsoft Sans Serif"/>
              <a:cs typeface="Microsoft Sans Serif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600" dirty="0">
                <a:latin typeface="Microsoft Sans Serif"/>
                <a:cs typeface="Microsoft Sans Serif"/>
              </a:rPr>
              <a:t>A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50" dirty="0">
                <a:latin typeface="Microsoft Sans Serif"/>
                <a:cs typeface="Microsoft Sans Serif"/>
              </a:rPr>
              <a:t>relation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in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-45" dirty="0">
                <a:latin typeface="Microsoft Sans Serif"/>
                <a:cs typeface="Microsoft Sans Serif"/>
              </a:rPr>
              <a:t>3NF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spc="75" dirty="0">
                <a:latin typeface="Microsoft Sans Serif"/>
                <a:cs typeface="Microsoft Sans Serif"/>
              </a:rPr>
              <a:t>will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spc="95" dirty="0">
                <a:latin typeface="Microsoft Sans Serif"/>
                <a:cs typeface="Microsoft Sans Serif"/>
              </a:rPr>
              <a:t>not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have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any </a:t>
            </a:r>
            <a:r>
              <a:rPr sz="1600" dirty="0">
                <a:latin typeface="Microsoft Sans Serif"/>
                <a:cs typeface="Microsoft Sans Serif"/>
              </a:rPr>
              <a:t>transitive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dependencies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spc="120" dirty="0">
                <a:latin typeface="Microsoft Sans Serif"/>
                <a:cs typeface="Microsoft Sans Serif"/>
              </a:rPr>
              <a:t>of</a:t>
            </a:r>
            <a:r>
              <a:rPr sz="1600" dirty="0">
                <a:latin typeface="Microsoft Sans Serif"/>
                <a:cs typeface="Microsoft Sans Serif"/>
              </a:rPr>
              <a:t> non-key </a:t>
            </a:r>
            <a:r>
              <a:rPr sz="1600" spc="65" dirty="0">
                <a:latin typeface="Microsoft Sans Serif"/>
                <a:cs typeface="Microsoft Sans Serif"/>
              </a:rPr>
              <a:t>attributes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on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key</a:t>
            </a:r>
            <a:endParaRPr sz="1600" dirty="0">
              <a:latin typeface="Microsoft Sans Serif"/>
              <a:cs typeface="Microsoft Sans Serif"/>
            </a:endParaRPr>
          </a:p>
          <a:p>
            <a:pPr marL="299085">
              <a:lnSpc>
                <a:spcPct val="100000"/>
              </a:lnSpc>
            </a:pPr>
            <a:r>
              <a:rPr sz="1600" dirty="0">
                <a:latin typeface="Microsoft Sans Serif"/>
                <a:cs typeface="Microsoft Sans Serif"/>
              </a:rPr>
              <a:t>column</a:t>
            </a:r>
            <a:r>
              <a:rPr sz="1600" spc="6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must</a:t>
            </a:r>
            <a:r>
              <a:rPr sz="1600" spc="7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be</a:t>
            </a:r>
            <a:r>
              <a:rPr sz="1600" spc="7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removed.</a:t>
            </a:r>
            <a:endParaRPr sz="1600" dirty="0">
              <a:latin typeface="Microsoft Sans Serif"/>
              <a:cs typeface="Microsoft Sans Serif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491298"/>
              </p:ext>
            </p:extLst>
          </p:nvPr>
        </p:nvGraphicFramePr>
        <p:xfrm>
          <a:off x="5410200" y="2514600"/>
          <a:ext cx="3581400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3383"/>
                <a:gridCol w="1300519"/>
                <a:gridCol w="987498"/>
              </a:tblGrid>
              <a:tr h="83929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</a:t>
                      </a:r>
                      <a:endParaRPr sz="1600" dirty="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_ID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_name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0955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Vendor_ 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</a:tr>
              <a:tr h="4001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PBI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R="3492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9943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20" dirty="0">
                          <a:latin typeface="Microsoft Sans Serif"/>
                          <a:cs typeface="Microsoft Sans Serif"/>
                        </a:rPr>
                        <a:t>MCSA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R="3492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  <a:tr h="39943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MTA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R="3492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4001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Excel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R="3492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001304"/>
              </p:ext>
            </p:extLst>
          </p:nvPr>
        </p:nvGraphicFramePr>
        <p:xfrm>
          <a:off x="1066800" y="4191000"/>
          <a:ext cx="4191000" cy="23621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3533"/>
                <a:gridCol w="1505778"/>
                <a:gridCol w="1171689"/>
              </a:tblGrid>
              <a:tr h="81304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</a:t>
                      </a:r>
                      <a:endParaRPr sz="1600" dirty="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_ID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</a:t>
                      </a:r>
                      <a:endParaRPr sz="1600" dirty="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_name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Vendor_I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</a:tr>
              <a:tr h="38728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PBI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8728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20" dirty="0">
                          <a:latin typeface="Microsoft Sans Serif"/>
                          <a:cs typeface="Microsoft Sans Serif"/>
                        </a:rPr>
                        <a:t>MCSA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  <a:tr h="38728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MTA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8728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Excel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776979"/>
              </p:ext>
            </p:extLst>
          </p:nvPr>
        </p:nvGraphicFramePr>
        <p:xfrm>
          <a:off x="1066800" y="2514600"/>
          <a:ext cx="2971800" cy="12954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8248"/>
                <a:gridCol w="1653552"/>
              </a:tblGrid>
              <a:tr h="54254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Vendor_ID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Vendor_name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</a:tr>
              <a:tr h="3761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767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Amazon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26483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14452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543181" cy="30063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46486" y="2426843"/>
            <a:ext cx="2798372" cy="443115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35150">
              <a:lnSpc>
                <a:spcPct val="100000"/>
              </a:lnSpc>
              <a:spcBef>
                <a:spcPts val="105"/>
              </a:spcBef>
            </a:pPr>
            <a:r>
              <a:rPr spc="-490" dirty="0"/>
              <a:t>Third</a:t>
            </a:r>
            <a:r>
              <a:rPr spc="-140" dirty="0"/>
              <a:t> </a:t>
            </a:r>
            <a:r>
              <a:rPr spc="-405" dirty="0"/>
              <a:t>Normal</a:t>
            </a:r>
            <a:r>
              <a:rPr spc="-145" dirty="0"/>
              <a:t> </a:t>
            </a:r>
            <a:r>
              <a:rPr spc="-755" dirty="0"/>
              <a:t>Form</a:t>
            </a:r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351170"/>
              </p:ext>
            </p:extLst>
          </p:nvPr>
        </p:nvGraphicFramePr>
        <p:xfrm>
          <a:off x="474897" y="3818509"/>
          <a:ext cx="3716103" cy="2122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2029"/>
                <a:gridCol w="1383474"/>
                <a:gridCol w="990600"/>
              </a:tblGrid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</a:t>
                      </a:r>
                      <a:endParaRPr sz="1600" dirty="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_ID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</a:t>
                      </a:r>
                      <a:endParaRPr sz="1600" dirty="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_name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549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Vendor_I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PBI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20" dirty="0">
                          <a:latin typeface="Microsoft Sans Serif"/>
                          <a:cs typeface="Microsoft Sans Serif"/>
                        </a:rPr>
                        <a:t>MCSA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MTA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Excel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059848"/>
              </p:ext>
            </p:extLst>
          </p:nvPr>
        </p:nvGraphicFramePr>
        <p:xfrm>
          <a:off x="4345684" y="4829429"/>
          <a:ext cx="2893315" cy="12665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3433"/>
                <a:gridCol w="1609882"/>
              </a:tblGrid>
              <a:tr h="530838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Vendor_ID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Vendor_name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</a:tr>
              <a:tr h="36818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6755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Amazon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90618"/>
              </p:ext>
            </p:extLst>
          </p:nvPr>
        </p:nvGraphicFramePr>
        <p:xfrm>
          <a:off x="474897" y="1456436"/>
          <a:ext cx="3346608" cy="2015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8236"/>
                <a:gridCol w="916781"/>
                <a:gridCol w="1301591"/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Learner_ID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Birth_date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20" dirty="0">
                          <a:latin typeface="Microsoft Sans Serif"/>
                          <a:cs typeface="Microsoft Sans Serif"/>
                        </a:rPr>
                        <a:t>John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1990/02/12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Kelly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1988/10/01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Bryan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1991/01/15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Rob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1986/08/07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678046"/>
              </p:ext>
            </p:extLst>
          </p:nvPr>
        </p:nvGraphicFramePr>
        <p:xfrm>
          <a:off x="4345686" y="1456436"/>
          <a:ext cx="3981450" cy="3126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6326"/>
                <a:gridCol w="1469708"/>
                <a:gridCol w="1425416"/>
              </a:tblGrid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Learner_ID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Certification_ID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Date_acquired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2017/01/08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2020/04/16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2021/05/12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2018/06/03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2019/12/11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2020/04/07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2022/01/15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20076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6486" y="2426843"/>
            <a:ext cx="2798372" cy="443115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9275" y="723181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48660">
              <a:lnSpc>
                <a:spcPct val="100000"/>
              </a:lnSpc>
              <a:spcBef>
                <a:spcPts val="105"/>
              </a:spcBef>
            </a:pPr>
            <a:r>
              <a:rPr spc="-515" dirty="0"/>
              <a:t>Roles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3270" y="1475308"/>
            <a:ext cx="7442530" cy="33534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1600" spc="-20" dirty="0">
                <a:latin typeface="Microsoft Sans Serif"/>
                <a:cs typeface="Microsoft Sans Serif"/>
              </a:rPr>
              <a:t>PostgreSQL</a:t>
            </a:r>
            <a:r>
              <a:rPr sz="1600" spc="-85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manages</a:t>
            </a:r>
            <a:r>
              <a:rPr sz="1600" spc="-8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database</a:t>
            </a:r>
            <a:r>
              <a:rPr sz="1600" spc="-65" dirty="0">
                <a:latin typeface="Microsoft Sans Serif"/>
                <a:cs typeface="Microsoft Sans Serif"/>
              </a:rPr>
              <a:t> </a:t>
            </a:r>
            <a:r>
              <a:rPr sz="1600" spc="-95" dirty="0">
                <a:latin typeface="Microsoft Sans Serif"/>
                <a:cs typeface="Microsoft Sans Serif"/>
              </a:rPr>
              <a:t>access</a:t>
            </a:r>
            <a:r>
              <a:rPr sz="1600" spc="-7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permissions</a:t>
            </a:r>
            <a:r>
              <a:rPr sz="1600" spc="-6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using</a:t>
            </a:r>
            <a:r>
              <a:rPr sz="1600" spc="-60" dirty="0">
                <a:latin typeface="Microsoft Sans Serif"/>
                <a:cs typeface="Microsoft Sans Serif"/>
              </a:rPr>
              <a:t> </a:t>
            </a:r>
            <a:r>
              <a:rPr sz="1600" spc="80" dirty="0">
                <a:latin typeface="Microsoft Sans Serif"/>
                <a:cs typeface="Microsoft Sans Serif"/>
              </a:rPr>
              <a:t>the</a:t>
            </a:r>
            <a:endParaRPr sz="1600" dirty="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Microsoft Sans Serif"/>
                <a:cs typeface="Microsoft Sans Serif"/>
              </a:rPr>
              <a:t>concept</a:t>
            </a:r>
            <a:r>
              <a:rPr sz="1600" spc="25" dirty="0">
                <a:latin typeface="Microsoft Sans Serif"/>
                <a:cs typeface="Microsoft Sans Serif"/>
              </a:rPr>
              <a:t> </a:t>
            </a:r>
            <a:r>
              <a:rPr sz="1600" spc="170" dirty="0">
                <a:latin typeface="Microsoft Sans Serif"/>
                <a:cs typeface="Microsoft Sans Serif"/>
              </a:rPr>
              <a:t>of</a:t>
            </a:r>
            <a:r>
              <a:rPr sz="1600" spc="7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roles.</a:t>
            </a:r>
            <a:endParaRPr sz="1600" dirty="0">
              <a:latin typeface="Microsoft Sans Serif"/>
              <a:cs typeface="Microsoft Sans Serif"/>
            </a:endParaRPr>
          </a:p>
          <a:p>
            <a:pPr marL="355600" marR="476884" indent="-34353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1600" dirty="0">
                <a:latin typeface="Microsoft Sans Serif"/>
                <a:cs typeface="Microsoft Sans Serif"/>
              </a:rPr>
              <a:t>A</a:t>
            </a:r>
            <a:r>
              <a:rPr sz="1600" spc="-95" dirty="0">
                <a:latin typeface="Microsoft Sans Serif"/>
                <a:cs typeface="Microsoft Sans Serif"/>
              </a:rPr>
              <a:t> </a:t>
            </a:r>
            <a:r>
              <a:rPr sz="1600" spc="70" dirty="0">
                <a:latin typeface="Microsoft Sans Serif"/>
                <a:cs typeface="Microsoft Sans Serif"/>
              </a:rPr>
              <a:t>role</a:t>
            </a:r>
            <a:r>
              <a:rPr sz="1600" spc="-100" dirty="0">
                <a:latin typeface="Microsoft Sans Serif"/>
                <a:cs typeface="Microsoft Sans Serif"/>
              </a:rPr>
              <a:t> </a:t>
            </a:r>
            <a:r>
              <a:rPr sz="1600" spc="-45" dirty="0">
                <a:latin typeface="Microsoft Sans Serif"/>
                <a:cs typeface="Microsoft Sans Serif"/>
              </a:rPr>
              <a:t>can</a:t>
            </a:r>
            <a:r>
              <a:rPr sz="1600" spc="-8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be</a:t>
            </a:r>
            <a:r>
              <a:rPr sz="1600" spc="-100" dirty="0">
                <a:latin typeface="Microsoft Sans Serif"/>
                <a:cs typeface="Microsoft Sans Serif"/>
              </a:rPr>
              <a:t> </a:t>
            </a:r>
            <a:r>
              <a:rPr sz="1600" spc="110" dirty="0">
                <a:latin typeface="Microsoft Sans Serif"/>
                <a:cs typeface="Microsoft Sans Serif"/>
              </a:rPr>
              <a:t>thought</a:t>
            </a:r>
            <a:r>
              <a:rPr sz="1600" spc="-90" dirty="0">
                <a:latin typeface="Microsoft Sans Serif"/>
                <a:cs typeface="Microsoft Sans Serif"/>
              </a:rPr>
              <a:t> </a:t>
            </a:r>
            <a:r>
              <a:rPr sz="1600" spc="170" dirty="0">
                <a:latin typeface="Microsoft Sans Serif"/>
                <a:cs typeface="Microsoft Sans Serif"/>
              </a:rPr>
              <a:t>of</a:t>
            </a:r>
            <a:r>
              <a:rPr sz="1600" spc="-80" dirty="0">
                <a:latin typeface="Microsoft Sans Serif"/>
                <a:cs typeface="Microsoft Sans Serif"/>
              </a:rPr>
              <a:t> </a:t>
            </a:r>
            <a:r>
              <a:rPr sz="1600" spc="-130" dirty="0">
                <a:latin typeface="Microsoft Sans Serif"/>
                <a:cs typeface="Microsoft Sans Serif"/>
              </a:rPr>
              <a:t>as</a:t>
            </a:r>
            <a:r>
              <a:rPr sz="1600" spc="-80" dirty="0">
                <a:latin typeface="Microsoft Sans Serif"/>
                <a:cs typeface="Microsoft Sans Serif"/>
              </a:rPr>
              <a:t> </a:t>
            </a:r>
            <a:r>
              <a:rPr sz="1600" spc="80" dirty="0">
                <a:latin typeface="Microsoft Sans Serif"/>
                <a:cs typeface="Microsoft Sans Serif"/>
              </a:rPr>
              <a:t>either</a:t>
            </a:r>
            <a:r>
              <a:rPr sz="1600" spc="-95" dirty="0">
                <a:latin typeface="Microsoft Sans Serif"/>
                <a:cs typeface="Microsoft Sans Serif"/>
              </a:rPr>
              <a:t> </a:t>
            </a:r>
            <a:r>
              <a:rPr sz="1600" spc="-100" dirty="0">
                <a:latin typeface="Microsoft Sans Serif"/>
                <a:cs typeface="Microsoft Sans Serif"/>
              </a:rPr>
              <a:t>a</a:t>
            </a:r>
            <a:r>
              <a:rPr sz="1600" spc="-9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database</a:t>
            </a:r>
            <a:r>
              <a:rPr sz="1600" spc="-8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user,</a:t>
            </a:r>
            <a:r>
              <a:rPr sz="1600" spc="-100" dirty="0">
                <a:latin typeface="Microsoft Sans Serif"/>
                <a:cs typeface="Microsoft Sans Serif"/>
              </a:rPr>
              <a:t> </a:t>
            </a:r>
            <a:r>
              <a:rPr sz="1600" spc="95" dirty="0">
                <a:latin typeface="Microsoft Sans Serif"/>
                <a:cs typeface="Microsoft Sans Serif"/>
              </a:rPr>
              <a:t>or</a:t>
            </a:r>
            <a:r>
              <a:rPr sz="1600" spc="-85" dirty="0">
                <a:latin typeface="Microsoft Sans Serif"/>
                <a:cs typeface="Microsoft Sans Serif"/>
              </a:rPr>
              <a:t> </a:t>
            </a:r>
            <a:r>
              <a:rPr sz="1600" spc="-100" dirty="0">
                <a:latin typeface="Microsoft Sans Serif"/>
                <a:cs typeface="Microsoft Sans Serif"/>
              </a:rPr>
              <a:t>a</a:t>
            </a:r>
            <a:r>
              <a:rPr sz="1600" spc="-90" dirty="0">
                <a:latin typeface="Microsoft Sans Serif"/>
                <a:cs typeface="Microsoft Sans Serif"/>
              </a:rPr>
              <a:t> </a:t>
            </a:r>
            <a:r>
              <a:rPr sz="1600" spc="70" dirty="0">
                <a:latin typeface="Microsoft Sans Serif"/>
                <a:cs typeface="Microsoft Sans Serif"/>
              </a:rPr>
              <a:t>group</a:t>
            </a:r>
            <a:r>
              <a:rPr sz="1600" spc="-90" dirty="0">
                <a:latin typeface="Microsoft Sans Serif"/>
                <a:cs typeface="Microsoft Sans Serif"/>
              </a:rPr>
              <a:t> </a:t>
            </a:r>
            <a:r>
              <a:rPr sz="1600" spc="145" dirty="0">
                <a:latin typeface="Microsoft Sans Serif"/>
                <a:cs typeface="Microsoft Sans Serif"/>
              </a:rPr>
              <a:t>of </a:t>
            </a:r>
            <a:r>
              <a:rPr sz="1600" dirty="0">
                <a:latin typeface="Microsoft Sans Serif"/>
                <a:cs typeface="Microsoft Sans Serif"/>
              </a:rPr>
              <a:t>database</a:t>
            </a:r>
            <a:r>
              <a:rPr sz="1600" spc="-55" dirty="0">
                <a:latin typeface="Microsoft Sans Serif"/>
                <a:cs typeface="Microsoft Sans Serif"/>
              </a:rPr>
              <a:t> </a:t>
            </a:r>
            <a:r>
              <a:rPr sz="1600" spc="-30" dirty="0">
                <a:latin typeface="Microsoft Sans Serif"/>
                <a:cs typeface="Microsoft Sans Serif"/>
              </a:rPr>
              <a:t>users,</a:t>
            </a:r>
            <a:r>
              <a:rPr sz="1600" spc="-6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depending</a:t>
            </a:r>
            <a:r>
              <a:rPr sz="1600" spc="-85" dirty="0">
                <a:latin typeface="Microsoft Sans Serif"/>
                <a:cs typeface="Microsoft Sans Serif"/>
              </a:rPr>
              <a:t> </a:t>
            </a:r>
            <a:r>
              <a:rPr sz="1600" spc="50" dirty="0">
                <a:latin typeface="Microsoft Sans Serif"/>
                <a:cs typeface="Microsoft Sans Serif"/>
              </a:rPr>
              <a:t>on</a:t>
            </a:r>
            <a:r>
              <a:rPr sz="1600" spc="-65" dirty="0">
                <a:latin typeface="Microsoft Sans Serif"/>
                <a:cs typeface="Microsoft Sans Serif"/>
              </a:rPr>
              <a:t> </a:t>
            </a:r>
            <a:r>
              <a:rPr sz="1600" spc="70" dirty="0">
                <a:latin typeface="Microsoft Sans Serif"/>
                <a:cs typeface="Microsoft Sans Serif"/>
              </a:rPr>
              <a:t>how</a:t>
            </a:r>
            <a:r>
              <a:rPr sz="1600" spc="-65" dirty="0">
                <a:latin typeface="Microsoft Sans Serif"/>
                <a:cs typeface="Microsoft Sans Serif"/>
              </a:rPr>
              <a:t> </a:t>
            </a:r>
            <a:r>
              <a:rPr sz="1600" spc="105" dirty="0">
                <a:latin typeface="Microsoft Sans Serif"/>
                <a:cs typeface="Microsoft Sans Serif"/>
              </a:rPr>
              <a:t>the</a:t>
            </a:r>
            <a:r>
              <a:rPr sz="1600" spc="-50" dirty="0">
                <a:latin typeface="Microsoft Sans Serif"/>
                <a:cs typeface="Microsoft Sans Serif"/>
              </a:rPr>
              <a:t> </a:t>
            </a:r>
            <a:r>
              <a:rPr sz="1600" spc="65" dirty="0">
                <a:latin typeface="Microsoft Sans Serif"/>
                <a:cs typeface="Microsoft Sans Serif"/>
              </a:rPr>
              <a:t>role</a:t>
            </a:r>
            <a:r>
              <a:rPr sz="1600" spc="-60" dirty="0">
                <a:latin typeface="Microsoft Sans Serif"/>
                <a:cs typeface="Microsoft Sans Serif"/>
              </a:rPr>
              <a:t> </a:t>
            </a:r>
            <a:r>
              <a:rPr sz="1600" spc="-20" dirty="0">
                <a:latin typeface="Microsoft Sans Serif"/>
                <a:cs typeface="Microsoft Sans Serif"/>
              </a:rPr>
              <a:t>is</a:t>
            </a:r>
            <a:r>
              <a:rPr sz="1600" spc="-50" dirty="0">
                <a:latin typeface="Microsoft Sans Serif"/>
                <a:cs typeface="Microsoft Sans Serif"/>
              </a:rPr>
              <a:t> </a:t>
            </a:r>
            <a:r>
              <a:rPr sz="1600" spc="50" dirty="0">
                <a:latin typeface="Microsoft Sans Serif"/>
                <a:cs typeface="Microsoft Sans Serif"/>
              </a:rPr>
              <a:t>set</a:t>
            </a:r>
            <a:r>
              <a:rPr sz="1600" spc="-60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up.</a:t>
            </a:r>
            <a:endParaRPr sz="1600" dirty="0">
              <a:latin typeface="Microsoft Sans Serif"/>
              <a:cs typeface="Microsoft Sans Serif"/>
            </a:endParaRPr>
          </a:p>
          <a:p>
            <a:pPr marL="355600" marR="5080" indent="-34353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1600" spc="-40" dirty="0">
                <a:latin typeface="Microsoft Sans Serif"/>
                <a:cs typeface="Microsoft Sans Serif"/>
              </a:rPr>
              <a:t>Roles </a:t>
            </a:r>
            <a:r>
              <a:rPr sz="1600" spc="-50" dirty="0">
                <a:latin typeface="Microsoft Sans Serif"/>
                <a:cs typeface="Microsoft Sans Serif"/>
              </a:rPr>
              <a:t>can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spc="70" dirty="0">
                <a:latin typeface="Microsoft Sans Serif"/>
                <a:cs typeface="Microsoft Sans Serif"/>
              </a:rPr>
              <a:t>own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database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objects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spc="105" dirty="0">
                <a:latin typeface="Microsoft Sans Serif"/>
                <a:cs typeface="Microsoft Sans Serif"/>
              </a:rPr>
              <a:t>(for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example,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tables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and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spc="40" dirty="0">
                <a:latin typeface="Microsoft Sans Serif"/>
                <a:cs typeface="Microsoft Sans Serif"/>
              </a:rPr>
              <a:t>functions) </a:t>
            </a:r>
            <a:r>
              <a:rPr sz="1600" dirty="0">
                <a:latin typeface="Microsoft Sans Serif"/>
                <a:cs typeface="Microsoft Sans Serif"/>
              </a:rPr>
              <a:t>and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spc="-45" dirty="0">
                <a:latin typeface="Microsoft Sans Serif"/>
                <a:cs typeface="Microsoft Sans Serif"/>
              </a:rPr>
              <a:t>can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-30" dirty="0">
                <a:latin typeface="Microsoft Sans Serif"/>
                <a:cs typeface="Microsoft Sans Serif"/>
              </a:rPr>
              <a:t>assign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privileges</a:t>
            </a:r>
            <a:r>
              <a:rPr sz="1600" spc="-50" dirty="0">
                <a:latin typeface="Microsoft Sans Serif"/>
                <a:cs typeface="Microsoft Sans Serif"/>
              </a:rPr>
              <a:t> </a:t>
            </a:r>
            <a:r>
              <a:rPr sz="1600" spc="50" dirty="0">
                <a:latin typeface="Microsoft Sans Serif"/>
                <a:cs typeface="Microsoft Sans Serif"/>
              </a:rPr>
              <a:t>on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spc="50" dirty="0">
                <a:latin typeface="Microsoft Sans Serif"/>
                <a:cs typeface="Microsoft Sans Serif"/>
              </a:rPr>
              <a:t>those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objects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spc="190" dirty="0">
                <a:latin typeface="Microsoft Sans Serif"/>
                <a:cs typeface="Microsoft Sans Serif"/>
              </a:rPr>
              <a:t>to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100" dirty="0">
                <a:latin typeface="Microsoft Sans Serif"/>
                <a:cs typeface="Microsoft Sans Serif"/>
              </a:rPr>
              <a:t>other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roles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190" dirty="0">
                <a:latin typeface="Microsoft Sans Serif"/>
                <a:cs typeface="Microsoft Sans Serif"/>
              </a:rPr>
              <a:t>to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70" dirty="0">
                <a:latin typeface="Microsoft Sans Serif"/>
                <a:cs typeface="Microsoft Sans Serif"/>
              </a:rPr>
              <a:t>control who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spc="-70" dirty="0">
                <a:latin typeface="Microsoft Sans Serif"/>
                <a:cs typeface="Microsoft Sans Serif"/>
              </a:rPr>
              <a:t>has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spc="-95" dirty="0">
                <a:latin typeface="Microsoft Sans Serif"/>
                <a:cs typeface="Microsoft Sans Serif"/>
              </a:rPr>
              <a:t>access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spc="190" dirty="0">
                <a:latin typeface="Microsoft Sans Serif"/>
                <a:cs typeface="Microsoft Sans Serif"/>
              </a:rPr>
              <a:t>to</a:t>
            </a:r>
            <a:r>
              <a:rPr sz="1600" spc="-6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which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objects.</a:t>
            </a:r>
            <a:endParaRPr sz="1600" dirty="0">
              <a:latin typeface="Microsoft Sans Serif"/>
              <a:cs typeface="Microsoft Sans Serif"/>
            </a:endParaRPr>
          </a:p>
          <a:p>
            <a:pPr marL="364490">
              <a:lnSpc>
                <a:spcPct val="100000"/>
              </a:lnSpc>
              <a:spcBef>
                <a:spcPts val="605"/>
              </a:spcBef>
            </a:pPr>
            <a:r>
              <a:rPr sz="1600" spc="-130" dirty="0">
                <a:solidFill>
                  <a:srgbClr val="3493B9"/>
                </a:solidFill>
                <a:latin typeface="Microsoft Sans Serif"/>
                <a:cs typeface="Microsoft Sans Serif"/>
              </a:rPr>
              <a:t>GRANT</a:t>
            </a:r>
            <a:r>
              <a:rPr sz="1600" spc="-50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z="1600" spc="-229" dirty="0">
                <a:solidFill>
                  <a:srgbClr val="3493B9"/>
                </a:solidFill>
                <a:latin typeface="Microsoft Sans Serif"/>
                <a:cs typeface="Microsoft Sans Serif"/>
              </a:rPr>
              <a:t>SELECT</a:t>
            </a:r>
            <a:r>
              <a:rPr sz="1600" spc="-2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493B9"/>
                </a:solidFill>
                <a:latin typeface="Microsoft Sans Serif"/>
                <a:cs typeface="Microsoft Sans Serif"/>
              </a:rPr>
              <a:t>ON</a:t>
            </a:r>
            <a:r>
              <a:rPr sz="1600" spc="-4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z="1600" spc="-110" dirty="0">
                <a:solidFill>
                  <a:srgbClr val="3493B9"/>
                </a:solidFill>
                <a:latin typeface="Microsoft Sans Serif"/>
                <a:cs typeface="Microsoft Sans Serif"/>
              </a:rPr>
              <a:t>TABLE</a:t>
            </a:r>
            <a:r>
              <a:rPr sz="1600" spc="-50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employees</a:t>
            </a:r>
            <a:r>
              <a:rPr sz="1600" spc="-70" dirty="0">
                <a:latin typeface="Microsoft Sans Serif"/>
                <a:cs typeface="Microsoft Sans Serif"/>
              </a:rPr>
              <a:t> </a:t>
            </a:r>
            <a:r>
              <a:rPr sz="1600" spc="-75" dirty="0">
                <a:solidFill>
                  <a:srgbClr val="3493B9"/>
                </a:solidFill>
                <a:latin typeface="Microsoft Sans Serif"/>
                <a:cs typeface="Microsoft Sans Serif"/>
              </a:rPr>
              <a:t>TO</a:t>
            </a:r>
            <a:r>
              <a:rPr sz="1600" spc="-40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read_only;</a:t>
            </a:r>
            <a:endParaRPr sz="1600" dirty="0">
              <a:latin typeface="Microsoft Sans Serif"/>
              <a:cs typeface="Microsoft Sans Serif"/>
            </a:endParaRPr>
          </a:p>
          <a:p>
            <a:pPr marL="355600" marR="1212850" indent="-34353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1600" dirty="0">
                <a:latin typeface="Microsoft Sans Serif"/>
                <a:cs typeface="Microsoft Sans Serif"/>
              </a:rPr>
              <a:t>Database</a:t>
            </a:r>
            <a:r>
              <a:rPr sz="1600" spc="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roles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are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conceptually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spc="60" dirty="0">
                <a:latin typeface="Microsoft Sans Serif"/>
                <a:cs typeface="Microsoft Sans Serif"/>
              </a:rPr>
              <a:t>completely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separate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spc="110" dirty="0">
                <a:latin typeface="Microsoft Sans Serif"/>
                <a:cs typeface="Microsoft Sans Serif"/>
              </a:rPr>
              <a:t>from </a:t>
            </a:r>
            <a:r>
              <a:rPr sz="1600" spc="65" dirty="0">
                <a:latin typeface="Microsoft Sans Serif"/>
                <a:cs typeface="Microsoft Sans Serif"/>
              </a:rPr>
              <a:t>operating</a:t>
            </a:r>
            <a:r>
              <a:rPr sz="1600" spc="-6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system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users.</a:t>
            </a:r>
            <a:endParaRPr sz="1600" dirty="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1600" dirty="0">
                <a:latin typeface="Microsoft Sans Serif"/>
                <a:cs typeface="Microsoft Sans Serif"/>
              </a:rPr>
              <a:t>In</a:t>
            </a:r>
            <a:r>
              <a:rPr sz="1600" spc="5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practice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175" dirty="0">
                <a:latin typeface="Microsoft Sans Serif"/>
                <a:cs typeface="Microsoft Sans Serif"/>
              </a:rPr>
              <a:t>it</a:t>
            </a:r>
            <a:r>
              <a:rPr sz="1600" spc="60" dirty="0">
                <a:latin typeface="Microsoft Sans Serif"/>
                <a:cs typeface="Microsoft Sans Serif"/>
              </a:rPr>
              <a:t> </a:t>
            </a:r>
            <a:r>
              <a:rPr sz="1600" spc="90" dirty="0">
                <a:latin typeface="Microsoft Sans Serif"/>
                <a:cs typeface="Microsoft Sans Serif"/>
              </a:rPr>
              <a:t>might</a:t>
            </a:r>
            <a:r>
              <a:rPr sz="1600" spc="4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be</a:t>
            </a:r>
            <a:r>
              <a:rPr sz="1600" spc="3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convenient </a:t>
            </a:r>
            <a:r>
              <a:rPr sz="1600" spc="190" dirty="0">
                <a:latin typeface="Microsoft Sans Serif"/>
                <a:cs typeface="Microsoft Sans Serif"/>
              </a:rPr>
              <a:t>to</a:t>
            </a:r>
            <a:r>
              <a:rPr sz="1600" spc="4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maintain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spc="-100" dirty="0">
                <a:latin typeface="Microsoft Sans Serif"/>
                <a:cs typeface="Microsoft Sans Serif"/>
              </a:rPr>
              <a:t>a</a:t>
            </a:r>
            <a:r>
              <a:rPr sz="1600" spc="4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correspondence,</a:t>
            </a:r>
            <a:endParaRPr sz="1600" dirty="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</a:pPr>
            <a:r>
              <a:rPr sz="1600" spc="130" dirty="0">
                <a:latin typeface="Microsoft Sans Serif"/>
                <a:cs typeface="Microsoft Sans Serif"/>
              </a:rPr>
              <a:t>but</a:t>
            </a:r>
            <a:r>
              <a:rPr sz="1600" spc="-110" dirty="0">
                <a:latin typeface="Microsoft Sans Serif"/>
                <a:cs typeface="Microsoft Sans Serif"/>
              </a:rPr>
              <a:t> </a:t>
            </a:r>
            <a:r>
              <a:rPr sz="1600" spc="65" dirty="0">
                <a:latin typeface="Microsoft Sans Serif"/>
                <a:cs typeface="Microsoft Sans Serif"/>
              </a:rPr>
              <a:t>this</a:t>
            </a:r>
            <a:r>
              <a:rPr sz="1600" spc="-75" dirty="0">
                <a:latin typeface="Microsoft Sans Serif"/>
                <a:cs typeface="Microsoft Sans Serif"/>
              </a:rPr>
              <a:t> </a:t>
            </a:r>
            <a:r>
              <a:rPr sz="1600" spc="-20" dirty="0">
                <a:latin typeface="Microsoft Sans Serif"/>
                <a:cs typeface="Microsoft Sans Serif"/>
              </a:rPr>
              <a:t>is</a:t>
            </a:r>
            <a:r>
              <a:rPr sz="1600" spc="-90" dirty="0">
                <a:latin typeface="Microsoft Sans Serif"/>
                <a:cs typeface="Microsoft Sans Serif"/>
              </a:rPr>
              <a:t> </a:t>
            </a:r>
            <a:r>
              <a:rPr sz="1600" spc="130" dirty="0">
                <a:latin typeface="Microsoft Sans Serif"/>
                <a:cs typeface="Microsoft Sans Serif"/>
              </a:rPr>
              <a:t>not</a:t>
            </a:r>
            <a:r>
              <a:rPr sz="1600" spc="-10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required.</a:t>
            </a:r>
            <a:endParaRPr sz="16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0225762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6486" y="2426843"/>
            <a:ext cx="2798372" cy="443115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610790" y="566166"/>
            <a:ext cx="14954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CEDBE6"/>
                </a:solidFill>
                <a:latin typeface="Arial"/>
                <a:cs typeface="Arial"/>
              </a:rPr>
              <a:t>14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9275" y="723181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48660">
              <a:lnSpc>
                <a:spcPct val="100000"/>
              </a:lnSpc>
              <a:spcBef>
                <a:spcPts val="105"/>
              </a:spcBef>
            </a:pPr>
            <a:r>
              <a:rPr spc="-515" dirty="0"/>
              <a:t>Roles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24738" y="1744727"/>
            <a:ext cx="726567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marR="5080" indent="-34036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pc="-10" dirty="0">
                <a:latin typeface="Microsoft Sans Serif"/>
                <a:cs typeface="Microsoft Sans Serif"/>
              </a:rPr>
              <a:t>Database</a:t>
            </a:r>
            <a:r>
              <a:rPr spc="-90" dirty="0">
                <a:latin typeface="Microsoft Sans Serif"/>
                <a:cs typeface="Microsoft Sans Serif"/>
              </a:rPr>
              <a:t> </a:t>
            </a:r>
            <a:r>
              <a:rPr spc="30" dirty="0">
                <a:latin typeface="Microsoft Sans Serif"/>
                <a:cs typeface="Microsoft Sans Serif"/>
              </a:rPr>
              <a:t>roles</a:t>
            </a:r>
            <a:r>
              <a:rPr spc="-10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are</a:t>
            </a:r>
            <a:r>
              <a:rPr spc="-100" dirty="0">
                <a:latin typeface="Microsoft Sans Serif"/>
                <a:cs typeface="Microsoft Sans Serif"/>
              </a:rPr>
              <a:t> </a:t>
            </a:r>
            <a:r>
              <a:rPr spc="45" dirty="0">
                <a:latin typeface="Microsoft Sans Serif"/>
                <a:cs typeface="Microsoft Sans Serif"/>
              </a:rPr>
              <a:t>global</a:t>
            </a:r>
            <a:r>
              <a:rPr spc="-110" dirty="0">
                <a:latin typeface="Microsoft Sans Serif"/>
                <a:cs typeface="Microsoft Sans Serif"/>
              </a:rPr>
              <a:t> </a:t>
            </a:r>
            <a:r>
              <a:rPr spc="-45" dirty="0">
                <a:latin typeface="Microsoft Sans Serif"/>
                <a:cs typeface="Microsoft Sans Serif"/>
              </a:rPr>
              <a:t>across</a:t>
            </a:r>
            <a:r>
              <a:rPr spc="-95" dirty="0">
                <a:latin typeface="Microsoft Sans Serif"/>
                <a:cs typeface="Microsoft Sans Serif"/>
              </a:rPr>
              <a:t> a </a:t>
            </a:r>
            <a:r>
              <a:rPr dirty="0">
                <a:latin typeface="Microsoft Sans Serif"/>
                <a:cs typeface="Microsoft Sans Serif"/>
              </a:rPr>
              <a:t>database</a:t>
            </a:r>
            <a:r>
              <a:rPr spc="-85" dirty="0">
                <a:latin typeface="Microsoft Sans Serif"/>
                <a:cs typeface="Microsoft Sans Serif"/>
              </a:rPr>
              <a:t> </a:t>
            </a:r>
            <a:r>
              <a:rPr spc="50" dirty="0">
                <a:latin typeface="Microsoft Sans Serif"/>
                <a:cs typeface="Microsoft Sans Serif"/>
              </a:rPr>
              <a:t>cluster</a:t>
            </a:r>
            <a:r>
              <a:rPr spc="-100" dirty="0">
                <a:latin typeface="Microsoft Sans Serif"/>
                <a:cs typeface="Microsoft Sans Serif"/>
              </a:rPr>
              <a:t> </a:t>
            </a:r>
            <a:r>
              <a:rPr spc="55" dirty="0">
                <a:latin typeface="Microsoft Sans Serif"/>
                <a:cs typeface="Microsoft Sans Serif"/>
              </a:rPr>
              <a:t>installation</a:t>
            </a:r>
            <a:r>
              <a:rPr spc="-10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(and 	</a:t>
            </a:r>
            <a:r>
              <a:rPr spc="130" dirty="0">
                <a:latin typeface="Microsoft Sans Serif"/>
                <a:cs typeface="Microsoft Sans Serif"/>
              </a:rPr>
              <a:t>not</a:t>
            </a:r>
            <a:r>
              <a:rPr spc="-105" dirty="0">
                <a:latin typeface="Microsoft Sans Serif"/>
                <a:cs typeface="Microsoft Sans Serif"/>
              </a:rPr>
              <a:t> </a:t>
            </a:r>
            <a:r>
              <a:rPr spc="65" dirty="0">
                <a:latin typeface="Microsoft Sans Serif"/>
                <a:cs typeface="Microsoft Sans Serif"/>
              </a:rPr>
              <a:t>per</a:t>
            </a:r>
            <a:r>
              <a:rPr spc="-100" dirty="0">
                <a:latin typeface="Microsoft Sans Serif"/>
                <a:cs typeface="Microsoft Sans Serif"/>
              </a:rPr>
              <a:t> </a:t>
            </a:r>
            <a:r>
              <a:rPr spc="40" dirty="0">
                <a:latin typeface="Microsoft Sans Serif"/>
                <a:cs typeface="Microsoft Sans Serif"/>
              </a:rPr>
              <a:t>individual</a:t>
            </a:r>
            <a:r>
              <a:rPr spc="-114" dirty="0">
                <a:latin typeface="Microsoft Sans Serif"/>
                <a:cs typeface="Microsoft Sans Serif"/>
              </a:rPr>
              <a:t> </a:t>
            </a:r>
            <a:r>
              <a:rPr spc="-15" dirty="0">
                <a:latin typeface="Microsoft Sans Serif"/>
                <a:cs typeface="Microsoft Sans Serif"/>
              </a:rPr>
              <a:t>database).</a:t>
            </a:r>
            <a:r>
              <a:rPr spc="-85" dirty="0">
                <a:latin typeface="Microsoft Sans Serif"/>
                <a:cs typeface="Microsoft Sans Serif"/>
              </a:rPr>
              <a:t> </a:t>
            </a:r>
            <a:r>
              <a:rPr spc="-35" dirty="0">
                <a:latin typeface="Microsoft Sans Serif"/>
                <a:cs typeface="Microsoft Sans Serif"/>
              </a:rPr>
              <a:t>To</a:t>
            </a:r>
            <a:r>
              <a:rPr spc="-100" dirty="0">
                <a:latin typeface="Microsoft Sans Serif"/>
                <a:cs typeface="Microsoft Sans Serif"/>
              </a:rPr>
              <a:t> </a:t>
            </a:r>
            <a:r>
              <a:rPr spc="40" dirty="0">
                <a:latin typeface="Microsoft Sans Serif"/>
                <a:cs typeface="Microsoft Sans Serif"/>
              </a:rPr>
              <a:t>create</a:t>
            </a:r>
            <a:r>
              <a:rPr spc="-105" dirty="0">
                <a:latin typeface="Microsoft Sans Serif"/>
                <a:cs typeface="Microsoft Sans Serif"/>
              </a:rPr>
              <a:t> </a:t>
            </a:r>
            <a:r>
              <a:rPr spc="-95" dirty="0">
                <a:latin typeface="Microsoft Sans Serif"/>
                <a:cs typeface="Microsoft Sans Serif"/>
              </a:rPr>
              <a:t>a</a:t>
            </a:r>
            <a:r>
              <a:rPr spc="-80" dirty="0">
                <a:latin typeface="Microsoft Sans Serif"/>
                <a:cs typeface="Microsoft Sans Serif"/>
              </a:rPr>
              <a:t> </a:t>
            </a:r>
            <a:r>
              <a:rPr spc="70" dirty="0">
                <a:latin typeface="Microsoft Sans Serif"/>
                <a:cs typeface="Microsoft Sans Serif"/>
              </a:rPr>
              <a:t>role</a:t>
            </a:r>
            <a:r>
              <a:rPr spc="-110" dirty="0">
                <a:latin typeface="Microsoft Sans Serif"/>
                <a:cs typeface="Microsoft Sans Serif"/>
              </a:rPr>
              <a:t> </a:t>
            </a:r>
            <a:r>
              <a:rPr spc="-40" dirty="0">
                <a:latin typeface="Microsoft Sans Serif"/>
                <a:cs typeface="Microsoft Sans Serif"/>
              </a:rPr>
              <a:t>use</a:t>
            </a:r>
            <a:r>
              <a:rPr spc="-85" dirty="0">
                <a:latin typeface="Microsoft Sans Serif"/>
                <a:cs typeface="Microsoft Sans Serif"/>
              </a:rPr>
              <a:t> </a:t>
            </a:r>
            <a:r>
              <a:rPr spc="105" dirty="0">
                <a:latin typeface="Microsoft Sans Serif"/>
                <a:cs typeface="Microsoft Sans Serif"/>
              </a:rPr>
              <a:t>the</a:t>
            </a:r>
            <a:r>
              <a:rPr spc="-85" dirty="0">
                <a:latin typeface="Microsoft Sans Serif"/>
                <a:cs typeface="Microsoft Sans Serif"/>
              </a:rPr>
              <a:t> </a:t>
            </a:r>
            <a:r>
              <a:rPr spc="-185" dirty="0">
                <a:latin typeface="Microsoft Sans Serif"/>
                <a:cs typeface="Microsoft Sans Serif"/>
              </a:rPr>
              <a:t>CREATE</a:t>
            </a:r>
            <a:r>
              <a:rPr spc="-100" dirty="0">
                <a:latin typeface="Microsoft Sans Serif"/>
                <a:cs typeface="Microsoft Sans Serif"/>
              </a:rPr>
              <a:t> </a:t>
            </a:r>
            <a:r>
              <a:rPr spc="-150" dirty="0">
                <a:latin typeface="Microsoft Sans Serif"/>
                <a:cs typeface="Microsoft Sans Serif"/>
              </a:rPr>
              <a:t>ROLE</a:t>
            </a:r>
            <a:r>
              <a:rPr spc="-60" dirty="0">
                <a:latin typeface="Microsoft Sans Serif"/>
                <a:cs typeface="Microsoft Sans Serif"/>
              </a:rPr>
              <a:t> 	</a:t>
            </a:r>
            <a:r>
              <a:rPr spc="-145" dirty="0">
                <a:latin typeface="Microsoft Sans Serif"/>
                <a:cs typeface="Microsoft Sans Serif"/>
              </a:rPr>
              <a:t>SQL</a:t>
            </a:r>
            <a:r>
              <a:rPr spc="-10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command: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0400" y="2819400"/>
            <a:ext cx="2156834" cy="131312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85800" y="4495800"/>
            <a:ext cx="7280910" cy="8444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>
                <a:latin typeface="Microsoft Sans Serif"/>
                <a:cs typeface="Microsoft Sans Serif"/>
              </a:rPr>
              <a:t>To</a:t>
            </a:r>
            <a:r>
              <a:rPr spc="-35" dirty="0">
                <a:latin typeface="Microsoft Sans Serif"/>
                <a:cs typeface="Microsoft Sans Serif"/>
              </a:rPr>
              <a:t> </a:t>
            </a:r>
            <a:r>
              <a:rPr spc="65" dirty="0">
                <a:latin typeface="Microsoft Sans Serif"/>
                <a:cs typeface="Microsoft Sans Serif"/>
              </a:rPr>
              <a:t>determine</a:t>
            </a:r>
            <a:r>
              <a:rPr spc="-40" dirty="0">
                <a:latin typeface="Microsoft Sans Serif"/>
                <a:cs typeface="Microsoft Sans Serif"/>
              </a:rPr>
              <a:t> </a:t>
            </a:r>
            <a:r>
              <a:rPr spc="100" dirty="0">
                <a:latin typeface="Microsoft Sans Serif"/>
                <a:cs typeface="Microsoft Sans Serif"/>
              </a:rPr>
              <a:t>the</a:t>
            </a:r>
            <a:r>
              <a:rPr spc="-15" dirty="0">
                <a:latin typeface="Microsoft Sans Serif"/>
                <a:cs typeface="Microsoft Sans Serif"/>
              </a:rPr>
              <a:t> </a:t>
            </a:r>
            <a:r>
              <a:rPr spc="50" dirty="0">
                <a:latin typeface="Microsoft Sans Serif"/>
                <a:cs typeface="Microsoft Sans Serif"/>
              </a:rPr>
              <a:t>set</a:t>
            </a:r>
            <a:r>
              <a:rPr spc="-30" dirty="0">
                <a:latin typeface="Microsoft Sans Serif"/>
                <a:cs typeface="Microsoft Sans Serif"/>
              </a:rPr>
              <a:t> </a:t>
            </a:r>
            <a:r>
              <a:rPr spc="170" dirty="0">
                <a:latin typeface="Microsoft Sans Serif"/>
                <a:cs typeface="Microsoft Sans Serif"/>
              </a:rPr>
              <a:t>of</a:t>
            </a:r>
            <a:r>
              <a:rPr spc="-2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existing</a:t>
            </a:r>
            <a:r>
              <a:rPr spc="-2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roles,</a:t>
            </a:r>
            <a:r>
              <a:rPr spc="-4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examine</a:t>
            </a:r>
            <a:r>
              <a:rPr spc="-45" dirty="0">
                <a:latin typeface="Microsoft Sans Serif"/>
                <a:cs typeface="Microsoft Sans Serif"/>
              </a:rPr>
              <a:t> </a:t>
            </a:r>
            <a:r>
              <a:rPr spc="100" dirty="0">
                <a:latin typeface="Microsoft Sans Serif"/>
                <a:cs typeface="Microsoft Sans Serif"/>
              </a:rPr>
              <a:t>the</a:t>
            </a:r>
            <a:r>
              <a:rPr spc="-1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pg_roles</a:t>
            </a:r>
            <a:r>
              <a:rPr spc="-5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system</a:t>
            </a:r>
            <a:endParaRPr dirty="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>
                <a:latin typeface="Microsoft Sans Serif"/>
                <a:cs typeface="Microsoft Sans Serif"/>
              </a:rPr>
              <a:t>catalog, </a:t>
            </a:r>
            <a:r>
              <a:rPr spc="145" dirty="0">
                <a:latin typeface="Microsoft Sans Serif"/>
                <a:cs typeface="Microsoft Sans Serif"/>
              </a:rPr>
              <a:t>for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example</a:t>
            </a:r>
            <a:endParaRPr dirty="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9400" y="5486400"/>
            <a:ext cx="3949637" cy="72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8395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21937" y="2426843"/>
            <a:ext cx="8122920" cy="4431665"/>
            <a:chOff x="1362583" y="2426842"/>
            <a:chExt cx="10830560" cy="44316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61980" y="2426842"/>
              <a:ext cx="3731162" cy="443115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2583" y="2569514"/>
              <a:ext cx="8943975" cy="3748024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8610790" y="566166"/>
            <a:ext cx="14954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CEDBE6"/>
                </a:solidFill>
                <a:latin typeface="Arial"/>
                <a:cs typeface="Arial"/>
              </a:rPr>
              <a:t>15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49275" y="723181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96465">
              <a:lnSpc>
                <a:spcPct val="100000"/>
              </a:lnSpc>
              <a:spcBef>
                <a:spcPts val="105"/>
              </a:spcBef>
            </a:pPr>
            <a:r>
              <a:rPr spc="-420" dirty="0"/>
              <a:t>Role</a:t>
            </a:r>
            <a:r>
              <a:rPr spc="-145" dirty="0"/>
              <a:t> </a:t>
            </a:r>
            <a:r>
              <a:rPr spc="-385" dirty="0"/>
              <a:t>Attributes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87145" y="1617090"/>
            <a:ext cx="674941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>
                <a:latin typeface="Microsoft Sans Serif"/>
                <a:cs typeface="Microsoft Sans Serif"/>
              </a:rPr>
              <a:t>A</a:t>
            </a:r>
            <a:r>
              <a:rPr spc="-10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database</a:t>
            </a:r>
            <a:r>
              <a:rPr spc="-85" dirty="0">
                <a:latin typeface="Microsoft Sans Serif"/>
                <a:cs typeface="Microsoft Sans Serif"/>
              </a:rPr>
              <a:t> </a:t>
            </a:r>
            <a:r>
              <a:rPr spc="70" dirty="0">
                <a:latin typeface="Microsoft Sans Serif"/>
                <a:cs typeface="Microsoft Sans Serif"/>
              </a:rPr>
              <a:t>role</a:t>
            </a:r>
            <a:r>
              <a:rPr spc="-110" dirty="0">
                <a:latin typeface="Microsoft Sans Serif"/>
                <a:cs typeface="Microsoft Sans Serif"/>
              </a:rPr>
              <a:t> </a:t>
            </a:r>
            <a:r>
              <a:rPr spc="-45" dirty="0">
                <a:latin typeface="Microsoft Sans Serif"/>
                <a:cs typeface="Microsoft Sans Serif"/>
              </a:rPr>
              <a:t>can</a:t>
            </a:r>
            <a:r>
              <a:rPr spc="-9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have</a:t>
            </a:r>
            <a:r>
              <a:rPr spc="-80" dirty="0">
                <a:latin typeface="Microsoft Sans Serif"/>
                <a:cs typeface="Microsoft Sans Serif"/>
              </a:rPr>
              <a:t> </a:t>
            </a:r>
            <a:r>
              <a:rPr spc="-100" dirty="0">
                <a:latin typeface="Microsoft Sans Serif"/>
                <a:cs typeface="Microsoft Sans Serif"/>
              </a:rPr>
              <a:t>a</a:t>
            </a:r>
            <a:r>
              <a:rPr spc="-95" dirty="0">
                <a:latin typeface="Microsoft Sans Serif"/>
                <a:cs typeface="Microsoft Sans Serif"/>
              </a:rPr>
              <a:t> </a:t>
            </a:r>
            <a:r>
              <a:rPr spc="50" dirty="0">
                <a:latin typeface="Microsoft Sans Serif"/>
                <a:cs typeface="Microsoft Sans Serif"/>
              </a:rPr>
              <a:t>number</a:t>
            </a:r>
            <a:r>
              <a:rPr spc="-105" dirty="0">
                <a:latin typeface="Microsoft Sans Serif"/>
                <a:cs typeface="Microsoft Sans Serif"/>
              </a:rPr>
              <a:t> </a:t>
            </a:r>
            <a:r>
              <a:rPr spc="170" dirty="0">
                <a:latin typeface="Microsoft Sans Serif"/>
                <a:cs typeface="Microsoft Sans Serif"/>
              </a:rPr>
              <a:t>of</a:t>
            </a:r>
            <a:r>
              <a:rPr spc="-100" dirty="0">
                <a:latin typeface="Microsoft Sans Serif"/>
                <a:cs typeface="Microsoft Sans Serif"/>
              </a:rPr>
              <a:t> </a:t>
            </a:r>
            <a:r>
              <a:rPr spc="90" dirty="0">
                <a:latin typeface="Microsoft Sans Serif"/>
                <a:cs typeface="Microsoft Sans Serif"/>
              </a:rPr>
              <a:t>attributes</a:t>
            </a:r>
            <a:r>
              <a:rPr spc="-90" dirty="0">
                <a:latin typeface="Microsoft Sans Serif"/>
                <a:cs typeface="Microsoft Sans Serif"/>
              </a:rPr>
              <a:t> </a:t>
            </a:r>
            <a:r>
              <a:rPr spc="130" dirty="0">
                <a:latin typeface="Microsoft Sans Serif"/>
                <a:cs typeface="Microsoft Sans Serif"/>
              </a:rPr>
              <a:t>that</a:t>
            </a:r>
            <a:r>
              <a:rPr spc="-90" dirty="0">
                <a:latin typeface="Microsoft Sans Serif"/>
                <a:cs typeface="Microsoft Sans Serif"/>
              </a:rPr>
              <a:t> </a:t>
            </a:r>
            <a:r>
              <a:rPr spc="65" dirty="0">
                <a:latin typeface="Microsoft Sans Serif"/>
                <a:cs typeface="Microsoft Sans Serif"/>
              </a:rPr>
              <a:t>define</a:t>
            </a:r>
            <a:r>
              <a:rPr spc="-105" dirty="0">
                <a:latin typeface="Microsoft Sans Serif"/>
                <a:cs typeface="Microsoft Sans Serif"/>
              </a:rPr>
              <a:t> </a:t>
            </a:r>
            <a:r>
              <a:rPr spc="45" dirty="0">
                <a:latin typeface="Microsoft Sans Serif"/>
                <a:cs typeface="Microsoft Sans Serif"/>
              </a:rPr>
              <a:t>its </a:t>
            </a:r>
            <a:r>
              <a:rPr dirty="0">
                <a:latin typeface="Microsoft Sans Serif"/>
                <a:cs typeface="Microsoft Sans Serif"/>
              </a:rPr>
              <a:t>privileges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and</a:t>
            </a:r>
            <a:r>
              <a:rPr spc="-35" dirty="0">
                <a:latin typeface="Microsoft Sans Serif"/>
                <a:cs typeface="Microsoft Sans Serif"/>
              </a:rPr>
              <a:t> </a:t>
            </a:r>
            <a:r>
              <a:rPr spc="75" dirty="0">
                <a:latin typeface="Microsoft Sans Serif"/>
                <a:cs typeface="Microsoft Sans Serif"/>
              </a:rPr>
              <a:t>interact</a:t>
            </a:r>
            <a:r>
              <a:rPr spc="-35" dirty="0">
                <a:latin typeface="Microsoft Sans Serif"/>
                <a:cs typeface="Microsoft Sans Serif"/>
              </a:rPr>
              <a:t> </a:t>
            </a:r>
            <a:r>
              <a:rPr spc="120" dirty="0">
                <a:latin typeface="Microsoft Sans Serif"/>
                <a:cs typeface="Microsoft Sans Serif"/>
              </a:rPr>
              <a:t>with</a:t>
            </a:r>
            <a:r>
              <a:rPr spc="-25" dirty="0">
                <a:latin typeface="Microsoft Sans Serif"/>
                <a:cs typeface="Microsoft Sans Serif"/>
              </a:rPr>
              <a:t> </a:t>
            </a:r>
            <a:r>
              <a:rPr spc="105" dirty="0">
                <a:latin typeface="Microsoft Sans Serif"/>
                <a:cs typeface="Microsoft Sans Serif"/>
              </a:rPr>
              <a:t>the</a:t>
            </a:r>
            <a:r>
              <a:rPr spc="-15" dirty="0">
                <a:latin typeface="Microsoft Sans Serif"/>
                <a:cs typeface="Microsoft Sans Serif"/>
              </a:rPr>
              <a:t> </a:t>
            </a:r>
            <a:r>
              <a:rPr spc="65" dirty="0">
                <a:latin typeface="Microsoft Sans Serif"/>
                <a:cs typeface="Microsoft Sans Serif"/>
              </a:rPr>
              <a:t>client</a:t>
            </a:r>
            <a:r>
              <a:rPr spc="-50" dirty="0">
                <a:latin typeface="Microsoft Sans Serif"/>
                <a:cs typeface="Microsoft Sans Serif"/>
              </a:rPr>
              <a:t> </a:t>
            </a:r>
            <a:r>
              <a:rPr spc="60" dirty="0">
                <a:latin typeface="Microsoft Sans Serif"/>
                <a:cs typeface="Microsoft Sans Serif"/>
              </a:rPr>
              <a:t>authentication</a:t>
            </a:r>
            <a:r>
              <a:rPr spc="-4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system.</a:t>
            </a:r>
            <a:endParaRPr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3341035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6486" y="2426843"/>
            <a:ext cx="2798372" cy="443115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610790" y="566166"/>
            <a:ext cx="14954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CEDBE6"/>
                </a:solidFill>
                <a:latin typeface="Arial"/>
                <a:cs typeface="Arial"/>
              </a:rPr>
              <a:t>16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9275" y="723181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78989">
              <a:lnSpc>
                <a:spcPct val="100000"/>
              </a:lnSpc>
              <a:spcBef>
                <a:spcPts val="105"/>
              </a:spcBef>
            </a:pPr>
            <a:r>
              <a:rPr spc="-470" dirty="0"/>
              <a:t>Login</a:t>
            </a:r>
            <a:r>
              <a:rPr spc="-145" dirty="0"/>
              <a:t> </a:t>
            </a:r>
            <a:r>
              <a:rPr spc="-370" dirty="0"/>
              <a:t>privileges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87145" y="1617091"/>
            <a:ext cx="7518083" cy="12747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>
                <a:latin typeface="Microsoft Sans Serif"/>
                <a:cs typeface="Microsoft Sans Serif"/>
              </a:rPr>
              <a:t>Only</a:t>
            </a:r>
            <a:r>
              <a:rPr spc="-8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roles</a:t>
            </a:r>
            <a:r>
              <a:rPr spc="-70" dirty="0">
                <a:latin typeface="Microsoft Sans Serif"/>
                <a:cs typeface="Microsoft Sans Serif"/>
              </a:rPr>
              <a:t> </a:t>
            </a:r>
            <a:r>
              <a:rPr spc="125" dirty="0">
                <a:latin typeface="Microsoft Sans Serif"/>
                <a:cs typeface="Microsoft Sans Serif"/>
              </a:rPr>
              <a:t>that</a:t>
            </a:r>
            <a:r>
              <a:rPr spc="-5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have</a:t>
            </a:r>
            <a:r>
              <a:rPr spc="-55" dirty="0">
                <a:latin typeface="Microsoft Sans Serif"/>
                <a:cs typeface="Microsoft Sans Serif"/>
              </a:rPr>
              <a:t> </a:t>
            </a:r>
            <a:r>
              <a:rPr spc="100" dirty="0">
                <a:latin typeface="Microsoft Sans Serif"/>
                <a:cs typeface="Microsoft Sans Serif"/>
              </a:rPr>
              <a:t>the</a:t>
            </a:r>
            <a:r>
              <a:rPr spc="-50" dirty="0">
                <a:latin typeface="Microsoft Sans Serif"/>
                <a:cs typeface="Microsoft Sans Serif"/>
              </a:rPr>
              <a:t> </a:t>
            </a:r>
            <a:r>
              <a:rPr spc="-85" dirty="0">
                <a:latin typeface="Microsoft Sans Serif"/>
                <a:cs typeface="Microsoft Sans Serif"/>
              </a:rPr>
              <a:t>LOGIN</a:t>
            </a:r>
            <a:r>
              <a:rPr spc="-70" dirty="0">
                <a:latin typeface="Microsoft Sans Serif"/>
                <a:cs typeface="Microsoft Sans Serif"/>
              </a:rPr>
              <a:t> </a:t>
            </a:r>
            <a:r>
              <a:rPr spc="114" dirty="0">
                <a:latin typeface="Microsoft Sans Serif"/>
                <a:cs typeface="Microsoft Sans Serif"/>
              </a:rPr>
              <a:t>attribute</a:t>
            </a:r>
            <a:r>
              <a:rPr spc="-55" dirty="0">
                <a:latin typeface="Microsoft Sans Serif"/>
                <a:cs typeface="Microsoft Sans Serif"/>
              </a:rPr>
              <a:t> </a:t>
            </a:r>
            <a:r>
              <a:rPr spc="-60" dirty="0">
                <a:latin typeface="Microsoft Sans Serif"/>
                <a:cs typeface="Microsoft Sans Serif"/>
              </a:rPr>
              <a:t>can</a:t>
            </a:r>
            <a:r>
              <a:rPr spc="-7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be</a:t>
            </a:r>
            <a:r>
              <a:rPr spc="-6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used</a:t>
            </a:r>
            <a:r>
              <a:rPr spc="-65" dirty="0">
                <a:latin typeface="Microsoft Sans Serif"/>
                <a:cs typeface="Microsoft Sans Serif"/>
              </a:rPr>
              <a:t> </a:t>
            </a:r>
            <a:r>
              <a:rPr spc="-120" dirty="0">
                <a:latin typeface="Microsoft Sans Serif"/>
                <a:cs typeface="Microsoft Sans Serif"/>
              </a:rPr>
              <a:t>as</a:t>
            </a:r>
            <a:r>
              <a:rPr spc="-55" dirty="0">
                <a:latin typeface="Microsoft Sans Serif"/>
                <a:cs typeface="Microsoft Sans Serif"/>
              </a:rPr>
              <a:t> </a:t>
            </a:r>
            <a:r>
              <a:rPr spc="110" dirty="0">
                <a:latin typeface="Microsoft Sans Serif"/>
                <a:cs typeface="Microsoft Sans Serif"/>
              </a:rPr>
              <a:t>the</a:t>
            </a:r>
            <a:r>
              <a:rPr spc="-65" dirty="0">
                <a:latin typeface="Microsoft Sans Serif"/>
                <a:cs typeface="Microsoft Sans Serif"/>
              </a:rPr>
              <a:t> </a:t>
            </a:r>
            <a:r>
              <a:rPr spc="70" dirty="0">
                <a:latin typeface="Microsoft Sans Serif"/>
                <a:cs typeface="Microsoft Sans Serif"/>
              </a:rPr>
              <a:t>initial</a:t>
            </a:r>
            <a:r>
              <a:rPr spc="-70" dirty="0">
                <a:latin typeface="Microsoft Sans Serif"/>
                <a:cs typeface="Microsoft Sans Serif"/>
              </a:rPr>
              <a:t> </a:t>
            </a:r>
            <a:r>
              <a:rPr spc="50" dirty="0">
                <a:latin typeface="Microsoft Sans Serif"/>
                <a:cs typeface="Microsoft Sans Serif"/>
              </a:rPr>
              <a:t>role </a:t>
            </a:r>
            <a:r>
              <a:rPr dirty="0">
                <a:latin typeface="Microsoft Sans Serif"/>
                <a:cs typeface="Microsoft Sans Serif"/>
              </a:rPr>
              <a:t>name</a:t>
            </a:r>
            <a:r>
              <a:rPr spc="-100" dirty="0">
                <a:latin typeface="Microsoft Sans Serif"/>
                <a:cs typeface="Microsoft Sans Serif"/>
              </a:rPr>
              <a:t> </a:t>
            </a:r>
            <a:r>
              <a:rPr spc="145" dirty="0">
                <a:latin typeface="Microsoft Sans Serif"/>
                <a:cs typeface="Microsoft Sans Serif"/>
              </a:rPr>
              <a:t>for</a:t>
            </a:r>
            <a:r>
              <a:rPr spc="-80" dirty="0">
                <a:latin typeface="Microsoft Sans Serif"/>
                <a:cs typeface="Microsoft Sans Serif"/>
              </a:rPr>
              <a:t> </a:t>
            </a:r>
            <a:r>
              <a:rPr spc="-100" dirty="0">
                <a:latin typeface="Microsoft Sans Serif"/>
                <a:cs typeface="Microsoft Sans Serif"/>
              </a:rPr>
              <a:t>a</a:t>
            </a:r>
            <a:r>
              <a:rPr spc="-9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database</a:t>
            </a:r>
            <a:r>
              <a:rPr spc="-8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connection.</a:t>
            </a:r>
            <a:endParaRPr dirty="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>
                <a:latin typeface="Microsoft Sans Serif"/>
                <a:cs typeface="Microsoft Sans Serif"/>
              </a:rPr>
              <a:t>A</a:t>
            </a:r>
            <a:r>
              <a:rPr spc="-75" dirty="0">
                <a:latin typeface="Microsoft Sans Serif"/>
                <a:cs typeface="Microsoft Sans Serif"/>
              </a:rPr>
              <a:t> </a:t>
            </a:r>
            <a:r>
              <a:rPr spc="70" dirty="0">
                <a:latin typeface="Microsoft Sans Serif"/>
                <a:cs typeface="Microsoft Sans Serif"/>
              </a:rPr>
              <a:t>role</a:t>
            </a:r>
            <a:r>
              <a:rPr spc="-80" dirty="0">
                <a:latin typeface="Microsoft Sans Serif"/>
                <a:cs typeface="Microsoft Sans Serif"/>
              </a:rPr>
              <a:t> </a:t>
            </a:r>
            <a:r>
              <a:rPr spc="125" dirty="0">
                <a:latin typeface="Microsoft Sans Serif"/>
                <a:cs typeface="Microsoft Sans Serif"/>
              </a:rPr>
              <a:t>with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spc="110" dirty="0">
                <a:latin typeface="Microsoft Sans Serif"/>
                <a:cs typeface="Microsoft Sans Serif"/>
              </a:rPr>
              <a:t>the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spc="-80" dirty="0">
                <a:latin typeface="Microsoft Sans Serif"/>
                <a:cs typeface="Microsoft Sans Serif"/>
              </a:rPr>
              <a:t>LOGIN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spc="114" dirty="0">
                <a:latin typeface="Microsoft Sans Serif"/>
                <a:cs typeface="Microsoft Sans Serif"/>
              </a:rPr>
              <a:t>attribute</a:t>
            </a:r>
            <a:r>
              <a:rPr spc="-75" dirty="0">
                <a:latin typeface="Microsoft Sans Serif"/>
                <a:cs typeface="Microsoft Sans Serif"/>
              </a:rPr>
              <a:t> </a:t>
            </a:r>
            <a:r>
              <a:rPr spc="-45" dirty="0">
                <a:latin typeface="Microsoft Sans Serif"/>
                <a:cs typeface="Microsoft Sans Serif"/>
              </a:rPr>
              <a:t>can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be</a:t>
            </a:r>
            <a:r>
              <a:rPr spc="-7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considered</a:t>
            </a:r>
            <a:r>
              <a:rPr spc="-80" dirty="0">
                <a:latin typeface="Microsoft Sans Serif"/>
                <a:cs typeface="Microsoft Sans Serif"/>
              </a:rPr>
              <a:t> </a:t>
            </a:r>
            <a:r>
              <a:rPr spc="110" dirty="0">
                <a:latin typeface="Microsoft Sans Serif"/>
                <a:cs typeface="Microsoft Sans Serif"/>
              </a:rPr>
              <a:t>the</a:t>
            </a:r>
            <a:r>
              <a:rPr spc="-70" dirty="0">
                <a:latin typeface="Microsoft Sans Serif"/>
                <a:cs typeface="Microsoft Sans Serif"/>
              </a:rPr>
              <a:t> </a:t>
            </a:r>
            <a:r>
              <a:rPr spc="-40" dirty="0">
                <a:latin typeface="Microsoft Sans Serif"/>
                <a:cs typeface="Microsoft Sans Serif"/>
              </a:rPr>
              <a:t>same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spc="-125" dirty="0">
                <a:latin typeface="Microsoft Sans Serif"/>
                <a:cs typeface="Microsoft Sans Serif"/>
              </a:rPr>
              <a:t>as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spc="-50" dirty="0">
                <a:latin typeface="Microsoft Sans Serif"/>
                <a:cs typeface="Microsoft Sans Serif"/>
              </a:rPr>
              <a:t>a</a:t>
            </a:r>
            <a:endParaRPr dirty="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</a:pPr>
            <a:r>
              <a:rPr dirty="0">
                <a:latin typeface="Microsoft Sans Serif"/>
                <a:cs typeface="Microsoft Sans Serif"/>
              </a:rPr>
              <a:t>“database</a:t>
            </a:r>
            <a:r>
              <a:rPr spc="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user”.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To </a:t>
            </a:r>
            <a:r>
              <a:rPr dirty="0">
                <a:latin typeface="Microsoft Sans Serif"/>
                <a:cs typeface="Microsoft Sans Serif"/>
              </a:rPr>
              <a:t>create</a:t>
            </a:r>
            <a:r>
              <a:rPr spc="-15" dirty="0">
                <a:latin typeface="Microsoft Sans Serif"/>
                <a:cs typeface="Microsoft Sans Serif"/>
              </a:rPr>
              <a:t> </a:t>
            </a:r>
            <a:r>
              <a:rPr spc="-100" dirty="0">
                <a:latin typeface="Microsoft Sans Serif"/>
                <a:cs typeface="Microsoft Sans Serif"/>
              </a:rPr>
              <a:t>a</a:t>
            </a:r>
            <a:r>
              <a:rPr dirty="0">
                <a:latin typeface="Microsoft Sans Serif"/>
                <a:cs typeface="Microsoft Sans Serif"/>
              </a:rPr>
              <a:t> </a:t>
            </a:r>
            <a:r>
              <a:rPr spc="70" dirty="0">
                <a:latin typeface="Microsoft Sans Serif"/>
                <a:cs typeface="Microsoft Sans Serif"/>
              </a:rPr>
              <a:t>role</a:t>
            </a:r>
            <a:r>
              <a:rPr spc="-20" dirty="0">
                <a:latin typeface="Microsoft Sans Serif"/>
                <a:cs typeface="Microsoft Sans Serif"/>
              </a:rPr>
              <a:t> </a:t>
            </a:r>
            <a:r>
              <a:rPr spc="120" dirty="0">
                <a:latin typeface="Microsoft Sans Serif"/>
                <a:cs typeface="Microsoft Sans Serif"/>
              </a:rPr>
              <a:t>with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spc="65" dirty="0">
                <a:latin typeface="Microsoft Sans Serif"/>
                <a:cs typeface="Microsoft Sans Serif"/>
              </a:rPr>
              <a:t>login</a:t>
            </a:r>
            <a:r>
              <a:rPr spc="-1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privilege,</a:t>
            </a:r>
            <a:r>
              <a:rPr spc="-30" dirty="0">
                <a:latin typeface="Microsoft Sans Serif"/>
                <a:cs typeface="Microsoft Sans Serif"/>
              </a:rPr>
              <a:t> </a:t>
            </a:r>
            <a:r>
              <a:rPr spc="-35" dirty="0">
                <a:latin typeface="Microsoft Sans Serif"/>
                <a:cs typeface="Microsoft Sans Serif"/>
              </a:rPr>
              <a:t>use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spc="45" dirty="0">
                <a:latin typeface="Microsoft Sans Serif"/>
                <a:cs typeface="Microsoft Sans Serif"/>
              </a:rPr>
              <a:t>either:</a:t>
            </a:r>
            <a:endParaRPr dirty="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0" y="3200400"/>
            <a:ext cx="2986088" cy="115252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057400" y="4648200"/>
            <a:ext cx="4413409" cy="14318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40" dirty="0">
                <a:solidFill>
                  <a:srgbClr val="3493B9"/>
                </a:solidFill>
                <a:latin typeface="Microsoft Sans Serif"/>
                <a:cs typeface="Microsoft Sans Serif"/>
              </a:rPr>
              <a:t>CREATE</a:t>
            </a:r>
            <a:r>
              <a:rPr sz="1800" spc="-3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3493B9"/>
                </a:solidFill>
                <a:latin typeface="Microsoft Sans Serif"/>
                <a:cs typeface="Microsoft Sans Serif"/>
              </a:rPr>
              <a:t>ROLE</a:t>
            </a:r>
            <a:r>
              <a:rPr sz="1800" spc="-1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analyst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65" dirty="0">
                <a:solidFill>
                  <a:srgbClr val="3493B9"/>
                </a:solidFill>
                <a:latin typeface="Microsoft Sans Serif"/>
                <a:cs typeface="Microsoft Sans Serif"/>
              </a:rPr>
              <a:t>LOGIN</a:t>
            </a:r>
            <a:r>
              <a:rPr sz="1800" spc="-2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3493B9"/>
                </a:solidFill>
                <a:latin typeface="Microsoft Sans Serif"/>
                <a:cs typeface="Microsoft Sans Serif"/>
              </a:rPr>
              <a:t>PASSWORD</a:t>
            </a:r>
            <a:r>
              <a:rPr sz="1800" spc="2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'password123';</a:t>
            </a:r>
            <a:endParaRPr sz="18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800" dirty="0">
              <a:latin typeface="Microsoft Sans Serif"/>
              <a:cs typeface="Microsoft Sans Serif"/>
            </a:endParaRPr>
          </a:p>
          <a:p>
            <a:pPr marL="509905">
              <a:lnSpc>
                <a:spcPct val="100000"/>
              </a:lnSpc>
            </a:pPr>
            <a:r>
              <a:rPr sz="1800" spc="-140" dirty="0">
                <a:solidFill>
                  <a:srgbClr val="3493B9"/>
                </a:solidFill>
                <a:latin typeface="Microsoft Sans Serif"/>
                <a:cs typeface="Microsoft Sans Serif"/>
              </a:rPr>
              <a:t>CREATE</a:t>
            </a:r>
            <a:r>
              <a:rPr sz="1800" spc="-3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z="1800" spc="-170" dirty="0">
                <a:solidFill>
                  <a:srgbClr val="3493B9"/>
                </a:solidFill>
                <a:latin typeface="Microsoft Sans Serif"/>
                <a:cs typeface="Microsoft Sans Serif"/>
              </a:rPr>
              <a:t>USER</a:t>
            </a:r>
            <a:r>
              <a:rPr sz="1800" spc="-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analyst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3493B9"/>
                </a:solidFill>
                <a:latin typeface="Microsoft Sans Serif"/>
                <a:cs typeface="Microsoft Sans Serif"/>
              </a:rPr>
              <a:t>PASSWORD</a:t>
            </a:r>
            <a:r>
              <a:rPr sz="1800" spc="20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'password123';</a:t>
            </a:r>
            <a:endParaRPr sz="18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13770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6486" y="2426843"/>
            <a:ext cx="2798372" cy="443115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610790" y="566166"/>
            <a:ext cx="14954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CEDBE6"/>
                </a:solidFill>
                <a:latin typeface="Arial"/>
                <a:cs typeface="Arial"/>
              </a:rPr>
              <a:t>17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9275" y="723181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16760">
              <a:lnSpc>
                <a:spcPct val="100000"/>
              </a:lnSpc>
              <a:spcBef>
                <a:spcPts val="105"/>
              </a:spcBef>
            </a:pPr>
            <a:r>
              <a:rPr spc="-490" dirty="0"/>
              <a:t>Superuser</a:t>
            </a:r>
            <a:r>
              <a:rPr spc="-160" dirty="0"/>
              <a:t> </a:t>
            </a:r>
            <a:r>
              <a:rPr spc="-465" dirty="0"/>
              <a:t>status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87146" y="1617091"/>
            <a:ext cx="7686199" cy="3912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6162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database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superuser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bypasses</a:t>
            </a:r>
            <a:r>
              <a:rPr sz="2000" dirty="0">
                <a:latin typeface="Microsoft Sans Serif"/>
                <a:cs typeface="Microsoft Sans Serif"/>
              </a:rPr>
              <a:t> all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permission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45" dirty="0">
                <a:latin typeface="Microsoft Sans Serif"/>
                <a:cs typeface="Microsoft Sans Serif"/>
              </a:rPr>
              <a:t>checks,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except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spc="110" dirty="0">
                <a:latin typeface="Microsoft Sans Serif"/>
                <a:cs typeface="Microsoft Sans Serif"/>
              </a:rPr>
              <a:t>the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95" dirty="0">
                <a:latin typeface="Microsoft Sans Serif"/>
                <a:cs typeface="Microsoft Sans Serif"/>
              </a:rPr>
              <a:t>right </a:t>
            </a:r>
            <a:r>
              <a:rPr sz="2000" spc="190" dirty="0">
                <a:latin typeface="Microsoft Sans Serif"/>
                <a:cs typeface="Microsoft Sans Serif"/>
              </a:rPr>
              <a:t>to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75" dirty="0">
                <a:latin typeface="Microsoft Sans Serif"/>
                <a:cs typeface="Microsoft Sans Serif"/>
              </a:rPr>
              <a:t>log</a:t>
            </a:r>
            <a:r>
              <a:rPr sz="2000" spc="-10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in.</a:t>
            </a:r>
            <a:endParaRPr sz="2000" dirty="0">
              <a:latin typeface="Microsoft Sans Serif"/>
              <a:cs typeface="Microsoft Sans Serif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35" dirty="0">
                <a:latin typeface="Microsoft Sans Serif"/>
                <a:cs typeface="Microsoft Sans Serif"/>
              </a:rPr>
              <a:t>This</a:t>
            </a:r>
            <a:r>
              <a:rPr sz="2000" spc="-6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is</a:t>
            </a:r>
            <a:r>
              <a:rPr sz="2000" spc="-65" dirty="0">
                <a:latin typeface="Microsoft Sans Serif"/>
                <a:cs typeface="Microsoft Sans Serif"/>
              </a:rPr>
              <a:t> </a:t>
            </a:r>
            <a:r>
              <a:rPr sz="2000" spc="-100" dirty="0">
                <a:latin typeface="Microsoft Sans Serif"/>
                <a:cs typeface="Microsoft Sans Serif"/>
              </a:rPr>
              <a:t>a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dangerous</a:t>
            </a:r>
            <a:r>
              <a:rPr sz="2000" spc="-90" dirty="0">
                <a:latin typeface="Microsoft Sans Serif"/>
                <a:cs typeface="Microsoft Sans Serif"/>
              </a:rPr>
              <a:t> </a:t>
            </a:r>
            <a:r>
              <a:rPr sz="2000" spc="45" dirty="0">
                <a:latin typeface="Microsoft Sans Serif"/>
                <a:cs typeface="Microsoft Sans Serif"/>
              </a:rPr>
              <a:t>privilege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should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spc="130" dirty="0">
                <a:latin typeface="Microsoft Sans Serif"/>
                <a:cs typeface="Microsoft Sans Serif"/>
              </a:rPr>
              <a:t>not</a:t>
            </a:r>
            <a:r>
              <a:rPr sz="2000" spc="-7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used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carelessly;</a:t>
            </a:r>
            <a:r>
              <a:rPr sz="2000" spc="-100" dirty="0">
                <a:latin typeface="Microsoft Sans Serif"/>
                <a:cs typeface="Microsoft Sans Serif"/>
              </a:rPr>
              <a:t> </a:t>
            </a:r>
            <a:r>
              <a:rPr sz="2000" spc="175" dirty="0">
                <a:latin typeface="Microsoft Sans Serif"/>
                <a:cs typeface="Microsoft Sans Serif"/>
              </a:rPr>
              <a:t>it</a:t>
            </a:r>
            <a:r>
              <a:rPr sz="2000" spc="-6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is</a:t>
            </a:r>
            <a:r>
              <a:rPr sz="2000" spc="-70" dirty="0">
                <a:latin typeface="Microsoft Sans Serif"/>
                <a:cs typeface="Microsoft Sans Serif"/>
              </a:rPr>
              <a:t> </a:t>
            </a:r>
            <a:r>
              <a:rPr sz="2000" spc="35" dirty="0">
                <a:latin typeface="Microsoft Sans Serif"/>
                <a:cs typeface="Microsoft Sans Serif"/>
              </a:rPr>
              <a:t>best </a:t>
            </a:r>
            <a:r>
              <a:rPr sz="2000" spc="190" dirty="0">
                <a:latin typeface="Microsoft Sans Serif"/>
                <a:cs typeface="Microsoft Sans Serif"/>
              </a:rPr>
              <a:t>to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spc="65" dirty="0">
                <a:latin typeface="Microsoft Sans Serif"/>
                <a:cs typeface="Microsoft Sans Serif"/>
              </a:rPr>
              <a:t>do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spc="70" dirty="0">
                <a:latin typeface="Microsoft Sans Serif"/>
                <a:cs typeface="Microsoft Sans Serif"/>
              </a:rPr>
              <a:t>most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spc="170" dirty="0">
                <a:latin typeface="Microsoft Sans Serif"/>
                <a:cs typeface="Microsoft Sans Serif"/>
              </a:rPr>
              <a:t>of</a:t>
            </a:r>
            <a:r>
              <a:rPr sz="2000" spc="-7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your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spc="85" dirty="0">
                <a:latin typeface="Microsoft Sans Serif"/>
                <a:cs typeface="Microsoft Sans Serif"/>
              </a:rPr>
              <a:t>work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spc="-125" dirty="0">
                <a:latin typeface="Microsoft Sans Serif"/>
                <a:cs typeface="Microsoft Sans Serif"/>
              </a:rPr>
              <a:t>as</a:t>
            </a:r>
            <a:r>
              <a:rPr sz="2000" spc="-65" dirty="0">
                <a:latin typeface="Microsoft Sans Serif"/>
                <a:cs typeface="Microsoft Sans Serif"/>
              </a:rPr>
              <a:t> </a:t>
            </a:r>
            <a:r>
              <a:rPr sz="2000" spc="-100" dirty="0">
                <a:latin typeface="Microsoft Sans Serif"/>
                <a:cs typeface="Microsoft Sans Serif"/>
              </a:rPr>
              <a:t>a</a:t>
            </a:r>
            <a:r>
              <a:rPr sz="2000" spc="-70" dirty="0">
                <a:latin typeface="Microsoft Sans Serif"/>
                <a:cs typeface="Microsoft Sans Serif"/>
              </a:rPr>
              <a:t> </a:t>
            </a:r>
            <a:r>
              <a:rPr sz="2000" spc="65" dirty="0">
                <a:latin typeface="Microsoft Sans Serif"/>
                <a:cs typeface="Microsoft Sans Serif"/>
              </a:rPr>
              <a:t>role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spc="125" dirty="0">
                <a:latin typeface="Microsoft Sans Serif"/>
                <a:cs typeface="Microsoft Sans Serif"/>
              </a:rPr>
              <a:t>that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is</a:t>
            </a:r>
            <a:r>
              <a:rPr sz="2000" spc="-65" dirty="0">
                <a:latin typeface="Microsoft Sans Serif"/>
                <a:cs typeface="Microsoft Sans Serif"/>
              </a:rPr>
              <a:t> </a:t>
            </a:r>
            <a:r>
              <a:rPr sz="2000" spc="130" dirty="0">
                <a:latin typeface="Microsoft Sans Serif"/>
                <a:cs typeface="Microsoft Sans Serif"/>
              </a:rPr>
              <a:t>not</a:t>
            </a:r>
            <a:r>
              <a:rPr sz="2000" spc="-70" dirty="0">
                <a:latin typeface="Microsoft Sans Serif"/>
                <a:cs typeface="Microsoft Sans Serif"/>
              </a:rPr>
              <a:t> </a:t>
            </a:r>
            <a:r>
              <a:rPr sz="2000" spc="-100" dirty="0">
                <a:latin typeface="Microsoft Sans Serif"/>
                <a:cs typeface="Microsoft Sans Serif"/>
              </a:rPr>
              <a:t>a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superuser.</a:t>
            </a:r>
            <a:endParaRPr sz="2000" dirty="0">
              <a:latin typeface="Microsoft Sans Serif"/>
              <a:cs typeface="Microsoft Sans Serif"/>
            </a:endParaRPr>
          </a:p>
          <a:p>
            <a:pPr marL="354965" marR="4224020" indent="-342265">
              <a:lnSpc>
                <a:spcPct val="141700"/>
              </a:lnSpc>
              <a:buFont typeface="Arial MT"/>
              <a:buChar char="•"/>
              <a:tabLst>
                <a:tab pos="370840" algn="l"/>
              </a:tabLst>
            </a:pPr>
            <a:r>
              <a:rPr sz="2000" dirty="0">
                <a:latin typeface="Microsoft Sans Serif"/>
                <a:cs typeface="Microsoft Sans Serif"/>
              </a:rPr>
              <a:t>To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create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spc="-100" dirty="0">
                <a:latin typeface="Microsoft Sans Serif"/>
                <a:cs typeface="Microsoft Sans Serif"/>
              </a:rPr>
              <a:t>a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new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database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superuser,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use: 	</a:t>
            </a:r>
            <a:r>
              <a:rPr sz="2000" spc="-185" dirty="0">
                <a:solidFill>
                  <a:srgbClr val="3493B9"/>
                </a:solidFill>
                <a:latin typeface="Microsoft Sans Serif"/>
                <a:cs typeface="Microsoft Sans Serif"/>
              </a:rPr>
              <a:t>CREATE</a:t>
            </a:r>
            <a:r>
              <a:rPr sz="2000" spc="-6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3493B9"/>
                </a:solidFill>
                <a:latin typeface="Microsoft Sans Serif"/>
                <a:cs typeface="Microsoft Sans Serif"/>
              </a:rPr>
              <a:t>ROLE</a:t>
            </a:r>
            <a:r>
              <a:rPr sz="2000" spc="-6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name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spc="-100" dirty="0">
                <a:solidFill>
                  <a:srgbClr val="3493B9"/>
                </a:solidFill>
                <a:latin typeface="Microsoft Sans Serif"/>
                <a:cs typeface="Microsoft Sans Serif"/>
              </a:rPr>
              <a:t>SUPERUSER</a:t>
            </a:r>
            <a:endParaRPr sz="2000" dirty="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20" dirty="0">
                <a:latin typeface="Microsoft Sans Serif"/>
                <a:cs typeface="Microsoft Sans Serif"/>
              </a:rPr>
              <a:t>You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65" dirty="0">
                <a:latin typeface="Microsoft Sans Serif"/>
                <a:cs typeface="Microsoft Sans Serif"/>
              </a:rPr>
              <a:t>must</a:t>
            </a:r>
            <a:r>
              <a:rPr sz="2000" spc="-90" dirty="0">
                <a:latin typeface="Microsoft Sans Serif"/>
                <a:cs typeface="Microsoft Sans Serif"/>
              </a:rPr>
              <a:t> </a:t>
            </a:r>
            <a:r>
              <a:rPr sz="2000" spc="65" dirty="0">
                <a:latin typeface="Microsoft Sans Serif"/>
                <a:cs typeface="Microsoft Sans Serif"/>
              </a:rPr>
              <a:t>do</a:t>
            </a:r>
            <a:r>
              <a:rPr sz="2000" spc="-100" dirty="0">
                <a:latin typeface="Microsoft Sans Serif"/>
                <a:cs typeface="Microsoft Sans Serif"/>
              </a:rPr>
              <a:t> </a:t>
            </a:r>
            <a:r>
              <a:rPr sz="2000" spc="65" dirty="0">
                <a:latin typeface="Microsoft Sans Serif"/>
                <a:cs typeface="Microsoft Sans Serif"/>
              </a:rPr>
              <a:t>this</a:t>
            </a:r>
            <a:r>
              <a:rPr sz="2000" spc="-65" dirty="0">
                <a:latin typeface="Microsoft Sans Serif"/>
                <a:cs typeface="Microsoft Sans Serif"/>
              </a:rPr>
              <a:t> </a:t>
            </a:r>
            <a:r>
              <a:rPr sz="2000" spc="-120" dirty="0">
                <a:latin typeface="Microsoft Sans Serif"/>
                <a:cs typeface="Microsoft Sans Serif"/>
              </a:rPr>
              <a:t>as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-100" dirty="0">
                <a:latin typeface="Microsoft Sans Serif"/>
                <a:cs typeface="Microsoft Sans Serif"/>
              </a:rPr>
              <a:t>a</a:t>
            </a:r>
            <a:r>
              <a:rPr sz="2000" spc="-90" dirty="0">
                <a:latin typeface="Microsoft Sans Serif"/>
                <a:cs typeface="Microsoft Sans Serif"/>
              </a:rPr>
              <a:t> </a:t>
            </a:r>
            <a:r>
              <a:rPr sz="2000" spc="70" dirty="0">
                <a:latin typeface="Microsoft Sans Serif"/>
                <a:cs typeface="Microsoft Sans Serif"/>
              </a:rPr>
              <a:t>role</a:t>
            </a:r>
            <a:r>
              <a:rPr sz="2000" spc="-110" dirty="0">
                <a:latin typeface="Microsoft Sans Serif"/>
                <a:cs typeface="Microsoft Sans Serif"/>
              </a:rPr>
              <a:t> </a:t>
            </a:r>
            <a:r>
              <a:rPr sz="2000" spc="125" dirty="0">
                <a:latin typeface="Microsoft Sans Serif"/>
                <a:cs typeface="Microsoft Sans Serif"/>
              </a:rPr>
              <a:t>that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already</a:t>
            </a:r>
            <a:r>
              <a:rPr sz="2000" spc="-110" dirty="0">
                <a:latin typeface="Microsoft Sans Serif"/>
                <a:cs typeface="Microsoft Sans Serif"/>
              </a:rPr>
              <a:t> </a:t>
            </a:r>
            <a:r>
              <a:rPr sz="2000" spc="-100" dirty="0">
                <a:latin typeface="Microsoft Sans Serif"/>
                <a:cs typeface="Microsoft Sans Serif"/>
              </a:rPr>
              <a:t>a</a:t>
            </a:r>
            <a:r>
              <a:rPr sz="2000" spc="-9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superuser.</a:t>
            </a:r>
            <a:endParaRPr sz="20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9814505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6486" y="2426843"/>
            <a:ext cx="2798372" cy="443115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610790" y="566166"/>
            <a:ext cx="14954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CEDBE6"/>
                </a:solidFill>
                <a:latin typeface="Arial"/>
                <a:cs typeface="Arial"/>
              </a:rPr>
              <a:t>18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9275" y="723181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67510">
              <a:lnSpc>
                <a:spcPct val="100000"/>
              </a:lnSpc>
              <a:spcBef>
                <a:spcPts val="105"/>
              </a:spcBef>
            </a:pPr>
            <a:r>
              <a:rPr spc="-195" dirty="0"/>
              <a:t>Database</a:t>
            </a:r>
            <a:r>
              <a:rPr spc="-135" dirty="0"/>
              <a:t> </a:t>
            </a:r>
            <a:r>
              <a:rPr spc="-270" dirty="0"/>
              <a:t>creation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87145" y="1464690"/>
            <a:ext cx="7505700" cy="2737657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>
                <a:latin typeface="Microsoft Sans Serif"/>
                <a:cs typeface="Microsoft Sans Serif"/>
              </a:rPr>
              <a:t>A</a:t>
            </a:r>
            <a:r>
              <a:rPr spc="-20" dirty="0">
                <a:latin typeface="Microsoft Sans Serif"/>
                <a:cs typeface="Microsoft Sans Serif"/>
              </a:rPr>
              <a:t> </a:t>
            </a:r>
            <a:r>
              <a:rPr spc="70" dirty="0">
                <a:latin typeface="Microsoft Sans Serif"/>
                <a:cs typeface="Microsoft Sans Serif"/>
              </a:rPr>
              <a:t>role</a:t>
            </a:r>
            <a:r>
              <a:rPr spc="-30" dirty="0">
                <a:latin typeface="Microsoft Sans Serif"/>
                <a:cs typeface="Microsoft Sans Serif"/>
              </a:rPr>
              <a:t> </a:t>
            </a:r>
            <a:r>
              <a:rPr spc="65" dirty="0">
                <a:latin typeface="Microsoft Sans Serif"/>
                <a:cs typeface="Microsoft Sans Serif"/>
              </a:rPr>
              <a:t>must</a:t>
            </a:r>
            <a:r>
              <a:rPr spc="-1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be</a:t>
            </a:r>
            <a:r>
              <a:rPr spc="-25" dirty="0">
                <a:latin typeface="Microsoft Sans Serif"/>
                <a:cs typeface="Microsoft Sans Serif"/>
              </a:rPr>
              <a:t> </a:t>
            </a:r>
            <a:r>
              <a:rPr spc="55" dirty="0">
                <a:latin typeface="Microsoft Sans Serif"/>
                <a:cs typeface="Microsoft Sans Serif"/>
              </a:rPr>
              <a:t>explicitly</a:t>
            </a:r>
            <a:r>
              <a:rPr spc="-4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given</a:t>
            </a:r>
            <a:r>
              <a:rPr spc="-3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permission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spc="190" dirty="0">
                <a:latin typeface="Microsoft Sans Serif"/>
                <a:cs typeface="Microsoft Sans Serif"/>
              </a:rPr>
              <a:t>to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create</a:t>
            </a:r>
            <a:r>
              <a:rPr spc="-2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databases.</a:t>
            </a:r>
            <a:endParaRPr dirty="0">
              <a:latin typeface="Microsoft Sans Serif"/>
              <a:cs typeface="Microsoft Sans Serif"/>
            </a:endParaRPr>
          </a:p>
          <a:p>
            <a:pPr marL="354965" marR="5268595" indent="-342265">
              <a:lnSpc>
                <a:spcPct val="141700"/>
              </a:lnSpc>
              <a:buFont typeface="Arial MT"/>
              <a:buChar char="•"/>
              <a:tabLst>
                <a:tab pos="370840" algn="l"/>
              </a:tabLst>
            </a:pPr>
            <a:r>
              <a:rPr dirty="0">
                <a:latin typeface="Microsoft Sans Serif"/>
                <a:cs typeface="Microsoft Sans Serif"/>
              </a:rPr>
              <a:t>To</a:t>
            </a:r>
            <a:r>
              <a:rPr spc="-2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create</a:t>
            </a:r>
            <a:r>
              <a:rPr spc="-20" dirty="0">
                <a:latin typeface="Microsoft Sans Serif"/>
                <a:cs typeface="Microsoft Sans Serif"/>
              </a:rPr>
              <a:t> </a:t>
            </a:r>
            <a:r>
              <a:rPr spc="-35" dirty="0">
                <a:latin typeface="Microsoft Sans Serif"/>
                <a:cs typeface="Microsoft Sans Serif"/>
              </a:rPr>
              <a:t>such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spc="-100" dirty="0">
                <a:latin typeface="Microsoft Sans Serif"/>
                <a:cs typeface="Microsoft Sans Serif"/>
              </a:rPr>
              <a:t>a</a:t>
            </a:r>
            <a:r>
              <a:rPr spc="-1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role,</a:t>
            </a:r>
            <a:r>
              <a:rPr spc="-35" dirty="0">
                <a:latin typeface="Microsoft Sans Serif"/>
                <a:cs typeface="Microsoft Sans Serif"/>
              </a:rPr>
              <a:t> </a:t>
            </a:r>
            <a:r>
              <a:rPr spc="-20" dirty="0">
                <a:latin typeface="Microsoft Sans Serif"/>
                <a:cs typeface="Microsoft Sans Serif"/>
              </a:rPr>
              <a:t>use: 	</a:t>
            </a:r>
            <a:r>
              <a:rPr spc="-185" dirty="0">
                <a:solidFill>
                  <a:srgbClr val="3493B9"/>
                </a:solidFill>
                <a:latin typeface="Microsoft Sans Serif"/>
                <a:cs typeface="Microsoft Sans Serif"/>
              </a:rPr>
              <a:t>CREATE</a:t>
            </a:r>
            <a:r>
              <a:rPr spc="-7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pc="-155" dirty="0">
                <a:solidFill>
                  <a:srgbClr val="3493B9"/>
                </a:solidFill>
                <a:latin typeface="Microsoft Sans Serif"/>
                <a:cs typeface="Microsoft Sans Serif"/>
              </a:rPr>
              <a:t>ROLE</a:t>
            </a:r>
            <a:r>
              <a:rPr spc="-6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name</a:t>
            </a:r>
            <a:r>
              <a:rPr spc="-80" dirty="0">
                <a:latin typeface="Microsoft Sans Serif"/>
                <a:cs typeface="Microsoft Sans Serif"/>
              </a:rPr>
              <a:t> </a:t>
            </a:r>
            <a:r>
              <a:rPr spc="-135" dirty="0">
                <a:solidFill>
                  <a:srgbClr val="3493B9"/>
                </a:solidFill>
                <a:latin typeface="Microsoft Sans Serif"/>
                <a:cs typeface="Microsoft Sans Serif"/>
              </a:rPr>
              <a:t>CREATEDB</a:t>
            </a:r>
            <a:endParaRPr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dirty="0">
              <a:latin typeface="Microsoft Sans Serif"/>
              <a:cs typeface="Microsoft Sans Serif"/>
            </a:endParaRPr>
          </a:p>
          <a:p>
            <a:pPr marL="240665">
              <a:lnSpc>
                <a:spcPct val="100000"/>
              </a:lnSpc>
            </a:pPr>
            <a:r>
              <a:rPr spc="-185" dirty="0">
                <a:solidFill>
                  <a:srgbClr val="3493B9"/>
                </a:solidFill>
                <a:latin typeface="Microsoft Sans Serif"/>
                <a:cs typeface="Microsoft Sans Serif"/>
              </a:rPr>
              <a:t>CREATE</a:t>
            </a:r>
            <a:r>
              <a:rPr spc="10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pc="-150" dirty="0">
                <a:solidFill>
                  <a:srgbClr val="3493B9"/>
                </a:solidFill>
                <a:latin typeface="Microsoft Sans Serif"/>
                <a:cs typeface="Microsoft Sans Serif"/>
              </a:rPr>
              <a:t>ROLE</a:t>
            </a:r>
            <a:r>
              <a:rPr spc="10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db_creator</a:t>
            </a:r>
            <a:r>
              <a:rPr spc="-45" dirty="0">
                <a:latin typeface="Microsoft Sans Serif"/>
                <a:cs typeface="Microsoft Sans Serif"/>
              </a:rPr>
              <a:t> </a:t>
            </a:r>
            <a:r>
              <a:rPr spc="-85" dirty="0">
                <a:solidFill>
                  <a:srgbClr val="3493B9"/>
                </a:solidFill>
                <a:latin typeface="Microsoft Sans Serif"/>
                <a:cs typeface="Microsoft Sans Serif"/>
              </a:rPr>
              <a:t>LOGIN</a:t>
            </a:r>
            <a:r>
              <a:rPr spc="1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pc="-145" dirty="0">
                <a:solidFill>
                  <a:srgbClr val="3493B9"/>
                </a:solidFill>
                <a:latin typeface="Microsoft Sans Serif"/>
                <a:cs typeface="Microsoft Sans Serif"/>
              </a:rPr>
              <a:t>PASSWORD</a:t>
            </a:r>
            <a:r>
              <a:rPr spc="-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pc="-30" dirty="0">
                <a:latin typeface="Microsoft Sans Serif"/>
                <a:cs typeface="Microsoft Sans Serif"/>
              </a:rPr>
              <a:t>'secure_pass'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spc="-90" dirty="0">
                <a:solidFill>
                  <a:srgbClr val="3493B9"/>
                </a:solidFill>
                <a:latin typeface="Microsoft Sans Serif"/>
                <a:cs typeface="Microsoft Sans Serif"/>
              </a:rPr>
              <a:t>CREATEDB</a:t>
            </a:r>
            <a:r>
              <a:rPr spc="-90" dirty="0">
                <a:latin typeface="Microsoft Sans Serif"/>
                <a:cs typeface="Microsoft Sans Serif"/>
              </a:rPr>
              <a:t>;</a:t>
            </a:r>
            <a:endParaRPr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871752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6486" y="2426843"/>
            <a:ext cx="2798372" cy="443115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610790" y="566166"/>
            <a:ext cx="14954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CEDBE6"/>
                </a:solidFill>
                <a:latin typeface="Arial"/>
                <a:cs typeface="Arial"/>
              </a:rPr>
              <a:t>19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9275" y="723181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13940">
              <a:lnSpc>
                <a:spcPct val="100000"/>
              </a:lnSpc>
              <a:spcBef>
                <a:spcPts val="105"/>
              </a:spcBef>
            </a:pPr>
            <a:r>
              <a:rPr spc="-420" dirty="0"/>
              <a:t>Role</a:t>
            </a:r>
            <a:r>
              <a:rPr spc="-145" dirty="0"/>
              <a:t> </a:t>
            </a:r>
            <a:r>
              <a:rPr spc="-270" dirty="0"/>
              <a:t>creation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9864" y="1464690"/>
            <a:ext cx="7926229" cy="345351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618490" indent="-342900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618490" algn="l"/>
              </a:tabLst>
            </a:pPr>
            <a:r>
              <a:rPr dirty="0">
                <a:latin typeface="Microsoft Sans Serif"/>
                <a:cs typeface="Microsoft Sans Serif"/>
              </a:rPr>
              <a:t>A</a:t>
            </a:r>
            <a:r>
              <a:rPr spc="-25" dirty="0">
                <a:latin typeface="Microsoft Sans Serif"/>
                <a:cs typeface="Microsoft Sans Serif"/>
              </a:rPr>
              <a:t> </a:t>
            </a:r>
            <a:r>
              <a:rPr spc="70" dirty="0">
                <a:latin typeface="Microsoft Sans Serif"/>
                <a:cs typeface="Microsoft Sans Serif"/>
              </a:rPr>
              <a:t>role</a:t>
            </a:r>
            <a:r>
              <a:rPr spc="-35" dirty="0">
                <a:latin typeface="Microsoft Sans Serif"/>
                <a:cs typeface="Microsoft Sans Serif"/>
              </a:rPr>
              <a:t> </a:t>
            </a:r>
            <a:r>
              <a:rPr spc="65" dirty="0">
                <a:latin typeface="Microsoft Sans Serif"/>
                <a:cs typeface="Microsoft Sans Serif"/>
              </a:rPr>
              <a:t>must</a:t>
            </a:r>
            <a:r>
              <a:rPr spc="-2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be</a:t>
            </a:r>
            <a:r>
              <a:rPr spc="-30" dirty="0">
                <a:latin typeface="Microsoft Sans Serif"/>
                <a:cs typeface="Microsoft Sans Serif"/>
              </a:rPr>
              <a:t> </a:t>
            </a:r>
            <a:r>
              <a:rPr spc="55" dirty="0">
                <a:latin typeface="Microsoft Sans Serif"/>
                <a:cs typeface="Microsoft Sans Serif"/>
              </a:rPr>
              <a:t>explicitly</a:t>
            </a:r>
            <a:r>
              <a:rPr spc="-4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given</a:t>
            </a:r>
            <a:r>
              <a:rPr spc="-4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permission</a:t>
            </a:r>
            <a:r>
              <a:rPr spc="-15" dirty="0">
                <a:latin typeface="Microsoft Sans Serif"/>
                <a:cs typeface="Microsoft Sans Serif"/>
              </a:rPr>
              <a:t> </a:t>
            </a:r>
            <a:r>
              <a:rPr spc="190" dirty="0">
                <a:latin typeface="Microsoft Sans Serif"/>
                <a:cs typeface="Microsoft Sans Serif"/>
              </a:rPr>
              <a:t>to</a:t>
            </a:r>
            <a:r>
              <a:rPr spc="-1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create</a:t>
            </a:r>
            <a:r>
              <a:rPr spc="-30" dirty="0">
                <a:latin typeface="Microsoft Sans Serif"/>
                <a:cs typeface="Microsoft Sans Serif"/>
              </a:rPr>
              <a:t> </a:t>
            </a:r>
            <a:r>
              <a:rPr spc="65" dirty="0">
                <a:latin typeface="Microsoft Sans Serif"/>
                <a:cs typeface="Microsoft Sans Serif"/>
              </a:rPr>
              <a:t>more</a:t>
            </a:r>
            <a:r>
              <a:rPr spc="-3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roles.</a:t>
            </a:r>
            <a:endParaRPr dirty="0">
              <a:latin typeface="Microsoft Sans Serif"/>
              <a:cs typeface="Microsoft Sans Serif"/>
            </a:endParaRPr>
          </a:p>
          <a:p>
            <a:pPr marL="61849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618490" algn="l"/>
              </a:tabLst>
            </a:pPr>
            <a:r>
              <a:rPr dirty="0">
                <a:latin typeface="Microsoft Sans Serif"/>
                <a:cs typeface="Microsoft Sans Serif"/>
              </a:rPr>
              <a:t>To</a:t>
            </a:r>
            <a:r>
              <a:rPr spc="-2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create</a:t>
            </a:r>
            <a:r>
              <a:rPr spc="-20" dirty="0">
                <a:latin typeface="Microsoft Sans Serif"/>
                <a:cs typeface="Microsoft Sans Serif"/>
              </a:rPr>
              <a:t> </a:t>
            </a:r>
            <a:r>
              <a:rPr spc="-35" dirty="0">
                <a:latin typeface="Microsoft Sans Serif"/>
                <a:cs typeface="Microsoft Sans Serif"/>
              </a:rPr>
              <a:t>such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spc="-100" dirty="0">
                <a:latin typeface="Microsoft Sans Serif"/>
                <a:cs typeface="Microsoft Sans Serif"/>
              </a:rPr>
              <a:t>a</a:t>
            </a:r>
            <a:r>
              <a:rPr spc="-1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role,</a:t>
            </a:r>
            <a:r>
              <a:rPr spc="-35" dirty="0">
                <a:latin typeface="Microsoft Sans Serif"/>
                <a:cs typeface="Microsoft Sans Serif"/>
              </a:rPr>
              <a:t> </a:t>
            </a:r>
            <a:r>
              <a:rPr spc="-20" dirty="0">
                <a:latin typeface="Microsoft Sans Serif"/>
                <a:cs typeface="Microsoft Sans Serif"/>
              </a:rPr>
              <a:t>use:</a:t>
            </a:r>
            <a:endParaRPr dirty="0">
              <a:latin typeface="Microsoft Sans Serif"/>
              <a:cs typeface="Microsoft Sans Serif"/>
            </a:endParaRPr>
          </a:p>
          <a:p>
            <a:pPr marL="633730">
              <a:lnSpc>
                <a:spcPct val="100000"/>
              </a:lnSpc>
              <a:spcBef>
                <a:spcPts val="1200"/>
              </a:spcBef>
            </a:pPr>
            <a:r>
              <a:rPr spc="-185" dirty="0">
                <a:solidFill>
                  <a:srgbClr val="3493B9"/>
                </a:solidFill>
                <a:latin typeface="Microsoft Sans Serif"/>
                <a:cs typeface="Microsoft Sans Serif"/>
              </a:rPr>
              <a:t>CREATE</a:t>
            </a:r>
            <a:r>
              <a:rPr spc="-7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pc="-155" dirty="0">
                <a:solidFill>
                  <a:srgbClr val="3493B9"/>
                </a:solidFill>
                <a:latin typeface="Microsoft Sans Serif"/>
                <a:cs typeface="Microsoft Sans Serif"/>
              </a:rPr>
              <a:t>ROLE</a:t>
            </a:r>
            <a:r>
              <a:rPr spc="-6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name</a:t>
            </a:r>
            <a:r>
              <a:rPr spc="-80" dirty="0">
                <a:latin typeface="Microsoft Sans Serif"/>
                <a:cs typeface="Microsoft Sans Serif"/>
              </a:rPr>
              <a:t> </a:t>
            </a:r>
            <a:r>
              <a:rPr spc="-60" dirty="0">
                <a:solidFill>
                  <a:srgbClr val="3493B9"/>
                </a:solidFill>
                <a:latin typeface="Microsoft Sans Serif"/>
                <a:cs typeface="Microsoft Sans Serif"/>
              </a:rPr>
              <a:t>CREATEROLE</a:t>
            </a:r>
            <a:endParaRPr dirty="0">
              <a:latin typeface="Microsoft Sans Serif"/>
              <a:cs typeface="Microsoft Sans Serif"/>
            </a:endParaRPr>
          </a:p>
          <a:p>
            <a:pPr marL="618490" marR="508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618490" algn="l"/>
              </a:tabLst>
            </a:pPr>
            <a:r>
              <a:rPr dirty="0">
                <a:latin typeface="Microsoft Sans Serif"/>
                <a:cs typeface="Microsoft Sans Serif"/>
              </a:rPr>
              <a:t>A</a:t>
            </a:r>
            <a:r>
              <a:rPr spc="-55" dirty="0">
                <a:latin typeface="Microsoft Sans Serif"/>
                <a:cs typeface="Microsoft Sans Serif"/>
              </a:rPr>
              <a:t> </a:t>
            </a:r>
            <a:r>
              <a:rPr spc="70" dirty="0">
                <a:latin typeface="Microsoft Sans Serif"/>
                <a:cs typeface="Microsoft Sans Serif"/>
              </a:rPr>
              <a:t>role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spc="125" dirty="0">
                <a:latin typeface="Microsoft Sans Serif"/>
                <a:cs typeface="Microsoft Sans Serif"/>
              </a:rPr>
              <a:t>with</a:t>
            </a:r>
            <a:r>
              <a:rPr spc="-40" dirty="0">
                <a:latin typeface="Microsoft Sans Serif"/>
                <a:cs typeface="Microsoft Sans Serif"/>
              </a:rPr>
              <a:t> </a:t>
            </a:r>
            <a:r>
              <a:rPr spc="-170" dirty="0">
                <a:latin typeface="Microsoft Sans Serif"/>
                <a:cs typeface="Microsoft Sans Serif"/>
              </a:rPr>
              <a:t>CREATEROLE</a:t>
            </a:r>
            <a:r>
              <a:rPr spc="-4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privilege</a:t>
            </a:r>
            <a:r>
              <a:rPr spc="-75" dirty="0">
                <a:latin typeface="Microsoft Sans Serif"/>
                <a:cs typeface="Microsoft Sans Serif"/>
              </a:rPr>
              <a:t> </a:t>
            </a:r>
            <a:r>
              <a:rPr spc="-45" dirty="0">
                <a:latin typeface="Microsoft Sans Serif"/>
                <a:cs typeface="Microsoft Sans Serif"/>
              </a:rPr>
              <a:t>can</a:t>
            </a:r>
            <a:r>
              <a:rPr spc="-40" dirty="0">
                <a:latin typeface="Microsoft Sans Serif"/>
                <a:cs typeface="Microsoft Sans Serif"/>
              </a:rPr>
              <a:t> </a:t>
            </a:r>
            <a:r>
              <a:rPr spc="85" dirty="0">
                <a:latin typeface="Microsoft Sans Serif"/>
                <a:cs typeface="Microsoft Sans Serif"/>
              </a:rPr>
              <a:t>alter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and</a:t>
            </a:r>
            <a:r>
              <a:rPr spc="-55" dirty="0">
                <a:latin typeface="Microsoft Sans Serif"/>
                <a:cs typeface="Microsoft Sans Serif"/>
              </a:rPr>
              <a:t> </a:t>
            </a:r>
            <a:r>
              <a:rPr spc="80" dirty="0">
                <a:latin typeface="Microsoft Sans Serif"/>
                <a:cs typeface="Microsoft Sans Serif"/>
              </a:rPr>
              <a:t>drop</a:t>
            </a:r>
            <a:r>
              <a:rPr spc="-55" dirty="0">
                <a:latin typeface="Microsoft Sans Serif"/>
                <a:cs typeface="Microsoft Sans Serif"/>
              </a:rPr>
              <a:t> </a:t>
            </a:r>
            <a:r>
              <a:rPr spc="100" dirty="0">
                <a:latin typeface="Microsoft Sans Serif"/>
                <a:cs typeface="Microsoft Sans Serif"/>
              </a:rPr>
              <a:t>other</a:t>
            </a:r>
            <a:r>
              <a:rPr spc="-4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roles,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spc="90" dirty="0">
                <a:latin typeface="Microsoft Sans Serif"/>
                <a:cs typeface="Microsoft Sans Serif"/>
              </a:rPr>
              <a:t>too,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spc="-25" dirty="0">
                <a:latin typeface="Microsoft Sans Serif"/>
                <a:cs typeface="Microsoft Sans Serif"/>
              </a:rPr>
              <a:t>as </a:t>
            </a:r>
            <a:r>
              <a:rPr spc="80" dirty="0">
                <a:latin typeface="Microsoft Sans Serif"/>
                <a:cs typeface="Microsoft Sans Serif"/>
              </a:rPr>
              <a:t>well</a:t>
            </a:r>
            <a:r>
              <a:rPr spc="-25" dirty="0">
                <a:latin typeface="Microsoft Sans Serif"/>
                <a:cs typeface="Microsoft Sans Serif"/>
              </a:rPr>
              <a:t> </a:t>
            </a:r>
            <a:r>
              <a:rPr spc="-120" dirty="0">
                <a:latin typeface="Microsoft Sans Serif"/>
                <a:cs typeface="Microsoft Sans Serif"/>
              </a:rPr>
              <a:t>as</a:t>
            </a:r>
            <a:r>
              <a:rPr spc="-10" dirty="0">
                <a:latin typeface="Microsoft Sans Serif"/>
                <a:cs typeface="Microsoft Sans Serif"/>
              </a:rPr>
              <a:t> </a:t>
            </a:r>
            <a:r>
              <a:rPr spc="75" dirty="0">
                <a:latin typeface="Microsoft Sans Serif"/>
                <a:cs typeface="Microsoft Sans Serif"/>
              </a:rPr>
              <a:t>grant</a:t>
            </a:r>
            <a:r>
              <a:rPr spc="-10" dirty="0">
                <a:latin typeface="Microsoft Sans Serif"/>
                <a:cs typeface="Microsoft Sans Serif"/>
              </a:rPr>
              <a:t> </a:t>
            </a:r>
            <a:r>
              <a:rPr spc="95" dirty="0">
                <a:latin typeface="Microsoft Sans Serif"/>
                <a:cs typeface="Microsoft Sans Serif"/>
              </a:rPr>
              <a:t>or</a:t>
            </a:r>
            <a:r>
              <a:rPr spc="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revoke</a:t>
            </a:r>
            <a:r>
              <a:rPr spc="-2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membership</a:t>
            </a:r>
            <a:r>
              <a:rPr spc="-2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in</a:t>
            </a:r>
            <a:r>
              <a:rPr spc="5" dirty="0">
                <a:latin typeface="Microsoft Sans Serif"/>
                <a:cs typeface="Microsoft Sans Serif"/>
              </a:rPr>
              <a:t> </a:t>
            </a:r>
            <a:r>
              <a:rPr spc="50" dirty="0">
                <a:latin typeface="Microsoft Sans Serif"/>
                <a:cs typeface="Microsoft Sans Serif"/>
              </a:rPr>
              <a:t>them.</a:t>
            </a:r>
            <a:endParaRPr dirty="0">
              <a:latin typeface="Microsoft Sans Serif"/>
              <a:cs typeface="Microsoft Sans Serif"/>
            </a:endParaRPr>
          </a:p>
          <a:p>
            <a:pPr marL="61849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618490" algn="l"/>
              </a:tabLst>
            </a:pPr>
            <a:r>
              <a:rPr dirty="0">
                <a:latin typeface="Microsoft Sans Serif"/>
                <a:cs typeface="Microsoft Sans Serif"/>
              </a:rPr>
              <a:t>However,</a:t>
            </a:r>
            <a:r>
              <a:rPr spc="-55" dirty="0">
                <a:latin typeface="Microsoft Sans Serif"/>
                <a:cs typeface="Microsoft Sans Serif"/>
              </a:rPr>
              <a:t> </a:t>
            </a:r>
            <a:r>
              <a:rPr spc="190" dirty="0">
                <a:latin typeface="Microsoft Sans Serif"/>
                <a:cs typeface="Microsoft Sans Serif"/>
              </a:rPr>
              <a:t>to</a:t>
            </a:r>
            <a:r>
              <a:rPr spc="-3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create,</a:t>
            </a:r>
            <a:r>
              <a:rPr spc="-40" dirty="0">
                <a:latin typeface="Microsoft Sans Serif"/>
                <a:cs typeface="Microsoft Sans Serif"/>
              </a:rPr>
              <a:t> </a:t>
            </a:r>
            <a:r>
              <a:rPr spc="55" dirty="0">
                <a:latin typeface="Microsoft Sans Serif"/>
                <a:cs typeface="Microsoft Sans Serif"/>
              </a:rPr>
              <a:t>alter,</a:t>
            </a:r>
            <a:r>
              <a:rPr spc="-40" dirty="0">
                <a:latin typeface="Microsoft Sans Serif"/>
                <a:cs typeface="Microsoft Sans Serif"/>
              </a:rPr>
              <a:t> </a:t>
            </a:r>
            <a:r>
              <a:rPr spc="50" dirty="0">
                <a:latin typeface="Microsoft Sans Serif"/>
                <a:cs typeface="Microsoft Sans Serif"/>
              </a:rPr>
              <a:t>drop,</a:t>
            </a:r>
            <a:r>
              <a:rPr spc="-40" dirty="0">
                <a:latin typeface="Microsoft Sans Serif"/>
                <a:cs typeface="Microsoft Sans Serif"/>
              </a:rPr>
              <a:t> </a:t>
            </a:r>
            <a:r>
              <a:rPr spc="95" dirty="0">
                <a:latin typeface="Microsoft Sans Serif"/>
                <a:cs typeface="Microsoft Sans Serif"/>
              </a:rPr>
              <a:t>or</a:t>
            </a:r>
            <a:r>
              <a:rPr spc="-4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change</a:t>
            </a:r>
            <a:r>
              <a:rPr spc="-3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membership</a:t>
            </a:r>
            <a:r>
              <a:rPr spc="-15" dirty="0">
                <a:latin typeface="Microsoft Sans Serif"/>
                <a:cs typeface="Microsoft Sans Serif"/>
              </a:rPr>
              <a:t> </a:t>
            </a:r>
            <a:r>
              <a:rPr spc="170" dirty="0">
                <a:latin typeface="Microsoft Sans Serif"/>
                <a:cs typeface="Microsoft Sans Serif"/>
              </a:rPr>
              <a:t>of</a:t>
            </a:r>
            <a:r>
              <a:rPr spc="-35" dirty="0">
                <a:latin typeface="Microsoft Sans Serif"/>
                <a:cs typeface="Microsoft Sans Serif"/>
              </a:rPr>
              <a:t> </a:t>
            </a:r>
            <a:r>
              <a:rPr spc="-100" dirty="0">
                <a:latin typeface="Microsoft Sans Serif"/>
                <a:cs typeface="Microsoft Sans Serif"/>
              </a:rPr>
              <a:t>a</a:t>
            </a:r>
            <a:r>
              <a:rPr spc="-3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superuser</a:t>
            </a:r>
            <a:endParaRPr dirty="0">
              <a:latin typeface="Microsoft Sans Serif"/>
              <a:cs typeface="Microsoft Sans Serif"/>
            </a:endParaRPr>
          </a:p>
          <a:p>
            <a:pPr marL="618490">
              <a:lnSpc>
                <a:spcPct val="100000"/>
              </a:lnSpc>
              <a:spcBef>
                <a:spcPts val="5"/>
              </a:spcBef>
            </a:pPr>
            <a:r>
              <a:rPr dirty="0">
                <a:latin typeface="Microsoft Sans Serif"/>
                <a:cs typeface="Microsoft Sans Serif"/>
              </a:rPr>
              <a:t>role,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superuser</a:t>
            </a:r>
            <a:r>
              <a:rPr spc="2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status</a:t>
            </a:r>
            <a:r>
              <a:rPr spc="5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is</a:t>
            </a:r>
            <a:r>
              <a:rPr spc="5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required;</a:t>
            </a:r>
            <a:endParaRPr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85"/>
              </a:spcBef>
            </a:pPr>
            <a:endParaRPr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pc="-185" dirty="0">
                <a:solidFill>
                  <a:srgbClr val="3493B9"/>
                </a:solidFill>
                <a:latin typeface="Microsoft Sans Serif"/>
                <a:cs typeface="Microsoft Sans Serif"/>
              </a:rPr>
              <a:t>CREATE</a:t>
            </a:r>
            <a:r>
              <a:rPr spc="-3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pc="-150" dirty="0">
                <a:solidFill>
                  <a:srgbClr val="3493B9"/>
                </a:solidFill>
                <a:latin typeface="Microsoft Sans Serif"/>
                <a:cs typeface="Microsoft Sans Serif"/>
              </a:rPr>
              <a:t>ROLE</a:t>
            </a:r>
            <a:r>
              <a:rPr spc="-3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role_manager</a:t>
            </a:r>
            <a:r>
              <a:rPr spc="-75" dirty="0">
                <a:latin typeface="Microsoft Sans Serif"/>
                <a:cs typeface="Microsoft Sans Serif"/>
              </a:rPr>
              <a:t> </a:t>
            </a:r>
            <a:r>
              <a:rPr spc="-85" dirty="0">
                <a:solidFill>
                  <a:srgbClr val="3493B9"/>
                </a:solidFill>
                <a:latin typeface="Microsoft Sans Serif"/>
                <a:cs typeface="Microsoft Sans Serif"/>
              </a:rPr>
              <a:t>LOGIN</a:t>
            </a:r>
            <a:r>
              <a:rPr spc="-50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pc="-145" dirty="0">
                <a:solidFill>
                  <a:srgbClr val="3493B9"/>
                </a:solidFill>
                <a:latin typeface="Microsoft Sans Serif"/>
                <a:cs typeface="Microsoft Sans Serif"/>
              </a:rPr>
              <a:t>PASSWORD</a:t>
            </a:r>
            <a:r>
              <a:rPr spc="-4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pc="-25" dirty="0">
                <a:latin typeface="Microsoft Sans Serif"/>
                <a:cs typeface="Microsoft Sans Serif"/>
              </a:rPr>
              <a:t>'secure_pass'</a:t>
            </a:r>
            <a:r>
              <a:rPr spc="-45" dirty="0">
                <a:latin typeface="Microsoft Sans Serif"/>
                <a:cs typeface="Microsoft Sans Serif"/>
              </a:rPr>
              <a:t> </a:t>
            </a:r>
            <a:r>
              <a:rPr spc="-90" dirty="0">
                <a:solidFill>
                  <a:srgbClr val="3493B9"/>
                </a:solidFill>
                <a:latin typeface="Microsoft Sans Serif"/>
                <a:cs typeface="Microsoft Sans Serif"/>
              </a:rPr>
              <a:t>CREATEROLE</a:t>
            </a:r>
            <a:r>
              <a:rPr spc="-90" dirty="0">
                <a:latin typeface="Microsoft Sans Serif"/>
                <a:cs typeface="Microsoft Sans Serif"/>
              </a:rPr>
              <a:t>;</a:t>
            </a:r>
            <a:endParaRPr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4923038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6486" y="2426843"/>
            <a:ext cx="2798372" cy="443115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610790" y="566166"/>
            <a:ext cx="14954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CEDBE6"/>
                </a:solidFill>
                <a:latin typeface="Arial"/>
                <a:cs typeface="Arial"/>
              </a:rPr>
              <a:t>20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9275" y="723181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80515">
              <a:lnSpc>
                <a:spcPct val="100000"/>
              </a:lnSpc>
              <a:spcBef>
                <a:spcPts val="105"/>
              </a:spcBef>
            </a:pPr>
            <a:r>
              <a:rPr spc="-320" dirty="0"/>
              <a:t>Initiating</a:t>
            </a:r>
            <a:r>
              <a:rPr spc="-165" dirty="0"/>
              <a:t> </a:t>
            </a:r>
            <a:r>
              <a:rPr spc="-275" dirty="0"/>
              <a:t>replication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87146" y="1617091"/>
            <a:ext cx="7372826" cy="23211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86423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spc="70" dirty="0">
                <a:latin typeface="Microsoft Sans Serif"/>
                <a:cs typeface="Microsoft Sans Serif"/>
              </a:rPr>
              <a:t>role</a:t>
            </a:r>
            <a:r>
              <a:rPr sz="2000" spc="-55" dirty="0">
                <a:latin typeface="Microsoft Sans Serif"/>
                <a:cs typeface="Microsoft Sans Serif"/>
              </a:rPr>
              <a:t> </a:t>
            </a:r>
            <a:r>
              <a:rPr sz="2000" spc="65" dirty="0">
                <a:latin typeface="Microsoft Sans Serif"/>
                <a:cs typeface="Microsoft Sans Serif"/>
              </a:rPr>
              <a:t>must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spc="55" dirty="0">
                <a:latin typeface="Microsoft Sans Serif"/>
                <a:cs typeface="Microsoft Sans Serif"/>
              </a:rPr>
              <a:t>explicitly</a:t>
            </a:r>
            <a:r>
              <a:rPr sz="2000" spc="-6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given</a:t>
            </a:r>
            <a:r>
              <a:rPr sz="2000" spc="-6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permission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190" dirty="0">
                <a:latin typeface="Microsoft Sans Serif"/>
                <a:cs typeface="Microsoft Sans Serif"/>
              </a:rPr>
              <a:t>to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85" dirty="0">
                <a:latin typeface="Microsoft Sans Serif"/>
                <a:cs typeface="Microsoft Sans Serif"/>
              </a:rPr>
              <a:t>initiate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streaming replication.</a:t>
            </a:r>
            <a:endParaRPr sz="2000" dirty="0">
              <a:latin typeface="Microsoft Sans Serif"/>
              <a:cs typeface="Microsoft Sans Serif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spc="70" dirty="0">
                <a:latin typeface="Microsoft Sans Serif"/>
                <a:cs typeface="Microsoft Sans Serif"/>
              </a:rPr>
              <a:t>role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used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spc="145" dirty="0">
                <a:latin typeface="Microsoft Sans Serif"/>
                <a:cs typeface="Microsoft Sans Serif"/>
              </a:rPr>
              <a:t>for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streaming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55" dirty="0">
                <a:latin typeface="Microsoft Sans Serif"/>
                <a:cs typeface="Microsoft Sans Serif"/>
              </a:rPr>
              <a:t>replication</a:t>
            </a:r>
            <a:r>
              <a:rPr sz="2000" spc="-65" dirty="0">
                <a:latin typeface="Microsoft Sans Serif"/>
                <a:cs typeface="Microsoft Sans Serif"/>
              </a:rPr>
              <a:t> </a:t>
            </a:r>
            <a:r>
              <a:rPr sz="2000" spc="65" dirty="0">
                <a:latin typeface="Microsoft Sans Serif"/>
                <a:cs typeface="Microsoft Sans Serif"/>
              </a:rPr>
              <a:t>must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have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spc="-80" dirty="0">
                <a:latin typeface="Microsoft Sans Serif"/>
                <a:cs typeface="Microsoft Sans Serif"/>
              </a:rPr>
              <a:t>LOGIN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permission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as </a:t>
            </a:r>
            <a:r>
              <a:rPr sz="2000" spc="-10" dirty="0">
                <a:latin typeface="Microsoft Sans Serif"/>
                <a:cs typeface="Microsoft Sans Serif"/>
              </a:rPr>
              <a:t>well.</a:t>
            </a:r>
            <a:endParaRPr sz="2000" dirty="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Microsoft Sans Serif"/>
                <a:cs typeface="Microsoft Sans Serif"/>
              </a:rPr>
              <a:t>To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create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35" dirty="0">
                <a:latin typeface="Microsoft Sans Serif"/>
                <a:cs typeface="Microsoft Sans Serif"/>
              </a:rPr>
              <a:t>such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100" dirty="0">
                <a:latin typeface="Microsoft Sans Serif"/>
                <a:cs typeface="Microsoft Sans Serif"/>
              </a:rPr>
              <a:t>a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role,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use:</a:t>
            </a:r>
            <a:endParaRPr sz="2000" dirty="0">
              <a:latin typeface="Microsoft Sans Serif"/>
              <a:cs typeface="Microsoft Sans Serif"/>
            </a:endParaRPr>
          </a:p>
          <a:p>
            <a:pPr marL="370840">
              <a:lnSpc>
                <a:spcPct val="100000"/>
              </a:lnSpc>
              <a:spcBef>
                <a:spcPts val="1200"/>
              </a:spcBef>
            </a:pPr>
            <a:r>
              <a:rPr sz="2000" spc="-185" dirty="0">
                <a:solidFill>
                  <a:srgbClr val="3493B9"/>
                </a:solidFill>
                <a:latin typeface="Microsoft Sans Serif"/>
                <a:cs typeface="Microsoft Sans Serif"/>
              </a:rPr>
              <a:t>CREATE</a:t>
            </a:r>
            <a:r>
              <a:rPr sz="2000" spc="-70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3493B9"/>
                </a:solidFill>
                <a:latin typeface="Microsoft Sans Serif"/>
                <a:cs typeface="Microsoft Sans Serif"/>
              </a:rPr>
              <a:t>ROLE</a:t>
            </a:r>
            <a:r>
              <a:rPr sz="2000" spc="-6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name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3493B9"/>
                </a:solidFill>
                <a:latin typeface="Microsoft Sans Serif"/>
                <a:cs typeface="Microsoft Sans Serif"/>
              </a:rPr>
              <a:t>REPLICATION</a:t>
            </a:r>
            <a:r>
              <a:rPr sz="2000" spc="-80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493B9"/>
                </a:solidFill>
                <a:latin typeface="Microsoft Sans Serif"/>
                <a:cs typeface="Microsoft Sans Serif"/>
              </a:rPr>
              <a:t>LOGIN</a:t>
            </a:r>
            <a:endParaRPr sz="20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9319854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6486" y="2426843"/>
            <a:ext cx="2798372" cy="443115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610790" y="566166"/>
            <a:ext cx="14954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CEDBE6"/>
                </a:solidFill>
                <a:latin typeface="Arial"/>
                <a:cs typeface="Arial"/>
              </a:rPr>
              <a:t>21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9275" y="723181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99715">
              <a:lnSpc>
                <a:spcPct val="100000"/>
              </a:lnSpc>
              <a:spcBef>
                <a:spcPts val="105"/>
              </a:spcBef>
            </a:pPr>
            <a:r>
              <a:rPr spc="-565" dirty="0"/>
              <a:t>Password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87146" y="1617090"/>
            <a:ext cx="7707154" cy="44348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975994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>
                <a:latin typeface="Microsoft Sans Serif"/>
                <a:cs typeface="Microsoft Sans Serif"/>
              </a:rPr>
              <a:t>A</a:t>
            </a:r>
            <a:r>
              <a:rPr spc="-1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password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spc="-20" dirty="0">
                <a:latin typeface="Microsoft Sans Serif"/>
                <a:cs typeface="Microsoft Sans Serif"/>
              </a:rPr>
              <a:t>is</a:t>
            </a:r>
            <a:r>
              <a:rPr dirty="0">
                <a:latin typeface="Microsoft Sans Serif"/>
                <a:cs typeface="Microsoft Sans Serif"/>
              </a:rPr>
              <a:t> only</a:t>
            </a:r>
            <a:r>
              <a:rPr spc="-3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significant</a:t>
            </a:r>
            <a:r>
              <a:rPr spc="-10" dirty="0">
                <a:latin typeface="Microsoft Sans Serif"/>
                <a:cs typeface="Microsoft Sans Serif"/>
              </a:rPr>
              <a:t> </a:t>
            </a:r>
            <a:r>
              <a:rPr spc="155" dirty="0">
                <a:latin typeface="Microsoft Sans Serif"/>
                <a:cs typeface="Microsoft Sans Serif"/>
              </a:rPr>
              <a:t>if</a:t>
            </a:r>
            <a:r>
              <a:rPr dirty="0">
                <a:latin typeface="Microsoft Sans Serif"/>
                <a:cs typeface="Microsoft Sans Serif"/>
              </a:rPr>
              <a:t> </a:t>
            </a:r>
            <a:r>
              <a:rPr spc="105" dirty="0">
                <a:latin typeface="Microsoft Sans Serif"/>
                <a:cs typeface="Microsoft Sans Serif"/>
              </a:rPr>
              <a:t>the</a:t>
            </a:r>
            <a:r>
              <a:rPr dirty="0">
                <a:latin typeface="Microsoft Sans Serif"/>
                <a:cs typeface="Microsoft Sans Serif"/>
              </a:rPr>
              <a:t> </a:t>
            </a:r>
            <a:r>
              <a:rPr spc="65" dirty="0">
                <a:latin typeface="Microsoft Sans Serif"/>
                <a:cs typeface="Microsoft Sans Serif"/>
              </a:rPr>
              <a:t>client</a:t>
            </a:r>
            <a:r>
              <a:rPr spc="-30" dirty="0">
                <a:latin typeface="Microsoft Sans Serif"/>
                <a:cs typeface="Microsoft Sans Serif"/>
              </a:rPr>
              <a:t> </a:t>
            </a:r>
            <a:r>
              <a:rPr spc="60" dirty="0">
                <a:latin typeface="Microsoft Sans Serif"/>
                <a:cs typeface="Microsoft Sans Serif"/>
              </a:rPr>
              <a:t>authentication</a:t>
            </a:r>
            <a:r>
              <a:rPr spc="-15" dirty="0">
                <a:latin typeface="Microsoft Sans Serif"/>
                <a:cs typeface="Microsoft Sans Serif"/>
              </a:rPr>
              <a:t> </a:t>
            </a:r>
            <a:r>
              <a:rPr spc="70" dirty="0">
                <a:latin typeface="Microsoft Sans Serif"/>
                <a:cs typeface="Microsoft Sans Serif"/>
              </a:rPr>
              <a:t>method </a:t>
            </a:r>
            <a:r>
              <a:rPr dirty="0">
                <a:latin typeface="Microsoft Sans Serif"/>
                <a:cs typeface="Microsoft Sans Serif"/>
              </a:rPr>
              <a:t>requires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spc="110" dirty="0">
                <a:latin typeface="Microsoft Sans Serif"/>
                <a:cs typeface="Microsoft Sans Serif"/>
              </a:rPr>
              <a:t>the</a:t>
            </a:r>
            <a:r>
              <a:rPr spc="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user </a:t>
            </a:r>
            <a:r>
              <a:rPr spc="190" dirty="0">
                <a:latin typeface="Microsoft Sans Serif"/>
                <a:cs typeface="Microsoft Sans Serif"/>
              </a:rPr>
              <a:t>to</a:t>
            </a:r>
            <a:r>
              <a:rPr dirty="0">
                <a:latin typeface="Microsoft Sans Serif"/>
                <a:cs typeface="Microsoft Sans Serif"/>
              </a:rPr>
              <a:t> supply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spc="-100" dirty="0">
                <a:latin typeface="Microsoft Sans Serif"/>
                <a:cs typeface="Microsoft Sans Serif"/>
              </a:rPr>
              <a:t>a</a:t>
            </a:r>
            <a:r>
              <a:rPr spc="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password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when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connecting</a:t>
            </a:r>
            <a:r>
              <a:rPr spc="-20" dirty="0">
                <a:latin typeface="Microsoft Sans Serif"/>
                <a:cs typeface="Microsoft Sans Serif"/>
              </a:rPr>
              <a:t> </a:t>
            </a:r>
            <a:r>
              <a:rPr spc="190" dirty="0">
                <a:latin typeface="Microsoft Sans Serif"/>
                <a:cs typeface="Microsoft Sans Serif"/>
              </a:rPr>
              <a:t>to</a:t>
            </a:r>
            <a:r>
              <a:rPr spc="5" dirty="0">
                <a:latin typeface="Microsoft Sans Serif"/>
                <a:cs typeface="Microsoft Sans Serif"/>
              </a:rPr>
              <a:t> </a:t>
            </a:r>
            <a:r>
              <a:rPr spc="85" dirty="0">
                <a:latin typeface="Microsoft Sans Serif"/>
                <a:cs typeface="Microsoft Sans Serif"/>
              </a:rPr>
              <a:t>the </a:t>
            </a:r>
            <a:r>
              <a:rPr spc="-10" dirty="0">
                <a:latin typeface="Microsoft Sans Serif"/>
                <a:cs typeface="Microsoft Sans Serif"/>
              </a:rPr>
              <a:t>database.</a:t>
            </a:r>
            <a:endParaRPr dirty="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pc="-20" dirty="0">
                <a:latin typeface="Microsoft Sans Serif"/>
                <a:cs typeface="Microsoft Sans Serif"/>
              </a:rPr>
              <a:t>The</a:t>
            </a:r>
            <a:r>
              <a:rPr spc="-8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password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and</a:t>
            </a:r>
            <a:r>
              <a:rPr spc="-7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md5</a:t>
            </a:r>
            <a:r>
              <a:rPr spc="-75" dirty="0">
                <a:latin typeface="Microsoft Sans Serif"/>
                <a:cs typeface="Microsoft Sans Serif"/>
              </a:rPr>
              <a:t> </a:t>
            </a:r>
            <a:r>
              <a:rPr spc="65" dirty="0">
                <a:latin typeface="Microsoft Sans Serif"/>
                <a:cs typeface="Microsoft Sans Serif"/>
              </a:rPr>
              <a:t>authentication</a:t>
            </a:r>
            <a:r>
              <a:rPr spc="-70" dirty="0">
                <a:latin typeface="Microsoft Sans Serif"/>
                <a:cs typeface="Microsoft Sans Serif"/>
              </a:rPr>
              <a:t> </a:t>
            </a:r>
            <a:r>
              <a:rPr spc="55" dirty="0">
                <a:latin typeface="Microsoft Sans Serif"/>
                <a:cs typeface="Microsoft Sans Serif"/>
              </a:rPr>
              <a:t>methods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make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spc="-40" dirty="0">
                <a:latin typeface="Microsoft Sans Serif"/>
                <a:cs typeface="Microsoft Sans Serif"/>
              </a:rPr>
              <a:t>use</a:t>
            </a:r>
            <a:r>
              <a:rPr spc="-80" dirty="0">
                <a:latin typeface="Microsoft Sans Serif"/>
                <a:cs typeface="Microsoft Sans Serif"/>
              </a:rPr>
              <a:t> </a:t>
            </a:r>
            <a:r>
              <a:rPr spc="170" dirty="0">
                <a:latin typeface="Microsoft Sans Serif"/>
                <a:cs typeface="Microsoft Sans Serif"/>
              </a:rPr>
              <a:t>of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passwords.</a:t>
            </a:r>
            <a:endParaRPr dirty="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>
                <a:latin typeface="Microsoft Sans Serif"/>
                <a:cs typeface="Microsoft Sans Serif"/>
              </a:rPr>
              <a:t>Database</a:t>
            </a:r>
            <a:r>
              <a:rPr spc="-7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passwords</a:t>
            </a:r>
            <a:r>
              <a:rPr spc="-6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are</a:t>
            </a:r>
            <a:r>
              <a:rPr spc="-7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separate</a:t>
            </a:r>
            <a:r>
              <a:rPr spc="-85" dirty="0">
                <a:latin typeface="Microsoft Sans Serif"/>
                <a:cs typeface="Microsoft Sans Serif"/>
              </a:rPr>
              <a:t> </a:t>
            </a:r>
            <a:r>
              <a:rPr spc="130" dirty="0">
                <a:latin typeface="Microsoft Sans Serif"/>
                <a:cs typeface="Microsoft Sans Serif"/>
              </a:rPr>
              <a:t>from</a:t>
            </a:r>
            <a:r>
              <a:rPr spc="-80" dirty="0">
                <a:latin typeface="Microsoft Sans Serif"/>
                <a:cs typeface="Microsoft Sans Serif"/>
              </a:rPr>
              <a:t> </a:t>
            </a:r>
            <a:r>
              <a:rPr spc="65" dirty="0">
                <a:latin typeface="Microsoft Sans Serif"/>
                <a:cs typeface="Microsoft Sans Serif"/>
              </a:rPr>
              <a:t>operating</a:t>
            </a:r>
            <a:r>
              <a:rPr spc="-8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system</a:t>
            </a:r>
            <a:r>
              <a:rPr spc="-6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passwords.</a:t>
            </a:r>
            <a:endParaRPr dirty="0">
              <a:latin typeface="Microsoft Sans Serif"/>
              <a:cs typeface="Microsoft Sans Serif"/>
            </a:endParaRPr>
          </a:p>
          <a:p>
            <a:pPr marL="354965" marR="3928745" indent="-342265">
              <a:lnSpc>
                <a:spcPts val="4079"/>
              </a:lnSpc>
              <a:spcBef>
                <a:spcPts val="335"/>
              </a:spcBef>
              <a:buFont typeface="Arial MT"/>
              <a:buChar char="•"/>
              <a:tabLst>
                <a:tab pos="370840" algn="l"/>
              </a:tabLst>
            </a:pPr>
            <a:r>
              <a:rPr spc="-10" dirty="0">
                <a:latin typeface="Microsoft Sans Serif"/>
                <a:cs typeface="Microsoft Sans Serif"/>
              </a:rPr>
              <a:t>Specify</a:t>
            </a:r>
            <a:r>
              <a:rPr spc="-30" dirty="0">
                <a:latin typeface="Microsoft Sans Serif"/>
                <a:cs typeface="Microsoft Sans Serif"/>
              </a:rPr>
              <a:t> </a:t>
            </a:r>
            <a:r>
              <a:rPr spc="-100" dirty="0">
                <a:latin typeface="Microsoft Sans Serif"/>
                <a:cs typeface="Microsoft Sans Serif"/>
              </a:rPr>
              <a:t>a</a:t>
            </a:r>
            <a:r>
              <a:rPr spc="-2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password </a:t>
            </a:r>
            <a:r>
              <a:rPr spc="50" dirty="0">
                <a:latin typeface="Microsoft Sans Serif"/>
                <a:cs typeface="Microsoft Sans Serif"/>
              </a:rPr>
              <a:t>upon</a:t>
            </a:r>
            <a:r>
              <a:rPr spc="-35" dirty="0">
                <a:latin typeface="Microsoft Sans Serif"/>
                <a:cs typeface="Microsoft Sans Serif"/>
              </a:rPr>
              <a:t> </a:t>
            </a:r>
            <a:r>
              <a:rPr spc="70" dirty="0">
                <a:latin typeface="Microsoft Sans Serif"/>
                <a:cs typeface="Microsoft Sans Serif"/>
              </a:rPr>
              <a:t>role</a:t>
            </a:r>
            <a:r>
              <a:rPr spc="-3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creation</a:t>
            </a:r>
            <a:r>
              <a:rPr spc="-20" dirty="0">
                <a:latin typeface="Microsoft Sans Serif"/>
                <a:cs typeface="Microsoft Sans Serif"/>
              </a:rPr>
              <a:t> </a:t>
            </a:r>
            <a:r>
              <a:rPr spc="75" dirty="0">
                <a:latin typeface="Microsoft Sans Serif"/>
                <a:cs typeface="Microsoft Sans Serif"/>
              </a:rPr>
              <a:t>with: 	</a:t>
            </a:r>
            <a:r>
              <a:rPr spc="-185" dirty="0">
                <a:solidFill>
                  <a:srgbClr val="3493B9"/>
                </a:solidFill>
                <a:latin typeface="Microsoft Sans Serif"/>
                <a:cs typeface="Microsoft Sans Serif"/>
              </a:rPr>
              <a:t>CREATE</a:t>
            </a:r>
            <a:r>
              <a:rPr spc="-6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pc="-150" dirty="0">
                <a:solidFill>
                  <a:srgbClr val="3493B9"/>
                </a:solidFill>
                <a:latin typeface="Microsoft Sans Serif"/>
                <a:cs typeface="Microsoft Sans Serif"/>
              </a:rPr>
              <a:t>ROLE</a:t>
            </a:r>
            <a:r>
              <a:rPr spc="-60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name</a:t>
            </a:r>
            <a:r>
              <a:rPr spc="-75" dirty="0">
                <a:latin typeface="Microsoft Sans Serif"/>
                <a:cs typeface="Microsoft Sans Serif"/>
              </a:rPr>
              <a:t> </a:t>
            </a:r>
            <a:r>
              <a:rPr spc="-150" dirty="0">
                <a:solidFill>
                  <a:srgbClr val="3493B9"/>
                </a:solidFill>
                <a:latin typeface="Microsoft Sans Serif"/>
                <a:cs typeface="Microsoft Sans Serif"/>
              </a:rPr>
              <a:t>PASSWORD</a:t>
            </a:r>
            <a:r>
              <a:rPr spc="-100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pc="55" dirty="0">
                <a:latin typeface="Microsoft Sans Serif"/>
                <a:cs typeface="Microsoft Sans Serif"/>
              </a:rPr>
              <a:t>'string’</a:t>
            </a:r>
            <a:endParaRPr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230"/>
              </a:spcBef>
            </a:pPr>
            <a:endParaRPr dirty="0">
              <a:latin typeface="Microsoft Sans Serif"/>
              <a:cs typeface="Microsoft Sans Serif"/>
            </a:endParaRPr>
          </a:p>
          <a:p>
            <a:pPr marL="370840">
              <a:lnSpc>
                <a:spcPct val="100000"/>
              </a:lnSpc>
            </a:pPr>
            <a:r>
              <a:rPr spc="-185" dirty="0">
                <a:solidFill>
                  <a:srgbClr val="3493B9"/>
                </a:solidFill>
                <a:latin typeface="Microsoft Sans Serif"/>
                <a:cs typeface="Microsoft Sans Serif"/>
              </a:rPr>
              <a:t>CREATE</a:t>
            </a:r>
            <a:r>
              <a:rPr spc="-6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pc="-155" dirty="0">
                <a:solidFill>
                  <a:srgbClr val="3493B9"/>
                </a:solidFill>
                <a:latin typeface="Microsoft Sans Serif"/>
                <a:cs typeface="Microsoft Sans Serif"/>
              </a:rPr>
              <a:t>ROLE</a:t>
            </a:r>
            <a:r>
              <a:rPr spc="-5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username</a:t>
            </a:r>
            <a:r>
              <a:rPr spc="-80" dirty="0">
                <a:latin typeface="Microsoft Sans Serif"/>
                <a:cs typeface="Microsoft Sans Serif"/>
              </a:rPr>
              <a:t> </a:t>
            </a:r>
            <a:r>
              <a:rPr spc="-80" dirty="0">
                <a:solidFill>
                  <a:srgbClr val="3493B9"/>
                </a:solidFill>
                <a:latin typeface="Microsoft Sans Serif"/>
                <a:cs typeface="Microsoft Sans Serif"/>
              </a:rPr>
              <a:t>LOGIN</a:t>
            </a:r>
            <a:r>
              <a:rPr spc="-5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pc="-140" dirty="0">
                <a:solidFill>
                  <a:srgbClr val="3493B9"/>
                </a:solidFill>
                <a:latin typeface="Microsoft Sans Serif"/>
                <a:cs typeface="Microsoft Sans Serif"/>
              </a:rPr>
              <a:t>PASSWORD</a:t>
            </a:r>
            <a:r>
              <a:rPr spc="-80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'secure_password';</a:t>
            </a:r>
            <a:endParaRPr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6727062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23748" y="2058162"/>
            <a:ext cx="8121491" cy="4799965"/>
            <a:chOff x="1364996" y="2058161"/>
            <a:chExt cx="10828655" cy="47999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61980" y="2426842"/>
              <a:ext cx="3731162" cy="443115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4996" y="2058161"/>
              <a:ext cx="9324975" cy="904875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8610790" y="566166"/>
            <a:ext cx="14954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CEDBE6"/>
                </a:solidFill>
                <a:latin typeface="Arial"/>
                <a:cs typeface="Arial"/>
              </a:rPr>
              <a:t>22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49275" y="723181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66670">
              <a:lnSpc>
                <a:spcPct val="100000"/>
              </a:lnSpc>
              <a:spcBef>
                <a:spcPts val="105"/>
              </a:spcBef>
            </a:pPr>
            <a:r>
              <a:rPr spc="-355" dirty="0"/>
              <a:t>Modify</a:t>
            </a:r>
            <a:r>
              <a:rPr spc="-150" dirty="0"/>
              <a:t> </a:t>
            </a:r>
            <a:r>
              <a:rPr spc="-310" dirty="0"/>
              <a:t>role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87145" y="1617090"/>
            <a:ext cx="718185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>
                <a:latin typeface="Microsoft Sans Serif"/>
                <a:cs typeface="Microsoft Sans Serif"/>
              </a:rPr>
              <a:t>A</a:t>
            </a:r>
            <a:r>
              <a:rPr spc="-1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role's</a:t>
            </a:r>
            <a:r>
              <a:rPr spc="-20" dirty="0">
                <a:latin typeface="Microsoft Sans Serif"/>
                <a:cs typeface="Microsoft Sans Serif"/>
              </a:rPr>
              <a:t> </a:t>
            </a:r>
            <a:r>
              <a:rPr spc="90" dirty="0">
                <a:latin typeface="Microsoft Sans Serif"/>
                <a:cs typeface="Microsoft Sans Serif"/>
              </a:rPr>
              <a:t>attributes</a:t>
            </a:r>
            <a:r>
              <a:rPr dirty="0">
                <a:latin typeface="Microsoft Sans Serif"/>
                <a:cs typeface="Microsoft Sans Serif"/>
              </a:rPr>
              <a:t> </a:t>
            </a:r>
            <a:r>
              <a:rPr spc="-60" dirty="0">
                <a:latin typeface="Microsoft Sans Serif"/>
                <a:cs typeface="Microsoft Sans Serif"/>
              </a:rPr>
              <a:t>can</a:t>
            </a:r>
            <a:r>
              <a:rPr spc="-2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be</a:t>
            </a:r>
            <a:r>
              <a:rPr spc="-15" dirty="0">
                <a:latin typeface="Microsoft Sans Serif"/>
                <a:cs typeface="Microsoft Sans Serif"/>
              </a:rPr>
              <a:t> </a:t>
            </a:r>
            <a:r>
              <a:rPr spc="75" dirty="0">
                <a:latin typeface="Microsoft Sans Serif"/>
                <a:cs typeface="Microsoft Sans Serif"/>
              </a:rPr>
              <a:t>modified</a:t>
            </a:r>
            <a:r>
              <a:rPr spc="-10" dirty="0">
                <a:latin typeface="Microsoft Sans Serif"/>
                <a:cs typeface="Microsoft Sans Serif"/>
              </a:rPr>
              <a:t> </a:t>
            </a:r>
            <a:r>
              <a:rPr spc="110" dirty="0">
                <a:latin typeface="Microsoft Sans Serif"/>
                <a:cs typeface="Microsoft Sans Serif"/>
              </a:rPr>
              <a:t>after</a:t>
            </a:r>
            <a:r>
              <a:rPr spc="-1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creation</a:t>
            </a:r>
            <a:r>
              <a:rPr spc="-25" dirty="0">
                <a:latin typeface="Microsoft Sans Serif"/>
                <a:cs typeface="Microsoft Sans Serif"/>
              </a:rPr>
              <a:t> </a:t>
            </a:r>
            <a:r>
              <a:rPr spc="125" dirty="0">
                <a:latin typeface="Microsoft Sans Serif"/>
                <a:cs typeface="Microsoft Sans Serif"/>
              </a:rPr>
              <a:t>with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spc="-145" dirty="0">
                <a:solidFill>
                  <a:srgbClr val="3493B9"/>
                </a:solidFill>
                <a:latin typeface="Microsoft Sans Serif"/>
                <a:cs typeface="Microsoft Sans Serif"/>
              </a:rPr>
              <a:t>ALTER</a:t>
            </a:r>
            <a:r>
              <a:rPr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pc="-40" dirty="0">
                <a:solidFill>
                  <a:srgbClr val="3493B9"/>
                </a:solidFill>
                <a:latin typeface="Microsoft Sans Serif"/>
                <a:cs typeface="Microsoft Sans Serif"/>
              </a:rPr>
              <a:t>ROLE</a:t>
            </a:r>
            <a:endParaRPr dirty="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146" y="2881961"/>
            <a:ext cx="243125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>
                <a:latin typeface="Microsoft Sans Serif"/>
                <a:cs typeface="Microsoft Sans Serif"/>
              </a:rPr>
              <a:t>where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spc="95" dirty="0">
                <a:solidFill>
                  <a:srgbClr val="FF0000"/>
                </a:solidFill>
                <a:latin typeface="Microsoft Sans Serif"/>
                <a:cs typeface="Microsoft Sans Serif"/>
              </a:rPr>
              <a:t>option</a:t>
            </a:r>
            <a:r>
              <a:rPr spc="-3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pc="-50" dirty="0">
                <a:latin typeface="Microsoft Sans Serif"/>
                <a:cs typeface="Microsoft Sans Serif"/>
              </a:rPr>
              <a:t>can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spc="-25" dirty="0">
                <a:latin typeface="Microsoft Sans Serif"/>
                <a:cs typeface="Microsoft Sans Serif"/>
              </a:rPr>
              <a:t>be:</a:t>
            </a:r>
            <a:endParaRPr dirty="0">
              <a:latin typeface="Microsoft Sans Serif"/>
              <a:cs typeface="Microsoft Sans Serif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1603" y="3508717"/>
            <a:ext cx="4079876" cy="2587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6080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1907" y="1327353"/>
            <a:ext cx="5807869" cy="49339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610790" y="566166"/>
            <a:ext cx="14954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CEDBE6"/>
                </a:solidFill>
                <a:latin typeface="Arial"/>
                <a:cs typeface="Arial"/>
              </a:rPr>
              <a:t>23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9275" y="753958"/>
            <a:ext cx="8042276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10510">
              <a:lnSpc>
                <a:spcPct val="100000"/>
              </a:lnSpc>
              <a:spcBef>
                <a:spcPts val="105"/>
              </a:spcBef>
            </a:pPr>
            <a:r>
              <a:rPr spc="-560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421341284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6486" y="2426843"/>
            <a:ext cx="2798372" cy="443115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610790" y="566166"/>
            <a:ext cx="14954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CEDBE6"/>
                </a:solidFill>
                <a:latin typeface="Arial"/>
                <a:cs typeface="Arial"/>
              </a:rPr>
              <a:t>24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9275" y="723181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20875">
              <a:lnSpc>
                <a:spcPct val="100000"/>
              </a:lnSpc>
              <a:spcBef>
                <a:spcPts val="105"/>
              </a:spcBef>
            </a:pPr>
            <a:r>
              <a:rPr spc="-420" dirty="0"/>
              <a:t>Role</a:t>
            </a:r>
            <a:r>
              <a:rPr spc="-145" dirty="0"/>
              <a:t> </a:t>
            </a:r>
            <a:r>
              <a:rPr spc="-484" dirty="0"/>
              <a:t>Membership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2590" y="1833448"/>
            <a:ext cx="7323296" cy="2746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9209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135" dirty="0">
                <a:latin typeface="Microsoft Sans Serif"/>
                <a:cs typeface="Microsoft Sans Serif"/>
              </a:rPr>
              <a:t>It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is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spc="95" dirty="0">
                <a:latin typeface="Microsoft Sans Serif"/>
                <a:cs typeface="Microsoft Sans Serif"/>
              </a:rPr>
              <a:t>frequently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convenient</a:t>
            </a:r>
            <a:r>
              <a:rPr sz="2000" spc="-90" dirty="0">
                <a:latin typeface="Microsoft Sans Serif"/>
                <a:cs typeface="Microsoft Sans Serif"/>
              </a:rPr>
              <a:t> </a:t>
            </a:r>
            <a:r>
              <a:rPr sz="2000" spc="190" dirty="0">
                <a:latin typeface="Microsoft Sans Serif"/>
                <a:cs typeface="Microsoft Sans Serif"/>
              </a:rPr>
              <a:t>to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spc="70" dirty="0">
                <a:latin typeface="Microsoft Sans Serif"/>
                <a:cs typeface="Microsoft Sans Serif"/>
              </a:rPr>
              <a:t>group</a:t>
            </a:r>
            <a:r>
              <a:rPr sz="2000" spc="-6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users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spc="105" dirty="0">
                <a:latin typeface="Microsoft Sans Serif"/>
                <a:cs typeface="Microsoft Sans Serif"/>
              </a:rPr>
              <a:t>together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spc="175" dirty="0">
                <a:latin typeface="Microsoft Sans Serif"/>
                <a:cs typeface="Microsoft Sans Serif"/>
              </a:rPr>
              <a:t>to</a:t>
            </a:r>
            <a:r>
              <a:rPr sz="2000" spc="-5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ease </a:t>
            </a:r>
            <a:r>
              <a:rPr sz="2000" dirty="0">
                <a:latin typeface="Microsoft Sans Serif"/>
                <a:cs typeface="Microsoft Sans Serif"/>
              </a:rPr>
              <a:t>management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170" dirty="0">
                <a:latin typeface="Microsoft Sans Serif"/>
                <a:cs typeface="Microsoft Sans Serif"/>
              </a:rPr>
              <a:t>of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privileges: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spc="125" dirty="0">
                <a:latin typeface="Microsoft Sans Serif"/>
                <a:cs typeface="Microsoft Sans Serif"/>
              </a:rPr>
              <a:t>that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way,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privileges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can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 </a:t>
            </a:r>
            <a:r>
              <a:rPr sz="2000" spc="65" dirty="0">
                <a:latin typeface="Microsoft Sans Serif"/>
                <a:cs typeface="Microsoft Sans Serif"/>
              </a:rPr>
              <a:t>granted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95" dirty="0">
                <a:latin typeface="Microsoft Sans Serif"/>
                <a:cs typeface="Microsoft Sans Serif"/>
              </a:rPr>
              <a:t>to,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70" dirty="0">
                <a:latin typeface="Microsoft Sans Serif"/>
                <a:cs typeface="Microsoft Sans Serif"/>
              </a:rPr>
              <a:t>or </a:t>
            </a:r>
            <a:r>
              <a:rPr sz="2000" dirty="0">
                <a:latin typeface="Microsoft Sans Serif"/>
                <a:cs typeface="Microsoft Sans Serif"/>
              </a:rPr>
              <a:t>revoked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spc="85" dirty="0">
                <a:latin typeface="Microsoft Sans Serif"/>
                <a:cs typeface="Microsoft Sans Serif"/>
              </a:rPr>
              <a:t>from,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spc="-100" dirty="0">
                <a:latin typeface="Microsoft Sans Serif"/>
                <a:cs typeface="Microsoft Sans Serif"/>
              </a:rPr>
              <a:t>a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70" dirty="0">
                <a:latin typeface="Microsoft Sans Serif"/>
                <a:cs typeface="Microsoft Sans Serif"/>
              </a:rPr>
              <a:t>group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spc="-120" dirty="0">
                <a:latin typeface="Microsoft Sans Serif"/>
                <a:cs typeface="Microsoft Sans Serif"/>
              </a:rPr>
              <a:t>as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-100" dirty="0">
                <a:latin typeface="Microsoft Sans Serif"/>
                <a:cs typeface="Microsoft Sans Serif"/>
              </a:rPr>
              <a:t>a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whole.</a:t>
            </a:r>
            <a:endParaRPr sz="2000" dirty="0">
              <a:latin typeface="Microsoft Sans Serif"/>
              <a:cs typeface="Microsoft Sans Serif"/>
            </a:endParaRPr>
          </a:p>
          <a:p>
            <a:pPr marL="355600" marR="5080" indent="-34290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Microsoft Sans Serif"/>
                <a:cs typeface="Microsoft Sans Serif"/>
              </a:rPr>
              <a:t>In </a:t>
            </a:r>
            <a:r>
              <a:rPr sz="2000" spc="-20" dirty="0">
                <a:latin typeface="Microsoft Sans Serif"/>
                <a:cs typeface="Microsoft Sans Serif"/>
              </a:rPr>
              <a:t>PostgreSQL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65" dirty="0">
                <a:latin typeface="Microsoft Sans Serif"/>
                <a:cs typeface="Microsoft Sans Serif"/>
              </a:rPr>
              <a:t>this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is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done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by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creating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100" dirty="0">
                <a:latin typeface="Microsoft Sans Serif"/>
                <a:cs typeface="Microsoft Sans Serif"/>
              </a:rPr>
              <a:t>a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70" dirty="0">
                <a:latin typeface="Microsoft Sans Serif"/>
                <a:cs typeface="Microsoft Sans Serif"/>
              </a:rPr>
              <a:t>role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spc="130" dirty="0">
                <a:latin typeface="Microsoft Sans Serif"/>
                <a:cs typeface="Microsoft Sans Serif"/>
              </a:rPr>
              <a:t>that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represents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85" dirty="0">
                <a:latin typeface="Microsoft Sans Serif"/>
                <a:cs typeface="Microsoft Sans Serif"/>
              </a:rPr>
              <a:t>the </a:t>
            </a:r>
            <a:r>
              <a:rPr sz="2000" dirty="0">
                <a:latin typeface="Microsoft Sans Serif"/>
                <a:cs typeface="Microsoft Sans Serif"/>
              </a:rPr>
              <a:t>group,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90" dirty="0">
                <a:latin typeface="Microsoft Sans Serif"/>
                <a:cs typeface="Microsoft Sans Serif"/>
              </a:rPr>
              <a:t>then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spc="65" dirty="0">
                <a:latin typeface="Microsoft Sans Serif"/>
                <a:cs typeface="Microsoft Sans Serif"/>
              </a:rPr>
              <a:t>granting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membership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110" dirty="0">
                <a:latin typeface="Microsoft Sans Serif"/>
                <a:cs typeface="Microsoft Sans Serif"/>
              </a:rPr>
              <a:t>the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70" dirty="0">
                <a:latin typeface="Microsoft Sans Serif"/>
                <a:cs typeface="Microsoft Sans Serif"/>
              </a:rPr>
              <a:t>group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spc="70" dirty="0">
                <a:latin typeface="Microsoft Sans Serif"/>
                <a:cs typeface="Microsoft Sans Serif"/>
              </a:rPr>
              <a:t>role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190" dirty="0">
                <a:latin typeface="Microsoft Sans Serif"/>
                <a:cs typeface="Microsoft Sans Serif"/>
              </a:rPr>
              <a:t>to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individual </a:t>
            </a:r>
            <a:r>
              <a:rPr sz="2000" dirty="0">
                <a:latin typeface="Microsoft Sans Serif"/>
                <a:cs typeface="Microsoft Sans Serif"/>
              </a:rPr>
              <a:t>user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roles.</a:t>
            </a:r>
            <a:endParaRPr sz="2000" dirty="0">
              <a:latin typeface="Microsoft Sans Serif"/>
              <a:cs typeface="Microsoft Sans Serif"/>
            </a:endParaRPr>
          </a:p>
          <a:p>
            <a:pPr marL="243204">
              <a:lnSpc>
                <a:spcPct val="100000"/>
              </a:lnSpc>
              <a:spcBef>
                <a:spcPts val="910"/>
              </a:spcBef>
            </a:pPr>
            <a:r>
              <a:rPr sz="2000" spc="-185" dirty="0">
                <a:solidFill>
                  <a:srgbClr val="3493B9"/>
                </a:solidFill>
                <a:latin typeface="Microsoft Sans Serif"/>
                <a:cs typeface="Microsoft Sans Serif"/>
              </a:rPr>
              <a:t>CREATE</a:t>
            </a:r>
            <a:r>
              <a:rPr sz="2000" spc="-6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z="2000" spc="-155" dirty="0">
                <a:solidFill>
                  <a:srgbClr val="3493B9"/>
                </a:solidFill>
                <a:latin typeface="Microsoft Sans Serif"/>
                <a:cs typeface="Microsoft Sans Serif"/>
              </a:rPr>
              <a:t>ROLE</a:t>
            </a:r>
            <a:r>
              <a:rPr sz="2000" spc="-4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developers;</a:t>
            </a:r>
            <a:endParaRPr sz="2000" dirty="0">
              <a:latin typeface="Microsoft Sans Serif"/>
              <a:cs typeface="Microsoft Sans Serif"/>
            </a:endParaRPr>
          </a:p>
          <a:p>
            <a:pPr marL="243204">
              <a:lnSpc>
                <a:spcPct val="100000"/>
              </a:lnSpc>
            </a:pPr>
            <a:r>
              <a:rPr sz="2000" spc="-130" dirty="0">
                <a:solidFill>
                  <a:srgbClr val="3493B9"/>
                </a:solidFill>
                <a:latin typeface="Microsoft Sans Serif"/>
                <a:cs typeface="Microsoft Sans Serif"/>
              </a:rPr>
              <a:t>GRANT</a:t>
            </a:r>
            <a:r>
              <a:rPr sz="2000" spc="-5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z="2000" spc="-185" dirty="0">
                <a:solidFill>
                  <a:srgbClr val="3493B9"/>
                </a:solidFill>
                <a:latin typeface="Microsoft Sans Serif"/>
                <a:cs typeface="Microsoft Sans Serif"/>
              </a:rPr>
              <a:t>CREATE</a:t>
            </a:r>
            <a:r>
              <a:rPr sz="2000" spc="-40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493B9"/>
                </a:solidFill>
                <a:latin typeface="Microsoft Sans Serif"/>
                <a:cs typeface="Microsoft Sans Serif"/>
              </a:rPr>
              <a:t>ON</a:t>
            </a:r>
            <a:r>
              <a:rPr sz="2000" spc="-4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3493B9"/>
                </a:solidFill>
                <a:latin typeface="Microsoft Sans Serif"/>
                <a:cs typeface="Microsoft Sans Serif"/>
              </a:rPr>
              <a:t>DATABASE</a:t>
            </a:r>
            <a:r>
              <a:rPr sz="2000" spc="-70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mydb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spc="-75" dirty="0">
                <a:solidFill>
                  <a:srgbClr val="3493B9"/>
                </a:solidFill>
                <a:latin typeface="Microsoft Sans Serif"/>
                <a:cs typeface="Microsoft Sans Serif"/>
              </a:rPr>
              <a:t>TO</a:t>
            </a:r>
            <a:r>
              <a:rPr sz="2000" spc="-5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developers;</a:t>
            </a:r>
            <a:endParaRPr sz="20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2597611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6486" y="2426843"/>
            <a:ext cx="2798372" cy="443115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610790" y="566166"/>
            <a:ext cx="14954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CEDBE6"/>
                </a:solidFill>
                <a:latin typeface="Arial"/>
                <a:cs typeface="Arial"/>
              </a:rPr>
              <a:t>25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9275" y="723181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20875">
              <a:lnSpc>
                <a:spcPct val="100000"/>
              </a:lnSpc>
              <a:spcBef>
                <a:spcPts val="105"/>
              </a:spcBef>
            </a:pPr>
            <a:r>
              <a:rPr spc="-420" dirty="0"/>
              <a:t>Role</a:t>
            </a:r>
            <a:r>
              <a:rPr spc="-145" dirty="0"/>
              <a:t> </a:t>
            </a:r>
            <a:r>
              <a:rPr spc="-484" dirty="0"/>
              <a:t>Membership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3458" y="2767571"/>
            <a:ext cx="4532280" cy="106681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02589" y="1679194"/>
            <a:ext cx="8034814" cy="4592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45844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pc="-10" dirty="0">
                <a:latin typeface="Microsoft Sans Serif"/>
                <a:cs typeface="Microsoft Sans Serif"/>
              </a:rPr>
              <a:t>Once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spc="110" dirty="0">
                <a:latin typeface="Microsoft Sans Serif"/>
                <a:cs typeface="Microsoft Sans Serif"/>
              </a:rPr>
              <a:t>the</a:t>
            </a:r>
            <a:r>
              <a:rPr spc="-45" dirty="0">
                <a:latin typeface="Microsoft Sans Serif"/>
                <a:cs typeface="Microsoft Sans Serif"/>
              </a:rPr>
              <a:t> </a:t>
            </a:r>
            <a:r>
              <a:rPr spc="70" dirty="0">
                <a:latin typeface="Microsoft Sans Serif"/>
                <a:cs typeface="Microsoft Sans Serif"/>
              </a:rPr>
              <a:t>group</a:t>
            </a:r>
            <a:r>
              <a:rPr spc="-55" dirty="0">
                <a:latin typeface="Microsoft Sans Serif"/>
                <a:cs typeface="Microsoft Sans Serif"/>
              </a:rPr>
              <a:t> </a:t>
            </a:r>
            <a:r>
              <a:rPr spc="70" dirty="0">
                <a:latin typeface="Microsoft Sans Serif"/>
                <a:cs typeface="Microsoft Sans Serif"/>
              </a:rPr>
              <a:t>role</a:t>
            </a:r>
            <a:r>
              <a:rPr spc="-4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exists,</a:t>
            </a:r>
            <a:r>
              <a:rPr spc="-4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you</a:t>
            </a:r>
            <a:r>
              <a:rPr spc="-30" dirty="0">
                <a:latin typeface="Microsoft Sans Serif"/>
                <a:cs typeface="Microsoft Sans Serif"/>
              </a:rPr>
              <a:t> </a:t>
            </a:r>
            <a:r>
              <a:rPr spc="-50" dirty="0">
                <a:latin typeface="Microsoft Sans Serif"/>
                <a:cs typeface="Microsoft Sans Serif"/>
              </a:rPr>
              <a:t>can </a:t>
            </a:r>
            <a:r>
              <a:rPr dirty="0">
                <a:latin typeface="Microsoft Sans Serif"/>
                <a:cs typeface="Microsoft Sans Serif"/>
              </a:rPr>
              <a:t>add</a:t>
            </a:r>
            <a:r>
              <a:rPr spc="-4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and</a:t>
            </a:r>
            <a:r>
              <a:rPr spc="-3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remove</a:t>
            </a:r>
            <a:r>
              <a:rPr spc="-5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members</a:t>
            </a:r>
            <a:r>
              <a:rPr spc="-5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using </a:t>
            </a:r>
            <a:r>
              <a:rPr spc="100" dirty="0">
                <a:latin typeface="Microsoft Sans Serif"/>
                <a:cs typeface="Microsoft Sans Serif"/>
              </a:rPr>
              <a:t>the</a:t>
            </a:r>
            <a:r>
              <a:rPr spc="-65" dirty="0">
                <a:latin typeface="Microsoft Sans Serif"/>
                <a:cs typeface="Microsoft Sans Serif"/>
              </a:rPr>
              <a:t> </a:t>
            </a:r>
            <a:r>
              <a:rPr spc="-140" dirty="0">
                <a:latin typeface="Microsoft Sans Serif"/>
                <a:cs typeface="Microsoft Sans Serif"/>
              </a:rPr>
              <a:t>GRANT</a:t>
            </a:r>
            <a:r>
              <a:rPr spc="-7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and</a:t>
            </a:r>
            <a:r>
              <a:rPr spc="-80" dirty="0">
                <a:latin typeface="Microsoft Sans Serif"/>
                <a:cs typeface="Microsoft Sans Serif"/>
              </a:rPr>
              <a:t> </a:t>
            </a:r>
            <a:r>
              <a:rPr spc="-140" dirty="0">
                <a:latin typeface="Microsoft Sans Serif"/>
                <a:cs typeface="Microsoft Sans Serif"/>
              </a:rPr>
              <a:t>REVOKE</a:t>
            </a:r>
            <a:r>
              <a:rPr spc="-6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commands:</a:t>
            </a:r>
            <a:endParaRPr dirty="0">
              <a:latin typeface="Microsoft Sans Serif"/>
              <a:cs typeface="Microsoft Sans Serif"/>
            </a:endParaRPr>
          </a:p>
          <a:p>
            <a:pPr marL="6126480" marR="5080" indent="-70485">
              <a:lnSpc>
                <a:spcPct val="141700"/>
              </a:lnSpc>
              <a:spcBef>
                <a:spcPts val="1830"/>
              </a:spcBef>
            </a:pPr>
            <a:r>
              <a:rPr spc="-130" dirty="0">
                <a:solidFill>
                  <a:srgbClr val="3493B9"/>
                </a:solidFill>
                <a:latin typeface="Microsoft Sans Serif"/>
                <a:cs typeface="Microsoft Sans Serif"/>
              </a:rPr>
              <a:t>GRANT</a:t>
            </a:r>
            <a:r>
              <a:rPr spc="20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developers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spc="-75" dirty="0">
                <a:solidFill>
                  <a:srgbClr val="3493B9"/>
                </a:solidFill>
                <a:latin typeface="Microsoft Sans Serif"/>
                <a:cs typeface="Microsoft Sans Serif"/>
              </a:rPr>
              <a:t>TO</a:t>
            </a:r>
            <a:r>
              <a:rPr spc="2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user1; </a:t>
            </a:r>
            <a:r>
              <a:rPr spc="-140" dirty="0">
                <a:solidFill>
                  <a:srgbClr val="3493B9"/>
                </a:solidFill>
                <a:latin typeface="Microsoft Sans Serif"/>
                <a:cs typeface="Microsoft Sans Serif"/>
              </a:rPr>
              <a:t>REVOKE</a:t>
            </a:r>
            <a:r>
              <a:rPr spc="3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developers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spc="-95" dirty="0">
                <a:solidFill>
                  <a:srgbClr val="3493B9"/>
                </a:solidFill>
                <a:latin typeface="Microsoft Sans Serif"/>
                <a:cs typeface="Microsoft Sans Serif"/>
              </a:rPr>
              <a:t>FROM</a:t>
            </a:r>
            <a:r>
              <a:rPr spc="20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role1;</a:t>
            </a:r>
            <a:endParaRPr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dirty="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>
                <a:latin typeface="Microsoft Sans Serif"/>
                <a:cs typeface="Microsoft Sans Serif"/>
              </a:rPr>
              <a:t>You</a:t>
            </a:r>
            <a:r>
              <a:rPr spc="-55" dirty="0">
                <a:latin typeface="Microsoft Sans Serif"/>
                <a:cs typeface="Microsoft Sans Serif"/>
              </a:rPr>
              <a:t> </a:t>
            </a:r>
            <a:r>
              <a:rPr spc="-60" dirty="0">
                <a:latin typeface="Microsoft Sans Serif"/>
                <a:cs typeface="Microsoft Sans Serif"/>
              </a:rPr>
              <a:t>can</a:t>
            </a:r>
            <a:r>
              <a:rPr spc="-65" dirty="0">
                <a:latin typeface="Microsoft Sans Serif"/>
                <a:cs typeface="Microsoft Sans Serif"/>
              </a:rPr>
              <a:t> </a:t>
            </a:r>
            <a:r>
              <a:rPr spc="85" dirty="0">
                <a:latin typeface="Microsoft Sans Serif"/>
                <a:cs typeface="Microsoft Sans Serif"/>
              </a:rPr>
              <a:t>grant</a:t>
            </a:r>
            <a:r>
              <a:rPr spc="-5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membership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spc="190" dirty="0">
                <a:latin typeface="Microsoft Sans Serif"/>
                <a:cs typeface="Microsoft Sans Serif"/>
              </a:rPr>
              <a:t>to</a:t>
            </a:r>
            <a:r>
              <a:rPr spc="-55" dirty="0">
                <a:latin typeface="Microsoft Sans Serif"/>
                <a:cs typeface="Microsoft Sans Serif"/>
              </a:rPr>
              <a:t> </a:t>
            </a:r>
            <a:r>
              <a:rPr spc="100" dirty="0">
                <a:latin typeface="Microsoft Sans Serif"/>
                <a:cs typeface="Microsoft Sans Serif"/>
              </a:rPr>
              <a:t>other</a:t>
            </a:r>
            <a:r>
              <a:rPr spc="-45" dirty="0">
                <a:latin typeface="Microsoft Sans Serif"/>
                <a:cs typeface="Microsoft Sans Serif"/>
              </a:rPr>
              <a:t> </a:t>
            </a:r>
            <a:r>
              <a:rPr spc="70" dirty="0">
                <a:latin typeface="Microsoft Sans Serif"/>
                <a:cs typeface="Microsoft Sans Serif"/>
              </a:rPr>
              <a:t>group</a:t>
            </a:r>
            <a:r>
              <a:rPr spc="-7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roles,</a:t>
            </a:r>
            <a:r>
              <a:rPr spc="-65" dirty="0">
                <a:latin typeface="Microsoft Sans Serif"/>
                <a:cs typeface="Microsoft Sans Serif"/>
              </a:rPr>
              <a:t> </a:t>
            </a:r>
            <a:r>
              <a:rPr spc="140" dirty="0">
                <a:latin typeface="Microsoft Sans Serif"/>
                <a:cs typeface="Microsoft Sans Serif"/>
              </a:rPr>
              <a:t>too</a:t>
            </a:r>
            <a:r>
              <a:rPr spc="-70" dirty="0">
                <a:latin typeface="Microsoft Sans Serif"/>
                <a:cs typeface="Microsoft Sans Serif"/>
              </a:rPr>
              <a:t> </a:t>
            </a:r>
            <a:r>
              <a:rPr spc="-20" dirty="0">
                <a:latin typeface="Microsoft Sans Serif"/>
                <a:cs typeface="Microsoft Sans Serif"/>
              </a:rPr>
              <a:t>(since</a:t>
            </a:r>
            <a:r>
              <a:rPr spc="-50" dirty="0">
                <a:latin typeface="Microsoft Sans Serif"/>
                <a:cs typeface="Microsoft Sans Serif"/>
              </a:rPr>
              <a:t> </a:t>
            </a:r>
            <a:r>
              <a:rPr spc="80" dirty="0">
                <a:latin typeface="Microsoft Sans Serif"/>
                <a:cs typeface="Microsoft Sans Serif"/>
              </a:rPr>
              <a:t>there</a:t>
            </a:r>
            <a:r>
              <a:rPr spc="-45" dirty="0">
                <a:latin typeface="Microsoft Sans Serif"/>
                <a:cs typeface="Microsoft Sans Serif"/>
              </a:rPr>
              <a:t> </a:t>
            </a:r>
            <a:r>
              <a:rPr spc="65" dirty="0">
                <a:latin typeface="Microsoft Sans Serif"/>
                <a:cs typeface="Microsoft Sans Serif"/>
              </a:rPr>
              <a:t>isn't</a:t>
            </a:r>
            <a:endParaRPr dirty="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>
                <a:latin typeface="Microsoft Sans Serif"/>
                <a:cs typeface="Microsoft Sans Serif"/>
              </a:rPr>
              <a:t>really</a:t>
            </a:r>
            <a:r>
              <a:rPr spc="-45" dirty="0">
                <a:latin typeface="Microsoft Sans Serif"/>
                <a:cs typeface="Microsoft Sans Serif"/>
              </a:rPr>
              <a:t> </a:t>
            </a:r>
            <a:r>
              <a:rPr spc="-20" dirty="0">
                <a:latin typeface="Microsoft Sans Serif"/>
                <a:cs typeface="Microsoft Sans Serif"/>
              </a:rPr>
              <a:t>any</a:t>
            </a:r>
            <a:r>
              <a:rPr spc="-40" dirty="0">
                <a:latin typeface="Microsoft Sans Serif"/>
                <a:cs typeface="Microsoft Sans Serif"/>
              </a:rPr>
              <a:t> </a:t>
            </a:r>
            <a:r>
              <a:rPr spc="65" dirty="0">
                <a:latin typeface="Microsoft Sans Serif"/>
                <a:cs typeface="Microsoft Sans Serif"/>
              </a:rPr>
              <a:t>distinction</a:t>
            </a:r>
            <a:r>
              <a:rPr spc="-20" dirty="0">
                <a:latin typeface="Microsoft Sans Serif"/>
                <a:cs typeface="Microsoft Sans Serif"/>
              </a:rPr>
              <a:t> </a:t>
            </a:r>
            <a:r>
              <a:rPr spc="75" dirty="0">
                <a:latin typeface="Microsoft Sans Serif"/>
                <a:cs typeface="Microsoft Sans Serif"/>
              </a:rPr>
              <a:t>between</a:t>
            </a:r>
            <a:r>
              <a:rPr spc="-40" dirty="0">
                <a:latin typeface="Microsoft Sans Serif"/>
                <a:cs typeface="Microsoft Sans Serif"/>
              </a:rPr>
              <a:t> </a:t>
            </a:r>
            <a:r>
              <a:rPr spc="70" dirty="0">
                <a:latin typeface="Microsoft Sans Serif"/>
                <a:cs typeface="Microsoft Sans Serif"/>
              </a:rPr>
              <a:t>group</a:t>
            </a:r>
            <a:r>
              <a:rPr spc="-4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roles</a:t>
            </a:r>
            <a:r>
              <a:rPr spc="-3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and</a:t>
            </a:r>
            <a:r>
              <a:rPr spc="-3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non-</a:t>
            </a:r>
            <a:r>
              <a:rPr spc="70" dirty="0">
                <a:latin typeface="Microsoft Sans Serif"/>
                <a:cs typeface="Microsoft Sans Serif"/>
              </a:rPr>
              <a:t>group</a:t>
            </a:r>
            <a:r>
              <a:rPr spc="-5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roles).</a:t>
            </a:r>
            <a:endParaRPr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pc="-130" dirty="0">
                <a:solidFill>
                  <a:srgbClr val="3493B9"/>
                </a:solidFill>
                <a:latin typeface="Microsoft Sans Serif"/>
                <a:cs typeface="Microsoft Sans Serif"/>
              </a:rPr>
              <a:t>GRANT</a:t>
            </a:r>
            <a:r>
              <a:rPr spc="2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developers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spc="-75" dirty="0">
                <a:solidFill>
                  <a:srgbClr val="3493B9"/>
                </a:solidFill>
                <a:latin typeface="Microsoft Sans Serif"/>
                <a:cs typeface="Microsoft Sans Serif"/>
              </a:rPr>
              <a:t>TO</a:t>
            </a:r>
            <a:r>
              <a:rPr spc="2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managers;</a:t>
            </a:r>
            <a:endParaRPr dirty="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pc="-20" dirty="0">
                <a:latin typeface="Microsoft Sans Serif"/>
                <a:cs typeface="Microsoft Sans Serif"/>
              </a:rPr>
              <a:t>The</a:t>
            </a:r>
            <a:r>
              <a:rPr spc="-5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database</a:t>
            </a:r>
            <a:r>
              <a:rPr spc="-35" dirty="0">
                <a:latin typeface="Microsoft Sans Serif"/>
                <a:cs typeface="Microsoft Sans Serif"/>
              </a:rPr>
              <a:t> </a:t>
            </a:r>
            <a:r>
              <a:rPr spc="90" dirty="0">
                <a:latin typeface="Microsoft Sans Serif"/>
                <a:cs typeface="Microsoft Sans Serif"/>
              </a:rPr>
              <a:t>will</a:t>
            </a:r>
            <a:r>
              <a:rPr spc="-40" dirty="0">
                <a:latin typeface="Microsoft Sans Serif"/>
                <a:cs typeface="Microsoft Sans Serif"/>
              </a:rPr>
              <a:t> </a:t>
            </a:r>
            <a:r>
              <a:rPr spc="130" dirty="0">
                <a:latin typeface="Microsoft Sans Serif"/>
                <a:cs typeface="Microsoft Sans Serif"/>
              </a:rPr>
              <a:t>not</a:t>
            </a:r>
            <a:r>
              <a:rPr spc="-55" dirty="0">
                <a:latin typeface="Microsoft Sans Serif"/>
                <a:cs typeface="Microsoft Sans Serif"/>
              </a:rPr>
              <a:t> </a:t>
            </a:r>
            <a:r>
              <a:rPr spc="135" dirty="0">
                <a:latin typeface="Microsoft Sans Serif"/>
                <a:cs typeface="Microsoft Sans Serif"/>
              </a:rPr>
              <a:t>let</a:t>
            </a:r>
            <a:r>
              <a:rPr spc="-5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you</a:t>
            </a:r>
            <a:r>
              <a:rPr spc="-45" dirty="0">
                <a:latin typeface="Microsoft Sans Serif"/>
                <a:cs typeface="Microsoft Sans Serif"/>
              </a:rPr>
              <a:t> </a:t>
            </a:r>
            <a:r>
              <a:rPr spc="50" dirty="0">
                <a:latin typeface="Microsoft Sans Serif"/>
                <a:cs typeface="Microsoft Sans Serif"/>
              </a:rPr>
              <a:t>set</a:t>
            </a:r>
            <a:r>
              <a:rPr spc="-40" dirty="0">
                <a:latin typeface="Microsoft Sans Serif"/>
                <a:cs typeface="Microsoft Sans Serif"/>
              </a:rPr>
              <a:t> </a:t>
            </a:r>
            <a:r>
              <a:rPr spc="50" dirty="0">
                <a:latin typeface="Microsoft Sans Serif"/>
                <a:cs typeface="Microsoft Sans Serif"/>
              </a:rPr>
              <a:t>up</a:t>
            </a:r>
            <a:r>
              <a:rPr spc="-4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circular</a:t>
            </a:r>
            <a:r>
              <a:rPr spc="-7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membership</a:t>
            </a:r>
            <a:r>
              <a:rPr spc="-3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loops.</a:t>
            </a:r>
            <a:endParaRPr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5938031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6486" y="2426843"/>
            <a:ext cx="2798372" cy="443115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610790" y="566166"/>
            <a:ext cx="14954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CEDBE6"/>
                </a:solidFill>
                <a:latin typeface="Arial"/>
                <a:cs typeface="Arial"/>
              </a:rPr>
              <a:t>26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9275" y="723181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65730">
              <a:lnSpc>
                <a:spcPct val="100000"/>
              </a:lnSpc>
              <a:spcBef>
                <a:spcPts val="105"/>
              </a:spcBef>
            </a:pPr>
            <a:r>
              <a:rPr spc="-470" dirty="0"/>
              <a:t>Ownership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7157" y="1647826"/>
            <a:ext cx="7186136" cy="35118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>
                <a:latin typeface="Microsoft Sans Serif"/>
                <a:cs typeface="Microsoft Sans Serif"/>
              </a:rPr>
              <a:t>Ownership</a:t>
            </a:r>
            <a:r>
              <a:rPr spc="-40" dirty="0">
                <a:latin typeface="Microsoft Sans Serif"/>
                <a:cs typeface="Microsoft Sans Serif"/>
              </a:rPr>
              <a:t> </a:t>
            </a:r>
            <a:r>
              <a:rPr spc="170" dirty="0">
                <a:latin typeface="Microsoft Sans Serif"/>
                <a:cs typeface="Microsoft Sans Serif"/>
              </a:rPr>
              <a:t>of</a:t>
            </a:r>
            <a:r>
              <a:rPr spc="-2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objects</a:t>
            </a:r>
            <a:r>
              <a:rPr spc="-40" dirty="0">
                <a:latin typeface="Microsoft Sans Serif"/>
                <a:cs typeface="Microsoft Sans Serif"/>
              </a:rPr>
              <a:t> </a:t>
            </a:r>
            <a:r>
              <a:rPr spc="-50" dirty="0">
                <a:latin typeface="Microsoft Sans Serif"/>
                <a:cs typeface="Microsoft Sans Serif"/>
              </a:rPr>
              <a:t>can</a:t>
            </a:r>
            <a:r>
              <a:rPr spc="-4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be</a:t>
            </a:r>
            <a:r>
              <a:rPr spc="-35" dirty="0">
                <a:latin typeface="Microsoft Sans Serif"/>
                <a:cs typeface="Microsoft Sans Serif"/>
              </a:rPr>
              <a:t> </a:t>
            </a:r>
            <a:r>
              <a:rPr spc="70" dirty="0">
                <a:latin typeface="Microsoft Sans Serif"/>
                <a:cs typeface="Microsoft Sans Serif"/>
              </a:rPr>
              <a:t>transferred</a:t>
            </a:r>
            <a:r>
              <a:rPr spc="-2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one</a:t>
            </a:r>
            <a:r>
              <a:rPr spc="-50" dirty="0">
                <a:latin typeface="Microsoft Sans Serif"/>
                <a:cs typeface="Microsoft Sans Serif"/>
              </a:rPr>
              <a:t> </a:t>
            </a:r>
            <a:r>
              <a:rPr spc="100" dirty="0">
                <a:latin typeface="Microsoft Sans Serif"/>
                <a:cs typeface="Microsoft Sans Serif"/>
              </a:rPr>
              <a:t>at</a:t>
            </a:r>
            <a:r>
              <a:rPr spc="-25" dirty="0">
                <a:latin typeface="Microsoft Sans Serif"/>
                <a:cs typeface="Microsoft Sans Serif"/>
              </a:rPr>
              <a:t> </a:t>
            </a:r>
            <a:r>
              <a:rPr spc="-100" dirty="0">
                <a:latin typeface="Microsoft Sans Serif"/>
                <a:cs typeface="Microsoft Sans Serif"/>
              </a:rPr>
              <a:t>a</a:t>
            </a:r>
            <a:r>
              <a:rPr spc="-40" dirty="0">
                <a:latin typeface="Microsoft Sans Serif"/>
                <a:cs typeface="Microsoft Sans Serif"/>
              </a:rPr>
              <a:t> </a:t>
            </a:r>
            <a:r>
              <a:rPr spc="100" dirty="0">
                <a:latin typeface="Microsoft Sans Serif"/>
                <a:cs typeface="Microsoft Sans Serif"/>
              </a:rPr>
              <a:t>time</a:t>
            </a:r>
            <a:r>
              <a:rPr spc="-4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using</a:t>
            </a:r>
            <a:r>
              <a:rPr spc="-30" dirty="0">
                <a:latin typeface="Microsoft Sans Serif"/>
                <a:cs typeface="Microsoft Sans Serif"/>
              </a:rPr>
              <a:t> </a:t>
            </a:r>
            <a:r>
              <a:rPr spc="-60" dirty="0">
                <a:latin typeface="Microsoft Sans Serif"/>
                <a:cs typeface="Microsoft Sans Serif"/>
              </a:rPr>
              <a:t>ALTER </a:t>
            </a:r>
            <a:r>
              <a:rPr spc="-10" dirty="0">
                <a:latin typeface="Microsoft Sans Serif"/>
                <a:cs typeface="Microsoft Sans Serif"/>
              </a:rPr>
              <a:t>commands,</a:t>
            </a:r>
            <a:r>
              <a:rPr spc="-100" dirty="0">
                <a:latin typeface="Microsoft Sans Serif"/>
                <a:cs typeface="Microsoft Sans Serif"/>
              </a:rPr>
              <a:t> </a:t>
            </a:r>
            <a:r>
              <a:rPr spc="145" dirty="0">
                <a:latin typeface="Microsoft Sans Serif"/>
                <a:cs typeface="Microsoft Sans Serif"/>
              </a:rPr>
              <a:t>for</a:t>
            </a:r>
            <a:r>
              <a:rPr spc="-8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example:</a:t>
            </a:r>
            <a:endParaRPr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Font typeface="Arial MT"/>
              <a:buChar char="•"/>
            </a:pPr>
            <a:endParaRPr dirty="0">
              <a:latin typeface="Microsoft Sans Serif"/>
              <a:cs typeface="Microsoft Sans Serif"/>
            </a:endParaRPr>
          </a:p>
          <a:p>
            <a:pPr marL="464820">
              <a:lnSpc>
                <a:spcPct val="100000"/>
              </a:lnSpc>
            </a:pPr>
            <a:r>
              <a:rPr spc="-145" dirty="0">
                <a:solidFill>
                  <a:srgbClr val="3493B9"/>
                </a:solidFill>
                <a:latin typeface="Microsoft Sans Serif"/>
                <a:cs typeface="Microsoft Sans Serif"/>
              </a:rPr>
              <a:t>ALTER</a:t>
            </a:r>
            <a:r>
              <a:rPr spc="-2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pc="-114" dirty="0">
                <a:solidFill>
                  <a:srgbClr val="3493B9"/>
                </a:solidFill>
                <a:latin typeface="Microsoft Sans Serif"/>
                <a:cs typeface="Microsoft Sans Serif"/>
              </a:rPr>
              <a:t>TABLE</a:t>
            </a:r>
            <a:r>
              <a:rPr spc="-1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bobs_table</a:t>
            </a:r>
            <a:r>
              <a:rPr spc="-25" dirty="0">
                <a:latin typeface="Microsoft Sans Serif"/>
                <a:cs typeface="Microsoft Sans Serif"/>
              </a:rPr>
              <a:t> </a:t>
            </a:r>
            <a:r>
              <a:rPr spc="-120" dirty="0">
                <a:solidFill>
                  <a:srgbClr val="3493B9"/>
                </a:solidFill>
                <a:latin typeface="Microsoft Sans Serif"/>
                <a:cs typeface="Microsoft Sans Serif"/>
              </a:rPr>
              <a:t>OWNER</a:t>
            </a:r>
            <a:r>
              <a:rPr spc="-1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pc="-50" dirty="0">
                <a:solidFill>
                  <a:srgbClr val="3493B9"/>
                </a:solidFill>
                <a:latin typeface="Microsoft Sans Serif"/>
                <a:cs typeface="Microsoft Sans Serif"/>
              </a:rPr>
              <a:t>TO</a:t>
            </a:r>
            <a:r>
              <a:rPr spc="-20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alice;</a:t>
            </a:r>
            <a:endParaRPr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dirty="0">
              <a:latin typeface="Microsoft Sans Serif"/>
              <a:cs typeface="Microsoft Sans Serif"/>
            </a:endParaRPr>
          </a:p>
          <a:p>
            <a:pPr marL="360045" marR="651510" indent="-342900">
              <a:lnSpc>
                <a:spcPct val="100000"/>
              </a:lnSpc>
              <a:buFont typeface="Arial MT"/>
              <a:buChar char="•"/>
              <a:tabLst>
                <a:tab pos="360045" algn="l"/>
              </a:tabLst>
            </a:pPr>
            <a:r>
              <a:rPr spc="55" dirty="0">
                <a:latin typeface="Microsoft Sans Serif"/>
                <a:cs typeface="Microsoft Sans Serif"/>
              </a:rPr>
              <a:t>Alternatively,</a:t>
            </a:r>
            <a:r>
              <a:rPr spc="-114" dirty="0">
                <a:latin typeface="Microsoft Sans Serif"/>
                <a:cs typeface="Microsoft Sans Serif"/>
              </a:rPr>
              <a:t> </a:t>
            </a:r>
            <a:r>
              <a:rPr spc="110" dirty="0">
                <a:latin typeface="Microsoft Sans Serif"/>
                <a:cs typeface="Microsoft Sans Serif"/>
              </a:rPr>
              <a:t>the</a:t>
            </a:r>
            <a:r>
              <a:rPr spc="-70" dirty="0">
                <a:latin typeface="Microsoft Sans Serif"/>
                <a:cs typeface="Microsoft Sans Serif"/>
              </a:rPr>
              <a:t> </a:t>
            </a:r>
            <a:r>
              <a:rPr spc="-175" dirty="0">
                <a:latin typeface="Microsoft Sans Serif"/>
                <a:cs typeface="Microsoft Sans Serif"/>
              </a:rPr>
              <a:t>REASSIGN</a:t>
            </a:r>
            <a:r>
              <a:rPr spc="-65" dirty="0">
                <a:latin typeface="Microsoft Sans Serif"/>
                <a:cs typeface="Microsoft Sans Serif"/>
              </a:rPr>
              <a:t> OWNED</a:t>
            </a:r>
            <a:r>
              <a:rPr spc="-8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command</a:t>
            </a:r>
            <a:r>
              <a:rPr spc="-85" dirty="0">
                <a:latin typeface="Microsoft Sans Serif"/>
                <a:cs typeface="Microsoft Sans Serif"/>
              </a:rPr>
              <a:t> </a:t>
            </a:r>
            <a:r>
              <a:rPr spc="-45" dirty="0">
                <a:latin typeface="Microsoft Sans Serif"/>
                <a:cs typeface="Microsoft Sans Serif"/>
              </a:rPr>
              <a:t>can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be</a:t>
            </a:r>
            <a:r>
              <a:rPr spc="-8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used</a:t>
            </a:r>
            <a:r>
              <a:rPr spc="-75" dirty="0">
                <a:latin typeface="Microsoft Sans Serif"/>
                <a:cs typeface="Microsoft Sans Serif"/>
              </a:rPr>
              <a:t> </a:t>
            </a:r>
            <a:r>
              <a:rPr spc="165" dirty="0">
                <a:latin typeface="Microsoft Sans Serif"/>
                <a:cs typeface="Microsoft Sans Serif"/>
              </a:rPr>
              <a:t>to </a:t>
            </a:r>
            <a:r>
              <a:rPr spc="-10" dirty="0">
                <a:latin typeface="Microsoft Sans Serif"/>
                <a:cs typeface="Microsoft Sans Serif"/>
              </a:rPr>
              <a:t>reassign</a:t>
            </a:r>
            <a:r>
              <a:rPr spc="3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ownership</a:t>
            </a:r>
            <a:r>
              <a:rPr spc="40" dirty="0">
                <a:latin typeface="Microsoft Sans Serif"/>
                <a:cs typeface="Microsoft Sans Serif"/>
              </a:rPr>
              <a:t> </a:t>
            </a:r>
            <a:r>
              <a:rPr spc="170" dirty="0">
                <a:latin typeface="Microsoft Sans Serif"/>
                <a:cs typeface="Microsoft Sans Serif"/>
              </a:rPr>
              <a:t>of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all</a:t>
            </a:r>
            <a:r>
              <a:rPr spc="2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objects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spc="55" dirty="0">
                <a:latin typeface="Microsoft Sans Serif"/>
                <a:cs typeface="Microsoft Sans Serif"/>
              </a:rPr>
              <a:t>owned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by</a:t>
            </a:r>
            <a:r>
              <a:rPr spc="35" dirty="0">
                <a:latin typeface="Microsoft Sans Serif"/>
                <a:cs typeface="Microsoft Sans Serif"/>
              </a:rPr>
              <a:t> </a:t>
            </a:r>
            <a:r>
              <a:rPr spc="105" dirty="0">
                <a:latin typeface="Microsoft Sans Serif"/>
                <a:cs typeface="Microsoft Sans Serif"/>
              </a:rPr>
              <a:t>the</a:t>
            </a:r>
            <a:r>
              <a:rPr spc="4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role-</a:t>
            </a:r>
            <a:r>
              <a:rPr spc="70" dirty="0">
                <a:latin typeface="Microsoft Sans Serif"/>
                <a:cs typeface="Microsoft Sans Serif"/>
              </a:rPr>
              <a:t>to- </a:t>
            </a:r>
            <a:r>
              <a:rPr spc="55" dirty="0">
                <a:latin typeface="Microsoft Sans Serif"/>
                <a:cs typeface="Microsoft Sans Serif"/>
              </a:rPr>
              <a:t>bedropped</a:t>
            </a:r>
            <a:r>
              <a:rPr spc="-100" dirty="0">
                <a:latin typeface="Microsoft Sans Serif"/>
                <a:cs typeface="Microsoft Sans Serif"/>
              </a:rPr>
              <a:t> </a:t>
            </a:r>
            <a:r>
              <a:rPr spc="190" dirty="0">
                <a:latin typeface="Microsoft Sans Serif"/>
                <a:cs typeface="Microsoft Sans Serif"/>
              </a:rPr>
              <a:t>to</a:t>
            </a:r>
            <a:r>
              <a:rPr spc="-70" dirty="0">
                <a:latin typeface="Microsoft Sans Serif"/>
                <a:cs typeface="Microsoft Sans Serif"/>
              </a:rPr>
              <a:t> </a:t>
            </a:r>
            <a:r>
              <a:rPr spc="-100" dirty="0">
                <a:latin typeface="Microsoft Sans Serif"/>
                <a:cs typeface="Microsoft Sans Serif"/>
              </a:rPr>
              <a:t>a</a:t>
            </a:r>
            <a:r>
              <a:rPr spc="-7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single</a:t>
            </a:r>
            <a:r>
              <a:rPr spc="-80" dirty="0">
                <a:latin typeface="Microsoft Sans Serif"/>
                <a:cs typeface="Microsoft Sans Serif"/>
              </a:rPr>
              <a:t> </a:t>
            </a:r>
            <a:r>
              <a:rPr spc="100" dirty="0">
                <a:latin typeface="Microsoft Sans Serif"/>
                <a:cs typeface="Microsoft Sans Serif"/>
              </a:rPr>
              <a:t>other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role.</a:t>
            </a:r>
            <a:endParaRPr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dirty="0">
              <a:latin typeface="Microsoft Sans Serif"/>
              <a:cs typeface="Microsoft Sans Serif"/>
            </a:endParaRPr>
          </a:p>
          <a:p>
            <a:pPr marL="469900" marR="1474470">
              <a:lnSpc>
                <a:spcPct val="100000"/>
              </a:lnSpc>
              <a:spcBef>
                <a:spcPts val="5"/>
              </a:spcBef>
            </a:pPr>
            <a:r>
              <a:rPr spc="-180" dirty="0">
                <a:solidFill>
                  <a:srgbClr val="3493B9"/>
                </a:solidFill>
                <a:latin typeface="Microsoft Sans Serif"/>
                <a:cs typeface="Microsoft Sans Serif"/>
              </a:rPr>
              <a:t>REASSIGN</a:t>
            </a:r>
            <a:r>
              <a:rPr spc="5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pc="-65" dirty="0">
                <a:solidFill>
                  <a:srgbClr val="3493B9"/>
                </a:solidFill>
                <a:latin typeface="Microsoft Sans Serif"/>
                <a:cs typeface="Microsoft Sans Serif"/>
              </a:rPr>
              <a:t>OWNED</a:t>
            </a:r>
            <a:r>
              <a:rPr spc="1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pc="-120" dirty="0">
                <a:solidFill>
                  <a:srgbClr val="3493B9"/>
                </a:solidFill>
                <a:latin typeface="Microsoft Sans Serif"/>
                <a:cs typeface="Microsoft Sans Serif"/>
              </a:rPr>
              <a:t>BY</a:t>
            </a:r>
            <a:r>
              <a:rPr spc="30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doomed_role</a:t>
            </a:r>
            <a:r>
              <a:rPr spc="-40" dirty="0">
                <a:latin typeface="Microsoft Sans Serif"/>
                <a:cs typeface="Microsoft Sans Serif"/>
              </a:rPr>
              <a:t> </a:t>
            </a:r>
            <a:r>
              <a:rPr spc="-75" dirty="0">
                <a:solidFill>
                  <a:srgbClr val="3493B9"/>
                </a:solidFill>
                <a:latin typeface="Microsoft Sans Serif"/>
                <a:cs typeface="Microsoft Sans Serif"/>
              </a:rPr>
              <a:t>TO</a:t>
            </a:r>
            <a:r>
              <a:rPr spc="2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successor_role; </a:t>
            </a:r>
            <a:r>
              <a:rPr spc="-110" dirty="0">
                <a:solidFill>
                  <a:srgbClr val="3493B9"/>
                </a:solidFill>
                <a:latin typeface="Microsoft Sans Serif"/>
                <a:cs typeface="Microsoft Sans Serif"/>
              </a:rPr>
              <a:t>DROP</a:t>
            </a:r>
            <a:r>
              <a:rPr spc="-65" dirty="0">
                <a:solidFill>
                  <a:srgbClr val="3493B9"/>
                </a:solidFill>
                <a:latin typeface="Microsoft Sans Serif"/>
                <a:cs typeface="Microsoft Sans Serif"/>
              </a:rPr>
              <a:t> OWNED</a:t>
            </a:r>
            <a:r>
              <a:rPr spc="-80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pc="-120" dirty="0">
                <a:solidFill>
                  <a:srgbClr val="3493B9"/>
                </a:solidFill>
                <a:latin typeface="Microsoft Sans Serif"/>
                <a:cs typeface="Microsoft Sans Serif"/>
              </a:rPr>
              <a:t>BY</a:t>
            </a:r>
            <a:r>
              <a:rPr spc="-70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doomed_role;</a:t>
            </a:r>
            <a:endParaRPr dirty="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</a:pPr>
            <a:r>
              <a:rPr spc="-110" dirty="0">
                <a:solidFill>
                  <a:srgbClr val="3493B9"/>
                </a:solidFill>
                <a:latin typeface="Microsoft Sans Serif"/>
                <a:cs typeface="Microsoft Sans Serif"/>
              </a:rPr>
              <a:t>DROP</a:t>
            </a:r>
            <a:r>
              <a:rPr spc="-55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pc="-155" dirty="0">
                <a:solidFill>
                  <a:srgbClr val="3493B9"/>
                </a:solidFill>
                <a:latin typeface="Microsoft Sans Serif"/>
                <a:cs typeface="Microsoft Sans Serif"/>
              </a:rPr>
              <a:t>ROLE</a:t>
            </a:r>
            <a:r>
              <a:rPr spc="-60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doomed_role;</a:t>
            </a:r>
            <a:endParaRPr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77924413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6486" y="2426843"/>
            <a:ext cx="2798372" cy="443115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610790" y="566166"/>
            <a:ext cx="14954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CEDBE6"/>
                </a:solidFill>
                <a:latin typeface="Arial"/>
                <a:cs typeface="Arial"/>
              </a:rPr>
              <a:t>27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9275" y="723181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6425">
              <a:lnSpc>
                <a:spcPct val="100000"/>
              </a:lnSpc>
              <a:spcBef>
                <a:spcPts val="105"/>
              </a:spcBef>
            </a:pPr>
            <a:r>
              <a:rPr spc="-195" dirty="0"/>
              <a:t>Database</a:t>
            </a:r>
            <a:r>
              <a:rPr spc="-135" dirty="0"/>
              <a:t> </a:t>
            </a:r>
            <a:r>
              <a:rPr spc="-390" dirty="0"/>
              <a:t>design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6869" y="1432534"/>
            <a:ext cx="6216491" cy="2952518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255"/>
              </a:spcBef>
              <a:buAutoNum type="arabicPeriod"/>
              <a:tabLst>
                <a:tab pos="527685" algn="l"/>
              </a:tabLst>
            </a:pPr>
            <a:r>
              <a:rPr spc="-10" dirty="0">
                <a:latin typeface="Microsoft Sans Serif"/>
                <a:cs typeface="Microsoft Sans Serif"/>
              </a:rPr>
              <a:t>The</a:t>
            </a:r>
            <a:r>
              <a:rPr spc="-125" dirty="0">
                <a:latin typeface="Microsoft Sans Serif"/>
                <a:cs typeface="Microsoft Sans Serif"/>
              </a:rPr>
              <a:t> </a:t>
            </a:r>
            <a:r>
              <a:rPr spc="95" dirty="0">
                <a:latin typeface="Microsoft Sans Serif"/>
                <a:cs typeface="Microsoft Sans Serif"/>
              </a:rPr>
              <a:t>problem</a:t>
            </a:r>
            <a:r>
              <a:rPr spc="-140" dirty="0">
                <a:latin typeface="Microsoft Sans Serif"/>
                <a:cs typeface="Microsoft Sans Serif"/>
              </a:rPr>
              <a:t> </a:t>
            </a:r>
            <a:r>
              <a:rPr spc="225" dirty="0">
                <a:latin typeface="Microsoft Sans Serif"/>
                <a:cs typeface="Microsoft Sans Serif"/>
              </a:rPr>
              <a:t>of</a:t>
            </a:r>
            <a:r>
              <a:rPr spc="-130" dirty="0">
                <a:latin typeface="Microsoft Sans Serif"/>
                <a:cs typeface="Microsoft Sans Serif"/>
              </a:rPr>
              <a:t> </a:t>
            </a:r>
            <a:r>
              <a:rPr spc="50" dirty="0">
                <a:latin typeface="Microsoft Sans Serif"/>
                <a:cs typeface="Microsoft Sans Serif"/>
              </a:rPr>
              <a:t>domain</a:t>
            </a:r>
            <a:r>
              <a:rPr spc="-125" dirty="0">
                <a:latin typeface="Microsoft Sans Serif"/>
                <a:cs typeface="Microsoft Sans Serif"/>
              </a:rPr>
              <a:t> </a:t>
            </a:r>
            <a:r>
              <a:rPr spc="65" dirty="0">
                <a:latin typeface="Microsoft Sans Serif"/>
                <a:cs typeface="Microsoft Sans Serif"/>
              </a:rPr>
              <a:t>representation.</a:t>
            </a:r>
            <a:endParaRPr dirty="0">
              <a:latin typeface="Microsoft Sans Serif"/>
              <a:cs typeface="Microsoft Sans Serif"/>
            </a:endParaRPr>
          </a:p>
          <a:p>
            <a:pPr marL="527685" indent="-514984">
              <a:lnSpc>
                <a:spcPct val="100000"/>
              </a:lnSpc>
              <a:spcBef>
                <a:spcPts val="1155"/>
              </a:spcBef>
              <a:buAutoNum type="arabicPeriod"/>
              <a:tabLst>
                <a:tab pos="527685" algn="l"/>
              </a:tabLst>
            </a:pPr>
            <a:r>
              <a:rPr dirty="0">
                <a:latin typeface="Microsoft Sans Serif"/>
                <a:cs typeface="Microsoft Sans Serif"/>
              </a:rPr>
              <a:t>Logical</a:t>
            </a:r>
            <a:r>
              <a:rPr spc="-5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design</a:t>
            </a:r>
            <a:endParaRPr dirty="0">
              <a:latin typeface="Microsoft Sans Serif"/>
              <a:cs typeface="Microsoft Sans Serif"/>
            </a:endParaRPr>
          </a:p>
          <a:p>
            <a:pPr marL="527685" indent="-514984">
              <a:lnSpc>
                <a:spcPct val="100000"/>
              </a:lnSpc>
              <a:spcBef>
                <a:spcPts val="1150"/>
              </a:spcBef>
              <a:buAutoNum type="arabicPeriod"/>
              <a:tabLst>
                <a:tab pos="527685" algn="l"/>
              </a:tabLst>
            </a:pPr>
            <a:r>
              <a:rPr dirty="0">
                <a:latin typeface="Microsoft Sans Serif"/>
                <a:cs typeface="Microsoft Sans Serif"/>
              </a:rPr>
              <a:t>Problems</a:t>
            </a:r>
            <a:r>
              <a:rPr spc="-55" dirty="0">
                <a:latin typeface="Microsoft Sans Serif"/>
                <a:cs typeface="Microsoft Sans Serif"/>
              </a:rPr>
              <a:t> </a:t>
            </a:r>
            <a:r>
              <a:rPr spc="225" dirty="0">
                <a:latin typeface="Microsoft Sans Serif"/>
                <a:cs typeface="Microsoft Sans Serif"/>
              </a:rPr>
              <a:t>of</a:t>
            </a:r>
            <a:r>
              <a:rPr spc="-30" dirty="0">
                <a:latin typeface="Microsoft Sans Serif"/>
                <a:cs typeface="Microsoft Sans Serif"/>
              </a:rPr>
              <a:t> </a:t>
            </a:r>
            <a:r>
              <a:rPr spc="120" dirty="0">
                <a:latin typeface="Microsoft Sans Serif"/>
                <a:cs typeface="Microsoft Sans Serif"/>
              </a:rPr>
              <a:t>poor</a:t>
            </a:r>
            <a:r>
              <a:rPr spc="-3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database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design:</a:t>
            </a:r>
            <a:endParaRPr dirty="0">
              <a:latin typeface="Microsoft Sans Serif"/>
              <a:cs typeface="Microsoft Sans Serif"/>
            </a:endParaRPr>
          </a:p>
          <a:p>
            <a:pPr marL="1113155" lvl="1" indent="-457200">
              <a:lnSpc>
                <a:spcPct val="100000"/>
              </a:lnSpc>
              <a:spcBef>
                <a:spcPts val="1155"/>
              </a:spcBef>
              <a:buFont typeface="Arial MT"/>
              <a:buChar char="•"/>
              <a:tabLst>
                <a:tab pos="1113155" algn="l"/>
              </a:tabLst>
            </a:pPr>
            <a:r>
              <a:rPr dirty="0">
                <a:latin typeface="Microsoft Sans Serif"/>
                <a:cs typeface="Microsoft Sans Serif"/>
              </a:rPr>
              <a:t>Possibility</a:t>
            </a:r>
            <a:r>
              <a:rPr spc="55" dirty="0">
                <a:latin typeface="Microsoft Sans Serif"/>
                <a:cs typeface="Microsoft Sans Serif"/>
              </a:rPr>
              <a:t> </a:t>
            </a:r>
            <a:r>
              <a:rPr spc="225" dirty="0">
                <a:latin typeface="Microsoft Sans Serif"/>
                <a:cs typeface="Microsoft Sans Serif"/>
              </a:rPr>
              <a:t>of</a:t>
            </a:r>
            <a:r>
              <a:rPr spc="60" dirty="0">
                <a:latin typeface="Microsoft Sans Serif"/>
                <a:cs typeface="Microsoft Sans Serif"/>
              </a:rPr>
              <a:t> </a:t>
            </a:r>
            <a:r>
              <a:rPr spc="70" dirty="0">
                <a:latin typeface="Microsoft Sans Serif"/>
                <a:cs typeface="Microsoft Sans Serif"/>
              </a:rPr>
              <a:t>recording</a:t>
            </a:r>
            <a:r>
              <a:rPr spc="5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non-valid</a:t>
            </a:r>
            <a:r>
              <a:rPr spc="75" dirty="0">
                <a:latin typeface="Microsoft Sans Serif"/>
                <a:cs typeface="Microsoft Sans Serif"/>
              </a:rPr>
              <a:t> </a:t>
            </a:r>
            <a:r>
              <a:rPr spc="45" dirty="0">
                <a:latin typeface="Microsoft Sans Serif"/>
                <a:cs typeface="Microsoft Sans Serif"/>
              </a:rPr>
              <a:t>data</a:t>
            </a:r>
            <a:endParaRPr dirty="0">
              <a:latin typeface="Microsoft Sans Serif"/>
              <a:cs typeface="Microsoft Sans Serif"/>
            </a:endParaRPr>
          </a:p>
          <a:p>
            <a:pPr marL="1113155" marR="5080" lvl="1" indent="-457200">
              <a:lnSpc>
                <a:spcPts val="4990"/>
              </a:lnSpc>
              <a:spcBef>
                <a:spcPts val="160"/>
              </a:spcBef>
              <a:buFont typeface="Arial MT"/>
              <a:buChar char="•"/>
              <a:tabLst>
                <a:tab pos="1113155" algn="l"/>
                <a:tab pos="3333750" algn="l"/>
                <a:tab pos="4076065" algn="l"/>
                <a:tab pos="6613525" algn="l"/>
                <a:tab pos="7669530" algn="l"/>
              </a:tabLst>
            </a:pPr>
            <a:r>
              <a:rPr spc="-10" dirty="0">
                <a:latin typeface="Microsoft Sans Serif"/>
                <a:cs typeface="Microsoft Sans Serif"/>
              </a:rPr>
              <a:t>Possibility</a:t>
            </a:r>
            <a:r>
              <a:rPr dirty="0">
                <a:latin typeface="Microsoft Sans Serif"/>
                <a:cs typeface="Microsoft Sans Serif"/>
              </a:rPr>
              <a:t>	</a:t>
            </a:r>
            <a:r>
              <a:rPr spc="200" dirty="0">
                <a:latin typeface="Microsoft Sans Serif"/>
                <a:cs typeface="Microsoft Sans Serif"/>
              </a:rPr>
              <a:t>of</a:t>
            </a:r>
            <a:r>
              <a:rPr dirty="0">
                <a:latin typeface="Microsoft Sans Serif"/>
                <a:cs typeface="Microsoft Sans Serif"/>
              </a:rPr>
              <a:t>	</a:t>
            </a:r>
            <a:r>
              <a:rPr spc="105" dirty="0">
                <a:latin typeface="Microsoft Sans Serif"/>
                <a:cs typeface="Microsoft Sans Serif"/>
              </a:rPr>
              <a:t>information</a:t>
            </a:r>
            <a:r>
              <a:rPr dirty="0">
                <a:latin typeface="Microsoft Sans Serif"/>
                <a:cs typeface="Microsoft Sans Serif"/>
              </a:rPr>
              <a:t>	</a:t>
            </a:r>
            <a:r>
              <a:rPr spc="-20" dirty="0">
                <a:latin typeface="Microsoft Sans Serif"/>
                <a:cs typeface="Microsoft Sans Serif"/>
              </a:rPr>
              <a:t>loss</a:t>
            </a:r>
            <a:r>
              <a:rPr dirty="0">
                <a:latin typeface="Microsoft Sans Serif"/>
                <a:cs typeface="Microsoft Sans Serif"/>
              </a:rPr>
              <a:t>	</a:t>
            </a:r>
            <a:r>
              <a:rPr spc="-25" dirty="0">
                <a:latin typeface="Microsoft Sans Serif"/>
                <a:cs typeface="Microsoft Sans Serif"/>
              </a:rPr>
              <a:t>(no </a:t>
            </a:r>
            <a:r>
              <a:rPr spc="55" dirty="0">
                <a:latin typeface="Microsoft Sans Serif"/>
                <a:cs typeface="Microsoft Sans Serif"/>
              </a:rPr>
              <a:t>relations)</a:t>
            </a:r>
            <a:endParaRPr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33426778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6486" y="2426843"/>
            <a:ext cx="2798372" cy="443115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610790" y="566166"/>
            <a:ext cx="14954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CEDBE6"/>
                </a:solidFill>
                <a:latin typeface="Arial"/>
                <a:cs typeface="Arial"/>
              </a:rPr>
              <a:t>28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9275" y="723181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33425">
              <a:lnSpc>
                <a:spcPct val="100000"/>
              </a:lnSpc>
              <a:spcBef>
                <a:spcPts val="105"/>
              </a:spcBef>
            </a:pPr>
            <a:r>
              <a:rPr spc="-365" dirty="0"/>
              <a:t>Stages</a:t>
            </a:r>
            <a:r>
              <a:rPr spc="-140" dirty="0"/>
              <a:t> </a:t>
            </a:r>
            <a:r>
              <a:rPr spc="-315" dirty="0"/>
              <a:t>of</a:t>
            </a:r>
            <a:r>
              <a:rPr spc="-105" dirty="0"/>
              <a:t> </a:t>
            </a:r>
            <a:r>
              <a:rPr spc="-165" dirty="0"/>
              <a:t>database</a:t>
            </a:r>
            <a:r>
              <a:rPr spc="-145" dirty="0"/>
              <a:t> </a:t>
            </a:r>
            <a:r>
              <a:rPr spc="-390" dirty="0"/>
              <a:t>design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56868" y="1432535"/>
            <a:ext cx="6887528" cy="1287532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255"/>
              </a:spcBef>
              <a:buAutoNum type="arabicPeriod"/>
              <a:tabLst>
                <a:tab pos="527685" algn="l"/>
              </a:tabLst>
            </a:pPr>
            <a:r>
              <a:rPr dirty="0">
                <a:latin typeface="Microsoft Sans Serif"/>
                <a:cs typeface="Microsoft Sans Serif"/>
              </a:rPr>
              <a:t>Analyzing</a:t>
            </a:r>
            <a:r>
              <a:rPr spc="-25" dirty="0">
                <a:latin typeface="Microsoft Sans Serif"/>
                <a:cs typeface="Microsoft Sans Serif"/>
              </a:rPr>
              <a:t> </a:t>
            </a:r>
            <a:r>
              <a:rPr spc="145" dirty="0">
                <a:latin typeface="Microsoft Sans Serif"/>
                <a:cs typeface="Microsoft Sans Serif"/>
              </a:rPr>
              <a:t>the</a:t>
            </a:r>
            <a:r>
              <a:rPr spc="-40" dirty="0">
                <a:latin typeface="Microsoft Sans Serif"/>
                <a:cs typeface="Microsoft Sans Serif"/>
              </a:rPr>
              <a:t> </a:t>
            </a:r>
            <a:r>
              <a:rPr spc="75" dirty="0">
                <a:latin typeface="Microsoft Sans Serif"/>
                <a:cs typeface="Microsoft Sans Serif"/>
              </a:rPr>
              <a:t>requirements</a:t>
            </a:r>
            <a:r>
              <a:rPr spc="-30" dirty="0">
                <a:latin typeface="Microsoft Sans Serif"/>
                <a:cs typeface="Microsoft Sans Serif"/>
              </a:rPr>
              <a:t> </a:t>
            </a:r>
            <a:r>
              <a:rPr spc="225" dirty="0">
                <a:latin typeface="Microsoft Sans Serif"/>
                <a:cs typeface="Microsoft Sans Serif"/>
              </a:rPr>
              <a:t>of</a:t>
            </a:r>
            <a:r>
              <a:rPr spc="-25" dirty="0">
                <a:latin typeface="Microsoft Sans Serif"/>
                <a:cs typeface="Microsoft Sans Serif"/>
              </a:rPr>
              <a:t> </a:t>
            </a:r>
            <a:r>
              <a:rPr spc="145" dirty="0">
                <a:latin typeface="Microsoft Sans Serif"/>
                <a:cs typeface="Microsoft Sans Serif"/>
              </a:rPr>
              <a:t>the</a:t>
            </a:r>
            <a:r>
              <a:rPr spc="-2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subject</a:t>
            </a:r>
            <a:r>
              <a:rPr spc="-15" dirty="0">
                <a:latin typeface="Microsoft Sans Serif"/>
                <a:cs typeface="Microsoft Sans Serif"/>
              </a:rPr>
              <a:t> </a:t>
            </a:r>
            <a:r>
              <a:rPr spc="-20" dirty="0">
                <a:latin typeface="Microsoft Sans Serif"/>
                <a:cs typeface="Microsoft Sans Serif"/>
              </a:rPr>
              <a:t>area</a:t>
            </a:r>
            <a:endParaRPr dirty="0">
              <a:latin typeface="Microsoft Sans Serif"/>
              <a:cs typeface="Microsoft Sans Serif"/>
            </a:endParaRPr>
          </a:p>
          <a:p>
            <a:pPr marL="527685" indent="-514984">
              <a:lnSpc>
                <a:spcPct val="100000"/>
              </a:lnSpc>
              <a:spcBef>
                <a:spcPts val="1155"/>
              </a:spcBef>
              <a:buAutoNum type="arabicPeriod"/>
              <a:tabLst>
                <a:tab pos="527685" algn="l"/>
              </a:tabLst>
            </a:pPr>
            <a:r>
              <a:rPr dirty="0">
                <a:latin typeface="Microsoft Sans Serif"/>
                <a:cs typeface="Microsoft Sans Serif"/>
              </a:rPr>
              <a:t>Logical</a:t>
            </a:r>
            <a:r>
              <a:rPr spc="-70" dirty="0">
                <a:latin typeface="Microsoft Sans Serif"/>
                <a:cs typeface="Microsoft Sans Serif"/>
              </a:rPr>
              <a:t> </a:t>
            </a:r>
            <a:r>
              <a:rPr spc="90" dirty="0">
                <a:latin typeface="Microsoft Sans Serif"/>
                <a:cs typeface="Microsoft Sans Serif"/>
              </a:rPr>
              <a:t>modelling</a:t>
            </a:r>
            <a:r>
              <a:rPr spc="-75" dirty="0">
                <a:latin typeface="Microsoft Sans Serif"/>
                <a:cs typeface="Microsoft Sans Serif"/>
              </a:rPr>
              <a:t> </a:t>
            </a:r>
            <a:r>
              <a:rPr spc="225" dirty="0">
                <a:latin typeface="Microsoft Sans Serif"/>
                <a:cs typeface="Microsoft Sans Serif"/>
              </a:rPr>
              <a:t>of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spc="145" dirty="0">
                <a:latin typeface="Microsoft Sans Serif"/>
                <a:cs typeface="Microsoft Sans Serif"/>
              </a:rPr>
              <a:t>the</a:t>
            </a:r>
            <a:r>
              <a:rPr spc="-8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subject</a:t>
            </a:r>
            <a:r>
              <a:rPr spc="-5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area</a:t>
            </a:r>
            <a:r>
              <a:rPr spc="-50" dirty="0">
                <a:latin typeface="Microsoft Sans Serif"/>
                <a:cs typeface="Microsoft Sans Serif"/>
              </a:rPr>
              <a:t> </a:t>
            </a:r>
            <a:r>
              <a:rPr spc="45" dirty="0">
                <a:latin typeface="Microsoft Sans Serif"/>
                <a:cs typeface="Microsoft Sans Serif"/>
              </a:rPr>
              <a:t>data</a:t>
            </a:r>
            <a:endParaRPr dirty="0">
              <a:latin typeface="Microsoft Sans Serif"/>
              <a:cs typeface="Microsoft Sans Serif"/>
            </a:endParaRPr>
          </a:p>
          <a:p>
            <a:pPr marL="527685" indent="-514984">
              <a:lnSpc>
                <a:spcPct val="100000"/>
              </a:lnSpc>
              <a:spcBef>
                <a:spcPts val="1150"/>
              </a:spcBef>
              <a:buAutoNum type="arabicPeriod"/>
              <a:tabLst>
                <a:tab pos="527685" algn="l"/>
              </a:tabLst>
            </a:pPr>
            <a:r>
              <a:rPr spc="-35" dirty="0">
                <a:latin typeface="Microsoft Sans Serif"/>
                <a:cs typeface="Microsoft Sans Serif"/>
              </a:rPr>
              <a:t>Physical</a:t>
            </a:r>
            <a:r>
              <a:rPr spc="-9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design</a:t>
            </a:r>
            <a:r>
              <a:rPr spc="-7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and</a:t>
            </a:r>
            <a:r>
              <a:rPr spc="-80" dirty="0">
                <a:latin typeface="Microsoft Sans Serif"/>
                <a:cs typeface="Microsoft Sans Serif"/>
              </a:rPr>
              <a:t> </a:t>
            </a:r>
            <a:r>
              <a:rPr spc="60" dirty="0">
                <a:latin typeface="Microsoft Sans Serif"/>
                <a:cs typeface="Microsoft Sans Serif"/>
              </a:rPr>
              <a:t>normalization</a:t>
            </a:r>
            <a:endParaRPr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88019774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6486" y="2426843"/>
            <a:ext cx="2798372" cy="443115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610790" y="566166"/>
            <a:ext cx="14954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CEDBE6"/>
                </a:solidFill>
                <a:latin typeface="Arial"/>
                <a:cs typeface="Arial"/>
              </a:rPr>
              <a:t>30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9275" y="723181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2770">
              <a:lnSpc>
                <a:spcPct val="100000"/>
              </a:lnSpc>
              <a:spcBef>
                <a:spcPts val="105"/>
              </a:spcBef>
            </a:pPr>
            <a:r>
              <a:rPr spc="-310" dirty="0"/>
              <a:t>Logical</a:t>
            </a:r>
            <a:r>
              <a:rPr spc="-150" dirty="0"/>
              <a:t> </a:t>
            </a:r>
            <a:r>
              <a:rPr spc="-434" dirty="0"/>
              <a:t>modelling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38200" y="1828800"/>
            <a:ext cx="7832408" cy="2811796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527685" algn="l"/>
              </a:tabLst>
            </a:pPr>
            <a:r>
              <a:rPr dirty="0">
                <a:latin typeface="Microsoft Sans Serif"/>
                <a:cs typeface="Microsoft Sans Serif"/>
              </a:rPr>
              <a:t>Details</a:t>
            </a:r>
            <a:r>
              <a:rPr spc="-80" dirty="0">
                <a:latin typeface="Microsoft Sans Serif"/>
                <a:cs typeface="Microsoft Sans Serif"/>
              </a:rPr>
              <a:t> </a:t>
            </a:r>
            <a:r>
              <a:rPr spc="135" dirty="0">
                <a:latin typeface="Microsoft Sans Serif"/>
                <a:cs typeface="Microsoft Sans Serif"/>
              </a:rPr>
              <a:t>the</a:t>
            </a:r>
            <a:r>
              <a:rPr spc="-75" dirty="0">
                <a:latin typeface="Microsoft Sans Serif"/>
                <a:cs typeface="Microsoft Sans Serif"/>
              </a:rPr>
              <a:t> </a:t>
            </a:r>
            <a:r>
              <a:rPr spc="55" dirty="0">
                <a:latin typeface="Microsoft Sans Serif"/>
                <a:cs typeface="Microsoft Sans Serif"/>
              </a:rPr>
              <a:t>conceptual</a:t>
            </a:r>
            <a:r>
              <a:rPr spc="-80" dirty="0">
                <a:latin typeface="Microsoft Sans Serif"/>
                <a:cs typeface="Microsoft Sans Serif"/>
              </a:rPr>
              <a:t> </a:t>
            </a:r>
            <a:r>
              <a:rPr spc="80" dirty="0">
                <a:latin typeface="Microsoft Sans Serif"/>
                <a:cs typeface="Microsoft Sans Serif"/>
              </a:rPr>
              <a:t>model</a:t>
            </a:r>
            <a:r>
              <a:rPr spc="-65" dirty="0">
                <a:latin typeface="Microsoft Sans Serif"/>
                <a:cs typeface="Microsoft Sans Serif"/>
              </a:rPr>
              <a:t> </a:t>
            </a:r>
            <a:r>
              <a:rPr spc="210" dirty="0">
                <a:latin typeface="Microsoft Sans Serif"/>
                <a:cs typeface="Microsoft Sans Serif"/>
              </a:rPr>
              <a:t>of</a:t>
            </a:r>
            <a:r>
              <a:rPr spc="-60" dirty="0">
                <a:latin typeface="Microsoft Sans Serif"/>
                <a:cs typeface="Microsoft Sans Serif"/>
              </a:rPr>
              <a:t> </a:t>
            </a:r>
            <a:r>
              <a:rPr spc="135" dirty="0">
                <a:latin typeface="Microsoft Sans Serif"/>
                <a:cs typeface="Microsoft Sans Serif"/>
              </a:rPr>
              <a:t>the</a:t>
            </a:r>
            <a:r>
              <a:rPr spc="-7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database</a:t>
            </a:r>
            <a:endParaRPr dirty="0">
              <a:latin typeface="Microsoft Sans Serif"/>
              <a:cs typeface="Microsoft Sans Serif"/>
            </a:endParaRPr>
          </a:p>
          <a:p>
            <a:pPr marL="527685" marR="5080" indent="-515620">
              <a:lnSpc>
                <a:spcPct val="130000"/>
              </a:lnSpc>
              <a:buAutoNum type="arabicPeriod"/>
              <a:tabLst>
                <a:tab pos="527685" algn="l"/>
                <a:tab pos="2319655" algn="l"/>
                <a:tab pos="3827779" algn="l"/>
                <a:tab pos="5264785" algn="l"/>
                <a:tab pos="7009765" algn="l"/>
                <a:tab pos="9346565" algn="l"/>
                <a:tab pos="9846310" algn="l"/>
              </a:tabLst>
            </a:pPr>
            <a:r>
              <a:rPr spc="130" dirty="0">
                <a:latin typeface="Microsoft Sans Serif"/>
                <a:cs typeface="Microsoft Sans Serif"/>
              </a:rPr>
              <a:t>Different</a:t>
            </a:r>
            <a:r>
              <a:rPr dirty="0">
                <a:latin typeface="Microsoft Sans Serif"/>
                <a:cs typeface="Microsoft Sans Serif"/>
              </a:rPr>
              <a:t>	</a:t>
            </a:r>
            <a:r>
              <a:rPr spc="-10" dirty="0">
                <a:latin typeface="Microsoft Sans Serif"/>
                <a:cs typeface="Microsoft Sans Serif"/>
              </a:rPr>
              <a:t>sources</a:t>
            </a:r>
            <a:r>
              <a:rPr dirty="0">
                <a:latin typeface="Microsoft Sans Serif"/>
                <a:cs typeface="Microsoft Sans Serif"/>
              </a:rPr>
              <a:t>	</a:t>
            </a:r>
            <a:r>
              <a:rPr spc="-10" dirty="0">
                <a:latin typeface="Microsoft Sans Serif"/>
                <a:cs typeface="Microsoft Sans Serif"/>
              </a:rPr>
              <a:t>include</a:t>
            </a:r>
            <a:r>
              <a:rPr dirty="0">
                <a:latin typeface="Microsoft Sans Serif"/>
                <a:cs typeface="Microsoft Sans Serif"/>
              </a:rPr>
              <a:t>	</a:t>
            </a:r>
            <a:r>
              <a:rPr spc="140" dirty="0">
                <a:latin typeface="Microsoft Sans Serif"/>
                <a:cs typeface="Microsoft Sans Serif"/>
              </a:rPr>
              <a:t>different</a:t>
            </a:r>
            <a:r>
              <a:rPr dirty="0">
                <a:latin typeface="Microsoft Sans Serif"/>
                <a:cs typeface="Microsoft Sans Serif"/>
              </a:rPr>
              <a:t>	</a:t>
            </a:r>
            <a:r>
              <a:rPr spc="45" dirty="0">
                <a:latin typeface="Microsoft Sans Serif"/>
                <a:cs typeface="Microsoft Sans Serif"/>
              </a:rPr>
              <a:t>components</a:t>
            </a:r>
            <a:r>
              <a:rPr dirty="0">
                <a:latin typeface="Microsoft Sans Serif"/>
                <a:cs typeface="Microsoft Sans Serif"/>
              </a:rPr>
              <a:t>	</a:t>
            </a:r>
            <a:r>
              <a:rPr spc="30" dirty="0">
                <a:latin typeface="Microsoft Sans Serif"/>
                <a:cs typeface="Microsoft Sans Serif"/>
              </a:rPr>
              <a:t>in</a:t>
            </a:r>
            <a:r>
              <a:rPr dirty="0">
                <a:latin typeface="Microsoft Sans Serif"/>
                <a:cs typeface="Microsoft Sans Serif"/>
              </a:rPr>
              <a:t>	</a:t>
            </a:r>
            <a:r>
              <a:rPr spc="110" dirty="0">
                <a:latin typeface="Microsoft Sans Serif"/>
                <a:cs typeface="Microsoft Sans Serif"/>
              </a:rPr>
              <a:t>the </a:t>
            </a:r>
            <a:r>
              <a:rPr dirty="0">
                <a:latin typeface="Microsoft Sans Serif"/>
                <a:cs typeface="Microsoft Sans Serif"/>
              </a:rPr>
              <a:t>logical</a:t>
            </a:r>
            <a:r>
              <a:rPr spc="195" dirty="0">
                <a:latin typeface="Microsoft Sans Serif"/>
                <a:cs typeface="Microsoft Sans Serif"/>
              </a:rPr>
              <a:t> </a:t>
            </a:r>
            <a:r>
              <a:rPr spc="70" dirty="0">
                <a:latin typeface="Microsoft Sans Serif"/>
                <a:cs typeface="Microsoft Sans Serif"/>
              </a:rPr>
              <a:t>model</a:t>
            </a:r>
            <a:endParaRPr dirty="0">
              <a:latin typeface="Microsoft Sans Serif"/>
              <a:cs typeface="Microsoft Sans Serif"/>
            </a:endParaRPr>
          </a:p>
          <a:p>
            <a:pPr marL="527685" indent="-514984">
              <a:lnSpc>
                <a:spcPct val="100000"/>
              </a:lnSpc>
              <a:spcBef>
                <a:spcPts val="1085"/>
              </a:spcBef>
              <a:buAutoNum type="arabicPeriod"/>
              <a:tabLst>
                <a:tab pos="527685" algn="l"/>
              </a:tabLst>
            </a:pPr>
            <a:r>
              <a:rPr dirty="0">
                <a:latin typeface="Microsoft Sans Serif"/>
                <a:cs typeface="Microsoft Sans Serif"/>
              </a:rPr>
              <a:t>Fully</a:t>
            </a:r>
            <a:r>
              <a:rPr spc="-7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describes</a:t>
            </a:r>
            <a:r>
              <a:rPr spc="-95" dirty="0">
                <a:latin typeface="Microsoft Sans Serif"/>
                <a:cs typeface="Microsoft Sans Serif"/>
              </a:rPr>
              <a:t> </a:t>
            </a:r>
            <a:r>
              <a:rPr spc="50" dirty="0">
                <a:latin typeface="Microsoft Sans Serif"/>
                <a:cs typeface="Microsoft Sans Serif"/>
              </a:rPr>
              <a:t>all</a:t>
            </a:r>
            <a:r>
              <a:rPr spc="-80" dirty="0">
                <a:latin typeface="Microsoft Sans Serif"/>
                <a:cs typeface="Microsoft Sans Serif"/>
              </a:rPr>
              <a:t> </a:t>
            </a:r>
            <a:r>
              <a:rPr spc="-20" dirty="0">
                <a:latin typeface="Microsoft Sans Serif"/>
                <a:cs typeface="Microsoft Sans Serif"/>
              </a:rPr>
              <a:t>keys</a:t>
            </a:r>
            <a:endParaRPr dirty="0">
              <a:latin typeface="Microsoft Sans Serif"/>
              <a:cs typeface="Microsoft Sans Serif"/>
            </a:endParaRPr>
          </a:p>
          <a:p>
            <a:pPr marL="527685" indent="-514984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527685" algn="l"/>
              </a:tabLst>
            </a:pPr>
            <a:r>
              <a:rPr spc="55" dirty="0">
                <a:latin typeface="Microsoft Sans Serif"/>
                <a:cs typeface="Microsoft Sans Serif"/>
              </a:rPr>
              <a:t>Completely</a:t>
            </a:r>
            <a:r>
              <a:rPr spc="-105" dirty="0">
                <a:latin typeface="Microsoft Sans Serif"/>
                <a:cs typeface="Microsoft Sans Serif"/>
              </a:rPr>
              <a:t> </a:t>
            </a:r>
            <a:r>
              <a:rPr spc="55" dirty="0">
                <a:latin typeface="Microsoft Sans Serif"/>
                <a:cs typeface="Microsoft Sans Serif"/>
              </a:rPr>
              <a:t>defines</a:t>
            </a:r>
            <a:r>
              <a:rPr spc="-105" dirty="0">
                <a:latin typeface="Microsoft Sans Serif"/>
                <a:cs typeface="Microsoft Sans Serif"/>
              </a:rPr>
              <a:t> </a:t>
            </a:r>
            <a:r>
              <a:rPr spc="70" dirty="0">
                <a:latin typeface="Microsoft Sans Serif"/>
                <a:cs typeface="Microsoft Sans Serif"/>
              </a:rPr>
              <a:t>data</a:t>
            </a:r>
            <a:r>
              <a:rPr spc="-130" dirty="0">
                <a:latin typeface="Microsoft Sans Serif"/>
                <a:cs typeface="Microsoft Sans Serif"/>
              </a:rPr>
              <a:t> </a:t>
            </a:r>
            <a:r>
              <a:rPr spc="45" dirty="0">
                <a:latin typeface="Microsoft Sans Serif"/>
                <a:cs typeface="Microsoft Sans Serif"/>
              </a:rPr>
              <a:t>types</a:t>
            </a:r>
            <a:endParaRPr dirty="0">
              <a:latin typeface="Microsoft Sans Serif"/>
              <a:cs typeface="Microsoft Sans Serif"/>
            </a:endParaRPr>
          </a:p>
          <a:p>
            <a:pPr marL="527685" indent="-514984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527685" algn="l"/>
              </a:tabLst>
            </a:pPr>
            <a:r>
              <a:rPr spc="-10" dirty="0">
                <a:latin typeface="Microsoft Sans Serif"/>
                <a:cs typeface="Microsoft Sans Serif"/>
              </a:rPr>
              <a:t>Describes</a:t>
            </a:r>
            <a:r>
              <a:rPr spc="-2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logical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45" dirty="0">
                <a:latin typeface="Microsoft Sans Serif"/>
                <a:cs typeface="Microsoft Sans Serif"/>
              </a:rPr>
              <a:t>constraints</a:t>
            </a:r>
            <a:endParaRPr dirty="0">
              <a:latin typeface="Microsoft Sans Serif"/>
              <a:cs typeface="Microsoft Sans Serif"/>
            </a:endParaRPr>
          </a:p>
          <a:p>
            <a:pPr marL="527685" indent="-514984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527685" algn="l"/>
              </a:tabLst>
            </a:pPr>
            <a:r>
              <a:rPr spc="60" dirty="0">
                <a:latin typeface="Microsoft Sans Serif"/>
                <a:cs typeface="Microsoft Sans Serif"/>
              </a:rPr>
              <a:t>Normalization</a:t>
            </a:r>
            <a:r>
              <a:rPr spc="-95" dirty="0">
                <a:latin typeface="Microsoft Sans Serif"/>
                <a:cs typeface="Microsoft Sans Serif"/>
              </a:rPr>
              <a:t> </a:t>
            </a:r>
            <a:r>
              <a:rPr spc="215" dirty="0">
                <a:latin typeface="Microsoft Sans Serif"/>
                <a:cs typeface="Microsoft Sans Serif"/>
              </a:rPr>
              <a:t>of</a:t>
            </a:r>
            <a:r>
              <a:rPr spc="-80" dirty="0">
                <a:latin typeface="Microsoft Sans Serif"/>
                <a:cs typeface="Microsoft Sans Serif"/>
              </a:rPr>
              <a:t> </a:t>
            </a:r>
            <a:r>
              <a:rPr spc="65" dirty="0">
                <a:latin typeface="Microsoft Sans Serif"/>
                <a:cs typeface="Microsoft Sans Serif"/>
              </a:rPr>
              <a:t>relations</a:t>
            </a:r>
            <a:r>
              <a:rPr spc="-9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usually</a:t>
            </a:r>
            <a:r>
              <a:rPr spc="-85" dirty="0">
                <a:latin typeface="Microsoft Sans Serif"/>
                <a:cs typeface="Microsoft Sans Serif"/>
              </a:rPr>
              <a:t> </a:t>
            </a:r>
            <a:r>
              <a:rPr spc="240" dirty="0">
                <a:latin typeface="Microsoft Sans Serif"/>
                <a:cs typeface="Microsoft Sans Serif"/>
              </a:rPr>
              <a:t>to</a:t>
            </a:r>
            <a:r>
              <a:rPr spc="-90" dirty="0">
                <a:latin typeface="Microsoft Sans Serif"/>
                <a:cs typeface="Microsoft Sans Serif"/>
              </a:rPr>
              <a:t> </a:t>
            </a:r>
            <a:r>
              <a:rPr spc="-25" dirty="0">
                <a:latin typeface="Microsoft Sans Serif"/>
                <a:cs typeface="Microsoft Sans Serif"/>
              </a:rPr>
              <a:t>3NF</a:t>
            </a:r>
            <a:endParaRPr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71838889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6486" y="2426843"/>
            <a:ext cx="2798372" cy="443115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610790" y="566166"/>
            <a:ext cx="14954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CEDBE6"/>
                </a:solidFill>
                <a:latin typeface="Arial"/>
                <a:cs typeface="Arial"/>
              </a:rPr>
              <a:t>31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9275" y="15295"/>
            <a:ext cx="8042276" cy="142923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0" dirty="0"/>
              <a:t>Physical</a:t>
            </a:r>
            <a:r>
              <a:rPr spc="-145" dirty="0"/>
              <a:t> </a:t>
            </a:r>
            <a:r>
              <a:rPr spc="-380" dirty="0"/>
              <a:t>design</a:t>
            </a:r>
            <a:r>
              <a:rPr spc="-145" dirty="0"/>
              <a:t> </a:t>
            </a:r>
            <a:r>
              <a:rPr spc="-245" dirty="0"/>
              <a:t>and</a:t>
            </a:r>
            <a:r>
              <a:rPr spc="-140" dirty="0"/>
              <a:t> </a:t>
            </a:r>
            <a:r>
              <a:rPr spc="-385" dirty="0"/>
              <a:t>normalization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24223" y="1685519"/>
            <a:ext cx="5988844" cy="2291012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255"/>
              </a:spcBef>
              <a:buAutoNum type="arabicPeriod"/>
              <a:tabLst>
                <a:tab pos="527685" algn="l"/>
              </a:tabLst>
            </a:pPr>
            <a:r>
              <a:rPr sz="2000" dirty="0">
                <a:latin typeface="Microsoft Sans Serif"/>
                <a:cs typeface="Microsoft Sans Serif"/>
              </a:rPr>
              <a:t>Selecting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10" dirty="0">
                <a:latin typeface="Microsoft Sans Serif"/>
                <a:cs typeface="Microsoft Sans Serif"/>
              </a:rPr>
              <a:t>a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specific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DBMS</a:t>
            </a:r>
            <a:endParaRPr sz="2000" dirty="0">
              <a:latin typeface="Microsoft Sans Serif"/>
              <a:cs typeface="Microsoft Sans Serif"/>
            </a:endParaRPr>
          </a:p>
          <a:p>
            <a:pPr marL="527685" indent="-514984">
              <a:lnSpc>
                <a:spcPct val="100000"/>
              </a:lnSpc>
              <a:spcBef>
                <a:spcPts val="1155"/>
              </a:spcBef>
              <a:buAutoNum type="arabicPeriod"/>
              <a:tabLst>
                <a:tab pos="527685" algn="l"/>
              </a:tabLst>
            </a:pPr>
            <a:r>
              <a:rPr sz="2000" spc="85" dirty="0">
                <a:latin typeface="Microsoft Sans Serif"/>
                <a:cs typeface="Microsoft Sans Serif"/>
              </a:rPr>
              <a:t>Defining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65" dirty="0">
                <a:latin typeface="Microsoft Sans Serif"/>
                <a:cs typeface="Microsoft Sans Serif"/>
              </a:rPr>
              <a:t>data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spc="50" dirty="0">
                <a:latin typeface="Microsoft Sans Serif"/>
                <a:cs typeface="Microsoft Sans Serif"/>
              </a:rPr>
              <a:t>types</a:t>
            </a:r>
            <a:endParaRPr sz="2000" dirty="0">
              <a:latin typeface="Microsoft Sans Serif"/>
              <a:cs typeface="Microsoft Sans Serif"/>
            </a:endParaRPr>
          </a:p>
          <a:p>
            <a:pPr marL="527685" indent="-514984">
              <a:lnSpc>
                <a:spcPct val="100000"/>
              </a:lnSpc>
              <a:spcBef>
                <a:spcPts val="1150"/>
              </a:spcBef>
              <a:buAutoNum type="arabicPeriod"/>
              <a:tabLst>
                <a:tab pos="527685" algn="l"/>
              </a:tabLst>
            </a:pPr>
            <a:r>
              <a:rPr sz="2000" spc="85" dirty="0">
                <a:latin typeface="Microsoft Sans Serif"/>
                <a:cs typeface="Microsoft Sans Serif"/>
              </a:rPr>
              <a:t>Defining</a:t>
            </a:r>
            <a:r>
              <a:rPr sz="2000" spc="-9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indexes</a:t>
            </a:r>
            <a:endParaRPr sz="2000" dirty="0">
              <a:latin typeface="Microsoft Sans Serif"/>
              <a:cs typeface="Microsoft Sans Serif"/>
            </a:endParaRPr>
          </a:p>
          <a:p>
            <a:pPr marL="527685" indent="-514984">
              <a:lnSpc>
                <a:spcPct val="100000"/>
              </a:lnSpc>
              <a:spcBef>
                <a:spcPts val="1155"/>
              </a:spcBef>
              <a:buAutoNum type="arabicPeriod"/>
              <a:tabLst>
                <a:tab pos="527685" algn="l"/>
              </a:tabLst>
            </a:pPr>
            <a:r>
              <a:rPr sz="2000" spc="-10" dirty="0">
                <a:latin typeface="Microsoft Sans Serif"/>
                <a:cs typeface="Microsoft Sans Serif"/>
              </a:rPr>
              <a:t>Possible</a:t>
            </a:r>
            <a:r>
              <a:rPr sz="2000" spc="-125" dirty="0">
                <a:latin typeface="Microsoft Sans Serif"/>
                <a:cs typeface="Microsoft Sans Serif"/>
              </a:rPr>
              <a:t> </a:t>
            </a:r>
            <a:r>
              <a:rPr sz="2000" spc="125" dirty="0">
                <a:latin typeface="Microsoft Sans Serif"/>
                <a:cs typeface="Microsoft Sans Serif"/>
              </a:rPr>
              <a:t>definition</a:t>
            </a:r>
            <a:r>
              <a:rPr sz="2000" spc="-130" dirty="0">
                <a:latin typeface="Microsoft Sans Serif"/>
                <a:cs typeface="Microsoft Sans Serif"/>
              </a:rPr>
              <a:t> </a:t>
            </a:r>
            <a:r>
              <a:rPr sz="2000" spc="225" dirty="0">
                <a:latin typeface="Microsoft Sans Serif"/>
                <a:cs typeface="Microsoft Sans Serif"/>
              </a:rPr>
              <a:t>of</a:t>
            </a:r>
            <a:r>
              <a:rPr sz="2000" spc="-1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views</a:t>
            </a:r>
            <a:endParaRPr sz="2000" dirty="0">
              <a:latin typeface="Microsoft Sans Serif"/>
              <a:cs typeface="Microsoft Sans Serif"/>
            </a:endParaRPr>
          </a:p>
          <a:p>
            <a:pPr marL="527685" indent="-514984">
              <a:lnSpc>
                <a:spcPct val="100000"/>
              </a:lnSpc>
              <a:spcBef>
                <a:spcPts val="1150"/>
              </a:spcBef>
              <a:buAutoNum type="arabicPeriod"/>
              <a:tabLst>
                <a:tab pos="527685" algn="l"/>
              </a:tabLst>
            </a:pPr>
            <a:r>
              <a:rPr sz="2000" spc="120" dirty="0">
                <a:latin typeface="Microsoft Sans Serif"/>
                <a:cs typeface="Microsoft Sans Serif"/>
              </a:rPr>
              <a:t>Definition</a:t>
            </a:r>
            <a:r>
              <a:rPr sz="2000" spc="-90" dirty="0">
                <a:latin typeface="Microsoft Sans Serif"/>
                <a:cs typeface="Microsoft Sans Serif"/>
              </a:rPr>
              <a:t> </a:t>
            </a:r>
            <a:r>
              <a:rPr sz="2000" spc="225" dirty="0">
                <a:latin typeface="Microsoft Sans Serif"/>
                <a:cs typeface="Microsoft Sans Serif"/>
              </a:rPr>
              <a:t>of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-125" dirty="0">
                <a:latin typeface="Microsoft Sans Serif"/>
                <a:cs typeface="Microsoft Sans Serif"/>
              </a:rPr>
              <a:t>access</a:t>
            </a:r>
            <a:r>
              <a:rPr sz="2000" spc="-90" dirty="0">
                <a:latin typeface="Microsoft Sans Serif"/>
                <a:cs typeface="Microsoft Sans Serif"/>
              </a:rPr>
              <a:t> </a:t>
            </a:r>
            <a:r>
              <a:rPr sz="2000" spc="105" dirty="0">
                <a:latin typeface="Microsoft Sans Serif"/>
                <a:cs typeface="Microsoft Sans Serif"/>
              </a:rPr>
              <a:t>restriction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(security)</a:t>
            </a:r>
            <a:endParaRPr sz="20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10675354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94168" y="1590676"/>
            <a:ext cx="4751070" cy="5267325"/>
            <a:chOff x="5858890" y="1590675"/>
            <a:chExt cx="6334760" cy="52673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61980" y="2426842"/>
              <a:ext cx="3731162" cy="443115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58890" y="1590675"/>
              <a:ext cx="5935345" cy="4304284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8610790" y="566166"/>
            <a:ext cx="14954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CEDBE6"/>
                </a:solidFill>
                <a:latin typeface="Arial"/>
                <a:cs typeface="Arial"/>
              </a:rPr>
              <a:t>32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3400" y="457200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05"/>
              </a:spcBef>
            </a:pPr>
            <a:r>
              <a:rPr spc="-484" dirty="0"/>
              <a:t>ER(Entity</a:t>
            </a:r>
            <a:r>
              <a:rPr spc="-135" dirty="0"/>
              <a:t> </a:t>
            </a:r>
            <a:r>
              <a:rPr spc="-325" dirty="0"/>
              <a:t>relationship)</a:t>
            </a:r>
            <a:r>
              <a:rPr spc="-140" dirty="0"/>
              <a:t> </a:t>
            </a:r>
            <a:r>
              <a:rPr spc="-425" dirty="0"/>
              <a:t>diagrams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12520" y="1441983"/>
            <a:ext cx="3310414" cy="256224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110"/>
              </a:spcBef>
              <a:buAutoNum type="arabicPeriod"/>
              <a:tabLst>
                <a:tab pos="527685" algn="l"/>
              </a:tabLst>
            </a:pPr>
            <a:r>
              <a:rPr sz="2000" spc="-10" dirty="0">
                <a:latin typeface="Microsoft Sans Serif"/>
                <a:cs typeface="Microsoft Sans Serif"/>
              </a:rPr>
              <a:t>Paid</a:t>
            </a:r>
            <a:r>
              <a:rPr sz="2000" spc="-110" dirty="0">
                <a:latin typeface="Microsoft Sans Serif"/>
                <a:cs typeface="Microsoft Sans Serif"/>
              </a:rPr>
              <a:t> </a:t>
            </a:r>
            <a:r>
              <a:rPr sz="2000" spc="95" dirty="0">
                <a:latin typeface="Microsoft Sans Serif"/>
                <a:cs typeface="Microsoft Sans Serif"/>
              </a:rPr>
              <a:t>tools</a:t>
            </a:r>
            <a:r>
              <a:rPr sz="2000" spc="-120" dirty="0">
                <a:latin typeface="Microsoft Sans Serif"/>
                <a:cs typeface="Microsoft Sans Serif"/>
              </a:rPr>
              <a:t> </a:t>
            </a:r>
            <a:r>
              <a:rPr sz="2000" spc="170" dirty="0">
                <a:latin typeface="Microsoft Sans Serif"/>
                <a:cs typeface="Microsoft Sans Serif"/>
              </a:rPr>
              <a:t>for</a:t>
            </a:r>
            <a:r>
              <a:rPr sz="2000" spc="-120" dirty="0">
                <a:latin typeface="Microsoft Sans Serif"/>
                <a:cs typeface="Microsoft Sans Serif"/>
              </a:rPr>
              <a:t> </a:t>
            </a:r>
            <a:r>
              <a:rPr sz="2000" spc="55" dirty="0">
                <a:latin typeface="Microsoft Sans Serif"/>
                <a:cs typeface="Microsoft Sans Serif"/>
              </a:rPr>
              <a:t>modelling</a:t>
            </a:r>
            <a:endParaRPr sz="2000" dirty="0">
              <a:latin typeface="Microsoft Sans Serif"/>
              <a:cs typeface="Microsoft Sans Serif"/>
            </a:endParaRPr>
          </a:p>
          <a:p>
            <a:pPr marL="527685" indent="-514984">
              <a:lnSpc>
                <a:spcPct val="100000"/>
              </a:lnSpc>
              <a:spcBef>
                <a:spcPts val="1010"/>
              </a:spcBef>
              <a:buAutoNum type="arabicPeriod"/>
              <a:tabLst>
                <a:tab pos="527685" algn="l"/>
              </a:tabLst>
            </a:pPr>
            <a:r>
              <a:rPr sz="2000" spc="-95" dirty="0">
                <a:latin typeface="Microsoft Sans Serif"/>
                <a:cs typeface="Microsoft Sans Serif"/>
              </a:rPr>
              <a:t>MySQL</a:t>
            </a:r>
            <a:r>
              <a:rPr sz="2000" spc="-9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Workbench</a:t>
            </a:r>
            <a:endParaRPr sz="2000" dirty="0">
              <a:latin typeface="Microsoft Sans Serif"/>
              <a:cs typeface="Microsoft Sans Serif"/>
            </a:endParaRPr>
          </a:p>
          <a:p>
            <a:pPr marL="527685" marR="5080" indent="-515620">
              <a:lnSpc>
                <a:spcPct val="130000"/>
              </a:lnSpc>
              <a:buAutoNum type="arabicPeriod"/>
              <a:tabLst>
                <a:tab pos="527685" algn="l"/>
              </a:tabLst>
            </a:pPr>
            <a:r>
              <a:rPr sz="2000" spc="-120" dirty="0">
                <a:latin typeface="Microsoft Sans Serif"/>
                <a:cs typeface="Microsoft Sans Serif"/>
              </a:rPr>
              <a:t>ORACLE</a:t>
            </a:r>
            <a:r>
              <a:rPr sz="2000" spc="-70" dirty="0">
                <a:latin typeface="Microsoft Sans Serif"/>
                <a:cs typeface="Microsoft Sans Serif"/>
              </a:rPr>
              <a:t> </a:t>
            </a:r>
            <a:r>
              <a:rPr sz="2000" spc="-65" dirty="0">
                <a:latin typeface="Microsoft Sans Serif"/>
                <a:cs typeface="Microsoft Sans Serif"/>
              </a:rPr>
              <a:t>SQL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40" dirty="0">
                <a:latin typeface="Microsoft Sans Serif"/>
                <a:cs typeface="Microsoft Sans Serif"/>
              </a:rPr>
              <a:t>developer </a:t>
            </a:r>
            <a:r>
              <a:rPr sz="2000" dirty="0">
                <a:latin typeface="Microsoft Sans Serif"/>
                <a:cs typeface="Microsoft Sans Serif"/>
              </a:rPr>
              <a:t>Data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50" dirty="0">
                <a:latin typeface="Microsoft Sans Serif"/>
                <a:cs typeface="Microsoft Sans Serif"/>
              </a:rPr>
              <a:t>Modeler</a:t>
            </a:r>
            <a:endParaRPr sz="2000" dirty="0">
              <a:latin typeface="Microsoft Sans Serif"/>
              <a:cs typeface="Microsoft Sans Serif"/>
            </a:endParaRPr>
          </a:p>
          <a:p>
            <a:pPr marL="527685" indent="-514984">
              <a:lnSpc>
                <a:spcPct val="100000"/>
              </a:lnSpc>
              <a:spcBef>
                <a:spcPts val="1010"/>
              </a:spcBef>
              <a:buAutoNum type="arabicPeriod"/>
              <a:tabLst>
                <a:tab pos="527685" algn="l"/>
              </a:tabLst>
            </a:pPr>
            <a:r>
              <a:rPr sz="2000" spc="60" dirty="0">
                <a:latin typeface="Microsoft Sans Serif"/>
                <a:cs typeface="Microsoft Sans Serif"/>
              </a:rPr>
              <a:t>pgModeler</a:t>
            </a:r>
            <a:endParaRPr sz="2000" dirty="0">
              <a:latin typeface="Microsoft Sans Serif"/>
              <a:cs typeface="Microsoft Sans Serif"/>
            </a:endParaRPr>
          </a:p>
          <a:p>
            <a:pPr marL="527685" indent="-514984">
              <a:lnSpc>
                <a:spcPct val="100000"/>
              </a:lnSpc>
              <a:spcBef>
                <a:spcPts val="1010"/>
              </a:spcBef>
              <a:buAutoNum type="arabicPeriod"/>
              <a:tabLst>
                <a:tab pos="527685" algn="l"/>
              </a:tabLst>
            </a:pPr>
            <a:r>
              <a:rPr sz="2000" spc="-175" dirty="0">
                <a:latin typeface="Microsoft Sans Serif"/>
                <a:cs typeface="Microsoft Sans Serif"/>
              </a:rPr>
              <a:t>SQL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spc="80" dirty="0">
                <a:latin typeface="Microsoft Sans Serif"/>
                <a:cs typeface="Microsoft Sans Serif"/>
              </a:rPr>
              <a:t>power</a:t>
            </a:r>
            <a:r>
              <a:rPr sz="2000" spc="-70" dirty="0">
                <a:latin typeface="Microsoft Sans Serif"/>
                <a:cs typeface="Microsoft Sans Serif"/>
              </a:rPr>
              <a:t> </a:t>
            </a:r>
            <a:r>
              <a:rPr sz="2000" spc="60" dirty="0">
                <a:latin typeface="Microsoft Sans Serif"/>
                <a:cs typeface="Microsoft Sans Serif"/>
              </a:rPr>
              <a:t>Architect</a:t>
            </a:r>
            <a:endParaRPr sz="20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96537709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6486" y="2426843"/>
            <a:ext cx="2798372" cy="443115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610790" y="566166"/>
            <a:ext cx="14954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CEDBE6"/>
                </a:solidFill>
                <a:latin typeface="Arial"/>
                <a:cs typeface="Arial"/>
              </a:rPr>
              <a:t>33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9275" y="723181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57655">
              <a:lnSpc>
                <a:spcPct val="100000"/>
              </a:lnSpc>
              <a:spcBef>
                <a:spcPts val="105"/>
              </a:spcBef>
            </a:pPr>
            <a:r>
              <a:rPr spc="-430" dirty="0"/>
              <a:t>Basic</a:t>
            </a:r>
            <a:r>
              <a:rPr spc="-140" dirty="0"/>
              <a:t> </a:t>
            </a:r>
            <a:r>
              <a:rPr spc="-670" dirty="0"/>
              <a:t>DB</a:t>
            </a:r>
            <a:r>
              <a:rPr spc="-125" dirty="0"/>
              <a:t> </a:t>
            </a:r>
            <a:r>
              <a:rPr spc="-380" dirty="0"/>
              <a:t>design</a:t>
            </a:r>
            <a:r>
              <a:rPr spc="-150" dirty="0"/>
              <a:t> </a:t>
            </a:r>
            <a:r>
              <a:rPr spc="-434" dirty="0"/>
              <a:t>tips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549275" y="1600201"/>
            <a:ext cx="8042276" cy="2759089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110"/>
              </a:spcBef>
              <a:buAutoNum type="arabicPeriod"/>
              <a:tabLst>
                <a:tab pos="527685" algn="l"/>
              </a:tabLst>
            </a:pPr>
            <a:r>
              <a:rPr sz="1800" spc="-20" dirty="0"/>
              <a:t>Table:</a:t>
            </a:r>
            <a:r>
              <a:rPr sz="1800" spc="-100" dirty="0"/>
              <a:t> </a:t>
            </a:r>
            <a:r>
              <a:rPr sz="1800" spc="50" dirty="0"/>
              <a:t>object,</a:t>
            </a:r>
            <a:r>
              <a:rPr sz="1800" spc="-90" dirty="0"/>
              <a:t> </a:t>
            </a:r>
            <a:r>
              <a:rPr sz="1800" spc="50" dirty="0"/>
              <a:t>event,</a:t>
            </a:r>
            <a:r>
              <a:rPr sz="1800" spc="-95" dirty="0"/>
              <a:t> </a:t>
            </a:r>
            <a:r>
              <a:rPr sz="1800" spc="40" dirty="0"/>
              <a:t>abstraction</a:t>
            </a:r>
          </a:p>
          <a:p>
            <a:pPr marL="527685" indent="-514984">
              <a:lnSpc>
                <a:spcPct val="100000"/>
              </a:lnSpc>
              <a:spcBef>
                <a:spcPts val="1010"/>
              </a:spcBef>
              <a:buAutoNum type="arabicPeriod"/>
              <a:tabLst>
                <a:tab pos="527685" algn="l"/>
              </a:tabLst>
            </a:pPr>
            <a:r>
              <a:rPr sz="1800" dirty="0"/>
              <a:t>Field</a:t>
            </a:r>
            <a:r>
              <a:rPr sz="1800" spc="-70" dirty="0"/>
              <a:t> </a:t>
            </a:r>
            <a:r>
              <a:rPr sz="1800" dirty="0"/>
              <a:t>(column):</a:t>
            </a:r>
            <a:r>
              <a:rPr sz="1800" spc="-30" dirty="0"/>
              <a:t> </a:t>
            </a:r>
            <a:r>
              <a:rPr sz="1800" spc="105" dirty="0"/>
              <a:t>property</a:t>
            </a:r>
            <a:r>
              <a:rPr sz="1800" spc="-75" dirty="0"/>
              <a:t> </a:t>
            </a:r>
            <a:r>
              <a:rPr sz="1800" spc="180" dirty="0"/>
              <a:t>of</a:t>
            </a:r>
            <a:r>
              <a:rPr sz="1800" spc="-75" dirty="0"/>
              <a:t> </a:t>
            </a:r>
            <a:r>
              <a:rPr sz="1800" spc="114" dirty="0"/>
              <a:t>the</a:t>
            </a:r>
            <a:r>
              <a:rPr sz="1800" spc="-65" dirty="0"/>
              <a:t> </a:t>
            </a:r>
            <a:r>
              <a:rPr sz="1800" spc="40" dirty="0"/>
              <a:t>object.</a:t>
            </a:r>
          </a:p>
          <a:p>
            <a:pPr marL="527685" indent="-514984">
              <a:lnSpc>
                <a:spcPct val="100000"/>
              </a:lnSpc>
              <a:spcBef>
                <a:spcPts val="1010"/>
              </a:spcBef>
              <a:buAutoNum type="arabicPeriod"/>
              <a:tabLst>
                <a:tab pos="527685" algn="l"/>
              </a:tabLst>
            </a:pPr>
            <a:r>
              <a:rPr sz="1800" dirty="0"/>
              <a:t>Record</a:t>
            </a:r>
            <a:r>
              <a:rPr sz="1800" spc="-85" dirty="0"/>
              <a:t> </a:t>
            </a:r>
            <a:r>
              <a:rPr sz="1800" dirty="0"/>
              <a:t>(row):</a:t>
            </a:r>
            <a:r>
              <a:rPr sz="1800" spc="-50" dirty="0"/>
              <a:t> </a:t>
            </a:r>
            <a:r>
              <a:rPr sz="1800" spc="-114" dirty="0"/>
              <a:t>a</a:t>
            </a:r>
            <a:r>
              <a:rPr sz="1800" spc="-80" dirty="0"/>
              <a:t> </a:t>
            </a:r>
            <a:r>
              <a:rPr sz="1800" spc="60" dirty="0"/>
              <a:t>set</a:t>
            </a:r>
            <a:r>
              <a:rPr sz="1800" spc="-80" dirty="0"/>
              <a:t> </a:t>
            </a:r>
            <a:r>
              <a:rPr sz="1800" spc="180" dirty="0"/>
              <a:t>of</a:t>
            </a:r>
            <a:r>
              <a:rPr sz="1800" spc="-75" dirty="0"/>
              <a:t> </a:t>
            </a:r>
            <a:r>
              <a:rPr sz="1800" spc="55" dirty="0"/>
              <a:t>fields</a:t>
            </a:r>
          </a:p>
          <a:p>
            <a:pPr marL="527685" marR="5080" indent="-515620">
              <a:lnSpc>
                <a:spcPts val="4370"/>
              </a:lnSpc>
              <a:spcBef>
                <a:spcPts val="310"/>
              </a:spcBef>
              <a:buAutoNum type="arabicPeriod"/>
              <a:tabLst>
                <a:tab pos="527685" algn="l"/>
              </a:tabLst>
            </a:pPr>
            <a:r>
              <a:rPr sz="1800" dirty="0"/>
              <a:t>The</a:t>
            </a:r>
            <a:r>
              <a:rPr sz="1800" spc="-70" dirty="0"/>
              <a:t> </a:t>
            </a:r>
            <a:r>
              <a:rPr sz="1800" dirty="0"/>
              <a:t>values</a:t>
            </a:r>
            <a:r>
              <a:rPr sz="1800" spc="-65" dirty="0"/>
              <a:t> </a:t>
            </a:r>
            <a:r>
              <a:rPr sz="1800" spc="55" dirty="0"/>
              <a:t>in</a:t>
            </a:r>
            <a:r>
              <a:rPr sz="1800" spc="-65" dirty="0"/>
              <a:t> </a:t>
            </a:r>
            <a:r>
              <a:rPr sz="1800" spc="-20" dirty="0"/>
              <a:t>each</a:t>
            </a:r>
            <a:r>
              <a:rPr sz="1800" spc="-60" dirty="0"/>
              <a:t> </a:t>
            </a:r>
            <a:r>
              <a:rPr sz="1800" spc="110" dirty="0"/>
              <a:t>field</a:t>
            </a:r>
            <a:r>
              <a:rPr sz="1800" spc="-75" dirty="0"/>
              <a:t> </a:t>
            </a:r>
            <a:r>
              <a:rPr sz="1800" spc="50" dirty="0"/>
              <a:t>individually</a:t>
            </a:r>
            <a:r>
              <a:rPr sz="1800" spc="-50" dirty="0"/>
              <a:t> </a:t>
            </a:r>
            <a:r>
              <a:rPr sz="1800" spc="75" dirty="0"/>
              <a:t>must</a:t>
            </a:r>
            <a:r>
              <a:rPr sz="1800" spc="-60" dirty="0"/>
              <a:t> </a:t>
            </a:r>
            <a:r>
              <a:rPr sz="1800" spc="155" dirty="0"/>
              <a:t>not</a:t>
            </a:r>
            <a:r>
              <a:rPr sz="1800" spc="-60" dirty="0"/>
              <a:t> </a:t>
            </a:r>
            <a:r>
              <a:rPr sz="1800" spc="45" dirty="0"/>
              <a:t>contain</a:t>
            </a:r>
            <a:r>
              <a:rPr sz="1800" spc="-60" dirty="0"/>
              <a:t> </a:t>
            </a:r>
            <a:r>
              <a:rPr sz="1800" spc="-20" dirty="0"/>
              <a:t>non- </a:t>
            </a:r>
            <a:r>
              <a:rPr sz="1800" dirty="0"/>
              <a:t>valid</a:t>
            </a:r>
            <a:r>
              <a:rPr sz="1800" spc="60" dirty="0"/>
              <a:t> </a:t>
            </a:r>
            <a:r>
              <a:rPr sz="1800" spc="30" dirty="0"/>
              <a:t>data</a:t>
            </a:r>
          </a:p>
          <a:p>
            <a:pPr marL="527685" indent="-514984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527685" algn="l"/>
              </a:tabLst>
            </a:pPr>
            <a:r>
              <a:rPr sz="1800" spc="-20" dirty="0"/>
              <a:t>The</a:t>
            </a:r>
            <a:r>
              <a:rPr sz="1800" spc="-90" dirty="0"/>
              <a:t> </a:t>
            </a:r>
            <a:r>
              <a:rPr sz="1800" spc="-10" dirty="0"/>
              <a:t>values</a:t>
            </a:r>
            <a:r>
              <a:rPr sz="1800" spc="-105" dirty="0"/>
              <a:t> </a:t>
            </a:r>
            <a:r>
              <a:rPr sz="1800" spc="55" dirty="0"/>
              <a:t>in</a:t>
            </a:r>
            <a:r>
              <a:rPr sz="1800" spc="-95" dirty="0"/>
              <a:t> </a:t>
            </a:r>
            <a:r>
              <a:rPr sz="1800" spc="114" dirty="0"/>
              <a:t>the</a:t>
            </a:r>
            <a:r>
              <a:rPr sz="1800" spc="-100" dirty="0"/>
              <a:t> </a:t>
            </a:r>
            <a:r>
              <a:rPr sz="1800" spc="60" dirty="0"/>
              <a:t>set</a:t>
            </a:r>
            <a:r>
              <a:rPr sz="1800" spc="-95" dirty="0"/>
              <a:t> </a:t>
            </a:r>
            <a:r>
              <a:rPr sz="1800" spc="180" dirty="0"/>
              <a:t>of</a:t>
            </a:r>
            <a:r>
              <a:rPr sz="1800" spc="-105" dirty="0"/>
              <a:t> </a:t>
            </a:r>
            <a:r>
              <a:rPr sz="1800" spc="65" dirty="0"/>
              <a:t>fields</a:t>
            </a:r>
            <a:r>
              <a:rPr sz="1800" spc="-100" dirty="0"/>
              <a:t> </a:t>
            </a:r>
            <a:r>
              <a:rPr sz="1800" spc="75" dirty="0"/>
              <a:t>must</a:t>
            </a:r>
            <a:r>
              <a:rPr sz="1800" spc="-85" dirty="0"/>
              <a:t> </a:t>
            </a:r>
            <a:r>
              <a:rPr sz="1800" dirty="0"/>
              <a:t>be</a:t>
            </a:r>
            <a:r>
              <a:rPr sz="1800" spc="-100" dirty="0"/>
              <a:t> </a:t>
            </a:r>
            <a:r>
              <a:rPr sz="1800" spc="-10" dirty="0"/>
              <a:t>consistent</a:t>
            </a:r>
          </a:p>
        </p:txBody>
      </p:sp>
    </p:spTree>
    <p:extLst>
      <p:ext uri="{BB962C8B-B14F-4D97-AF65-F5344CB8AC3E}">
        <p14:creationId xmlns:p14="http://schemas.microsoft.com/office/powerpoint/2010/main" val="163069981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6486" y="2426843"/>
            <a:ext cx="2798372" cy="443115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610790" y="566166"/>
            <a:ext cx="14954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CEDBE6"/>
                </a:solidFill>
                <a:latin typeface="Arial"/>
                <a:cs typeface="Arial"/>
              </a:rPr>
              <a:t>34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9275" y="723181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28215">
              <a:lnSpc>
                <a:spcPct val="100000"/>
              </a:lnSpc>
              <a:spcBef>
                <a:spcPts val="105"/>
              </a:spcBef>
            </a:pPr>
            <a:r>
              <a:rPr spc="-310" dirty="0"/>
              <a:t>Bad</a:t>
            </a:r>
            <a:r>
              <a:rPr spc="-155" dirty="0"/>
              <a:t> </a:t>
            </a:r>
            <a:r>
              <a:rPr spc="-270" dirty="0"/>
              <a:t>practices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549275" y="1600201"/>
            <a:ext cx="8042276" cy="232008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110"/>
              </a:spcBef>
              <a:buAutoNum type="arabicPeriod"/>
              <a:tabLst>
                <a:tab pos="527685" algn="l"/>
              </a:tabLst>
            </a:pPr>
            <a:r>
              <a:rPr sz="1800" spc="50" dirty="0"/>
              <a:t>Ignoring</a:t>
            </a:r>
            <a:r>
              <a:rPr sz="1800" spc="-90" dirty="0"/>
              <a:t> </a:t>
            </a:r>
            <a:r>
              <a:rPr sz="1800" spc="55" dirty="0"/>
              <a:t>normalization</a:t>
            </a:r>
            <a:r>
              <a:rPr sz="1800" spc="-80" dirty="0"/>
              <a:t> </a:t>
            </a:r>
            <a:r>
              <a:rPr sz="1800" dirty="0"/>
              <a:t>leads</a:t>
            </a:r>
            <a:r>
              <a:rPr sz="1800" spc="-75" dirty="0"/>
              <a:t> </a:t>
            </a:r>
            <a:r>
              <a:rPr sz="1800" spc="210" dirty="0"/>
              <a:t>to</a:t>
            </a:r>
            <a:r>
              <a:rPr sz="1800" spc="-105" dirty="0"/>
              <a:t> </a:t>
            </a:r>
            <a:r>
              <a:rPr sz="1800" spc="50" dirty="0"/>
              <a:t>data</a:t>
            </a:r>
            <a:r>
              <a:rPr sz="1800" spc="-90" dirty="0"/>
              <a:t> </a:t>
            </a:r>
            <a:r>
              <a:rPr sz="1800" spc="-10" dirty="0"/>
              <a:t>redundancy</a:t>
            </a:r>
          </a:p>
          <a:p>
            <a:pPr marL="527685" indent="-514984">
              <a:lnSpc>
                <a:spcPct val="100000"/>
              </a:lnSpc>
              <a:spcBef>
                <a:spcPts val="1010"/>
              </a:spcBef>
              <a:buAutoNum type="arabicPeriod"/>
              <a:tabLst>
                <a:tab pos="527685" algn="l"/>
              </a:tabLst>
            </a:pPr>
            <a:r>
              <a:rPr sz="1800" spc="-70" dirty="0"/>
              <a:t>Lack</a:t>
            </a:r>
            <a:r>
              <a:rPr sz="1800" spc="-40" dirty="0"/>
              <a:t> </a:t>
            </a:r>
            <a:r>
              <a:rPr sz="1800" spc="180" dirty="0"/>
              <a:t>of</a:t>
            </a:r>
            <a:r>
              <a:rPr sz="1800" spc="-40" dirty="0"/>
              <a:t> </a:t>
            </a:r>
            <a:r>
              <a:rPr sz="1800" dirty="0"/>
              <a:t>naming</a:t>
            </a:r>
            <a:r>
              <a:rPr sz="1800" spc="-25" dirty="0"/>
              <a:t> </a:t>
            </a:r>
            <a:r>
              <a:rPr sz="1800" dirty="0"/>
              <a:t>standards</a:t>
            </a:r>
            <a:r>
              <a:rPr sz="1800" spc="-20" dirty="0"/>
              <a:t> </a:t>
            </a:r>
            <a:r>
              <a:rPr sz="1800" spc="55" dirty="0"/>
              <a:t>on</a:t>
            </a:r>
            <a:r>
              <a:rPr sz="1800" spc="-30" dirty="0"/>
              <a:t> </a:t>
            </a:r>
            <a:r>
              <a:rPr sz="1800" spc="114" dirty="0"/>
              <a:t>the</a:t>
            </a:r>
            <a:r>
              <a:rPr sz="1800" spc="-45" dirty="0"/>
              <a:t> </a:t>
            </a:r>
            <a:r>
              <a:rPr sz="1800" spc="50" dirty="0"/>
              <a:t>project.</a:t>
            </a:r>
          </a:p>
          <a:p>
            <a:pPr marL="527685" indent="-514984">
              <a:lnSpc>
                <a:spcPct val="100000"/>
              </a:lnSpc>
              <a:spcBef>
                <a:spcPts val="1010"/>
              </a:spcBef>
              <a:buAutoNum type="arabicPeriod"/>
              <a:tabLst>
                <a:tab pos="527685" algn="l"/>
              </a:tabLst>
            </a:pPr>
            <a:r>
              <a:rPr sz="1800" dirty="0"/>
              <a:t>One</a:t>
            </a:r>
            <a:r>
              <a:rPr sz="1800" spc="-80" dirty="0"/>
              <a:t> </a:t>
            </a:r>
            <a:r>
              <a:rPr sz="1800" spc="85" dirty="0"/>
              <a:t>table</a:t>
            </a:r>
            <a:r>
              <a:rPr sz="1800" spc="-90" dirty="0"/>
              <a:t> </a:t>
            </a:r>
            <a:r>
              <a:rPr sz="1800" spc="170" dirty="0"/>
              <a:t>for</a:t>
            </a:r>
            <a:r>
              <a:rPr sz="1800" spc="-90" dirty="0"/>
              <a:t> </a:t>
            </a:r>
            <a:r>
              <a:rPr sz="1800" spc="135" dirty="0"/>
              <a:t>different</a:t>
            </a:r>
            <a:r>
              <a:rPr sz="1800" spc="-90" dirty="0"/>
              <a:t> </a:t>
            </a:r>
            <a:r>
              <a:rPr sz="1800" spc="50" dirty="0"/>
              <a:t>types</a:t>
            </a:r>
            <a:r>
              <a:rPr sz="1800" spc="-80" dirty="0"/>
              <a:t> </a:t>
            </a:r>
            <a:r>
              <a:rPr sz="1800" spc="180" dirty="0"/>
              <a:t>of</a:t>
            </a:r>
            <a:r>
              <a:rPr sz="1800" spc="-85" dirty="0"/>
              <a:t> </a:t>
            </a:r>
            <a:r>
              <a:rPr sz="1800" spc="30" dirty="0"/>
              <a:t>data</a:t>
            </a:r>
          </a:p>
          <a:p>
            <a:pPr marL="527685" marR="5080" indent="-515620">
              <a:lnSpc>
                <a:spcPts val="4370"/>
              </a:lnSpc>
              <a:spcBef>
                <a:spcPts val="110"/>
              </a:spcBef>
              <a:buAutoNum type="arabicPeriod"/>
              <a:tabLst>
                <a:tab pos="527685" algn="l"/>
                <a:tab pos="2094230" algn="l"/>
                <a:tab pos="3624579" algn="l"/>
                <a:tab pos="4188460" algn="l"/>
                <a:tab pos="5964555" algn="l"/>
                <a:tab pos="6523990" algn="l"/>
                <a:tab pos="7459345" algn="l"/>
              </a:tabLst>
            </a:pPr>
            <a:r>
              <a:rPr sz="1800" spc="-10" dirty="0"/>
              <a:t>Careless</a:t>
            </a:r>
            <a:r>
              <a:rPr sz="1800" dirty="0"/>
              <a:t>	</a:t>
            </a:r>
            <a:r>
              <a:rPr sz="1800" spc="130" dirty="0"/>
              <a:t>attitude</a:t>
            </a:r>
            <a:r>
              <a:rPr sz="1800" dirty="0"/>
              <a:t>	</a:t>
            </a:r>
            <a:r>
              <a:rPr sz="1800" spc="185" dirty="0"/>
              <a:t>to</a:t>
            </a:r>
            <a:r>
              <a:rPr sz="1800" dirty="0"/>
              <a:t>	</a:t>
            </a:r>
            <a:r>
              <a:rPr sz="1800" spc="-10" dirty="0"/>
              <a:t>relevance</a:t>
            </a:r>
            <a:r>
              <a:rPr sz="1800" dirty="0"/>
              <a:t>	</a:t>
            </a:r>
            <a:r>
              <a:rPr sz="1800" spc="155" dirty="0"/>
              <a:t>of</a:t>
            </a:r>
            <a:r>
              <a:rPr sz="1800" dirty="0"/>
              <a:t>	</a:t>
            </a:r>
            <a:r>
              <a:rPr sz="1800" spc="30" dirty="0" smtClean="0"/>
              <a:t>data</a:t>
            </a:r>
            <a:endParaRPr lang="en-US" sz="1800" dirty="0"/>
          </a:p>
          <a:p>
            <a:pPr marL="12065" marR="5080" indent="0">
              <a:lnSpc>
                <a:spcPts val="4370"/>
              </a:lnSpc>
              <a:spcBef>
                <a:spcPts val="110"/>
              </a:spcBef>
              <a:buNone/>
              <a:tabLst>
                <a:tab pos="527685" algn="l"/>
                <a:tab pos="2094230" algn="l"/>
                <a:tab pos="3624579" algn="l"/>
                <a:tab pos="4188460" algn="l"/>
                <a:tab pos="5964555" algn="l"/>
                <a:tab pos="6523990" algn="l"/>
                <a:tab pos="7459345" algn="l"/>
              </a:tabLst>
            </a:pPr>
            <a:r>
              <a:rPr sz="1800" spc="55" dirty="0" smtClean="0"/>
              <a:t>representation </a:t>
            </a:r>
            <a:r>
              <a:rPr sz="1800" dirty="0"/>
              <a:t>(domain</a:t>
            </a:r>
            <a:r>
              <a:rPr sz="1800" spc="20" dirty="0"/>
              <a:t> </a:t>
            </a:r>
            <a:r>
              <a:rPr sz="1800" dirty="0"/>
              <a:t>may</a:t>
            </a:r>
            <a:r>
              <a:rPr sz="1800" spc="-25" dirty="0"/>
              <a:t> </a:t>
            </a:r>
            <a:r>
              <a:rPr sz="1800" spc="-10" dirty="0"/>
              <a:t>change).</a:t>
            </a:r>
          </a:p>
        </p:txBody>
      </p:sp>
    </p:spTree>
    <p:extLst>
      <p:ext uri="{BB962C8B-B14F-4D97-AF65-F5344CB8AC3E}">
        <p14:creationId xmlns:p14="http://schemas.microsoft.com/office/powerpoint/2010/main" val="135795907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 for attention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11393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риз">
  <a:themeElements>
    <a:clrScheme name="Бриз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Бриз">
      <a:maj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Бриз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Бриз.thmx</Template>
  <TotalTime>2032</TotalTime>
  <Words>3493</Words>
  <Application>Microsoft Macintosh PowerPoint</Application>
  <PresentationFormat>Экран (4:3)</PresentationFormat>
  <Paragraphs>904</Paragraphs>
  <Slides>74</Slides>
  <Notes>39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74</vt:i4>
      </vt:variant>
    </vt:vector>
  </HeadingPairs>
  <TitlesOfParts>
    <vt:vector size="75" baseType="lpstr">
      <vt:lpstr>Бриз</vt:lpstr>
      <vt:lpstr>Relational model and keys</vt:lpstr>
      <vt:lpstr>Content</vt:lpstr>
      <vt:lpstr>Entity/Relationship Modelling</vt:lpstr>
      <vt:lpstr>Relational Data Integrity</vt:lpstr>
      <vt:lpstr>Foreign Keys</vt:lpstr>
      <vt:lpstr>Entity/Relationship Diagrams</vt:lpstr>
      <vt:lpstr>Diagramming Entities</vt:lpstr>
      <vt:lpstr>Diagramming Attributes</vt:lpstr>
      <vt:lpstr>Relationships</vt:lpstr>
      <vt:lpstr>Cardinality Ratios</vt:lpstr>
      <vt:lpstr>Entity/Relationship Diagrams</vt:lpstr>
      <vt:lpstr>Entity/Relationship Diagrams</vt:lpstr>
      <vt:lpstr>Making E/R Models</vt:lpstr>
      <vt:lpstr>Example</vt:lpstr>
      <vt:lpstr>Example - Entities</vt:lpstr>
      <vt:lpstr>Example - Relationships</vt:lpstr>
      <vt:lpstr>Example – E/R Diagram</vt:lpstr>
      <vt:lpstr>Example – E/R Diagram</vt:lpstr>
      <vt:lpstr>Example – E/R Diagram</vt:lpstr>
      <vt:lpstr>Example – E/R Diagram</vt:lpstr>
      <vt:lpstr>Example – E/R Diagram</vt:lpstr>
      <vt:lpstr>Example – E/R Diagram</vt:lpstr>
      <vt:lpstr>Example – E/R Diagram</vt:lpstr>
      <vt:lpstr>Example – E/R Diagram</vt:lpstr>
      <vt:lpstr>Example – E/R Diagram</vt:lpstr>
      <vt:lpstr>Removing M:N Relationships </vt:lpstr>
      <vt:lpstr>Removing M:N Relationships </vt:lpstr>
      <vt:lpstr>Removing M:N Relationships </vt:lpstr>
      <vt:lpstr>Entities and Attributes</vt:lpstr>
      <vt:lpstr>Example</vt:lpstr>
      <vt:lpstr>Example - Entities/Attributes</vt:lpstr>
      <vt:lpstr>Example - E/R Diagram</vt:lpstr>
      <vt:lpstr>Example - Relationships</vt:lpstr>
      <vt:lpstr>Example - E/R Diagram</vt:lpstr>
      <vt:lpstr>One to One Relationships</vt:lpstr>
      <vt:lpstr>Redundant Relationships</vt:lpstr>
      <vt:lpstr>Example - E/R Diagram</vt:lpstr>
      <vt:lpstr>Making E/R Diagrams</vt:lpstr>
      <vt:lpstr>Debugging Designs</vt:lpstr>
      <vt:lpstr>Debugging Designs</vt:lpstr>
      <vt:lpstr>Debugging Designs</vt:lpstr>
      <vt:lpstr>Debugging Designs</vt:lpstr>
      <vt:lpstr>NORMALIZATION</vt:lpstr>
      <vt:lpstr>BENEFITS OF NORMALIZATION</vt:lpstr>
      <vt:lpstr>NORMALIZATION</vt:lpstr>
      <vt:lpstr>TYPES OF NORMALIZATION</vt:lpstr>
      <vt:lpstr>First Normal Form</vt:lpstr>
      <vt:lpstr>First Normal Form</vt:lpstr>
      <vt:lpstr>Second Normal Form</vt:lpstr>
      <vt:lpstr>Third Normal Form</vt:lpstr>
      <vt:lpstr>Презентация PowerPoint</vt:lpstr>
      <vt:lpstr>Third Normal Form</vt:lpstr>
      <vt:lpstr>Roles</vt:lpstr>
      <vt:lpstr>Roles</vt:lpstr>
      <vt:lpstr>Role Attributes</vt:lpstr>
      <vt:lpstr>Login privileges</vt:lpstr>
      <vt:lpstr>Superuser status</vt:lpstr>
      <vt:lpstr>Database creation</vt:lpstr>
      <vt:lpstr>Role creation</vt:lpstr>
      <vt:lpstr>Initiating replication</vt:lpstr>
      <vt:lpstr>Password</vt:lpstr>
      <vt:lpstr>Modify role</vt:lpstr>
      <vt:lpstr>Examples</vt:lpstr>
      <vt:lpstr>Role Membership</vt:lpstr>
      <vt:lpstr>Role Membership</vt:lpstr>
      <vt:lpstr>Ownership</vt:lpstr>
      <vt:lpstr>Database design</vt:lpstr>
      <vt:lpstr>Stages of database design</vt:lpstr>
      <vt:lpstr>Logical modelling</vt:lpstr>
      <vt:lpstr>Physical design and normalization</vt:lpstr>
      <vt:lpstr>ER(Entity relationship) diagrams</vt:lpstr>
      <vt:lpstr>Basic DB design tips</vt:lpstr>
      <vt:lpstr>Bad practices</vt:lpstr>
      <vt:lpstr>Thank you for attention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Hidden Markov Models and Probabilistic Parsers</dc:title>
  <dc:creator>Michael</dc:creator>
  <cp:lastModifiedBy>Assel Syrymbayeva</cp:lastModifiedBy>
  <cp:revision>93</cp:revision>
  <dcterms:created xsi:type="dcterms:W3CDTF">2016-03-30T10:58:00Z</dcterms:created>
  <dcterms:modified xsi:type="dcterms:W3CDTF">2025-09-07T15:18:11Z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2014-09-30T00:00:00Z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2016-03-30T00:00:00Z</vt:filetime>
  </property>
</Properties>
</file>