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560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printerSettings" Target="printerSettings/printerSettings1.bin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60495" y="939113"/>
            <a:ext cx="5283809" cy="772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02.09.25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02.09.25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02.09.25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02.09.25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02.09.25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4494" y="509057"/>
            <a:ext cx="10315811" cy="690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8461" y="2102266"/>
            <a:ext cx="11002645" cy="573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02.09.25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etbrains.com/datagrip/download" TargetMode="External"/><Relationship Id="rId4" Type="http://schemas.openxmlformats.org/officeDocument/2006/relationships/hyperlink" Target="http://www.jetbrains.com/ru-ru/community/education/%23students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ostgresql.org/downloa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2586" y="3149510"/>
            <a:ext cx="6379845" cy="3433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7350" spc="150" dirty="0"/>
              <a:t>Lecture</a:t>
            </a:r>
            <a:r>
              <a:rPr sz="7350" spc="15" dirty="0"/>
              <a:t> </a:t>
            </a:r>
            <a:r>
              <a:rPr sz="7350" spc="-25" dirty="0"/>
              <a:t>1.</a:t>
            </a:r>
            <a:endParaRPr sz="7350"/>
          </a:p>
          <a:p>
            <a:pPr marL="12065" marR="5080" algn="ctr">
              <a:lnSpc>
                <a:spcPct val="102000"/>
              </a:lnSpc>
            </a:pPr>
            <a:r>
              <a:rPr sz="7350" spc="215" dirty="0"/>
              <a:t>Introduction</a:t>
            </a:r>
            <a:r>
              <a:rPr sz="7350" spc="35" dirty="0"/>
              <a:t> </a:t>
            </a:r>
            <a:r>
              <a:rPr sz="7350" spc="310" dirty="0"/>
              <a:t>to </a:t>
            </a:r>
            <a:r>
              <a:rPr sz="7350" spc="105" dirty="0"/>
              <a:t>Databases</a:t>
            </a:r>
            <a:endParaRPr sz="7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Database</a:t>
            </a:r>
            <a:r>
              <a:rPr spc="15" dirty="0"/>
              <a:t> </a:t>
            </a:r>
            <a:r>
              <a:rPr spc="120" dirty="0"/>
              <a:t>Applications</a:t>
            </a:r>
            <a:r>
              <a:rPr spc="1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057657"/>
            <a:ext cx="20637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spc="-50" dirty="0">
                <a:latin typeface="Arial MT"/>
                <a:cs typeface="Arial MT"/>
              </a:rPr>
              <a:t>•</a:t>
            </a:r>
            <a:endParaRPr sz="4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2415" y="2158752"/>
            <a:ext cx="35426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Enterprise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Information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2961" y="2582368"/>
            <a:ext cx="180340" cy="996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804"/>
              </a:lnSpc>
              <a:spcBef>
                <a:spcPts val="130"/>
              </a:spcBef>
            </a:pPr>
            <a:r>
              <a:rPr sz="3450" spc="-50" dirty="0">
                <a:latin typeface="Arial MT"/>
                <a:cs typeface="Arial MT"/>
              </a:rPr>
              <a:t>•</a:t>
            </a:r>
            <a:endParaRPr sz="3450">
              <a:latin typeface="Arial MT"/>
              <a:cs typeface="Arial MT"/>
            </a:endParaRPr>
          </a:p>
          <a:p>
            <a:pPr marL="12700">
              <a:lnSpc>
                <a:spcPts val="3804"/>
              </a:lnSpc>
            </a:pPr>
            <a:r>
              <a:rPr sz="3450" spc="-50" dirty="0">
                <a:latin typeface="Arial MT"/>
                <a:cs typeface="Arial MT"/>
              </a:rPr>
              <a:t>•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6915" y="2599969"/>
            <a:ext cx="5383530" cy="906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Sales: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customers,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products,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purchases </a:t>
            </a:r>
            <a:r>
              <a:rPr sz="2400" dirty="0">
                <a:latin typeface="Arial MT"/>
                <a:cs typeface="Arial MT"/>
              </a:rPr>
              <a:t>Accounting: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payments,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receipts,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assets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0361" y="3554968"/>
            <a:ext cx="10875010" cy="195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015" indent="-514350">
              <a:lnSpc>
                <a:spcPct val="100000"/>
              </a:lnSpc>
              <a:spcBef>
                <a:spcPts val="100"/>
              </a:spcBef>
              <a:buSzPct val="143750"/>
              <a:buChar char="•"/>
              <a:tabLst>
                <a:tab pos="1009015" algn="l"/>
              </a:tabLst>
            </a:pP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Resources: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employees,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salaries,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payroll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taxes.</a:t>
            </a:r>
            <a:endParaRPr sz="2400">
              <a:latin typeface="Arial MT"/>
              <a:cs typeface="Arial MT"/>
            </a:endParaRPr>
          </a:p>
          <a:p>
            <a:pPr marL="467359" marR="663575" indent="-417195">
              <a:lnSpc>
                <a:spcPts val="4060"/>
              </a:lnSpc>
              <a:spcBef>
                <a:spcPts val="140"/>
              </a:spcBef>
              <a:buSzPct val="144642"/>
              <a:buChar char="•"/>
              <a:tabLst>
                <a:tab pos="467359" algn="l"/>
              </a:tabLst>
            </a:pPr>
            <a:r>
              <a:rPr sz="2800" dirty="0">
                <a:latin typeface="Arial MT"/>
                <a:cs typeface="Arial MT"/>
              </a:rPr>
              <a:t>Manufacturing:</a:t>
            </a:r>
            <a:r>
              <a:rPr sz="2800" spc="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management</a:t>
            </a:r>
            <a:r>
              <a:rPr sz="2800" spc="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production,</a:t>
            </a:r>
            <a:r>
              <a:rPr sz="2800" spc="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inventory,</a:t>
            </a:r>
            <a:r>
              <a:rPr sz="2800" spc="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orders, </a:t>
            </a:r>
            <a:r>
              <a:rPr sz="2800" dirty="0">
                <a:latin typeface="Arial MT"/>
                <a:cs typeface="Arial MT"/>
              </a:rPr>
              <a:t>supply</a:t>
            </a:r>
            <a:r>
              <a:rPr sz="2800" spc="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chain.</a:t>
            </a:r>
            <a:endParaRPr sz="2800">
              <a:latin typeface="Arial MT"/>
              <a:cs typeface="Arial MT"/>
            </a:endParaRPr>
          </a:p>
          <a:p>
            <a:pPr marL="467359" indent="-416559">
              <a:lnSpc>
                <a:spcPct val="100000"/>
              </a:lnSpc>
              <a:spcBef>
                <a:spcPts val="455"/>
              </a:spcBef>
              <a:buSzPct val="144642"/>
              <a:buChar char="•"/>
              <a:tabLst>
                <a:tab pos="467359" algn="l"/>
              </a:tabLst>
            </a:pPr>
            <a:r>
              <a:rPr sz="2800" dirty="0">
                <a:latin typeface="Arial MT"/>
                <a:cs typeface="Arial MT"/>
              </a:rPr>
              <a:t>Banking and </a:t>
            </a:r>
            <a:r>
              <a:rPr sz="2800" spc="-10" dirty="0">
                <a:latin typeface="Arial MT"/>
                <a:cs typeface="Arial MT"/>
              </a:rPr>
              <a:t>finance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2961" y="5454260"/>
            <a:ext cx="186690" cy="14890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954"/>
              </a:lnSpc>
              <a:spcBef>
                <a:spcPts val="125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ts val="3585"/>
              </a:lnSpc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ts val="3954"/>
              </a:lnSpc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9680" y="5466246"/>
            <a:ext cx="10041255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4695">
              <a:lnSpc>
                <a:spcPct val="119500"/>
              </a:lnSpc>
              <a:spcBef>
                <a:spcPts val="100"/>
              </a:spcBef>
            </a:pPr>
            <a:r>
              <a:rPr sz="2500" dirty="0">
                <a:latin typeface="Arial MT"/>
                <a:cs typeface="Arial MT"/>
              </a:rPr>
              <a:t>customer</a:t>
            </a:r>
            <a:r>
              <a:rPr sz="2500" spc="1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information,</a:t>
            </a:r>
            <a:r>
              <a:rPr sz="2500" spc="114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accounts,</a:t>
            </a:r>
            <a:r>
              <a:rPr sz="2500" spc="1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loans,</a:t>
            </a:r>
            <a:r>
              <a:rPr sz="2500" spc="114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114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banking</a:t>
            </a:r>
            <a:r>
              <a:rPr sz="2500" spc="11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transactions. </a:t>
            </a:r>
            <a:r>
              <a:rPr sz="2500" dirty="0">
                <a:latin typeface="Arial MT"/>
                <a:cs typeface="Arial MT"/>
              </a:rPr>
              <a:t>Credit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card</a:t>
            </a:r>
            <a:r>
              <a:rPr sz="2500" spc="7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transactions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500" dirty="0">
                <a:latin typeface="Arial MT"/>
                <a:cs typeface="Arial MT"/>
              </a:rPr>
              <a:t>Finance:</a:t>
            </a:r>
            <a:r>
              <a:rPr sz="2500" spc="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sales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purchases</a:t>
            </a:r>
            <a:r>
              <a:rPr sz="2500" spc="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financial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instruments</a:t>
            </a:r>
            <a:r>
              <a:rPr sz="2500" spc="2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(e.g.,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stocks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and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5761" y="6906934"/>
            <a:ext cx="6082030" cy="943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646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Arial MT"/>
                <a:cs typeface="Arial MT"/>
              </a:rPr>
              <a:t>bonds;</a:t>
            </a:r>
            <a:r>
              <a:rPr sz="2500" spc="1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storing</a:t>
            </a:r>
            <a:r>
              <a:rPr sz="2500" spc="13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real-</a:t>
            </a:r>
            <a:r>
              <a:rPr sz="2500" dirty="0">
                <a:latin typeface="Arial MT"/>
                <a:cs typeface="Arial MT"/>
              </a:rPr>
              <a:t>time</a:t>
            </a:r>
            <a:r>
              <a:rPr sz="2500" spc="1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market</a:t>
            </a:r>
            <a:r>
              <a:rPr sz="2500" spc="13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data</a:t>
            </a:r>
            <a:endParaRPr sz="2500">
              <a:latin typeface="Arial MT"/>
              <a:cs typeface="Arial MT"/>
            </a:endParaRPr>
          </a:p>
          <a:p>
            <a:pPr marL="441959" indent="-416559">
              <a:lnSpc>
                <a:spcPct val="100000"/>
              </a:lnSpc>
              <a:spcBef>
                <a:spcPts val="610"/>
              </a:spcBef>
              <a:buSzPct val="144642"/>
              <a:buChar char="•"/>
              <a:tabLst>
                <a:tab pos="441959" algn="l"/>
              </a:tabLst>
            </a:pPr>
            <a:r>
              <a:rPr sz="2800" dirty="0">
                <a:latin typeface="Arial MT"/>
                <a:cs typeface="Arial MT"/>
              </a:rPr>
              <a:t>Universities: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registration,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grades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350" spc="65" dirty="0"/>
              <a:t>Database</a:t>
            </a:r>
            <a:r>
              <a:rPr sz="4350" spc="25" dirty="0"/>
              <a:t> </a:t>
            </a:r>
            <a:r>
              <a:rPr sz="4350" spc="114" dirty="0"/>
              <a:t>Applications</a:t>
            </a:r>
            <a:r>
              <a:rPr sz="4350" spc="25" dirty="0"/>
              <a:t> </a:t>
            </a:r>
            <a:r>
              <a:rPr sz="4350" spc="70" dirty="0"/>
              <a:t>Examples</a:t>
            </a:r>
            <a:r>
              <a:rPr sz="4350" spc="30" dirty="0"/>
              <a:t> </a:t>
            </a:r>
            <a:r>
              <a:rPr sz="4350" spc="-10" dirty="0"/>
              <a:t>(Cont.)</a:t>
            </a:r>
            <a:endParaRPr sz="4350"/>
          </a:p>
        </p:txBody>
      </p:sp>
      <p:sp>
        <p:nvSpPr>
          <p:cNvPr id="3" name="object 3"/>
          <p:cNvSpPr txBox="1"/>
          <p:nvPr/>
        </p:nvSpPr>
        <p:spPr>
          <a:xfrm>
            <a:off x="922261" y="2158752"/>
            <a:ext cx="11009630" cy="549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615" indent="-513715">
              <a:lnSpc>
                <a:spcPct val="100000"/>
              </a:lnSpc>
              <a:spcBef>
                <a:spcPts val="100"/>
              </a:spcBef>
              <a:buSzPct val="144642"/>
              <a:buChar char="•"/>
              <a:tabLst>
                <a:tab pos="602615" algn="l"/>
              </a:tabLst>
            </a:pPr>
            <a:r>
              <a:rPr sz="2800" spc="-10" dirty="0">
                <a:latin typeface="Arial MT"/>
                <a:cs typeface="Arial MT"/>
              </a:rPr>
              <a:t>Airlines: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reservations,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schedules</a:t>
            </a:r>
            <a:endParaRPr sz="2800">
              <a:latin typeface="Arial MT"/>
              <a:cs typeface="Arial MT"/>
            </a:endParaRPr>
          </a:p>
          <a:p>
            <a:pPr marL="505459" marR="233679" indent="-417195">
              <a:lnSpc>
                <a:spcPts val="4060"/>
              </a:lnSpc>
              <a:spcBef>
                <a:spcPts val="254"/>
              </a:spcBef>
              <a:buSzPct val="144642"/>
              <a:buChar char="•"/>
              <a:tabLst>
                <a:tab pos="505459" algn="l"/>
              </a:tabLst>
            </a:pPr>
            <a:r>
              <a:rPr sz="2800" spc="-10" dirty="0">
                <a:latin typeface="Arial MT"/>
                <a:cs typeface="Arial MT"/>
              </a:rPr>
              <a:t>Telecommunication: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records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calls,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texts,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usage, </a:t>
            </a:r>
            <a:r>
              <a:rPr sz="2800" dirty="0">
                <a:latin typeface="Arial MT"/>
                <a:cs typeface="Arial MT"/>
              </a:rPr>
              <a:t>generating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monthly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bills,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maintaining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balances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prepaid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calling cards</a:t>
            </a:r>
            <a:endParaRPr sz="2800">
              <a:latin typeface="Arial MT"/>
              <a:cs typeface="Arial MT"/>
            </a:endParaRPr>
          </a:p>
          <a:p>
            <a:pPr marL="505459" indent="-416559">
              <a:lnSpc>
                <a:spcPct val="100000"/>
              </a:lnSpc>
              <a:spcBef>
                <a:spcPts val="459"/>
              </a:spcBef>
              <a:buSzPct val="144642"/>
              <a:buChar char="•"/>
              <a:tabLst>
                <a:tab pos="505459" algn="l"/>
              </a:tabLst>
            </a:pPr>
            <a:r>
              <a:rPr sz="2800" spc="-60" dirty="0">
                <a:latin typeface="Arial MT"/>
                <a:cs typeface="Arial MT"/>
              </a:rPr>
              <a:t>Web-</a:t>
            </a:r>
            <a:r>
              <a:rPr sz="2800" dirty="0">
                <a:latin typeface="Arial MT"/>
                <a:cs typeface="Arial MT"/>
              </a:rPr>
              <a:t>based</a:t>
            </a:r>
            <a:r>
              <a:rPr sz="2800" spc="2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services</a:t>
            </a:r>
            <a:endParaRPr sz="2800">
              <a:latin typeface="Arial MT"/>
              <a:cs typeface="Arial MT"/>
            </a:endParaRPr>
          </a:p>
          <a:p>
            <a:pPr marL="949960" lvl="1" indent="-417195">
              <a:lnSpc>
                <a:spcPct val="100000"/>
              </a:lnSpc>
              <a:spcBef>
                <a:spcPts val="675"/>
              </a:spcBef>
              <a:buSzPct val="144000"/>
              <a:buChar char="•"/>
              <a:tabLst>
                <a:tab pos="949960" algn="l"/>
              </a:tabLst>
            </a:pPr>
            <a:r>
              <a:rPr sz="2500" dirty="0">
                <a:latin typeface="Arial MT"/>
                <a:cs typeface="Arial MT"/>
              </a:rPr>
              <a:t>Online</a:t>
            </a:r>
            <a:r>
              <a:rPr sz="2500" spc="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retailers: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order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tracking,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customized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recommendations</a:t>
            </a:r>
            <a:endParaRPr sz="2500">
              <a:latin typeface="Arial MT"/>
              <a:cs typeface="Arial MT"/>
            </a:endParaRPr>
          </a:p>
          <a:p>
            <a:pPr marL="949960" lvl="1" indent="-417195">
              <a:lnSpc>
                <a:spcPct val="100000"/>
              </a:lnSpc>
              <a:spcBef>
                <a:spcPts val="590"/>
              </a:spcBef>
              <a:buSzPct val="144000"/>
              <a:buChar char="•"/>
              <a:tabLst>
                <a:tab pos="949960" algn="l"/>
              </a:tabLst>
            </a:pPr>
            <a:r>
              <a:rPr sz="2500" dirty="0">
                <a:latin typeface="Arial MT"/>
                <a:cs typeface="Arial MT"/>
              </a:rPr>
              <a:t>Online</a:t>
            </a:r>
            <a:r>
              <a:rPr sz="2500" spc="-14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advertisements</a:t>
            </a:r>
            <a:endParaRPr sz="2500">
              <a:latin typeface="Arial MT"/>
              <a:cs typeface="Arial MT"/>
            </a:endParaRPr>
          </a:p>
          <a:p>
            <a:pPr marL="505459" indent="-416559">
              <a:lnSpc>
                <a:spcPct val="100000"/>
              </a:lnSpc>
              <a:spcBef>
                <a:spcPts val="610"/>
              </a:spcBef>
              <a:buSzPct val="144642"/>
              <a:buChar char="•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Document</a:t>
            </a:r>
            <a:r>
              <a:rPr sz="2800" spc="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databases</a:t>
            </a:r>
            <a:endParaRPr sz="2800">
              <a:latin typeface="Arial MT"/>
              <a:cs typeface="Arial MT"/>
            </a:endParaRPr>
          </a:p>
          <a:p>
            <a:pPr marL="505459" marR="17780" indent="-417195">
              <a:lnSpc>
                <a:spcPts val="4060"/>
              </a:lnSpc>
              <a:spcBef>
                <a:spcPts val="114"/>
              </a:spcBef>
              <a:buSzPct val="144642"/>
              <a:buChar char="•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Navigation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systems: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maintaining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locations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varies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places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interest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along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exact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routes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roads,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train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systems, </a:t>
            </a:r>
            <a:r>
              <a:rPr sz="2800" dirty="0">
                <a:latin typeface="Arial MT"/>
                <a:cs typeface="Arial MT"/>
              </a:rPr>
              <a:t>buses,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078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Purpose</a:t>
            </a:r>
            <a:r>
              <a:rPr spc="5" dirty="0"/>
              <a:t> </a:t>
            </a:r>
            <a:r>
              <a:rPr spc="150" dirty="0"/>
              <a:t>of</a:t>
            </a:r>
            <a:r>
              <a:rPr spc="10" dirty="0"/>
              <a:t> </a:t>
            </a:r>
            <a:r>
              <a:rPr spc="70" dirty="0"/>
              <a:t>Database</a:t>
            </a:r>
            <a:r>
              <a:rPr spc="5" dirty="0"/>
              <a:t> </a:t>
            </a:r>
            <a:r>
              <a:rPr spc="6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2261" y="2074543"/>
            <a:ext cx="11027410" cy="50520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88900" marR="102235">
              <a:lnSpc>
                <a:spcPts val="3300"/>
              </a:lnSpc>
              <a:spcBef>
                <a:spcPts val="325"/>
              </a:spcBef>
            </a:pPr>
            <a:r>
              <a:rPr sz="2850" dirty="0">
                <a:latin typeface="Arial MT"/>
                <a:cs typeface="Arial MT"/>
              </a:rPr>
              <a:t>In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the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early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days,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database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applications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were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built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directly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on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top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spc="-25" dirty="0">
                <a:latin typeface="Arial MT"/>
                <a:cs typeface="Arial MT"/>
              </a:rPr>
              <a:t>of </a:t>
            </a:r>
            <a:r>
              <a:rPr sz="2850" dirty="0">
                <a:latin typeface="Arial MT"/>
                <a:cs typeface="Arial MT"/>
              </a:rPr>
              <a:t>file</a:t>
            </a:r>
            <a:r>
              <a:rPr sz="2850" spc="-1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systems,</a:t>
            </a:r>
            <a:r>
              <a:rPr sz="2850" spc="-1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which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leads</a:t>
            </a:r>
            <a:r>
              <a:rPr sz="2850" spc="-10" dirty="0">
                <a:latin typeface="Arial MT"/>
                <a:cs typeface="Arial MT"/>
              </a:rPr>
              <a:t> </a:t>
            </a:r>
            <a:r>
              <a:rPr sz="2850" spc="-25" dirty="0">
                <a:latin typeface="Arial MT"/>
                <a:cs typeface="Arial MT"/>
              </a:rPr>
              <a:t>to:</a:t>
            </a:r>
            <a:endParaRPr sz="2850">
              <a:latin typeface="Arial MT"/>
              <a:cs typeface="Arial MT"/>
            </a:endParaRPr>
          </a:p>
          <a:p>
            <a:pPr marL="602615" marR="81280" indent="-514350">
              <a:lnSpc>
                <a:spcPct val="121000"/>
              </a:lnSpc>
              <a:spcBef>
                <a:spcPts val="459"/>
              </a:spcBef>
              <a:buSzPct val="144642"/>
              <a:buChar char="•"/>
              <a:tabLst>
                <a:tab pos="602615" algn="l"/>
              </a:tabLst>
            </a:pP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redundancy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inconsistency: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stored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multiple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file </a:t>
            </a:r>
            <a:r>
              <a:rPr sz="2800" dirty="0">
                <a:latin typeface="Arial MT"/>
                <a:cs typeface="Arial MT"/>
              </a:rPr>
              <a:t>formats</a:t>
            </a:r>
            <a:r>
              <a:rPr sz="2800" spc="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resulting</a:t>
            </a:r>
            <a:r>
              <a:rPr sz="2800" spc="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induplication</a:t>
            </a:r>
            <a:r>
              <a:rPr sz="2800" spc="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information</a:t>
            </a:r>
            <a:r>
              <a:rPr sz="2800" spc="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files</a:t>
            </a:r>
            <a:endParaRPr sz="2800">
              <a:latin typeface="Arial MT"/>
              <a:cs typeface="Arial MT"/>
            </a:endParaRPr>
          </a:p>
          <a:p>
            <a:pPr marL="505459" indent="-416559">
              <a:lnSpc>
                <a:spcPct val="100000"/>
              </a:lnSpc>
              <a:spcBef>
                <a:spcPts val="705"/>
              </a:spcBef>
              <a:buSzPct val="144642"/>
              <a:buChar char="•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Difficulty</a:t>
            </a:r>
            <a:r>
              <a:rPr sz="2800" spc="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accessing</a:t>
            </a:r>
            <a:r>
              <a:rPr sz="2800" spc="8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  <a:p>
            <a:pPr marL="949960" lvl="1" indent="-417195">
              <a:lnSpc>
                <a:spcPct val="100000"/>
              </a:lnSpc>
              <a:spcBef>
                <a:spcPts val="705"/>
              </a:spcBef>
              <a:buSzPct val="144642"/>
              <a:buChar char="•"/>
              <a:tabLst>
                <a:tab pos="949960" algn="l"/>
              </a:tabLst>
            </a:pP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70" dirty="0">
                <a:latin typeface="Arial MT"/>
                <a:cs typeface="Arial MT"/>
              </a:rPr>
              <a:t>to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write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new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program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70" dirty="0">
                <a:latin typeface="Arial MT"/>
                <a:cs typeface="Arial MT"/>
              </a:rPr>
              <a:t>to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carry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new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task</a:t>
            </a:r>
            <a:endParaRPr sz="2800">
              <a:latin typeface="Arial MT"/>
              <a:cs typeface="Arial MT"/>
            </a:endParaRPr>
          </a:p>
          <a:p>
            <a:pPr marL="505459" indent="-416559">
              <a:lnSpc>
                <a:spcPct val="100000"/>
              </a:lnSpc>
              <a:spcBef>
                <a:spcPts val="705"/>
              </a:spcBef>
              <a:buSzPct val="144642"/>
              <a:buChar char="•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isolation</a:t>
            </a:r>
            <a:endParaRPr sz="2800">
              <a:latin typeface="Arial MT"/>
              <a:cs typeface="Arial MT"/>
            </a:endParaRPr>
          </a:p>
          <a:p>
            <a:pPr marL="949960" lvl="1" indent="-417195">
              <a:lnSpc>
                <a:spcPct val="100000"/>
              </a:lnSpc>
              <a:spcBef>
                <a:spcPts val="675"/>
              </a:spcBef>
              <a:buSzPct val="144000"/>
              <a:buChar char="•"/>
              <a:tabLst>
                <a:tab pos="949960" algn="l"/>
              </a:tabLst>
            </a:pPr>
            <a:r>
              <a:rPr sz="2500" dirty="0">
                <a:latin typeface="Arial MT"/>
                <a:cs typeface="Arial MT"/>
              </a:rPr>
              <a:t>Multiple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files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formats</a:t>
            </a:r>
            <a:endParaRPr sz="2500">
              <a:latin typeface="Arial MT"/>
              <a:cs typeface="Arial MT"/>
            </a:endParaRPr>
          </a:p>
          <a:p>
            <a:pPr marL="505459" indent="-416559">
              <a:lnSpc>
                <a:spcPct val="100000"/>
              </a:lnSpc>
              <a:spcBef>
                <a:spcPts val="615"/>
              </a:spcBef>
              <a:buSzPct val="144642"/>
              <a:buChar char="•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Document</a:t>
            </a:r>
            <a:r>
              <a:rPr sz="2800" spc="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databases</a:t>
            </a:r>
            <a:endParaRPr sz="2800">
              <a:latin typeface="Arial MT"/>
              <a:cs typeface="Arial MT"/>
            </a:endParaRPr>
          </a:p>
          <a:p>
            <a:pPr marL="505459" indent="-416559">
              <a:lnSpc>
                <a:spcPct val="100000"/>
              </a:lnSpc>
              <a:spcBef>
                <a:spcPts val="705"/>
              </a:spcBef>
              <a:buSzPct val="144642"/>
              <a:buChar char="•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Integrity</a:t>
            </a:r>
            <a:r>
              <a:rPr sz="2800" spc="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problems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2961" y="7068355"/>
            <a:ext cx="186690" cy="14890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0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9680" y="7080339"/>
            <a:ext cx="9519920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100"/>
              </a:spcBef>
            </a:pPr>
            <a:r>
              <a:rPr sz="2500" dirty="0">
                <a:latin typeface="Arial MT"/>
                <a:cs typeface="Arial MT"/>
              </a:rPr>
              <a:t>Integrity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constraints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(e.g.,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account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balance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&gt;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spc="-30" dirty="0">
                <a:latin typeface="Arial MT"/>
                <a:cs typeface="Arial MT"/>
              </a:rPr>
              <a:t>0)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become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spc="60" dirty="0">
                <a:latin typeface="Arial MT"/>
                <a:cs typeface="Arial MT"/>
              </a:rPr>
              <a:t>“buried”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in </a:t>
            </a:r>
            <a:r>
              <a:rPr sz="2500" dirty="0">
                <a:latin typeface="Arial MT"/>
                <a:cs typeface="Arial MT"/>
              </a:rPr>
              <a:t>program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code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rather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than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being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stated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explicitly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500" dirty="0">
                <a:latin typeface="Arial MT"/>
                <a:cs typeface="Arial MT"/>
              </a:rPr>
              <a:t>Hard</a:t>
            </a:r>
            <a:r>
              <a:rPr sz="2500" spc="60" dirty="0">
                <a:latin typeface="Arial MT"/>
                <a:cs typeface="Arial MT"/>
              </a:rPr>
              <a:t> to </a:t>
            </a:r>
            <a:r>
              <a:rPr sz="2500" dirty="0">
                <a:latin typeface="Arial MT"/>
                <a:cs typeface="Arial MT"/>
              </a:rPr>
              <a:t>add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new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constraints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or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change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existing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ones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Purpose</a:t>
            </a:r>
            <a:r>
              <a:rPr spc="10" dirty="0"/>
              <a:t> </a:t>
            </a:r>
            <a:r>
              <a:rPr spc="150" dirty="0"/>
              <a:t>of</a:t>
            </a:r>
            <a:r>
              <a:rPr spc="15" dirty="0"/>
              <a:t> </a:t>
            </a:r>
            <a:r>
              <a:rPr spc="70" dirty="0"/>
              <a:t>Database</a:t>
            </a:r>
            <a:r>
              <a:rPr spc="10" dirty="0"/>
              <a:t> </a:t>
            </a:r>
            <a:r>
              <a:rPr spc="70" dirty="0"/>
              <a:t>Systems</a:t>
            </a:r>
            <a:r>
              <a:rPr spc="1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1991686"/>
            <a:ext cx="20256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spc="-50" dirty="0">
                <a:latin typeface="Arial MT"/>
                <a:cs typeface="Arial MT"/>
              </a:rPr>
              <a:t>•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2135" y="2095203"/>
            <a:ext cx="3246755" cy="44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dirty="0">
                <a:latin typeface="Arial MT"/>
                <a:cs typeface="Arial MT"/>
              </a:rPr>
              <a:t>Atomicity</a:t>
            </a:r>
            <a:r>
              <a:rPr sz="2750" spc="2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204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updates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2961" y="2508807"/>
            <a:ext cx="183515" cy="144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50" spc="-50" dirty="0">
                <a:latin typeface="Arial MT"/>
                <a:cs typeface="Arial MT"/>
              </a:rPr>
              <a:t>•</a:t>
            </a:r>
            <a:endParaRPr sz="3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75"/>
              </a:spcBef>
            </a:pPr>
            <a:r>
              <a:rPr sz="3550" spc="-50" dirty="0">
                <a:latin typeface="Arial MT"/>
                <a:cs typeface="Arial MT"/>
              </a:rPr>
              <a:t>•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6635" y="2524871"/>
            <a:ext cx="9667875" cy="134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6450">
              <a:lnSpc>
                <a:spcPct val="117900"/>
              </a:lnSpc>
              <a:spcBef>
                <a:spcPts val="100"/>
              </a:spcBef>
            </a:pPr>
            <a:r>
              <a:rPr sz="2450" spc="-20" dirty="0">
                <a:latin typeface="Arial MT"/>
                <a:cs typeface="Arial MT"/>
              </a:rPr>
              <a:t>Failures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may</a:t>
            </a:r>
            <a:r>
              <a:rPr sz="2450" spc="10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leave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database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in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an</a:t>
            </a:r>
            <a:r>
              <a:rPr sz="2450" spc="1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inconsistent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state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with</a:t>
            </a:r>
            <a:r>
              <a:rPr sz="2450" spc="10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partial </a:t>
            </a:r>
            <a:r>
              <a:rPr sz="2450" dirty="0">
                <a:latin typeface="Arial MT"/>
                <a:cs typeface="Arial MT"/>
              </a:rPr>
              <a:t>updates</a:t>
            </a:r>
            <a:r>
              <a:rPr sz="2450" spc="114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carried</a:t>
            </a:r>
            <a:r>
              <a:rPr sz="2450" spc="125" dirty="0">
                <a:latin typeface="Arial MT"/>
                <a:cs typeface="Arial MT"/>
              </a:rPr>
              <a:t> </a:t>
            </a:r>
            <a:r>
              <a:rPr sz="2450" spc="-25" dirty="0">
                <a:latin typeface="Arial MT"/>
                <a:cs typeface="Arial MT"/>
              </a:rPr>
              <a:t>out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450" dirty="0">
                <a:latin typeface="Arial MT"/>
                <a:cs typeface="Arial MT"/>
              </a:rPr>
              <a:t>Example:</a:t>
            </a:r>
            <a:r>
              <a:rPr sz="2450" spc="25" dirty="0">
                <a:latin typeface="Arial MT"/>
                <a:cs typeface="Arial MT"/>
              </a:rPr>
              <a:t> </a:t>
            </a:r>
            <a:r>
              <a:rPr sz="2450" spc="-35" dirty="0">
                <a:latin typeface="Arial MT"/>
                <a:cs typeface="Arial MT"/>
              </a:rPr>
              <a:t>Transfer</a:t>
            </a:r>
            <a:r>
              <a:rPr sz="2450" spc="3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of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funds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from</a:t>
            </a:r>
            <a:r>
              <a:rPr sz="2450" spc="3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one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account</a:t>
            </a:r>
            <a:r>
              <a:rPr sz="2450" spc="30" dirty="0">
                <a:latin typeface="Arial MT"/>
                <a:cs typeface="Arial MT"/>
              </a:rPr>
              <a:t> </a:t>
            </a:r>
            <a:r>
              <a:rPr sz="2450" spc="60" dirty="0">
                <a:latin typeface="Arial MT"/>
                <a:cs typeface="Arial MT"/>
              </a:rPr>
              <a:t>to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another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should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either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5761" y="3912361"/>
            <a:ext cx="6139815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3505" algn="ctr">
              <a:lnSpc>
                <a:spcPct val="100000"/>
              </a:lnSpc>
              <a:spcBef>
                <a:spcPts val="100"/>
              </a:spcBef>
            </a:pPr>
            <a:r>
              <a:rPr sz="2450" dirty="0">
                <a:latin typeface="Arial MT"/>
                <a:cs typeface="Arial MT"/>
              </a:rPr>
              <a:t>complete</a:t>
            </a:r>
            <a:r>
              <a:rPr sz="2450" spc="10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or</a:t>
            </a:r>
            <a:r>
              <a:rPr sz="2450" spc="10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not</a:t>
            </a:r>
            <a:r>
              <a:rPr sz="2450" spc="10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happen</a:t>
            </a:r>
            <a:r>
              <a:rPr sz="2450" spc="10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at</a:t>
            </a:r>
            <a:r>
              <a:rPr sz="2450" spc="100" dirty="0">
                <a:latin typeface="Arial MT"/>
                <a:cs typeface="Arial MT"/>
              </a:rPr>
              <a:t> </a:t>
            </a:r>
            <a:r>
              <a:rPr sz="2450" spc="-25" dirty="0">
                <a:latin typeface="Arial MT"/>
                <a:cs typeface="Arial MT"/>
              </a:rPr>
              <a:t>all</a:t>
            </a:r>
            <a:endParaRPr sz="2450">
              <a:latin typeface="Arial MT"/>
              <a:cs typeface="Arial MT"/>
            </a:endParaRPr>
          </a:p>
          <a:p>
            <a:pPr marL="433705" indent="-408305">
              <a:lnSpc>
                <a:spcPct val="100000"/>
              </a:lnSpc>
              <a:spcBef>
                <a:spcPts val="555"/>
              </a:spcBef>
              <a:buSzPct val="143636"/>
              <a:buChar char="•"/>
              <a:tabLst>
                <a:tab pos="433705" algn="l"/>
              </a:tabLst>
            </a:pPr>
            <a:r>
              <a:rPr sz="2750" dirty="0">
                <a:latin typeface="Arial MT"/>
                <a:cs typeface="Arial MT"/>
              </a:rPr>
              <a:t>Concurrent</a:t>
            </a:r>
            <a:r>
              <a:rPr sz="2750" spc="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access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by</a:t>
            </a:r>
            <a:r>
              <a:rPr sz="2750" spc="10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multiple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users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2961" y="4770647"/>
            <a:ext cx="183515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65"/>
              </a:lnSpc>
              <a:spcBef>
                <a:spcPts val="100"/>
              </a:spcBef>
            </a:pPr>
            <a:r>
              <a:rPr sz="3550" spc="-50" dirty="0">
                <a:latin typeface="Arial MT"/>
                <a:cs typeface="Arial MT"/>
              </a:rPr>
              <a:t>•</a:t>
            </a:r>
            <a:endParaRPr sz="3550">
              <a:latin typeface="Arial MT"/>
              <a:cs typeface="Arial MT"/>
            </a:endParaRPr>
          </a:p>
          <a:p>
            <a:pPr marL="12700">
              <a:lnSpc>
                <a:spcPts val="3865"/>
              </a:lnSpc>
            </a:pPr>
            <a:r>
              <a:rPr sz="3550" spc="-50" dirty="0">
                <a:latin typeface="Arial MT"/>
                <a:cs typeface="Arial MT"/>
              </a:rPr>
              <a:t>•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3246" y="4786709"/>
            <a:ext cx="9162415" cy="178688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25"/>
              </a:spcBef>
            </a:pPr>
            <a:r>
              <a:rPr sz="2450" dirty="0">
                <a:latin typeface="Arial MT"/>
                <a:cs typeface="Arial MT"/>
              </a:rPr>
              <a:t>Concurrent</a:t>
            </a:r>
            <a:r>
              <a:rPr sz="2450" spc="5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access</a:t>
            </a:r>
            <a:r>
              <a:rPr sz="2450" spc="6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needed</a:t>
            </a:r>
            <a:r>
              <a:rPr sz="2450" spc="6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for</a:t>
            </a:r>
            <a:r>
              <a:rPr sz="2450" spc="60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performance</a:t>
            </a:r>
            <a:endParaRPr sz="24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525"/>
              </a:spcBef>
            </a:pPr>
            <a:r>
              <a:rPr sz="2450" dirty="0">
                <a:latin typeface="Arial MT"/>
                <a:cs typeface="Arial MT"/>
              </a:rPr>
              <a:t>Uncontrolled</a:t>
            </a:r>
            <a:r>
              <a:rPr sz="2450" spc="5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concurrent</a:t>
            </a:r>
            <a:r>
              <a:rPr sz="2450" spc="5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accesses</a:t>
            </a:r>
            <a:r>
              <a:rPr sz="2450" spc="5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can</a:t>
            </a:r>
            <a:r>
              <a:rPr sz="2450" spc="5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lead</a:t>
            </a:r>
            <a:r>
              <a:rPr sz="2450" spc="55" dirty="0">
                <a:latin typeface="Arial MT"/>
                <a:cs typeface="Arial MT"/>
              </a:rPr>
              <a:t> </a:t>
            </a:r>
            <a:r>
              <a:rPr sz="2450" spc="60" dirty="0">
                <a:latin typeface="Arial MT"/>
                <a:cs typeface="Arial MT"/>
              </a:rPr>
              <a:t>to</a:t>
            </a:r>
            <a:r>
              <a:rPr sz="2450" spc="55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inconsistencies</a:t>
            </a:r>
            <a:endParaRPr sz="2450">
              <a:latin typeface="Arial MT"/>
              <a:cs typeface="Arial MT"/>
            </a:endParaRPr>
          </a:p>
          <a:p>
            <a:pPr marL="495300" marR="43180" indent="-408940">
              <a:lnSpc>
                <a:spcPct val="117900"/>
              </a:lnSpc>
              <a:buSzPct val="144897"/>
              <a:buChar char="•"/>
              <a:tabLst>
                <a:tab pos="495300" algn="l"/>
              </a:tabLst>
            </a:pPr>
            <a:r>
              <a:rPr sz="2450" dirty="0">
                <a:latin typeface="Arial MT"/>
                <a:cs typeface="Arial MT"/>
              </a:rPr>
              <a:t>Ex:</a:t>
            </a:r>
            <a:r>
              <a:rPr sz="2450" spc="-25" dirty="0">
                <a:latin typeface="Arial MT"/>
                <a:cs typeface="Arial MT"/>
              </a:rPr>
              <a:t> </a:t>
            </a:r>
            <a:r>
              <a:rPr sz="2450" spc="-50" dirty="0">
                <a:latin typeface="Arial MT"/>
                <a:cs typeface="Arial MT"/>
              </a:rPr>
              <a:t>Two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people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reading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balance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spc="-25" dirty="0">
                <a:latin typeface="Arial MT"/>
                <a:cs typeface="Arial MT"/>
              </a:rPr>
              <a:t>(say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100)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and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updating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it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spc="-25" dirty="0">
                <a:latin typeface="Arial MT"/>
                <a:cs typeface="Arial MT"/>
              </a:rPr>
              <a:t>by </a:t>
            </a:r>
            <a:r>
              <a:rPr sz="2450" dirty="0">
                <a:latin typeface="Arial MT"/>
                <a:cs typeface="Arial MT"/>
              </a:rPr>
              <a:t>withdrawing</a:t>
            </a:r>
            <a:r>
              <a:rPr sz="2450" spc="-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money </a:t>
            </a:r>
            <a:r>
              <a:rPr sz="2450" spc="-25" dirty="0">
                <a:latin typeface="Arial MT"/>
                <a:cs typeface="Arial MT"/>
              </a:rPr>
              <a:t>(say</a:t>
            </a:r>
            <a:r>
              <a:rPr sz="2450" spc="-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50 </a:t>
            </a:r>
            <a:r>
              <a:rPr sz="2450" spc="-10" dirty="0">
                <a:latin typeface="Arial MT"/>
                <a:cs typeface="Arial MT"/>
              </a:rPr>
              <a:t>each)</a:t>
            </a:r>
            <a:r>
              <a:rPr sz="2450" spc="-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at the</a:t>
            </a:r>
            <a:r>
              <a:rPr sz="2450" spc="-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same </a:t>
            </a:r>
            <a:r>
              <a:rPr sz="2450" spc="-20" dirty="0">
                <a:latin typeface="Arial MT"/>
                <a:cs typeface="Arial MT"/>
              </a:rPr>
              <a:t>time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0361" y="6618882"/>
            <a:ext cx="9477375" cy="17995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9105" indent="-408305">
              <a:lnSpc>
                <a:spcPct val="100000"/>
              </a:lnSpc>
              <a:spcBef>
                <a:spcPts val="90"/>
              </a:spcBef>
              <a:buSzPct val="143636"/>
              <a:buChar char="•"/>
              <a:tabLst>
                <a:tab pos="459105" algn="l"/>
              </a:tabLst>
            </a:pPr>
            <a:r>
              <a:rPr sz="2750" dirty="0">
                <a:latin typeface="Arial MT"/>
                <a:cs typeface="Arial MT"/>
              </a:rPr>
              <a:t>Security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problems</a:t>
            </a:r>
            <a:endParaRPr sz="2750">
              <a:latin typeface="Arial MT"/>
              <a:cs typeface="Arial MT"/>
            </a:endParaRPr>
          </a:p>
          <a:p>
            <a:pPr marL="903605" lvl="1" indent="-408940">
              <a:lnSpc>
                <a:spcPct val="100000"/>
              </a:lnSpc>
              <a:spcBef>
                <a:spcPts val="620"/>
              </a:spcBef>
              <a:buSzPct val="144897"/>
              <a:buChar char="•"/>
              <a:tabLst>
                <a:tab pos="903605" algn="l"/>
              </a:tabLst>
            </a:pPr>
            <a:r>
              <a:rPr sz="2450" dirty="0">
                <a:latin typeface="Arial MT"/>
                <a:cs typeface="Arial MT"/>
              </a:rPr>
              <a:t>Hard</a:t>
            </a:r>
            <a:r>
              <a:rPr sz="2450" spc="5" dirty="0">
                <a:latin typeface="Arial MT"/>
                <a:cs typeface="Arial MT"/>
              </a:rPr>
              <a:t> </a:t>
            </a:r>
            <a:r>
              <a:rPr sz="2450" spc="60" dirty="0">
                <a:latin typeface="Arial MT"/>
                <a:cs typeface="Arial MT"/>
              </a:rPr>
              <a:t>to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provide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user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access</a:t>
            </a:r>
            <a:r>
              <a:rPr sz="2450" spc="10" dirty="0">
                <a:latin typeface="Arial MT"/>
                <a:cs typeface="Arial MT"/>
              </a:rPr>
              <a:t> </a:t>
            </a:r>
            <a:r>
              <a:rPr sz="2450" spc="60" dirty="0">
                <a:latin typeface="Arial MT"/>
                <a:cs typeface="Arial MT"/>
              </a:rPr>
              <a:t>to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some,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spc="55" dirty="0">
                <a:latin typeface="Arial MT"/>
                <a:cs typeface="Arial MT"/>
              </a:rPr>
              <a:t>but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not</a:t>
            </a:r>
            <a:r>
              <a:rPr sz="2450" spc="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all,</a:t>
            </a:r>
            <a:r>
              <a:rPr sz="2450" spc="15" dirty="0">
                <a:latin typeface="Arial MT"/>
                <a:cs typeface="Arial MT"/>
              </a:rPr>
              <a:t> </a:t>
            </a:r>
            <a:r>
              <a:rPr sz="2450" spc="-20" dirty="0">
                <a:latin typeface="Arial MT"/>
                <a:cs typeface="Arial MT"/>
              </a:rPr>
              <a:t>data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24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600" b="1" dirty="0">
                <a:solidFill>
                  <a:srgbClr val="002060"/>
                </a:solidFill>
                <a:latin typeface="Arial"/>
                <a:cs typeface="Arial"/>
              </a:rPr>
              <a:t>Database</a:t>
            </a:r>
            <a:r>
              <a:rPr sz="2600" b="1" spc="-2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2060"/>
                </a:solidFill>
                <a:latin typeface="Arial"/>
                <a:cs typeface="Arial"/>
              </a:rPr>
              <a:t>systems</a:t>
            </a:r>
            <a:r>
              <a:rPr sz="26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2060"/>
                </a:solidFill>
                <a:latin typeface="Arial"/>
                <a:cs typeface="Arial"/>
              </a:rPr>
              <a:t>offer</a:t>
            </a:r>
            <a:r>
              <a:rPr sz="26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2060"/>
                </a:solidFill>
                <a:latin typeface="Arial"/>
                <a:cs typeface="Arial"/>
              </a:rPr>
              <a:t>solutions</a:t>
            </a:r>
            <a:r>
              <a:rPr sz="26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2060"/>
                </a:solidFill>
                <a:latin typeface="Arial"/>
                <a:cs typeface="Arial"/>
              </a:rPr>
              <a:t>to</a:t>
            </a:r>
            <a:r>
              <a:rPr sz="26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2060"/>
                </a:solidFill>
                <a:latin typeface="Arial"/>
                <a:cs typeface="Arial"/>
              </a:rPr>
              <a:t>all</a:t>
            </a:r>
            <a:r>
              <a:rPr sz="26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2060"/>
                </a:solidFill>
                <a:latin typeface="Arial"/>
                <a:cs typeface="Arial"/>
              </a:rPr>
              <a:t>the</a:t>
            </a:r>
            <a:r>
              <a:rPr sz="26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2060"/>
                </a:solidFill>
                <a:latin typeface="Arial"/>
                <a:cs typeface="Arial"/>
              </a:rPr>
              <a:t>above</a:t>
            </a:r>
            <a:r>
              <a:rPr sz="2600" b="1" spc="-10" dirty="0">
                <a:solidFill>
                  <a:srgbClr val="002060"/>
                </a:solidFill>
                <a:latin typeface="Arial"/>
                <a:cs typeface="Arial"/>
              </a:rPr>
              <a:t> problems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778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University</a:t>
            </a:r>
            <a:r>
              <a:rPr spc="25" dirty="0"/>
              <a:t> </a:t>
            </a:r>
            <a:r>
              <a:rPr spc="70" dirty="0"/>
              <a:t>Database</a:t>
            </a:r>
            <a:r>
              <a:rPr spc="30" dirty="0"/>
              <a:t> </a:t>
            </a:r>
            <a:r>
              <a:rPr spc="4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5639" y="1604822"/>
            <a:ext cx="10922000" cy="548386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22860" indent="-342900">
              <a:lnSpc>
                <a:spcPts val="3310"/>
              </a:lnSpc>
              <a:spcBef>
                <a:spcPts val="2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In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this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text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we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will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be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using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university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illustrate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all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the </a:t>
            </a:r>
            <a:r>
              <a:rPr sz="2800" spc="-10" dirty="0">
                <a:latin typeface="Arial MT"/>
                <a:cs typeface="Arial MT"/>
              </a:rPr>
              <a:t>concepts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consists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information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about:</a:t>
            </a:r>
            <a:endParaRPr sz="4200" baseline="1984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spc="-10" dirty="0">
                <a:latin typeface="Arial MT"/>
                <a:cs typeface="Arial MT"/>
              </a:rPr>
              <a:t>Students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5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spc="-10" dirty="0">
                <a:latin typeface="Arial MT"/>
                <a:cs typeface="Arial MT"/>
              </a:rPr>
              <a:t>Instructors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spc="-10" dirty="0">
                <a:latin typeface="Arial MT"/>
                <a:cs typeface="Arial MT"/>
              </a:rPr>
              <a:t>Classes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Application</a:t>
            </a:r>
            <a:r>
              <a:rPr sz="4200" spc="-17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program</a:t>
            </a:r>
            <a:r>
              <a:rPr sz="4200" spc="-172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examples:</a:t>
            </a:r>
            <a:endParaRPr sz="4200" baseline="1984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Add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new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students,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instructors,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courses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Register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students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courses,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generate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rosters</a:t>
            </a:r>
            <a:endParaRPr sz="280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750"/>
              </a:spcBef>
              <a:buClr>
                <a:srgbClr val="FF9933"/>
              </a:buClr>
              <a:buSzPct val="108928"/>
              <a:buChar char="•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Assign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grades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students,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grade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averages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(GPA)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generate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transcripts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344" y="1023114"/>
            <a:ext cx="10386695" cy="13817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58745" marR="5080" indent="-2646680">
              <a:lnSpc>
                <a:spcPts val="5400"/>
              </a:lnSpc>
              <a:spcBef>
                <a:spcPts val="80"/>
              </a:spcBef>
            </a:pPr>
            <a:r>
              <a:rPr sz="4400" dirty="0"/>
              <a:t>A</a:t>
            </a:r>
            <a:r>
              <a:rPr sz="4400" spc="40" dirty="0"/>
              <a:t> </a:t>
            </a:r>
            <a:r>
              <a:rPr sz="4400" b="1" dirty="0">
                <a:solidFill>
                  <a:srgbClr val="FF2600"/>
                </a:solidFill>
                <a:latin typeface="Arial"/>
                <a:cs typeface="Arial"/>
              </a:rPr>
              <a:t>database</a:t>
            </a:r>
            <a:r>
              <a:rPr sz="4400" b="1" spc="40" dirty="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sz="4400" dirty="0"/>
              <a:t>is</a:t>
            </a:r>
            <a:r>
              <a:rPr sz="4400" spc="40" dirty="0"/>
              <a:t> </a:t>
            </a:r>
            <a:r>
              <a:rPr sz="4400" dirty="0"/>
              <a:t>nothing</a:t>
            </a:r>
            <a:r>
              <a:rPr sz="4400" spc="45" dirty="0"/>
              <a:t> </a:t>
            </a:r>
            <a:r>
              <a:rPr sz="4400" dirty="0"/>
              <a:t>more</a:t>
            </a:r>
            <a:r>
              <a:rPr sz="4400" spc="40" dirty="0"/>
              <a:t> </a:t>
            </a:r>
            <a:r>
              <a:rPr sz="4400" dirty="0"/>
              <a:t>than</a:t>
            </a:r>
            <a:r>
              <a:rPr sz="4400" spc="40" dirty="0"/>
              <a:t> </a:t>
            </a:r>
            <a:r>
              <a:rPr sz="4400" dirty="0"/>
              <a:t>a</a:t>
            </a:r>
            <a:r>
              <a:rPr sz="4400" spc="40" dirty="0"/>
              <a:t> </a:t>
            </a:r>
            <a:r>
              <a:rPr sz="4400" b="1" dirty="0">
                <a:latin typeface="Arial"/>
                <a:cs typeface="Arial"/>
              </a:rPr>
              <a:t>set</a:t>
            </a:r>
            <a:r>
              <a:rPr sz="4400" b="1" spc="45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of </a:t>
            </a:r>
            <a:r>
              <a:rPr sz="4400" b="1" dirty="0">
                <a:latin typeface="Arial"/>
                <a:cs typeface="Arial"/>
              </a:rPr>
              <a:t>related</a:t>
            </a:r>
            <a:r>
              <a:rPr sz="4400" b="1" spc="3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information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8200" y="3475883"/>
            <a:ext cx="5308398" cy="53083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0">
              <a:lnSpc>
                <a:spcPct val="100000"/>
              </a:lnSpc>
              <a:spcBef>
                <a:spcPts val="100"/>
              </a:spcBef>
            </a:pPr>
            <a:r>
              <a:rPr dirty="0"/>
              <a:t>View</a:t>
            </a:r>
            <a:r>
              <a:rPr spc="55" dirty="0"/>
              <a:t> </a:t>
            </a:r>
            <a:r>
              <a:rPr spc="150" dirty="0"/>
              <a:t>of</a:t>
            </a:r>
            <a:r>
              <a:rPr spc="5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5639" y="1604822"/>
            <a:ext cx="11034395" cy="47802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410845" indent="-342900">
              <a:lnSpc>
                <a:spcPts val="3310"/>
              </a:lnSpc>
              <a:spcBef>
                <a:spcPts val="2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29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system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collection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interrelated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and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set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programs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allow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modify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these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 marL="354965" marR="391795" indent="-342900">
              <a:lnSpc>
                <a:spcPts val="3310"/>
              </a:lnSpc>
              <a:spcBef>
                <a:spcPts val="894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29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major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purpose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system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provide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users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with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an </a:t>
            </a:r>
            <a:r>
              <a:rPr sz="2800" dirty="0">
                <a:latin typeface="Arial MT"/>
                <a:cs typeface="Arial MT"/>
              </a:rPr>
              <a:t>abstract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view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69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models</a:t>
            </a:r>
            <a:endParaRPr sz="2800">
              <a:latin typeface="Arial MT"/>
              <a:cs typeface="Arial MT"/>
            </a:endParaRPr>
          </a:p>
          <a:p>
            <a:pPr marL="1098550" marR="678180" lvl="2" indent="-228600">
              <a:lnSpc>
                <a:spcPct val="101200"/>
              </a:lnSpc>
              <a:spcBef>
                <a:spcPts val="670"/>
              </a:spcBef>
              <a:buClr>
                <a:srgbClr val="33CC33"/>
              </a:buClr>
              <a:buSzPct val="83928"/>
              <a:buFont typeface="Trebuchet MS"/>
              <a:buChar char="▪"/>
              <a:tabLst>
                <a:tab pos="1098550" algn="l"/>
              </a:tabLst>
            </a:pPr>
            <a:r>
              <a:rPr sz="2800" dirty="0">
                <a:latin typeface="Arial MT"/>
                <a:cs typeface="Arial MT"/>
              </a:rPr>
              <a:t>A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collection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conceptual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tools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describing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data </a:t>
            </a:r>
            <a:r>
              <a:rPr sz="2800" dirty="0">
                <a:latin typeface="Arial MT"/>
                <a:cs typeface="Arial MT"/>
              </a:rPr>
              <a:t>relationships,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semantics,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consistency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constraints.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95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abstraction</a:t>
            </a:r>
            <a:endParaRPr sz="2800">
              <a:latin typeface="Arial MT"/>
              <a:cs typeface="Arial MT"/>
            </a:endParaRPr>
          </a:p>
          <a:p>
            <a:pPr marL="1098550" marR="5080" lvl="2" indent="-228600">
              <a:lnSpc>
                <a:spcPct val="101200"/>
              </a:lnSpc>
              <a:spcBef>
                <a:spcPts val="675"/>
              </a:spcBef>
              <a:buClr>
                <a:srgbClr val="33CC33"/>
              </a:buClr>
              <a:buSzPct val="83928"/>
              <a:buFont typeface="Trebuchet MS"/>
              <a:buChar char="▪"/>
              <a:tabLst>
                <a:tab pos="1098550" algn="l"/>
                <a:tab pos="4398645" algn="l"/>
              </a:tabLst>
            </a:pPr>
            <a:r>
              <a:rPr sz="2800" dirty="0">
                <a:latin typeface="Arial MT"/>
                <a:cs typeface="Arial MT"/>
              </a:rPr>
              <a:t>Hide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complexity</a:t>
            </a:r>
            <a:r>
              <a:rPr sz="2800" dirty="0">
                <a:latin typeface="Arial MT"/>
                <a:cs typeface="Arial MT"/>
              </a:rPr>
              <a:t>	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structures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represent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database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through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several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levels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abstraction.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4879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190" dirty="0"/>
              <a:t> </a:t>
            </a:r>
            <a:r>
              <a:rPr spc="1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059887"/>
            <a:ext cx="10666730" cy="5646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28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collection</a:t>
            </a:r>
            <a:r>
              <a:rPr sz="4200" spc="-6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tools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for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describing</a:t>
            </a:r>
            <a:endParaRPr sz="4200" baseline="1984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680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spc="-30" baseline="1111" dirty="0">
                <a:latin typeface="Arial MT"/>
                <a:cs typeface="Arial MT"/>
              </a:rPr>
              <a:t>Data</a:t>
            </a:r>
            <a:endParaRPr sz="3750" baseline="1111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110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baseline="1111" dirty="0">
                <a:latin typeface="Arial MT"/>
                <a:cs typeface="Arial MT"/>
              </a:rPr>
              <a:t>Data</a:t>
            </a:r>
            <a:r>
              <a:rPr sz="3750" spc="-22" baseline="1111" dirty="0">
                <a:latin typeface="Arial MT"/>
                <a:cs typeface="Arial MT"/>
              </a:rPr>
              <a:t> </a:t>
            </a:r>
            <a:r>
              <a:rPr sz="3750" spc="-15" baseline="1111" dirty="0">
                <a:latin typeface="Arial MT"/>
                <a:cs typeface="Arial MT"/>
              </a:rPr>
              <a:t>relationships</a:t>
            </a:r>
            <a:endParaRPr sz="3750" baseline="1111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114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baseline="1111" dirty="0">
                <a:latin typeface="Arial MT"/>
                <a:cs typeface="Arial MT"/>
              </a:rPr>
              <a:t>Data</a:t>
            </a:r>
            <a:r>
              <a:rPr sz="3750" spc="-22" baseline="1111" dirty="0">
                <a:latin typeface="Arial MT"/>
                <a:cs typeface="Arial MT"/>
              </a:rPr>
              <a:t> </a:t>
            </a:r>
            <a:r>
              <a:rPr sz="3750" spc="-15" baseline="1111" dirty="0">
                <a:latin typeface="Arial MT"/>
                <a:cs typeface="Arial MT"/>
              </a:rPr>
              <a:t>semantics</a:t>
            </a:r>
            <a:endParaRPr sz="3750" baseline="1111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114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baseline="1111" dirty="0">
                <a:latin typeface="Arial MT"/>
                <a:cs typeface="Arial MT"/>
              </a:rPr>
              <a:t>Data</a:t>
            </a:r>
            <a:r>
              <a:rPr sz="3750" spc="-22" baseline="1111" dirty="0">
                <a:latin typeface="Arial MT"/>
                <a:cs typeface="Arial MT"/>
              </a:rPr>
              <a:t> </a:t>
            </a:r>
            <a:r>
              <a:rPr sz="3750" spc="-15" baseline="1111" dirty="0">
                <a:latin typeface="Arial MT"/>
                <a:cs typeface="Arial MT"/>
              </a:rPr>
              <a:t>constraints</a:t>
            </a:r>
            <a:endParaRPr sz="3750" baseline="1111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9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Relational</a:t>
            </a:r>
            <a:r>
              <a:rPr sz="4200" spc="-187" baseline="1984" dirty="0">
                <a:latin typeface="Arial MT"/>
                <a:cs typeface="Arial MT"/>
              </a:rPr>
              <a:t> </a:t>
            </a:r>
            <a:r>
              <a:rPr sz="4200" spc="-30" baseline="1984" dirty="0">
                <a:latin typeface="Arial MT"/>
                <a:cs typeface="Arial MT"/>
              </a:rPr>
              <a:t>model</a:t>
            </a:r>
            <a:endParaRPr sz="4200" baseline="1984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spc="-15" baseline="1984" dirty="0">
                <a:latin typeface="Arial MT"/>
                <a:cs typeface="Arial MT"/>
              </a:rPr>
              <a:t>Entity-</a:t>
            </a:r>
            <a:r>
              <a:rPr sz="4200" baseline="1984" dirty="0">
                <a:latin typeface="Arial MT"/>
                <a:cs typeface="Arial MT"/>
              </a:rPr>
              <a:t>Relationship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model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(mainly</a:t>
            </a:r>
            <a:r>
              <a:rPr sz="4200" spc="-13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for</a:t>
            </a:r>
            <a:r>
              <a:rPr sz="4200" spc="-13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design)</a:t>
            </a:r>
            <a:endParaRPr sz="4200" baseline="1984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spc="-15" baseline="1984" dirty="0">
                <a:latin typeface="Arial MT"/>
                <a:cs typeface="Arial MT"/>
              </a:rPr>
              <a:t>Object-</a:t>
            </a:r>
            <a:r>
              <a:rPr sz="4200" baseline="1984" dirty="0">
                <a:latin typeface="Arial MT"/>
                <a:cs typeface="Arial MT"/>
              </a:rPr>
              <a:t>based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models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30" baseline="1984" dirty="0">
                <a:latin typeface="Arial MT"/>
                <a:cs typeface="Arial MT"/>
              </a:rPr>
              <a:t>(Object-</a:t>
            </a:r>
            <a:r>
              <a:rPr sz="4200" baseline="1984" dirty="0">
                <a:latin typeface="Arial MT"/>
                <a:cs typeface="Arial MT"/>
              </a:rPr>
              <a:t>oriented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and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Object-relational)</a:t>
            </a:r>
            <a:endParaRPr sz="4200" baseline="1984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  <a:tab pos="4920615" algn="l"/>
              </a:tabLst>
            </a:pPr>
            <a:r>
              <a:rPr sz="4200" spc="-15" baseline="1984" dirty="0">
                <a:latin typeface="Arial MT"/>
                <a:cs typeface="Arial MT"/>
              </a:rPr>
              <a:t>Semi-</a:t>
            </a:r>
            <a:r>
              <a:rPr sz="4200" baseline="1984" dirty="0">
                <a:latin typeface="Arial MT"/>
                <a:cs typeface="Arial MT"/>
              </a:rPr>
              <a:t>structured</a:t>
            </a:r>
            <a:r>
              <a:rPr sz="4200" spc="-13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model</a:t>
            </a:r>
            <a:r>
              <a:rPr sz="4200" baseline="1984" dirty="0">
                <a:latin typeface="Arial MT"/>
                <a:cs typeface="Arial MT"/>
              </a:rPr>
              <a:t>	</a:t>
            </a:r>
            <a:r>
              <a:rPr sz="4200" spc="-15" baseline="1984" dirty="0">
                <a:latin typeface="Arial MT"/>
                <a:cs typeface="Arial MT"/>
              </a:rPr>
              <a:t>(XML)</a:t>
            </a:r>
            <a:endParaRPr sz="4200" baseline="1984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Other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older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models:</a:t>
            </a:r>
            <a:endParaRPr sz="4200" baseline="1984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675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baseline="1111" dirty="0">
                <a:latin typeface="Arial MT"/>
                <a:cs typeface="Arial MT"/>
              </a:rPr>
              <a:t>Network</a:t>
            </a:r>
            <a:r>
              <a:rPr sz="3750" spc="-60" baseline="1111" dirty="0">
                <a:latin typeface="Arial MT"/>
                <a:cs typeface="Arial MT"/>
              </a:rPr>
              <a:t> </a:t>
            </a:r>
            <a:r>
              <a:rPr sz="3750" spc="-30" baseline="1111" dirty="0">
                <a:latin typeface="Arial MT"/>
                <a:cs typeface="Arial MT"/>
              </a:rPr>
              <a:t>model</a:t>
            </a:r>
            <a:endParaRPr sz="3750" baseline="1111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15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baseline="1111" dirty="0">
                <a:latin typeface="Arial MT"/>
                <a:cs typeface="Arial MT"/>
              </a:rPr>
              <a:t>Hierarchical</a:t>
            </a:r>
            <a:r>
              <a:rPr sz="3750" spc="-120" baseline="1111" dirty="0">
                <a:latin typeface="Arial MT"/>
                <a:cs typeface="Arial MT"/>
              </a:rPr>
              <a:t> </a:t>
            </a:r>
            <a:r>
              <a:rPr sz="3750" spc="-30" baseline="1111" dirty="0">
                <a:latin typeface="Arial MT"/>
                <a:cs typeface="Arial MT"/>
              </a:rPr>
              <a:t>model</a:t>
            </a:r>
            <a:endParaRPr sz="3750" baseline="1111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631" y="939113"/>
            <a:ext cx="61017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The </a:t>
            </a:r>
            <a:r>
              <a:rPr sz="4900" spc="65" dirty="0"/>
              <a:t>Relational</a:t>
            </a:r>
            <a:r>
              <a:rPr sz="4900" dirty="0"/>
              <a:t> </a:t>
            </a:r>
            <a:r>
              <a:rPr sz="4900" spc="150" dirty="0"/>
              <a:t>Model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965200" y="2565737"/>
            <a:ext cx="5298440" cy="395477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51815" indent="-513715">
              <a:lnSpc>
                <a:spcPct val="100000"/>
              </a:lnSpc>
              <a:spcBef>
                <a:spcPts val="405"/>
              </a:spcBef>
              <a:buSzPct val="144594"/>
              <a:buChar char="•"/>
              <a:tabLst>
                <a:tab pos="551815" algn="l"/>
              </a:tabLst>
            </a:pPr>
            <a:r>
              <a:rPr sz="3700" spc="-100" dirty="0">
                <a:latin typeface="Arial MT"/>
                <a:cs typeface="Arial MT"/>
              </a:rPr>
              <a:t>Dr.</a:t>
            </a:r>
            <a:r>
              <a:rPr sz="3700" spc="-16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E.</a:t>
            </a:r>
            <a:r>
              <a:rPr sz="3700" spc="-185" dirty="0">
                <a:latin typeface="Arial MT"/>
                <a:cs typeface="Arial MT"/>
              </a:rPr>
              <a:t> </a:t>
            </a:r>
            <a:r>
              <a:rPr sz="3700" spc="-690" dirty="0">
                <a:latin typeface="Arial MT"/>
                <a:cs typeface="Arial MT"/>
              </a:rPr>
              <a:t>F</a:t>
            </a:r>
            <a:r>
              <a:rPr sz="3700" spc="-60" dirty="0">
                <a:latin typeface="Arial MT"/>
                <a:cs typeface="Arial MT"/>
              </a:rPr>
              <a:t>.</a:t>
            </a:r>
            <a:r>
              <a:rPr sz="3700" dirty="0">
                <a:latin typeface="Arial MT"/>
                <a:cs typeface="Arial MT"/>
              </a:rPr>
              <a:t> </a:t>
            </a:r>
            <a:r>
              <a:rPr sz="3700" spc="45" dirty="0">
                <a:latin typeface="Arial MT"/>
                <a:cs typeface="Arial MT"/>
              </a:rPr>
              <a:t>Codd</a:t>
            </a:r>
            <a:endParaRPr sz="3700">
              <a:latin typeface="Arial MT"/>
              <a:cs typeface="Arial MT"/>
            </a:endParaRPr>
          </a:p>
          <a:p>
            <a:pPr marL="551815" indent="-513715">
              <a:lnSpc>
                <a:spcPct val="100000"/>
              </a:lnSpc>
              <a:spcBef>
                <a:spcPts val="2105"/>
              </a:spcBef>
              <a:buSzPct val="144594"/>
              <a:buChar char="•"/>
              <a:tabLst>
                <a:tab pos="551815" algn="l"/>
              </a:tabLst>
            </a:pPr>
            <a:r>
              <a:rPr sz="3700" spc="-20" dirty="0">
                <a:latin typeface="Arial MT"/>
                <a:cs typeface="Arial MT"/>
              </a:rPr>
              <a:t>1970</a:t>
            </a:r>
            <a:endParaRPr sz="3700">
              <a:latin typeface="Arial MT"/>
              <a:cs typeface="Arial MT"/>
            </a:endParaRPr>
          </a:p>
          <a:p>
            <a:pPr marL="551815" marR="30480" indent="-514350" algn="just">
              <a:lnSpc>
                <a:spcPct val="147500"/>
              </a:lnSpc>
              <a:buSzPct val="144594"/>
              <a:buChar char="•"/>
              <a:tabLst>
                <a:tab pos="551815" algn="l"/>
              </a:tabLst>
            </a:pPr>
            <a:r>
              <a:rPr sz="3700" spc="-200" dirty="0">
                <a:latin typeface="Arial MT"/>
                <a:cs typeface="Arial MT"/>
              </a:rPr>
              <a:t>«A</a:t>
            </a:r>
            <a:r>
              <a:rPr sz="3700" spc="-30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Relational</a:t>
            </a:r>
            <a:r>
              <a:rPr sz="3700" spc="-2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Model</a:t>
            </a:r>
            <a:r>
              <a:rPr sz="3700" spc="-30" dirty="0">
                <a:latin typeface="Arial MT"/>
                <a:cs typeface="Arial MT"/>
              </a:rPr>
              <a:t> </a:t>
            </a:r>
            <a:r>
              <a:rPr sz="3700" spc="35" dirty="0">
                <a:latin typeface="Arial MT"/>
                <a:cs typeface="Arial MT"/>
              </a:rPr>
              <a:t>of </a:t>
            </a:r>
            <a:r>
              <a:rPr sz="3700" dirty="0">
                <a:latin typeface="Arial MT"/>
                <a:cs typeface="Arial MT"/>
              </a:rPr>
              <a:t>Data</a:t>
            </a:r>
            <a:r>
              <a:rPr sz="3700" spc="-10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for</a:t>
            </a:r>
            <a:r>
              <a:rPr sz="3700" spc="-10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Large</a:t>
            </a:r>
            <a:r>
              <a:rPr sz="3700" spc="-10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Shared </a:t>
            </a:r>
            <a:r>
              <a:rPr sz="3700" dirty="0">
                <a:latin typeface="Arial MT"/>
                <a:cs typeface="Arial MT"/>
              </a:rPr>
              <a:t>Data</a:t>
            </a:r>
            <a:r>
              <a:rPr sz="3700" spc="-160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Banks»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1967" y="2968708"/>
            <a:ext cx="3426667" cy="45472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631" y="939113"/>
            <a:ext cx="61017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The </a:t>
            </a:r>
            <a:r>
              <a:rPr sz="4900" spc="65" dirty="0"/>
              <a:t>Relational</a:t>
            </a:r>
            <a:r>
              <a:rPr sz="4900" dirty="0"/>
              <a:t> </a:t>
            </a:r>
            <a:r>
              <a:rPr sz="4900" spc="150" dirty="0"/>
              <a:t>Model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282700" y="2709424"/>
            <a:ext cx="9529445" cy="326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815" indent="-513715">
              <a:lnSpc>
                <a:spcPct val="100000"/>
              </a:lnSpc>
              <a:spcBef>
                <a:spcPts val="100"/>
              </a:spcBef>
              <a:buSzPct val="144594"/>
              <a:buChar char="•"/>
              <a:tabLst>
                <a:tab pos="551815" algn="l"/>
              </a:tabLst>
            </a:pPr>
            <a:r>
              <a:rPr sz="3700" dirty="0">
                <a:latin typeface="Arial MT"/>
                <a:cs typeface="Arial MT"/>
              </a:rPr>
              <a:t>Data</a:t>
            </a:r>
            <a:r>
              <a:rPr sz="3700" spc="-5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can</a:t>
            </a:r>
            <a:r>
              <a:rPr sz="3700" spc="-5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be</a:t>
            </a:r>
            <a:r>
              <a:rPr sz="3700" spc="-5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represented</a:t>
            </a:r>
            <a:r>
              <a:rPr sz="3700" spc="-5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as</a:t>
            </a:r>
            <a:r>
              <a:rPr sz="3700" spc="-4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sets</a:t>
            </a:r>
            <a:r>
              <a:rPr sz="3700" spc="-50" dirty="0">
                <a:latin typeface="Arial MT"/>
                <a:cs typeface="Arial MT"/>
              </a:rPr>
              <a:t> </a:t>
            </a:r>
            <a:r>
              <a:rPr sz="3700" spc="60" dirty="0">
                <a:latin typeface="Arial MT"/>
                <a:cs typeface="Arial MT"/>
              </a:rPr>
              <a:t>of</a:t>
            </a:r>
            <a:r>
              <a:rPr sz="3700" spc="-50" dirty="0">
                <a:latin typeface="Arial MT"/>
                <a:cs typeface="Arial MT"/>
              </a:rPr>
              <a:t> </a:t>
            </a:r>
            <a:r>
              <a:rPr sz="3700" spc="-10" dirty="0">
                <a:solidFill>
                  <a:srgbClr val="EE220C"/>
                </a:solidFill>
                <a:latin typeface="Arial MT"/>
                <a:cs typeface="Arial MT"/>
              </a:rPr>
              <a:t>tables</a:t>
            </a:r>
            <a:r>
              <a:rPr sz="3700" spc="-10" dirty="0">
                <a:latin typeface="Arial MT"/>
                <a:cs typeface="Arial MT"/>
              </a:rPr>
              <a:t>.</a:t>
            </a:r>
            <a:endParaRPr sz="3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Font typeface="Arial MT"/>
              <a:buChar char="•"/>
            </a:pPr>
            <a:endParaRPr sz="3700">
              <a:latin typeface="Arial MT"/>
              <a:cs typeface="Arial MT"/>
            </a:endParaRPr>
          </a:p>
          <a:p>
            <a:pPr marL="551815" marR="30480" indent="-514350">
              <a:lnSpc>
                <a:spcPct val="118500"/>
              </a:lnSpc>
              <a:buSzPct val="144594"/>
              <a:buChar char="•"/>
              <a:tabLst>
                <a:tab pos="551815" algn="l"/>
              </a:tabLst>
            </a:pPr>
            <a:r>
              <a:rPr sz="3700" dirty="0">
                <a:latin typeface="Arial MT"/>
                <a:cs typeface="Arial MT"/>
              </a:rPr>
              <a:t>Rather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than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using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pointers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90" dirty="0">
                <a:latin typeface="Arial MT"/>
                <a:cs typeface="Arial MT"/>
              </a:rPr>
              <a:t>to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navigate </a:t>
            </a:r>
            <a:r>
              <a:rPr sz="3700" dirty="0">
                <a:latin typeface="Arial MT"/>
                <a:cs typeface="Arial MT"/>
              </a:rPr>
              <a:t>between</a:t>
            </a:r>
            <a:r>
              <a:rPr sz="3700" spc="4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related</a:t>
            </a:r>
            <a:r>
              <a:rPr sz="3700" spc="4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entities,</a:t>
            </a:r>
            <a:r>
              <a:rPr sz="3700" spc="40" dirty="0">
                <a:latin typeface="Arial MT"/>
                <a:cs typeface="Arial MT"/>
              </a:rPr>
              <a:t> </a:t>
            </a:r>
            <a:r>
              <a:rPr sz="3700" dirty="0">
                <a:solidFill>
                  <a:srgbClr val="EE220C"/>
                </a:solidFill>
                <a:latin typeface="Arial MT"/>
                <a:cs typeface="Arial MT"/>
              </a:rPr>
              <a:t>redundant</a:t>
            </a:r>
            <a:r>
              <a:rPr sz="3700" spc="40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3700" dirty="0">
                <a:solidFill>
                  <a:srgbClr val="EE220C"/>
                </a:solidFill>
                <a:latin typeface="Arial MT"/>
                <a:cs typeface="Arial MT"/>
              </a:rPr>
              <a:t>data</a:t>
            </a:r>
            <a:r>
              <a:rPr sz="3700" spc="40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3700" spc="-25" dirty="0">
                <a:latin typeface="Arial MT"/>
                <a:cs typeface="Arial MT"/>
              </a:rPr>
              <a:t>is </a:t>
            </a:r>
            <a:r>
              <a:rPr sz="3700" dirty="0">
                <a:latin typeface="Arial MT"/>
                <a:cs typeface="Arial MT"/>
              </a:rPr>
              <a:t>used</a:t>
            </a:r>
            <a:r>
              <a:rPr sz="3700" spc="20" dirty="0">
                <a:latin typeface="Arial MT"/>
                <a:cs typeface="Arial MT"/>
              </a:rPr>
              <a:t> </a:t>
            </a:r>
            <a:r>
              <a:rPr sz="3700" spc="90" dirty="0">
                <a:latin typeface="Arial MT"/>
                <a:cs typeface="Arial MT"/>
              </a:rPr>
              <a:t>to</a:t>
            </a:r>
            <a:r>
              <a:rPr sz="3700" spc="2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link</a:t>
            </a:r>
            <a:r>
              <a:rPr sz="3700" spc="2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records</a:t>
            </a:r>
            <a:r>
              <a:rPr sz="3700" spc="2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in</a:t>
            </a:r>
            <a:r>
              <a:rPr sz="3700" spc="2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different</a:t>
            </a:r>
            <a:r>
              <a:rPr sz="3700" spc="2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tables.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9415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Relational</a:t>
            </a:r>
            <a:r>
              <a:rPr dirty="0"/>
              <a:t> </a:t>
            </a:r>
            <a:r>
              <a:rPr spc="13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060240"/>
            <a:ext cx="7702550" cy="10369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All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6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6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stored</a:t>
            </a:r>
            <a:r>
              <a:rPr sz="4200" spc="-6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</a:t>
            </a:r>
            <a:r>
              <a:rPr sz="4200" spc="-6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various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tables.</a:t>
            </a:r>
            <a:endParaRPr sz="4200" baseline="1984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Example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tabular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relational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model</a:t>
            </a:r>
            <a:endParaRPr sz="4200" baseline="1984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03030" y="4062453"/>
            <a:ext cx="5532120" cy="5298440"/>
            <a:chOff x="1803030" y="4062453"/>
            <a:chExt cx="5532120" cy="5298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3030" y="4536935"/>
              <a:ext cx="5045227" cy="48235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89849" y="4070169"/>
              <a:ext cx="607695" cy="452755"/>
            </a:xfrm>
            <a:custGeom>
              <a:avLst/>
              <a:gdLst/>
              <a:ahLst/>
              <a:cxnLst/>
              <a:rect l="l" t="t" r="r" b="b"/>
              <a:pathLst>
                <a:path w="607695" h="452754">
                  <a:moveTo>
                    <a:pt x="607537" y="0"/>
                  </a:moveTo>
                  <a:lnTo>
                    <a:pt x="3820" y="449433"/>
                  </a:lnTo>
                  <a:lnTo>
                    <a:pt x="0" y="45227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54447" y="4507917"/>
              <a:ext cx="45085" cy="41275"/>
            </a:xfrm>
            <a:custGeom>
              <a:avLst/>
              <a:gdLst/>
              <a:ahLst/>
              <a:cxnLst/>
              <a:rect l="l" t="t" r="r" b="b"/>
              <a:pathLst>
                <a:path w="45085" h="41275">
                  <a:moveTo>
                    <a:pt x="20624" y="0"/>
                  </a:moveTo>
                  <a:lnTo>
                    <a:pt x="0" y="40883"/>
                  </a:lnTo>
                  <a:lnTo>
                    <a:pt x="45082" y="32853"/>
                  </a:lnTo>
                  <a:lnTo>
                    <a:pt x="20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8905" y="4067215"/>
              <a:ext cx="1091565" cy="451484"/>
            </a:xfrm>
            <a:custGeom>
              <a:avLst/>
              <a:gdLst/>
              <a:ahLst/>
              <a:cxnLst/>
              <a:rect l="l" t="t" r="r" b="b"/>
              <a:pathLst>
                <a:path w="1091565" h="451485">
                  <a:moveTo>
                    <a:pt x="1091497" y="0"/>
                  </a:moveTo>
                  <a:lnTo>
                    <a:pt x="4401" y="449242"/>
                  </a:lnTo>
                  <a:lnTo>
                    <a:pt x="0" y="45106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18118" y="4500563"/>
              <a:ext cx="45720" cy="38100"/>
            </a:xfrm>
            <a:custGeom>
              <a:avLst/>
              <a:gdLst/>
              <a:ahLst/>
              <a:cxnLst/>
              <a:rect l="l" t="t" r="r" b="b"/>
              <a:pathLst>
                <a:path w="45720" h="38100">
                  <a:moveTo>
                    <a:pt x="30031" y="0"/>
                  </a:moveTo>
                  <a:lnTo>
                    <a:pt x="0" y="34568"/>
                  </a:lnTo>
                  <a:lnTo>
                    <a:pt x="45674" y="37852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06471" y="5393279"/>
              <a:ext cx="523875" cy="0"/>
            </a:xfrm>
            <a:custGeom>
              <a:avLst/>
              <a:gdLst/>
              <a:ahLst/>
              <a:cxnLst/>
              <a:rect l="l" t="t" r="r" b="b"/>
              <a:pathLst>
                <a:path w="523875">
                  <a:moveTo>
                    <a:pt x="523652" y="0"/>
                  </a:moveTo>
                  <a:lnTo>
                    <a:pt x="4762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2338" y="5372802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957" y="0"/>
                  </a:moveTo>
                  <a:lnTo>
                    <a:pt x="0" y="20478"/>
                  </a:lnTo>
                  <a:lnTo>
                    <a:pt x="40957" y="40957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78620" y="5393281"/>
              <a:ext cx="551815" cy="1389380"/>
            </a:xfrm>
            <a:custGeom>
              <a:avLst/>
              <a:gdLst/>
              <a:ahLst/>
              <a:cxnLst/>
              <a:rect l="l" t="t" r="r" b="b"/>
              <a:pathLst>
                <a:path w="551815" h="1389379">
                  <a:moveTo>
                    <a:pt x="551503" y="0"/>
                  </a:moveTo>
                  <a:lnTo>
                    <a:pt x="1757" y="1384902"/>
                  </a:lnTo>
                  <a:lnTo>
                    <a:pt x="0" y="138932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58415" y="6778005"/>
              <a:ext cx="38100" cy="45720"/>
            </a:xfrm>
            <a:custGeom>
              <a:avLst/>
              <a:gdLst/>
              <a:ahLst/>
              <a:cxnLst/>
              <a:rect l="l" t="t" r="r" b="b"/>
              <a:pathLst>
                <a:path w="38100" h="45720">
                  <a:moveTo>
                    <a:pt x="0" y="0"/>
                  </a:moveTo>
                  <a:lnTo>
                    <a:pt x="3921" y="45623"/>
                  </a:lnTo>
                  <a:lnTo>
                    <a:pt x="38066" y="15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85435" y="3651133"/>
            <a:ext cx="827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Columns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7302" y="5251298"/>
            <a:ext cx="5340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Arial MT"/>
                <a:cs typeface="Arial MT"/>
              </a:rPr>
              <a:t>Rows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9415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Relational</a:t>
            </a:r>
            <a:r>
              <a:rPr dirty="0"/>
              <a:t> </a:t>
            </a:r>
            <a:r>
              <a:rPr spc="135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5011" y="1635041"/>
            <a:ext cx="4414776" cy="74083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7280">
              <a:lnSpc>
                <a:spcPct val="100000"/>
              </a:lnSpc>
              <a:spcBef>
                <a:spcPts val="100"/>
              </a:spcBef>
            </a:pPr>
            <a:r>
              <a:rPr dirty="0"/>
              <a:t>Levels</a:t>
            </a:r>
            <a:r>
              <a:rPr spc="120" dirty="0"/>
              <a:t> </a:t>
            </a:r>
            <a:r>
              <a:rPr spc="150" dirty="0"/>
              <a:t>of</a:t>
            </a:r>
            <a:r>
              <a:rPr spc="130" dirty="0"/>
              <a:t> </a:t>
            </a:r>
            <a:r>
              <a:rPr spc="110" dirty="0"/>
              <a:t>Abstraction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060240"/>
            <a:ext cx="10931525" cy="56984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Physical</a:t>
            </a:r>
            <a:r>
              <a:rPr sz="4200" b="1" spc="-104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level</a:t>
            </a:r>
            <a:r>
              <a:rPr sz="4200" baseline="1984" dirty="0">
                <a:solidFill>
                  <a:srgbClr val="002060"/>
                </a:solidFill>
                <a:latin typeface="Arial MT"/>
                <a:cs typeface="Arial MT"/>
              </a:rPr>
              <a:t>:</a:t>
            </a:r>
            <a:r>
              <a:rPr sz="4200" spc="-97" baseline="1984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describes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how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record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(e.g.,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instructor)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stored.</a:t>
            </a:r>
            <a:endParaRPr sz="4200" baseline="1984">
              <a:latin typeface="Arial MT"/>
              <a:cs typeface="Arial MT"/>
            </a:endParaRPr>
          </a:p>
          <a:p>
            <a:pPr marL="354965" marR="1513840" indent="-342900">
              <a:lnSpc>
                <a:spcPts val="3310"/>
              </a:lnSpc>
              <a:spcBef>
                <a:spcPts val="905"/>
              </a:spcBef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Logical</a:t>
            </a:r>
            <a:r>
              <a:rPr sz="4200" b="1" spc="-127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level</a:t>
            </a:r>
            <a:r>
              <a:rPr sz="4200" baseline="1984" dirty="0">
                <a:solidFill>
                  <a:srgbClr val="002060"/>
                </a:solidFill>
                <a:latin typeface="Arial MT"/>
                <a:cs typeface="Arial MT"/>
              </a:rPr>
              <a:t>:</a:t>
            </a:r>
            <a:r>
              <a:rPr sz="4200" spc="-120" baseline="1984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describes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stored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database,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and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relationships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among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 marL="1370965">
              <a:lnSpc>
                <a:spcPct val="100000"/>
              </a:lnSpc>
              <a:spcBef>
                <a:spcPts val="650"/>
              </a:spcBef>
            </a:pPr>
            <a:r>
              <a:rPr sz="2800" b="1" dirty="0">
                <a:latin typeface="Arial"/>
                <a:cs typeface="Arial"/>
              </a:rPr>
              <a:t>type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instructor</a:t>
            </a:r>
            <a:r>
              <a:rPr sz="2800" i="1" spc="-6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b="1" spc="-10" dirty="0">
                <a:latin typeface="Arial"/>
                <a:cs typeface="Arial"/>
              </a:rPr>
              <a:t>record</a:t>
            </a:r>
            <a:endParaRPr sz="2800">
              <a:latin typeface="Arial"/>
              <a:cs typeface="Arial"/>
            </a:endParaRPr>
          </a:p>
          <a:p>
            <a:pPr marL="2755265">
              <a:lnSpc>
                <a:spcPct val="100000"/>
              </a:lnSpc>
              <a:spcBef>
                <a:spcPts val="750"/>
              </a:spcBef>
            </a:pPr>
            <a:r>
              <a:rPr sz="2800" i="1" dirty="0">
                <a:latin typeface="Arial"/>
                <a:cs typeface="Arial"/>
              </a:rPr>
              <a:t>ID</a:t>
            </a:r>
            <a:r>
              <a:rPr sz="2800" i="1" spc="-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string;</a:t>
            </a:r>
            <a:endParaRPr sz="2800">
              <a:latin typeface="Arial MT"/>
              <a:cs typeface="Arial MT"/>
            </a:endParaRPr>
          </a:p>
          <a:p>
            <a:pPr marL="2755265" marR="5123180">
              <a:lnSpc>
                <a:spcPct val="101200"/>
              </a:lnSpc>
            </a:pPr>
            <a:r>
              <a:rPr sz="2800" i="1" dirty="0">
                <a:latin typeface="Arial"/>
                <a:cs typeface="Arial"/>
              </a:rPr>
              <a:t>name</a:t>
            </a:r>
            <a:r>
              <a:rPr sz="2800" i="1" spc="-4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string; </a:t>
            </a:r>
            <a:r>
              <a:rPr sz="2800" i="1" dirty="0">
                <a:latin typeface="Arial"/>
                <a:cs typeface="Arial"/>
              </a:rPr>
              <a:t>dept_name</a:t>
            </a:r>
            <a:r>
              <a:rPr sz="2800" i="1" spc="-8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string; </a:t>
            </a:r>
            <a:r>
              <a:rPr sz="2800" i="1" dirty="0">
                <a:latin typeface="Arial"/>
                <a:cs typeface="Arial"/>
              </a:rPr>
              <a:t>salary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integer;</a:t>
            </a:r>
            <a:endParaRPr sz="2800">
              <a:latin typeface="Arial MT"/>
              <a:cs typeface="Arial MT"/>
            </a:endParaRPr>
          </a:p>
          <a:p>
            <a:pPr marL="2367915">
              <a:lnSpc>
                <a:spcPct val="100000"/>
              </a:lnSpc>
              <a:spcBef>
                <a:spcPts val="755"/>
              </a:spcBef>
            </a:pPr>
            <a:r>
              <a:rPr sz="2800" b="1" spc="-20" dirty="0">
                <a:latin typeface="Arial"/>
                <a:cs typeface="Arial"/>
              </a:rPr>
              <a:t>end</a:t>
            </a:r>
            <a:r>
              <a:rPr sz="2800" spc="-20" dirty="0">
                <a:latin typeface="Arial MT"/>
                <a:cs typeface="Arial MT"/>
              </a:rPr>
              <a:t>;</a:t>
            </a:r>
            <a:endParaRPr sz="2800">
              <a:latin typeface="Arial MT"/>
              <a:cs typeface="Arial MT"/>
            </a:endParaRPr>
          </a:p>
          <a:p>
            <a:pPr marL="354965" marR="5080" indent="-342900">
              <a:lnSpc>
                <a:spcPct val="99800"/>
              </a:lnSpc>
              <a:spcBef>
                <a:spcPts val="855"/>
              </a:spcBef>
              <a:buSzPct val="108928"/>
              <a:buFont typeface="Trebuchet MS"/>
              <a:buChar char="▪"/>
              <a:tabLst>
                <a:tab pos="354965" algn="l"/>
                <a:tab pos="1356360" algn="l"/>
                <a:tab pos="9975850" algn="l"/>
              </a:tabLst>
            </a:pPr>
            <a:r>
              <a:rPr sz="4200" b="1" spc="-30" baseline="1984" dirty="0">
                <a:solidFill>
                  <a:srgbClr val="002060"/>
                </a:solidFill>
                <a:latin typeface="Arial"/>
                <a:cs typeface="Arial"/>
              </a:rPr>
              <a:t>View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	level</a:t>
            </a:r>
            <a:r>
              <a:rPr sz="4200" baseline="1984" dirty="0">
                <a:solidFill>
                  <a:srgbClr val="002060"/>
                </a:solidFill>
                <a:latin typeface="Arial MT"/>
                <a:cs typeface="Arial MT"/>
              </a:rPr>
              <a:t>:</a:t>
            </a:r>
            <a:r>
              <a:rPr sz="4200" spc="-112" baseline="1984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application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programs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hide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details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types.</a:t>
            </a:r>
            <a:r>
              <a:rPr sz="4200" baseline="1984" dirty="0">
                <a:latin typeface="Arial MT"/>
                <a:cs typeface="Arial MT"/>
              </a:rPr>
              <a:t>	</a:t>
            </a:r>
            <a:r>
              <a:rPr sz="4200" spc="-37" baseline="1984" dirty="0">
                <a:latin typeface="Arial MT"/>
                <a:cs typeface="Arial MT"/>
              </a:rPr>
              <a:t>Views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also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hide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information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(such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employee’s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salary)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for </a:t>
            </a:r>
            <a:r>
              <a:rPr sz="2800" dirty="0">
                <a:latin typeface="Arial MT"/>
                <a:cs typeface="Arial MT"/>
              </a:rPr>
              <a:t>security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purposes.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7280">
              <a:lnSpc>
                <a:spcPct val="100000"/>
              </a:lnSpc>
              <a:spcBef>
                <a:spcPts val="100"/>
              </a:spcBef>
            </a:pPr>
            <a:r>
              <a:rPr dirty="0"/>
              <a:t>Levels</a:t>
            </a:r>
            <a:r>
              <a:rPr spc="120" dirty="0"/>
              <a:t> </a:t>
            </a:r>
            <a:r>
              <a:rPr spc="150" dirty="0"/>
              <a:t>of</a:t>
            </a:r>
            <a:r>
              <a:rPr spc="130" dirty="0"/>
              <a:t> </a:t>
            </a:r>
            <a:r>
              <a:rPr spc="110" dirty="0"/>
              <a:t>Abstraction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102995"/>
            <a:ext cx="6014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An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architecture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database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20716" y="3569162"/>
            <a:ext cx="6932930" cy="4057650"/>
            <a:chOff x="2920716" y="3569162"/>
            <a:chExt cx="6932930" cy="4057650"/>
          </a:xfrm>
        </p:grpSpPr>
        <p:sp>
          <p:nvSpPr>
            <p:cNvPr id="5" name="object 5"/>
            <p:cNvSpPr/>
            <p:nvPr/>
          </p:nvSpPr>
          <p:spPr>
            <a:xfrm>
              <a:off x="2926669" y="3575114"/>
              <a:ext cx="6920865" cy="1825625"/>
            </a:xfrm>
            <a:custGeom>
              <a:avLst/>
              <a:gdLst/>
              <a:ahLst/>
              <a:cxnLst/>
              <a:rect l="l" t="t" r="r" b="b"/>
              <a:pathLst>
                <a:path w="6920865" h="1825625">
                  <a:moveTo>
                    <a:pt x="6920466" y="0"/>
                  </a:moveTo>
                  <a:lnTo>
                    <a:pt x="0" y="0"/>
                  </a:lnTo>
                  <a:lnTo>
                    <a:pt x="0" y="1825386"/>
                  </a:lnTo>
                  <a:lnTo>
                    <a:pt x="6920466" y="1825386"/>
                  </a:lnTo>
                  <a:lnTo>
                    <a:pt x="6920466" y="0"/>
                  </a:lnTo>
                  <a:close/>
                </a:path>
              </a:pathLst>
            </a:custGeom>
            <a:solidFill>
              <a:srgbClr val="CBEE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26668" y="3575114"/>
              <a:ext cx="6920865" cy="1825625"/>
            </a:xfrm>
            <a:custGeom>
              <a:avLst/>
              <a:gdLst/>
              <a:ahLst/>
              <a:cxnLst/>
              <a:rect l="l" t="t" r="r" b="b"/>
              <a:pathLst>
                <a:path w="6920865" h="1825625">
                  <a:moveTo>
                    <a:pt x="6920466" y="0"/>
                  </a:moveTo>
                  <a:lnTo>
                    <a:pt x="0" y="0"/>
                  </a:lnTo>
                  <a:lnTo>
                    <a:pt x="0" y="1825385"/>
                  </a:lnTo>
                  <a:lnTo>
                    <a:pt x="6920466" y="1825385"/>
                  </a:lnTo>
                </a:path>
              </a:pathLst>
            </a:custGeom>
            <a:ln w="11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55815" y="4400506"/>
              <a:ext cx="1481455" cy="687070"/>
            </a:xfrm>
            <a:custGeom>
              <a:avLst/>
              <a:gdLst/>
              <a:ahLst/>
              <a:cxnLst/>
              <a:rect l="l" t="t" r="r" b="b"/>
              <a:pathLst>
                <a:path w="1481454" h="687070">
                  <a:moveTo>
                    <a:pt x="0" y="686503"/>
                  </a:moveTo>
                  <a:lnTo>
                    <a:pt x="1481157" y="686503"/>
                  </a:lnTo>
                  <a:lnTo>
                    <a:pt x="1481157" y="0"/>
                  </a:lnTo>
                  <a:lnTo>
                    <a:pt x="0" y="0"/>
                  </a:lnTo>
                  <a:lnTo>
                    <a:pt x="0" y="686503"/>
                  </a:lnTo>
                  <a:close/>
                </a:path>
              </a:pathLst>
            </a:custGeom>
            <a:solidFill>
              <a:srgbClr val="EC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55815" y="4400505"/>
              <a:ext cx="1481455" cy="687070"/>
            </a:xfrm>
            <a:custGeom>
              <a:avLst/>
              <a:gdLst/>
              <a:ahLst/>
              <a:cxnLst/>
              <a:rect l="l" t="t" r="r" b="b"/>
              <a:pathLst>
                <a:path w="1481454" h="687070">
                  <a:moveTo>
                    <a:pt x="0" y="686503"/>
                  </a:moveTo>
                  <a:lnTo>
                    <a:pt x="1481157" y="686503"/>
                  </a:lnTo>
                  <a:lnTo>
                    <a:pt x="1481157" y="0"/>
                  </a:lnTo>
                  <a:lnTo>
                    <a:pt x="0" y="0"/>
                  </a:lnTo>
                  <a:lnTo>
                    <a:pt x="0" y="686503"/>
                  </a:lnTo>
                  <a:close/>
                </a:path>
              </a:pathLst>
            </a:custGeom>
            <a:ln w="11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82245" y="4400506"/>
              <a:ext cx="1481455" cy="687070"/>
            </a:xfrm>
            <a:custGeom>
              <a:avLst/>
              <a:gdLst/>
              <a:ahLst/>
              <a:cxnLst/>
              <a:rect l="l" t="t" r="r" b="b"/>
              <a:pathLst>
                <a:path w="1481454" h="687070">
                  <a:moveTo>
                    <a:pt x="0" y="686503"/>
                  </a:moveTo>
                  <a:lnTo>
                    <a:pt x="1481157" y="686503"/>
                  </a:lnTo>
                  <a:lnTo>
                    <a:pt x="1481157" y="0"/>
                  </a:lnTo>
                  <a:lnTo>
                    <a:pt x="0" y="0"/>
                  </a:lnTo>
                  <a:lnTo>
                    <a:pt x="0" y="686503"/>
                  </a:lnTo>
                  <a:close/>
                </a:path>
              </a:pathLst>
            </a:custGeom>
            <a:solidFill>
              <a:srgbClr val="EC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2244" y="4400505"/>
              <a:ext cx="1481455" cy="687070"/>
            </a:xfrm>
            <a:custGeom>
              <a:avLst/>
              <a:gdLst/>
              <a:ahLst/>
              <a:cxnLst/>
              <a:rect l="l" t="t" r="r" b="b"/>
              <a:pathLst>
                <a:path w="1481454" h="687070">
                  <a:moveTo>
                    <a:pt x="0" y="686503"/>
                  </a:moveTo>
                  <a:lnTo>
                    <a:pt x="1481157" y="686503"/>
                  </a:lnTo>
                  <a:lnTo>
                    <a:pt x="1481157" y="0"/>
                  </a:lnTo>
                  <a:lnTo>
                    <a:pt x="0" y="0"/>
                  </a:lnTo>
                  <a:lnTo>
                    <a:pt x="0" y="686503"/>
                  </a:lnTo>
                  <a:close/>
                </a:path>
              </a:pathLst>
            </a:custGeom>
            <a:ln w="11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7078" y="5402483"/>
              <a:ext cx="1491077" cy="22241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048263" y="4400506"/>
              <a:ext cx="1481455" cy="687070"/>
            </a:xfrm>
            <a:custGeom>
              <a:avLst/>
              <a:gdLst/>
              <a:ahLst/>
              <a:cxnLst/>
              <a:rect l="l" t="t" r="r" b="b"/>
              <a:pathLst>
                <a:path w="1481454" h="687070">
                  <a:moveTo>
                    <a:pt x="0" y="686503"/>
                  </a:moveTo>
                  <a:lnTo>
                    <a:pt x="1481156" y="686503"/>
                  </a:lnTo>
                  <a:lnTo>
                    <a:pt x="1481156" y="0"/>
                  </a:lnTo>
                  <a:lnTo>
                    <a:pt x="0" y="0"/>
                  </a:lnTo>
                  <a:lnTo>
                    <a:pt x="0" y="686503"/>
                  </a:lnTo>
                  <a:close/>
                </a:path>
              </a:pathLst>
            </a:custGeom>
            <a:solidFill>
              <a:srgbClr val="EC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48261" y="4400505"/>
              <a:ext cx="1481455" cy="687070"/>
            </a:xfrm>
            <a:custGeom>
              <a:avLst/>
              <a:gdLst/>
              <a:ahLst/>
              <a:cxnLst/>
              <a:rect l="l" t="t" r="r" b="b"/>
              <a:pathLst>
                <a:path w="1481454" h="687070">
                  <a:moveTo>
                    <a:pt x="0" y="686503"/>
                  </a:moveTo>
                  <a:lnTo>
                    <a:pt x="1481157" y="686503"/>
                  </a:lnTo>
                  <a:lnTo>
                    <a:pt x="1481157" y="0"/>
                  </a:lnTo>
                  <a:lnTo>
                    <a:pt x="0" y="0"/>
                  </a:lnTo>
                  <a:lnTo>
                    <a:pt x="0" y="686503"/>
                  </a:lnTo>
                  <a:close/>
                </a:path>
              </a:pathLst>
            </a:custGeom>
            <a:ln w="11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14699" y="4634636"/>
              <a:ext cx="563245" cy="184785"/>
            </a:xfrm>
            <a:custGeom>
              <a:avLst/>
              <a:gdLst/>
              <a:ahLst/>
              <a:cxnLst/>
              <a:rect l="l" t="t" r="r" b="b"/>
              <a:pathLst>
                <a:path w="563245" h="184785">
                  <a:moveTo>
                    <a:pt x="138798" y="59524"/>
                  </a:moveTo>
                  <a:lnTo>
                    <a:pt x="126898" y="59524"/>
                  </a:lnTo>
                  <a:lnTo>
                    <a:pt x="118960" y="61506"/>
                  </a:lnTo>
                  <a:lnTo>
                    <a:pt x="109054" y="61506"/>
                  </a:lnTo>
                  <a:lnTo>
                    <a:pt x="101117" y="59524"/>
                  </a:lnTo>
                  <a:lnTo>
                    <a:pt x="91211" y="59524"/>
                  </a:lnTo>
                  <a:lnTo>
                    <a:pt x="89230" y="61506"/>
                  </a:lnTo>
                  <a:lnTo>
                    <a:pt x="89230" y="67462"/>
                  </a:lnTo>
                  <a:lnTo>
                    <a:pt x="99136" y="67462"/>
                  </a:lnTo>
                  <a:lnTo>
                    <a:pt x="103098" y="69443"/>
                  </a:lnTo>
                  <a:lnTo>
                    <a:pt x="107073" y="69443"/>
                  </a:lnTo>
                  <a:lnTo>
                    <a:pt x="109054" y="71424"/>
                  </a:lnTo>
                  <a:lnTo>
                    <a:pt x="109054" y="73418"/>
                  </a:lnTo>
                  <a:lnTo>
                    <a:pt x="107073" y="77381"/>
                  </a:lnTo>
                  <a:lnTo>
                    <a:pt x="107073" y="81356"/>
                  </a:lnTo>
                  <a:lnTo>
                    <a:pt x="105092" y="85318"/>
                  </a:lnTo>
                  <a:lnTo>
                    <a:pt x="103098" y="93256"/>
                  </a:lnTo>
                  <a:lnTo>
                    <a:pt x="99136" y="103174"/>
                  </a:lnTo>
                  <a:lnTo>
                    <a:pt x="87236" y="128968"/>
                  </a:lnTo>
                  <a:lnTo>
                    <a:pt x="75349" y="158737"/>
                  </a:lnTo>
                  <a:lnTo>
                    <a:pt x="47586" y="89281"/>
                  </a:lnTo>
                  <a:lnTo>
                    <a:pt x="43624" y="81356"/>
                  </a:lnTo>
                  <a:lnTo>
                    <a:pt x="41643" y="75399"/>
                  </a:lnTo>
                  <a:lnTo>
                    <a:pt x="41643" y="71424"/>
                  </a:lnTo>
                  <a:lnTo>
                    <a:pt x="43624" y="71424"/>
                  </a:lnTo>
                  <a:lnTo>
                    <a:pt x="43624" y="69443"/>
                  </a:lnTo>
                  <a:lnTo>
                    <a:pt x="45605" y="69443"/>
                  </a:lnTo>
                  <a:lnTo>
                    <a:pt x="49568" y="67462"/>
                  </a:lnTo>
                  <a:lnTo>
                    <a:pt x="61468" y="67462"/>
                  </a:lnTo>
                  <a:lnTo>
                    <a:pt x="61468" y="61506"/>
                  </a:lnTo>
                  <a:lnTo>
                    <a:pt x="59486" y="59524"/>
                  </a:lnTo>
                  <a:lnTo>
                    <a:pt x="52044" y="59829"/>
                  </a:lnTo>
                  <a:lnTo>
                    <a:pt x="37172" y="61201"/>
                  </a:lnTo>
                  <a:lnTo>
                    <a:pt x="29743" y="61506"/>
                  </a:lnTo>
                  <a:lnTo>
                    <a:pt x="23698" y="61201"/>
                  </a:lnTo>
                  <a:lnTo>
                    <a:pt x="17094" y="60515"/>
                  </a:lnTo>
                  <a:lnTo>
                    <a:pt x="9385" y="59829"/>
                  </a:lnTo>
                  <a:lnTo>
                    <a:pt x="0" y="59524"/>
                  </a:lnTo>
                  <a:lnTo>
                    <a:pt x="0" y="67462"/>
                  </a:lnTo>
                  <a:lnTo>
                    <a:pt x="9918" y="67462"/>
                  </a:lnTo>
                  <a:lnTo>
                    <a:pt x="9918" y="69443"/>
                  </a:lnTo>
                  <a:lnTo>
                    <a:pt x="11899" y="69443"/>
                  </a:lnTo>
                  <a:lnTo>
                    <a:pt x="13881" y="71424"/>
                  </a:lnTo>
                  <a:lnTo>
                    <a:pt x="17843" y="79362"/>
                  </a:lnTo>
                  <a:lnTo>
                    <a:pt x="43624" y="140868"/>
                  </a:lnTo>
                  <a:lnTo>
                    <a:pt x="53530" y="162699"/>
                  </a:lnTo>
                  <a:lnTo>
                    <a:pt x="61468" y="182537"/>
                  </a:lnTo>
                  <a:lnTo>
                    <a:pt x="75349" y="182537"/>
                  </a:lnTo>
                  <a:lnTo>
                    <a:pt x="83489" y="161620"/>
                  </a:lnTo>
                  <a:lnTo>
                    <a:pt x="84696" y="158737"/>
                  </a:lnTo>
                  <a:lnTo>
                    <a:pt x="89966" y="146088"/>
                  </a:lnTo>
                  <a:lnTo>
                    <a:pt x="94589" y="135382"/>
                  </a:lnTo>
                  <a:lnTo>
                    <a:pt x="97155" y="128968"/>
                  </a:lnTo>
                  <a:lnTo>
                    <a:pt x="109054" y="103174"/>
                  </a:lnTo>
                  <a:lnTo>
                    <a:pt x="122936" y="75399"/>
                  </a:lnTo>
                  <a:lnTo>
                    <a:pt x="128879" y="69443"/>
                  </a:lnTo>
                  <a:lnTo>
                    <a:pt x="130860" y="69443"/>
                  </a:lnTo>
                  <a:lnTo>
                    <a:pt x="132842" y="67462"/>
                  </a:lnTo>
                  <a:lnTo>
                    <a:pt x="138798" y="67462"/>
                  </a:lnTo>
                  <a:lnTo>
                    <a:pt x="138798" y="61506"/>
                  </a:lnTo>
                  <a:lnTo>
                    <a:pt x="138798" y="59524"/>
                  </a:lnTo>
                  <a:close/>
                </a:path>
                <a:path w="563245" h="184785">
                  <a:moveTo>
                    <a:pt x="196291" y="5956"/>
                  </a:moveTo>
                  <a:lnTo>
                    <a:pt x="192328" y="3975"/>
                  </a:lnTo>
                  <a:lnTo>
                    <a:pt x="190347" y="1981"/>
                  </a:lnTo>
                  <a:lnTo>
                    <a:pt x="186385" y="0"/>
                  </a:lnTo>
                  <a:lnTo>
                    <a:pt x="178447" y="0"/>
                  </a:lnTo>
                  <a:lnTo>
                    <a:pt x="174485" y="1981"/>
                  </a:lnTo>
                  <a:lnTo>
                    <a:pt x="172504" y="3975"/>
                  </a:lnTo>
                  <a:lnTo>
                    <a:pt x="168541" y="5956"/>
                  </a:lnTo>
                  <a:lnTo>
                    <a:pt x="168541" y="21831"/>
                  </a:lnTo>
                  <a:lnTo>
                    <a:pt x="172504" y="23812"/>
                  </a:lnTo>
                  <a:lnTo>
                    <a:pt x="174485" y="27774"/>
                  </a:lnTo>
                  <a:lnTo>
                    <a:pt x="190347" y="27774"/>
                  </a:lnTo>
                  <a:lnTo>
                    <a:pt x="192328" y="23812"/>
                  </a:lnTo>
                  <a:lnTo>
                    <a:pt x="196291" y="21831"/>
                  </a:lnTo>
                  <a:lnTo>
                    <a:pt x="196291" y="5956"/>
                  </a:lnTo>
                  <a:close/>
                </a:path>
                <a:path w="563245" h="184785">
                  <a:moveTo>
                    <a:pt x="216128" y="174599"/>
                  </a:moveTo>
                  <a:lnTo>
                    <a:pt x="214147" y="172618"/>
                  </a:lnTo>
                  <a:lnTo>
                    <a:pt x="200266" y="172618"/>
                  </a:lnTo>
                  <a:lnTo>
                    <a:pt x="198285" y="170637"/>
                  </a:lnTo>
                  <a:lnTo>
                    <a:pt x="196291" y="170637"/>
                  </a:lnTo>
                  <a:lnTo>
                    <a:pt x="196291" y="164680"/>
                  </a:lnTo>
                  <a:lnTo>
                    <a:pt x="194310" y="158737"/>
                  </a:lnTo>
                  <a:lnTo>
                    <a:pt x="194348" y="89382"/>
                  </a:lnTo>
                  <a:lnTo>
                    <a:pt x="196291" y="59524"/>
                  </a:lnTo>
                  <a:lnTo>
                    <a:pt x="192328" y="57543"/>
                  </a:lnTo>
                  <a:lnTo>
                    <a:pt x="184188" y="60490"/>
                  </a:lnTo>
                  <a:lnTo>
                    <a:pt x="174739" y="63246"/>
                  </a:lnTo>
                  <a:lnTo>
                    <a:pt x="164172" y="65633"/>
                  </a:lnTo>
                  <a:lnTo>
                    <a:pt x="152679" y="67462"/>
                  </a:lnTo>
                  <a:lnTo>
                    <a:pt x="150698" y="67462"/>
                  </a:lnTo>
                  <a:lnTo>
                    <a:pt x="150698" y="73418"/>
                  </a:lnTo>
                  <a:lnTo>
                    <a:pt x="152679" y="75399"/>
                  </a:lnTo>
                  <a:lnTo>
                    <a:pt x="170522" y="75399"/>
                  </a:lnTo>
                  <a:lnTo>
                    <a:pt x="170522" y="79362"/>
                  </a:lnTo>
                  <a:lnTo>
                    <a:pt x="172504" y="79362"/>
                  </a:lnTo>
                  <a:lnTo>
                    <a:pt x="172504" y="164680"/>
                  </a:lnTo>
                  <a:lnTo>
                    <a:pt x="170522" y="166662"/>
                  </a:lnTo>
                  <a:lnTo>
                    <a:pt x="170522" y="170637"/>
                  </a:lnTo>
                  <a:lnTo>
                    <a:pt x="168541" y="170637"/>
                  </a:lnTo>
                  <a:lnTo>
                    <a:pt x="168541" y="172618"/>
                  </a:lnTo>
                  <a:lnTo>
                    <a:pt x="152679" y="172618"/>
                  </a:lnTo>
                  <a:lnTo>
                    <a:pt x="150698" y="174599"/>
                  </a:lnTo>
                  <a:lnTo>
                    <a:pt x="150698" y="180555"/>
                  </a:lnTo>
                  <a:lnTo>
                    <a:pt x="216128" y="180555"/>
                  </a:lnTo>
                  <a:lnTo>
                    <a:pt x="216128" y="174599"/>
                  </a:lnTo>
                  <a:close/>
                </a:path>
                <a:path w="563245" h="184785">
                  <a:moveTo>
                    <a:pt x="339064" y="113093"/>
                  </a:moveTo>
                  <a:lnTo>
                    <a:pt x="331127" y="75399"/>
                  </a:lnTo>
                  <a:lnTo>
                    <a:pt x="327164" y="67462"/>
                  </a:lnTo>
                  <a:lnTo>
                    <a:pt x="323189" y="65481"/>
                  </a:lnTo>
                  <a:lnTo>
                    <a:pt x="319227" y="63487"/>
                  </a:lnTo>
                  <a:lnTo>
                    <a:pt x="315264" y="61658"/>
                  </a:lnTo>
                  <a:lnTo>
                    <a:pt x="315264" y="105156"/>
                  </a:lnTo>
                  <a:lnTo>
                    <a:pt x="315264" y="109131"/>
                  </a:lnTo>
                  <a:lnTo>
                    <a:pt x="253796" y="109131"/>
                  </a:lnTo>
                  <a:lnTo>
                    <a:pt x="254139" y="100050"/>
                  </a:lnTo>
                  <a:lnTo>
                    <a:pt x="254203" y="98272"/>
                  </a:lnTo>
                  <a:lnTo>
                    <a:pt x="255536" y="89293"/>
                  </a:lnTo>
                  <a:lnTo>
                    <a:pt x="285521" y="65481"/>
                  </a:lnTo>
                  <a:lnTo>
                    <a:pt x="295440" y="65481"/>
                  </a:lnTo>
                  <a:lnTo>
                    <a:pt x="303364" y="67462"/>
                  </a:lnTo>
                  <a:lnTo>
                    <a:pt x="307340" y="75399"/>
                  </a:lnTo>
                  <a:lnTo>
                    <a:pt x="311086" y="80606"/>
                  </a:lnTo>
                  <a:lnTo>
                    <a:pt x="313537" y="87337"/>
                  </a:lnTo>
                  <a:lnTo>
                    <a:pt x="314858" y="95491"/>
                  </a:lnTo>
                  <a:lnTo>
                    <a:pt x="315264" y="105156"/>
                  </a:lnTo>
                  <a:lnTo>
                    <a:pt x="315264" y="61658"/>
                  </a:lnTo>
                  <a:lnTo>
                    <a:pt x="312940" y="60579"/>
                  </a:lnTo>
                  <a:lnTo>
                    <a:pt x="306095" y="58039"/>
                  </a:lnTo>
                  <a:lnTo>
                    <a:pt x="298869" y="56235"/>
                  </a:lnTo>
                  <a:lnTo>
                    <a:pt x="291465" y="55562"/>
                  </a:lnTo>
                  <a:lnTo>
                    <a:pt x="283540" y="55562"/>
                  </a:lnTo>
                  <a:lnTo>
                    <a:pt x="275602" y="57543"/>
                  </a:lnTo>
                  <a:lnTo>
                    <a:pt x="269659" y="59524"/>
                  </a:lnTo>
                  <a:lnTo>
                    <a:pt x="263715" y="63487"/>
                  </a:lnTo>
                  <a:lnTo>
                    <a:pt x="257759" y="65481"/>
                  </a:lnTo>
                  <a:lnTo>
                    <a:pt x="251815" y="71424"/>
                  </a:lnTo>
                  <a:lnTo>
                    <a:pt x="245872" y="75399"/>
                  </a:lnTo>
                  <a:lnTo>
                    <a:pt x="235953" y="85318"/>
                  </a:lnTo>
                  <a:lnTo>
                    <a:pt x="233972" y="91274"/>
                  </a:lnTo>
                  <a:lnTo>
                    <a:pt x="231990" y="99212"/>
                  </a:lnTo>
                  <a:lnTo>
                    <a:pt x="230009" y="105156"/>
                  </a:lnTo>
                  <a:lnTo>
                    <a:pt x="228015" y="113093"/>
                  </a:lnTo>
                  <a:lnTo>
                    <a:pt x="228015" y="123012"/>
                  </a:lnTo>
                  <a:lnTo>
                    <a:pt x="228612" y="131381"/>
                  </a:lnTo>
                  <a:lnTo>
                    <a:pt x="228739" y="133032"/>
                  </a:lnTo>
                  <a:lnTo>
                    <a:pt x="230695" y="141871"/>
                  </a:lnTo>
                  <a:lnTo>
                    <a:pt x="230746" y="142113"/>
                  </a:lnTo>
                  <a:lnTo>
                    <a:pt x="252996" y="174879"/>
                  </a:lnTo>
                  <a:lnTo>
                    <a:pt x="289483" y="184518"/>
                  </a:lnTo>
                  <a:lnTo>
                    <a:pt x="295440" y="184518"/>
                  </a:lnTo>
                  <a:lnTo>
                    <a:pt x="301383" y="182537"/>
                  </a:lnTo>
                  <a:lnTo>
                    <a:pt x="307340" y="182537"/>
                  </a:lnTo>
                  <a:lnTo>
                    <a:pt x="337070" y="160718"/>
                  </a:lnTo>
                  <a:lnTo>
                    <a:pt x="333108" y="158737"/>
                  </a:lnTo>
                  <a:lnTo>
                    <a:pt x="327164" y="162699"/>
                  </a:lnTo>
                  <a:lnTo>
                    <a:pt x="321208" y="164680"/>
                  </a:lnTo>
                  <a:lnTo>
                    <a:pt x="317246" y="166662"/>
                  </a:lnTo>
                  <a:lnTo>
                    <a:pt x="305346" y="170637"/>
                  </a:lnTo>
                  <a:lnTo>
                    <a:pt x="299402" y="170637"/>
                  </a:lnTo>
                  <a:lnTo>
                    <a:pt x="261327" y="150863"/>
                  </a:lnTo>
                  <a:lnTo>
                    <a:pt x="253796" y="119049"/>
                  </a:lnTo>
                  <a:lnTo>
                    <a:pt x="305346" y="119049"/>
                  </a:lnTo>
                  <a:lnTo>
                    <a:pt x="315264" y="117068"/>
                  </a:lnTo>
                  <a:lnTo>
                    <a:pt x="333108" y="117068"/>
                  </a:lnTo>
                  <a:lnTo>
                    <a:pt x="337070" y="115074"/>
                  </a:lnTo>
                  <a:lnTo>
                    <a:pt x="339064" y="113093"/>
                  </a:lnTo>
                  <a:close/>
                </a:path>
                <a:path w="563245" h="184785">
                  <a:moveTo>
                    <a:pt x="563118" y="61506"/>
                  </a:moveTo>
                  <a:lnTo>
                    <a:pt x="561136" y="59524"/>
                  </a:lnTo>
                  <a:lnTo>
                    <a:pt x="555180" y="59524"/>
                  </a:lnTo>
                  <a:lnTo>
                    <a:pt x="547255" y="61506"/>
                  </a:lnTo>
                  <a:lnTo>
                    <a:pt x="531393" y="61506"/>
                  </a:lnTo>
                  <a:lnTo>
                    <a:pt x="523455" y="59524"/>
                  </a:lnTo>
                  <a:lnTo>
                    <a:pt x="513549" y="59524"/>
                  </a:lnTo>
                  <a:lnTo>
                    <a:pt x="511568" y="61506"/>
                  </a:lnTo>
                  <a:lnTo>
                    <a:pt x="511568" y="65481"/>
                  </a:lnTo>
                  <a:lnTo>
                    <a:pt x="513549" y="67462"/>
                  </a:lnTo>
                  <a:lnTo>
                    <a:pt x="525437" y="67462"/>
                  </a:lnTo>
                  <a:lnTo>
                    <a:pt x="527431" y="69443"/>
                  </a:lnTo>
                  <a:lnTo>
                    <a:pt x="529412" y="69443"/>
                  </a:lnTo>
                  <a:lnTo>
                    <a:pt x="531393" y="71424"/>
                  </a:lnTo>
                  <a:lnTo>
                    <a:pt x="531393" y="77381"/>
                  </a:lnTo>
                  <a:lnTo>
                    <a:pt x="529412" y="83337"/>
                  </a:lnTo>
                  <a:lnTo>
                    <a:pt x="525437" y="93256"/>
                  </a:lnTo>
                  <a:lnTo>
                    <a:pt x="523582" y="101066"/>
                  </a:lnTo>
                  <a:lnTo>
                    <a:pt x="520979" y="109626"/>
                  </a:lnTo>
                  <a:lnTo>
                    <a:pt x="517588" y="119049"/>
                  </a:lnTo>
                  <a:lnTo>
                    <a:pt x="513549" y="128968"/>
                  </a:lnTo>
                  <a:lnTo>
                    <a:pt x="503631" y="154762"/>
                  </a:lnTo>
                  <a:lnTo>
                    <a:pt x="491731" y="126987"/>
                  </a:lnTo>
                  <a:lnTo>
                    <a:pt x="479310" y="93256"/>
                  </a:lnTo>
                  <a:lnTo>
                    <a:pt x="477850" y="89281"/>
                  </a:lnTo>
                  <a:lnTo>
                    <a:pt x="465963" y="57543"/>
                  </a:lnTo>
                  <a:lnTo>
                    <a:pt x="460006" y="57543"/>
                  </a:lnTo>
                  <a:lnTo>
                    <a:pt x="457009" y="65290"/>
                  </a:lnTo>
                  <a:lnTo>
                    <a:pt x="453809" y="73418"/>
                  </a:lnTo>
                  <a:lnTo>
                    <a:pt x="450329" y="81356"/>
                  </a:lnTo>
                  <a:lnTo>
                    <a:pt x="450253" y="81534"/>
                  </a:lnTo>
                  <a:lnTo>
                    <a:pt x="446125" y="89281"/>
                  </a:lnTo>
                  <a:lnTo>
                    <a:pt x="428282" y="130949"/>
                  </a:lnTo>
                  <a:lnTo>
                    <a:pt x="424319" y="140868"/>
                  </a:lnTo>
                  <a:lnTo>
                    <a:pt x="420357" y="146824"/>
                  </a:lnTo>
                  <a:lnTo>
                    <a:pt x="418376" y="152781"/>
                  </a:lnTo>
                  <a:lnTo>
                    <a:pt x="414401" y="144843"/>
                  </a:lnTo>
                  <a:lnTo>
                    <a:pt x="412419" y="136906"/>
                  </a:lnTo>
                  <a:lnTo>
                    <a:pt x="410438" y="130949"/>
                  </a:lnTo>
                  <a:lnTo>
                    <a:pt x="398538" y="89281"/>
                  </a:lnTo>
                  <a:lnTo>
                    <a:pt x="396608" y="81534"/>
                  </a:lnTo>
                  <a:lnTo>
                    <a:pt x="396557" y="81356"/>
                  </a:lnTo>
                  <a:lnTo>
                    <a:pt x="394576" y="75399"/>
                  </a:lnTo>
                  <a:lnTo>
                    <a:pt x="394576" y="71424"/>
                  </a:lnTo>
                  <a:lnTo>
                    <a:pt x="396557" y="69443"/>
                  </a:lnTo>
                  <a:lnTo>
                    <a:pt x="398538" y="69443"/>
                  </a:lnTo>
                  <a:lnTo>
                    <a:pt x="398538" y="67462"/>
                  </a:lnTo>
                  <a:lnTo>
                    <a:pt x="414401" y="67462"/>
                  </a:lnTo>
                  <a:lnTo>
                    <a:pt x="414401" y="61506"/>
                  </a:lnTo>
                  <a:lnTo>
                    <a:pt x="414401" y="59524"/>
                  </a:lnTo>
                  <a:lnTo>
                    <a:pt x="408051" y="59829"/>
                  </a:lnTo>
                  <a:lnTo>
                    <a:pt x="400773" y="60515"/>
                  </a:lnTo>
                  <a:lnTo>
                    <a:pt x="392379" y="61201"/>
                  </a:lnTo>
                  <a:lnTo>
                    <a:pt x="382676" y="61506"/>
                  </a:lnTo>
                  <a:lnTo>
                    <a:pt x="373291" y="61201"/>
                  </a:lnTo>
                  <a:lnTo>
                    <a:pt x="365582" y="60515"/>
                  </a:lnTo>
                  <a:lnTo>
                    <a:pt x="358978" y="59829"/>
                  </a:lnTo>
                  <a:lnTo>
                    <a:pt x="352933" y="59524"/>
                  </a:lnTo>
                  <a:lnTo>
                    <a:pt x="352933" y="67462"/>
                  </a:lnTo>
                  <a:lnTo>
                    <a:pt x="358889" y="67462"/>
                  </a:lnTo>
                  <a:lnTo>
                    <a:pt x="362851" y="69443"/>
                  </a:lnTo>
                  <a:lnTo>
                    <a:pt x="366814" y="69443"/>
                  </a:lnTo>
                  <a:lnTo>
                    <a:pt x="368795" y="71424"/>
                  </a:lnTo>
                  <a:lnTo>
                    <a:pt x="368795" y="73418"/>
                  </a:lnTo>
                  <a:lnTo>
                    <a:pt x="370789" y="75399"/>
                  </a:lnTo>
                  <a:lnTo>
                    <a:pt x="370789" y="77381"/>
                  </a:lnTo>
                  <a:lnTo>
                    <a:pt x="372770" y="79362"/>
                  </a:lnTo>
                  <a:lnTo>
                    <a:pt x="374751" y="85318"/>
                  </a:lnTo>
                  <a:lnTo>
                    <a:pt x="376732" y="95237"/>
                  </a:lnTo>
                  <a:lnTo>
                    <a:pt x="379399" y="101561"/>
                  </a:lnTo>
                  <a:lnTo>
                    <a:pt x="381685" y="108635"/>
                  </a:lnTo>
                  <a:lnTo>
                    <a:pt x="383984" y="116446"/>
                  </a:lnTo>
                  <a:lnTo>
                    <a:pt x="404495" y="182537"/>
                  </a:lnTo>
                  <a:lnTo>
                    <a:pt x="416382" y="182537"/>
                  </a:lnTo>
                  <a:lnTo>
                    <a:pt x="427545" y="152781"/>
                  </a:lnTo>
                  <a:lnTo>
                    <a:pt x="428282" y="150799"/>
                  </a:lnTo>
                  <a:lnTo>
                    <a:pt x="444144" y="119049"/>
                  </a:lnTo>
                  <a:lnTo>
                    <a:pt x="456044" y="93256"/>
                  </a:lnTo>
                  <a:lnTo>
                    <a:pt x="485787" y="166662"/>
                  </a:lnTo>
                  <a:lnTo>
                    <a:pt x="491731" y="182537"/>
                  </a:lnTo>
                  <a:lnTo>
                    <a:pt x="503631" y="182537"/>
                  </a:lnTo>
                  <a:lnTo>
                    <a:pt x="505612" y="178574"/>
                  </a:lnTo>
                  <a:lnTo>
                    <a:pt x="507593" y="170637"/>
                  </a:lnTo>
                  <a:lnTo>
                    <a:pt x="509574" y="164680"/>
                  </a:lnTo>
                  <a:lnTo>
                    <a:pt x="513715" y="154762"/>
                  </a:lnTo>
                  <a:lnTo>
                    <a:pt x="519493" y="140868"/>
                  </a:lnTo>
                  <a:lnTo>
                    <a:pt x="525437" y="125006"/>
                  </a:lnTo>
                  <a:lnTo>
                    <a:pt x="541299" y="85318"/>
                  </a:lnTo>
                  <a:lnTo>
                    <a:pt x="545274" y="79362"/>
                  </a:lnTo>
                  <a:lnTo>
                    <a:pt x="549236" y="71424"/>
                  </a:lnTo>
                  <a:lnTo>
                    <a:pt x="551218" y="69443"/>
                  </a:lnTo>
                  <a:lnTo>
                    <a:pt x="553199" y="69443"/>
                  </a:lnTo>
                  <a:lnTo>
                    <a:pt x="555180" y="67462"/>
                  </a:lnTo>
                  <a:lnTo>
                    <a:pt x="561136" y="67462"/>
                  </a:lnTo>
                  <a:lnTo>
                    <a:pt x="563118" y="65481"/>
                  </a:lnTo>
                  <a:lnTo>
                    <a:pt x="563118" y="6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047" y="4632649"/>
              <a:ext cx="93191" cy="18253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41124" y="4634636"/>
              <a:ext cx="563245" cy="184785"/>
            </a:xfrm>
            <a:custGeom>
              <a:avLst/>
              <a:gdLst/>
              <a:ahLst/>
              <a:cxnLst/>
              <a:rect l="l" t="t" r="r" b="b"/>
              <a:pathLst>
                <a:path w="563245" h="184785">
                  <a:moveTo>
                    <a:pt x="138798" y="59524"/>
                  </a:moveTo>
                  <a:lnTo>
                    <a:pt x="126898" y="59524"/>
                  </a:lnTo>
                  <a:lnTo>
                    <a:pt x="118973" y="61506"/>
                  </a:lnTo>
                  <a:lnTo>
                    <a:pt x="109054" y="61506"/>
                  </a:lnTo>
                  <a:lnTo>
                    <a:pt x="101130" y="59524"/>
                  </a:lnTo>
                  <a:lnTo>
                    <a:pt x="91211" y="59524"/>
                  </a:lnTo>
                  <a:lnTo>
                    <a:pt x="89230" y="61506"/>
                  </a:lnTo>
                  <a:lnTo>
                    <a:pt x="89230" y="67462"/>
                  </a:lnTo>
                  <a:lnTo>
                    <a:pt x="99148" y="67462"/>
                  </a:lnTo>
                  <a:lnTo>
                    <a:pt x="103111" y="69443"/>
                  </a:lnTo>
                  <a:lnTo>
                    <a:pt x="107073" y="69443"/>
                  </a:lnTo>
                  <a:lnTo>
                    <a:pt x="109054" y="71424"/>
                  </a:lnTo>
                  <a:lnTo>
                    <a:pt x="109054" y="73418"/>
                  </a:lnTo>
                  <a:lnTo>
                    <a:pt x="107073" y="77381"/>
                  </a:lnTo>
                  <a:lnTo>
                    <a:pt x="107073" y="81356"/>
                  </a:lnTo>
                  <a:lnTo>
                    <a:pt x="105092" y="85318"/>
                  </a:lnTo>
                  <a:lnTo>
                    <a:pt x="103111" y="93256"/>
                  </a:lnTo>
                  <a:lnTo>
                    <a:pt x="99148" y="103174"/>
                  </a:lnTo>
                  <a:lnTo>
                    <a:pt x="87249" y="128968"/>
                  </a:lnTo>
                  <a:lnTo>
                    <a:pt x="75349" y="158737"/>
                  </a:lnTo>
                  <a:lnTo>
                    <a:pt x="47586" y="89281"/>
                  </a:lnTo>
                  <a:lnTo>
                    <a:pt x="43624" y="81356"/>
                  </a:lnTo>
                  <a:lnTo>
                    <a:pt x="41643" y="75399"/>
                  </a:lnTo>
                  <a:lnTo>
                    <a:pt x="41643" y="71424"/>
                  </a:lnTo>
                  <a:lnTo>
                    <a:pt x="43624" y="69443"/>
                  </a:lnTo>
                  <a:lnTo>
                    <a:pt x="45605" y="69443"/>
                  </a:lnTo>
                  <a:lnTo>
                    <a:pt x="49568" y="67462"/>
                  </a:lnTo>
                  <a:lnTo>
                    <a:pt x="59486" y="67462"/>
                  </a:lnTo>
                  <a:lnTo>
                    <a:pt x="59486" y="61506"/>
                  </a:lnTo>
                  <a:lnTo>
                    <a:pt x="59486" y="59524"/>
                  </a:lnTo>
                  <a:lnTo>
                    <a:pt x="52057" y="59829"/>
                  </a:lnTo>
                  <a:lnTo>
                    <a:pt x="37185" y="61201"/>
                  </a:lnTo>
                  <a:lnTo>
                    <a:pt x="29743" y="61506"/>
                  </a:lnTo>
                  <a:lnTo>
                    <a:pt x="23698" y="61201"/>
                  </a:lnTo>
                  <a:lnTo>
                    <a:pt x="17106" y="60515"/>
                  </a:lnTo>
                  <a:lnTo>
                    <a:pt x="9385" y="59829"/>
                  </a:lnTo>
                  <a:lnTo>
                    <a:pt x="0" y="59524"/>
                  </a:lnTo>
                  <a:lnTo>
                    <a:pt x="0" y="67462"/>
                  </a:lnTo>
                  <a:lnTo>
                    <a:pt x="9918" y="67462"/>
                  </a:lnTo>
                  <a:lnTo>
                    <a:pt x="9918" y="69443"/>
                  </a:lnTo>
                  <a:lnTo>
                    <a:pt x="11899" y="69443"/>
                  </a:lnTo>
                  <a:lnTo>
                    <a:pt x="13881" y="71424"/>
                  </a:lnTo>
                  <a:lnTo>
                    <a:pt x="17843" y="79362"/>
                  </a:lnTo>
                  <a:lnTo>
                    <a:pt x="43624" y="140868"/>
                  </a:lnTo>
                  <a:lnTo>
                    <a:pt x="53543" y="162699"/>
                  </a:lnTo>
                  <a:lnTo>
                    <a:pt x="61468" y="182537"/>
                  </a:lnTo>
                  <a:lnTo>
                    <a:pt x="75349" y="182537"/>
                  </a:lnTo>
                  <a:lnTo>
                    <a:pt x="83502" y="161620"/>
                  </a:lnTo>
                  <a:lnTo>
                    <a:pt x="84696" y="158737"/>
                  </a:lnTo>
                  <a:lnTo>
                    <a:pt x="89966" y="146088"/>
                  </a:lnTo>
                  <a:lnTo>
                    <a:pt x="94589" y="135382"/>
                  </a:lnTo>
                  <a:lnTo>
                    <a:pt x="97167" y="128968"/>
                  </a:lnTo>
                  <a:lnTo>
                    <a:pt x="109054" y="103174"/>
                  </a:lnTo>
                  <a:lnTo>
                    <a:pt x="122936" y="75399"/>
                  </a:lnTo>
                  <a:lnTo>
                    <a:pt x="128879" y="69443"/>
                  </a:lnTo>
                  <a:lnTo>
                    <a:pt x="132854" y="67462"/>
                  </a:lnTo>
                  <a:lnTo>
                    <a:pt x="138798" y="67462"/>
                  </a:lnTo>
                  <a:lnTo>
                    <a:pt x="138798" y="61506"/>
                  </a:lnTo>
                  <a:lnTo>
                    <a:pt x="138798" y="59524"/>
                  </a:lnTo>
                  <a:close/>
                </a:path>
                <a:path w="563245" h="184785">
                  <a:moveTo>
                    <a:pt x="196303" y="5956"/>
                  </a:moveTo>
                  <a:lnTo>
                    <a:pt x="192341" y="3975"/>
                  </a:lnTo>
                  <a:lnTo>
                    <a:pt x="190347" y="1981"/>
                  </a:lnTo>
                  <a:lnTo>
                    <a:pt x="186385" y="0"/>
                  </a:lnTo>
                  <a:lnTo>
                    <a:pt x="178460" y="0"/>
                  </a:lnTo>
                  <a:lnTo>
                    <a:pt x="174485" y="1981"/>
                  </a:lnTo>
                  <a:lnTo>
                    <a:pt x="172504" y="3975"/>
                  </a:lnTo>
                  <a:lnTo>
                    <a:pt x="168541" y="5956"/>
                  </a:lnTo>
                  <a:lnTo>
                    <a:pt x="168541" y="21831"/>
                  </a:lnTo>
                  <a:lnTo>
                    <a:pt x="172504" y="23812"/>
                  </a:lnTo>
                  <a:lnTo>
                    <a:pt x="174485" y="27774"/>
                  </a:lnTo>
                  <a:lnTo>
                    <a:pt x="190347" y="27774"/>
                  </a:lnTo>
                  <a:lnTo>
                    <a:pt x="192341" y="23812"/>
                  </a:lnTo>
                  <a:lnTo>
                    <a:pt x="196303" y="21831"/>
                  </a:lnTo>
                  <a:lnTo>
                    <a:pt x="196303" y="5956"/>
                  </a:lnTo>
                  <a:close/>
                </a:path>
                <a:path w="563245" h="184785">
                  <a:moveTo>
                    <a:pt x="216128" y="174599"/>
                  </a:moveTo>
                  <a:lnTo>
                    <a:pt x="214147" y="172618"/>
                  </a:lnTo>
                  <a:lnTo>
                    <a:pt x="200266" y="172618"/>
                  </a:lnTo>
                  <a:lnTo>
                    <a:pt x="198285" y="170637"/>
                  </a:lnTo>
                  <a:lnTo>
                    <a:pt x="196303" y="170637"/>
                  </a:lnTo>
                  <a:lnTo>
                    <a:pt x="196303" y="164680"/>
                  </a:lnTo>
                  <a:lnTo>
                    <a:pt x="194322" y="158737"/>
                  </a:lnTo>
                  <a:lnTo>
                    <a:pt x="194348" y="89382"/>
                  </a:lnTo>
                  <a:lnTo>
                    <a:pt x="196303" y="59524"/>
                  </a:lnTo>
                  <a:lnTo>
                    <a:pt x="192341" y="57543"/>
                  </a:lnTo>
                  <a:lnTo>
                    <a:pt x="184188" y="60490"/>
                  </a:lnTo>
                  <a:lnTo>
                    <a:pt x="174739" y="63246"/>
                  </a:lnTo>
                  <a:lnTo>
                    <a:pt x="164172" y="65633"/>
                  </a:lnTo>
                  <a:lnTo>
                    <a:pt x="152679" y="67462"/>
                  </a:lnTo>
                  <a:lnTo>
                    <a:pt x="150698" y="67462"/>
                  </a:lnTo>
                  <a:lnTo>
                    <a:pt x="150698" y="73418"/>
                  </a:lnTo>
                  <a:lnTo>
                    <a:pt x="152679" y="75399"/>
                  </a:lnTo>
                  <a:lnTo>
                    <a:pt x="170522" y="75399"/>
                  </a:lnTo>
                  <a:lnTo>
                    <a:pt x="170522" y="79362"/>
                  </a:lnTo>
                  <a:lnTo>
                    <a:pt x="172504" y="79362"/>
                  </a:lnTo>
                  <a:lnTo>
                    <a:pt x="172504" y="164680"/>
                  </a:lnTo>
                  <a:lnTo>
                    <a:pt x="170522" y="166662"/>
                  </a:lnTo>
                  <a:lnTo>
                    <a:pt x="170522" y="170637"/>
                  </a:lnTo>
                  <a:lnTo>
                    <a:pt x="168541" y="170637"/>
                  </a:lnTo>
                  <a:lnTo>
                    <a:pt x="168541" y="172618"/>
                  </a:lnTo>
                  <a:lnTo>
                    <a:pt x="152679" y="172618"/>
                  </a:lnTo>
                  <a:lnTo>
                    <a:pt x="150698" y="174599"/>
                  </a:lnTo>
                  <a:lnTo>
                    <a:pt x="150698" y="180555"/>
                  </a:lnTo>
                  <a:lnTo>
                    <a:pt x="216128" y="180555"/>
                  </a:lnTo>
                  <a:lnTo>
                    <a:pt x="216128" y="174599"/>
                  </a:lnTo>
                  <a:close/>
                </a:path>
                <a:path w="563245" h="184785">
                  <a:moveTo>
                    <a:pt x="339064" y="113093"/>
                  </a:moveTo>
                  <a:lnTo>
                    <a:pt x="331127" y="75399"/>
                  </a:lnTo>
                  <a:lnTo>
                    <a:pt x="327164" y="67462"/>
                  </a:lnTo>
                  <a:lnTo>
                    <a:pt x="323202" y="65481"/>
                  </a:lnTo>
                  <a:lnTo>
                    <a:pt x="319239" y="63487"/>
                  </a:lnTo>
                  <a:lnTo>
                    <a:pt x="315264" y="61658"/>
                  </a:lnTo>
                  <a:lnTo>
                    <a:pt x="315264" y="105156"/>
                  </a:lnTo>
                  <a:lnTo>
                    <a:pt x="315264" y="109131"/>
                  </a:lnTo>
                  <a:lnTo>
                    <a:pt x="253796" y="109131"/>
                  </a:lnTo>
                  <a:lnTo>
                    <a:pt x="254139" y="100050"/>
                  </a:lnTo>
                  <a:lnTo>
                    <a:pt x="254203" y="98272"/>
                  </a:lnTo>
                  <a:lnTo>
                    <a:pt x="255536" y="89293"/>
                  </a:lnTo>
                  <a:lnTo>
                    <a:pt x="285521" y="65481"/>
                  </a:lnTo>
                  <a:lnTo>
                    <a:pt x="295440" y="65481"/>
                  </a:lnTo>
                  <a:lnTo>
                    <a:pt x="303377" y="67462"/>
                  </a:lnTo>
                  <a:lnTo>
                    <a:pt x="307340" y="75399"/>
                  </a:lnTo>
                  <a:lnTo>
                    <a:pt x="311086" y="80606"/>
                  </a:lnTo>
                  <a:lnTo>
                    <a:pt x="313537" y="87337"/>
                  </a:lnTo>
                  <a:lnTo>
                    <a:pt x="314871" y="95491"/>
                  </a:lnTo>
                  <a:lnTo>
                    <a:pt x="315264" y="105156"/>
                  </a:lnTo>
                  <a:lnTo>
                    <a:pt x="315264" y="61658"/>
                  </a:lnTo>
                  <a:lnTo>
                    <a:pt x="312940" y="60579"/>
                  </a:lnTo>
                  <a:lnTo>
                    <a:pt x="306095" y="58039"/>
                  </a:lnTo>
                  <a:lnTo>
                    <a:pt x="298881" y="56235"/>
                  </a:lnTo>
                  <a:lnTo>
                    <a:pt x="291477" y="55562"/>
                  </a:lnTo>
                  <a:lnTo>
                    <a:pt x="283540" y="55562"/>
                  </a:lnTo>
                  <a:lnTo>
                    <a:pt x="275615" y="57543"/>
                  </a:lnTo>
                  <a:lnTo>
                    <a:pt x="269671" y="59524"/>
                  </a:lnTo>
                  <a:lnTo>
                    <a:pt x="263715" y="63487"/>
                  </a:lnTo>
                  <a:lnTo>
                    <a:pt x="257771" y="65481"/>
                  </a:lnTo>
                  <a:lnTo>
                    <a:pt x="251815" y="71424"/>
                  </a:lnTo>
                  <a:lnTo>
                    <a:pt x="245872" y="75399"/>
                  </a:lnTo>
                  <a:lnTo>
                    <a:pt x="235953" y="85318"/>
                  </a:lnTo>
                  <a:lnTo>
                    <a:pt x="233972" y="91274"/>
                  </a:lnTo>
                  <a:lnTo>
                    <a:pt x="231990" y="99212"/>
                  </a:lnTo>
                  <a:lnTo>
                    <a:pt x="230009" y="105156"/>
                  </a:lnTo>
                  <a:lnTo>
                    <a:pt x="228028" y="113093"/>
                  </a:lnTo>
                  <a:lnTo>
                    <a:pt x="228028" y="123012"/>
                  </a:lnTo>
                  <a:lnTo>
                    <a:pt x="228625" y="131381"/>
                  </a:lnTo>
                  <a:lnTo>
                    <a:pt x="228739" y="133032"/>
                  </a:lnTo>
                  <a:lnTo>
                    <a:pt x="230695" y="141871"/>
                  </a:lnTo>
                  <a:lnTo>
                    <a:pt x="230746" y="142113"/>
                  </a:lnTo>
                  <a:lnTo>
                    <a:pt x="233883" y="150088"/>
                  </a:lnTo>
                  <a:lnTo>
                    <a:pt x="259753" y="178574"/>
                  </a:lnTo>
                  <a:lnTo>
                    <a:pt x="289496" y="184518"/>
                  </a:lnTo>
                  <a:lnTo>
                    <a:pt x="295440" y="184518"/>
                  </a:lnTo>
                  <a:lnTo>
                    <a:pt x="301396" y="182537"/>
                  </a:lnTo>
                  <a:lnTo>
                    <a:pt x="307340" y="182537"/>
                  </a:lnTo>
                  <a:lnTo>
                    <a:pt x="337083" y="160718"/>
                  </a:lnTo>
                  <a:lnTo>
                    <a:pt x="333121" y="158737"/>
                  </a:lnTo>
                  <a:lnTo>
                    <a:pt x="327164" y="162699"/>
                  </a:lnTo>
                  <a:lnTo>
                    <a:pt x="321221" y="164680"/>
                  </a:lnTo>
                  <a:lnTo>
                    <a:pt x="317258" y="166662"/>
                  </a:lnTo>
                  <a:lnTo>
                    <a:pt x="305358" y="170637"/>
                  </a:lnTo>
                  <a:lnTo>
                    <a:pt x="299402" y="170637"/>
                  </a:lnTo>
                  <a:lnTo>
                    <a:pt x="261327" y="150863"/>
                  </a:lnTo>
                  <a:lnTo>
                    <a:pt x="253796" y="119049"/>
                  </a:lnTo>
                  <a:lnTo>
                    <a:pt x="305358" y="119049"/>
                  </a:lnTo>
                  <a:lnTo>
                    <a:pt x="315264" y="117068"/>
                  </a:lnTo>
                  <a:lnTo>
                    <a:pt x="333121" y="117068"/>
                  </a:lnTo>
                  <a:lnTo>
                    <a:pt x="337083" y="115074"/>
                  </a:lnTo>
                  <a:lnTo>
                    <a:pt x="339064" y="113093"/>
                  </a:lnTo>
                  <a:close/>
                </a:path>
                <a:path w="563245" h="184785">
                  <a:moveTo>
                    <a:pt x="563118" y="61506"/>
                  </a:moveTo>
                  <a:lnTo>
                    <a:pt x="561136" y="59524"/>
                  </a:lnTo>
                  <a:lnTo>
                    <a:pt x="555193" y="59524"/>
                  </a:lnTo>
                  <a:lnTo>
                    <a:pt x="547255" y="61506"/>
                  </a:lnTo>
                  <a:lnTo>
                    <a:pt x="531393" y="61506"/>
                  </a:lnTo>
                  <a:lnTo>
                    <a:pt x="523468" y="59524"/>
                  </a:lnTo>
                  <a:lnTo>
                    <a:pt x="513549" y="59524"/>
                  </a:lnTo>
                  <a:lnTo>
                    <a:pt x="511568" y="61506"/>
                  </a:lnTo>
                  <a:lnTo>
                    <a:pt x="511568" y="65481"/>
                  </a:lnTo>
                  <a:lnTo>
                    <a:pt x="513549" y="67462"/>
                  </a:lnTo>
                  <a:lnTo>
                    <a:pt x="525449" y="67462"/>
                  </a:lnTo>
                  <a:lnTo>
                    <a:pt x="527431" y="69443"/>
                  </a:lnTo>
                  <a:lnTo>
                    <a:pt x="529412" y="69443"/>
                  </a:lnTo>
                  <a:lnTo>
                    <a:pt x="531393" y="71424"/>
                  </a:lnTo>
                  <a:lnTo>
                    <a:pt x="531393" y="77381"/>
                  </a:lnTo>
                  <a:lnTo>
                    <a:pt x="529412" y="83337"/>
                  </a:lnTo>
                  <a:lnTo>
                    <a:pt x="525449" y="93256"/>
                  </a:lnTo>
                  <a:lnTo>
                    <a:pt x="523582" y="101066"/>
                  </a:lnTo>
                  <a:lnTo>
                    <a:pt x="520979" y="109626"/>
                  </a:lnTo>
                  <a:lnTo>
                    <a:pt x="517588" y="119049"/>
                  </a:lnTo>
                  <a:lnTo>
                    <a:pt x="513549" y="128968"/>
                  </a:lnTo>
                  <a:lnTo>
                    <a:pt x="503631" y="154762"/>
                  </a:lnTo>
                  <a:lnTo>
                    <a:pt x="491744" y="126987"/>
                  </a:lnTo>
                  <a:lnTo>
                    <a:pt x="479323" y="93256"/>
                  </a:lnTo>
                  <a:lnTo>
                    <a:pt x="477862" y="89281"/>
                  </a:lnTo>
                  <a:lnTo>
                    <a:pt x="465963" y="57543"/>
                  </a:lnTo>
                  <a:lnTo>
                    <a:pt x="460019" y="57543"/>
                  </a:lnTo>
                  <a:lnTo>
                    <a:pt x="457009" y="65290"/>
                  </a:lnTo>
                  <a:lnTo>
                    <a:pt x="453821" y="73418"/>
                  </a:lnTo>
                  <a:lnTo>
                    <a:pt x="450342" y="81356"/>
                  </a:lnTo>
                  <a:lnTo>
                    <a:pt x="450253" y="81534"/>
                  </a:lnTo>
                  <a:lnTo>
                    <a:pt x="446138" y="89281"/>
                  </a:lnTo>
                  <a:lnTo>
                    <a:pt x="428294" y="130949"/>
                  </a:lnTo>
                  <a:lnTo>
                    <a:pt x="424319" y="140868"/>
                  </a:lnTo>
                  <a:lnTo>
                    <a:pt x="420357" y="146824"/>
                  </a:lnTo>
                  <a:lnTo>
                    <a:pt x="418376" y="152781"/>
                  </a:lnTo>
                  <a:lnTo>
                    <a:pt x="414413" y="144843"/>
                  </a:lnTo>
                  <a:lnTo>
                    <a:pt x="412432" y="136906"/>
                  </a:lnTo>
                  <a:lnTo>
                    <a:pt x="410438" y="130949"/>
                  </a:lnTo>
                  <a:lnTo>
                    <a:pt x="398551" y="89281"/>
                  </a:lnTo>
                  <a:lnTo>
                    <a:pt x="396608" y="81534"/>
                  </a:lnTo>
                  <a:lnTo>
                    <a:pt x="396570" y="81356"/>
                  </a:lnTo>
                  <a:lnTo>
                    <a:pt x="394576" y="75399"/>
                  </a:lnTo>
                  <a:lnTo>
                    <a:pt x="394576" y="71424"/>
                  </a:lnTo>
                  <a:lnTo>
                    <a:pt x="396570" y="69443"/>
                  </a:lnTo>
                  <a:lnTo>
                    <a:pt x="398551" y="69443"/>
                  </a:lnTo>
                  <a:lnTo>
                    <a:pt x="398551" y="67462"/>
                  </a:lnTo>
                  <a:lnTo>
                    <a:pt x="414413" y="67462"/>
                  </a:lnTo>
                  <a:lnTo>
                    <a:pt x="414413" y="61506"/>
                  </a:lnTo>
                  <a:lnTo>
                    <a:pt x="414413" y="59524"/>
                  </a:lnTo>
                  <a:lnTo>
                    <a:pt x="408063" y="59829"/>
                  </a:lnTo>
                  <a:lnTo>
                    <a:pt x="400773" y="60515"/>
                  </a:lnTo>
                  <a:lnTo>
                    <a:pt x="392379" y="61201"/>
                  </a:lnTo>
                  <a:lnTo>
                    <a:pt x="382689" y="61506"/>
                  </a:lnTo>
                  <a:lnTo>
                    <a:pt x="373303" y="61201"/>
                  </a:lnTo>
                  <a:lnTo>
                    <a:pt x="365582" y="60515"/>
                  </a:lnTo>
                  <a:lnTo>
                    <a:pt x="358978" y="59829"/>
                  </a:lnTo>
                  <a:lnTo>
                    <a:pt x="352945" y="59524"/>
                  </a:lnTo>
                  <a:lnTo>
                    <a:pt x="352945" y="67462"/>
                  </a:lnTo>
                  <a:lnTo>
                    <a:pt x="358889" y="67462"/>
                  </a:lnTo>
                  <a:lnTo>
                    <a:pt x="362851" y="69443"/>
                  </a:lnTo>
                  <a:lnTo>
                    <a:pt x="366826" y="69443"/>
                  </a:lnTo>
                  <a:lnTo>
                    <a:pt x="368808" y="71424"/>
                  </a:lnTo>
                  <a:lnTo>
                    <a:pt x="368808" y="73418"/>
                  </a:lnTo>
                  <a:lnTo>
                    <a:pt x="370789" y="75399"/>
                  </a:lnTo>
                  <a:lnTo>
                    <a:pt x="370789" y="77381"/>
                  </a:lnTo>
                  <a:lnTo>
                    <a:pt x="372770" y="79362"/>
                  </a:lnTo>
                  <a:lnTo>
                    <a:pt x="374751" y="85318"/>
                  </a:lnTo>
                  <a:lnTo>
                    <a:pt x="376732" y="95237"/>
                  </a:lnTo>
                  <a:lnTo>
                    <a:pt x="379399" y="101561"/>
                  </a:lnTo>
                  <a:lnTo>
                    <a:pt x="381698" y="108635"/>
                  </a:lnTo>
                  <a:lnTo>
                    <a:pt x="383984" y="116446"/>
                  </a:lnTo>
                  <a:lnTo>
                    <a:pt x="404495" y="182537"/>
                  </a:lnTo>
                  <a:lnTo>
                    <a:pt x="416394" y="182537"/>
                  </a:lnTo>
                  <a:lnTo>
                    <a:pt x="427545" y="152781"/>
                  </a:lnTo>
                  <a:lnTo>
                    <a:pt x="428294" y="150799"/>
                  </a:lnTo>
                  <a:lnTo>
                    <a:pt x="444157" y="119049"/>
                  </a:lnTo>
                  <a:lnTo>
                    <a:pt x="456044" y="93256"/>
                  </a:lnTo>
                  <a:lnTo>
                    <a:pt x="485787" y="166662"/>
                  </a:lnTo>
                  <a:lnTo>
                    <a:pt x="491744" y="182537"/>
                  </a:lnTo>
                  <a:lnTo>
                    <a:pt x="503631" y="182537"/>
                  </a:lnTo>
                  <a:lnTo>
                    <a:pt x="505625" y="178574"/>
                  </a:lnTo>
                  <a:lnTo>
                    <a:pt x="507606" y="170637"/>
                  </a:lnTo>
                  <a:lnTo>
                    <a:pt x="509587" y="164680"/>
                  </a:lnTo>
                  <a:lnTo>
                    <a:pt x="513715" y="154762"/>
                  </a:lnTo>
                  <a:lnTo>
                    <a:pt x="519493" y="140868"/>
                  </a:lnTo>
                  <a:lnTo>
                    <a:pt x="523468" y="125006"/>
                  </a:lnTo>
                  <a:lnTo>
                    <a:pt x="537349" y="95237"/>
                  </a:lnTo>
                  <a:lnTo>
                    <a:pt x="541312" y="85318"/>
                  </a:lnTo>
                  <a:lnTo>
                    <a:pt x="545274" y="79362"/>
                  </a:lnTo>
                  <a:lnTo>
                    <a:pt x="549236" y="71424"/>
                  </a:lnTo>
                  <a:lnTo>
                    <a:pt x="551230" y="69443"/>
                  </a:lnTo>
                  <a:lnTo>
                    <a:pt x="553212" y="69443"/>
                  </a:lnTo>
                  <a:lnTo>
                    <a:pt x="555193" y="67462"/>
                  </a:lnTo>
                  <a:lnTo>
                    <a:pt x="561136" y="67462"/>
                  </a:lnTo>
                  <a:lnTo>
                    <a:pt x="563118" y="65481"/>
                  </a:lnTo>
                  <a:lnTo>
                    <a:pt x="563118" y="6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1579" y="4632649"/>
              <a:ext cx="116986" cy="18253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399208" y="4634636"/>
              <a:ext cx="563245" cy="184785"/>
            </a:xfrm>
            <a:custGeom>
              <a:avLst/>
              <a:gdLst/>
              <a:ahLst/>
              <a:cxnLst/>
              <a:rect l="l" t="t" r="r" b="b"/>
              <a:pathLst>
                <a:path w="563245" h="184785">
                  <a:moveTo>
                    <a:pt x="140779" y="61506"/>
                  </a:moveTo>
                  <a:lnTo>
                    <a:pt x="138798" y="59524"/>
                  </a:lnTo>
                  <a:lnTo>
                    <a:pt x="128892" y="59524"/>
                  </a:lnTo>
                  <a:lnTo>
                    <a:pt x="120954" y="61506"/>
                  </a:lnTo>
                  <a:lnTo>
                    <a:pt x="111048" y="61506"/>
                  </a:lnTo>
                  <a:lnTo>
                    <a:pt x="103111" y="59524"/>
                  </a:lnTo>
                  <a:lnTo>
                    <a:pt x="93192" y="59524"/>
                  </a:lnTo>
                  <a:lnTo>
                    <a:pt x="91211" y="61506"/>
                  </a:lnTo>
                  <a:lnTo>
                    <a:pt x="91211" y="67462"/>
                  </a:lnTo>
                  <a:lnTo>
                    <a:pt x="99148" y="67462"/>
                  </a:lnTo>
                  <a:lnTo>
                    <a:pt x="105092" y="69443"/>
                  </a:lnTo>
                  <a:lnTo>
                    <a:pt x="109054" y="69443"/>
                  </a:lnTo>
                  <a:lnTo>
                    <a:pt x="109054" y="77381"/>
                  </a:lnTo>
                  <a:lnTo>
                    <a:pt x="107073" y="81356"/>
                  </a:lnTo>
                  <a:lnTo>
                    <a:pt x="107073" y="85318"/>
                  </a:lnTo>
                  <a:lnTo>
                    <a:pt x="103111" y="93256"/>
                  </a:lnTo>
                  <a:lnTo>
                    <a:pt x="99148" y="103174"/>
                  </a:lnTo>
                  <a:lnTo>
                    <a:pt x="89230" y="128968"/>
                  </a:lnTo>
                  <a:lnTo>
                    <a:pt x="75349" y="158737"/>
                  </a:lnTo>
                  <a:lnTo>
                    <a:pt x="47599" y="89281"/>
                  </a:lnTo>
                  <a:lnTo>
                    <a:pt x="43624" y="81356"/>
                  </a:lnTo>
                  <a:lnTo>
                    <a:pt x="43624" y="71424"/>
                  </a:lnTo>
                  <a:lnTo>
                    <a:pt x="45605" y="69443"/>
                  </a:lnTo>
                  <a:lnTo>
                    <a:pt x="51562" y="67462"/>
                  </a:lnTo>
                  <a:lnTo>
                    <a:pt x="61468" y="67462"/>
                  </a:lnTo>
                  <a:lnTo>
                    <a:pt x="61468" y="61506"/>
                  </a:lnTo>
                  <a:lnTo>
                    <a:pt x="59486" y="59524"/>
                  </a:lnTo>
                  <a:lnTo>
                    <a:pt x="52057" y="59829"/>
                  </a:lnTo>
                  <a:lnTo>
                    <a:pt x="37185" y="61201"/>
                  </a:lnTo>
                  <a:lnTo>
                    <a:pt x="29743" y="61506"/>
                  </a:lnTo>
                  <a:lnTo>
                    <a:pt x="24574" y="61201"/>
                  </a:lnTo>
                  <a:lnTo>
                    <a:pt x="18097" y="60515"/>
                  </a:lnTo>
                  <a:lnTo>
                    <a:pt x="10502" y="59829"/>
                  </a:lnTo>
                  <a:lnTo>
                    <a:pt x="1981" y="59524"/>
                  </a:lnTo>
                  <a:lnTo>
                    <a:pt x="0" y="61506"/>
                  </a:lnTo>
                  <a:lnTo>
                    <a:pt x="0" y="67462"/>
                  </a:lnTo>
                  <a:lnTo>
                    <a:pt x="9918" y="67462"/>
                  </a:lnTo>
                  <a:lnTo>
                    <a:pt x="13881" y="71424"/>
                  </a:lnTo>
                  <a:lnTo>
                    <a:pt x="15862" y="71424"/>
                  </a:lnTo>
                  <a:lnTo>
                    <a:pt x="17856" y="75399"/>
                  </a:lnTo>
                  <a:lnTo>
                    <a:pt x="17856" y="79362"/>
                  </a:lnTo>
                  <a:lnTo>
                    <a:pt x="45605" y="140868"/>
                  </a:lnTo>
                  <a:lnTo>
                    <a:pt x="55524" y="162699"/>
                  </a:lnTo>
                  <a:lnTo>
                    <a:pt x="63449" y="182537"/>
                  </a:lnTo>
                  <a:lnTo>
                    <a:pt x="75349" y="182537"/>
                  </a:lnTo>
                  <a:lnTo>
                    <a:pt x="84366" y="161620"/>
                  </a:lnTo>
                  <a:lnTo>
                    <a:pt x="85598" y="158737"/>
                  </a:lnTo>
                  <a:lnTo>
                    <a:pt x="90970" y="146088"/>
                  </a:lnTo>
                  <a:lnTo>
                    <a:pt x="95707" y="135382"/>
                  </a:lnTo>
                  <a:lnTo>
                    <a:pt x="99148" y="128968"/>
                  </a:lnTo>
                  <a:lnTo>
                    <a:pt x="111048" y="103174"/>
                  </a:lnTo>
                  <a:lnTo>
                    <a:pt x="124917" y="75399"/>
                  </a:lnTo>
                  <a:lnTo>
                    <a:pt x="124917" y="73418"/>
                  </a:lnTo>
                  <a:lnTo>
                    <a:pt x="128892" y="69443"/>
                  </a:lnTo>
                  <a:lnTo>
                    <a:pt x="130873" y="69443"/>
                  </a:lnTo>
                  <a:lnTo>
                    <a:pt x="134835" y="67462"/>
                  </a:lnTo>
                  <a:lnTo>
                    <a:pt x="140779" y="67462"/>
                  </a:lnTo>
                  <a:lnTo>
                    <a:pt x="140779" y="61506"/>
                  </a:lnTo>
                  <a:close/>
                </a:path>
                <a:path w="563245" h="184785">
                  <a:moveTo>
                    <a:pt x="198285" y="9918"/>
                  </a:moveTo>
                  <a:lnTo>
                    <a:pt x="196303" y="5956"/>
                  </a:lnTo>
                  <a:lnTo>
                    <a:pt x="194322" y="3975"/>
                  </a:lnTo>
                  <a:lnTo>
                    <a:pt x="190360" y="1981"/>
                  </a:lnTo>
                  <a:lnTo>
                    <a:pt x="188366" y="0"/>
                  </a:lnTo>
                  <a:lnTo>
                    <a:pt x="180441" y="0"/>
                  </a:lnTo>
                  <a:lnTo>
                    <a:pt x="172504" y="3975"/>
                  </a:lnTo>
                  <a:lnTo>
                    <a:pt x="170522" y="5956"/>
                  </a:lnTo>
                  <a:lnTo>
                    <a:pt x="168541" y="9918"/>
                  </a:lnTo>
                  <a:lnTo>
                    <a:pt x="168541" y="17856"/>
                  </a:lnTo>
                  <a:lnTo>
                    <a:pt x="170522" y="21831"/>
                  </a:lnTo>
                  <a:lnTo>
                    <a:pt x="176479" y="27774"/>
                  </a:lnTo>
                  <a:lnTo>
                    <a:pt x="190360" y="27774"/>
                  </a:lnTo>
                  <a:lnTo>
                    <a:pt x="196303" y="21831"/>
                  </a:lnTo>
                  <a:lnTo>
                    <a:pt x="198285" y="17856"/>
                  </a:lnTo>
                  <a:lnTo>
                    <a:pt x="198285" y="9918"/>
                  </a:lnTo>
                  <a:close/>
                </a:path>
                <a:path w="563245" h="184785">
                  <a:moveTo>
                    <a:pt x="216128" y="172618"/>
                  </a:moveTo>
                  <a:lnTo>
                    <a:pt x="200266" y="172618"/>
                  </a:lnTo>
                  <a:lnTo>
                    <a:pt x="200266" y="170637"/>
                  </a:lnTo>
                  <a:lnTo>
                    <a:pt x="198285" y="170637"/>
                  </a:lnTo>
                  <a:lnTo>
                    <a:pt x="198285" y="168656"/>
                  </a:lnTo>
                  <a:lnTo>
                    <a:pt x="196303" y="166662"/>
                  </a:lnTo>
                  <a:lnTo>
                    <a:pt x="196303" y="59524"/>
                  </a:lnTo>
                  <a:lnTo>
                    <a:pt x="194322" y="57543"/>
                  </a:lnTo>
                  <a:lnTo>
                    <a:pt x="185026" y="60490"/>
                  </a:lnTo>
                  <a:lnTo>
                    <a:pt x="174993" y="63246"/>
                  </a:lnTo>
                  <a:lnTo>
                    <a:pt x="164211" y="65633"/>
                  </a:lnTo>
                  <a:lnTo>
                    <a:pt x="152679" y="67462"/>
                  </a:lnTo>
                  <a:lnTo>
                    <a:pt x="152679" y="75399"/>
                  </a:lnTo>
                  <a:lnTo>
                    <a:pt x="172504" y="75399"/>
                  </a:lnTo>
                  <a:lnTo>
                    <a:pt x="172504" y="89281"/>
                  </a:lnTo>
                  <a:lnTo>
                    <a:pt x="174498" y="95237"/>
                  </a:lnTo>
                  <a:lnTo>
                    <a:pt x="174498" y="140868"/>
                  </a:lnTo>
                  <a:lnTo>
                    <a:pt x="172504" y="150799"/>
                  </a:lnTo>
                  <a:lnTo>
                    <a:pt x="172504" y="168656"/>
                  </a:lnTo>
                  <a:lnTo>
                    <a:pt x="168541" y="172618"/>
                  </a:lnTo>
                  <a:lnTo>
                    <a:pt x="154660" y="172618"/>
                  </a:lnTo>
                  <a:lnTo>
                    <a:pt x="152679" y="174599"/>
                  </a:lnTo>
                  <a:lnTo>
                    <a:pt x="152679" y="180555"/>
                  </a:lnTo>
                  <a:lnTo>
                    <a:pt x="216128" y="180555"/>
                  </a:lnTo>
                  <a:lnTo>
                    <a:pt x="216128" y="172618"/>
                  </a:lnTo>
                  <a:close/>
                </a:path>
                <a:path w="563245" h="184785">
                  <a:moveTo>
                    <a:pt x="341045" y="109131"/>
                  </a:moveTo>
                  <a:lnTo>
                    <a:pt x="337185" y="81788"/>
                  </a:lnTo>
                  <a:lnTo>
                    <a:pt x="337083" y="81356"/>
                  </a:lnTo>
                  <a:lnTo>
                    <a:pt x="333121" y="75399"/>
                  </a:lnTo>
                  <a:lnTo>
                    <a:pt x="327164" y="67462"/>
                  </a:lnTo>
                  <a:lnTo>
                    <a:pt x="323202" y="65481"/>
                  </a:lnTo>
                  <a:lnTo>
                    <a:pt x="319239" y="63487"/>
                  </a:lnTo>
                  <a:lnTo>
                    <a:pt x="317258" y="62534"/>
                  </a:lnTo>
                  <a:lnTo>
                    <a:pt x="317258" y="105156"/>
                  </a:lnTo>
                  <a:lnTo>
                    <a:pt x="317258" y="109131"/>
                  </a:lnTo>
                  <a:lnTo>
                    <a:pt x="253809" y="109131"/>
                  </a:lnTo>
                  <a:lnTo>
                    <a:pt x="254406" y="100050"/>
                  </a:lnTo>
                  <a:lnTo>
                    <a:pt x="254520" y="98272"/>
                  </a:lnTo>
                  <a:lnTo>
                    <a:pt x="280441" y="66192"/>
                  </a:lnTo>
                  <a:lnTo>
                    <a:pt x="287515" y="65481"/>
                  </a:lnTo>
                  <a:lnTo>
                    <a:pt x="295440" y="65481"/>
                  </a:lnTo>
                  <a:lnTo>
                    <a:pt x="317258" y="105156"/>
                  </a:lnTo>
                  <a:lnTo>
                    <a:pt x="317258" y="62534"/>
                  </a:lnTo>
                  <a:lnTo>
                    <a:pt x="313232" y="60579"/>
                  </a:lnTo>
                  <a:lnTo>
                    <a:pt x="306844" y="58039"/>
                  </a:lnTo>
                  <a:lnTo>
                    <a:pt x="299720" y="56235"/>
                  </a:lnTo>
                  <a:lnTo>
                    <a:pt x="291477" y="55562"/>
                  </a:lnTo>
                  <a:lnTo>
                    <a:pt x="285534" y="55562"/>
                  </a:lnTo>
                  <a:lnTo>
                    <a:pt x="277596" y="57543"/>
                  </a:lnTo>
                  <a:lnTo>
                    <a:pt x="271653" y="59524"/>
                  </a:lnTo>
                  <a:lnTo>
                    <a:pt x="263715" y="63487"/>
                  </a:lnTo>
                  <a:lnTo>
                    <a:pt x="257771" y="65481"/>
                  </a:lnTo>
                  <a:lnTo>
                    <a:pt x="251828" y="71424"/>
                  </a:lnTo>
                  <a:lnTo>
                    <a:pt x="245872" y="75399"/>
                  </a:lnTo>
                  <a:lnTo>
                    <a:pt x="239928" y="81356"/>
                  </a:lnTo>
                  <a:lnTo>
                    <a:pt x="237947" y="85318"/>
                  </a:lnTo>
                  <a:lnTo>
                    <a:pt x="235953" y="91274"/>
                  </a:lnTo>
                  <a:lnTo>
                    <a:pt x="233972" y="99212"/>
                  </a:lnTo>
                  <a:lnTo>
                    <a:pt x="230009" y="105156"/>
                  </a:lnTo>
                  <a:lnTo>
                    <a:pt x="230009" y="123012"/>
                  </a:lnTo>
                  <a:lnTo>
                    <a:pt x="230352" y="131381"/>
                  </a:lnTo>
                  <a:lnTo>
                    <a:pt x="230416" y="133032"/>
                  </a:lnTo>
                  <a:lnTo>
                    <a:pt x="248348" y="169887"/>
                  </a:lnTo>
                  <a:lnTo>
                    <a:pt x="289496" y="184518"/>
                  </a:lnTo>
                  <a:lnTo>
                    <a:pt x="295440" y="184518"/>
                  </a:lnTo>
                  <a:lnTo>
                    <a:pt x="301396" y="182537"/>
                  </a:lnTo>
                  <a:lnTo>
                    <a:pt x="309321" y="182537"/>
                  </a:lnTo>
                  <a:lnTo>
                    <a:pt x="337083" y="160718"/>
                  </a:lnTo>
                  <a:lnTo>
                    <a:pt x="335102" y="158737"/>
                  </a:lnTo>
                  <a:lnTo>
                    <a:pt x="329158" y="162699"/>
                  </a:lnTo>
                  <a:lnTo>
                    <a:pt x="305358" y="170637"/>
                  </a:lnTo>
                  <a:lnTo>
                    <a:pt x="299415" y="170637"/>
                  </a:lnTo>
                  <a:lnTo>
                    <a:pt x="290830" y="169887"/>
                  </a:lnTo>
                  <a:lnTo>
                    <a:pt x="257886" y="142113"/>
                  </a:lnTo>
                  <a:lnTo>
                    <a:pt x="253809" y="119049"/>
                  </a:lnTo>
                  <a:lnTo>
                    <a:pt x="305358" y="119049"/>
                  </a:lnTo>
                  <a:lnTo>
                    <a:pt x="315277" y="117068"/>
                  </a:lnTo>
                  <a:lnTo>
                    <a:pt x="333121" y="117068"/>
                  </a:lnTo>
                  <a:lnTo>
                    <a:pt x="339064" y="115074"/>
                  </a:lnTo>
                  <a:lnTo>
                    <a:pt x="341045" y="113093"/>
                  </a:lnTo>
                  <a:lnTo>
                    <a:pt x="341045" y="109131"/>
                  </a:lnTo>
                  <a:close/>
                </a:path>
                <a:path w="563245" h="184785">
                  <a:moveTo>
                    <a:pt x="563118" y="59524"/>
                  </a:moveTo>
                  <a:lnTo>
                    <a:pt x="555193" y="59524"/>
                  </a:lnTo>
                  <a:lnTo>
                    <a:pt x="547255" y="61506"/>
                  </a:lnTo>
                  <a:lnTo>
                    <a:pt x="539330" y="61506"/>
                  </a:lnTo>
                  <a:lnTo>
                    <a:pt x="533349" y="61201"/>
                  </a:lnTo>
                  <a:lnTo>
                    <a:pt x="520649" y="59829"/>
                  </a:lnTo>
                  <a:lnTo>
                    <a:pt x="513549" y="59524"/>
                  </a:lnTo>
                  <a:lnTo>
                    <a:pt x="513549" y="67462"/>
                  </a:lnTo>
                  <a:lnTo>
                    <a:pt x="527431" y="67462"/>
                  </a:lnTo>
                  <a:lnTo>
                    <a:pt x="529412" y="69443"/>
                  </a:lnTo>
                  <a:lnTo>
                    <a:pt x="531393" y="69443"/>
                  </a:lnTo>
                  <a:lnTo>
                    <a:pt x="531393" y="77381"/>
                  </a:lnTo>
                  <a:lnTo>
                    <a:pt x="529412" y="83337"/>
                  </a:lnTo>
                  <a:lnTo>
                    <a:pt x="527431" y="93256"/>
                  </a:lnTo>
                  <a:lnTo>
                    <a:pt x="524421" y="101066"/>
                  </a:lnTo>
                  <a:lnTo>
                    <a:pt x="521233" y="109626"/>
                  </a:lnTo>
                  <a:lnTo>
                    <a:pt x="517626" y="119049"/>
                  </a:lnTo>
                  <a:lnTo>
                    <a:pt x="513549" y="128968"/>
                  </a:lnTo>
                  <a:lnTo>
                    <a:pt x="503643" y="154762"/>
                  </a:lnTo>
                  <a:lnTo>
                    <a:pt x="493725" y="126987"/>
                  </a:lnTo>
                  <a:lnTo>
                    <a:pt x="479526" y="93256"/>
                  </a:lnTo>
                  <a:lnTo>
                    <a:pt x="477862" y="89281"/>
                  </a:lnTo>
                  <a:lnTo>
                    <a:pt x="465963" y="57543"/>
                  </a:lnTo>
                  <a:lnTo>
                    <a:pt x="460019" y="57543"/>
                  </a:lnTo>
                  <a:lnTo>
                    <a:pt x="457047" y="65290"/>
                  </a:lnTo>
                  <a:lnTo>
                    <a:pt x="451154" y="81356"/>
                  </a:lnTo>
                  <a:lnTo>
                    <a:pt x="448119" y="89281"/>
                  </a:lnTo>
                  <a:lnTo>
                    <a:pt x="428294" y="130949"/>
                  </a:lnTo>
                  <a:lnTo>
                    <a:pt x="424332" y="140868"/>
                  </a:lnTo>
                  <a:lnTo>
                    <a:pt x="420357" y="146824"/>
                  </a:lnTo>
                  <a:lnTo>
                    <a:pt x="418376" y="152781"/>
                  </a:lnTo>
                  <a:lnTo>
                    <a:pt x="414413" y="136906"/>
                  </a:lnTo>
                  <a:lnTo>
                    <a:pt x="412432" y="130949"/>
                  </a:lnTo>
                  <a:lnTo>
                    <a:pt x="400532" y="89281"/>
                  </a:lnTo>
                  <a:lnTo>
                    <a:pt x="396659" y="81534"/>
                  </a:lnTo>
                  <a:lnTo>
                    <a:pt x="396570" y="69443"/>
                  </a:lnTo>
                  <a:lnTo>
                    <a:pt x="398551" y="69443"/>
                  </a:lnTo>
                  <a:lnTo>
                    <a:pt x="400532" y="67462"/>
                  </a:lnTo>
                  <a:lnTo>
                    <a:pt x="414413" y="67462"/>
                  </a:lnTo>
                  <a:lnTo>
                    <a:pt x="416394" y="65481"/>
                  </a:lnTo>
                  <a:lnTo>
                    <a:pt x="416394" y="61506"/>
                  </a:lnTo>
                  <a:lnTo>
                    <a:pt x="414413" y="59524"/>
                  </a:lnTo>
                  <a:lnTo>
                    <a:pt x="409181" y="59829"/>
                  </a:lnTo>
                  <a:lnTo>
                    <a:pt x="402272" y="60515"/>
                  </a:lnTo>
                  <a:lnTo>
                    <a:pt x="393496" y="61201"/>
                  </a:lnTo>
                  <a:lnTo>
                    <a:pt x="382689" y="61506"/>
                  </a:lnTo>
                  <a:lnTo>
                    <a:pt x="374167" y="61201"/>
                  </a:lnTo>
                  <a:lnTo>
                    <a:pt x="366572" y="60515"/>
                  </a:lnTo>
                  <a:lnTo>
                    <a:pt x="360095" y="59829"/>
                  </a:lnTo>
                  <a:lnTo>
                    <a:pt x="354926" y="59524"/>
                  </a:lnTo>
                  <a:lnTo>
                    <a:pt x="352945" y="61506"/>
                  </a:lnTo>
                  <a:lnTo>
                    <a:pt x="352945" y="65481"/>
                  </a:lnTo>
                  <a:lnTo>
                    <a:pt x="354926" y="67462"/>
                  </a:lnTo>
                  <a:lnTo>
                    <a:pt x="360870" y="67462"/>
                  </a:lnTo>
                  <a:lnTo>
                    <a:pt x="364845" y="69443"/>
                  </a:lnTo>
                  <a:lnTo>
                    <a:pt x="368808" y="69443"/>
                  </a:lnTo>
                  <a:lnTo>
                    <a:pt x="368808" y="71424"/>
                  </a:lnTo>
                  <a:lnTo>
                    <a:pt x="370789" y="73418"/>
                  </a:lnTo>
                  <a:lnTo>
                    <a:pt x="370789" y="75399"/>
                  </a:lnTo>
                  <a:lnTo>
                    <a:pt x="372770" y="77381"/>
                  </a:lnTo>
                  <a:lnTo>
                    <a:pt x="372770" y="79362"/>
                  </a:lnTo>
                  <a:lnTo>
                    <a:pt x="374751" y="85318"/>
                  </a:lnTo>
                  <a:lnTo>
                    <a:pt x="378726" y="95237"/>
                  </a:lnTo>
                  <a:lnTo>
                    <a:pt x="380555" y="101561"/>
                  </a:lnTo>
                  <a:lnTo>
                    <a:pt x="382930" y="108635"/>
                  </a:lnTo>
                  <a:lnTo>
                    <a:pt x="385686" y="116446"/>
                  </a:lnTo>
                  <a:lnTo>
                    <a:pt x="388632" y="125006"/>
                  </a:lnTo>
                  <a:lnTo>
                    <a:pt x="404495" y="182537"/>
                  </a:lnTo>
                  <a:lnTo>
                    <a:pt x="416394" y="182537"/>
                  </a:lnTo>
                  <a:lnTo>
                    <a:pt x="429412" y="152781"/>
                  </a:lnTo>
                  <a:lnTo>
                    <a:pt x="444157" y="119049"/>
                  </a:lnTo>
                  <a:lnTo>
                    <a:pt x="456057" y="93256"/>
                  </a:lnTo>
                  <a:lnTo>
                    <a:pt x="485787" y="166662"/>
                  </a:lnTo>
                  <a:lnTo>
                    <a:pt x="491744" y="182537"/>
                  </a:lnTo>
                  <a:lnTo>
                    <a:pt x="503643" y="182537"/>
                  </a:lnTo>
                  <a:lnTo>
                    <a:pt x="505625" y="178574"/>
                  </a:lnTo>
                  <a:lnTo>
                    <a:pt x="507606" y="170637"/>
                  </a:lnTo>
                  <a:lnTo>
                    <a:pt x="509587" y="164680"/>
                  </a:lnTo>
                  <a:lnTo>
                    <a:pt x="513715" y="154762"/>
                  </a:lnTo>
                  <a:lnTo>
                    <a:pt x="519506" y="140868"/>
                  </a:lnTo>
                  <a:lnTo>
                    <a:pt x="525449" y="125006"/>
                  </a:lnTo>
                  <a:lnTo>
                    <a:pt x="537349" y="95237"/>
                  </a:lnTo>
                  <a:lnTo>
                    <a:pt x="543293" y="85318"/>
                  </a:lnTo>
                  <a:lnTo>
                    <a:pt x="545274" y="79362"/>
                  </a:lnTo>
                  <a:lnTo>
                    <a:pt x="549249" y="71424"/>
                  </a:lnTo>
                  <a:lnTo>
                    <a:pt x="551230" y="69443"/>
                  </a:lnTo>
                  <a:lnTo>
                    <a:pt x="553212" y="69443"/>
                  </a:lnTo>
                  <a:lnTo>
                    <a:pt x="555193" y="67462"/>
                  </a:lnTo>
                  <a:lnTo>
                    <a:pt x="563118" y="67462"/>
                  </a:lnTo>
                  <a:lnTo>
                    <a:pt x="563118" y="61506"/>
                  </a:lnTo>
                  <a:lnTo>
                    <a:pt x="563118" y="59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3631" y="4690187"/>
              <a:ext cx="126900" cy="12896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803722" y="3878694"/>
              <a:ext cx="1743075" cy="901065"/>
            </a:xfrm>
            <a:custGeom>
              <a:avLst/>
              <a:gdLst/>
              <a:ahLst/>
              <a:cxnLst/>
              <a:rect l="l" t="t" r="r" b="b"/>
              <a:pathLst>
                <a:path w="1743075" h="901064">
                  <a:moveTo>
                    <a:pt x="138798" y="71424"/>
                  </a:moveTo>
                  <a:lnTo>
                    <a:pt x="89217" y="71424"/>
                  </a:lnTo>
                  <a:lnTo>
                    <a:pt x="89217" y="77381"/>
                  </a:lnTo>
                  <a:lnTo>
                    <a:pt x="91198" y="79362"/>
                  </a:lnTo>
                  <a:lnTo>
                    <a:pt x="105079" y="79362"/>
                  </a:lnTo>
                  <a:lnTo>
                    <a:pt x="107073" y="81343"/>
                  </a:lnTo>
                  <a:lnTo>
                    <a:pt x="107073" y="91262"/>
                  </a:lnTo>
                  <a:lnTo>
                    <a:pt x="105079" y="95237"/>
                  </a:lnTo>
                  <a:lnTo>
                    <a:pt x="103098" y="103174"/>
                  </a:lnTo>
                  <a:lnTo>
                    <a:pt x="99136" y="113093"/>
                  </a:lnTo>
                  <a:lnTo>
                    <a:pt x="87236" y="138887"/>
                  </a:lnTo>
                  <a:lnTo>
                    <a:pt x="75336" y="168643"/>
                  </a:lnTo>
                  <a:lnTo>
                    <a:pt x="61468" y="138887"/>
                  </a:lnTo>
                  <a:lnTo>
                    <a:pt x="45605" y="101180"/>
                  </a:lnTo>
                  <a:lnTo>
                    <a:pt x="43611" y="91262"/>
                  </a:lnTo>
                  <a:lnTo>
                    <a:pt x="41630" y="87299"/>
                  </a:lnTo>
                  <a:lnTo>
                    <a:pt x="41630" y="81343"/>
                  </a:lnTo>
                  <a:lnTo>
                    <a:pt x="43611" y="79362"/>
                  </a:lnTo>
                  <a:lnTo>
                    <a:pt x="59486" y="79362"/>
                  </a:lnTo>
                  <a:lnTo>
                    <a:pt x="59486" y="71424"/>
                  </a:lnTo>
                  <a:lnTo>
                    <a:pt x="0" y="71424"/>
                  </a:lnTo>
                  <a:lnTo>
                    <a:pt x="0" y="79362"/>
                  </a:lnTo>
                  <a:lnTo>
                    <a:pt x="11887" y="79362"/>
                  </a:lnTo>
                  <a:lnTo>
                    <a:pt x="11887" y="81343"/>
                  </a:lnTo>
                  <a:lnTo>
                    <a:pt x="15862" y="85318"/>
                  </a:lnTo>
                  <a:lnTo>
                    <a:pt x="17843" y="89281"/>
                  </a:lnTo>
                  <a:lnTo>
                    <a:pt x="43611" y="150787"/>
                  </a:lnTo>
                  <a:lnTo>
                    <a:pt x="53428" y="172402"/>
                  </a:lnTo>
                  <a:lnTo>
                    <a:pt x="61468" y="192455"/>
                  </a:lnTo>
                  <a:lnTo>
                    <a:pt x="75336" y="192455"/>
                  </a:lnTo>
                  <a:lnTo>
                    <a:pt x="83400" y="172618"/>
                  </a:lnTo>
                  <a:lnTo>
                    <a:pt x="85064" y="168643"/>
                  </a:lnTo>
                  <a:lnTo>
                    <a:pt x="89966" y="156984"/>
                  </a:lnTo>
                  <a:lnTo>
                    <a:pt x="94576" y="146418"/>
                  </a:lnTo>
                  <a:lnTo>
                    <a:pt x="109054" y="115074"/>
                  </a:lnTo>
                  <a:lnTo>
                    <a:pt x="114287" y="104317"/>
                  </a:lnTo>
                  <a:lnTo>
                    <a:pt x="118224" y="95973"/>
                  </a:lnTo>
                  <a:lnTo>
                    <a:pt x="121043" y="90246"/>
                  </a:lnTo>
                  <a:lnTo>
                    <a:pt x="122923" y="87299"/>
                  </a:lnTo>
                  <a:lnTo>
                    <a:pt x="124917" y="83324"/>
                  </a:lnTo>
                  <a:lnTo>
                    <a:pt x="126898" y="81343"/>
                  </a:lnTo>
                  <a:lnTo>
                    <a:pt x="128879" y="81343"/>
                  </a:lnTo>
                  <a:lnTo>
                    <a:pt x="128879" y="79362"/>
                  </a:lnTo>
                  <a:lnTo>
                    <a:pt x="138798" y="79362"/>
                  </a:lnTo>
                  <a:lnTo>
                    <a:pt x="138798" y="71424"/>
                  </a:lnTo>
                  <a:close/>
                </a:path>
                <a:path w="1743075" h="901064">
                  <a:moveTo>
                    <a:pt x="196291" y="21818"/>
                  </a:moveTo>
                  <a:lnTo>
                    <a:pt x="192328" y="13881"/>
                  </a:lnTo>
                  <a:lnTo>
                    <a:pt x="190347" y="11899"/>
                  </a:lnTo>
                  <a:lnTo>
                    <a:pt x="186385" y="9918"/>
                  </a:lnTo>
                  <a:lnTo>
                    <a:pt x="178447" y="9918"/>
                  </a:lnTo>
                  <a:lnTo>
                    <a:pt x="174485" y="11899"/>
                  </a:lnTo>
                  <a:lnTo>
                    <a:pt x="168529" y="17856"/>
                  </a:lnTo>
                  <a:lnTo>
                    <a:pt x="166547" y="21818"/>
                  </a:lnTo>
                  <a:lnTo>
                    <a:pt x="166547" y="29756"/>
                  </a:lnTo>
                  <a:lnTo>
                    <a:pt x="174485" y="37693"/>
                  </a:lnTo>
                  <a:lnTo>
                    <a:pt x="178447" y="39674"/>
                  </a:lnTo>
                  <a:lnTo>
                    <a:pt x="186385" y="39674"/>
                  </a:lnTo>
                  <a:lnTo>
                    <a:pt x="190347" y="37693"/>
                  </a:lnTo>
                  <a:lnTo>
                    <a:pt x="192328" y="35712"/>
                  </a:lnTo>
                  <a:lnTo>
                    <a:pt x="194310" y="31737"/>
                  </a:lnTo>
                  <a:lnTo>
                    <a:pt x="196291" y="29756"/>
                  </a:lnTo>
                  <a:lnTo>
                    <a:pt x="196291" y="21818"/>
                  </a:lnTo>
                  <a:close/>
                </a:path>
                <a:path w="1743075" h="901064">
                  <a:moveTo>
                    <a:pt x="216128" y="184518"/>
                  </a:moveTo>
                  <a:lnTo>
                    <a:pt x="206209" y="184518"/>
                  </a:lnTo>
                  <a:lnTo>
                    <a:pt x="202247" y="182537"/>
                  </a:lnTo>
                  <a:lnTo>
                    <a:pt x="198272" y="182537"/>
                  </a:lnTo>
                  <a:lnTo>
                    <a:pt x="196291" y="180555"/>
                  </a:lnTo>
                  <a:lnTo>
                    <a:pt x="196291" y="176580"/>
                  </a:lnTo>
                  <a:lnTo>
                    <a:pt x="194310" y="170624"/>
                  </a:lnTo>
                  <a:lnTo>
                    <a:pt x="194335" y="100406"/>
                  </a:lnTo>
                  <a:lnTo>
                    <a:pt x="196291" y="69443"/>
                  </a:lnTo>
                  <a:lnTo>
                    <a:pt x="192328" y="67449"/>
                  </a:lnTo>
                  <a:lnTo>
                    <a:pt x="184150" y="71234"/>
                  </a:lnTo>
                  <a:lnTo>
                    <a:pt x="174485" y="73901"/>
                  </a:lnTo>
                  <a:lnTo>
                    <a:pt x="163334" y="75831"/>
                  </a:lnTo>
                  <a:lnTo>
                    <a:pt x="150685" y="77381"/>
                  </a:lnTo>
                  <a:lnTo>
                    <a:pt x="150685" y="85318"/>
                  </a:lnTo>
                  <a:lnTo>
                    <a:pt x="168529" y="85318"/>
                  </a:lnTo>
                  <a:lnTo>
                    <a:pt x="170522" y="87299"/>
                  </a:lnTo>
                  <a:lnTo>
                    <a:pt x="170522" y="91262"/>
                  </a:lnTo>
                  <a:lnTo>
                    <a:pt x="172504" y="95237"/>
                  </a:lnTo>
                  <a:lnTo>
                    <a:pt x="172504" y="170624"/>
                  </a:lnTo>
                  <a:lnTo>
                    <a:pt x="170522" y="176580"/>
                  </a:lnTo>
                  <a:lnTo>
                    <a:pt x="170522" y="180555"/>
                  </a:lnTo>
                  <a:lnTo>
                    <a:pt x="168529" y="182537"/>
                  </a:lnTo>
                  <a:lnTo>
                    <a:pt x="164566" y="182537"/>
                  </a:lnTo>
                  <a:lnTo>
                    <a:pt x="160604" y="184518"/>
                  </a:lnTo>
                  <a:lnTo>
                    <a:pt x="150685" y="184518"/>
                  </a:lnTo>
                  <a:lnTo>
                    <a:pt x="150723" y="190500"/>
                  </a:lnTo>
                  <a:lnTo>
                    <a:pt x="152666" y="192455"/>
                  </a:lnTo>
                  <a:lnTo>
                    <a:pt x="160108" y="191312"/>
                  </a:lnTo>
                  <a:lnTo>
                    <a:pt x="167538" y="190715"/>
                  </a:lnTo>
                  <a:lnTo>
                    <a:pt x="174980" y="190500"/>
                  </a:lnTo>
                  <a:lnTo>
                    <a:pt x="190157" y="190500"/>
                  </a:lnTo>
                  <a:lnTo>
                    <a:pt x="198272" y="190715"/>
                  </a:lnTo>
                  <a:lnTo>
                    <a:pt x="206387" y="191312"/>
                  </a:lnTo>
                  <a:lnTo>
                    <a:pt x="214134" y="192455"/>
                  </a:lnTo>
                  <a:lnTo>
                    <a:pt x="216090" y="190500"/>
                  </a:lnTo>
                  <a:lnTo>
                    <a:pt x="216128" y="184518"/>
                  </a:lnTo>
                  <a:close/>
                </a:path>
                <a:path w="1743075" h="901064">
                  <a:moveTo>
                    <a:pt x="339051" y="109118"/>
                  </a:moveTo>
                  <a:lnTo>
                    <a:pt x="335089" y="93243"/>
                  </a:lnTo>
                  <a:lnTo>
                    <a:pt x="331127" y="85318"/>
                  </a:lnTo>
                  <a:lnTo>
                    <a:pt x="325170" y="79362"/>
                  </a:lnTo>
                  <a:lnTo>
                    <a:pt x="317246" y="75387"/>
                  </a:lnTo>
                  <a:lnTo>
                    <a:pt x="315264" y="74155"/>
                  </a:lnTo>
                  <a:lnTo>
                    <a:pt x="315264" y="115074"/>
                  </a:lnTo>
                  <a:lnTo>
                    <a:pt x="315264" y="119037"/>
                  </a:lnTo>
                  <a:lnTo>
                    <a:pt x="313283" y="121031"/>
                  </a:lnTo>
                  <a:lnTo>
                    <a:pt x="271640" y="121031"/>
                  </a:lnTo>
                  <a:lnTo>
                    <a:pt x="259740" y="119037"/>
                  </a:lnTo>
                  <a:lnTo>
                    <a:pt x="253796" y="119037"/>
                  </a:lnTo>
                  <a:lnTo>
                    <a:pt x="266560" y="82092"/>
                  </a:lnTo>
                  <a:lnTo>
                    <a:pt x="285521" y="75387"/>
                  </a:lnTo>
                  <a:lnTo>
                    <a:pt x="295427" y="75387"/>
                  </a:lnTo>
                  <a:lnTo>
                    <a:pt x="315264" y="115074"/>
                  </a:lnTo>
                  <a:lnTo>
                    <a:pt x="315264" y="74155"/>
                  </a:lnTo>
                  <a:lnTo>
                    <a:pt x="311264" y="71640"/>
                  </a:lnTo>
                  <a:lnTo>
                    <a:pt x="305104" y="69189"/>
                  </a:lnTo>
                  <a:lnTo>
                    <a:pt x="298564" y="67856"/>
                  </a:lnTo>
                  <a:lnTo>
                    <a:pt x="291465" y="67449"/>
                  </a:lnTo>
                  <a:lnTo>
                    <a:pt x="275602" y="67449"/>
                  </a:lnTo>
                  <a:lnTo>
                    <a:pt x="269659" y="71424"/>
                  </a:lnTo>
                  <a:lnTo>
                    <a:pt x="263715" y="73406"/>
                  </a:lnTo>
                  <a:lnTo>
                    <a:pt x="245859" y="85318"/>
                  </a:lnTo>
                  <a:lnTo>
                    <a:pt x="237934" y="93243"/>
                  </a:lnTo>
                  <a:lnTo>
                    <a:pt x="233972" y="101180"/>
                  </a:lnTo>
                  <a:lnTo>
                    <a:pt x="228015" y="124993"/>
                  </a:lnTo>
                  <a:lnTo>
                    <a:pt x="228015" y="132930"/>
                  </a:lnTo>
                  <a:lnTo>
                    <a:pt x="228638" y="141579"/>
                  </a:lnTo>
                  <a:lnTo>
                    <a:pt x="228727" y="142976"/>
                  </a:lnTo>
                  <a:lnTo>
                    <a:pt x="247345" y="180797"/>
                  </a:lnTo>
                  <a:lnTo>
                    <a:pt x="289483" y="194437"/>
                  </a:lnTo>
                  <a:lnTo>
                    <a:pt x="301383" y="194437"/>
                  </a:lnTo>
                  <a:lnTo>
                    <a:pt x="307327" y="192455"/>
                  </a:lnTo>
                  <a:lnTo>
                    <a:pt x="313283" y="190601"/>
                  </a:lnTo>
                  <a:lnTo>
                    <a:pt x="319227" y="187998"/>
                  </a:lnTo>
                  <a:lnTo>
                    <a:pt x="325170" y="184645"/>
                  </a:lnTo>
                  <a:lnTo>
                    <a:pt x="331127" y="180555"/>
                  </a:lnTo>
                  <a:lnTo>
                    <a:pt x="335089" y="172618"/>
                  </a:lnTo>
                  <a:lnTo>
                    <a:pt x="333108" y="170624"/>
                  </a:lnTo>
                  <a:lnTo>
                    <a:pt x="327164" y="172618"/>
                  </a:lnTo>
                  <a:lnTo>
                    <a:pt x="321208" y="176580"/>
                  </a:lnTo>
                  <a:lnTo>
                    <a:pt x="315264" y="178562"/>
                  </a:lnTo>
                  <a:lnTo>
                    <a:pt x="311302" y="180555"/>
                  </a:lnTo>
                  <a:lnTo>
                    <a:pt x="299402" y="180555"/>
                  </a:lnTo>
                  <a:lnTo>
                    <a:pt x="260489" y="161607"/>
                  </a:lnTo>
                  <a:lnTo>
                    <a:pt x="253796" y="128968"/>
                  </a:lnTo>
                  <a:lnTo>
                    <a:pt x="323189" y="128968"/>
                  </a:lnTo>
                  <a:lnTo>
                    <a:pt x="331127" y="126974"/>
                  </a:lnTo>
                  <a:lnTo>
                    <a:pt x="337070" y="126974"/>
                  </a:lnTo>
                  <a:lnTo>
                    <a:pt x="339051" y="124993"/>
                  </a:lnTo>
                  <a:lnTo>
                    <a:pt x="339051" y="121031"/>
                  </a:lnTo>
                  <a:lnTo>
                    <a:pt x="339051" y="109118"/>
                  </a:lnTo>
                  <a:close/>
                </a:path>
                <a:path w="1743075" h="901064">
                  <a:moveTo>
                    <a:pt x="563118" y="71424"/>
                  </a:moveTo>
                  <a:lnTo>
                    <a:pt x="511556" y="71424"/>
                  </a:lnTo>
                  <a:lnTo>
                    <a:pt x="511556" y="77381"/>
                  </a:lnTo>
                  <a:lnTo>
                    <a:pt x="521474" y="79362"/>
                  </a:lnTo>
                  <a:lnTo>
                    <a:pt x="527418" y="79362"/>
                  </a:lnTo>
                  <a:lnTo>
                    <a:pt x="529399" y="81343"/>
                  </a:lnTo>
                  <a:lnTo>
                    <a:pt x="529399" y="93243"/>
                  </a:lnTo>
                  <a:lnTo>
                    <a:pt x="525437" y="103174"/>
                  </a:lnTo>
                  <a:lnTo>
                    <a:pt x="523303" y="111010"/>
                  </a:lnTo>
                  <a:lnTo>
                    <a:pt x="516801" y="129679"/>
                  </a:lnTo>
                  <a:lnTo>
                    <a:pt x="513537" y="140868"/>
                  </a:lnTo>
                  <a:lnTo>
                    <a:pt x="503631" y="166662"/>
                  </a:lnTo>
                  <a:lnTo>
                    <a:pt x="491731" y="136906"/>
                  </a:lnTo>
                  <a:lnTo>
                    <a:pt x="477545" y="103174"/>
                  </a:lnTo>
                  <a:lnTo>
                    <a:pt x="475869" y="99199"/>
                  </a:lnTo>
                  <a:lnTo>
                    <a:pt x="465950" y="69443"/>
                  </a:lnTo>
                  <a:lnTo>
                    <a:pt x="458025" y="69443"/>
                  </a:lnTo>
                  <a:lnTo>
                    <a:pt x="455879" y="76885"/>
                  </a:lnTo>
                  <a:lnTo>
                    <a:pt x="452818" y="84328"/>
                  </a:lnTo>
                  <a:lnTo>
                    <a:pt x="449376" y="91757"/>
                  </a:lnTo>
                  <a:lnTo>
                    <a:pt x="446125" y="99199"/>
                  </a:lnTo>
                  <a:lnTo>
                    <a:pt x="428282" y="140868"/>
                  </a:lnTo>
                  <a:lnTo>
                    <a:pt x="424497" y="147942"/>
                  </a:lnTo>
                  <a:lnTo>
                    <a:pt x="421843" y="154266"/>
                  </a:lnTo>
                  <a:lnTo>
                    <a:pt x="419912" y="159842"/>
                  </a:lnTo>
                  <a:lnTo>
                    <a:pt x="418363" y="164680"/>
                  </a:lnTo>
                  <a:lnTo>
                    <a:pt x="414401" y="154762"/>
                  </a:lnTo>
                  <a:lnTo>
                    <a:pt x="412419" y="146824"/>
                  </a:lnTo>
                  <a:lnTo>
                    <a:pt x="410438" y="140868"/>
                  </a:lnTo>
                  <a:lnTo>
                    <a:pt x="398538" y="99199"/>
                  </a:lnTo>
                  <a:lnTo>
                    <a:pt x="396684" y="91757"/>
                  </a:lnTo>
                  <a:lnTo>
                    <a:pt x="396557" y="91262"/>
                  </a:lnTo>
                  <a:lnTo>
                    <a:pt x="394576" y="85318"/>
                  </a:lnTo>
                  <a:lnTo>
                    <a:pt x="394576" y="81343"/>
                  </a:lnTo>
                  <a:lnTo>
                    <a:pt x="396557" y="79362"/>
                  </a:lnTo>
                  <a:lnTo>
                    <a:pt x="404482" y="79362"/>
                  </a:lnTo>
                  <a:lnTo>
                    <a:pt x="414401" y="77381"/>
                  </a:lnTo>
                  <a:lnTo>
                    <a:pt x="414401" y="71424"/>
                  </a:lnTo>
                  <a:lnTo>
                    <a:pt x="352933" y="71424"/>
                  </a:lnTo>
                  <a:lnTo>
                    <a:pt x="352933" y="77381"/>
                  </a:lnTo>
                  <a:lnTo>
                    <a:pt x="358889" y="79362"/>
                  </a:lnTo>
                  <a:lnTo>
                    <a:pt x="364832" y="79362"/>
                  </a:lnTo>
                  <a:lnTo>
                    <a:pt x="370776" y="85318"/>
                  </a:lnTo>
                  <a:lnTo>
                    <a:pt x="370776" y="89281"/>
                  </a:lnTo>
                  <a:lnTo>
                    <a:pt x="374751" y="95237"/>
                  </a:lnTo>
                  <a:lnTo>
                    <a:pt x="376732" y="105156"/>
                  </a:lnTo>
                  <a:lnTo>
                    <a:pt x="379399" y="112598"/>
                  </a:lnTo>
                  <a:lnTo>
                    <a:pt x="383984" y="127469"/>
                  </a:lnTo>
                  <a:lnTo>
                    <a:pt x="386638" y="134912"/>
                  </a:lnTo>
                  <a:lnTo>
                    <a:pt x="404482" y="192455"/>
                  </a:lnTo>
                  <a:lnTo>
                    <a:pt x="416382" y="192455"/>
                  </a:lnTo>
                  <a:lnTo>
                    <a:pt x="427494" y="164680"/>
                  </a:lnTo>
                  <a:lnTo>
                    <a:pt x="428282" y="162699"/>
                  </a:lnTo>
                  <a:lnTo>
                    <a:pt x="442163" y="130949"/>
                  </a:lnTo>
                  <a:lnTo>
                    <a:pt x="456044" y="103174"/>
                  </a:lnTo>
                  <a:lnTo>
                    <a:pt x="485787" y="176580"/>
                  </a:lnTo>
                  <a:lnTo>
                    <a:pt x="491731" y="192455"/>
                  </a:lnTo>
                  <a:lnTo>
                    <a:pt x="503631" y="192455"/>
                  </a:lnTo>
                  <a:lnTo>
                    <a:pt x="503631" y="188493"/>
                  </a:lnTo>
                  <a:lnTo>
                    <a:pt x="505612" y="182537"/>
                  </a:lnTo>
                  <a:lnTo>
                    <a:pt x="509574" y="174599"/>
                  </a:lnTo>
                  <a:lnTo>
                    <a:pt x="512216" y="166662"/>
                  </a:lnTo>
                  <a:lnTo>
                    <a:pt x="517512" y="150787"/>
                  </a:lnTo>
                  <a:lnTo>
                    <a:pt x="523455" y="136906"/>
                  </a:lnTo>
                  <a:lnTo>
                    <a:pt x="537337" y="105156"/>
                  </a:lnTo>
                  <a:lnTo>
                    <a:pt x="541299" y="95237"/>
                  </a:lnTo>
                  <a:lnTo>
                    <a:pt x="545274" y="89281"/>
                  </a:lnTo>
                  <a:lnTo>
                    <a:pt x="547255" y="85318"/>
                  </a:lnTo>
                  <a:lnTo>
                    <a:pt x="551218" y="81343"/>
                  </a:lnTo>
                  <a:lnTo>
                    <a:pt x="551218" y="79362"/>
                  </a:lnTo>
                  <a:lnTo>
                    <a:pt x="557161" y="79362"/>
                  </a:lnTo>
                  <a:lnTo>
                    <a:pt x="561124" y="77381"/>
                  </a:lnTo>
                  <a:lnTo>
                    <a:pt x="563118" y="77381"/>
                  </a:lnTo>
                  <a:lnTo>
                    <a:pt x="563118" y="71424"/>
                  </a:lnTo>
                  <a:close/>
                </a:path>
                <a:path w="1743075" h="901064">
                  <a:moveTo>
                    <a:pt x="705878" y="184518"/>
                  </a:moveTo>
                  <a:lnTo>
                    <a:pt x="695960" y="184518"/>
                  </a:lnTo>
                  <a:lnTo>
                    <a:pt x="691997" y="182537"/>
                  </a:lnTo>
                  <a:lnTo>
                    <a:pt x="688035" y="182537"/>
                  </a:lnTo>
                  <a:lnTo>
                    <a:pt x="686041" y="180555"/>
                  </a:lnTo>
                  <a:lnTo>
                    <a:pt x="686041" y="170624"/>
                  </a:lnTo>
                  <a:lnTo>
                    <a:pt x="684060" y="160705"/>
                  </a:lnTo>
                  <a:lnTo>
                    <a:pt x="684098" y="41046"/>
                  </a:lnTo>
                  <a:lnTo>
                    <a:pt x="685927" y="2946"/>
                  </a:lnTo>
                  <a:lnTo>
                    <a:pt x="686041" y="1981"/>
                  </a:lnTo>
                  <a:lnTo>
                    <a:pt x="684060" y="0"/>
                  </a:lnTo>
                  <a:lnTo>
                    <a:pt x="674763" y="2946"/>
                  </a:lnTo>
                  <a:lnTo>
                    <a:pt x="664730" y="5702"/>
                  </a:lnTo>
                  <a:lnTo>
                    <a:pt x="653948" y="8089"/>
                  </a:lnTo>
                  <a:lnTo>
                    <a:pt x="642429" y="9918"/>
                  </a:lnTo>
                  <a:lnTo>
                    <a:pt x="640448" y="9918"/>
                  </a:lnTo>
                  <a:lnTo>
                    <a:pt x="640448" y="15862"/>
                  </a:lnTo>
                  <a:lnTo>
                    <a:pt x="642429" y="17856"/>
                  </a:lnTo>
                  <a:lnTo>
                    <a:pt x="660273" y="17856"/>
                  </a:lnTo>
                  <a:lnTo>
                    <a:pt x="660273" y="21818"/>
                  </a:lnTo>
                  <a:lnTo>
                    <a:pt x="662254" y="25793"/>
                  </a:lnTo>
                  <a:lnTo>
                    <a:pt x="662254" y="176580"/>
                  </a:lnTo>
                  <a:lnTo>
                    <a:pt x="660273" y="178562"/>
                  </a:lnTo>
                  <a:lnTo>
                    <a:pt x="660273" y="182537"/>
                  </a:lnTo>
                  <a:lnTo>
                    <a:pt x="656310" y="182537"/>
                  </a:lnTo>
                  <a:lnTo>
                    <a:pt x="650354" y="184518"/>
                  </a:lnTo>
                  <a:lnTo>
                    <a:pt x="642429" y="184518"/>
                  </a:lnTo>
                  <a:lnTo>
                    <a:pt x="642429" y="192455"/>
                  </a:lnTo>
                  <a:lnTo>
                    <a:pt x="650176" y="191312"/>
                  </a:lnTo>
                  <a:lnTo>
                    <a:pt x="658291" y="190715"/>
                  </a:lnTo>
                  <a:lnTo>
                    <a:pt x="666407" y="190500"/>
                  </a:lnTo>
                  <a:lnTo>
                    <a:pt x="681583" y="190500"/>
                  </a:lnTo>
                  <a:lnTo>
                    <a:pt x="689025" y="190715"/>
                  </a:lnTo>
                  <a:lnTo>
                    <a:pt x="696455" y="191312"/>
                  </a:lnTo>
                  <a:lnTo>
                    <a:pt x="703897" y="192455"/>
                  </a:lnTo>
                  <a:lnTo>
                    <a:pt x="705840" y="190500"/>
                  </a:lnTo>
                  <a:lnTo>
                    <a:pt x="705878" y="184518"/>
                  </a:lnTo>
                  <a:close/>
                </a:path>
                <a:path w="1743075" h="901064">
                  <a:moveTo>
                    <a:pt x="828814" y="101180"/>
                  </a:moveTo>
                  <a:lnTo>
                    <a:pt x="820877" y="85318"/>
                  </a:lnTo>
                  <a:lnTo>
                    <a:pt x="816914" y="79362"/>
                  </a:lnTo>
                  <a:lnTo>
                    <a:pt x="808977" y="75387"/>
                  </a:lnTo>
                  <a:lnTo>
                    <a:pt x="805014" y="73037"/>
                  </a:lnTo>
                  <a:lnTo>
                    <a:pt x="805014" y="115074"/>
                  </a:lnTo>
                  <a:lnTo>
                    <a:pt x="805014" y="119037"/>
                  </a:lnTo>
                  <a:lnTo>
                    <a:pt x="803033" y="121031"/>
                  </a:lnTo>
                  <a:lnTo>
                    <a:pt x="761390" y="121031"/>
                  </a:lnTo>
                  <a:lnTo>
                    <a:pt x="751484" y="119037"/>
                  </a:lnTo>
                  <a:lnTo>
                    <a:pt x="743546" y="119037"/>
                  </a:lnTo>
                  <a:lnTo>
                    <a:pt x="756310" y="82092"/>
                  </a:lnTo>
                  <a:lnTo>
                    <a:pt x="775271" y="75387"/>
                  </a:lnTo>
                  <a:lnTo>
                    <a:pt x="785190" y="75387"/>
                  </a:lnTo>
                  <a:lnTo>
                    <a:pt x="793115" y="79362"/>
                  </a:lnTo>
                  <a:lnTo>
                    <a:pt x="797090" y="85318"/>
                  </a:lnTo>
                  <a:lnTo>
                    <a:pt x="800836" y="90525"/>
                  </a:lnTo>
                  <a:lnTo>
                    <a:pt x="803275" y="97218"/>
                  </a:lnTo>
                  <a:lnTo>
                    <a:pt x="804608" y="105397"/>
                  </a:lnTo>
                  <a:lnTo>
                    <a:pt x="805014" y="115074"/>
                  </a:lnTo>
                  <a:lnTo>
                    <a:pt x="805014" y="73037"/>
                  </a:lnTo>
                  <a:lnTo>
                    <a:pt x="802690" y="71640"/>
                  </a:lnTo>
                  <a:lnTo>
                    <a:pt x="795845" y="69189"/>
                  </a:lnTo>
                  <a:lnTo>
                    <a:pt x="788619" y="67856"/>
                  </a:lnTo>
                  <a:lnTo>
                    <a:pt x="781215" y="67449"/>
                  </a:lnTo>
                  <a:lnTo>
                    <a:pt x="767346" y="67449"/>
                  </a:lnTo>
                  <a:lnTo>
                    <a:pt x="759409" y="71424"/>
                  </a:lnTo>
                  <a:lnTo>
                    <a:pt x="753465" y="73406"/>
                  </a:lnTo>
                  <a:lnTo>
                    <a:pt x="735622" y="85318"/>
                  </a:lnTo>
                  <a:lnTo>
                    <a:pt x="731647" y="89281"/>
                  </a:lnTo>
                  <a:lnTo>
                    <a:pt x="729665" y="93243"/>
                  </a:lnTo>
                  <a:lnTo>
                    <a:pt x="725703" y="97218"/>
                  </a:lnTo>
                  <a:lnTo>
                    <a:pt x="723722" y="101180"/>
                  </a:lnTo>
                  <a:lnTo>
                    <a:pt x="717778" y="124993"/>
                  </a:lnTo>
                  <a:lnTo>
                    <a:pt x="717778" y="132930"/>
                  </a:lnTo>
                  <a:lnTo>
                    <a:pt x="732205" y="175374"/>
                  </a:lnTo>
                  <a:lnTo>
                    <a:pt x="771804" y="194068"/>
                  </a:lnTo>
                  <a:lnTo>
                    <a:pt x="779233" y="194437"/>
                  </a:lnTo>
                  <a:lnTo>
                    <a:pt x="791133" y="194437"/>
                  </a:lnTo>
                  <a:lnTo>
                    <a:pt x="797090" y="192455"/>
                  </a:lnTo>
                  <a:lnTo>
                    <a:pt x="803033" y="190601"/>
                  </a:lnTo>
                  <a:lnTo>
                    <a:pt x="808977" y="187998"/>
                  </a:lnTo>
                  <a:lnTo>
                    <a:pt x="814933" y="184645"/>
                  </a:lnTo>
                  <a:lnTo>
                    <a:pt x="820877" y="180555"/>
                  </a:lnTo>
                  <a:lnTo>
                    <a:pt x="826833" y="172618"/>
                  </a:lnTo>
                  <a:lnTo>
                    <a:pt x="824839" y="170624"/>
                  </a:lnTo>
                  <a:lnTo>
                    <a:pt x="816914" y="172618"/>
                  </a:lnTo>
                  <a:lnTo>
                    <a:pt x="810958" y="176580"/>
                  </a:lnTo>
                  <a:lnTo>
                    <a:pt x="806996" y="178562"/>
                  </a:lnTo>
                  <a:lnTo>
                    <a:pt x="801052" y="180555"/>
                  </a:lnTo>
                  <a:lnTo>
                    <a:pt x="789152" y="180555"/>
                  </a:lnTo>
                  <a:lnTo>
                    <a:pt x="751078" y="161607"/>
                  </a:lnTo>
                  <a:lnTo>
                    <a:pt x="743546" y="128968"/>
                  </a:lnTo>
                  <a:lnTo>
                    <a:pt x="814933" y="128968"/>
                  </a:lnTo>
                  <a:lnTo>
                    <a:pt x="822858" y="126974"/>
                  </a:lnTo>
                  <a:lnTo>
                    <a:pt x="828814" y="126974"/>
                  </a:lnTo>
                  <a:lnTo>
                    <a:pt x="828814" y="121031"/>
                  </a:lnTo>
                  <a:lnTo>
                    <a:pt x="828814" y="101180"/>
                  </a:lnTo>
                  <a:close/>
                </a:path>
                <a:path w="1743075" h="901064">
                  <a:moveTo>
                    <a:pt x="981481" y="71424"/>
                  </a:moveTo>
                  <a:lnTo>
                    <a:pt x="931913" y="71424"/>
                  </a:lnTo>
                  <a:lnTo>
                    <a:pt x="931913" y="77381"/>
                  </a:lnTo>
                  <a:lnTo>
                    <a:pt x="933894" y="79362"/>
                  </a:lnTo>
                  <a:lnTo>
                    <a:pt x="947775" y="79362"/>
                  </a:lnTo>
                  <a:lnTo>
                    <a:pt x="949756" y="81343"/>
                  </a:lnTo>
                  <a:lnTo>
                    <a:pt x="951738" y="81343"/>
                  </a:lnTo>
                  <a:lnTo>
                    <a:pt x="951738" y="85318"/>
                  </a:lnTo>
                  <a:lnTo>
                    <a:pt x="949756" y="87299"/>
                  </a:lnTo>
                  <a:lnTo>
                    <a:pt x="949756" y="91262"/>
                  </a:lnTo>
                  <a:lnTo>
                    <a:pt x="947775" y="95237"/>
                  </a:lnTo>
                  <a:lnTo>
                    <a:pt x="945794" y="103174"/>
                  </a:lnTo>
                  <a:lnTo>
                    <a:pt x="941832" y="113093"/>
                  </a:lnTo>
                  <a:lnTo>
                    <a:pt x="929932" y="138887"/>
                  </a:lnTo>
                  <a:lnTo>
                    <a:pt x="918032" y="168643"/>
                  </a:lnTo>
                  <a:lnTo>
                    <a:pt x="906145" y="138887"/>
                  </a:lnTo>
                  <a:lnTo>
                    <a:pt x="890270" y="101180"/>
                  </a:lnTo>
                  <a:lnTo>
                    <a:pt x="886307" y="91262"/>
                  </a:lnTo>
                  <a:lnTo>
                    <a:pt x="884326" y="87299"/>
                  </a:lnTo>
                  <a:lnTo>
                    <a:pt x="884326" y="83324"/>
                  </a:lnTo>
                  <a:lnTo>
                    <a:pt x="886307" y="81343"/>
                  </a:lnTo>
                  <a:lnTo>
                    <a:pt x="886307" y="79362"/>
                  </a:lnTo>
                  <a:lnTo>
                    <a:pt x="902169" y="79362"/>
                  </a:lnTo>
                  <a:lnTo>
                    <a:pt x="904151" y="77381"/>
                  </a:lnTo>
                  <a:lnTo>
                    <a:pt x="904151" y="71424"/>
                  </a:lnTo>
                  <a:lnTo>
                    <a:pt x="842683" y="71424"/>
                  </a:lnTo>
                  <a:lnTo>
                    <a:pt x="842683" y="77381"/>
                  </a:lnTo>
                  <a:lnTo>
                    <a:pt x="844677" y="79362"/>
                  </a:lnTo>
                  <a:lnTo>
                    <a:pt x="854583" y="79362"/>
                  </a:lnTo>
                  <a:lnTo>
                    <a:pt x="856564" y="81343"/>
                  </a:lnTo>
                  <a:lnTo>
                    <a:pt x="856564" y="83324"/>
                  </a:lnTo>
                  <a:lnTo>
                    <a:pt x="858545" y="85318"/>
                  </a:lnTo>
                  <a:lnTo>
                    <a:pt x="860539" y="89281"/>
                  </a:lnTo>
                  <a:lnTo>
                    <a:pt x="886307" y="150787"/>
                  </a:lnTo>
                  <a:lnTo>
                    <a:pt x="896124" y="172402"/>
                  </a:lnTo>
                  <a:lnTo>
                    <a:pt x="904151" y="192455"/>
                  </a:lnTo>
                  <a:lnTo>
                    <a:pt x="918032" y="192455"/>
                  </a:lnTo>
                  <a:lnTo>
                    <a:pt x="926096" y="172618"/>
                  </a:lnTo>
                  <a:lnTo>
                    <a:pt x="927760" y="168643"/>
                  </a:lnTo>
                  <a:lnTo>
                    <a:pt x="932662" y="156984"/>
                  </a:lnTo>
                  <a:lnTo>
                    <a:pt x="937272" y="146418"/>
                  </a:lnTo>
                  <a:lnTo>
                    <a:pt x="951738" y="115074"/>
                  </a:lnTo>
                  <a:lnTo>
                    <a:pt x="956983" y="104317"/>
                  </a:lnTo>
                  <a:lnTo>
                    <a:pt x="960907" y="95973"/>
                  </a:lnTo>
                  <a:lnTo>
                    <a:pt x="963726" y="90246"/>
                  </a:lnTo>
                  <a:lnTo>
                    <a:pt x="965619" y="87299"/>
                  </a:lnTo>
                  <a:lnTo>
                    <a:pt x="967600" y="83324"/>
                  </a:lnTo>
                  <a:lnTo>
                    <a:pt x="969594" y="81343"/>
                  </a:lnTo>
                  <a:lnTo>
                    <a:pt x="971575" y="81343"/>
                  </a:lnTo>
                  <a:lnTo>
                    <a:pt x="973556" y="79362"/>
                  </a:lnTo>
                  <a:lnTo>
                    <a:pt x="981481" y="79362"/>
                  </a:lnTo>
                  <a:lnTo>
                    <a:pt x="981481" y="71424"/>
                  </a:lnTo>
                  <a:close/>
                </a:path>
                <a:path w="1743075" h="901064">
                  <a:moveTo>
                    <a:pt x="1106398" y="109118"/>
                  </a:moveTo>
                  <a:lnTo>
                    <a:pt x="1104417" y="101180"/>
                  </a:lnTo>
                  <a:lnTo>
                    <a:pt x="1100455" y="93243"/>
                  </a:lnTo>
                  <a:lnTo>
                    <a:pt x="1098473" y="85318"/>
                  </a:lnTo>
                  <a:lnTo>
                    <a:pt x="1092517" y="79362"/>
                  </a:lnTo>
                  <a:lnTo>
                    <a:pt x="1084592" y="75387"/>
                  </a:lnTo>
                  <a:lnTo>
                    <a:pt x="1082611" y="74218"/>
                  </a:lnTo>
                  <a:lnTo>
                    <a:pt x="1082611" y="115074"/>
                  </a:lnTo>
                  <a:lnTo>
                    <a:pt x="1082611" y="119037"/>
                  </a:lnTo>
                  <a:lnTo>
                    <a:pt x="1078649" y="121031"/>
                  </a:lnTo>
                  <a:lnTo>
                    <a:pt x="1037005" y="121031"/>
                  </a:lnTo>
                  <a:lnTo>
                    <a:pt x="1027087" y="119037"/>
                  </a:lnTo>
                  <a:lnTo>
                    <a:pt x="1019162" y="119037"/>
                  </a:lnTo>
                  <a:lnTo>
                    <a:pt x="1031951" y="82092"/>
                  </a:lnTo>
                  <a:lnTo>
                    <a:pt x="1052868" y="75387"/>
                  </a:lnTo>
                  <a:lnTo>
                    <a:pt x="1060792" y="75387"/>
                  </a:lnTo>
                  <a:lnTo>
                    <a:pt x="1082611" y="115074"/>
                  </a:lnTo>
                  <a:lnTo>
                    <a:pt x="1082611" y="74218"/>
                  </a:lnTo>
                  <a:lnTo>
                    <a:pt x="1078306" y="71640"/>
                  </a:lnTo>
                  <a:lnTo>
                    <a:pt x="1071460" y="69189"/>
                  </a:lnTo>
                  <a:lnTo>
                    <a:pt x="1064234" y="67856"/>
                  </a:lnTo>
                  <a:lnTo>
                    <a:pt x="1056830" y="67449"/>
                  </a:lnTo>
                  <a:lnTo>
                    <a:pt x="1042949" y="67449"/>
                  </a:lnTo>
                  <a:lnTo>
                    <a:pt x="1037005" y="71424"/>
                  </a:lnTo>
                  <a:lnTo>
                    <a:pt x="1029068" y="73406"/>
                  </a:lnTo>
                  <a:lnTo>
                    <a:pt x="1011224" y="85318"/>
                  </a:lnTo>
                  <a:lnTo>
                    <a:pt x="1007262" y="89281"/>
                  </a:lnTo>
                  <a:lnTo>
                    <a:pt x="1003300" y="97218"/>
                  </a:lnTo>
                  <a:lnTo>
                    <a:pt x="999337" y="101180"/>
                  </a:lnTo>
                  <a:lnTo>
                    <a:pt x="995362" y="117055"/>
                  </a:lnTo>
                  <a:lnTo>
                    <a:pt x="995362" y="132930"/>
                  </a:lnTo>
                  <a:lnTo>
                    <a:pt x="995718" y="141579"/>
                  </a:lnTo>
                  <a:lnTo>
                    <a:pt x="995768" y="142976"/>
                  </a:lnTo>
                  <a:lnTo>
                    <a:pt x="1013460" y="180797"/>
                  </a:lnTo>
                  <a:lnTo>
                    <a:pt x="1054849" y="194437"/>
                  </a:lnTo>
                  <a:lnTo>
                    <a:pt x="1066749" y="194437"/>
                  </a:lnTo>
                  <a:lnTo>
                    <a:pt x="1102436" y="172618"/>
                  </a:lnTo>
                  <a:lnTo>
                    <a:pt x="1100455" y="170624"/>
                  </a:lnTo>
                  <a:lnTo>
                    <a:pt x="1094511" y="172618"/>
                  </a:lnTo>
                  <a:lnTo>
                    <a:pt x="1088555" y="176580"/>
                  </a:lnTo>
                  <a:lnTo>
                    <a:pt x="1076655" y="180555"/>
                  </a:lnTo>
                  <a:lnTo>
                    <a:pt x="1064768" y="180555"/>
                  </a:lnTo>
                  <a:lnTo>
                    <a:pt x="1055903" y="179806"/>
                  </a:lnTo>
                  <a:lnTo>
                    <a:pt x="1022375" y="152527"/>
                  </a:lnTo>
                  <a:lnTo>
                    <a:pt x="1019162" y="128968"/>
                  </a:lnTo>
                  <a:lnTo>
                    <a:pt x="1090536" y="128968"/>
                  </a:lnTo>
                  <a:lnTo>
                    <a:pt x="1098473" y="126974"/>
                  </a:lnTo>
                  <a:lnTo>
                    <a:pt x="1104417" y="126974"/>
                  </a:lnTo>
                  <a:lnTo>
                    <a:pt x="1104417" y="124993"/>
                  </a:lnTo>
                  <a:lnTo>
                    <a:pt x="1106398" y="123012"/>
                  </a:lnTo>
                  <a:lnTo>
                    <a:pt x="1106398" y="121031"/>
                  </a:lnTo>
                  <a:lnTo>
                    <a:pt x="1106398" y="109118"/>
                  </a:lnTo>
                  <a:close/>
                </a:path>
                <a:path w="1743075" h="901064">
                  <a:moveTo>
                    <a:pt x="1185710" y="184518"/>
                  </a:moveTo>
                  <a:lnTo>
                    <a:pt x="1175804" y="184518"/>
                  </a:lnTo>
                  <a:lnTo>
                    <a:pt x="1171829" y="182537"/>
                  </a:lnTo>
                  <a:lnTo>
                    <a:pt x="1167866" y="182537"/>
                  </a:lnTo>
                  <a:lnTo>
                    <a:pt x="1165885" y="180555"/>
                  </a:lnTo>
                  <a:lnTo>
                    <a:pt x="1165885" y="176580"/>
                  </a:lnTo>
                  <a:lnTo>
                    <a:pt x="1163904" y="170624"/>
                  </a:lnTo>
                  <a:lnTo>
                    <a:pt x="1163929" y="41046"/>
                  </a:lnTo>
                  <a:lnTo>
                    <a:pt x="1165771" y="2946"/>
                  </a:lnTo>
                  <a:lnTo>
                    <a:pt x="1165885" y="1981"/>
                  </a:lnTo>
                  <a:lnTo>
                    <a:pt x="1163904" y="0"/>
                  </a:lnTo>
                  <a:lnTo>
                    <a:pt x="1154607" y="2946"/>
                  </a:lnTo>
                  <a:lnTo>
                    <a:pt x="1144574" y="5702"/>
                  </a:lnTo>
                  <a:lnTo>
                    <a:pt x="1133792" y="8089"/>
                  </a:lnTo>
                  <a:lnTo>
                    <a:pt x="1122260" y="9918"/>
                  </a:lnTo>
                  <a:lnTo>
                    <a:pt x="1120279" y="9918"/>
                  </a:lnTo>
                  <a:lnTo>
                    <a:pt x="1120279" y="15862"/>
                  </a:lnTo>
                  <a:lnTo>
                    <a:pt x="1122260" y="17856"/>
                  </a:lnTo>
                  <a:lnTo>
                    <a:pt x="1140104" y="17856"/>
                  </a:lnTo>
                  <a:lnTo>
                    <a:pt x="1140104" y="25793"/>
                  </a:lnTo>
                  <a:lnTo>
                    <a:pt x="1142098" y="29756"/>
                  </a:lnTo>
                  <a:lnTo>
                    <a:pt x="1142098" y="170624"/>
                  </a:lnTo>
                  <a:lnTo>
                    <a:pt x="1140104" y="176580"/>
                  </a:lnTo>
                  <a:lnTo>
                    <a:pt x="1140104" y="182537"/>
                  </a:lnTo>
                  <a:lnTo>
                    <a:pt x="1136142" y="182537"/>
                  </a:lnTo>
                  <a:lnTo>
                    <a:pt x="1130198" y="184518"/>
                  </a:lnTo>
                  <a:lnTo>
                    <a:pt x="1120279" y="184518"/>
                  </a:lnTo>
                  <a:lnTo>
                    <a:pt x="1120317" y="190500"/>
                  </a:lnTo>
                  <a:lnTo>
                    <a:pt x="1122260" y="192455"/>
                  </a:lnTo>
                  <a:lnTo>
                    <a:pt x="1130007" y="191312"/>
                  </a:lnTo>
                  <a:lnTo>
                    <a:pt x="1138123" y="190715"/>
                  </a:lnTo>
                  <a:lnTo>
                    <a:pt x="1146238" y="190500"/>
                  </a:lnTo>
                  <a:lnTo>
                    <a:pt x="1161427" y="190500"/>
                  </a:lnTo>
                  <a:lnTo>
                    <a:pt x="1168857" y="190715"/>
                  </a:lnTo>
                  <a:lnTo>
                    <a:pt x="1176299" y="191312"/>
                  </a:lnTo>
                  <a:lnTo>
                    <a:pt x="1183728" y="192455"/>
                  </a:lnTo>
                  <a:lnTo>
                    <a:pt x="1185684" y="190500"/>
                  </a:lnTo>
                  <a:lnTo>
                    <a:pt x="1185710" y="184518"/>
                  </a:lnTo>
                  <a:close/>
                </a:path>
                <a:path w="1743075" h="901064">
                  <a:moveTo>
                    <a:pt x="1497012" y="876973"/>
                  </a:moveTo>
                  <a:lnTo>
                    <a:pt x="1495285" y="867397"/>
                  </a:lnTo>
                  <a:lnTo>
                    <a:pt x="1490573" y="859866"/>
                  </a:lnTo>
                  <a:lnTo>
                    <a:pt x="1483626" y="854938"/>
                  </a:lnTo>
                  <a:lnTo>
                    <a:pt x="1475206" y="853160"/>
                  </a:lnTo>
                  <a:lnTo>
                    <a:pt x="1465935" y="854938"/>
                  </a:lnTo>
                  <a:lnTo>
                    <a:pt x="1459090" y="859866"/>
                  </a:lnTo>
                  <a:lnTo>
                    <a:pt x="1454848" y="867397"/>
                  </a:lnTo>
                  <a:lnTo>
                    <a:pt x="1453388" y="876973"/>
                  </a:lnTo>
                  <a:lnTo>
                    <a:pt x="1454823" y="886561"/>
                  </a:lnTo>
                  <a:lnTo>
                    <a:pt x="1458849" y="894092"/>
                  </a:lnTo>
                  <a:lnTo>
                    <a:pt x="1465110" y="899020"/>
                  </a:lnTo>
                  <a:lnTo>
                    <a:pt x="1473225" y="900785"/>
                  </a:lnTo>
                  <a:lnTo>
                    <a:pt x="1482788" y="899020"/>
                  </a:lnTo>
                  <a:lnTo>
                    <a:pt x="1490319" y="894092"/>
                  </a:lnTo>
                  <a:lnTo>
                    <a:pt x="1495247" y="886561"/>
                  </a:lnTo>
                  <a:lnTo>
                    <a:pt x="1497012" y="876973"/>
                  </a:lnTo>
                  <a:close/>
                </a:path>
                <a:path w="1743075" h="901064">
                  <a:moveTo>
                    <a:pt x="1619948" y="876973"/>
                  </a:moveTo>
                  <a:lnTo>
                    <a:pt x="1618208" y="867397"/>
                  </a:lnTo>
                  <a:lnTo>
                    <a:pt x="1613509" y="859866"/>
                  </a:lnTo>
                  <a:lnTo>
                    <a:pt x="1606562" y="854938"/>
                  </a:lnTo>
                  <a:lnTo>
                    <a:pt x="1598142" y="853160"/>
                  </a:lnTo>
                  <a:lnTo>
                    <a:pt x="1588871" y="854938"/>
                  </a:lnTo>
                  <a:lnTo>
                    <a:pt x="1582026" y="859866"/>
                  </a:lnTo>
                  <a:lnTo>
                    <a:pt x="1577784" y="867397"/>
                  </a:lnTo>
                  <a:lnTo>
                    <a:pt x="1576324" y="876973"/>
                  </a:lnTo>
                  <a:lnTo>
                    <a:pt x="1577759" y="886561"/>
                  </a:lnTo>
                  <a:lnTo>
                    <a:pt x="1581785" y="894092"/>
                  </a:lnTo>
                  <a:lnTo>
                    <a:pt x="1588033" y="899020"/>
                  </a:lnTo>
                  <a:lnTo>
                    <a:pt x="1596161" y="900785"/>
                  </a:lnTo>
                  <a:lnTo>
                    <a:pt x="1605724" y="899020"/>
                  </a:lnTo>
                  <a:lnTo>
                    <a:pt x="1613255" y="894092"/>
                  </a:lnTo>
                  <a:lnTo>
                    <a:pt x="1618183" y="886561"/>
                  </a:lnTo>
                  <a:lnTo>
                    <a:pt x="1619948" y="876973"/>
                  </a:lnTo>
                  <a:close/>
                </a:path>
                <a:path w="1743075" h="901064">
                  <a:moveTo>
                    <a:pt x="1742884" y="876973"/>
                  </a:moveTo>
                  <a:lnTo>
                    <a:pt x="1741144" y="867397"/>
                  </a:lnTo>
                  <a:lnTo>
                    <a:pt x="1736445" y="859866"/>
                  </a:lnTo>
                  <a:lnTo>
                    <a:pt x="1729498" y="854938"/>
                  </a:lnTo>
                  <a:lnTo>
                    <a:pt x="1721078" y="853160"/>
                  </a:lnTo>
                  <a:lnTo>
                    <a:pt x="1711502" y="854938"/>
                  </a:lnTo>
                  <a:lnTo>
                    <a:pt x="1703971" y="859866"/>
                  </a:lnTo>
                  <a:lnTo>
                    <a:pt x="1699044" y="867397"/>
                  </a:lnTo>
                  <a:lnTo>
                    <a:pt x="1697278" y="876973"/>
                  </a:lnTo>
                  <a:lnTo>
                    <a:pt x="1699018" y="886561"/>
                  </a:lnTo>
                  <a:lnTo>
                    <a:pt x="1703717" y="894092"/>
                  </a:lnTo>
                  <a:lnTo>
                    <a:pt x="1710664" y="899020"/>
                  </a:lnTo>
                  <a:lnTo>
                    <a:pt x="1719084" y="900785"/>
                  </a:lnTo>
                  <a:lnTo>
                    <a:pt x="1728660" y="899020"/>
                  </a:lnTo>
                  <a:lnTo>
                    <a:pt x="1736191" y="894092"/>
                  </a:lnTo>
                  <a:lnTo>
                    <a:pt x="1741119" y="886561"/>
                  </a:lnTo>
                  <a:lnTo>
                    <a:pt x="1742884" y="876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2789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Instances</a:t>
            </a:r>
            <a:r>
              <a:rPr dirty="0"/>
              <a:t> </a:t>
            </a:r>
            <a:r>
              <a:rPr spc="100" dirty="0"/>
              <a:t>and</a:t>
            </a:r>
            <a:r>
              <a:rPr spc="5" dirty="0"/>
              <a:t> </a:t>
            </a:r>
            <a:r>
              <a:rPr spc="40" dirty="0"/>
              <a:t>Schemas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060240"/>
            <a:ext cx="10810875" cy="49377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Similar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types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and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variables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programming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languages</a:t>
            </a:r>
            <a:endParaRPr sz="4200" baseline="1984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Logical</a:t>
            </a:r>
            <a:r>
              <a:rPr sz="4200" b="1" spc="-97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Schema</a:t>
            </a:r>
            <a:r>
              <a:rPr sz="4200" b="1" spc="-89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–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overall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logical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structure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database</a:t>
            </a:r>
            <a:endParaRPr sz="4200" baseline="1984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600"/>
              </a:lnSpc>
              <a:spcBef>
                <a:spcPts val="680"/>
              </a:spcBef>
              <a:buClr>
                <a:srgbClr val="FF9933"/>
              </a:buClr>
              <a:buSzPct val="108928"/>
              <a:buChar char="•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Example: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database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consists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information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about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customers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accounts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bank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relationship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between </a:t>
            </a:r>
            <a:r>
              <a:rPr sz="2800" spc="-20" dirty="0">
                <a:latin typeface="Arial MT"/>
                <a:cs typeface="Arial MT"/>
              </a:rPr>
              <a:t>them</a:t>
            </a:r>
            <a:endParaRPr sz="2800">
              <a:latin typeface="Arial MT"/>
              <a:cs typeface="Arial MT"/>
            </a:endParaRPr>
          </a:p>
          <a:p>
            <a:pPr marL="1097915" lvl="2" indent="-228600">
              <a:lnSpc>
                <a:spcPct val="100000"/>
              </a:lnSpc>
              <a:spcBef>
                <a:spcPts val="755"/>
              </a:spcBef>
              <a:buClr>
                <a:srgbClr val="33CC33"/>
              </a:buClr>
              <a:buSzPct val="83928"/>
              <a:buFont typeface="Trebuchet MS"/>
              <a:buChar char="▪"/>
              <a:tabLst>
                <a:tab pos="1097915" algn="l"/>
              </a:tabLst>
            </a:pPr>
            <a:r>
              <a:rPr sz="2800" dirty="0">
                <a:latin typeface="Arial MT"/>
                <a:cs typeface="Arial MT"/>
              </a:rPr>
              <a:t>Analogous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type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information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variable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program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SzPct val="108928"/>
              <a:buFont typeface="Trebuchet MS"/>
              <a:buChar char="▪"/>
              <a:tabLst>
                <a:tab pos="355600" algn="l"/>
                <a:tab pos="6838315" algn="l"/>
              </a:tabLst>
            </a:pP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Physical</a:t>
            </a:r>
            <a:r>
              <a:rPr sz="4200" b="1" spc="-104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schema</a:t>
            </a:r>
            <a:r>
              <a:rPr sz="4200" b="1" spc="-97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–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overall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physical</a:t>
            </a:r>
            <a:r>
              <a:rPr sz="4200" baseline="1984" dirty="0">
                <a:latin typeface="Arial MT"/>
                <a:cs typeface="Arial MT"/>
              </a:rPr>
              <a:t>	structure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database</a:t>
            </a:r>
            <a:endParaRPr sz="4200" baseline="1984">
              <a:latin typeface="Arial MT"/>
              <a:cs typeface="Arial MT"/>
            </a:endParaRPr>
          </a:p>
          <a:p>
            <a:pPr marL="354965" marR="127635" indent="-342900">
              <a:lnSpc>
                <a:spcPts val="3310"/>
              </a:lnSpc>
              <a:spcBef>
                <a:spcPts val="905"/>
              </a:spcBef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Instance</a:t>
            </a:r>
            <a:r>
              <a:rPr sz="4200" b="1" spc="-89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–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actual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content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at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particular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point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time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69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Analogous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value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variable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303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Physical</a:t>
            </a:r>
            <a:r>
              <a:rPr spc="110" dirty="0"/>
              <a:t> </a:t>
            </a:r>
            <a:r>
              <a:rPr dirty="0"/>
              <a:t>Data</a:t>
            </a:r>
            <a:r>
              <a:rPr spc="110" dirty="0"/>
              <a:t> </a:t>
            </a:r>
            <a:r>
              <a:rPr spc="85"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114966"/>
            <a:ext cx="10586720" cy="27806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5080" indent="-342900">
              <a:lnSpc>
                <a:spcPts val="3310"/>
              </a:lnSpc>
              <a:spcBef>
                <a:spcPts val="250"/>
              </a:spcBef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Physical</a:t>
            </a:r>
            <a:r>
              <a:rPr sz="4200" b="1" spc="-89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Data</a:t>
            </a:r>
            <a:r>
              <a:rPr sz="4200" b="1" spc="-75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spc="-15" baseline="1984" dirty="0">
                <a:solidFill>
                  <a:srgbClr val="002060"/>
                </a:solidFill>
                <a:latin typeface="Arial"/>
                <a:cs typeface="Arial"/>
              </a:rPr>
              <a:t>Independence</a:t>
            </a:r>
            <a:r>
              <a:rPr sz="4200" b="1" spc="-89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–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ability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modify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physical </a:t>
            </a:r>
            <a:r>
              <a:rPr sz="2800" dirty="0">
                <a:latin typeface="Arial MT"/>
                <a:cs typeface="Arial MT"/>
              </a:rPr>
              <a:t>schema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without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changing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logical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schema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69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Applications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depend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logical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schema</a:t>
            </a:r>
            <a:endParaRPr sz="2800">
              <a:latin typeface="Arial MT"/>
              <a:cs typeface="Arial MT"/>
            </a:endParaRPr>
          </a:p>
          <a:p>
            <a:pPr marL="755015" marR="314325" lvl="1" indent="-285750">
              <a:lnSpc>
                <a:spcPct val="100600"/>
              </a:lnSpc>
              <a:spcBef>
                <a:spcPts val="735"/>
              </a:spcBef>
              <a:buClr>
                <a:srgbClr val="FF9933"/>
              </a:buClr>
              <a:buSzPct val="108928"/>
              <a:buChar char="•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general,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interfaces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levels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components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should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well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defined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changes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some </a:t>
            </a:r>
            <a:r>
              <a:rPr sz="2800" dirty="0">
                <a:latin typeface="Arial MT"/>
                <a:cs typeface="Arial MT"/>
              </a:rPr>
              <a:t>parts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seriously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influence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others.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266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75" dirty="0"/>
              <a:t> </a:t>
            </a:r>
            <a:r>
              <a:rPr spc="85" dirty="0"/>
              <a:t>Definition</a:t>
            </a:r>
            <a:r>
              <a:rPr spc="80" dirty="0"/>
              <a:t> </a:t>
            </a:r>
            <a:r>
              <a:rPr spc="50" dirty="0"/>
              <a:t>Language</a:t>
            </a:r>
            <a:r>
              <a:rPr spc="75" dirty="0"/>
              <a:t> </a:t>
            </a:r>
            <a:r>
              <a:rPr spc="-10" dirty="0"/>
              <a:t>(DDL)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008251"/>
            <a:ext cx="9015730" cy="1017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5080" indent="-339725">
              <a:lnSpc>
                <a:spcPct val="118400"/>
              </a:lnSpc>
              <a:spcBef>
                <a:spcPts val="95"/>
              </a:spcBef>
              <a:buClr>
                <a:srgbClr val="002060"/>
              </a:buClr>
              <a:buSzPct val="110909"/>
              <a:buFont typeface="Trebuchet MS"/>
              <a:buChar char="▪"/>
              <a:tabLst>
                <a:tab pos="469265" algn="l"/>
                <a:tab pos="2755265" algn="l"/>
              </a:tabLst>
            </a:pPr>
            <a:r>
              <a:rPr sz="2750" dirty="0">
                <a:latin typeface="Arial MT"/>
                <a:cs typeface="Arial MT"/>
              </a:rPr>
              <a:t>Specification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notation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for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defining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database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schema 	Example: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b="1" dirty="0">
                <a:latin typeface="Arial"/>
                <a:cs typeface="Arial"/>
              </a:rPr>
              <a:t>create</a:t>
            </a:r>
            <a:r>
              <a:rPr sz="2750" b="1" spc="5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table</a:t>
            </a:r>
            <a:r>
              <a:rPr sz="2750" b="1" spc="60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instructor</a:t>
            </a:r>
            <a:r>
              <a:rPr sz="2750" i="1" spc="60" dirty="0">
                <a:latin typeface="Arial"/>
                <a:cs typeface="Arial"/>
              </a:rPr>
              <a:t> </a:t>
            </a:r>
            <a:r>
              <a:rPr sz="2750" spc="-50" dirty="0">
                <a:latin typeface="Arial MT"/>
                <a:cs typeface="Arial MT"/>
              </a:rPr>
              <a:t>(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7874" y="2984540"/>
            <a:ext cx="906144" cy="854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3250"/>
              </a:lnSpc>
              <a:spcBef>
                <a:spcPts val="120"/>
              </a:spcBef>
            </a:pPr>
            <a:r>
              <a:rPr sz="2750" i="1" spc="-25" dirty="0">
                <a:latin typeface="Arial"/>
                <a:cs typeface="Arial"/>
              </a:rPr>
              <a:t>ID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ts val="3250"/>
              </a:lnSpc>
            </a:pPr>
            <a:r>
              <a:rPr sz="2750" i="1" spc="-20" dirty="0">
                <a:latin typeface="Arial"/>
                <a:cs typeface="Arial"/>
              </a:rPr>
              <a:t>name</a:t>
            </a:r>
            <a:endParaRPr sz="2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94865" y="2984540"/>
            <a:ext cx="2061210" cy="8547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52069" marR="5080" indent="-40005">
              <a:lnSpc>
                <a:spcPts val="3200"/>
              </a:lnSpc>
              <a:spcBef>
                <a:spcPts val="310"/>
              </a:spcBef>
            </a:pPr>
            <a:r>
              <a:rPr sz="2750" b="1" spc="-10" dirty="0">
                <a:latin typeface="Arial"/>
                <a:cs typeface="Arial"/>
              </a:rPr>
              <a:t>char</a:t>
            </a:r>
            <a:r>
              <a:rPr sz="2750" spc="-10" dirty="0">
                <a:latin typeface="Arial MT"/>
                <a:cs typeface="Arial MT"/>
              </a:rPr>
              <a:t>(5), </a:t>
            </a:r>
            <a:r>
              <a:rPr sz="2750" b="1" spc="-10" dirty="0">
                <a:latin typeface="Arial"/>
                <a:cs typeface="Arial"/>
              </a:rPr>
              <a:t>varchar</a:t>
            </a:r>
            <a:r>
              <a:rPr sz="2750" spc="-10" dirty="0">
                <a:latin typeface="Arial MT"/>
                <a:cs typeface="Arial MT"/>
              </a:rPr>
              <a:t>(20)</a:t>
            </a:r>
            <a:r>
              <a:rPr sz="2750" b="1" spc="-10" dirty="0">
                <a:latin typeface="Arial"/>
                <a:cs typeface="Arial"/>
              </a:rPr>
              <a:t>,</a:t>
            </a:r>
            <a:endParaRPr sz="2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8461" y="3797340"/>
            <a:ext cx="10448925" cy="47339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91560">
              <a:lnSpc>
                <a:spcPts val="3250"/>
              </a:lnSpc>
              <a:spcBef>
                <a:spcPts val="120"/>
              </a:spcBef>
              <a:tabLst>
                <a:tab pos="5549265" algn="l"/>
              </a:tabLst>
            </a:pPr>
            <a:r>
              <a:rPr sz="2750" i="1" spc="-10" dirty="0">
                <a:latin typeface="Arial"/>
                <a:cs typeface="Arial"/>
              </a:rPr>
              <a:t>dept_name</a:t>
            </a:r>
            <a:r>
              <a:rPr sz="2750" i="1" dirty="0">
                <a:latin typeface="Arial"/>
                <a:cs typeface="Arial"/>
              </a:rPr>
              <a:t>	</a:t>
            </a:r>
            <a:r>
              <a:rPr sz="2750" b="1" spc="-10" dirty="0">
                <a:latin typeface="Arial"/>
                <a:cs typeface="Arial"/>
              </a:rPr>
              <a:t>varchar</a:t>
            </a:r>
            <a:r>
              <a:rPr sz="2750" spc="-10" dirty="0">
                <a:latin typeface="Arial MT"/>
                <a:cs typeface="Arial MT"/>
              </a:rPr>
              <a:t>(20),</a:t>
            </a:r>
            <a:endParaRPr sz="2750">
              <a:latin typeface="Arial MT"/>
              <a:cs typeface="Arial MT"/>
            </a:endParaRPr>
          </a:p>
          <a:p>
            <a:pPr marL="3591560">
              <a:lnSpc>
                <a:spcPts val="3250"/>
              </a:lnSpc>
              <a:tabLst>
                <a:tab pos="5606415" algn="l"/>
              </a:tabLst>
            </a:pPr>
            <a:r>
              <a:rPr sz="2750" i="1" spc="-10" dirty="0">
                <a:latin typeface="Arial"/>
                <a:cs typeface="Arial"/>
              </a:rPr>
              <a:t>salary</a:t>
            </a:r>
            <a:r>
              <a:rPr sz="2750" i="1" dirty="0">
                <a:latin typeface="Arial"/>
                <a:cs typeface="Arial"/>
              </a:rPr>
              <a:t>	</a:t>
            </a:r>
            <a:r>
              <a:rPr sz="2750" b="1" spc="-10" dirty="0">
                <a:latin typeface="Arial"/>
                <a:cs typeface="Arial"/>
              </a:rPr>
              <a:t>numeric</a:t>
            </a:r>
            <a:r>
              <a:rPr sz="2750" spc="-10" dirty="0">
                <a:latin typeface="Arial MT"/>
                <a:cs typeface="Arial MT"/>
              </a:rPr>
              <a:t>(8,2))</a:t>
            </a:r>
            <a:endParaRPr sz="2750">
              <a:latin typeface="Arial MT"/>
              <a:cs typeface="Arial MT"/>
            </a:endParaRPr>
          </a:p>
          <a:p>
            <a:pPr marL="351790" marR="5080" indent="-339725">
              <a:lnSpc>
                <a:spcPts val="3200"/>
              </a:lnSpc>
              <a:spcBef>
                <a:spcPts val="795"/>
              </a:spcBef>
              <a:buClr>
                <a:srgbClr val="002060"/>
              </a:buClr>
              <a:buSzPct val="110909"/>
              <a:buFont typeface="Trebuchet MS"/>
              <a:buChar char="▪"/>
              <a:tabLst>
                <a:tab pos="351790" algn="l"/>
              </a:tabLst>
            </a:pPr>
            <a:r>
              <a:rPr sz="2750" dirty="0">
                <a:latin typeface="Arial MT"/>
                <a:cs typeface="Arial MT"/>
              </a:rPr>
              <a:t>DDL</a:t>
            </a:r>
            <a:r>
              <a:rPr sz="2750" spc="-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compiler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generates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set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table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templates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stored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in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b="1" i="1" spc="-20" dirty="0">
                <a:solidFill>
                  <a:srgbClr val="002060"/>
                </a:solidFill>
                <a:latin typeface="Arial"/>
                <a:cs typeface="Arial"/>
              </a:rPr>
              <a:t>data </a:t>
            </a:r>
            <a:r>
              <a:rPr sz="2750" b="1" i="1" spc="-10" dirty="0">
                <a:solidFill>
                  <a:srgbClr val="002060"/>
                </a:solidFill>
                <a:latin typeface="Arial"/>
                <a:cs typeface="Arial"/>
              </a:rPr>
              <a:t>dictionary</a:t>
            </a:r>
            <a:endParaRPr sz="275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20"/>
              </a:spcBef>
              <a:buClr>
                <a:srgbClr val="002060"/>
              </a:buClr>
              <a:buSzPct val="110909"/>
              <a:buFont typeface="Trebuchet MS"/>
              <a:buChar char="▪"/>
              <a:tabLst>
                <a:tab pos="352425" algn="l"/>
              </a:tabLst>
            </a:pPr>
            <a:r>
              <a:rPr sz="2750" dirty="0">
                <a:latin typeface="Arial MT"/>
                <a:cs typeface="Arial MT"/>
              </a:rPr>
              <a:t>Data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dictionary</a:t>
            </a:r>
            <a:r>
              <a:rPr sz="2750" spc="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contains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metadata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(i.e.,</a:t>
            </a:r>
            <a:r>
              <a:rPr sz="2750" spc="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data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about</a:t>
            </a:r>
            <a:r>
              <a:rPr sz="2750" spc="5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data)</a:t>
            </a:r>
            <a:endParaRPr sz="2750">
              <a:latin typeface="Arial MT"/>
              <a:cs typeface="Arial MT"/>
            </a:endParaRPr>
          </a:p>
          <a:p>
            <a:pPr marL="751840" lvl="1" indent="-282575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10909"/>
              <a:buChar char="•"/>
              <a:tabLst>
                <a:tab pos="751840" algn="l"/>
              </a:tabLst>
            </a:pPr>
            <a:r>
              <a:rPr sz="4125" baseline="2020" dirty="0">
                <a:latin typeface="Arial MT"/>
                <a:cs typeface="Arial MT"/>
              </a:rPr>
              <a:t>Database</a:t>
            </a:r>
            <a:r>
              <a:rPr sz="4125" spc="82" baseline="2020" dirty="0">
                <a:latin typeface="Arial MT"/>
                <a:cs typeface="Arial MT"/>
              </a:rPr>
              <a:t> </a:t>
            </a:r>
            <a:r>
              <a:rPr sz="4125" spc="-15" baseline="2020" dirty="0">
                <a:latin typeface="Arial MT"/>
                <a:cs typeface="Arial MT"/>
              </a:rPr>
              <a:t>schema</a:t>
            </a:r>
            <a:endParaRPr sz="4125" baseline="2020">
              <a:latin typeface="Arial MT"/>
              <a:cs typeface="Arial MT"/>
            </a:endParaRPr>
          </a:p>
          <a:p>
            <a:pPr marL="751840" lvl="1" indent="-282575">
              <a:lnSpc>
                <a:spcPct val="100000"/>
              </a:lnSpc>
              <a:spcBef>
                <a:spcPts val="605"/>
              </a:spcBef>
              <a:buClr>
                <a:srgbClr val="FF9933"/>
              </a:buClr>
              <a:buSzPct val="110909"/>
              <a:buChar char="•"/>
              <a:tabLst>
                <a:tab pos="751840" algn="l"/>
              </a:tabLst>
            </a:pPr>
            <a:r>
              <a:rPr sz="4125" baseline="2020" dirty="0">
                <a:latin typeface="Arial MT"/>
                <a:cs typeface="Arial MT"/>
              </a:rPr>
              <a:t>Integrity</a:t>
            </a:r>
            <a:r>
              <a:rPr sz="4125" spc="67" baseline="2020" dirty="0">
                <a:latin typeface="Arial MT"/>
                <a:cs typeface="Arial MT"/>
              </a:rPr>
              <a:t> </a:t>
            </a:r>
            <a:r>
              <a:rPr sz="4125" spc="-15" baseline="2020" dirty="0">
                <a:latin typeface="Arial MT"/>
                <a:cs typeface="Arial MT"/>
              </a:rPr>
              <a:t>constraints</a:t>
            </a:r>
            <a:endParaRPr sz="4125" baseline="2020">
              <a:latin typeface="Arial MT"/>
              <a:cs typeface="Arial MT"/>
            </a:endParaRPr>
          </a:p>
          <a:p>
            <a:pPr marL="1095375" lvl="2" indent="-226060">
              <a:lnSpc>
                <a:spcPct val="100000"/>
              </a:lnSpc>
              <a:spcBef>
                <a:spcPts val="515"/>
              </a:spcBef>
              <a:buClr>
                <a:srgbClr val="33CC33"/>
              </a:buClr>
              <a:buSzPct val="85454"/>
              <a:buFont typeface="Trebuchet MS"/>
              <a:buChar char="▪"/>
              <a:tabLst>
                <a:tab pos="1095375" algn="l"/>
              </a:tabLst>
            </a:pPr>
            <a:r>
              <a:rPr sz="2750" dirty="0">
                <a:latin typeface="Arial MT"/>
                <a:cs typeface="Arial MT"/>
              </a:rPr>
              <a:t>Primary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key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(ID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uniquely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identifies</a:t>
            </a:r>
            <a:r>
              <a:rPr sz="2750" spc="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instructors)</a:t>
            </a:r>
            <a:endParaRPr sz="2750">
              <a:latin typeface="Arial MT"/>
              <a:cs typeface="Arial MT"/>
            </a:endParaRPr>
          </a:p>
          <a:p>
            <a:pPr marL="751840" lvl="1" indent="-282575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10909"/>
              <a:buChar char="•"/>
              <a:tabLst>
                <a:tab pos="751840" algn="l"/>
              </a:tabLst>
            </a:pPr>
            <a:r>
              <a:rPr sz="4125" spc="-15" baseline="2020" dirty="0">
                <a:latin typeface="Arial MT"/>
                <a:cs typeface="Arial MT"/>
              </a:rPr>
              <a:t>Authorization</a:t>
            </a:r>
            <a:endParaRPr sz="4125" baseline="2020">
              <a:latin typeface="Arial MT"/>
              <a:cs typeface="Arial MT"/>
            </a:endParaRPr>
          </a:p>
          <a:p>
            <a:pPr marL="1095375" lvl="2" indent="-226060">
              <a:lnSpc>
                <a:spcPct val="100000"/>
              </a:lnSpc>
              <a:spcBef>
                <a:spcPts val="515"/>
              </a:spcBef>
              <a:buClr>
                <a:srgbClr val="33CC33"/>
              </a:buClr>
              <a:buSzPct val="85454"/>
              <a:buFont typeface="Trebuchet MS"/>
              <a:buChar char="▪"/>
              <a:tabLst>
                <a:tab pos="1095375" algn="l"/>
              </a:tabLst>
            </a:pPr>
            <a:r>
              <a:rPr sz="2750" dirty="0">
                <a:latin typeface="Arial MT"/>
                <a:cs typeface="Arial MT"/>
              </a:rPr>
              <a:t>Who</a:t>
            </a:r>
            <a:r>
              <a:rPr sz="2750" spc="2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can</a:t>
            </a:r>
            <a:r>
              <a:rPr sz="2750" spc="1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access</a:t>
            </a:r>
            <a:r>
              <a:rPr sz="2750" spc="20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what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5267" y="939113"/>
            <a:ext cx="907478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50" dirty="0"/>
              <a:t>Data</a:t>
            </a:r>
            <a:r>
              <a:rPr sz="4900" spc="20" dirty="0"/>
              <a:t> </a:t>
            </a:r>
            <a:r>
              <a:rPr sz="4900" spc="95" dirty="0"/>
              <a:t>Definition</a:t>
            </a:r>
            <a:r>
              <a:rPr sz="4900" spc="20" dirty="0"/>
              <a:t> </a:t>
            </a:r>
            <a:r>
              <a:rPr sz="4900" spc="50" dirty="0"/>
              <a:t>Language</a:t>
            </a:r>
            <a:r>
              <a:rPr sz="4900" spc="25" dirty="0"/>
              <a:t> </a:t>
            </a:r>
            <a:r>
              <a:rPr sz="4900" spc="-10" dirty="0"/>
              <a:t>(DDL)</a:t>
            </a:r>
            <a:endParaRPr sz="49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3180" rIns="0" bIns="0" rtlCol="0">
            <a:spAutoFit/>
          </a:bodyPr>
          <a:lstStyle/>
          <a:p>
            <a:pPr marL="233045" marR="5372100" indent="-228600">
              <a:lnSpc>
                <a:spcPct val="117900"/>
              </a:lnSpc>
              <a:spcBef>
                <a:spcPts val="95"/>
              </a:spcBef>
            </a:pPr>
            <a:r>
              <a:rPr sz="2800" dirty="0"/>
              <a:t>CREATE</a:t>
            </a:r>
            <a:r>
              <a:rPr sz="2800" spc="5" dirty="0"/>
              <a:t> </a:t>
            </a:r>
            <a:r>
              <a:rPr sz="2800" dirty="0"/>
              <a:t>TABLE</a:t>
            </a:r>
            <a:r>
              <a:rPr sz="2800" spc="5" dirty="0"/>
              <a:t> </a:t>
            </a:r>
            <a:r>
              <a:rPr sz="2800" spc="-10" dirty="0"/>
              <a:t>corporation </a:t>
            </a:r>
            <a:r>
              <a:rPr sz="2800" dirty="0"/>
              <a:t>(corp_id</a:t>
            </a:r>
            <a:r>
              <a:rPr sz="2800" spc="5" dirty="0"/>
              <a:t> </a:t>
            </a:r>
            <a:r>
              <a:rPr sz="2800" spc="-10" dirty="0"/>
              <a:t>SMALLINT,</a:t>
            </a:r>
            <a:endParaRPr sz="2800"/>
          </a:p>
          <a:p>
            <a:pPr marL="447040">
              <a:lnSpc>
                <a:spcPct val="100000"/>
              </a:lnSpc>
              <a:spcBef>
                <a:spcPts val="600"/>
              </a:spcBef>
            </a:pPr>
            <a:r>
              <a:rPr sz="2800" dirty="0"/>
              <a:t>name</a:t>
            </a:r>
            <a:r>
              <a:rPr sz="2800" spc="5" dirty="0"/>
              <a:t> </a:t>
            </a:r>
            <a:r>
              <a:rPr sz="2800" spc="-10" dirty="0"/>
              <a:t>VARCHAR(30),</a:t>
            </a:r>
            <a:endParaRPr sz="2800"/>
          </a:p>
          <a:p>
            <a:pPr marL="447040">
              <a:lnSpc>
                <a:spcPct val="100000"/>
              </a:lnSpc>
              <a:spcBef>
                <a:spcPts val="600"/>
              </a:spcBef>
            </a:pPr>
            <a:r>
              <a:rPr sz="2800" dirty="0"/>
              <a:t>CONSTRAINT</a:t>
            </a:r>
            <a:r>
              <a:rPr sz="2800" spc="5" dirty="0"/>
              <a:t> </a:t>
            </a:r>
            <a:r>
              <a:rPr sz="2800" dirty="0"/>
              <a:t>pk_corporation</a:t>
            </a:r>
            <a:r>
              <a:rPr sz="2800" spc="5" dirty="0"/>
              <a:t> </a:t>
            </a:r>
            <a:r>
              <a:rPr sz="2800" dirty="0"/>
              <a:t>PRIMARY</a:t>
            </a:r>
            <a:r>
              <a:rPr sz="2800" spc="5" dirty="0"/>
              <a:t> </a:t>
            </a:r>
            <a:r>
              <a:rPr sz="2800" dirty="0"/>
              <a:t>KEY</a:t>
            </a:r>
            <a:r>
              <a:rPr sz="2800" spc="5" dirty="0"/>
              <a:t> </a:t>
            </a:r>
            <a:r>
              <a:rPr sz="2800" spc="-10" dirty="0"/>
              <a:t>(corp_id)</a:t>
            </a:r>
            <a:endParaRPr sz="2800"/>
          </a:p>
          <a:p>
            <a:pPr marL="233045">
              <a:lnSpc>
                <a:spcPct val="100000"/>
              </a:lnSpc>
              <a:spcBef>
                <a:spcPts val="600"/>
              </a:spcBef>
            </a:pPr>
            <a:r>
              <a:rPr sz="2800" spc="-25" dirty="0"/>
              <a:t>);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74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55" dirty="0"/>
              <a:t> </a:t>
            </a:r>
            <a:r>
              <a:rPr spc="105" dirty="0"/>
              <a:t>Manipulation</a:t>
            </a:r>
            <a:r>
              <a:rPr spc="70" dirty="0"/>
              <a:t> </a:t>
            </a:r>
            <a:r>
              <a:rPr spc="50" dirty="0"/>
              <a:t>Language</a:t>
            </a:r>
            <a:r>
              <a:rPr spc="70" dirty="0"/>
              <a:t> </a:t>
            </a:r>
            <a:r>
              <a:rPr spc="-10" dirty="0"/>
              <a:t>(DML)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102266"/>
            <a:ext cx="10672445" cy="62566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265430" indent="-342900">
              <a:lnSpc>
                <a:spcPts val="3310"/>
              </a:lnSpc>
              <a:spcBef>
                <a:spcPts val="2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Language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for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accessing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and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updating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organized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by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appropriate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model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69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DML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also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known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query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language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There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are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basically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two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types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30" baseline="1984" dirty="0">
                <a:latin typeface="Arial MT"/>
                <a:cs typeface="Arial MT"/>
              </a:rPr>
              <a:t>data-</a:t>
            </a:r>
            <a:r>
              <a:rPr sz="4200" baseline="1984" dirty="0">
                <a:latin typeface="Arial MT"/>
                <a:cs typeface="Arial MT"/>
              </a:rPr>
              <a:t>manipulation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language</a:t>
            </a:r>
            <a:endParaRPr sz="4200" baseline="1984">
              <a:latin typeface="Arial MT"/>
              <a:cs typeface="Arial MT"/>
            </a:endParaRPr>
          </a:p>
          <a:p>
            <a:pPr marL="755015" marR="607060" lvl="1" indent="-285750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08928"/>
              <a:buFont typeface="Arial MT"/>
              <a:buChar char="•"/>
              <a:tabLst>
                <a:tab pos="755015" algn="l"/>
                <a:tab pos="4008754" algn="l"/>
              </a:tabLst>
            </a:pPr>
            <a:r>
              <a:rPr sz="2800" b="1" dirty="0">
                <a:solidFill>
                  <a:srgbClr val="002060"/>
                </a:solidFill>
                <a:latin typeface="Arial"/>
                <a:cs typeface="Arial"/>
              </a:rPr>
              <a:t>Procedural</a:t>
            </a:r>
            <a:r>
              <a:rPr sz="2800" b="1" spc="-1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2060"/>
                </a:solidFill>
                <a:latin typeface="Arial"/>
                <a:cs typeface="Arial"/>
              </a:rPr>
              <a:t>DML</a:t>
            </a:r>
            <a:r>
              <a:rPr sz="2800" b="1" spc="-13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spc="-5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	require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specify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what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are </a:t>
            </a:r>
            <a:r>
              <a:rPr sz="2800" dirty="0">
                <a:latin typeface="Arial MT"/>
                <a:cs typeface="Arial MT"/>
              </a:rPr>
              <a:t>needed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those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 marL="755015" marR="567690" lvl="1" indent="-285750">
              <a:lnSpc>
                <a:spcPct val="100000"/>
              </a:lnSpc>
              <a:spcBef>
                <a:spcPts val="795"/>
              </a:spcBef>
              <a:buClr>
                <a:srgbClr val="FF9933"/>
              </a:buClr>
              <a:buSzPct val="108928"/>
              <a:buFont typeface="Arial MT"/>
              <a:buChar char="•"/>
              <a:tabLst>
                <a:tab pos="755015" algn="l"/>
                <a:tab pos="3713479" algn="l"/>
              </a:tabLst>
            </a:pPr>
            <a:r>
              <a:rPr sz="2800" b="1" dirty="0">
                <a:solidFill>
                  <a:srgbClr val="002060"/>
                </a:solidFill>
                <a:latin typeface="Arial"/>
                <a:cs typeface="Arial"/>
              </a:rPr>
              <a:t>Declarative</a:t>
            </a:r>
            <a:r>
              <a:rPr sz="2800" b="1" spc="-1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02060"/>
                </a:solidFill>
                <a:latin typeface="Arial"/>
                <a:cs typeface="Arial"/>
              </a:rPr>
              <a:t>DML</a:t>
            </a:r>
            <a:r>
              <a:rPr sz="2800" b="1" dirty="0">
                <a:solidFill>
                  <a:srgbClr val="002060"/>
                </a:solidFill>
                <a:latin typeface="Arial"/>
                <a:cs typeface="Arial"/>
              </a:rPr>
              <a:t>	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specify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what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are </a:t>
            </a:r>
            <a:r>
              <a:rPr sz="2800" dirty="0">
                <a:latin typeface="Arial MT"/>
                <a:cs typeface="Arial MT"/>
              </a:rPr>
              <a:t>needed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without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specifying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those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 marL="354965" marR="564515" indent="-342900">
              <a:lnSpc>
                <a:spcPts val="3310"/>
              </a:lnSpc>
              <a:spcBef>
                <a:spcPts val="100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Declarative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DMLs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are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usually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easier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learn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and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use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than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are </a:t>
            </a:r>
            <a:r>
              <a:rPr sz="2800" dirty="0">
                <a:latin typeface="Arial MT"/>
                <a:cs typeface="Arial MT"/>
              </a:rPr>
              <a:t>procedural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DMLs.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Declarative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DMLs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are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also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referred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non-</a:t>
            </a:r>
            <a:r>
              <a:rPr sz="4200" baseline="1984" dirty="0">
                <a:latin typeface="Arial MT"/>
                <a:cs typeface="Arial MT"/>
              </a:rPr>
              <a:t>procedural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30" baseline="1984" dirty="0">
                <a:latin typeface="Arial MT"/>
                <a:cs typeface="Arial MT"/>
              </a:rPr>
              <a:t>DMLs</a:t>
            </a:r>
            <a:endParaRPr sz="4200" baseline="1984">
              <a:latin typeface="Arial MT"/>
              <a:cs typeface="Arial MT"/>
            </a:endParaRPr>
          </a:p>
          <a:p>
            <a:pPr marL="355600" indent="-342900">
              <a:lnSpc>
                <a:spcPts val="3335"/>
              </a:lnSpc>
              <a:spcBef>
                <a:spcPts val="7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portion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DML</a:t>
            </a:r>
            <a:r>
              <a:rPr sz="4200" spc="-24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that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involves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information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retrieval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called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spc="-75" baseline="1984" dirty="0">
                <a:latin typeface="Arial MT"/>
                <a:cs typeface="Arial MT"/>
              </a:rPr>
              <a:t>a</a:t>
            </a:r>
            <a:endParaRPr sz="4200" baseline="1984">
              <a:latin typeface="Arial MT"/>
              <a:cs typeface="Arial MT"/>
            </a:endParaRPr>
          </a:p>
          <a:p>
            <a:pPr marL="354965">
              <a:lnSpc>
                <a:spcPts val="3335"/>
              </a:lnSpc>
            </a:pPr>
            <a:r>
              <a:rPr sz="2800" b="1" dirty="0">
                <a:solidFill>
                  <a:srgbClr val="002060"/>
                </a:solidFill>
                <a:latin typeface="Arial"/>
                <a:cs typeface="Arial"/>
              </a:rPr>
              <a:t>query</a:t>
            </a:r>
            <a:r>
              <a:rPr sz="2800" b="1" spc="-1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language.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7643" y="939113"/>
            <a:ext cx="1016952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50" dirty="0"/>
              <a:t>Data</a:t>
            </a:r>
            <a:r>
              <a:rPr sz="4900" spc="15" dirty="0"/>
              <a:t> </a:t>
            </a:r>
            <a:r>
              <a:rPr sz="4900" spc="114" dirty="0"/>
              <a:t>Manipulation</a:t>
            </a:r>
            <a:r>
              <a:rPr sz="4900" spc="15" dirty="0"/>
              <a:t> </a:t>
            </a:r>
            <a:r>
              <a:rPr sz="4900" spc="50" dirty="0"/>
              <a:t>Language</a:t>
            </a:r>
            <a:r>
              <a:rPr sz="4900" spc="20" dirty="0"/>
              <a:t> </a:t>
            </a:r>
            <a:r>
              <a:rPr sz="4900" spc="-10" dirty="0"/>
              <a:t>(DML)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2298729" y="4242414"/>
            <a:ext cx="837565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5"/>
              </a:spcBef>
            </a:pPr>
            <a:r>
              <a:rPr sz="2800" dirty="0">
                <a:latin typeface="Courier New"/>
                <a:cs typeface="Courier New"/>
              </a:rPr>
              <a:t>INSERT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INTO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corporation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(corp_id,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name) </a:t>
            </a:r>
            <a:r>
              <a:rPr sz="2800" dirty="0">
                <a:latin typeface="Courier New"/>
                <a:cs typeface="Courier New"/>
              </a:rPr>
              <a:t>VALUES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(27,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'Acme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Paper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Corporation');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4207" y="939113"/>
            <a:ext cx="613664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Retrieve</a:t>
            </a:r>
            <a:r>
              <a:rPr sz="4900" spc="195" dirty="0"/>
              <a:t> </a:t>
            </a:r>
            <a:r>
              <a:rPr sz="4900" spc="105" dirty="0"/>
              <a:t>inserted</a:t>
            </a:r>
            <a:r>
              <a:rPr sz="4900" spc="200" dirty="0"/>
              <a:t> </a:t>
            </a:r>
            <a:r>
              <a:rPr sz="4900" spc="114" dirty="0"/>
              <a:t>row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868714" y="3128472"/>
            <a:ext cx="602043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5"/>
              </a:spcBef>
            </a:pPr>
            <a:r>
              <a:rPr sz="2800" dirty="0">
                <a:latin typeface="Courier New"/>
                <a:cs typeface="Courier New"/>
              </a:rPr>
              <a:t>SELECT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name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FROM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corporation </a:t>
            </a:r>
            <a:r>
              <a:rPr sz="2800" dirty="0">
                <a:latin typeface="Courier New"/>
                <a:cs typeface="Courier New"/>
              </a:rPr>
              <a:t>WHERE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corp_id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25" dirty="0">
                <a:latin typeface="Courier New"/>
                <a:cs typeface="Courier New"/>
              </a:rPr>
              <a:t>27;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8714" y="5216352"/>
            <a:ext cx="5806440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dirty="0">
                <a:latin typeface="Courier New"/>
                <a:cs typeface="Courier New"/>
              </a:rPr>
              <a:t>+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—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50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300"/>
              </a:lnSpc>
              <a:tabLst>
                <a:tab pos="5579110" algn="l"/>
              </a:tabLst>
            </a:pPr>
            <a:r>
              <a:rPr sz="2800" dirty="0">
                <a:latin typeface="Courier New"/>
                <a:cs typeface="Courier New"/>
              </a:rPr>
              <a:t>|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20" dirty="0">
                <a:latin typeface="Courier New"/>
                <a:cs typeface="Courier New"/>
              </a:rPr>
              <a:t>name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60" dirty="0">
                <a:latin typeface="Courier New"/>
                <a:cs typeface="Courier New"/>
              </a:rPr>
              <a:t>|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300"/>
              </a:lnSpc>
            </a:pPr>
            <a:r>
              <a:rPr sz="2800" dirty="0">
                <a:latin typeface="Courier New"/>
                <a:cs typeface="Courier New"/>
              </a:rPr>
              <a:t>+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—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50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300"/>
              </a:lnSpc>
              <a:tabLst>
                <a:tab pos="5579110" algn="l"/>
              </a:tabLst>
            </a:pPr>
            <a:r>
              <a:rPr sz="2800" dirty="0">
                <a:latin typeface="Courier New"/>
                <a:cs typeface="Courier New"/>
              </a:rPr>
              <a:t>|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Acme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Paper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Corporation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|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329"/>
              </a:lnSpc>
            </a:pPr>
            <a:r>
              <a:rPr sz="2800" dirty="0">
                <a:latin typeface="Courier New"/>
                <a:cs typeface="Courier New"/>
              </a:rPr>
              <a:t>+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—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-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50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5530">
              <a:lnSpc>
                <a:spcPct val="100000"/>
              </a:lnSpc>
              <a:spcBef>
                <a:spcPts val="100"/>
              </a:spcBef>
            </a:pPr>
            <a:r>
              <a:rPr dirty="0"/>
              <a:t>SQL</a:t>
            </a:r>
            <a:r>
              <a:rPr spc="15" dirty="0"/>
              <a:t> </a:t>
            </a:r>
            <a:r>
              <a:rPr dirty="0"/>
              <a:t>Query</a:t>
            </a:r>
            <a:r>
              <a:rPr spc="15" dirty="0"/>
              <a:t> </a:t>
            </a:r>
            <a:r>
              <a:rPr spc="40" dirty="0"/>
              <a:t>Language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5080" indent="-342900">
              <a:lnSpc>
                <a:spcPts val="3310"/>
              </a:lnSpc>
              <a:spcBef>
                <a:spcPts val="2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  <a:tab pos="1251585" algn="l"/>
              </a:tabLst>
            </a:pPr>
            <a:r>
              <a:rPr sz="4200" spc="-37" baseline="1984" dirty="0">
                <a:latin typeface="Arial MT"/>
                <a:cs typeface="Arial MT"/>
              </a:rPr>
              <a:t>SQL</a:t>
            </a:r>
            <a:r>
              <a:rPr sz="4200" baseline="1984" dirty="0">
                <a:latin typeface="Arial MT"/>
                <a:cs typeface="Arial MT"/>
              </a:rPr>
              <a:t>	query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language</a:t>
            </a:r>
            <a:r>
              <a:rPr sz="4200" spc="-5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60" baseline="1984" dirty="0">
                <a:latin typeface="Arial MT"/>
                <a:cs typeface="Arial MT"/>
              </a:rPr>
              <a:t> </a:t>
            </a:r>
            <a:r>
              <a:rPr sz="4200" spc="-30" baseline="1984" dirty="0">
                <a:latin typeface="Arial MT"/>
                <a:cs typeface="Arial MT"/>
              </a:rPr>
              <a:t>nonprocedural.</a:t>
            </a:r>
            <a:r>
              <a:rPr sz="4200" spc="-25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27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query</a:t>
            </a:r>
            <a:r>
              <a:rPr sz="4200" spc="-5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takes</a:t>
            </a:r>
            <a:r>
              <a:rPr sz="4200" spc="-6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as</a:t>
            </a:r>
            <a:r>
              <a:rPr sz="4200" spc="-52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input </a:t>
            </a:r>
            <a:r>
              <a:rPr sz="2800" dirty="0">
                <a:latin typeface="Arial MT"/>
                <a:cs typeface="Arial MT"/>
              </a:rPr>
              <a:t>several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tables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(possibly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one)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always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returns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single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table.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Example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find</a:t>
            </a:r>
            <a:r>
              <a:rPr sz="4200" spc="-6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all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instructors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Comp.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Sci.</a:t>
            </a:r>
            <a:r>
              <a:rPr sz="4200" spc="-75" baseline="1984" dirty="0">
                <a:latin typeface="Arial MT"/>
                <a:cs typeface="Arial MT"/>
              </a:rPr>
              <a:t> </a:t>
            </a:r>
            <a:r>
              <a:rPr sz="4200" spc="-30" baseline="1984" dirty="0">
                <a:latin typeface="Arial MT"/>
                <a:cs typeface="Arial MT"/>
              </a:rPr>
              <a:t>dept</a:t>
            </a:r>
            <a:endParaRPr sz="4200" baseline="1984">
              <a:latin typeface="Arial MT"/>
              <a:cs typeface="Arial MT"/>
            </a:endParaRPr>
          </a:p>
          <a:p>
            <a:pPr marL="990600">
              <a:lnSpc>
                <a:spcPct val="100000"/>
              </a:lnSpc>
              <a:spcBef>
                <a:spcPts val="655"/>
              </a:spcBef>
            </a:pPr>
            <a:r>
              <a:rPr sz="2800" b="1" dirty="0">
                <a:latin typeface="Arial"/>
                <a:cs typeface="Arial"/>
              </a:rPr>
              <a:t>select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i="1" spc="-20" dirty="0">
                <a:latin typeface="Arial"/>
                <a:cs typeface="Arial"/>
              </a:rPr>
              <a:t>name</a:t>
            </a:r>
            <a:endParaRPr sz="2800">
              <a:latin typeface="Arial"/>
              <a:cs typeface="Arial"/>
            </a:endParaRPr>
          </a:p>
          <a:p>
            <a:pPr marL="989965">
              <a:lnSpc>
                <a:spcPct val="100000"/>
              </a:lnSpc>
              <a:spcBef>
                <a:spcPts val="40"/>
              </a:spcBef>
            </a:pPr>
            <a:r>
              <a:rPr sz="2800" b="1" dirty="0">
                <a:latin typeface="Arial"/>
                <a:cs typeface="Arial"/>
              </a:rPr>
              <a:t>from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instructor</a:t>
            </a:r>
            <a:endParaRPr sz="2800">
              <a:latin typeface="Arial"/>
              <a:cs typeface="Arial"/>
            </a:endParaRPr>
          </a:p>
          <a:p>
            <a:pPr marL="989965">
              <a:lnSpc>
                <a:spcPct val="100000"/>
              </a:lnSpc>
              <a:spcBef>
                <a:spcPts val="40"/>
              </a:spcBef>
            </a:pPr>
            <a:r>
              <a:rPr sz="2800" b="1" dirty="0">
                <a:latin typeface="Arial"/>
                <a:cs typeface="Arial"/>
              </a:rPr>
              <a:t>where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dept_name</a:t>
            </a:r>
            <a:r>
              <a:rPr sz="2800" i="1" spc="-9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=</a:t>
            </a:r>
            <a:r>
              <a:rPr sz="2800" i="1" spc="-9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'Comp.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Sci.'</a:t>
            </a:r>
            <a:endParaRPr sz="2800">
              <a:latin typeface="Arial MT"/>
              <a:cs typeface="Arial MT"/>
            </a:endParaRPr>
          </a:p>
          <a:p>
            <a:pPr marL="354965" marR="56515" indent="-342900">
              <a:lnSpc>
                <a:spcPts val="3310"/>
              </a:lnSpc>
              <a:spcBef>
                <a:spcPts val="100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spc="-240" baseline="1984" dirty="0">
                <a:latin typeface="Arial MT"/>
                <a:cs typeface="Arial MT"/>
              </a:rPr>
              <a:t>To</a:t>
            </a:r>
            <a:r>
              <a:rPr sz="4200" spc="-5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be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able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compute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complex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functions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SQL</a:t>
            </a:r>
            <a:r>
              <a:rPr sz="4200" spc="-22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usually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embedded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higher-</a:t>
            </a:r>
            <a:r>
              <a:rPr sz="2800" dirty="0">
                <a:latin typeface="Arial MT"/>
                <a:cs typeface="Arial MT"/>
              </a:rPr>
              <a:t>level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language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Application</a:t>
            </a:r>
            <a:r>
              <a:rPr sz="4200" spc="-15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programs</a:t>
            </a:r>
            <a:r>
              <a:rPr sz="4200" spc="-15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generally</a:t>
            </a:r>
            <a:r>
              <a:rPr sz="4200" spc="-15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access</a:t>
            </a:r>
            <a:r>
              <a:rPr sz="4200" spc="-15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databases</a:t>
            </a:r>
            <a:r>
              <a:rPr sz="4200" spc="-15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through</a:t>
            </a:r>
            <a:r>
              <a:rPr sz="4200" spc="-14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one</a:t>
            </a:r>
            <a:r>
              <a:rPr sz="4200" spc="-150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of</a:t>
            </a:r>
            <a:endParaRPr sz="4200" baseline="1984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extensions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allow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embedded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SQL</a:t>
            </a:r>
            <a:endParaRPr sz="2800">
              <a:latin typeface="Arial MT"/>
              <a:cs typeface="Arial MT"/>
            </a:endParaRPr>
          </a:p>
          <a:p>
            <a:pPr marL="755015" marR="515620" lvl="1" indent="-285750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108928"/>
              <a:buChar char="•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Application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program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interface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ODBC/JDBC)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allow </a:t>
            </a:r>
            <a:r>
              <a:rPr sz="2800" dirty="0">
                <a:latin typeface="Arial MT"/>
                <a:cs typeface="Arial MT"/>
              </a:rPr>
              <a:t>SQL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queries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sent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database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302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sz="4000" spc="60" dirty="0"/>
              <a:t>Database</a:t>
            </a:r>
            <a:r>
              <a:rPr sz="4000" spc="15" dirty="0"/>
              <a:t> </a:t>
            </a:r>
            <a:r>
              <a:rPr sz="4000" spc="85" dirty="0"/>
              <a:t>Access</a:t>
            </a:r>
            <a:r>
              <a:rPr sz="4000" spc="15" dirty="0"/>
              <a:t> </a:t>
            </a:r>
            <a:r>
              <a:rPr sz="4000" spc="105" dirty="0"/>
              <a:t>from</a:t>
            </a:r>
            <a:r>
              <a:rPr sz="4000" spc="15" dirty="0"/>
              <a:t> </a:t>
            </a:r>
            <a:r>
              <a:rPr sz="4000" spc="105" dirty="0"/>
              <a:t>Application</a:t>
            </a:r>
            <a:r>
              <a:rPr sz="4000" spc="15" dirty="0"/>
              <a:t> </a:t>
            </a:r>
            <a:r>
              <a:rPr sz="4000" spc="55" dirty="0"/>
              <a:t>Program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8461" y="2102266"/>
            <a:ext cx="10594975" cy="32124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5080" indent="-342900">
              <a:lnSpc>
                <a:spcPts val="3310"/>
              </a:lnSpc>
              <a:spcBef>
                <a:spcPts val="2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SQL</a:t>
            </a:r>
            <a:r>
              <a:rPr sz="4200" spc="-23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does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not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support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actions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such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input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from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users,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output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displays,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communication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network.</a:t>
            </a:r>
            <a:endParaRPr sz="2800">
              <a:latin typeface="Arial MT"/>
              <a:cs typeface="Arial MT"/>
            </a:endParaRPr>
          </a:p>
          <a:p>
            <a:pPr marL="354965" marR="130810" indent="-342900">
              <a:lnSpc>
                <a:spcPct val="99800"/>
              </a:lnSpc>
              <a:spcBef>
                <a:spcPts val="7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Such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computations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and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actions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must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be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written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</a:t>
            </a:r>
            <a:r>
              <a:rPr sz="4200" spc="-8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="1" spc="-30" baseline="1984" dirty="0">
                <a:solidFill>
                  <a:srgbClr val="002060"/>
                </a:solidFill>
                <a:latin typeface="Arial"/>
                <a:cs typeface="Arial"/>
              </a:rPr>
              <a:t>host </a:t>
            </a:r>
            <a:r>
              <a:rPr sz="2800" b="1" dirty="0">
                <a:solidFill>
                  <a:srgbClr val="002060"/>
                </a:solidFill>
                <a:latin typeface="Arial"/>
                <a:cs typeface="Arial"/>
              </a:rPr>
              <a:t>language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such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C/C++,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Java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Python,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embedded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SQL </a:t>
            </a:r>
            <a:r>
              <a:rPr sz="2800" dirty="0">
                <a:latin typeface="Arial MT"/>
                <a:cs typeface="Arial MT"/>
              </a:rPr>
              <a:t>queries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database.</a:t>
            </a:r>
            <a:endParaRPr sz="2800">
              <a:latin typeface="Arial MT"/>
              <a:cs typeface="Arial MT"/>
            </a:endParaRPr>
          </a:p>
          <a:p>
            <a:pPr marL="354965" marR="172085" indent="-342900">
              <a:lnSpc>
                <a:spcPts val="3310"/>
              </a:lnSpc>
              <a:spcBef>
                <a:spcPts val="995"/>
              </a:spcBef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Application</a:t>
            </a:r>
            <a:r>
              <a:rPr sz="4200" b="1" spc="-112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programs</a:t>
            </a:r>
            <a:r>
              <a:rPr sz="4200" b="1" spc="-112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-</a:t>
            </a:r>
            <a:r>
              <a:rPr sz="4200" baseline="1984" dirty="0">
                <a:latin typeface="Arial MT"/>
                <a:cs typeface="Arial MT"/>
              </a:rPr>
              <a:t>-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are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programs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that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are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used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interact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database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fashion.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258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Database</a:t>
            </a:r>
            <a:r>
              <a:rPr spc="15" dirty="0"/>
              <a:t> </a:t>
            </a:r>
            <a:r>
              <a:rPr spc="60" dirty="0"/>
              <a:t>Design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designing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general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structure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database: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800">
              <a:latin typeface="Arial MT"/>
              <a:cs typeface="Arial MT"/>
            </a:endParaRPr>
          </a:p>
          <a:p>
            <a:pPr marL="354965" marR="5080" indent="-342900">
              <a:lnSpc>
                <a:spcPts val="3310"/>
              </a:lnSpc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  <a:tab pos="3181985" algn="l"/>
              </a:tabLst>
            </a:pPr>
            <a:r>
              <a:rPr sz="4200" baseline="1984" dirty="0">
                <a:latin typeface="Arial MT"/>
                <a:cs typeface="Arial MT"/>
              </a:rPr>
              <a:t>Logical</a:t>
            </a:r>
            <a:r>
              <a:rPr sz="4200" spc="-14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Design</a:t>
            </a:r>
            <a:r>
              <a:rPr sz="4200" spc="-142" baseline="1984" dirty="0">
                <a:latin typeface="Arial MT"/>
                <a:cs typeface="Arial MT"/>
              </a:rPr>
              <a:t> </a:t>
            </a:r>
            <a:r>
              <a:rPr sz="4200" spc="-75" baseline="1984" dirty="0">
                <a:latin typeface="Arial MT"/>
                <a:cs typeface="Arial MT"/>
              </a:rPr>
              <a:t>–</a:t>
            </a:r>
            <a:r>
              <a:rPr sz="4200" baseline="1984" dirty="0">
                <a:latin typeface="Arial MT"/>
                <a:cs typeface="Arial MT"/>
              </a:rPr>
              <a:t>	Deciding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on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schema.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Database </a:t>
            </a:r>
            <a:r>
              <a:rPr sz="2800" dirty="0">
                <a:latin typeface="Arial MT"/>
                <a:cs typeface="Arial MT"/>
              </a:rPr>
              <a:t>design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“good”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collection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schemas.</a:t>
            </a:r>
            <a:endParaRPr sz="28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665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baseline="1111" dirty="0">
                <a:latin typeface="Arial MT"/>
                <a:cs typeface="Arial MT"/>
              </a:rPr>
              <a:t>Business</a:t>
            </a:r>
            <a:r>
              <a:rPr sz="3750" spc="-37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decision</a:t>
            </a:r>
            <a:r>
              <a:rPr sz="3750" spc="-22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–</a:t>
            </a:r>
            <a:r>
              <a:rPr sz="3750" spc="-30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What</a:t>
            </a:r>
            <a:r>
              <a:rPr sz="3750" spc="-30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attributes</a:t>
            </a:r>
            <a:r>
              <a:rPr sz="3750" spc="-37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should</a:t>
            </a:r>
            <a:r>
              <a:rPr sz="3750" spc="-22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we</a:t>
            </a:r>
            <a:r>
              <a:rPr sz="3750" spc="-30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record</a:t>
            </a:r>
            <a:r>
              <a:rPr sz="3750" spc="-22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in</a:t>
            </a:r>
            <a:r>
              <a:rPr sz="3750" spc="-30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the</a:t>
            </a:r>
            <a:r>
              <a:rPr sz="3750" spc="-22" baseline="1111" dirty="0">
                <a:latin typeface="Arial MT"/>
                <a:cs typeface="Arial MT"/>
              </a:rPr>
              <a:t> </a:t>
            </a:r>
            <a:r>
              <a:rPr sz="3750" spc="-15" baseline="1111" dirty="0">
                <a:latin typeface="Arial MT"/>
                <a:cs typeface="Arial MT"/>
              </a:rPr>
              <a:t>database?</a:t>
            </a:r>
            <a:endParaRPr sz="3750" baseline="1111">
              <a:latin typeface="Arial MT"/>
              <a:cs typeface="Arial MT"/>
            </a:endParaRPr>
          </a:p>
          <a:p>
            <a:pPr marL="755015" marR="266700" lvl="1" indent="-285750">
              <a:lnSpc>
                <a:spcPct val="99200"/>
              </a:lnSpc>
              <a:spcBef>
                <a:spcPts val="735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  <a:tab pos="5060950" algn="l"/>
              </a:tabLst>
            </a:pPr>
            <a:r>
              <a:rPr sz="3750" baseline="1111" dirty="0">
                <a:latin typeface="Arial MT"/>
                <a:cs typeface="Arial MT"/>
              </a:rPr>
              <a:t>Computer</a:t>
            </a:r>
            <a:r>
              <a:rPr sz="3750" spc="-52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Science</a:t>
            </a:r>
            <a:r>
              <a:rPr sz="3750" spc="-44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decision</a:t>
            </a:r>
            <a:r>
              <a:rPr sz="3750" spc="-44" baseline="1111" dirty="0">
                <a:latin typeface="Arial MT"/>
                <a:cs typeface="Arial MT"/>
              </a:rPr>
              <a:t> </a:t>
            </a:r>
            <a:r>
              <a:rPr sz="3750" spc="-75" baseline="1111" dirty="0">
                <a:latin typeface="Arial MT"/>
                <a:cs typeface="Arial MT"/>
              </a:rPr>
              <a:t>–</a:t>
            </a:r>
            <a:r>
              <a:rPr sz="3750" baseline="1111" dirty="0">
                <a:latin typeface="Arial MT"/>
                <a:cs typeface="Arial MT"/>
              </a:rPr>
              <a:t>	What</a:t>
            </a:r>
            <a:r>
              <a:rPr sz="3750" spc="-52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relation</a:t>
            </a:r>
            <a:r>
              <a:rPr sz="3750" spc="-37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schemas</a:t>
            </a:r>
            <a:r>
              <a:rPr sz="3750" spc="-44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should</a:t>
            </a:r>
            <a:r>
              <a:rPr sz="3750" spc="-37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we</a:t>
            </a:r>
            <a:r>
              <a:rPr sz="3750" spc="-37" baseline="1111" dirty="0">
                <a:latin typeface="Arial MT"/>
                <a:cs typeface="Arial MT"/>
              </a:rPr>
              <a:t> </a:t>
            </a:r>
            <a:r>
              <a:rPr sz="3750" spc="-30" baseline="1111" dirty="0">
                <a:latin typeface="Arial MT"/>
                <a:cs typeface="Arial MT"/>
              </a:rPr>
              <a:t>have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how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should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attributes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distributed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among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various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relation schemas?</a:t>
            </a:r>
            <a:endParaRPr sz="25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Physical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Design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–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Deciding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on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physical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layout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database</a:t>
            </a:r>
            <a:endParaRPr sz="4200" baseline="198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274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Database</a:t>
            </a:r>
            <a:r>
              <a:rPr spc="15" dirty="0"/>
              <a:t> </a:t>
            </a:r>
            <a:r>
              <a:rPr spc="-10" dirty="0"/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102266"/>
            <a:ext cx="10668000" cy="325501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5080" indent="-342900">
              <a:lnSpc>
                <a:spcPts val="3310"/>
              </a:lnSpc>
              <a:spcBef>
                <a:spcPts val="2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29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system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partitioned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into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modules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that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deal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with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30" baseline="1984" dirty="0">
                <a:latin typeface="Arial MT"/>
                <a:cs typeface="Arial MT"/>
              </a:rPr>
              <a:t>each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responsibilities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overall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  <a:p>
            <a:pPr marL="354965" marR="162560" indent="-342900">
              <a:lnSpc>
                <a:spcPts val="3310"/>
              </a:lnSpc>
              <a:spcBef>
                <a:spcPts val="894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functional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components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database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system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can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be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divided </a:t>
            </a:r>
            <a:r>
              <a:rPr sz="2800" spc="-20" dirty="0">
                <a:latin typeface="Arial MT"/>
                <a:cs typeface="Arial MT"/>
              </a:rPr>
              <a:t>into</a:t>
            </a:r>
            <a:endParaRPr sz="28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665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baseline="1111" dirty="0">
                <a:latin typeface="Arial MT"/>
                <a:cs typeface="Arial MT"/>
              </a:rPr>
              <a:t>The</a:t>
            </a:r>
            <a:r>
              <a:rPr sz="3750" spc="-44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storage</a:t>
            </a:r>
            <a:r>
              <a:rPr sz="3750" spc="-44" baseline="1111" dirty="0">
                <a:latin typeface="Arial MT"/>
                <a:cs typeface="Arial MT"/>
              </a:rPr>
              <a:t> </a:t>
            </a:r>
            <a:r>
              <a:rPr sz="3750" spc="-15" baseline="1111" dirty="0">
                <a:latin typeface="Arial MT"/>
                <a:cs typeface="Arial MT"/>
              </a:rPr>
              <a:t>manager,</a:t>
            </a:r>
            <a:endParaRPr sz="3750" baseline="1111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10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  <a:tab pos="1478915" algn="l"/>
              </a:tabLst>
            </a:pPr>
            <a:r>
              <a:rPr sz="3750" spc="-37" baseline="1111" dirty="0">
                <a:latin typeface="Arial MT"/>
                <a:cs typeface="Arial MT"/>
              </a:rPr>
              <a:t>The</a:t>
            </a:r>
            <a:r>
              <a:rPr sz="3750" baseline="1111" dirty="0">
                <a:latin typeface="Arial MT"/>
                <a:cs typeface="Arial MT"/>
              </a:rPr>
              <a:t>	query</a:t>
            </a:r>
            <a:r>
              <a:rPr sz="3750" spc="-67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processor</a:t>
            </a:r>
            <a:r>
              <a:rPr sz="3750" spc="-60" baseline="1111" dirty="0">
                <a:latin typeface="Arial MT"/>
                <a:cs typeface="Arial MT"/>
              </a:rPr>
              <a:t> </a:t>
            </a:r>
            <a:r>
              <a:rPr sz="3750" spc="-15" baseline="1111" dirty="0">
                <a:latin typeface="Arial MT"/>
                <a:cs typeface="Arial MT"/>
              </a:rPr>
              <a:t>component,</a:t>
            </a:r>
            <a:endParaRPr sz="3750" baseline="1111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15"/>
              </a:spcBef>
              <a:buClr>
                <a:srgbClr val="FF9933"/>
              </a:buClr>
              <a:buSzPct val="110000"/>
              <a:buChar char="•"/>
              <a:tabLst>
                <a:tab pos="755015" algn="l"/>
              </a:tabLst>
            </a:pPr>
            <a:r>
              <a:rPr sz="3750" baseline="1111" dirty="0">
                <a:latin typeface="Arial MT"/>
                <a:cs typeface="Arial MT"/>
              </a:rPr>
              <a:t>The</a:t>
            </a:r>
            <a:r>
              <a:rPr sz="3750" spc="-82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transaction</a:t>
            </a:r>
            <a:r>
              <a:rPr sz="3750" spc="-82" baseline="1111" dirty="0">
                <a:latin typeface="Arial MT"/>
                <a:cs typeface="Arial MT"/>
              </a:rPr>
              <a:t> </a:t>
            </a:r>
            <a:r>
              <a:rPr sz="3750" baseline="1111" dirty="0">
                <a:latin typeface="Arial MT"/>
                <a:cs typeface="Arial MT"/>
              </a:rPr>
              <a:t>management</a:t>
            </a:r>
            <a:r>
              <a:rPr sz="3750" spc="-89" baseline="1111" dirty="0">
                <a:latin typeface="Arial MT"/>
                <a:cs typeface="Arial MT"/>
              </a:rPr>
              <a:t> </a:t>
            </a:r>
            <a:r>
              <a:rPr sz="3750" spc="-15" baseline="1111" dirty="0">
                <a:latin typeface="Arial MT"/>
                <a:cs typeface="Arial MT"/>
              </a:rPr>
              <a:t>component.</a:t>
            </a:r>
            <a:endParaRPr sz="3750" baseline="1111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591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Storage</a:t>
            </a:r>
            <a:r>
              <a:rPr spc="15" dirty="0"/>
              <a:t> </a:t>
            </a:r>
            <a:r>
              <a:rPr spc="65" dirty="0"/>
              <a:t>Manager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102266"/>
            <a:ext cx="10983595" cy="5495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99800"/>
              </a:lnSpc>
              <a:spcBef>
                <a:spcPts val="10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29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program</a:t>
            </a:r>
            <a:r>
              <a:rPr sz="4200" spc="-14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module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that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provides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interface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between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30" baseline="1984" dirty="0">
                <a:latin typeface="Arial MT"/>
                <a:cs typeface="Arial MT"/>
              </a:rPr>
              <a:t>low-</a:t>
            </a:r>
            <a:r>
              <a:rPr sz="4200" spc="-15" baseline="1984" dirty="0">
                <a:latin typeface="Arial MT"/>
                <a:cs typeface="Arial MT"/>
              </a:rPr>
              <a:t>level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stored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database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application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programs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queries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submitted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storage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manager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responsible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to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following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tasks:</a:t>
            </a:r>
            <a:endParaRPr sz="4200" baseline="1984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Interaction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manager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Efficient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storing,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retrieving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updating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5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storage</a:t>
            </a:r>
            <a:r>
              <a:rPr sz="4200" spc="-15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manager</a:t>
            </a:r>
            <a:r>
              <a:rPr sz="4200" spc="-15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components</a:t>
            </a:r>
            <a:r>
              <a:rPr sz="4200" spc="-15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include:</a:t>
            </a:r>
            <a:endParaRPr sz="4200" baseline="1984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Authorization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integrity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manager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spc="-10" dirty="0">
                <a:latin typeface="Arial MT"/>
                <a:cs typeface="Arial MT"/>
              </a:rPr>
              <a:t>Transaction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manager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File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manager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Buffer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manager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3414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Storage</a:t>
            </a:r>
            <a:r>
              <a:rPr spc="10" dirty="0"/>
              <a:t> </a:t>
            </a:r>
            <a:r>
              <a:rPr spc="75" dirty="0"/>
              <a:t>Manager</a:t>
            </a:r>
            <a:r>
              <a:rPr spc="1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102266"/>
            <a:ext cx="10962640" cy="37350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5080" indent="-342900">
              <a:lnSpc>
                <a:spcPts val="3310"/>
              </a:lnSpc>
              <a:spcBef>
                <a:spcPts val="2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storage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manager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implements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several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data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structures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as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part</a:t>
            </a:r>
            <a:r>
              <a:rPr sz="4200" spc="-120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physical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implementation:</a:t>
            </a:r>
            <a:endParaRPr sz="28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690"/>
              </a:spcBef>
              <a:buClr>
                <a:srgbClr val="FF9933"/>
              </a:buClr>
              <a:buSzPct val="108928"/>
              <a:buChar char="•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store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database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itself</a:t>
            </a:r>
            <a:endParaRPr sz="2800">
              <a:latin typeface="Arial MT"/>
              <a:cs typeface="Arial MT"/>
            </a:endParaRPr>
          </a:p>
          <a:p>
            <a:pPr marL="755015" marR="691515" lvl="1" indent="-285750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108928"/>
              <a:buChar char="•"/>
              <a:tabLst>
                <a:tab pos="755015" algn="l"/>
                <a:tab pos="3660140" algn="l"/>
              </a:tabLst>
            </a:pP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dictionary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spc="-5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	stores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metadata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about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structure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database,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particular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database.</a:t>
            </a:r>
            <a:endParaRPr sz="2800">
              <a:latin typeface="Arial MT"/>
              <a:cs typeface="Arial MT"/>
            </a:endParaRPr>
          </a:p>
          <a:p>
            <a:pPr marL="755015" marR="117475" lvl="1" indent="-285750">
              <a:lnSpc>
                <a:spcPct val="100600"/>
              </a:lnSpc>
              <a:spcBef>
                <a:spcPts val="770"/>
              </a:spcBef>
              <a:buClr>
                <a:srgbClr val="FF9933"/>
              </a:buClr>
              <a:buSzPct val="108928"/>
              <a:buChar char="•"/>
              <a:tabLst>
                <a:tab pos="755015" algn="l"/>
                <a:tab pos="2414905" algn="l"/>
                <a:tab pos="8542655" algn="l"/>
              </a:tabLst>
            </a:pPr>
            <a:r>
              <a:rPr sz="2800" dirty="0">
                <a:latin typeface="Arial MT"/>
                <a:cs typeface="Arial MT"/>
              </a:rPr>
              <a:t>Indices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spc="-5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	can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fast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items.</a:t>
            </a:r>
            <a:r>
              <a:rPr sz="2800" dirty="0">
                <a:latin typeface="Arial MT"/>
                <a:cs typeface="Arial MT"/>
              </a:rPr>
              <a:t>	A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database </a:t>
            </a:r>
            <a:r>
              <a:rPr sz="2800" dirty="0">
                <a:latin typeface="Arial MT"/>
                <a:cs typeface="Arial MT"/>
              </a:rPr>
              <a:t>index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pointers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those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items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hold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particular value.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9575">
              <a:lnSpc>
                <a:spcPct val="100000"/>
              </a:lnSpc>
              <a:spcBef>
                <a:spcPts val="100"/>
              </a:spcBef>
            </a:pPr>
            <a:r>
              <a:rPr dirty="0"/>
              <a:t>Query</a:t>
            </a:r>
            <a:r>
              <a:rPr spc="120" dirty="0"/>
              <a:t> </a:t>
            </a:r>
            <a:r>
              <a:rPr spc="70" dirty="0"/>
              <a:t>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053704"/>
            <a:ext cx="10920730" cy="5169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5600" algn="l"/>
              </a:tabLst>
            </a:pP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5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query</a:t>
            </a:r>
            <a:r>
              <a:rPr sz="4200" spc="-165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processor</a:t>
            </a:r>
            <a:r>
              <a:rPr sz="4200" spc="-15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components</a:t>
            </a:r>
            <a:r>
              <a:rPr sz="4200" spc="-165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include:</a:t>
            </a:r>
            <a:endParaRPr sz="4200" baseline="1984">
              <a:latin typeface="Arial MT"/>
              <a:cs typeface="Arial MT"/>
            </a:endParaRPr>
          </a:p>
          <a:p>
            <a:pPr marL="755015" marR="419734" lvl="1" indent="-285750">
              <a:lnSpc>
                <a:spcPct val="100000"/>
              </a:lnSpc>
              <a:spcBef>
                <a:spcPts val="700"/>
              </a:spcBef>
              <a:buClr>
                <a:srgbClr val="FF9933"/>
              </a:buClr>
              <a:buSzPct val="108928"/>
              <a:buChar char="•"/>
              <a:tabLst>
                <a:tab pos="755015" algn="l"/>
                <a:tab pos="1651000" algn="l"/>
                <a:tab pos="3804920" algn="l"/>
              </a:tabLst>
            </a:pPr>
            <a:r>
              <a:rPr sz="2800" spc="-25" dirty="0">
                <a:latin typeface="Arial MT"/>
                <a:cs typeface="Arial MT"/>
              </a:rPr>
              <a:t>DDL</a:t>
            </a:r>
            <a:r>
              <a:rPr sz="2800" dirty="0">
                <a:latin typeface="Arial MT"/>
                <a:cs typeface="Arial MT"/>
              </a:rPr>
              <a:t>	interpreter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spc="-5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	interprets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DDL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statements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records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definitions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dictionary.</a:t>
            </a:r>
            <a:endParaRPr sz="2800">
              <a:latin typeface="Arial MT"/>
              <a:cs typeface="Arial MT"/>
            </a:endParaRPr>
          </a:p>
          <a:p>
            <a:pPr marL="755015" marR="102870" lvl="1" indent="-285750">
              <a:lnSpc>
                <a:spcPct val="100600"/>
              </a:lnSpc>
              <a:spcBef>
                <a:spcPts val="775"/>
              </a:spcBef>
              <a:buClr>
                <a:srgbClr val="FF9933"/>
              </a:buClr>
              <a:buSzPct val="108928"/>
              <a:buChar char="•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DML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compiler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translates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DML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statements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query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language </a:t>
            </a:r>
            <a:r>
              <a:rPr sz="2800" dirty="0">
                <a:latin typeface="Arial MT"/>
                <a:cs typeface="Arial MT"/>
              </a:rPr>
              <a:t>into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evaluation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consisting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low-</a:t>
            </a:r>
            <a:r>
              <a:rPr sz="2800" dirty="0">
                <a:latin typeface="Arial MT"/>
                <a:cs typeface="Arial MT"/>
              </a:rPr>
              <a:t>level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instructions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query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evaluation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engine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understands.</a:t>
            </a:r>
            <a:endParaRPr sz="2800">
              <a:latin typeface="Arial MT"/>
              <a:cs typeface="Arial MT"/>
            </a:endParaRPr>
          </a:p>
          <a:p>
            <a:pPr marL="1097915" marR="5080" lvl="2" indent="-228600">
              <a:lnSpc>
                <a:spcPct val="101200"/>
              </a:lnSpc>
              <a:spcBef>
                <a:spcPts val="715"/>
              </a:spcBef>
              <a:buClr>
                <a:srgbClr val="33CC33"/>
              </a:buClr>
              <a:buSzPct val="83928"/>
              <a:buFont typeface="Trebuchet MS"/>
              <a:buChar char="▪"/>
              <a:tabLst>
                <a:tab pos="109791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DML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compiler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performs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query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optimization;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picks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lowest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cost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evaluation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among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various alternatives.</a:t>
            </a:r>
            <a:endParaRPr sz="2800">
              <a:latin typeface="Arial MT"/>
              <a:cs typeface="Arial MT"/>
            </a:endParaRPr>
          </a:p>
          <a:p>
            <a:pPr marL="755015" marR="1064260" lvl="1" indent="-285750">
              <a:lnSpc>
                <a:spcPct val="100000"/>
              </a:lnSpc>
              <a:spcBef>
                <a:spcPts val="795"/>
              </a:spcBef>
              <a:buClr>
                <a:srgbClr val="FF9933"/>
              </a:buClr>
              <a:buSzPct val="108928"/>
              <a:buChar char="•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Query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evaluation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engine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executes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low-</a:t>
            </a:r>
            <a:r>
              <a:rPr sz="2800" dirty="0">
                <a:latin typeface="Arial MT"/>
                <a:cs typeface="Arial MT"/>
              </a:rPr>
              <a:t>level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instructions </a:t>
            </a:r>
            <a:r>
              <a:rPr sz="2800" dirty="0">
                <a:latin typeface="Arial MT"/>
                <a:cs typeface="Arial MT"/>
              </a:rPr>
              <a:t>generated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DML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compiler.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6860">
              <a:lnSpc>
                <a:spcPct val="100000"/>
              </a:lnSpc>
              <a:spcBef>
                <a:spcPts val="100"/>
              </a:spcBef>
            </a:pPr>
            <a:r>
              <a:rPr dirty="0"/>
              <a:t>Query</a:t>
            </a:r>
            <a:r>
              <a:rPr spc="120" dirty="0"/>
              <a:t> </a:t>
            </a:r>
            <a:r>
              <a:rPr spc="70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1994537"/>
            <a:ext cx="4005579" cy="159321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Parsing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translation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AutoNum type="arabicPeriod"/>
              <a:tabLst>
                <a:tab pos="354965" algn="l"/>
              </a:tabLst>
            </a:pPr>
            <a:r>
              <a:rPr sz="2800" spc="-10" dirty="0">
                <a:latin typeface="Arial MT"/>
                <a:cs typeface="Arial MT"/>
              </a:rPr>
              <a:t>Optimization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354965" algn="l"/>
              </a:tabLst>
            </a:pPr>
            <a:r>
              <a:rPr sz="2800" spc="-10" dirty="0">
                <a:latin typeface="Arial MT"/>
                <a:cs typeface="Arial MT"/>
              </a:rPr>
              <a:t>Evaluation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0344" y="3815100"/>
            <a:ext cx="7676144" cy="46112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2270">
              <a:lnSpc>
                <a:spcPct val="100000"/>
              </a:lnSpc>
              <a:spcBef>
                <a:spcPts val="100"/>
              </a:spcBef>
            </a:pPr>
            <a:r>
              <a:rPr dirty="0"/>
              <a:t>Transaction</a:t>
            </a:r>
            <a:r>
              <a:rPr spc="540" dirty="0"/>
              <a:t> </a:t>
            </a:r>
            <a:r>
              <a:rPr spc="65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61" y="2102266"/>
            <a:ext cx="10944225" cy="36442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marR="421005" indent="-342900">
              <a:lnSpc>
                <a:spcPts val="3310"/>
              </a:lnSpc>
              <a:spcBef>
                <a:spcPts val="250"/>
              </a:spcBef>
              <a:buClr>
                <a:srgbClr val="002060"/>
              </a:buClr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transaction</a:t>
            </a:r>
            <a:r>
              <a:rPr sz="4200" b="1" spc="-97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is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collection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of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operations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that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performs</a:t>
            </a:r>
            <a:r>
              <a:rPr sz="4200" spc="-9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</a:t>
            </a:r>
            <a:r>
              <a:rPr sz="4200" spc="-89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single </a:t>
            </a:r>
            <a:r>
              <a:rPr sz="2800" dirty="0">
                <a:latin typeface="Arial MT"/>
                <a:cs typeface="Arial MT"/>
              </a:rPr>
              <a:t>logical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database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application</a:t>
            </a:r>
            <a:endParaRPr sz="2800">
              <a:latin typeface="Arial MT"/>
              <a:cs typeface="Arial MT"/>
            </a:endParaRPr>
          </a:p>
          <a:p>
            <a:pPr marL="354965" marR="26670" indent="-342900">
              <a:lnSpc>
                <a:spcPct val="100299"/>
              </a:lnSpc>
              <a:spcBef>
                <a:spcPts val="730"/>
              </a:spcBef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="1" spc="-52" baseline="1984" dirty="0">
                <a:solidFill>
                  <a:srgbClr val="002060"/>
                </a:solidFill>
                <a:latin typeface="Arial"/>
                <a:cs typeface="Arial"/>
              </a:rPr>
              <a:t>Transaction-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management</a:t>
            </a:r>
            <a:r>
              <a:rPr sz="4200" b="1" spc="-127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component</a:t>
            </a:r>
            <a:r>
              <a:rPr sz="4200" b="1" spc="-127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ensures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that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27" baseline="1984" dirty="0">
                <a:latin typeface="Arial MT"/>
                <a:cs typeface="Arial MT"/>
              </a:rPr>
              <a:t> </a:t>
            </a:r>
            <a:r>
              <a:rPr sz="4200" spc="-15" baseline="1984" dirty="0">
                <a:latin typeface="Arial MT"/>
                <a:cs typeface="Arial MT"/>
              </a:rPr>
              <a:t>database </a:t>
            </a:r>
            <a:r>
              <a:rPr sz="2800" dirty="0">
                <a:latin typeface="Arial MT"/>
                <a:cs typeface="Arial MT"/>
              </a:rPr>
              <a:t>remains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consistent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(correct)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state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despite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failures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(e.g., </a:t>
            </a:r>
            <a:r>
              <a:rPr sz="2800" dirty="0">
                <a:latin typeface="Arial MT"/>
                <a:cs typeface="Arial MT"/>
              </a:rPr>
              <a:t>power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failures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operating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crashes)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transaction failures.</a:t>
            </a:r>
            <a:endParaRPr sz="2800">
              <a:latin typeface="Arial MT"/>
              <a:cs typeface="Arial MT"/>
            </a:endParaRPr>
          </a:p>
          <a:p>
            <a:pPr marL="354965" marR="5080" indent="-342900">
              <a:lnSpc>
                <a:spcPts val="3310"/>
              </a:lnSpc>
              <a:spcBef>
                <a:spcPts val="994"/>
              </a:spcBef>
              <a:buSzPct val="108928"/>
              <a:buFont typeface="Trebuchet MS"/>
              <a:buChar char="▪"/>
              <a:tabLst>
                <a:tab pos="354965" algn="l"/>
              </a:tabLst>
            </a:pPr>
            <a:r>
              <a:rPr sz="4200" b="1" spc="-37" baseline="1984" dirty="0">
                <a:solidFill>
                  <a:srgbClr val="002060"/>
                </a:solidFill>
                <a:latin typeface="Arial"/>
                <a:cs typeface="Arial"/>
              </a:rPr>
              <a:t>Concurrency-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control</a:t>
            </a:r>
            <a:r>
              <a:rPr sz="4200" b="1" spc="-112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="1" baseline="1984" dirty="0">
                <a:solidFill>
                  <a:srgbClr val="002060"/>
                </a:solidFill>
                <a:latin typeface="Arial"/>
                <a:cs typeface="Arial"/>
              </a:rPr>
              <a:t>manager</a:t>
            </a:r>
            <a:r>
              <a:rPr sz="4200" b="1" spc="-104" baseline="1984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controls</a:t>
            </a:r>
            <a:r>
              <a:rPr sz="4200" spc="-112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the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interaction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baseline="1984" dirty="0">
                <a:latin typeface="Arial MT"/>
                <a:cs typeface="Arial MT"/>
              </a:rPr>
              <a:t>among</a:t>
            </a:r>
            <a:r>
              <a:rPr sz="4200" spc="-104" baseline="1984" dirty="0">
                <a:latin typeface="Arial MT"/>
                <a:cs typeface="Arial MT"/>
              </a:rPr>
              <a:t> </a:t>
            </a:r>
            <a:r>
              <a:rPr sz="4200" spc="-37" baseline="1984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concurrent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transactions,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ensure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consistency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database.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3954" y="939113"/>
            <a:ext cx="803719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SQL</a:t>
            </a:r>
            <a:r>
              <a:rPr sz="4900" spc="-45" dirty="0"/>
              <a:t> </a:t>
            </a:r>
            <a:r>
              <a:rPr sz="4900" spc="130" dirty="0"/>
              <a:t>transaction</a:t>
            </a:r>
            <a:r>
              <a:rPr sz="4900" spc="-45" dirty="0"/>
              <a:t> </a:t>
            </a:r>
            <a:r>
              <a:rPr sz="4900" spc="105" dirty="0"/>
              <a:t>statements</a:t>
            </a:r>
            <a:endParaRPr sz="49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7581" rIns="0" bIns="0" rtlCol="0">
            <a:spAutoFit/>
          </a:bodyPr>
          <a:lstStyle/>
          <a:p>
            <a:pPr marL="882650">
              <a:lnSpc>
                <a:spcPct val="100000"/>
              </a:lnSpc>
              <a:spcBef>
                <a:spcPts val="520"/>
              </a:spcBef>
            </a:pPr>
            <a:r>
              <a:rPr spc="-10" dirty="0"/>
              <a:t>BEGIN;</a:t>
            </a:r>
          </a:p>
          <a:p>
            <a:pPr marL="882650" marR="5080">
              <a:lnSpc>
                <a:spcPct val="112700"/>
              </a:lnSpc>
            </a:pPr>
            <a:r>
              <a:rPr dirty="0"/>
              <a:t>UPDATE accounts SET balance = balance - </a:t>
            </a:r>
            <a:r>
              <a:rPr spc="-10" dirty="0"/>
              <a:t>100.00 </a:t>
            </a:r>
            <a:r>
              <a:rPr dirty="0"/>
              <a:t>WHERE name = </a:t>
            </a:r>
            <a:r>
              <a:rPr spc="-10" dirty="0"/>
              <a:t>'Alice';</a:t>
            </a:r>
          </a:p>
          <a:p>
            <a:pPr marL="882650" marR="7558405">
              <a:lnSpc>
                <a:spcPct val="112700"/>
              </a:lnSpc>
            </a:pPr>
            <a:r>
              <a:rPr dirty="0"/>
              <a:t>-- etc </a:t>
            </a:r>
            <a:r>
              <a:rPr spc="-25" dirty="0"/>
              <a:t>etc </a:t>
            </a:r>
            <a:r>
              <a:rPr spc="-10" dirty="0"/>
              <a:t>ROLLBACK; COMMIT;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1767" y="558113"/>
            <a:ext cx="8901430" cy="15341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291840" marR="5080" indent="-3279775">
              <a:lnSpc>
                <a:spcPts val="6000"/>
              </a:lnSpc>
              <a:spcBef>
                <a:spcPts val="80"/>
              </a:spcBef>
            </a:pPr>
            <a:r>
              <a:rPr sz="4900" spc="70" dirty="0"/>
              <a:t>DBMS</a:t>
            </a:r>
            <a:r>
              <a:rPr sz="4900" spc="110" dirty="0"/>
              <a:t> </a:t>
            </a:r>
            <a:r>
              <a:rPr sz="4900" dirty="0"/>
              <a:t>(Database</a:t>
            </a:r>
            <a:r>
              <a:rPr sz="4900" spc="114" dirty="0"/>
              <a:t> </a:t>
            </a:r>
            <a:r>
              <a:rPr sz="4900" spc="75" dirty="0"/>
              <a:t>Management </a:t>
            </a:r>
            <a:r>
              <a:rPr sz="4900" spc="-10" dirty="0"/>
              <a:t>System)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282700" y="3138000"/>
            <a:ext cx="7239634" cy="39973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51815" indent="-513715">
              <a:lnSpc>
                <a:spcPct val="100000"/>
              </a:lnSpc>
              <a:spcBef>
                <a:spcPts val="405"/>
              </a:spcBef>
              <a:buSzPct val="144594"/>
              <a:buChar char="•"/>
              <a:tabLst>
                <a:tab pos="551815" algn="l"/>
              </a:tabLst>
            </a:pPr>
            <a:r>
              <a:rPr sz="3700" spc="-10" dirty="0">
                <a:latin typeface="Arial MT"/>
                <a:cs typeface="Arial MT"/>
              </a:rPr>
              <a:t>MySQL</a:t>
            </a:r>
            <a:endParaRPr sz="3700">
              <a:latin typeface="Arial MT"/>
              <a:cs typeface="Arial MT"/>
            </a:endParaRPr>
          </a:p>
          <a:p>
            <a:pPr marL="551815" indent="-513715">
              <a:lnSpc>
                <a:spcPct val="100000"/>
              </a:lnSpc>
              <a:spcBef>
                <a:spcPts val="2105"/>
              </a:spcBef>
              <a:buSzPct val="144594"/>
              <a:buChar char="•"/>
              <a:tabLst>
                <a:tab pos="551815" algn="l"/>
              </a:tabLst>
            </a:pPr>
            <a:r>
              <a:rPr sz="3700" dirty="0">
                <a:latin typeface="Arial MT"/>
                <a:cs typeface="Arial MT"/>
              </a:rPr>
              <a:t>MS</a:t>
            </a:r>
            <a:r>
              <a:rPr sz="3700" spc="-10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SQL</a:t>
            </a:r>
            <a:r>
              <a:rPr sz="3700" spc="-100" dirty="0">
                <a:latin typeface="Arial MT"/>
                <a:cs typeface="Arial MT"/>
              </a:rPr>
              <a:t> </a:t>
            </a:r>
            <a:r>
              <a:rPr sz="3700" spc="-20" dirty="0">
                <a:latin typeface="Arial MT"/>
                <a:cs typeface="Arial MT"/>
              </a:rPr>
              <a:t>Server</a:t>
            </a:r>
            <a:r>
              <a:rPr sz="3700" spc="-100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(Microsoft)</a:t>
            </a:r>
            <a:endParaRPr sz="3700">
              <a:latin typeface="Arial MT"/>
              <a:cs typeface="Arial MT"/>
            </a:endParaRPr>
          </a:p>
          <a:p>
            <a:pPr marL="551815" indent="-513715">
              <a:lnSpc>
                <a:spcPct val="100000"/>
              </a:lnSpc>
              <a:spcBef>
                <a:spcPts val="2110"/>
              </a:spcBef>
              <a:buSzPct val="144594"/>
              <a:buChar char="•"/>
              <a:tabLst>
                <a:tab pos="551815" algn="l"/>
              </a:tabLst>
            </a:pPr>
            <a:r>
              <a:rPr sz="3700" dirty="0">
                <a:latin typeface="Arial MT"/>
                <a:cs typeface="Arial MT"/>
              </a:rPr>
              <a:t>Oracle</a:t>
            </a:r>
            <a:r>
              <a:rPr sz="3700" spc="-5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DB</a:t>
            </a:r>
            <a:r>
              <a:rPr sz="3700" spc="-5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(Oracle)</a:t>
            </a:r>
            <a:endParaRPr sz="3700">
              <a:latin typeface="Arial MT"/>
              <a:cs typeface="Arial MT"/>
            </a:endParaRPr>
          </a:p>
          <a:p>
            <a:pPr marL="551815" indent="-513715">
              <a:lnSpc>
                <a:spcPct val="100000"/>
              </a:lnSpc>
              <a:spcBef>
                <a:spcPts val="2110"/>
              </a:spcBef>
              <a:buSzPct val="144594"/>
              <a:buChar char="•"/>
              <a:tabLst>
                <a:tab pos="551815" algn="l"/>
              </a:tabLst>
            </a:pPr>
            <a:r>
              <a:rPr sz="3700" dirty="0">
                <a:latin typeface="Arial MT"/>
                <a:cs typeface="Arial MT"/>
              </a:rPr>
              <a:t>DB2</a:t>
            </a:r>
            <a:r>
              <a:rPr sz="3700" spc="-150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Universal</a:t>
            </a:r>
            <a:r>
              <a:rPr sz="3700" spc="-15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Database</a:t>
            </a:r>
            <a:r>
              <a:rPr sz="3700" spc="-150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(IBM)</a:t>
            </a:r>
            <a:endParaRPr sz="3700">
              <a:latin typeface="Arial MT"/>
              <a:cs typeface="Arial MT"/>
            </a:endParaRPr>
          </a:p>
          <a:p>
            <a:pPr marL="551815" indent="-513715">
              <a:lnSpc>
                <a:spcPct val="100000"/>
              </a:lnSpc>
              <a:spcBef>
                <a:spcPts val="2105"/>
              </a:spcBef>
              <a:buSzPct val="144594"/>
              <a:buChar char="•"/>
              <a:tabLst>
                <a:tab pos="551815" algn="l"/>
              </a:tabLst>
            </a:pPr>
            <a:r>
              <a:rPr sz="3700" dirty="0">
                <a:solidFill>
                  <a:srgbClr val="EE220C"/>
                </a:solidFill>
                <a:latin typeface="Arial MT"/>
                <a:cs typeface="Arial MT"/>
              </a:rPr>
              <a:t>PostgreSQL</a:t>
            </a:r>
            <a:r>
              <a:rPr sz="3700" spc="-22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3700" spc="-25" dirty="0">
                <a:solidFill>
                  <a:srgbClr val="EE220C"/>
                </a:solidFill>
                <a:latin typeface="Arial MT"/>
                <a:cs typeface="Arial MT"/>
              </a:rPr>
              <a:t>(PostgreSQL</a:t>
            </a:r>
            <a:r>
              <a:rPr sz="3700" spc="-22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3700" spc="-20" dirty="0">
                <a:solidFill>
                  <a:srgbClr val="EE220C"/>
                </a:solidFill>
                <a:latin typeface="Arial MT"/>
                <a:cs typeface="Arial MT"/>
              </a:rPr>
              <a:t>GDG)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Why</a:t>
            </a:r>
            <a:r>
              <a:rPr sz="4900" spc="95" dirty="0"/>
              <a:t> </a:t>
            </a:r>
            <a:r>
              <a:rPr sz="4900" spc="-10" dirty="0"/>
              <a:t>PostgreSQL?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308100" y="2337632"/>
            <a:ext cx="9897110" cy="252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500"/>
              </a:lnSpc>
              <a:spcBef>
                <a:spcPts val="100"/>
              </a:spcBef>
            </a:pPr>
            <a:r>
              <a:rPr sz="3700" dirty="0">
                <a:latin typeface="Arial MT"/>
                <a:cs typeface="Arial MT"/>
              </a:rPr>
              <a:t>PostgreSQL</a:t>
            </a:r>
            <a:r>
              <a:rPr sz="3700" spc="-2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is</a:t>
            </a:r>
            <a:r>
              <a:rPr sz="3700" spc="-2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an</a:t>
            </a:r>
            <a:r>
              <a:rPr sz="3700" spc="-25" dirty="0">
                <a:latin typeface="Arial MT"/>
                <a:cs typeface="Arial MT"/>
              </a:rPr>
              <a:t> </a:t>
            </a:r>
            <a:r>
              <a:rPr sz="3700" dirty="0">
                <a:solidFill>
                  <a:srgbClr val="EE220C"/>
                </a:solidFill>
                <a:latin typeface="Arial MT"/>
                <a:cs typeface="Arial MT"/>
              </a:rPr>
              <a:t>enterprise-class</a:t>
            </a:r>
            <a:r>
              <a:rPr sz="3700" spc="-20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relational </a:t>
            </a:r>
            <a:r>
              <a:rPr sz="3700" dirty="0">
                <a:latin typeface="Arial MT"/>
                <a:cs typeface="Arial MT"/>
              </a:rPr>
              <a:t>database</a:t>
            </a:r>
            <a:r>
              <a:rPr sz="3700" spc="6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management</a:t>
            </a:r>
            <a:r>
              <a:rPr sz="3700" spc="6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system,</a:t>
            </a:r>
            <a:r>
              <a:rPr sz="3700" spc="6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on</a:t>
            </a:r>
            <a:r>
              <a:rPr sz="3700" spc="6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par</a:t>
            </a:r>
            <a:r>
              <a:rPr sz="3700" spc="6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with</a:t>
            </a:r>
            <a:r>
              <a:rPr sz="3700" spc="60" dirty="0">
                <a:latin typeface="Arial MT"/>
                <a:cs typeface="Arial MT"/>
              </a:rPr>
              <a:t> </a:t>
            </a:r>
            <a:r>
              <a:rPr sz="3700" spc="-25" dirty="0">
                <a:latin typeface="Arial MT"/>
                <a:cs typeface="Arial MT"/>
              </a:rPr>
              <a:t>the </a:t>
            </a:r>
            <a:r>
              <a:rPr sz="3700" dirty="0">
                <a:latin typeface="Arial MT"/>
                <a:cs typeface="Arial MT"/>
              </a:rPr>
              <a:t>very</a:t>
            </a:r>
            <a:r>
              <a:rPr sz="3700" spc="4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best</a:t>
            </a:r>
            <a:r>
              <a:rPr sz="3700" spc="4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proprietary</a:t>
            </a:r>
            <a:r>
              <a:rPr sz="3700" spc="4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database</a:t>
            </a:r>
            <a:r>
              <a:rPr sz="3700" spc="4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systems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3765" y="5611349"/>
            <a:ext cx="3338432" cy="332286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1104" y="939113"/>
            <a:ext cx="528320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Why</a:t>
            </a:r>
            <a:r>
              <a:rPr sz="4900" spc="95" dirty="0"/>
              <a:t> </a:t>
            </a:r>
            <a:r>
              <a:rPr sz="4900" spc="-10" dirty="0"/>
              <a:t>PostgreSQL?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282700" y="3147650"/>
            <a:ext cx="10437495" cy="48914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469265" indent="-431165">
              <a:lnSpc>
                <a:spcPct val="100000"/>
              </a:lnSpc>
              <a:spcBef>
                <a:spcPts val="470"/>
              </a:spcBef>
              <a:buSzPct val="145161"/>
              <a:buChar char="•"/>
              <a:tabLst>
                <a:tab pos="469265" algn="l"/>
              </a:tabLst>
            </a:pPr>
            <a:r>
              <a:rPr sz="3100" dirty="0">
                <a:latin typeface="Arial MT"/>
                <a:cs typeface="Arial MT"/>
              </a:rPr>
              <a:t>Open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source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(Large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community)</a:t>
            </a:r>
            <a:endParaRPr sz="3100">
              <a:latin typeface="Arial MT"/>
              <a:cs typeface="Arial MT"/>
            </a:endParaRPr>
          </a:p>
          <a:p>
            <a:pPr marL="469265" indent="-431165">
              <a:lnSpc>
                <a:spcPct val="100000"/>
              </a:lnSpc>
              <a:spcBef>
                <a:spcPts val="1935"/>
              </a:spcBef>
              <a:buSzPct val="145161"/>
              <a:buChar char="•"/>
              <a:tabLst>
                <a:tab pos="469265" algn="l"/>
              </a:tabLst>
            </a:pPr>
            <a:r>
              <a:rPr sz="3100" dirty="0">
                <a:latin typeface="Arial MT"/>
                <a:cs typeface="Arial MT"/>
              </a:rPr>
              <a:t>Cross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platform</a:t>
            </a:r>
            <a:endParaRPr sz="3100">
              <a:latin typeface="Arial MT"/>
              <a:cs typeface="Arial MT"/>
            </a:endParaRPr>
          </a:p>
          <a:p>
            <a:pPr marL="469265" indent="-431165">
              <a:lnSpc>
                <a:spcPct val="100000"/>
              </a:lnSpc>
              <a:spcBef>
                <a:spcPts val="1939"/>
              </a:spcBef>
              <a:buSzPct val="145161"/>
              <a:buChar char="•"/>
              <a:tabLst>
                <a:tab pos="469265" algn="l"/>
              </a:tabLst>
            </a:pPr>
            <a:r>
              <a:rPr sz="3100" spc="-20" dirty="0">
                <a:latin typeface="Arial MT"/>
                <a:cs typeface="Arial MT"/>
              </a:rPr>
              <a:t>Fast</a:t>
            </a:r>
            <a:endParaRPr sz="3100">
              <a:latin typeface="Arial MT"/>
              <a:cs typeface="Arial MT"/>
            </a:endParaRPr>
          </a:p>
          <a:p>
            <a:pPr marL="469265" marR="30480" indent="-431800">
              <a:lnSpc>
                <a:spcPts val="5660"/>
              </a:lnSpc>
              <a:spcBef>
                <a:spcPts val="505"/>
              </a:spcBef>
              <a:buSzPct val="145161"/>
              <a:buChar char="•"/>
              <a:tabLst>
                <a:tab pos="469265" algn="l"/>
              </a:tabLst>
            </a:pPr>
            <a:r>
              <a:rPr sz="3100" dirty="0">
                <a:latin typeface="Arial MT"/>
                <a:cs typeface="Arial MT"/>
              </a:rPr>
              <a:t>Stored</a:t>
            </a:r>
            <a:r>
              <a:rPr sz="3100" spc="1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procedures</a:t>
            </a:r>
            <a:r>
              <a:rPr sz="3100" spc="1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and</a:t>
            </a:r>
            <a:r>
              <a:rPr sz="3100" spc="1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functions</a:t>
            </a:r>
            <a:r>
              <a:rPr sz="3100" spc="1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in</a:t>
            </a:r>
            <a:r>
              <a:rPr sz="3100" spc="10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numerous </a:t>
            </a:r>
            <a:r>
              <a:rPr sz="3100" dirty="0">
                <a:latin typeface="Arial MT"/>
                <a:cs typeface="Arial MT"/>
              </a:rPr>
              <a:t>programming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languages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(C, </a:t>
            </a:r>
            <a:r>
              <a:rPr sz="3100" dirty="0">
                <a:latin typeface="Arial MT"/>
                <a:cs typeface="Arial MT"/>
              </a:rPr>
              <a:t>SQL,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Python,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JS,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Ruby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etc.)</a:t>
            </a:r>
            <a:endParaRPr sz="3100">
              <a:latin typeface="Arial MT"/>
              <a:cs typeface="Arial MT"/>
            </a:endParaRPr>
          </a:p>
          <a:p>
            <a:pPr marL="469265" indent="-431165">
              <a:lnSpc>
                <a:spcPct val="100000"/>
              </a:lnSpc>
              <a:spcBef>
                <a:spcPts val="1425"/>
              </a:spcBef>
              <a:buSzPct val="145161"/>
              <a:buChar char="•"/>
              <a:tabLst>
                <a:tab pos="469265" algn="l"/>
              </a:tabLst>
            </a:pPr>
            <a:r>
              <a:rPr sz="3100" dirty="0">
                <a:latin typeface="Arial MT"/>
                <a:cs typeface="Arial MT"/>
              </a:rPr>
              <a:t>Large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number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spc="50" dirty="0">
                <a:latin typeface="Arial MT"/>
                <a:cs typeface="Arial MT"/>
              </a:rPr>
              <a:t>of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data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types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and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define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your</a:t>
            </a:r>
            <a:r>
              <a:rPr sz="3100" spc="40" dirty="0">
                <a:latin typeface="Arial MT"/>
                <a:cs typeface="Arial MT"/>
              </a:rPr>
              <a:t> </a:t>
            </a:r>
            <a:r>
              <a:rPr sz="3100" spc="30" dirty="0">
                <a:latin typeface="Arial MT"/>
                <a:cs typeface="Arial MT"/>
              </a:rPr>
              <a:t>own</a:t>
            </a:r>
            <a:endParaRPr sz="3100">
              <a:latin typeface="Arial MT"/>
              <a:cs typeface="Arial MT"/>
            </a:endParaRPr>
          </a:p>
          <a:p>
            <a:pPr marL="469265" indent="-431165">
              <a:lnSpc>
                <a:spcPct val="100000"/>
              </a:lnSpc>
              <a:spcBef>
                <a:spcPts val="1935"/>
              </a:spcBef>
              <a:buSzPct val="145161"/>
              <a:buChar char="•"/>
              <a:tabLst>
                <a:tab pos="469265" algn="l"/>
              </a:tabLst>
            </a:pPr>
            <a:r>
              <a:rPr sz="3100" spc="-10" dirty="0">
                <a:latin typeface="Arial MT"/>
                <a:cs typeface="Arial MT"/>
              </a:rPr>
              <a:t>NoSQL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3092" y="939113"/>
            <a:ext cx="547878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85" dirty="0"/>
              <a:t>Management</a:t>
            </a:r>
            <a:r>
              <a:rPr sz="4900" spc="5" dirty="0"/>
              <a:t> </a:t>
            </a:r>
            <a:r>
              <a:rPr sz="4900" spc="-465" dirty="0"/>
              <a:t>T</a:t>
            </a:r>
            <a:r>
              <a:rPr sz="4900" spc="100" dirty="0"/>
              <a:t>ools</a:t>
            </a:r>
            <a:endParaRPr sz="4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6856" y="3384059"/>
            <a:ext cx="5461000" cy="16891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2700" y="3000931"/>
            <a:ext cx="3333115" cy="31654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51815" indent="-513715">
              <a:lnSpc>
                <a:spcPct val="100000"/>
              </a:lnSpc>
              <a:spcBef>
                <a:spcPts val="405"/>
              </a:spcBef>
              <a:buSzPct val="144594"/>
              <a:buChar char="•"/>
              <a:tabLst>
                <a:tab pos="551815" algn="l"/>
              </a:tabLst>
            </a:pPr>
            <a:r>
              <a:rPr sz="3700" spc="30" dirty="0">
                <a:solidFill>
                  <a:srgbClr val="EE220C"/>
                </a:solidFill>
                <a:latin typeface="Arial MT"/>
                <a:cs typeface="Arial MT"/>
              </a:rPr>
              <a:t>psql</a:t>
            </a:r>
            <a:endParaRPr sz="3700">
              <a:latin typeface="Arial MT"/>
              <a:cs typeface="Arial MT"/>
            </a:endParaRPr>
          </a:p>
          <a:p>
            <a:pPr marL="551815" indent="-513715">
              <a:lnSpc>
                <a:spcPct val="100000"/>
              </a:lnSpc>
              <a:spcBef>
                <a:spcPts val="2105"/>
              </a:spcBef>
              <a:buSzPct val="144594"/>
              <a:buChar char="•"/>
              <a:tabLst>
                <a:tab pos="551815" algn="l"/>
              </a:tabLst>
            </a:pPr>
            <a:r>
              <a:rPr sz="3700" spc="-10" dirty="0">
                <a:solidFill>
                  <a:srgbClr val="EE220C"/>
                </a:solidFill>
                <a:latin typeface="Arial MT"/>
                <a:cs typeface="Arial MT"/>
              </a:rPr>
              <a:t>DataGrip</a:t>
            </a:r>
            <a:endParaRPr sz="3700">
              <a:latin typeface="Arial MT"/>
              <a:cs typeface="Arial MT"/>
            </a:endParaRPr>
          </a:p>
          <a:p>
            <a:pPr marL="551815" indent="-513715">
              <a:lnSpc>
                <a:spcPct val="100000"/>
              </a:lnSpc>
              <a:spcBef>
                <a:spcPts val="2110"/>
              </a:spcBef>
              <a:buSzPct val="144594"/>
              <a:buChar char="•"/>
              <a:tabLst>
                <a:tab pos="551815" algn="l"/>
              </a:tabLst>
            </a:pPr>
            <a:r>
              <a:rPr sz="3700" spc="-10" dirty="0">
                <a:latin typeface="Arial MT"/>
                <a:cs typeface="Arial MT"/>
              </a:rPr>
              <a:t>phpPgAdmin</a:t>
            </a:r>
            <a:endParaRPr sz="3700">
              <a:latin typeface="Arial MT"/>
              <a:cs typeface="Arial MT"/>
            </a:endParaRPr>
          </a:p>
          <a:p>
            <a:pPr marL="551815" indent="-513715">
              <a:lnSpc>
                <a:spcPct val="100000"/>
              </a:lnSpc>
              <a:spcBef>
                <a:spcPts val="2110"/>
              </a:spcBef>
              <a:buSzPct val="144594"/>
              <a:buChar char="•"/>
              <a:tabLst>
                <a:tab pos="551815" algn="l"/>
              </a:tabLst>
            </a:pPr>
            <a:r>
              <a:rPr sz="3700" spc="-10" dirty="0">
                <a:latin typeface="Arial MT"/>
                <a:cs typeface="Arial MT"/>
              </a:rPr>
              <a:t>pgAdmin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000" y="939113"/>
            <a:ext cx="125920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155" dirty="0"/>
              <a:t>psql</a:t>
            </a:r>
            <a:endParaRPr sz="4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7757" y="3245055"/>
            <a:ext cx="8569285" cy="499068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56301" y="939113"/>
            <a:ext cx="249237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80" dirty="0"/>
              <a:t>Datagrip</a:t>
            </a:r>
            <a:endParaRPr sz="4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168" y="2335880"/>
            <a:ext cx="10894462" cy="680903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1768" y="939113"/>
            <a:ext cx="7461884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Where</a:t>
            </a:r>
            <a:r>
              <a:rPr sz="4900" spc="5" dirty="0"/>
              <a:t> </a:t>
            </a:r>
            <a:r>
              <a:rPr sz="4900" spc="220" dirty="0"/>
              <a:t>to</a:t>
            </a:r>
            <a:r>
              <a:rPr sz="4900" spc="5" dirty="0"/>
              <a:t> </a:t>
            </a:r>
            <a:r>
              <a:rPr sz="4900" spc="50" dirty="0"/>
              <a:t>Get</a:t>
            </a:r>
            <a:r>
              <a:rPr sz="4900" spc="5" dirty="0"/>
              <a:t> </a:t>
            </a:r>
            <a:r>
              <a:rPr sz="4900" spc="-10" dirty="0"/>
              <a:t>PostgreSQL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308100" y="3998587"/>
            <a:ext cx="10382250" cy="296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00"/>
              </a:spcBef>
              <a:buSzPct val="144444"/>
              <a:buChar char="•"/>
              <a:tabLst>
                <a:tab pos="387350" algn="l"/>
              </a:tabLst>
            </a:pPr>
            <a:r>
              <a:rPr sz="27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https://www.postgresql.org/download/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Font typeface="Arial MT"/>
              <a:buChar char="•"/>
            </a:pPr>
            <a:endParaRPr sz="2700">
              <a:latin typeface="Arial MT"/>
              <a:cs typeface="Arial MT"/>
            </a:endParaRPr>
          </a:p>
          <a:p>
            <a:pPr marL="387350" indent="-374650">
              <a:lnSpc>
                <a:spcPct val="100000"/>
              </a:lnSpc>
              <a:buSzPct val="144444"/>
              <a:buChar char="•"/>
              <a:tabLst>
                <a:tab pos="387350" algn="l"/>
              </a:tabLst>
            </a:pPr>
            <a:r>
              <a:rPr sz="27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3"/>
              </a:rPr>
              <a:t>https://www.jetbrains.com/datagrip/download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Font typeface="Arial MT"/>
              <a:buChar char="•"/>
            </a:pPr>
            <a:endParaRPr sz="2700">
              <a:latin typeface="Arial MT"/>
              <a:cs typeface="Arial MT"/>
            </a:endParaRPr>
          </a:p>
          <a:p>
            <a:pPr marL="387350" indent="-374650">
              <a:lnSpc>
                <a:spcPct val="100000"/>
              </a:lnSpc>
              <a:buSzPct val="144444"/>
              <a:buChar char="•"/>
              <a:tabLst>
                <a:tab pos="387350" algn="l"/>
              </a:tabLst>
            </a:pPr>
            <a:r>
              <a:rPr sz="27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https://www.jetbrains.com/ru-</a:t>
            </a:r>
            <a:r>
              <a:rPr sz="27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ru/community/education/#students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1487</Words>
  <Application>Microsoft Macintosh PowerPoint</Application>
  <PresentationFormat>Другой</PresentationFormat>
  <Paragraphs>252</Paragraphs>
  <Slides>39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Office Theme</vt:lpstr>
      <vt:lpstr>Lecture 1. Introduction to Databases</vt:lpstr>
      <vt:lpstr>Database Applications Examples</vt:lpstr>
      <vt:lpstr>Database Applications Examples (Cont.)</vt:lpstr>
      <vt:lpstr>Purpose of Database Systems</vt:lpstr>
      <vt:lpstr>Purpose of Database Systems (Cont.)</vt:lpstr>
      <vt:lpstr>University Database Example</vt:lpstr>
      <vt:lpstr>A database is nothing more than a set of related information</vt:lpstr>
      <vt:lpstr>View of Data</vt:lpstr>
      <vt:lpstr>Data Models</vt:lpstr>
      <vt:lpstr>The Relational Model</vt:lpstr>
      <vt:lpstr>The Relational Model</vt:lpstr>
      <vt:lpstr>Relational Model</vt:lpstr>
      <vt:lpstr>Relational Model</vt:lpstr>
      <vt:lpstr>Levels of Abstraction</vt:lpstr>
      <vt:lpstr>Levels of Abstraction</vt:lpstr>
      <vt:lpstr>Instances and Schemas</vt:lpstr>
      <vt:lpstr>Physical Data Independence</vt:lpstr>
      <vt:lpstr>Data Definition Language (DDL)</vt:lpstr>
      <vt:lpstr>Data Definition Language (DDL)</vt:lpstr>
      <vt:lpstr>Data Manipulation Language (DML)</vt:lpstr>
      <vt:lpstr>Data Manipulation Language (DML)</vt:lpstr>
      <vt:lpstr>Retrieve inserted row</vt:lpstr>
      <vt:lpstr>SQL Query Language</vt:lpstr>
      <vt:lpstr>Database Access from Application Program</vt:lpstr>
      <vt:lpstr>Database Design</vt:lpstr>
      <vt:lpstr>Database Engine</vt:lpstr>
      <vt:lpstr>Storage Manager</vt:lpstr>
      <vt:lpstr>Storage Manager (Cont.)</vt:lpstr>
      <vt:lpstr>Query Processor</vt:lpstr>
      <vt:lpstr>Query Processing</vt:lpstr>
      <vt:lpstr>Transaction Management</vt:lpstr>
      <vt:lpstr>SQL transaction statements</vt:lpstr>
      <vt:lpstr>DBMS (Database Management System)</vt:lpstr>
      <vt:lpstr>Why PostgreSQL?</vt:lpstr>
      <vt:lpstr>Why PostgreSQL?</vt:lpstr>
      <vt:lpstr>Management Tools</vt:lpstr>
      <vt:lpstr>psql</vt:lpstr>
      <vt:lpstr>Datagrip</vt:lpstr>
      <vt:lpstr>Where to Get PostgreSQL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Lecture1</dc:title>
  <cp:lastModifiedBy>Assel Syrymbayeva</cp:lastModifiedBy>
  <cp:revision>1</cp:revision>
  <dcterms:created xsi:type="dcterms:W3CDTF">2025-09-01T20:16:24Z</dcterms:created>
  <dcterms:modified xsi:type="dcterms:W3CDTF">2025-09-01T20:18:58Z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2021-09-02T00:00:00Z</vt:filetime>
  </property>
  <property fmtid="{D5CDD505-2E9C-101B-9397-08002B2CF9AE}" pid="3" name="Creator">
    <vt:lpwstr>Keynote</vt:lpwstr>
  </property>
  <property fmtid="{D5CDD505-2E9C-101B-9397-08002B2CF9AE}" pid="4" name="LastSaved">
    <vt:filetime>2025-09-01T00:00:00Z</vt:filetime>
  </property>
  <property fmtid="{D5CDD505-2E9C-101B-9397-08002B2CF9AE}" pid="5" name="Producer">
    <vt:lpwstr>macOS Версия 11.2.2 (Выпуск 20D80) Quartz PDFContext</vt:lpwstr>
  </property>
</Properties>
</file>