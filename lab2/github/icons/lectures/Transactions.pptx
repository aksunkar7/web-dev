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9" r:id="rId6"/>
    <p:sldId id="285" r:id="rId7"/>
    <p:sldId id="260" r:id="rId8"/>
    <p:sldId id="274" r:id="rId9"/>
    <p:sldId id="275" r:id="rId10"/>
    <p:sldId id="276" r:id="rId11"/>
    <p:sldId id="277" r:id="rId12"/>
    <p:sldId id="279" r:id="rId13"/>
    <p:sldId id="290" r:id="rId14"/>
    <p:sldId id="287" r:id="rId15"/>
    <p:sldId id="286" r:id="rId16"/>
    <p:sldId id="272" r:id="rId17"/>
    <p:sldId id="261" r:id="rId18"/>
    <p:sldId id="291" r:id="rId19"/>
    <p:sldId id="292" r:id="rId20"/>
    <p:sldId id="262" r:id="rId21"/>
    <p:sldId id="263" r:id="rId22"/>
    <p:sldId id="264" r:id="rId23"/>
    <p:sldId id="288" r:id="rId24"/>
    <p:sldId id="283" r:id="rId25"/>
    <p:sldId id="265" r:id="rId26"/>
    <p:sldId id="281" r:id="rId27"/>
    <p:sldId id="282" r:id="rId28"/>
    <p:sldId id="284" r:id="rId29"/>
  </p:sldIdLst>
  <p:sldSz cx="12192000" cy="6858000"/>
  <p:notesSz cx="12192000" cy="6858000"/>
  <p:defaultText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2BD473-FA91-A523-25D3-DF2F40A36478}" v="1" dt="2024-12-23T19:57:46.613"/>
    <p1510:client id="{E42053B6-DFAE-55EB-BA90-655220C3FADE}" v="1" dt="2024-12-22T07:52:36.09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7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533985" y="1014476"/>
            <a:ext cx="5124028" cy="57404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12221" y="725931"/>
            <a:ext cx="2567556" cy="635000"/>
          </a:xfrm>
          <a:prstGeom prst="rect">
            <a:avLst/>
          </a:prstGeom>
        </p:spPr>
        <p:txBody>
          <a:bodyPr wrap="square" lIns="0" tIns="0" rIns="0" bIns="0">
            <a:spAutoFit/>
          </a:bodyPr>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a:xfrm>
            <a:off x="916939" y="1795779"/>
            <a:ext cx="10358120" cy="3259454"/>
          </a:xfrm>
          <a:prstGeom prst="rect">
            <a:avLst/>
          </a:prstGeom>
        </p:spPr>
        <p:txBody>
          <a:bodyPr wrap="square" lIns="0" tIns="0" rIns="0" bIns="0">
            <a:spAutoFit/>
          </a:bodyPr>
          <a:lstStyle>
            <a:lvl1pPr>
              <a:defRPr sz="2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916940" y="2419893"/>
            <a:ext cx="10358120" cy="948978"/>
          </a:xfrm>
          <a:prstGeom prst="rect">
            <a:avLst/>
          </a:prstGeom>
        </p:spPr>
        <p:txBody>
          <a:bodyPr vert="horz" wrap="square" lIns="0" tIns="114300" rIns="0" bIns="0" rtlCol="0">
            <a:spAutoFit/>
          </a:bodyPr>
          <a:lstStyle/>
          <a:p>
            <a:pPr marL="3886835" marR="5080" indent="-2081530" algn="l">
              <a:lnSpc>
                <a:spcPts val="6500"/>
              </a:lnSpc>
              <a:spcBef>
                <a:spcPts val="900"/>
              </a:spcBef>
            </a:pPr>
            <a:r>
              <a:rPr lang="en-US" sz="6000" b="1" spc="-35">
                <a:latin typeface="Arial"/>
                <a:cs typeface="Arial"/>
              </a:rPr>
              <a:t>     </a:t>
            </a:r>
            <a:r>
              <a:rPr sz="6000" b="1" spc="-35">
                <a:latin typeface="Arial"/>
                <a:cs typeface="Arial"/>
              </a:rPr>
              <a:t>Transaction</a:t>
            </a:r>
            <a:r>
              <a:rPr lang="en-US" sz="6000" b="1" spc="-35">
                <a:latin typeface="Arial"/>
                <a:cs typeface="Arial"/>
              </a:rPr>
              <a:t>s</a:t>
            </a:r>
            <a:endParaRPr sz="60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6539230" cy="695960"/>
          </a:xfrm>
          <a:prstGeom prst="rect">
            <a:avLst/>
          </a:prstGeom>
        </p:spPr>
        <p:txBody>
          <a:bodyPr vert="horz" wrap="square" lIns="0" tIns="12700" rIns="0" bIns="0" rtlCol="0">
            <a:spAutoFit/>
          </a:bodyPr>
          <a:lstStyle/>
          <a:p>
            <a:pPr marL="12700">
              <a:lnSpc>
                <a:spcPct val="100000"/>
              </a:lnSpc>
              <a:spcBef>
                <a:spcPts val="100"/>
              </a:spcBef>
            </a:pPr>
            <a:r>
              <a:rPr sz="4400" spc="-5"/>
              <a:t>PostgreSQL</a:t>
            </a:r>
            <a:r>
              <a:rPr sz="4400" spc="-120"/>
              <a:t> </a:t>
            </a:r>
            <a:r>
              <a:rPr sz="4400" spc="-25"/>
              <a:t>Transaction</a:t>
            </a:r>
            <a:endParaRPr sz="4400"/>
          </a:p>
        </p:txBody>
      </p:sp>
      <p:sp>
        <p:nvSpPr>
          <p:cNvPr id="3" name="object 3"/>
          <p:cNvSpPr txBox="1"/>
          <p:nvPr/>
        </p:nvSpPr>
        <p:spPr>
          <a:xfrm>
            <a:off x="916939" y="1805186"/>
            <a:ext cx="9980930" cy="4415055"/>
          </a:xfrm>
          <a:prstGeom prst="rect">
            <a:avLst/>
          </a:prstGeom>
        </p:spPr>
        <p:txBody>
          <a:bodyPr vert="horz" wrap="square" lIns="0" tIns="63500" rIns="0" bIns="0" rtlCol="0" anchor="t">
            <a:spAutoFit/>
          </a:bodyPr>
          <a:lstStyle/>
          <a:p>
            <a:pPr marL="12700" marR="5080" algn="just">
              <a:lnSpc>
                <a:spcPts val="3000"/>
              </a:lnSpc>
              <a:spcBef>
                <a:spcPts val="500"/>
              </a:spcBef>
            </a:pPr>
            <a:r>
              <a:rPr sz="2800">
                <a:latin typeface="Arial MT"/>
                <a:cs typeface="Arial MT"/>
              </a:rPr>
              <a:t>A</a:t>
            </a:r>
            <a:r>
              <a:rPr sz="2800" spc="-170">
                <a:latin typeface="Arial MT"/>
                <a:cs typeface="Arial MT"/>
              </a:rPr>
              <a:t> </a:t>
            </a:r>
            <a:r>
              <a:rPr sz="2800" b="1">
                <a:latin typeface="Arial"/>
                <a:cs typeface="Arial"/>
              </a:rPr>
              <a:t>database </a:t>
            </a:r>
            <a:r>
              <a:rPr sz="2800" b="1" spc="-5">
                <a:latin typeface="Arial"/>
                <a:cs typeface="Arial"/>
              </a:rPr>
              <a:t>transaction</a:t>
            </a:r>
            <a:r>
              <a:rPr sz="2800" b="1" spc="5">
                <a:latin typeface="Arial"/>
                <a:cs typeface="Arial"/>
              </a:rPr>
              <a:t> </a:t>
            </a:r>
            <a:r>
              <a:rPr sz="2800">
                <a:latin typeface="Arial MT"/>
                <a:cs typeface="Arial MT"/>
              </a:rPr>
              <a:t>is</a:t>
            </a:r>
            <a:r>
              <a:rPr sz="2800" spc="-5">
                <a:latin typeface="Arial MT"/>
                <a:cs typeface="Arial MT"/>
              </a:rPr>
              <a:t> </a:t>
            </a:r>
            <a:r>
              <a:rPr sz="2800">
                <a:latin typeface="Arial MT"/>
                <a:cs typeface="Arial MT"/>
              </a:rPr>
              <a:t>a single unit</a:t>
            </a:r>
            <a:r>
              <a:rPr sz="2800" spc="-10">
                <a:latin typeface="Arial MT"/>
                <a:cs typeface="Arial MT"/>
              </a:rPr>
              <a:t> </a:t>
            </a:r>
            <a:r>
              <a:rPr sz="2800">
                <a:latin typeface="Arial MT"/>
                <a:cs typeface="Arial MT"/>
              </a:rPr>
              <a:t>of</a:t>
            </a:r>
            <a:r>
              <a:rPr sz="2800" spc="-10">
                <a:latin typeface="Arial MT"/>
                <a:cs typeface="Arial MT"/>
              </a:rPr>
              <a:t> </a:t>
            </a:r>
            <a:r>
              <a:rPr sz="2800">
                <a:latin typeface="Arial MT"/>
                <a:cs typeface="Arial MT"/>
              </a:rPr>
              <a:t>work</a:t>
            </a:r>
            <a:r>
              <a:rPr sz="2800" spc="-5">
                <a:latin typeface="Arial MT"/>
                <a:cs typeface="Arial MT"/>
              </a:rPr>
              <a:t> </a:t>
            </a:r>
            <a:r>
              <a:rPr sz="2800">
                <a:latin typeface="Arial MT"/>
                <a:cs typeface="Arial MT"/>
              </a:rPr>
              <a:t>that</a:t>
            </a:r>
            <a:r>
              <a:rPr sz="2800" spc="-10">
                <a:latin typeface="Arial MT"/>
                <a:cs typeface="Arial MT"/>
              </a:rPr>
              <a:t> </a:t>
            </a:r>
            <a:r>
              <a:rPr sz="2800">
                <a:latin typeface="Arial MT"/>
                <a:cs typeface="Arial MT"/>
              </a:rPr>
              <a:t>consists</a:t>
            </a:r>
            <a:r>
              <a:rPr sz="2800" spc="-5">
                <a:latin typeface="Arial MT"/>
                <a:cs typeface="Arial MT"/>
              </a:rPr>
              <a:t> </a:t>
            </a:r>
            <a:r>
              <a:rPr sz="2800">
                <a:latin typeface="Arial MT"/>
                <a:cs typeface="Arial MT"/>
              </a:rPr>
              <a:t>of </a:t>
            </a:r>
            <a:r>
              <a:rPr sz="2800" spc="-765">
                <a:latin typeface="Arial MT"/>
                <a:cs typeface="Arial MT"/>
              </a:rPr>
              <a:t> </a:t>
            </a:r>
            <a:r>
              <a:rPr sz="2800">
                <a:latin typeface="Arial MT"/>
                <a:cs typeface="Arial MT"/>
              </a:rPr>
              <a:t>one</a:t>
            </a:r>
            <a:r>
              <a:rPr sz="2800" spc="-5">
                <a:latin typeface="Arial MT"/>
                <a:cs typeface="Arial MT"/>
              </a:rPr>
              <a:t> </a:t>
            </a:r>
            <a:r>
              <a:rPr sz="2800">
                <a:latin typeface="Arial MT"/>
                <a:cs typeface="Arial MT"/>
              </a:rPr>
              <a:t>or more operations.</a:t>
            </a:r>
          </a:p>
          <a:p>
            <a:pPr algn="just">
              <a:lnSpc>
                <a:spcPct val="100000"/>
              </a:lnSpc>
            </a:pPr>
            <a:endParaRPr sz="2800">
              <a:latin typeface="Times New Roman"/>
              <a:ea typeface="Arial Unicode MS"/>
              <a:cs typeface="Arial MT"/>
            </a:endParaRPr>
          </a:p>
          <a:p>
            <a:pPr marL="12700" marR="19685" algn="just">
              <a:lnSpc>
                <a:spcPct val="90200"/>
              </a:lnSpc>
              <a:spcBef>
                <a:spcPts val="1700"/>
              </a:spcBef>
            </a:pPr>
            <a:r>
              <a:rPr sz="2800">
                <a:latin typeface="Arial MT"/>
                <a:cs typeface="Arial MT"/>
              </a:rPr>
              <a:t>A </a:t>
            </a:r>
            <a:r>
              <a:rPr sz="2800" b="1">
                <a:latin typeface="Arial"/>
                <a:cs typeface="Arial"/>
              </a:rPr>
              <a:t>database </a:t>
            </a:r>
            <a:r>
              <a:rPr sz="2800" b="1" spc="-5">
                <a:latin typeface="Arial"/>
                <a:cs typeface="Arial"/>
              </a:rPr>
              <a:t>transaction </a:t>
            </a:r>
            <a:r>
              <a:rPr sz="2800">
                <a:latin typeface="Arial MT"/>
                <a:cs typeface="Arial MT"/>
              </a:rPr>
              <a:t>is a collection of </a:t>
            </a:r>
            <a:r>
              <a:rPr sz="2800" spc="-5">
                <a:latin typeface="Arial MT"/>
                <a:cs typeface="Arial MT"/>
              </a:rPr>
              <a:t>SQL </a:t>
            </a:r>
            <a:r>
              <a:rPr sz="2800">
                <a:latin typeface="Arial MT"/>
                <a:cs typeface="Arial MT"/>
              </a:rPr>
              <a:t>queries that are </a:t>
            </a:r>
            <a:r>
              <a:rPr sz="2800" spc="-765">
                <a:latin typeface="Arial MT"/>
                <a:cs typeface="Arial MT"/>
              </a:rPr>
              <a:t> </a:t>
            </a:r>
            <a:r>
              <a:rPr sz="2800">
                <a:latin typeface="Arial MT"/>
                <a:cs typeface="Arial MT"/>
              </a:rPr>
              <a:t>treated as</a:t>
            </a:r>
            <a:r>
              <a:rPr sz="2800" spc="-5">
                <a:latin typeface="Arial MT"/>
                <a:cs typeface="Arial MT"/>
              </a:rPr>
              <a:t> </a:t>
            </a:r>
            <a:r>
              <a:rPr sz="2800">
                <a:latin typeface="Arial MT"/>
                <a:cs typeface="Arial MT"/>
              </a:rPr>
              <a:t>one</a:t>
            </a:r>
            <a:r>
              <a:rPr sz="2800" spc="5">
                <a:latin typeface="Arial MT"/>
                <a:cs typeface="Arial MT"/>
              </a:rPr>
              <a:t> </a:t>
            </a:r>
            <a:r>
              <a:rPr sz="2800">
                <a:latin typeface="Arial MT"/>
                <a:cs typeface="Arial MT"/>
              </a:rPr>
              <a:t>unit</a:t>
            </a:r>
            <a:r>
              <a:rPr sz="2800" spc="-10">
                <a:latin typeface="Arial MT"/>
                <a:cs typeface="Arial MT"/>
              </a:rPr>
              <a:t> </a:t>
            </a:r>
            <a:r>
              <a:rPr sz="2800">
                <a:latin typeface="Arial MT"/>
                <a:cs typeface="Arial MT"/>
              </a:rPr>
              <a:t>of</a:t>
            </a:r>
            <a:r>
              <a:rPr sz="2800" spc="-5">
                <a:latin typeface="Arial MT"/>
                <a:cs typeface="Arial MT"/>
              </a:rPr>
              <a:t> </a:t>
            </a:r>
            <a:r>
              <a:rPr sz="2800">
                <a:latin typeface="Arial MT"/>
                <a:cs typeface="Arial MT"/>
              </a:rPr>
              <a:t>work.</a:t>
            </a:r>
            <a:r>
              <a:rPr sz="2800" spc="-10">
                <a:latin typeface="Arial MT"/>
                <a:cs typeface="Arial MT"/>
              </a:rPr>
              <a:t> </a:t>
            </a:r>
            <a:r>
              <a:rPr sz="2800" spc="-25">
                <a:latin typeface="Arial MT"/>
                <a:cs typeface="Arial MT"/>
              </a:rPr>
              <a:t>Basically,</a:t>
            </a:r>
            <a:r>
              <a:rPr sz="2800" spc="-5">
                <a:latin typeface="Arial MT"/>
                <a:cs typeface="Arial MT"/>
              </a:rPr>
              <a:t> </a:t>
            </a:r>
            <a:r>
              <a:rPr sz="2800">
                <a:latin typeface="Arial MT"/>
                <a:cs typeface="Arial MT"/>
              </a:rPr>
              <a:t>you begin</a:t>
            </a:r>
            <a:r>
              <a:rPr sz="2800" spc="5">
                <a:latin typeface="Arial MT"/>
                <a:cs typeface="Arial MT"/>
              </a:rPr>
              <a:t> </a:t>
            </a:r>
            <a:r>
              <a:rPr sz="2800">
                <a:latin typeface="Arial MT"/>
                <a:cs typeface="Arial MT"/>
              </a:rPr>
              <a:t>a transaction </a:t>
            </a:r>
            <a:r>
              <a:rPr sz="2800" spc="5">
                <a:latin typeface="Arial MT"/>
                <a:cs typeface="Arial MT"/>
              </a:rPr>
              <a:t> </a:t>
            </a:r>
            <a:r>
              <a:rPr sz="2800">
                <a:latin typeface="Arial MT"/>
                <a:cs typeface="Arial MT"/>
              </a:rPr>
              <a:t>and then do some queries, and then end the transaction, this is </a:t>
            </a:r>
            <a:r>
              <a:rPr sz="2800" spc="-765">
                <a:latin typeface="Arial MT"/>
                <a:cs typeface="Arial MT"/>
              </a:rPr>
              <a:t> </a:t>
            </a:r>
            <a:r>
              <a:rPr sz="2800">
                <a:latin typeface="Arial MT"/>
                <a:cs typeface="Arial MT"/>
              </a:rPr>
              <a:t>one</a:t>
            </a:r>
            <a:r>
              <a:rPr sz="2800" spc="-5">
                <a:latin typeface="Arial MT"/>
                <a:cs typeface="Arial MT"/>
              </a:rPr>
              <a:t> </a:t>
            </a:r>
            <a:r>
              <a:rPr sz="2800">
                <a:latin typeface="Arial MT"/>
                <a:cs typeface="Arial MT"/>
              </a:rPr>
              <a:t>unit</a:t>
            </a:r>
            <a:r>
              <a:rPr sz="2800" spc="-10">
                <a:latin typeface="Arial MT"/>
                <a:cs typeface="Arial MT"/>
              </a:rPr>
              <a:t> </a:t>
            </a:r>
            <a:r>
              <a:rPr sz="2800">
                <a:latin typeface="Arial MT"/>
                <a:cs typeface="Arial MT"/>
              </a:rPr>
              <a:t>of</a:t>
            </a:r>
            <a:r>
              <a:rPr sz="2800" spc="-10">
                <a:latin typeface="Arial MT"/>
                <a:cs typeface="Arial MT"/>
              </a:rPr>
              <a:t> </a:t>
            </a:r>
            <a:r>
              <a:rPr sz="2800">
                <a:latin typeface="Arial MT"/>
                <a:cs typeface="Arial MT"/>
              </a:rPr>
              <a:t>work.</a:t>
            </a:r>
            <a:endParaRPr lang="en-US" sz="2800">
              <a:latin typeface="Arial MT"/>
              <a:cs typeface="Arial MT"/>
            </a:endParaRPr>
          </a:p>
          <a:p>
            <a:pPr marL="12700" marR="19685" algn="just">
              <a:lnSpc>
                <a:spcPct val="90200"/>
              </a:lnSpc>
              <a:spcBef>
                <a:spcPts val="1700"/>
              </a:spcBef>
            </a:pPr>
            <a:r>
              <a:rPr lang="en-US" sz="2800"/>
              <a:t>PostgreSQL transactions adhere to the ACID principles (Atomicity, Consistency, Isolation, and Durability) to manage concurrent access and prevent data corruption.</a:t>
            </a:r>
            <a:endParaRPr sz="2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74F525-2EC5-CEF1-F7E2-DBFC8A0D49FB}"/>
              </a:ext>
            </a:extLst>
          </p:cNvPr>
          <p:cNvSpPr>
            <a:spLocks noGrp="1"/>
          </p:cNvSpPr>
          <p:nvPr>
            <p:ph type="title"/>
          </p:nvPr>
        </p:nvSpPr>
        <p:spPr>
          <a:xfrm>
            <a:off x="1259840" y="715771"/>
            <a:ext cx="9067800" cy="874269"/>
          </a:xfrm>
        </p:spPr>
        <p:txBody>
          <a:bodyPr/>
          <a:lstStyle/>
          <a:p>
            <a:r>
              <a:rPr lang="en-US"/>
              <a:t>When to Use Transactions</a:t>
            </a:r>
            <a:endParaRPr lang="ru-KZ"/>
          </a:p>
        </p:txBody>
      </p:sp>
      <p:sp>
        <p:nvSpPr>
          <p:cNvPr id="3" name="Текст 2">
            <a:extLst>
              <a:ext uri="{FF2B5EF4-FFF2-40B4-BE49-F238E27FC236}">
                <a16:creationId xmlns:a16="http://schemas.microsoft.com/office/drawing/2014/main" id="{22F6537B-CA8D-24A5-F30E-E054C9A25338}"/>
              </a:ext>
            </a:extLst>
          </p:cNvPr>
          <p:cNvSpPr>
            <a:spLocks noGrp="1"/>
          </p:cNvSpPr>
          <p:nvPr>
            <p:ph type="body" idx="1"/>
          </p:nvPr>
        </p:nvSpPr>
        <p:spPr>
          <a:xfrm>
            <a:off x="916939" y="1795779"/>
            <a:ext cx="10358120" cy="3447098"/>
          </a:xfrm>
        </p:spPr>
        <p:txBody>
          <a:bodyPr/>
          <a:lstStyle/>
          <a:p>
            <a:r>
              <a:rPr lang="en-US" sz="3200" b="1">
                <a:latin typeface="Times New Roman" panose="02020603050405020304" pitchFamily="18" charset="0"/>
                <a:cs typeface="Times New Roman" panose="02020603050405020304" pitchFamily="18" charset="0"/>
              </a:rPr>
              <a:t>Transactions are most beneficial in scenarios requiring data:</a:t>
            </a:r>
          </a:p>
          <a:p>
            <a:pPr>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Financial applications (banking, e-commerce)</a:t>
            </a:r>
          </a:p>
          <a:p>
            <a:pPr>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Inventory management systems</a:t>
            </a:r>
          </a:p>
          <a:p>
            <a:pPr>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Reservation systems (airlines, hotels)</a:t>
            </a:r>
          </a:p>
          <a:p>
            <a:pPr>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Applications with multi-user access to shared data</a:t>
            </a:r>
          </a:p>
          <a:p>
            <a:endParaRPr lang="ru-KZ"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340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1391285" cy="695960"/>
          </a:xfrm>
          <a:prstGeom prst="rect">
            <a:avLst/>
          </a:prstGeom>
        </p:spPr>
        <p:txBody>
          <a:bodyPr vert="horz" wrap="square" lIns="0" tIns="12700" rIns="0" bIns="0" rtlCol="0">
            <a:spAutoFit/>
          </a:bodyPr>
          <a:lstStyle/>
          <a:p>
            <a:pPr marL="12700">
              <a:lnSpc>
                <a:spcPct val="100000"/>
              </a:lnSpc>
              <a:spcBef>
                <a:spcPts val="100"/>
              </a:spcBef>
            </a:pPr>
            <a:r>
              <a:rPr sz="4400" spc="-5"/>
              <a:t>AC</a:t>
            </a:r>
            <a:r>
              <a:rPr sz="4400"/>
              <a:t>ID</a:t>
            </a:r>
          </a:p>
        </p:txBody>
      </p:sp>
      <p:sp>
        <p:nvSpPr>
          <p:cNvPr id="3" name="object 3"/>
          <p:cNvSpPr txBox="1"/>
          <p:nvPr/>
        </p:nvSpPr>
        <p:spPr>
          <a:xfrm>
            <a:off x="916939" y="1795779"/>
            <a:ext cx="10270490" cy="3512820"/>
          </a:xfrm>
          <a:prstGeom prst="rect">
            <a:avLst/>
          </a:prstGeom>
        </p:spPr>
        <p:txBody>
          <a:bodyPr vert="horz" wrap="square" lIns="0" tIns="63500" rIns="0" bIns="0" rtlCol="0">
            <a:spAutoFit/>
          </a:bodyPr>
          <a:lstStyle/>
          <a:p>
            <a:pPr marL="241300" marR="220345" indent="-228600" algn="just">
              <a:lnSpc>
                <a:spcPts val="3000"/>
              </a:lnSpc>
              <a:spcBef>
                <a:spcPts val="500"/>
              </a:spcBef>
              <a:buFont typeface="Arial MT"/>
              <a:buChar char="•"/>
              <a:tabLst>
                <a:tab pos="241300" algn="l"/>
              </a:tabLst>
            </a:pPr>
            <a:r>
              <a:rPr sz="2800" b="1">
                <a:latin typeface="Arial"/>
                <a:cs typeface="Arial"/>
              </a:rPr>
              <a:t>Atomicity </a:t>
            </a:r>
            <a:r>
              <a:rPr sz="2800">
                <a:latin typeface="Arial MT"/>
                <a:cs typeface="Arial MT"/>
              </a:rPr>
              <a:t>guarantees that the transaction completes in an all- </a:t>
            </a:r>
            <a:r>
              <a:rPr sz="2800" spc="-765">
                <a:latin typeface="Arial MT"/>
                <a:cs typeface="Arial MT"/>
              </a:rPr>
              <a:t> </a:t>
            </a:r>
            <a:r>
              <a:rPr sz="2800">
                <a:latin typeface="Arial MT"/>
                <a:cs typeface="Arial MT"/>
              </a:rPr>
              <a:t>or-nothing</a:t>
            </a:r>
            <a:r>
              <a:rPr sz="2800" spc="-5">
                <a:latin typeface="Arial MT"/>
                <a:cs typeface="Arial MT"/>
              </a:rPr>
              <a:t> </a:t>
            </a:r>
            <a:r>
              <a:rPr sz="2800" spc="-20">
                <a:latin typeface="Arial MT"/>
                <a:cs typeface="Arial MT"/>
              </a:rPr>
              <a:t>manner.</a:t>
            </a:r>
            <a:endParaRPr sz="2800">
              <a:latin typeface="Arial MT"/>
              <a:cs typeface="Arial MT"/>
            </a:endParaRPr>
          </a:p>
          <a:p>
            <a:pPr marL="241300" marR="1349375" indent="-228600" algn="just">
              <a:lnSpc>
                <a:spcPts val="3000"/>
              </a:lnSpc>
              <a:spcBef>
                <a:spcPts val="985"/>
              </a:spcBef>
              <a:buFont typeface="Arial MT"/>
              <a:buChar char="•"/>
              <a:tabLst>
                <a:tab pos="241300" algn="l"/>
              </a:tabLst>
            </a:pPr>
            <a:r>
              <a:rPr sz="2800" b="1">
                <a:latin typeface="Arial"/>
                <a:cs typeface="Arial"/>
              </a:rPr>
              <a:t>Consistency </a:t>
            </a:r>
            <a:r>
              <a:rPr sz="2800">
                <a:latin typeface="Arial MT"/>
                <a:cs typeface="Arial MT"/>
              </a:rPr>
              <a:t>ensures the change </a:t>
            </a:r>
            <a:r>
              <a:rPr sz="2800" spc="-5">
                <a:latin typeface="Arial MT"/>
                <a:cs typeface="Arial MT"/>
              </a:rPr>
              <a:t>to </a:t>
            </a:r>
            <a:r>
              <a:rPr sz="2800">
                <a:latin typeface="Arial MT"/>
                <a:cs typeface="Arial MT"/>
              </a:rPr>
              <a:t>data written </a:t>
            </a:r>
            <a:r>
              <a:rPr sz="2800" spc="-5">
                <a:latin typeface="Arial MT"/>
                <a:cs typeface="Arial MT"/>
              </a:rPr>
              <a:t>to </a:t>
            </a:r>
            <a:r>
              <a:rPr sz="2800">
                <a:latin typeface="Arial MT"/>
                <a:cs typeface="Arial MT"/>
              </a:rPr>
              <a:t>the </a:t>
            </a:r>
            <a:r>
              <a:rPr sz="2800" spc="-765">
                <a:latin typeface="Arial MT"/>
                <a:cs typeface="Arial MT"/>
              </a:rPr>
              <a:t> </a:t>
            </a:r>
            <a:r>
              <a:rPr sz="2800">
                <a:latin typeface="Arial MT"/>
                <a:cs typeface="Arial MT"/>
              </a:rPr>
              <a:t>database must</a:t>
            </a:r>
            <a:r>
              <a:rPr sz="2800" spc="-10">
                <a:latin typeface="Arial MT"/>
                <a:cs typeface="Arial MT"/>
              </a:rPr>
              <a:t> </a:t>
            </a:r>
            <a:r>
              <a:rPr sz="2800">
                <a:latin typeface="Arial MT"/>
                <a:cs typeface="Arial MT"/>
              </a:rPr>
              <a:t>be valid and follow predefined rules.</a:t>
            </a:r>
          </a:p>
          <a:p>
            <a:pPr marL="241300" marR="5080" indent="-228600" algn="just">
              <a:lnSpc>
                <a:spcPts val="3000"/>
              </a:lnSpc>
              <a:spcBef>
                <a:spcPts val="1100"/>
              </a:spcBef>
              <a:buFont typeface="Arial MT"/>
              <a:buChar char="•"/>
              <a:tabLst>
                <a:tab pos="241300" algn="l"/>
              </a:tabLst>
            </a:pPr>
            <a:r>
              <a:rPr sz="2800" b="1">
                <a:latin typeface="Arial"/>
                <a:cs typeface="Arial"/>
              </a:rPr>
              <a:t>Isolation </a:t>
            </a:r>
            <a:r>
              <a:rPr sz="2800">
                <a:latin typeface="Arial MT"/>
                <a:cs typeface="Arial MT"/>
              </a:rPr>
              <a:t>determines how transaction integrity is visible </a:t>
            </a:r>
            <a:r>
              <a:rPr sz="2800" spc="-5">
                <a:latin typeface="Arial MT"/>
                <a:cs typeface="Arial MT"/>
              </a:rPr>
              <a:t>to </a:t>
            </a:r>
            <a:r>
              <a:rPr sz="2800">
                <a:latin typeface="Arial MT"/>
                <a:cs typeface="Arial MT"/>
              </a:rPr>
              <a:t>other </a:t>
            </a:r>
            <a:r>
              <a:rPr sz="2800" spc="-765">
                <a:latin typeface="Arial MT"/>
                <a:cs typeface="Arial MT"/>
              </a:rPr>
              <a:t> </a:t>
            </a:r>
            <a:r>
              <a:rPr sz="2800">
                <a:latin typeface="Arial MT"/>
                <a:cs typeface="Arial MT"/>
              </a:rPr>
              <a:t>transactions.</a:t>
            </a:r>
          </a:p>
          <a:p>
            <a:pPr marL="241300" marR="1273175" indent="-228600" algn="just">
              <a:lnSpc>
                <a:spcPts val="3000"/>
              </a:lnSpc>
              <a:spcBef>
                <a:spcPts val="1010"/>
              </a:spcBef>
              <a:buFont typeface="Arial MT"/>
              <a:buChar char="•"/>
              <a:tabLst>
                <a:tab pos="241300" algn="l"/>
              </a:tabLst>
            </a:pPr>
            <a:r>
              <a:rPr sz="2800" b="1" spc="-5">
                <a:latin typeface="Arial"/>
                <a:cs typeface="Arial"/>
              </a:rPr>
              <a:t>Durability </a:t>
            </a:r>
            <a:r>
              <a:rPr sz="2800">
                <a:latin typeface="Arial MT"/>
                <a:cs typeface="Arial MT"/>
              </a:rPr>
              <a:t>makes sure that transactions that have been </a:t>
            </a:r>
            <a:r>
              <a:rPr sz="2800" spc="-765">
                <a:latin typeface="Arial MT"/>
                <a:cs typeface="Arial MT"/>
              </a:rPr>
              <a:t> </a:t>
            </a:r>
            <a:r>
              <a:rPr sz="2800">
                <a:latin typeface="Arial MT"/>
                <a:cs typeface="Arial MT"/>
              </a:rPr>
              <a:t>committed</a:t>
            </a:r>
            <a:r>
              <a:rPr sz="2800" spc="-10">
                <a:latin typeface="Arial MT"/>
                <a:cs typeface="Arial MT"/>
              </a:rPr>
              <a:t> </a:t>
            </a:r>
            <a:r>
              <a:rPr sz="2800">
                <a:latin typeface="Arial MT"/>
                <a:cs typeface="Arial MT"/>
              </a:rPr>
              <a:t>will</a:t>
            </a:r>
            <a:r>
              <a:rPr sz="2800" spc="-5">
                <a:latin typeface="Arial MT"/>
                <a:cs typeface="Arial MT"/>
              </a:rPr>
              <a:t> </a:t>
            </a:r>
            <a:r>
              <a:rPr sz="2800">
                <a:latin typeface="Arial MT"/>
                <a:cs typeface="Arial MT"/>
              </a:rPr>
              <a:t>be</a:t>
            </a:r>
            <a:r>
              <a:rPr sz="2800" spc="-5">
                <a:latin typeface="Arial MT"/>
                <a:cs typeface="Arial MT"/>
              </a:rPr>
              <a:t> </a:t>
            </a:r>
            <a:r>
              <a:rPr sz="2800">
                <a:latin typeface="Arial MT"/>
                <a:cs typeface="Arial MT"/>
              </a:rPr>
              <a:t>stored</a:t>
            </a:r>
            <a:r>
              <a:rPr sz="2800" spc="-5">
                <a:latin typeface="Arial MT"/>
                <a:cs typeface="Arial MT"/>
              </a:rPr>
              <a:t> </a:t>
            </a:r>
            <a:r>
              <a:rPr sz="2800">
                <a:latin typeface="Arial MT"/>
                <a:cs typeface="Arial MT"/>
              </a:rPr>
              <a:t>in</a:t>
            </a:r>
            <a:r>
              <a:rPr sz="2800" spc="-5">
                <a:latin typeface="Arial MT"/>
                <a:cs typeface="Arial MT"/>
              </a:rPr>
              <a:t> </a:t>
            </a:r>
            <a:r>
              <a:rPr sz="2800">
                <a:latin typeface="Arial MT"/>
                <a:cs typeface="Arial MT"/>
              </a:rPr>
              <a:t>the</a:t>
            </a:r>
            <a:r>
              <a:rPr sz="2800" spc="-5">
                <a:latin typeface="Arial MT"/>
                <a:cs typeface="Arial MT"/>
              </a:rPr>
              <a:t> </a:t>
            </a:r>
            <a:r>
              <a:rPr sz="2800">
                <a:latin typeface="Arial MT"/>
                <a:cs typeface="Arial MT"/>
              </a:rPr>
              <a:t>database</a:t>
            </a:r>
            <a:r>
              <a:rPr sz="2800" spc="-5">
                <a:latin typeface="Arial MT"/>
                <a:cs typeface="Arial MT"/>
              </a:rPr>
              <a:t> </a:t>
            </a:r>
            <a:r>
              <a:rPr sz="2800" spc="-15">
                <a:latin typeface="Arial MT"/>
                <a:cs typeface="Arial MT"/>
              </a:rPr>
              <a:t>permanently.</a:t>
            </a:r>
            <a:endParaRPr sz="28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2571750" cy="695960"/>
          </a:xfrm>
          <a:prstGeom prst="rect">
            <a:avLst/>
          </a:prstGeom>
        </p:spPr>
        <p:txBody>
          <a:bodyPr vert="horz" wrap="square" lIns="0" tIns="12700" rIns="0" bIns="0" rtlCol="0">
            <a:spAutoFit/>
          </a:bodyPr>
          <a:lstStyle/>
          <a:p>
            <a:pPr marL="12700">
              <a:lnSpc>
                <a:spcPct val="100000"/>
              </a:lnSpc>
              <a:spcBef>
                <a:spcPts val="100"/>
              </a:spcBef>
            </a:pPr>
            <a:r>
              <a:rPr sz="4400" spc="-5"/>
              <a:t>Atomicity</a:t>
            </a:r>
            <a:endParaRPr sz="4400"/>
          </a:p>
        </p:txBody>
      </p:sp>
      <p:sp>
        <p:nvSpPr>
          <p:cNvPr id="3" name="object 3"/>
          <p:cNvSpPr txBox="1">
            <a:spLocks noGrp="1"/>
          </p:cNvSpPr>
          <p:nvPr>
            <p:ph type="body" idx="1"/>
          </p:nvPr>
        </p:nvSpPr>
        <p:spPr>
          <a:prstGeom prst="rect">
            <a:avLst/>
          </a:prstGeom>
        </p:spPr>
        <p:txBody>
          <a:bodyPr vert="horz" wrap="square" lIns="0" tIns="560577" rIns="0" bIns="0" rtlCol="0">
            <a:spAutoFit/>
          </a:bodyPr>
          <a:lstStyle/>
          <a:p>
            <a:pPr marL="12700" marR="5080">
              <a:lnSpc>
                <a:spcPct val="90200"/>
              </a:lnSpc>
              <a:spcBef>
                <a:spcPts val="430"/>
              </a:spcBef>
            </a:pPr>
            <a:r>
              <a:rPr b="1">
                <a:latin typeface="Arial"/>
                <a:cs typeface="Arial"/>
              </a:rPr>
              <a:t>Atomicity </a:t>
            </a:r>
            <a:r>
              <a:t>ensures that all the operations within a transaction are </a:t>
            </a:r>
            <a:r>
              <a:rPr spc="-765"/>
              <a:t> </a:t>
            </a:r>
            <a:r>
              <a:t>treated as a single, indivisible unit of work. This means that if any </a:t>
            </a:r>
            <a:r>
              <a:rPr spc="-765"/>
              <a:t> </a:t>
            </a:r>
            <a:r>
              <a:t>operation within the transaction fails, the entire transaction will be </a:t>
            </a:r>
            <a:r>
              <a:rPr spc="-765"/>
              <a:t> </a:t>
            </a:r>
            <a:r>
              <a:t>rolled back and none of the changes will be committed </a:t>
            </a:r>
            <a:r>
              <a:rPr spc="-5"/>
              <a:t>to </a:t>
            </a:r>
            <a:r>
              <a:t>the </a:t>
            </a:r>
            <a:r>
              <a:rPr spc="5"/>
              <a:t> </a:t>
            </a:r>
            <a:r>
              <a:t>database.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3348990" cy="695960"/>
          </a:xfrm>
          <a:prstGeom prst="rect">
            <a:avLst/>
          </a:prstGeom>
        </p:spPr>
        <p:txBody>
          <a:bodyPr vert="horz" wrap="square" lIns="0" tIns="12700" rIns="0" bIns="0" rtlCol="0">
            <a:spAutoFit/>
          </a:bodyPr>
          <a:lstStyle/>
          <a:p>
            <a:pPr marL="12700">
              <a:lnSpc>
                <a:spcPct val="100000"/>
              </a:lnSpc>
              <a:spcBef>
                <a:spcPts val="100"/>
              </a:spcBef>
            </a:pPr>
            <a:r>
              <a:rPr sz="4400" spc="-5"/>
              <a:t>Consistency</a:t>
            </a:r>
            <a:endParaRPr sz="4400"/>
          </a:p>
        </p:txBody>
      </p:sp>
      <p:sp>
        <p:nvSpPr>
          <p:cNvPr id="3" name="object 3"/>
          <p:cNvSpPr txBox="1">
            <a:spLocks noGrp="1"/>
          </p:cNvSpPr>
          <p:nvPr>
            <p:ph type="body" idx="1"/>
          </p:nvPr>
        </p:nvSpPr>
        <p:spPr>
          <a:xfrm>
            <a:off x="628615" y="1311806"/>
            <a:ext cx="10358120" cy="3259454"/>
          </a:xfrm>
          <a:prstGeom prst="rect">
            <a:avLst/>
          </a:prstGeom>
        </p:spPr>
        <p:txBody>
          <a:bodyPr vert="horz" wrap="square" lIns="0" tIns="560577" rIns="0" bIns="0" rtlCol="0">
            <a:spAutoFit/>
          </a:bodyPr>
          <a:lstStyle/>
          <a:p>
            <a:pPr marL="12700" marR="5080">
              <a:lnSpc>
                <a:spcPct val="90200"/>
              </a:lnSpc>
              <a:spcBef>
                <a:spcPts val="430"/>
              </a:spcBef>
            </a:pPr>
            <a:r>
              <a:rPr b="1">
                <a:latin typeface="Arial"/>
                <a:cs typeface="Arial"/>
              </a:rPr>
              <a:t>Consistency </a:t>
            </a:r>
            <a:r>
              <a:t>ensures that the transaction brings the database </a:t>
            </a:r>
            <a:r>
              <a:rPr spc="5"/>
              <a:t> </a:t>
            </a:r>
            <a:r>
              <a:t>from one valid </a:t>
            </a:r>
            <a:r>
              <a:rPr spc="-5"/>
              <a:t>state to </a:t>
            </a:r>
            <a:r>
              <a:rPr spc="-20"/>
              <a:t>another. </a:t>
            </a:r>
            <a:r>
              <a:t>This means that the transaction </a:t>
            </a:r>
            <a:r>
              <a:rPr spc="-765"/>
              <a:t> </a:t>
            </a:r>
            <a:r>
              <a:t>must follow all the rules and constraints defined in the database </a:t>
            </a:r>
            <a:r>
              <a:rPr spc="-765"/>
              <a:t> </a:t>
            </a:r>
            <a:r>
              <a:t>schema, such as unique keys, foreign keys, and check </a:t>
            </a:r>
            <a:r>
              <a:rPr spc="5"/>
              <a:t> </a:t>
            </a:r>
            <a:r>
              <a:t>constraints.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5306060" cy="695960"/>
          </a:xfrm>
          <a:prstGeom prst="rect">
            <a:avLst/>
          </a:prstGeom>
        </p:spPr>
        <p:txBody>
          <a:bodyPr vert="horz" wrap="square" lIns="0" tIns="12700" rIns="0" bIns="0" rtlCol="0">
            <a:spAutoFit/>
          </a:bodyPr>
          <a:lstStyle/>
          <a:p>
            <a:pPr marL="12700">
              <a:lnSpc>
                <a:spcPct val="100000"/>
              </a:lnSpc>
              <a:spcBef>
                <a:spcPts val="100"/>
              </a:spcBef>
            </a:pPr>
            <a:r>
              <a:rPr sz="4400" spc="-5"/>
              <a:t>Consistency</a:t>
            </a:r>
            <a:r>
              <a:rPr sz="4400" spc="-30"/>
              <a:t> </a:t>
            </a:r>
            <a:r>
              <a:rPr sz="4400"/>
              <a:t>in</a:t>
            </a:r>
            <a:r>
              <a:rPr sz="4400" spc="-30"/>
              <a:t> </a:t>
            </a:r>
            <a:r>
              <a:rPr sz="4400" spc="-5"/>
              <a:t>data</a:t>
            </a:r>
            <a:endParaRPr sz="4400"/>
          </a:p>
        </p:txBody>
      </p:sp>
      <p:sp>
        <p:nvSpPr>
          <p:cNvPr id="3" name="object 3"/>
          <p:cNvSpPr txBox="1"/>
          <p:nvPr/>
        </p:nvSpPr>
        <p:spPr>
          <a:xfrm>
            <a:off x="916939" y="1714045"/>
            <a:ext cx="10259695" cy="4000500"/>
          </a:xfrm>
          <a:prstGeom prst="rect">
            <a:avLst/>
          </a:prstGeom>
        </p:spPr>
        <p:txBody>
          <a:bodyPr vert="horz" wrap="square" lIns="0" tIns="54610" rIns="0" bIns="0" rtlCol="0">
            <a:spAutoFit/>
          </a:bodyPr>
          <a:lstStyle/>
          <a:p>
            <a:pPr marL="12700" marR="43180">
              <a:lnSpc>
                <a:spcPts val="2710"/>
              </a:lnSpc>
              <a:spcBef>
                <a:spcPts val="430"/>
              </a:spcBef>
            </a:pPr>
            <a:r>
              <a:rPr sz="2500" spc="-5">
                <a:latin typeface="Arial MT"/>
                <a:cs typeface="Arial MT"/>
              </a:rPr>
              <a:t>This</a:t>
            </a:r>
            <a:r>
              <a:rPr sz="2500" spc="5">
                <a:latin typeface="Arial MT"/>
                <a:cs typeface="Arial MT"/>
              </a:rPr>
              <a:t> </a:t>
            </a:r>
            <a:r>
              <a:rPr sz="2500" spc="-5">
                <a:latin typeface="Arial MT"/>
                <a:cs typeface="Arial MT"/>
              </a:rPr>
              <a:t>represented</a:t>
            </a:r>
            <a:r>
              <a:rPr sz="2500">
                <a:latin typeface="Arial MT"/>
                <a:cs typeface="Arial MT"/>
              </a:rPr>
              <a:t> the</a:t>
            </a:r>
            <a:r>
              <a:rPr sz="2500" spc="5">
                <a:latin typeface="Arial MT"/>
                <a:cs typeface="Arial MT"/>
              </a:rPr>
              <a:t> </a:t>
            </a:r>
            <a:r>
              <a:rPr sz="2500">
                <a:latin typeface="Arial MT"/>
                <a:cs typeface="Arial MT"/>
              </a:rPr>
              <a:t>state </a:t>
            </a:r>
            <a:r>
              <a:rPr sz="2500" spc="-5">
                <a:latin typeface="Arial MT"/>
                <a:cs typeface="Arial MT"/>
              </a:rPr>
              <a:t>that</a:t>
            </a:r>
            <a:r>
              <a:rPr sz="2500" spc="15">
                <a:latin typeface="Arial MT"/>
                <a:cs typeface="Arial MT"/>
              </a:rPr>
              <a:t> </a:t>
            </a:r>
            <a:r>
              <a:rPr sz="2500" spc="-5">
                <a:latin typeface="Arial MT"/>
                <a:cs typeface="Arial MT"/>
              </a:rPr>
              <a:t>actually</a:t>
            </a:r>
            <a:r>
              <a:rPr sz="2500" spc="5">
                <a:latin typeface="Arial MT"/>
                <a:cs typeface="Arial MT"/>
              </a:rPr>
              <a:t> </a:t>
            </a:r>
            <a:r>
              <a:rPr sz="2500" spc="-5">
                <a:latin typeface="Arial MT"/>
                <a:cs typeface="Arial MT"/>
              </a:rPr>
              <a:t>persisted</a:t>
            </a:r>
            <a:r>
              <a:rPr sz="2500" spc="5">
                <a:latin typeface="Arial MT"/>
                <a:cs typeface="Arial MT"/>
              </a:rPr>
              <a:t> </a:t>
            </a:r>
            <a:r>
              <a:rPr sz="2500" spc="-5">
                <a:latin typeface="Arial MT"/>
                <a:cs typeface="Arial MT"/>
              </a:rPr>
              <a:t>in</a:t>
            </a:r>
            <a:r>
              <a:rPr sz="2500">
                <a:latin typeface="Arial MT"/>
                <a:cs typeface="Arial MT"/>
              </a:rPr>
              <a:t> the</a:t>
            </a:r>
            <a:r>
              <a:rPr sz="2500" spc="5">
                <a:latin typeface="Arial MT"/>
                <a:cs typeface="Arial MT"/>
              </a:rPr>
              <a:t> </a:t>
            </a:r>
            <a:r>
              <a:rPr sz="2500" spc="-5">
                <a:latin typeface="Arial MT"/>
                <a:cs typeface="Arial MT"/>
              </a:rPr>
              <a:t>data.</a:t>
            </a:r>
            <a:r>
              <a:rPr sz="2500" spc="-35">
                <a:latin typeface="Arial MT"/>
                <a:cs typeface="Arial MT"/>
              </a:rPr>
              <a:t> </a:t>
            </a:r>
            <a:r>
              <a:rPr sz="2500" spc="-5">
                <a:latin typeface="Arial MT"/>
                <a:cs typeface="Arial MT"/>
              </a:rPr>
              <a:t>This</a:t>
            </a:r>
            <a:r>
              <a:rPr sz="2500" spc="5">
                <a:latin typeface="Arial MT"/>
                <a:cs typeface="Arial MT"/>
              </a:rPr>
              <a:t> </a:t>
            </a:r>
            <a:r>
              <a:rPr sz="2500" spc="-5">
                <a:latin typeface="Arial MT"/>
                <a:cs typeface="Arial MT"/>
              </a:rPr>
              <a:t>mainly </a:t>
            </a:r>
            <a:r>
              <a:rPr sz="2500" spc="-675">
                <a:latin typeface="Arial MT"/>
                <a:cs typeface="Arial MT"/>
              </a:rPr>
              <a:t> </a:t>
            </a:r>
            <a:r>
              <a:rPr sz="2500" spc="-5">
                <a:latin typeface="Arial MT"/>
                <a:cs typeface="Arial MT"/>
              </a:rPr>
              <a:t>involves</a:t>
            </a:r>
            <a:r>
              <a:rPr sz="2500">
                <a:latin typeface="Arial MT"/>
                <a:cs typeface="Arial MT"/>
              </a:rPr>
              <a:t> </a:t>
            </a:r>
            <a:r>
              <a:rPr sz="2500" spc="-5">
                <a:latin typeface="Arial MT"/>
                <a:cs typeface="Arial MT"/>
              </a:rPr>
              <a:t>enforcing.</a:t>
            </a:r>
            <a:endParaRPr sz="2500">
              <a:latin typeface="Arial MT"/>
              <a:cs typeface="Arial MT"/>
            </a:endParaRPr>
          </a:p>
          <a:p>
            <a:pPr>
              <a:lnSpc>
                <a:spcPct val="100000"/>
              </a:lnSpc>
            </a:pPr>
            <a:endParaRPr sz="2500">
              <a:latin typeface="Arial MT"/>
              <a:cs typeface="Arial MT"/>
            </a:endParaRPr>
          </a:p>
          <a:p>
            <a:pPr marL="12700" marR="5080">
              <a:lnSpc>
                <a:spcPct val="90100"/>
              </a:lnSpc>
              <a:spcBef>
                <a:spcPts val="1775"/>
              </a:spcBef>
              <a:buFont typeface="Arial MT"/>
              <a:buChar char="-"/>
              <a:tabLst>
                <a:tab pos="208279" algn="l"/>
              </a:tabLst>
            </a:pPr>
            <a:r>
              <a:rPr sz="2500" b="1" spc="-5">
                <a:latin typeface="Arial"/>
                <a:cs typeface="Arial"/>
              </a:rPr>
              <a:t>foreign</a:t>
            </a:r>
            <a:r>
              <a:rPr sz="2500" b="1" spc="5">
                <a:latin typeface="Arial"/>
                <a:cs typeface="Arial"/>
              </a:rPr>
              <a:t> </a:t>
            </a:r>
            <a:r>
              <a:rPr sz="2500" b="1" spc="-5">
                <a:latin typeface="Arial"/>
                <a:cs typeface="Arial"/>
              </a:rPr>
              <a:t>keys</a:t>
            </a:r>
            <a:r>
              <a:rPr sz="2500" b="1" spc="5">
                <a:latin typeface="Arial"/>
                <a:cs typeface="Arial"/>
              </a:rPr>
              <a:t> </a:t>
            </a:r>
            <a:r>
              <a:rPr sz="2500" spc="-5">
                <a:latin typeface="Arial MT"/>
                <a:cs typeface="Arial MT"/>
              </a:rPr>
              <a:t>referential</a:t>
            </a:r>
            <a:r>
              <a:rPr sz="2500" spc="5">
                <a:latin typeface="Arial MT"/>
                <a:cs typeface="Arial MT"/>
              </a:rPr>
              <a:t> </a:t>
            </a:r>
            <a:r>
              <a:rPr sz="2500" spc="-5">
                <a:latin typeface="Arial MT"/>
                <a:cs typeface="Arial MT"/>
              </a:rPr>
              <a:t>integrity</a:t>
            </a:r>
            <a:r>
              <a:rPr sz="2500" spc="10">
                <a:latin typeface="Arial MT"/>
                <a:cs typeface="Arial MT"/>
              </a:rPr>
              <a:t> </a:t>
            </a:r>
            <a:r>
              <a:rPr sz="2500" spc="-5">
                <a:latin typeface="Arial MT"/>
                <a:cs typeface="Arial MT"/>
              </a:rPr>
              <a:t>between</a:t>
            </a:r>
            <a:r>
              <a:rPr sz="2500" spc="10">
                <a:latin typeface="Arial MT"/>
                <a:cs typeface="Arial MT"/>
              </a:rPr>
              <a:t> </a:t>
            </a:r>
            <a:r>
              <a:rPr sz="2500" spc="-5">
                <a:latin typeface="Arial MT"/>
                <a:cs typeface="Arial MT"/>
              </a:rPr>
              <a:t>two</a:t>
            </a:r>
            <a:r>
              <a:rPr sz="2500" spc="5">
                <a:latin typeface="Arial MT"/>
                <a:cs typeface="Arial MT"/>
              </a:rPr>
              <a:t> </a:t>
            </a:r>
            <a:r>
              <a:rPr sz="2500" spc="-5">
                <a:latin typeface="Arial MT"/>
                <a:cs typeface="Arial MT"/>
              </a:rPr>
              <a:t>tables</a:t>
            </a:r>
            <a:r>
              <a:rPr sz="2500" spc="10">
                <a:latin typeface="Arial MT"/>
                <a:cs typeface="Arial MT"/>
              </a:rPr>
              <a:t> </a:t>
            </a:r>
            <a:r>
              <a:rPr sz="2500" spc="-5">
                <a:latin typeface="Arial MT"/>
                <a:cs typeface="Arial MT"/>
              </a:rPr>
              <a:t>or</a:t>
            </a:r>
            <a:r>
              <a:rPr sz="2500" spc="15">
                <a:latin typeface="Arial MT"/>
                <a:cs typeface="Arial MT"/>
              </a:rPr>
              <a:t> </a:t>
            </a:r>
            <a:r>
              <a:rPr sz="2500" spc="-5">
                <a:latin typeface="Arial MT"/>
                <a:cs typeface="Arial MT"/>
              </a:rPr>
              <a:t>documents</a:t>
            </a:r>
            <a:r>
              <a:rPr sz="2500" spc="10">
                <a:latin typeface="Arial MT"/>
                <a:cs typeface="Arial MT"/>
              </a:rPr>
              <a:t> </a:t>
            </a:r>
            <a:r>
              <a:rPr sz="2500" spc="-5">
                <a:latin typeface="Arial MT"/>
                <a:cs typeface="Arial MT"/>
              </a:rPr>
              <a:t>an </a:t>
            </a:r>
            <a:r>
              <a:rPr sz="2500">
                <a:latin typeface="Arial MT"/>
                <a:cs typeface="Arial MT"/>
              </a:rPr>
              <a:t> </a:t>
            </a:r>
            <a:r>
              <a:rPr sz="2500" spc="-5">
                <a:latin typeface="Arial MT"/>
                <a:cs typeface="Arial MT"/>
              </a:rPr>
              <a:t>example can</a:t>
            </a:r>
            <a:r>
              <a:rPr sz="2500">
                <a:latin typeface="Arial MT"/>
                <a:cs typeface="Arial MT"/>
              </a:rPr>
              <a:t> </a:t>
            </a:r>
            <a:r>
              <a:rPr sz="2500" spc="-5">
                <a:latin typeface="Arial MT"/>
                <a:cs typeface="Arial MT"/>
              </a:rPr>
              <a:t>be</a:t>
            </a:r>
            <a:r>
              <a:rPr sz="2500">
                <a:latin typeface="Arial MT"/>
                <a:cs typeface="Arial MT"/>
              </a:rPr>
              <a:t> </a:t>
            </a:r>
            <a:r>
              <a:rPr sz="2500" spc="-5">
                <a:latin typeface="Arial MT"/>
                <a:cs typeface="Arial MT"/>
              </a:rPr>
              <a:t>seen</a:t>
            </a:r>
            <a:r>
              <a:rPr sz="2500">
                <a:latin typeface="Arial MT"/>
                <a:cs typeface="Arial MT"/>
              </a:rPr>
              <a:t> </a:t>
            </a:r>
            <a:r>
              <a:rPr sz="2500" spc="-5">
                <a:latin typeface="Arial MT"/>
                <a:cs typeface="Arial MT"/>
              </a:rPr>
              <a:t>when</a:t>
            </a:r>
            <a:r>
              <a:rPr sz="2500">
                <a:latin typeface="Arial MT"/>
                <a:cs typeface="Arial MT"/>
              </a:rPr>
              <a:t> </a:t>
            </a:r>
            <a:r>
              <a:rPr sz="2500" spc="-5">
                <a:latin typeface="Arial MT"/>
                <a:cs typeface="Arial MT"/>
              </a:rPr>
              <a:t>creating</a:t>
            </a:r>
            <a:r>
              <a:rPr sz="2500">
                <a:latin typeface="Arial MT"/>
                <a:cs typeface="Arial MT"/>
              </a:rPr>
              <a:t> a</a:t>
            </a:r>
            <a:r>
              <a:rPr sz="2500" spc="-5">
                <a:latin typeface="Arial MT"/>
                <a:cs typeface="Arial MT"/>
              </a:rPr>
              <a:t> user-like</a:t>
            </a:r>
            <a:r>
              <a:rPr sz="2500">
                <a:latin typeface="Arial MT"/>
                <a:cs typeface="Arial MT"/>
              </a:rPr>
              <a:t> system,</a:t>
            </a:r>
            <a:r>
              <a:rPr sz="2500" spc="10">
                <a:latin typeface="Arial MT"/>
                <a:cs typeface="Arial MT"/>
              </a:rPr>
              <a:t> </a:t>
            </a:r>
            <a:r>
              <a:rPr sz="2500" spc="-5">
                <a:latin typeface="Arial MT"/>
                <a:cs typeface="Arial MT"/>
              </a:rPr>
              <a:t>when</a:t>
            </a:r>
            <a:r>
              <a:rPr sz="2500">
                <a:latin typeface="Arial MT"/>
                <a:cs typeface="Arial MT"/>
              </a:rPr>
              <a:t> a user(s) </a:t>
            </a:r>
            <a:r>
              <a:rPr sz="2500" spc="5">
                <a:latin typeface="Arial MT"/>
                <a:cs typeface="Arial MT"/>
              </a:rPr>
              <a:t> </a:t>
            </a:r>
            <a:r>
              <a:rPr sz="2500" spc="-5">
                <a:latin typeface="Arial MT"/>
                <a:cs typeface="Arial MT"/>
              </a:rPr>
              <a:t>like</a:t>
            </a:r>
            <a:r>
              <a:rPr sz="2500">
                <a:latin typeface="Arial MT"/>
                <a:cs typeface="Arial MT"/>
              </a:rPr>
              <a:t> </a:t>
            </a:r>
            <a:r>
              <a:rPr sz="2500" spc="-5">
                <a:latin typeface="Arial MT"/>
                <a:cs typeface="Arial MT"/>
              </a:rPr>
              <a:t>an</a:t>
            </a:r>
            <a:r>
              <a:rPr sz="2500">
                <a:latin typeface="Arial MT"/>
                <a:cs typeface="Arial MT"/>
              </a:rPr>
              <a:t> </a:t>
            </a:r>
            <a:r>
              <a:rPr sz="2500" spc="-5">
                <a:latin typeface="Arial MT"/>
                <a:cs typeface="Arial MT"/>
              </a:rPr>
              <a:t>image</a:t>
            </a:r>
            <a:r>
              <a:rPr sz="2500">
                <a:latin typeface="Arial MT"/>
                <a:cs typeface="Arial MT"/>
              </a:rPr>
              <a:t> </a:t>
            </a:r>
            <a:r>
              <a:rPr sz="2500" spc="-5">
                <a:latin typeface="Arial MT"/>
                <a:cs typeface="Arial MT"/>
              </a:rPr>
              <a:t>or</a:t>
            </a:r>
            <a:r>
              <a:rPr sz="2500" spc="10">
                <a:latin typeface="Arial MT"/>
                <a:cs typeface="Arial MT"/>
              </a:rPr>
              <a:t> </a:t>
            </a:r>
            <a:r>
              <a:rPr sz="2500" spc="-5">
                <a:latin typeface="Arial MT"/>
                <a:cs typeface="Arial MT"/>
              </a:rPr>
              <a:t>blog,</a:t>
            </a:r>
            <a:r>
              <a:rPr sz="2500" spc="10">
                <a:latin typeface="Arial MT"/>
                <a:cs typeface="Arial MT"/>
              </a:rPr>
              <a:t> </a:t>
            </a:r>
            <a:r>
              <a:rPr sz="2500">
                <a:latin typeface="Arial MT"/>
                <a:cs typeface="Arial MT"/>
              </a:rPr>
              <a:t>the </a:t>
            </a:r>
            <a:r>
              <a:rPr sz="2500" spc="-5">
                <a:latin typeface="Arial MT"/>
                <a:cs typeface="Arial MT"/>
              </a:rPr>
              <a:t>blog</a:t>
            </a:r>
            <a:r>
              <a:rPr sz="2500">
                <a:latin typeface="Arial MT"/>
                <a:cs typeface="Arial MT"/>
              </a:rPr>
              <a:t> </a:t>
            </a:r>
            <a:r>
              <a:rPr sz="2500" spc="-5">
                <a:latin typeface="Arial MT"/>
                <a:cs typeface="Arial MT"/>
              </a:rPr>
              <a:t>or</a:t>
            </a:r>
            <a:r>
              <a:rPr sz="2500" spc="10">
                <a:latin typeface="Arial MT"/>
                <a:cs typeface="Arial MT"/>
              </a:rPr>
              <a:t> </a:t>
            </a:r>
            <a:r>
              <a:rPr sz="2500" spc="-5">
                <a:latin typeface="Arial MT"/>
                <a:cs typeface="Arial MT"/>
              </a:rPr>
              <a:t>image</a:t>
            </a:r>
            <a:r>
              <a:rPr sz="2500">
                <a:latin typeface="Arial MT"/>
                <a:cs typeface="Arial MT"/>
              </a:rPr>
              <a:t> </a:t>
            </a:r>
            <a:r>
              <a:rPr sz="2500" spc="-5">
                <a:latin typeface="Arial MT"/>
                <a:cs typeface="Arial MT"/>
              </a:rPr>
              <a:t>should</a:t>
            </a:r>
            <a:r>
              <a:rPr sz="2500">
                <a:latin typeface="Arial MT"/>
                <a:cs typeface="Arial MT"/>
              </a:rPr>
              <a:t> </a:t>
            </a:r>
            <a:r>
              <a:rPr sz="2500" spc="-5">
                <a:latin typeface="Arial MT"/>
                <a:cs typeface="Arial MT"/>
              </a:rPr>
              <a:t>persist</a:t>
            </a:r>
            <a:r>
              <a:rPr sz="2500" spc="10">
                <a:latin typeface="Arial MT"/>
                <a:cs typeface="Arial MT"/>
              </a:rPr>
              <a:t> </a:t>
            </a:r>
            <a:r>
              <a:rPr sz="2500">
                <a:latin typeface="Arial MT"/>
                <a:cs typeface="Arial MT"/>
              </a:rPr>
              <a:t>the </a:t>
            </a:r>
            <a:r>
              <a:rPr sz="2500" spc="-5">
                <a:latin typeface="Arial MT"/>
                <a:cs typeface="Arial MT"/>
              </a:rPr>
              <a:t>actual</a:t>
            </a:r>
            <a:r>
              <a:rPr sz="2500">
                <a:latin typeface="Arial MT"/>
                <a:cs typeface="Arial MT"/>
              </a:rPr>
              <a:t> </a:t>
            </a:r>
            <a:r>
              <a:rPr sz="2500" spc="-5">
                <a:latin typeface="Arial MT"/>
                <a:cs typeface="Arial MT"/>
              </a:rPr>
              <a:t>number </a:t>
            </a:r>
            <a:r>
              <a:rPr sz="2500" spc="-680">
                <a:latin typeface="Arial MT"/>
                <a:cs typeface="Arial MT"/>
              </a:rPr>
              <a:t> </a:t>
            </a:r>
            <a:r>
              <a:rPr sz="2500" spc="-5">
                <a:latin typeface="Arial MT"/>
                <a:cs typeface="Arial MT"/>
              </a:rPr>
              <a:t>of</a:t>
            </a:r>
            <a:r>
              <a:rPr sz="2500" spc="5">
                <a:latin typeface="Arial MT"/>
                <a:cs typeface="Arial MT"/>
              </a:rPr>
              <a:t> </a:t>
            </a:r>
            <a:r>
              <a:rPr sz="2500" spc="-5">
                <a:latin typeface="Arial MT"/>
                <a:cs typeface="Arial MT"/>
              </a:rPr>
              <a:t>likes</a:t>
            </a:r>
            <a:r>
              <a:rPr sz="2500" spc="5">
                <a:latin typeface="Arial MT"/>
                <a:cs typeface="Arial MT"/>
              </a:rPr>
              <a:t> </a:t>
            </a:r>
            <a:r>
              <a:rPr sz="2500" spc="-5">
                <a:latin typeface="Arial MT"/>
                <a:cs typeface="Arial MT"/>
              </a:rPr>
              <a:t>it</a:t>
            </a:r>
            <a:r>
              <a:rPr sz="2500" spc="10">
                <a:latin typeface="Arial MT"/>
                <a:cs typeface="Arial MT"/>
              </a:rPr>
              <a:t> </a:t>
            </a:r>
            <a:r>
              <a:rPr sz="2500" spc="-5">
                <a:latin typeface="Arial MT"/>
                <a:cs typeface="Arial MT"/>
              </a:rPr>
              <a:t>has</a:t>
            </a:r>
            <a:r>
              <a:rPr sz="2500" spc="5">
                <a:latin typeface="Arial MT"/>
                <a:cs typeface="Arial MT"/>
              </a:rPr>
              <a:t> </a:t>
            </a:r>
            <a:r>
              <a:rPr sz="2500" spc="-5">
                <a:latin typeface="Arial MT"/>
                <a:cs typeface="Arial MT"/>
              </a:rPr>
              <a:t>got</a:t>
            </a:r>
            <a:r>
              <a:rPr sz="2500" spc="10">
                <a:latin typeface="Arial MT"/>
                <a:cs typeface="Arial MT"/>
              </a:rPr>
              <a:t> </a:t>
            </a:r>
            <a:r>
              <a:rPr sz="2500">
                <a:latin typeface="Arial MT"/>
                <a:cs typeface="Arial MT"/>
              </a:rPr>
              <a:t>from</a:t>
            </a:r>
            <a:r>
              <a:rPr sz="2500" spc="5">
                <a:latin typeface="Arial MT"/>
                <a:cs typeface="Arial MT"/>
              </a:rPr>
              <a:t> </a:t>
            </a:r>
            <a:r>
              <a:rPr sz="2500">
                <a:latin typeface="Arial MT"/>
                <a:cs typeface="Arial MT"/>
              </a:rPr>
              <a:t>the </a:t>
            </a:r>
            <a:r>
              <a:rPr sz="2500" spc="-5">
                <a:latin typeface="Arial MT"/>
                <a:cs typeface="Arial MT"/>
              </a:rPr>
              <a:t>user</a:t>
            </a:r>
            <a:r>
              <a:rPr sz="2500" spc="10">
                <a:latin typeface="Arial MT"/>
                <a:cs typeface="Arial MT"/>
              </a:rPr>
              <a:t> </a:t>
            </a:r>
            <a:r>
              <a:rPr sz="2500" spc="-5">
                <a:latin typeface="Arial MT"/>
                <a:cs typeface="Arial MT"/>
              </a:rPr>
              <a:t>table.</a:t>
            </a:r>
            <a:endParaRPr sz="2500">
              <a:latin typeface="Arial MT"/>
              <a:cs typeface="Arial MT"/>
            </a:endParaRPr>
          </a:p>
          <a:p>
            <a:pPr marL="207645" indent="-195580">
              <a:lnSpc>
                <a:spcPct val="100000"/>
              </a:lnSpc>
              <a:spcBef>
                <a:spcPts val="695"/>
              </a:spcBef>
              <a:buFont typeface="Arial MT"/>
              <a:buChar char="-"/>
              <a:tabLst>
                <a:tab pos="208279" algn="l"/>
              </a:tabLst>
            </a:pPr>
            <a:r>
              <a:rPr sz="2500" b="1" spc="-5">
                <a:latin typeface="Arial"/>
                <a:cs typeface="Arial"/>
              </a:rPr>
              <a:t>atomicity</a:t>
            </a:r>
            <a:r>
              <a:rPr sz="2500" b="1">
                <a:latin typeface="Arial"/>
                <a:cs typeface="Arial"/>
              </a:rPr>
              <a:t> </a:t>
            </a:r>
            <a:r>
              <a:rPr sz="2500">
                <a:latin typeface="Arial MT"/>
                <a:cs typeface="Arial MT"/>
              </a:rPr>
              <a:t>–</a:t>
            </a:r>
            <a:r>
              <a:rPr sz="2500" spc="5">
                <a:latin typeface="Arial MT"/>
                <a:cs typeface="Arial MT"/>
              </a:rPr>
              <a:t> </a:t>
            </a:r>
            <a:r>
              <a:rPr sz="2500" spc="-5">
                <a:latin typeface="Arial MT"/>
                <a:cs typeface="Arial MT"/>
              </a:rPr>
              <a:t>data</a:t>
            </a:r>
            <a:r>
              <a:rPr sz="2500" spc="5">
                <a:latin typeface="Arial MT"/>
                <a:cs typeface="Arial MT"/>
              </a:rPr>
              <a:t> </a:t>
            </a:r>
            <a:r>
              <a:rPr sz="2500" spc="-5">
                <a:latin typeface="Arial MT"/>
                <a:cs typeface="Arial MT"/>
              </a:rPr>
              <a:t>should</a:t>
            </a:r>
            <a:r>
              <a:rPr sz="2500">
                <a:latin typeface="Arial MT"/>
                <a:cs typeface="Arial MT"/>
              </a:rPr>
              <a:t> </a:t>
            </a:r>
            <a:r>
              <a:rPr sz="2500" spc="-5">
                <a:latin typeface="Arial MT"/>
                <a:cs typeface="Arial MT"/>
              </a:rPr>
              <a:t>persist</a:t>
            </a:r>
            <a:r>
              <a:rPr sz="2500" spc="15">
                <a:latin typeface="Arial MT"/>
                <a:cs typeface="Arial MT"/>
              </a:rPr>
              <a:t> </a:t>
            </a:r>
            <a:r>
              <a:rPr sz="2500" spc="-5">
                <a:latin typeface="Arial MT"/>
                <a:cs typeface="Arial MT"/>
              </a:rPr>
              <a:t>across</a:t>
            </a:r>
            <a:r>
              <a:rPr sz="2500" spc="10">
                <a:latin typeface="Arial MT"/>
                <a:cs typeface="Arial MT"/>
              </a:rPr>
              <a:t> </a:t>
            </a:r>
            <a:r>
              <a:rPr sz="2500">
                <a:latin typeface="Arial MT"/>
                <a:cs typeface="Arial MT"/>
              </a:rPr>
              <a:t>the</a:t>
            </a:r>
            <a:r>
              <a:rPr sz="2500" spc="5">
                <a:latin typeface="Arial MT"/>
                <a:cs typeface="Arial MT"/>
              </a:rPr>
              <a:t> </a:t>
            </a:r>
            <a:r>
              <a:rPr sz="2500" spc="-5">
                <a:latin typeface="Arial MT"/>
                <a:cs typeface="Arial MT"/>
              </a:rPr>
              <a:t>database.</a:t>
            </a:r>
            <a:endParaRPr sz="2500">
              <a:latin typeface="Arial MT"/>
              <a:cs typeface="Arial MT"/>
            </a:endParaRPr>
          </a:p>
          <a:p>
            <a:pPr marL="12700" marR="466725">
              <a:lnSpc>
                <a:spcPts val="2690"/>
              </a:lnSpc>
              <a:spcBef>
                <a:spcPts val="1045"/>
              </a:spcBef>
              <a:buFont typeface="Arial MT"/>
              <a:buChar char="-"/>
              <a:tabLst>
                <a:tab pos="208279" algn="l"/>
              </a:tabLst>
            </a:pPr>
            <a:r>
              <a:rPr sz="2500" b="1">
                <a:latin typeface="Arial"/>
                <a:cs typeface="Arial"/>
              </a:rPr>
              <a:t>Isolation</a:t>
            </a:r>
            <a:r>
              <a:rPr sz="2500" b="1" spc="-5">
                <a:latin typeface="Arial"/>
                <a:cs typeface="Arial"/>
              </a:rPr>
              <a:t> </a:t>
            </a:r>
            <a:r>
              <a:rPr sz="2500">
                <a:latin typeface="Arial MT"/>
                <a:cs typeface="Arial MT"/>
              </a:rPr>
              <a:t>–</a:t>
            </a:r>
            <a:r>
              <a:rPr sz="2500" spc="-5">
                <a:latin typeface="Arial MT"/>
                <a:cs typeface="Arial MT"/>
              </a:rPr>
              <a:t> based</a:t>
            </a:r>
            <a:r>
              <a:rPr sz="2500">
                <a:latin typeface="Arial MT"/>
                <a:cs typeface="Arial MT"/>
              </a:rPr>
              <a:t> </a:t>
            </a:r>
            <a:r>
              <a:rPr sz="2500" spc="-5">
                <a:latin typeface="Arial MT"/>
                <a:cs typeface="Arial MT"/>
              </a:rPr>
              <a:t>on </a:t>
            </a:r>
            <a:r>
              <a:rPr sz="2500">
                <a:latin typeface="Arial MT"/>
                <a:cs typeface="Arial MT"/>
              </a:rPr>
              <a:t>the</a:t>
            </a:r>
            <a:r>
              <a:rPr sz="2500" spc="-5">
                <a:latin typeface="Arial MT"/>
                <a:cs typeface="Arial MT"/>
              </a:rPr>
              <a:t> isolation</a:t>
            </a:r>
            <a:r>
              <a:rPr sz="2500">
                <a:latin typeface="Arial MT"/>
                <a:cs typeface="Arial MT"/>
              </a:rPr>
              <a:t> </a:t>
            </a:r>
            <a:r>
              <a:rPr sz="2500" spc="-5">
                <a:latin typeface="Arial MT"/>
                <a:cs typeface="Arial MT"/>
              </a:rPr>
              <a:t>level which we</a:t>
            </a:r>
            <a:r>
              <a:rPr sz="2500">
                <a:latin typeface="Arial MT"/>
                <a:cs typeface="Arial MT"/>
              </a:rPr>
              <a:t> </a:t>
            </a:r>
            <a:r>
              <a:rPr sz="2500" spc="-10">
                <a:latin typeface="Arial MT"/>
                <a:cs typeface="Arial MT"/>
              </a:rPr>
              <a:t>will</a:t>
            </a:r>
            <a:r>
              <a:rPr sz="2500" spc="-5">
                <a:latin typeface="Arial MT"/>
                <a:cs typeface="Arial MT"/>
              </a:rPr>
              <a:t> talk</a:t>
            </a:r>
            <a:r>
              <a:rPr sz="2500">
                <a:latin typeface="Arial MT"/>
                <a:cs typeface="Arial MT"/>
              </a:rPr>
              <a:t> </a:t>
            </a:r>
            <a:r>
              <a:rPr sz="2500" spc="-5">
                <a:latin typeface="Arial MT"/>
                <a:cs typeface="Arial MT"/>
              </a:rPr>
              <a:t>about</a:t>
            </a:r>
            <a:r>
              <a:rPr sz="2500" spc="10">
                <a:latin typeface="Arial MT"/>
                <a:cs typeface="Arial MT"/>
              </a:rPr>
              <a:t> </a:t>
            </a:r>
            <a:r>
              <a:rPr sz="2500" spc="-5">
                <a:latin typeface="Arial MT"/>
                <a:cs typeface="Arial MT"/>
              </a:rPr>
              <a:t>later </a:t>
            </a:r>
            <a:r>
              <a:rPr sz="2500" spc="-680">
                <a:latin typeface="Arial MT"/>
                <a:cs typeface="Arial MT"/>
              </a:rPr>
              <a:t> </a:t>
            </a:r>
            <a:r>
              <a:rPr sz="2500" spc="-5">
                <a:latin typeface="Arial MT"/>
                <a:cs typeface="Arial MT"/>
              </a:rPr>
              <a:t>should </a:t>
            </a:r>
            <a:r>
              <a:rPr sz="2500">
                <a:latin typeface="Arial MT"/>
                <a:cs typeface="Arial MT"/>
              </a:rPr>
              <a:t>return correct</a:t>
            </a:r>
            <a:r>
              <a:rPr sz="2500" spc="10">
                <a:latin typeface="Arial MT"/>
                <a:cs typeface="Arial MT"/>
              </a:rPr>
              <a:t> </a:t>
            </a:r>
            <a:r>
              <a:rPr sz="2500" spc="-5">
                <a:latin typeface="Arial MT"/>
                <a:cs typeface="Arial MT"/>
              </a:rPr>
              <a:t>reads</a:t>
            </a:r>
            <a:r>
              <a:rPr sz="2500" spc="5">
                <a:latin typeface="Arial MT"/>
                <a:cs typeface="Arial MT"/>
              </a:rPr>
              <a:t> </a:t>
            </a:r>
            <a:r>
              <a:rPr sz="2500">
                <a:latin typeface="Arial MT"/>
                <a:cs typeface="Arial MT"/>
              </a:rPr>
              <a:t>from</a:t>
            </a:r>
            <a:r>
              <a:rPr sz="2500" spc="10">
                <a:latin typeface="Arial MT"/>
                <a:cs typeface="Arial MT"/>
              </a:rPr>
              <a:t> </a:t>
            </a:r>
            <a:r>
              <a:rPr sz="2500" spc="-5">
                <a:latin typeface="Arial MT"/>
                <a:cs typeface="Arial MT"/>
              </a:rPr>
              <a:t>two</a:t>
            </a:r>
            <a:r>
              <a:rPr sz="2500">
                <a:latin typeface="Arial MT"/>
                <a:cs typeface="Arial MT"/>
              </a:rPr>
              <a:t> </a:t>
            </a:r>
            <a:r>
              <a:rPr sz="2500" spc="-5">
                <a:latin typeface="Arial MT"/>
                <a:cs typeface="Arial MT"/>
              </a:rPr>
              <a:t>concurrent</a:t>
            </a:r>
            <a:r>
              <a:rPr sz="2500" spc="10">
                <a:latin typeface="Arial MT"/>
                <a:cs typeface="Arial MT"/>
              </a:rPr>
              <a:t> </a:t>
            </a:r>
            <a:r>
              <a:rPr sz="2500" spc="-5">
                <a:latin typeface="Arial MT"/>
                <a:cs typeface="Arial MT"/>
              </a:rPr>
              <a:t>parallel</a:t>
            </a:r>
            <a:r>
              <a:rPr sz="2500">
                <a:latin typeface="Arial MT"/>
                <a:cs typeface="Arial MT"/>
              </a:rPr>
              <a:t> </a:t>
            </a:r>
            <a:r>
              <a:rPr sz="2500" spc="-5">
                <a:latin typeface="Arial MT"/>
                <a:cs typeface="Arial MT"/>
              </a:rPr>
              <a:t>tables.</a:t>
            </a:r>
            <a:endParaRPr sz="25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2324100" cy="695960"/>
          </a:xfrm>
          <a:prstGeom prst="rect">
            <a:avLst/>
          </a:prstGeom>
        </p:spPr>
        <p:txBody>
          <a:bodyPr vert="horz" wrap="square" lIns="0" tIns="12700" rIns="0" bIns="0" rtlCol="0">
            <a:spAutoFit/>
          </a:bodyPr>
          <a:lstStyle/>
          <a:p>
            <a:pPr marL="12700">
              <a:lnSpc>
                <a:spcPct val="100000"/>
              </a:lnSpc>
              <a:spcBef>
                <a:spcPts val="100"/>
              </a:spcBef>
            </a:pPr>
            <a:r>
              <a:rPr sz="4400" spc="-5"/>
              <a:t>Isolation</a:t>
            </a:r>
            <a:endParaRPr sz="4400"/>
          </a:p>
        </p:txBody>
      </p:sp>
      <p:sp>
        <p:nvSpPr>
          <p:cNvPr id="3" name="object 3"/>
          <p:cNvSpPr txBox="1">
            <a:spLocks noGrp="1"/>
          </p:cNvSpPr>
          <p:nvPr>
            <p:ph type="body" idx="1"/>
          </p:nvPr>
        </p:nvSpPr>
        <p:spPr>
          <a:xfrm>
            <a:off x="916939" y="1795779"/>
            <a:ext cx="10358120" cy="2893483"/>
          </a:xfrm>
          <a:prstGeom prst="rect">
            <a:avLst/>
          </a:prstGeom>
        </p:spPr>
        <p:txBody>
          <a:bodyPr vert="horz" wrap="square" lIns="0" tIns="561212" rIns="0" bIns="0" rtlCol="0">
            <a:spAutoFit/>
          </a:bodyPr>
          <a:lstStyle/>
          <a:p>
            <a:pPr marL="12700" marR="5080" algn="just">
              <a:lnSpc>
                <a:spcPct val="90000"/>
              </a:lnSpc>
              <a:spcBef>
                <a:spcPts val="434"/>
              </a:spcBef>
            </a:pPr>
            <a:r>
              <a:rPr b="1">
                <a:latin typeface="Arial"/>
                <a:cs typeface="Arial"/>
              </a:rPr>
              <a:t>Isolation </a:t>
            </a:r>
            <a:r>
              <a:t>ensures that concurrent transactions do not interfere </a:t>
            </a:r>
            <a:r>
              <a:rPr spc="5"/>
              <a:t> </a:t>
            </a:r>
            <a:r>
              <a:rPr spc="-5"/>
              <a:t>with </a:t>
            </a:r>
            <a:r>
              <a:t>each </a:t>
            </a:r>
            <a:r>
              <a:rPr spc="-25"/>
              <a:t>other. </a:t>
            </a:r>
            <a:r>
              <a:t>Each transaction is executed as if it is the only </a:t>
            </a:r>
            <a:r>
              <a:rPr spc="5"/>
              <a:t> </a:t>
            </a:r>
            <a:r>
              <a:t>transaction in the system, even though other transactions may be </a:t>
            </a:r>
            <a:r>
              <a:rPr spc="-765"/>
              <a:t> </a:t>
            </a:r>
            <a:r>
              <a:t>executing </a:t>
            </a:r>
            <a:r>
              <a:rPr spc="-15"/>
              <a:t>simultaneously. </a:t>
            </a:r>
            <a:r>
              <a:rPr spc="-5"/>
              <a:t>It </a:t>
            </a:r>
            <a:r>
              <a:t>is the result of having transactions as </a:t>
            </a:r>
            <a:r>
              <a:rPr spc="-765"/>
              <a:t> </a:t>
            </a:r>
            <a:r>
              <a:t>a separate entity (isolation) from other concurrent transactions </a:t>
            </a:r>
            <a:r>
              <a:rPr spc="5"/>
              <a:t> </a:t>
            </a:r>
            <a:r>
              <a:t>which may</a:t>
            </a:r>
            <a:r>
              <a:rPr spc="-5"/>
              <a:t> </a:t>
            </a:r>
            <a:r>
              <a:t>lead </a:t>
            </a:r>
            <a:r>
              <a:rPr spc="-5"/>
              <a:t>to</a:t>
            </a:r>
            <a:r>
              <a:t> reads</a:t>
            </a:r>
            <a:r>
              <a:rPr spc="-5"/>
              <a:t> </a:t>
            </a:r>
            <a:r>
              <a:t>phenomena and</a:t>
            </a:r>
            <a:r>
              <a:rPr spc="5"/>
              <a:t> </a:t>
            </a:r>
            <a:r>
              <a:t>Isolation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2603500" cy="695960"/>
          </a:xfrm>
          <a:prstGeom prst="rect">
            <a:avLst/>
          </a:prstGeom>
        </p:spPr>
        <p:txBody>
          <a:bodyPr vert="horz" wrap="square" lIns="0" tIns="12700" rIns="0" bIns="0" rtlCol="0">
            <a:spAutoFit/>
          </a:bodyPr>
          <a:lstStyle/>
          <a:p>
            <a:pPr marL="12700">
              <a:lnSpc>
                <a:spcPct val="100000"/>
              </a:lnSpc>
              <a:spcBef>
                <a:spcPts val="100"/>
              </a:spcBef>
            </a:pPr>
            <a:r>
              <a:rPr sz="4400" spc="-5"/>
              <a:t>Durability</a:t>
            </a:r>
            <a:endParaRPr sz="4400"/>
          </a:p>
        </p:txBody>
      </p:sp>
      <p:sp>
        <p:nvSpPr>
          <p:cNvPr id="3" name="object 3"/>
          <p:cNvSpPr txBox="1">
            <a:spLocks noGrp="1"/>
          </p:cNvSpPr>
          <p:nvPr>
            <p:ph type="body" idx="1"/>
          </p:nvPr>
        </p:nvSpPr>
        <p:spPr>
          <a:prstGeom prst="rect">
            <a:avLst/>
          </a:prstGeom>
        </p:spPr>
        <p:txBody>
          <a:bodyPr vert="horz" wrap="square" lIns="0" tIns="561212" rIns="0" bIns="0" rtlCol="0">
            <a:spAutoFit/>
          </a:bodyPr>
          <a:lstStyle/>
          <a:p>
            <a:pPr marL="12700" marR="5080">
              <a:lnSpc>
                <a:spcPct val="90000"/>
              </a:lnSpc>
              <a:spcBef>
                <a:spcPts val="434"/>
              </a:spcBef>
            </a:pPr>
            <a:r>
              <a:rPr b="1" spc="-5">
                <a:latin typeface="Arial"/>
                <a:cs typeface="Arial"/>
              </a:rPr>
              <a:t>Durability </a:t>
            </a:r>
            <a:r>
              <a:t>ensures that the changes made by a committed </a:t>
            </a:r>
            <a:r>
              <a:rPr spc="5"/>
              <a:t> </a:t>
            </a:r>
            <a:r>
              <a:t>transaction are</a:t>
            </a:r>
            <a:r>
              <a:rPr spc="5"/>
              <a:t> </a:t>
            </a:r>
            <a:r>
              <a:t>permanent</a:t>
            </a:r>
            <a:r>
              <a:rPr spc="-10"/>
              <a:t> </a:t>
            </a:r>
            <a:r>
              <a:t>and</a:t>
            </a:r>
            <a:r>
              <a:rPr spc="5"/>
              <a:t> </a:t>
            </a:r>
            <a:r>
              <a:t>will</a:t>
            </a:r>
            <a:r>
              <a:rPr spc="5"/>
              <a:t> </a:t>
            </a:r>
            <a:r>
              <a:t>survive any subsequent </a:t>
            </a:r>
            <a:r>
              <a:rPr spc="5"/>
              <a:t> </a:t>
            </a:r>
            <a:r>
              <a:t>failures. This is typically achieved by writing or persisting the </a:t>
            </a:r>
            <a:r>
              <a:rPr spc="-765"/>
              <a:t> </a:t>
            </a:r>
            <a:r>
              <a:t>changes </a:t>
            </a:r>
            <a:r>
              <a:rPr spc="-5"/>
              <a:t>to </a:t>
            </a:r>
            <a:r>
              <a:t>disk or other non-volatile storage. This involves a </a:t>
            </a:r>
            <a:r>
              <a:rPr spc="-770"/>
              <a:t> </a:t>
            </a:r>
            <a:r>
              <a:t>system that can recover all writes and see all changes after </a:t>
            </a:r>
            <a:r>
              <a:rPr spc="5"/>
              <a:t> </a:t>
            </a:r>
            <a:r>
              <a:t>committed</a:t>
            </a:r>
            <a:r>
              <a:rPr spc="-5"/>
              <a:t> </a:t>
            </a:r>
            <a:r>
              <a:t>even when</a:t>
            </a:r>
            <a:r>
              <a:rPr spc="-5"/>
              <a:t> </a:t>
            </a:r>
            <a:r>
              <a:t>the system crashes</a:t>
            </a:r>
            <a:r>
              <a:rPr spc="-10"/>
              <a:t> </a:t>
            </a:r>
            <a:r>
              <a:t>or loss</a:t>
            </a:r>
            <a:r>
              <a:rPr spc="-5"/>
              <a:t> </a:t>
            </a:r>
            <a:r>
              <a:t>of</a:t>
            </a:r>
            <a:r>
              <a:rPr spc="-15"/>
              <a:t> </a:t>
            </a:r>
            <a:r>
              <a:rPr spc="-25"/>
              <a:t>power.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F62521-1954-BFB2-2B47-16F27D9AF5A9}"/>
              </a:ext>
            </a:extLst>
          </p:cNvPr>
          <p:cNvSpPr>
            <a:spLocks noGrp="1"/>
          </p:cNvSpPr>
          <p:nvPr>
            <p:ph type="title"/>
          </p:nvPr>
        </p:nvSpPr>
        <p:spPr>
          <a:xfrm>
            <a:off x="916939" y="725931"/>
            <a:ext cx="6462838" cy="1231106"/>
          </a:xfrm>
        </p:spPr>
        <p:txBody>
          <a:bodyPr/>
          <a:lstStyle/>
          <a:p>
            <a:r>
              <a:rPr lang="en-US" b="1"/>
              <a:t>Transaction Lifecycle</a:t>
            </a:r>
            <a:br>
              <a:rPr lang="en-US"/>
            </a:br>
            <a:endParaRPr lang="ru-KZ"/>
          </a:p>
        </p:txBody>
      </p:sp>
      <p:sp>
        <p:nvSpPr>
          <p:cNvPr id="3" name="Текст 2">
            <a:extLst>
              <a:ext uri="{FF2B5EF4-FFF2-40B4-BE49-F238E27FC236}">
                <a16:creationId xmlns:a16="http://schemas.microsoft.com/office/drawing/2014/main" id="{4225F82D-F305-F00C-3000-98EFCC37BF70}"/>
              </a:ext>
            </a:extLst>
          </p:cNvPr>
          <p:cNvSpPr>
            <a:spLocks noGrp="1"/>
          </p:cNvSpPr>
          <p:nvPr>
            <p:ph type="body" idx="1"/>
          </p:nvPr>
        </p:nvSpPr>
        <p:spPr>
          <a:xfrm>
            <a:off x="533400" y="1795778"/>
            <a:ext cx="11506199" cy="3798156"/>
          </a:xfrm>
        </p:spPr>
        <p:txBody>
          <a:bodyPr/>
          <a:lstStyle/>
          <a:p>
            <a:pPr>
              <a:lnSpc>
                <a:spcPct val="150000"/>
              </a:lnSpc>
              <a:buFont typeface="Arial" panose="020B0604020202020204" pitchFamily="34" charset="0"/>
              <a:buChar char="•"/>
            </a:pPr>
            <a:r>
              <a:rPr lang="en-US" b="1"/>
              <a:t>Begin</a:t>
            </a:r>
            <a:r>
              <a:rPr lang="en-US"/>
              <a:t>: Starts the transaction.</a:t>
            </a:r>
          </a:p>
          <a:p>
            <a:pPr>
              <a:lnSpc>
                <a:spcPct val="150000"/>
              </a:lnSpc>
              <a:buFont typeface="Arial" panose="020B0604020202020204" pitchFamily="34" charset="0"/>
              <a:buChar char="•"/>
            </a:pPr>
            <a:r>
              <a:rPr lang="en-US" b="1"/>
              <a:t>Execute</a:t>
            </a:r>
            <a:r>
              <a:rPr lang="en-US"/>
              <a:t>: Performs database operations like reads, writes, or updates.</a:t>
            </a:r>
          </a:p>
          <a:p>
            <a:pPr>
              <a:lnSpc>
                <a:spcPct val="150000"/>
              </a:lnSpc>
              <a:buFont typeface="Arial" panose="020B0604020202020204" pitchFamily="34" charset="0"/>
              <a:buChar char="•"/>
            </a:pPr>
            <a:r>
              <a:rPr lang="en-US" b="1"/>
              <a:t>Commit</a:t>
            </a:r>
            <a:r>
              <a:rPr lang="en-US"/>
              <a:t>: Confirms and saves changes if all operations succeed.</a:t>
            </a:r>
          </a:p>
          <a:p>
            <a:pPr>
              <a:lnSpc>
                <a:spcPct val="150000"/>
              </a:lnSpc>
              <a:buFont typeface="Arial" panose="020B0604020202020204" pitchFamily="34" charset="0"/>
              <a:buChar char="•"/>
            </a:pPr>
            <a:r>
              <a:rPr lang="en-US" b="1"/>
              <a:t>Rollback</a:t>
            </a:r>
            <a:r>
              <a:rPr lang="en-US"/>
              <a:t>: Reverts changes if an error occurs, maintaining data integrity.</a:t>
            </a:r>
          </a:p>
          <a:p>
            <a:pPr>
              <a:lnSpc>
                <a:spcPct val="150000"/>
              </a:lnSpc>
            </a:pPr>
            <a:endParaRPr lang="ru-KZ"/>
          </a:p>
        </p:txBody>
      </p:sp>
    </p:spTree>
    <p:extLst>
      <p:ext uri="{BB962C8B-B14F-4D97-AF65-F5344CB8AC3E}">
        <p14:creationId xmlns:p14="http://schemas.microsoft.com/office/powerpoint/2010/main" val="181598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5741035" cy="695960"/>
          </a:xfrm>
          <a:prstGeom prst="rect">
            <a:avLst/>
          </a:prstGeom>
        </p:spPr>
        <p:txBody>
          <a:bodyPr vert="horz" wrap="square" lIns="0" tIns="12700" rIns="0" bIns="0" rtlCol="0">
            <a:spAutoFit/>
          </a:bodyPr>
          <a:lstStyle/>
          <a:p>
            <a:pPr marL="12700">
              <a:lnSpc>
                <a:spcPct val="100000"/>
              </a:lnSpc>
              <a:spcBef>
                <a:spcPts val="100"/>
              </a:spcBef>
            </a:pPr>
            <a:r>
              <a:rPr sz="4400" spc="-5"/>
              <a:t>Commit</a:t>
            </a:r>
            <a:r>
              <a:rPr sz="4400" spc="-25"/>
              <a:t> </a:t>
            </a:r>
            <a:r>
              <a:rPr sz="4400"/>
              <a:t>a</a:t>
            </a:r>
            <a:r>
              <a:rPr sz="4400" spc="-20"/>
              <a:t> </a:t>
            </a:r>
            <a:r>
              <a:rPr sz="4400" spc="-5"/>
              <a:t>transaction</a:t>
            </a:r>
            <a:endParaRPr sz="4400"/>
          </a:p>
        </p:txBody>
      </p:sp>
      <p:sp>
        <p:nvSpPr>
          <p:cNvPr id="3" name="object 3"/>
          <p:cNvSpPr txBox="1"/>
          <p:nvPr/>
        </p:nvSpPr>
        <p:spPr>
          <a:xfrm>
            <a:off x="916939" y="1795779"/>
            <a:ext cx="4201795" cy="3512820"/>
          </a:xfrm>
          <a:prstGeom prst="rect">
            <a:avLst/>
          </a:prstGeom>
        </p:spPr>
        <p:txBody>
          <a:bodyPr vert="horz" wrap="square" lIns="0" tIns="12700" rIns="0" bIns="0" rtlCol="0">
            <a:spAutoFit/>
          </a:bodyPr>
          <a:lstStyle/>
          <a:p>
            <a:pPr marL="12700">
              <a:lnSpc>
                <a:spcPct val="100000"/>
              </a:lnSpc>
              <a:spcBef>
                <a:spcPts val="100"/>
              </a:spcBef>
            </a:pPr>
            <a:r>
              <a:rPr sz="2800">
                <a:latin typeface="Arial MT"/>
                <a:cs typeface="Arial MT"/>
              </a:rPr>
              <a:t>COMMIT</a:t>
            </a:r>
            <a:r>
              <a:rPr sz="2800" spc="-95">
                <a:latin typeface="Arial MT"/>
                <a:cs typeface="Arial MT"/>
              </a:rPr>
              <a:t> </a:t>
            </a:r>
            <a:r>
              <a:rPr sz="2800" spc="-5">
                <a:latin typeface="Arial MT"/>
                <a:cs typeface="Arial MT"/>
              </a:rPr>
              <a:t>WORK;</a:t>
            </a:r>
            <a:endParaRPr sz="2800">
              <a:latin typeface="Arial MT"/>
              <a:cs typeface="Arial MT"/>
            </a:endParaRPr>
          </a:p>
          <a:p>
            <a:pPr>
              <a:lnSpc>
                <a:spcPct val="100000"/>
              </a:lnSpc>
              <a:spcBef>
                <a:spcPts val="30"/>
              </a:spcBef>
            </a:pPr>
            <a:endParaRPr sz="4000">
              <a:latin typeface="Arial MT"/>
              <a:cs typeface="Arial MT"/>
            </a:endParaRPr>
          </a:p>
          <a:p>
            <a:pPr marL="12700">
              <a:lnSpc>
                <a:spcPct val="100000"/>
              </a:lnSpc>
            </a:pPr>
            <a:r>
              <a:rPr sz="2800" spc="5">
                <a:latin typeface="Arial MT"/>
                <a:cs typeface="Arial MT"/>
              </a:rPr>
              <a:t>or</a:t>
            </a:r>
            <a:endParaRPr sz="2800">
              <a:latin typeface="Arial MT"/>
              <a:cs typeface="Arial MT"/>
            </a:endParaRPr>
          </a:p>
          <a:p>
            <a:pPr marL="12700">
              <a:lnSpc>
                <a:spcPct val="100000"/>
              </a:lnSpc>
              <a:spcBef>
                <a:spcPts val="650"/>
              </a:spcBef>
            </a:pPr>
            <a:r>
              <a:rPr sz="2800">
                <a:latin typeface="Arial MT"/>
                <a:cs typeface="Arial MT"/>
              </a:rPr>
              <a:t>COMMIT</a:t>
            </a:r>
            <a:r>
              <a:rPr sz="2800" spc="-165">
                <a:latin typeface="Arial MT"/>
                <a:cs typeface="Arial MT"/>
              </a:rPr>
              <a:t> </a:t>
            </a:r>
            <a:r>
              <a:rPr sz="2800" spc="-5">
                <a:latin typeface="Arial MT"/>
                <a:cs typeface="Arial MT"/>
              </a:rPr>
              <a:t>TRANSACTION;</a:t>
            </a:r>
            <a:endParaRPr sz="2800">
              <a:latin typeface="Arial MT"/>
              <a:cs typeface="Arial MT"/>
            </a:endParaRPr>
          </a:p>
          <a:p>
            <a:pPr>
              <a:lnSpc>
                <a:spcPct val="100000"/>
              </a:lnSpc>
              <a:spcBef>
                <a:spcPts val="55"/>
              </a:spcBef>
            </a:pPr>
            <a:endParaRPr sz="3500">
              <a:latin typeface="Arial MT"/>
              <a:cs typeface="Arial MT"/>
            </a:endParaRPr>
          </a:p>
          <a:p>
            <a:pPr marL="12700" marR="2656840">
              <a:lnSpc>
                <a:spcPct val="119300"/>
              </a:lnSpc>
            </a:pPr>
            <a:r>
              <a:rPr sz="2800">
                <a:latin typeface="Arial MT"/>
                <a:cs typeface="Arial MT"/>
              </a:rPr>
              <a:t>or</a:t>
            </a:r>
            <a:r>
              <a:rPr sz="2800" spc="-85">
                <a:latin typeface="Arial MT"/>
                <a:cs typeface="Arial MT"/>
              </a:rPr>
              <a:t> </a:t>
            </a:r>
            <a:r>
              <a:rPr sz="2800">
                <a:latin typeface="Arial MT"/>
                <a:cs typeface="Arial MT"/>
              </a:rPr>
              <a:t>simply: </a:t>
            </a:r>
            <a:r>
              <a:rPr sz="2800" spc="-765">
                <a:latin typeface="Arial MT"/>
                <a:cs typeface="Arial MT"/>
              </a:rPr>
              <a:t> </a:t>
            </a:r>
            <a:r>
              <a:rPr sz="2800" spc="-45">
                <a:latin typeface="Arial MT"/>
                <a:cs typeface="Arial MT"/>
              </a:rPr>
              <a:t>COMMIT;</a:t>
            </a:r>
            <a:endParaRPr sz="280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731011"/>
            <a:ext cx="3559810" cy="482600"/>
          </a:xfrm>
          <a:prstGeom prst="rect">
            <a:avLst/>
          </a:prstGeom>
        </p:spPr>
        <p:txBody>
          <a:bodyPr vert="horz" wrap="square" lIns="0" tIns="12700" rIns="0" bIns="0" rtlCol="0">
            <a:spAutoFit/>
          </a:bodyPr>
          <a:lstStyle/>
          <a:p>
            <a:pPr marL="12700">
              <a:lnSpc>
                <a:spcPct val="100000"/>
              </a:lnSpc>
              <a:spcBef>
                <a:spcPts val="100"/>
              </a:spcBef>
            </a:pPr>
            <a:r>
              <a:rPr sz="3000" spc="-5"/>
              <a:t>Begin</a:t>
            </a:r>
            <a:r>
              <a:rPr sz="3000" spc="-30"/>
              <a:t> </a:t>
            </a:r>
            <a:r>
              <a:rPr sz="3000"/>
              <a:t>a</a:t>
            </a:r>
            <a:r>
              <a:rPr sz="3000" spc="-35"/>
              <a:t> </a:t>
            </a:r>
            <a:r>
              <a:rPr sz="3000" spc="-5"/>
              <a:t>transaction</a:t>
            </a:r>
            <a:endParaRPr sz="3000"/>
          </a:p>
        </p:txBody>
      </p:sp>
      <p:sp>
        <p:nvSpPr>
          <p:cNvPr id="3" name="object 3"/>
          <p:cNvSpPr txBox="1"/>
          <p:nvPr/>
        </p:nvSpPr>
        <p:spPr>
          <a:xfrm>
            <a:off x="916939" y="1795779"/>
            <a:ext cx="3869690" cy="3512820"/>
          </a:xfrm>
          <a:prstGeom prst="rect">
            <a:avLst/>
          </a:prstGeom>
        </p:spPr>
        <p:txBody>
          <a:bodyPr vert="horz" wrap="square" lIns="0" tIns="12700" rIns="0" bIns="0" rtlCol="0">
            <a:spAutoFit/>
          </a:bodyPr>
          <a:lstStyle/>
          <a:p>
            <a:pPr marL="12700">
              <a:lnSpc>
                <a:spcPct val="100000"/>
              </a:lnSpc>
              <a:spcBef>
                <a:spcPts val="100"/>
              </a:spcBef>
            </a:pPr>
            <a:r>
              <a:rPr sz="2800" spc="-5">
                <a:latin typeface="Arial MT"/>
                <a:cs typeface="Arial MT"/>
              </a:rPr>
              <a:t>BEGIN</a:t>
            </a:r>
            <a:r>
              <a:rPr sz="2800" spc="-105">
                <a:latin typeface="Arial MT"/>
                <a:cs typeface="Arial MT"/>
              </a:rPr>
              <a:t> </a:t>
            </a:r>
            <a:r>
              <a:rPr sz="2800" spc="-5">
                <a:latin typeface="Arial MT"/>
                <a:cs typeface="Arial MT"/>
              </a:rPr>
              <a:t>TRANSACTION;</a:t>
            </a:r>
            <a:endParaRPr sz="2800">
              <a:latin typeface="Arial MT"/>
              <a:cs typeface="Arial MT"/>
            </a:endParaRPr>
          </a:p>
          <a:p>
            <a:pPr>
              <a:lnSpc>
                <a:spcPct val="100000"/>
              </a:lnSpc>
              <a:spcBef>
                <a:spcPts val="30"/>
              </a:spcBef>
            </a:pPr>
            <a:endParaRPr sz="4000">
              <a:latin typeface="Arial MT"/>
              <a:cs typeface="Arial MT"/>
            </a:endParaRPr>
          </a:p>
          <a:p>
            <a:pPr marL="12700">
              <a:lnSpc>
                <a:spcPct val="100000"/>
              </a:lnSpc>
            </a:pPr>
            <a:r>
              <a:rPr sz="2800" spc="5">
                <a:latin typeface="Arial MT"/>
                <a:cs typeface="Arial MT"/>
              </a:rPr>
              <a:t>or</a:t>
            </a:r>
            <a:endParaRPr sz="2800">
              <a:latin typeface="Arial MT"/>
              <a:cs typeface="Arial MT"/>
            </a:endParaRPr>
          </a:p>
          <a:p>
            <a:pPr marL="12700">
              <a:lnSpc>
                <a:spcPct val="100000"/>
              </a:lnSpc>
              <a:spcBef>
                <a:spcPts val="650"/>
              </a:spcBef>
            </a:pPr>
            <a:r>
              <a:rPr sz="2800" spc="-5">
                <a:latin typeface="Arial MT"/>
                <a:cs typeface="Arial MT"/>
              </a:rPr>
              <a:t>BEGIN</a:t>
            </a:r>
            <a:r>
              <a:rPr sz="2800" spc="-45">
                <a:latin typeface="Arial MT"/>
                <a:cs typeface="Arial MT"/>
              </a:rPr>
              <a:t> </a:t>
            </a:r>
            <a:r>
              <a:rPr sz="2800" spc="-5">
                <a:latin typeface="Arial MT"/>
                <a:cs typeface="Arial MT"/>
              </a:rPr>
              <a:t>WORK;</a:t>
            </a:r>
            <a:endParaRPr sz="2800">
              <a:latin typeface="Arial MT"/>
              <a:cs typeface="Arial MT"/>
            </a:endParaRPr>
          </a:p>
          <a:p>
            <a:pPr>
              <a:lnSpc>
                <a:spcPct val="100000"/>
              </a:lnSpc>
              <a:spcBef>
                <a:spcPts val="55"/>
              </a:spcBef>
            </a:pPr>
            <a:endParaRPr sz="3500">
              <a:latin typeface="Arial MT"/>
              <a:cs typeface="Arial MT"/>
            </a:endParaRPr>
          </a:p>
          <a:p>
            <a:pPr marL="12700" marR="2644775">
              <a:lnSpc>
                <a:spcPct val="119300"/>
              </a:lnSpc>
            </a:pPr>
            <a:r>
              <a:rPr sz="2800">
                <a:latin typeface="Arial MT"/>
                <a:cs typeface="Arial MT"/>
              </a:rPr>
              <a:t>or just: </a:t>
            </a:r>
            <a:r>
              <a:rPr sz="2800" spc="5">
                <a:latin typeface="Arial MT"/>
                <a:cs typeface="Arial MT"/>
              </a:rPr>
              <a:t> </a:t>
            </a:r>
            <a:r>
              <a:rPr sz="2800" spc="-5">
                <a:latin typeface="Arial MT"/>
                <a:cs typeface="Arial MT"/>
              </a:rPr>
              <a:t>BEGI</a:t>
            </a:r>
            <a:r>
              <a:rPr sz="2800">
                <a:latin typeface="Arial MT"/>
                <a:cs typeface="Arial MT"/>
              </a:rPr>
              <a:t>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6985000" cy="695960"/>
          </a:xfrm>
          <a:prstGeom prst="rect">
            <a:avLst/>
          </a:prstGeom>
        </p:spPr>
        <p:txBody>
          <a:bodyPr vert="horz" wrap="square" lIns="0" tIns="12700" rIns="0" bIns="0" rtlCol="0">
            <a:spAutoFit/>
          </a:bodyPr>
          <a:lstStyle/>
          <a:p>
            <a:pPr marL="12700">
              <a:lnSpc>
                <a:spcPct val="100000"/>
              </a:lnSpc>
              <a:spcBef>
                <a:spcPts val="100"/>
              </a:spcBef>
            </a:pPr>
            <a:r>
              <a:rPr sz="4400" spc="-5"/>
              <a:t>Rolling</a:t>
            </a:r>
            <a:r>
              <a:rPr sz="4400" spc="-15"/>
              <a:t> </a:t>
            </a:r>
            <a:r>
              <a:rPr sz="4400" spc="-5"/>
              <a:t>back </a:t>
            </a:r>
            <a:r>
              <a:rPr sz="4400"/>
              <a:t>a</a:t>
            </a:r>
            <a:r>
              <a:rPr sz="4400" spc="-5"/>
              <a:t> transaction</a:t>
            </a:r>
            <a:endParaRPr sz="4400"/>
          </a:p>
        </p:txBody>
      </p:sp>
      <p:sp>
        <p:nvSpPr>
          <p:cNvPr id="3" name="object 3"/>
          <p:cNvSpPr txBox="1"/>
          <p:nvPr/>
        </p:nvSpPr>
        <p:spPr>
          <a:xfrm>
            <a:off x="916939" y="1769364"/>
            <a:ext cx="9735820" cy="4283710"/>
          </a:xfrm>
          <a:prstGeom prst="rect">
            <a:avLst/>
          </a:prstGeom>
        </p:spPr>
        <p:txBody>
          <a:bodyPr vert="horz" wrap="square" lIns="0" tIns="91440" rIns="0" bIns="0" rtlCol="0">
            <a:spAutoFit/>
          </a:bodyPr>
          <a:lstStyle/>
          <a:p>
            <a:pPr marL="12700" marR="5080">
              <a:lnSpc>
                <a:spcPct val="80000"/>
              </a:lnSpc>
              <a:spcBef>
                <a:spcPts val="720"/>
              </a:spcBef>
            </a:pPr>
            <a:r>
              <a:rPr sz="2600" spc="-145">
                <a:latin typeface="Arial MT"/>
                <a:cs typeface="Arial MT"/>
              </a:rPr>
              <a:t>To</a:t>
            </a:r>
            <a:r>
              <a:rPr sz="2600">
                <a:latin typeface="Arial MT"/>
                <a:cs typeface="Arial MT"/>
              </a:rPr>
              <a:t> </a:t>
            </a:r>
            <a:r>
              <a:rPr sz="2600" spc="-5">
                <a:latin typeface="Arial MT"/>
                <a:cs typeface="Arial MT"/>
              </a:rPr>
              <a:t>roll</a:t>
            </a:r>
            <a:r>
              <a:rPr sz="2600">
                <a:latin typeface="Arial MT"/>
                <a:cs typeface="Arial MT"/>
              </a:rPr>
              <a:t> back or</a:t>
            </a:r>
            <a:r>
              <a:rPr sz="2600" spc="-5">
                <a:latin typeface="Arial MT"/>
                <a:cs typeface="Arial MT"/>
              </a:rPr>
              <a:t> </a:t>
            </a:r>
            <a:r>
              <a:rPr sz="2600">
                <a:latin typeface="Arial MT"/>
                <a:cs typeface="Arial MT"/>
              </a:rPr>
              <a:t>undo the</a:t>
            </a:r>
            <a:r>
              <a:rPr sz="2600" spc="5">
                <a:latin typeface="Arial MT"/>
                <a:cs typeface="Arial MT"/>
              </a:rPr>
              <a:t> </a:t>
            </a:r>
            <a:r>
              <a:rPr sz="2600">
                <a:latin typeface="Arial MT"/>
                <a:cs typeface="Arial MT"/>
              </a:rPr>
              <a:t>change</a:t>
            </a:r>
            <a:r>
              <a:rPr sz="2600" spc="5">
                <a:latin typeface="Arial MT"/>
                <a:cs typeface="Arial MT"/>
              </a:rPr>
              <a:t> </a:t>
            </a:r>
            <a:r>
              <a:rPr sz="2600">
                <a:latin typeface="Arial MT"/>
                <a:cs typeface="Arial MT"/>
              </a:rPr>
              <a:t>of</a:t>
            </a:r>
            <a:r>
              <a:rPr sz="2600" spc="5">
                <a:latin typeface="Arial MT"/>
                <a:cs typeface="Arial MT"/>
              </a:rPr>
              <a:t> </a:t>
            </a:r>
            <a:r>
              <a:rPr sz="2600">
                <a:latin typeface="Arial MT"/>
                <a:cs typeface="Arial MT"/>
              </a:rPr>
              <a:t>the </a:t>
            </a:r>
            <a:r>
              <a:rPr sz="2600" spc="-5">
                <a:latin typeface="Arial MT"/>
                <a:cs typeface="Arial MT"/>
              </a:rPr>
              <a:t>current</a:t>
            </a:r>
            <a:r>
              <a:rPr sz="2600" spc="5">
                <a:latin typeface="Arial MT"/>
                <a:cs typeface="Arial MT"/>
              </a:rPr>
              <a:t> </a:t>
            </a:r>
            <a:r>
              <a:rPr sz="2600" spc="-5">
                <a:latin typeface="Arial MT"/>
                <a:cs typeface="Arial MT"/>
              </a:rPr>
              <a:t>transaction,</a:t>
            </a:r>
            <a:r>
              <a:rPr sz="2600" spc="5">
                <a:latin typeface="Arial MT"/>
                <a:cs typeface="Arial MT"/>
              </a:rPr>
              <a:t> </a:t>
            </a:r>
            <a:r>
              <a:rPr sz="2600">
                <a:latin typeface="Arial MT"/>
                <a:cs typeface="Arial MT"/>
              </a:rPr>
              <a:t>you</a:t>
            </a:r>
            <a:r>
              <a:rPr sz="2600" spc="5">
                <a:latin typeface="Arial MT"/>
                <a:cs typeface="Arial MT"/>
              </a:rPr>
              <a:t> </a:t>
            </a:r>
            <a:r>
              <a:rPr sz="2600">
                <a:latin typeface="Arial MT"/>
                <a:cs typeface="Arial MT"/>
              </a:rPr>
              <a:t>use </a:t>
            </a:r>
            <a:r>
              <a:rPr sz="2600" spc="-710">
                <a:latin typeface="Arial MT"/>
                <a:cs typeface="Arial MT"/>
              </a:rPr>
              <a:t> </a:t>
            </a:r>
            <a:r>
              <a:rPr sz="2600">
                <a:latin typeface="Arial MT"/>
                <a:cs typeface="Arial MT"/>
              </a:rPr>
              <a:t>any</a:t>
            </a:r>
            <a:r>
              <a:rPr sz="2600" spc="-5">
                <a:latin typeface="Arial MT"/>
                <a:cs typeface="Arial MT"/>
              </a:rPr>
              <a:t> </a:t>
            </a:r>
            <a:r>
              <a:rPr sz="2600">
                <a:latin typeface="Arial MT"/>
                <a:cs typeface="Arial MT"/>
              </a:rPr>
              <a:t>of</a:t>
            </a:r>
            <a:r>
              <a:rPr sz="2600" spc="5">
                <a:latin typeface="Arial MT"/>
                <a:cs typeface="Arial MT"/>
              </a:rPr>
              <a:t> </a:t>
            </a:r>
            <a:r>
              <a:rPr sz="2600">
                <a:latin typeface="Arial MT"/>
                <a:cs typeface="Arial MT"/>
              </a:rPr>
              <a:t>the</a:t>
            </a:r>
            <a:r>
              <a:rPr sz="2600" spc="5">
                <a:latin typeface="Arial MT"/>
                <a:cs typeface="Arial MT"/>
              </a:rPr>
              <a:t> </a:t>
            </a:r>
            <a:r>
              <a:rPr sz="2600" spc="-5">
                <a:latin typeface="Arial MT"/>
                <a:cs typeface="Arial MT"/>
              </a:rPr>
              <a:t>following</a:t>
            </a:r>
            <a:r>
              <a:rPr sz="2600" spc="5">
                <a:latin typeface="Arial MT"/>
                <a:cs typeface="Arial MT"/>
              </a:rPr>
              <a:t> </a:t>
            </a:r>
            <a:r>
              <a:rPr sz="2600" spc="-5">
                <a:latin typeface="Arial MT"/>
                <a:cs typeface="Arial MT"/>
              </a:rPr>
              <a:t>statement:</a:t>
            </a:r>
            <a:endParaRPr sz="2600">
              <a:latin typeface="Arial MT"/>
              <a:cs typeface="Arial MT"/>
            </a:endParaRPr>
          </a:p>
          <a:p>
            <a:pPr>
              <a:lnSpc>
                <a:spcPct val="100000"/>
              </a:lnSpc>
              <a:spcBef>
                <a:spcPts val="35"/>
              </a:spcBef>
            </a:pPr>
            <a:endParaRPr sz="3350">
              <a:latin typeface="Arial MT"/>
              <a:cs typeface="Arial MT"/>
            </a:endParaRPr>
          </a:p>
          <a:p>
            <a:pPr marL="12700">
              <a:lnSpc>
                <a:spcPct val="100000"/>
              </a:lnSpc>
              <a:spcBef>
                <a:spcPts val="5"/>
              </a:spcBef>
            </a:pPr>
            <a:r>
              <a:rPr sz="2600">
                <a:latin typeface="Arial MT"/>
                <a:cs typeface="Arial MT"/>
              </a:rPr>
              <a:t>ROLLBACK</a:t>
            </a:r>
            <a:r>
              <a:rPr sz="2600" spc="-35">
                <a:latin typeface="Arial MT"/>
                <a:cs typeface="Arial MT"/>
              </a:rPr>
              <a:t> </a:t>
            </a:r>
            <a:r>
              <a:rPr sz="2600" spc="-5">
                <a:latin typeface="Arial MT"/>
                <a:cs typeface="Arial MT"/>
              </a:rPr>
              <a:t>WORK;</a:t>
            </a:r>
            <a:endParaRPr sz="2600">
              <a:latin typeface="Arial MT"/>
              <a:cs typeface="Arial MT"/>
            </a:endParaRPr>
          </a:p>
          <a:p>
            <a:pPr>
              <a:lnSpc>
                <a:spcPct val="100000"/>
              </a:lnSpc>
              <a:spcBef>
                <a:spcPts val="35"/>
              </a:spcBef>
            </a:pPr>
            <a:endParaRPr sz="3350">
              <a:latin typeface="Arial MT"/>
              <a:cs typeface="Arial MT"/>
            </a:endParaRPr>
          </a:p>
          <a:p>
            <a:pPr marL="12700">
              <a:lnSpc>
                <a:spcPct val="100000"/>
              </a:lnSpc>
            </a:pPr>
            <a:r>
              <a:rPr sz="2600">
                <a:latin typeface="Arial MT"/>
                <a:cs typeface="Arial MT"/>
              </a:rPr>
              <a:t>or</a:t>
            </a:r>
          </a:p>
          <a:p>
            <a:pPr marL="12700">
              <a:lnSpc>
                <a:spcPct val="100000"/>
              </a:lnSpc>
              <a:spcBef>
                <a:spcPts val="265"/>
              </a:spcBef>
            </a:pPr>
            <a:r>
              <a:rPr sz="2600">
                <a:latin typeface="Arial MT"/>
                <a:cs typeface="Arial MT"/>
              </a:rPr>
              <a:t>ROLLBACK</a:t>
            </a:r>
            <a:r>
              <a:rPr sz="2600" spc="-80">
                <a:latin typeface="Arial MT"/>
                <a:cs typeface="Arial MT"/>
              </a:rPr>
              <a:t> </a:t>
            </a:r>
            <a:r>
              <a:rPr sz="2600" spc="-5">
                <a:latin typeface="Arial MT"/>
                <a:cs typeface="Arial MT"/>
              </a:rPr>
              <a:t>TRANSACTION;</a:t>
            </a:r>
            <a:endParaRPr sz="2600">
              <a:latin typeface="Arial MT"/>
              <a:cs typeface="Arial MT"/>
            </a:endParaRPr>
          </a:p>
          <a:p>
            <a:pPr>
              <a:lnSpc>
                <a:spcPct val="100000"/>
              </a:lnSpc>
              <a:spcBef>
                <a:spcPts val="50"/>
              </a:spcBef>
            </a:pPr>
            <a:endParaRPr sz="3000">
              <a:latin typeface="Arial MT"/>
              <a:cs typeface="Arial MT"/>
            </a:endParaRPr>
          </a:p>
          <a:p>
            <a:pPr marL="12700" marR="7859395">
              <a:lnSpc>
                <a:spcPct val="112300"/>
              </a:lnSpc>
              <a:spcBef>
                <a:spcPts val="5"/>
              </a:spcBef>
            </a:pPr>
            <a:r>
              <a:rPr sz="2600">
                <a:latin typeface="Arial MT"/>
                <a:cs typeface="Arial MT"/>
              </a:rPr>
              <a:t>or </a:t>
            </a:r>
            <a:r>
              <a:rPr sz="2600" spc="-5">
                <a:latin typeface="Arial MT"/>
                <a:cs typeface="Arial MT"/>
              </a:rPr>
              <a:t>in short: </a:t>
            </a:r>
            <a:r>
              <a:rPr sz="2600">
                <a:latin typeface="Arial MT"/>
                <a:cs typeface="Arial MT"/>
              </a:rPr>
              <a:t> </a:t>
            </a:r>
            <a:r>
              <a:rPr sz="2600" spc="-5">
                <a:latin typeface="Arial MT"/>
                <a:cs typeface="Arial MT"/>
              </a:rPr>
              <a:t>R</a:t>
            </a:r>
            <a:r>
              <a:rPr sz="2600">
                <a:latin typeface="Arial MT"/>
                <a:cs typeface="Arial MT"/>
              </a:rPr>
              <a:t>O</a:t>
            </a:r>
            <a:r>
              <a:rPr sz="2600" spc="5">
                <a:latin typeface="Arial MT"/>
                <a:cs typeface="Arial MT"/>
              </a:rPr>
              <a:t>LL</a:t>
            </a:r>
            <a:r>
              <a:rPr sz="2600">
                <a:latin typeface="Arial MT"/>
                <a:cs typeface="Arial MT"/>
              </a:rPr>
              <a:t>BA</a:t>
            </a:r>
            <a:r>
              <a:rPr sz="2600" spc="-5">
                <a:latin typeface="Arial MT"/>
                <a:cs typeface="Arial MT"/>
              </a:rPr>
              <a:t>C</a:t>
            </a:r>
            <a:r>
              <a:rPr sz="2600">
                <a:latin typeface="Arial MT"/>
                <a:cs typeface="Arial MT"/>
              </a:rPr>
              <a:t>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8DBA48-DA8F-8940-7C9D-904CA3C9ABE5}"/>
              </a:ext>
            </a:extLst>
          </p:cNvPr>
          <p:cNvSpPr>
            <a:spLocks noGrp="1"/>
          </p:cNvSpPr>
          <p:nvPr>
            <p:ph type="title"/>
          </p:nvPr>
        </p:nvSpPr>
        <p:spPr>
          <a:xfrm>
            <a:off x="916938" y="725931"/>
            <a:ext cx="11275061" cy="615553"/>
          </a:xfrm>
        </p:spPr>
        <p:txBody>
          <a:bodyPr/>
          <a:lstStyle/>
          <a:p>
            <a:r>
              <a:rPr lang="en-US"/>
              <a:t>Basic Transaction Control Statements</a:t>
            </a:r>
            <a:endParaRPr lang="ru-KZ"/>
          </a:p>
        </p:txBody>
      </p:sp>
      <p:sp>
        <p:nvSpPr>
          <p:cNvPr id="4" name="Rectangle 1">
            <a:extLst>
              <a:ext uri="{FF2B5EF4-FFF2-40B4-BE49-F238E27FC236}">
                <a16:creationId xmlns:a16="http://schemas.microsoft.com/office/drawing/2014/main" id="{0D7F0145-7D5A-A947-4C56-A382EEA52B00}"/>
              </a:ext>
            </a:extLst>
          </p:cNvPr>
          <p:cNvSpPr>
            <a:spLocks noGrp="1" noChangeArrowheads="1"/>
          </p:cNvSpPr>
          <p:nvPr>
            <p:ph type="body" idx="1"/>
          </p:nvPr>
        </p:nvSpPr>
        <p:spPr bwMode="auto">
          <a:xfrm>
            <a:off x="916938" y="1676400"/>
            <a:ext cx="1094241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b="1" i="0" u="none" strike="noStrike" cap="none" normalizeH="0" baseline="0">
                <a:ln>
                  <a:noFill/>
                </a:ln>
                <a:solidFill>
                  <a:schemeClr val="tx1"/>
                </a:solidFill>
                <a:effectLst/>
                <a:latin typeface="Arial" panose="020B0604020202020204" pitchFamily="34" charset="0"/>
              </a:rPr>
              <a:t>BEGIN</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Starts</a:t>
            </a:r>
            <a:r>
              <a:rPr kumimoji="0" lang="ru-KZ" altLang="ru-KZ" b="0" i="0" u="none" strike="noStrike" cap="none" normalizeH="0" baseline="0">
                <a:ln>
                  <a:noFill/>
                </a:ln>
                <a:solidFill>
                  <a:schemeClr val="tx1"/>
                </a:solidFill>
                <a:effectLst/>
                <a:latin typeface="Arial" panose="020B0604020202020204" pitchFamily="34" charset="0"/>
              </a:rPr>
              <a:t> a </a:t>
            </a:r>
            <a:r>
              <a:rPr kumimoji="0" lang="ru-KZ" altLang="ru-KZ" b="0" i="0" u="none" strike="noStrike" cap="none" normalizeH="0" baseline="0" err="1">
                <a:ln>
                  <a:noFill/>
                </a:ln>
                <a:solidFill>
                  <a:schemeClr val="tx1"/>
                </a:solidFill>
                <a:effectLst/>
                <a:latin typeface="Arial" panose="020B0604020202020204" pitchFamily="34" charset="0"/>
              </a:rPr>
              <a:t>transaction</a:t>
            </a:r>
            <a:r>
              <a:rPr kumimoji="0" lang="ru-KZ" altLang="ru-KZ"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b="1" i="0" u="none" strike="noStrike" cap="none" normalizeH="0" baseline="0">
                <a:ln>
                  <a:noFill/>
                </a:ln>
                <a:solidFill>
                  <a:schemeClr val="tx1"/>
                </a:solidFill>
                <a:effectLst/>
                <a:latin typeface="Arial" panose="020B0604020202020204" pitchFamily="34" charset="0"/>
              </a:rPr>
              <a:t>COMMIT</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Saves</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changes</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made</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in</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the</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transaction</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to</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the</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database</a:t>
            </a:r>
            <a:r>
              <a:rPr kumimoji="0" lang="ru-KZ" altLang="ru-KZ"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b="1" i="0" u="none" strike="noStrike" cap="none" normalizeH="0" baseline="0">
                <a:ln>
                  <a:noFill/>
                </a:ln>
                <a:solidFill>
                  <a:schemeClr val="tx1"/>
                </a:solidFill>
                <a:effectLst/>
                <a:latin typeface="Arial" panose="020B0604020202020204" pitchFamily="34" charset="0"/>
              </a:rPr>
              <a:t>ROLLBACK</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Undoes</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all</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changes</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made</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within</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the</a:t>
            </a:r>
            <a:r>
              <a:rPr kumimoji="0" lang="ru-KZ" altLang="ru-KZ" b="0" i="0" u="none" strike="noStrike" cap="none" normalizeH="0" baseline="0">
                <a:ln>
                  <a:noFill/>
                </a:ln>
                <a:solidFill>
                  <a:schemeClr val="tx1"/>
                </a:solidFill>
                <a:effectLst/>
                <a:latin typeface="Arial" panose="020B0604020202020204" pitchFamily="34" charset="0"/>
              </a:rPr>
              <a:t> </a:t>
            </a:r>
            <a:r>
              <a:rPr kumimoji="0" lang="ru-KZ" altLang="ru-KZ" b="0" i="0" u="none" strike="noStrike" cap="none" normalizeH="0" baseline="0" err="1">
                <a:ln>
                  <a:noFill/>
                </a:ln>
                <a:solidFill>
                  <a:schemeClr val="tx1"/>
                </a:solidFill>
                <a:effectLst/>
                <a:latin typeface="Arial" panose="020B0604020202020204" pitchFamily="34" charset="0"/>
              </a:rPr>
              <a:t>transaction</a:t>
            </a:r>
            <a:r>
              <a:rPr kumimoji="0" lang="ru-KZ" altLang="ru-KZ" b="0" i="0" u="none" strike="noStrike" cap="none" normalizeH="0" baseline="0">
                <a:ln>
                  <a:noFill/>
                </a:ln>
                <a:solidFill>
                  <a:schemeClr val="tx1"/>
                </a:solidFill>
                <a:effectLst/>
                <a:latin typeface="Arial" panose="020B0604020202020204" pitchFamily="34" charset="0"/>
              </a:rPr>
              <a:t>. </a:t>
            </a:r>
          </a:p>
        </p:txBody>
      </p:sp>
      <p:pic>
        <p:nvPicPr>
          <p:cNvPr id="6" name="Рисунок 5">
            <a:extLst>
              <a:ext uri="{FF2B5EF4-FFF2-40B4-BE49-F238E27FC236}">
                <a16:creationId xmlns:a16="http://schemas.microsoft.com/office/drawing/2014/main" id="{9D102EFE-F910-6F10-D26E-E820C741E9DE}"/>
              </a:ext>
            </a:extLst>
          </p:cNvPr>
          <p:cNvPicPr>
            <a:picLocks noChangeAspect="1"/>
          </p:cNvPicPr>
          <p:nvPr/>
        </p:nvPicPr>
        <p:blipFill>
          <a:blip r:embed="rId2"/>
          <a:stretch>
            <a:fillRect/>
          </a:stretch>
        </p:blipFill>
        <p:spPr>
          <a:xfrm>
            <a:off x="1143000" y="3796607"/>
            <a:ext cx="9928685" cy="2388292"/>
          </a:xfrm>
          <a:prstGeom prst="rect">
            <a:avLst/>
          </a:prstGeom>
        </p:spPr>
      </p:pic>
      <p:sp>
        <p:nvSpPr>
          <p:cNvPr id="7" name="Rectangle 2">
            <a:extLst>
              <a:ext uri="{FF2B5EF4-FFF2-40B4-BE49-F238E27FC236}">
                <a16:creationId xmlns:a16="http://schemas.microsoft.com/office/drawing/2014/main" id="{457A36B0-C188-4331-5581-361D38BA0CF7}"/>
              </a:ext>
            </a:extLst>
          </p:cNvPr>
          <p:cNvSpPr>
            <a:spLocks noChangeArrowheads="1"/>
          </p:cNvSpPr>
          <p:nvPr/>
        </p:nvSpPr>
        <p:spPr bwMode="auto">
          <a:xfrm>
            <a:off x="1066800" y="6200745"/>
            <a:ext cx="7861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KZ" altLang="ru-KZ" sz="2000" b="0" i="0" u="none" strike="noStrike" cap="none" normalizeH="0" baseline="0" err="1">
                <a:ln>
                  <a:noFill/>
                </a:ln>
                <a:solidFill>
                  <a:schemeClr val="tx1"/>
                </a:solidFill>
                <a:effectLst/>
                <a:latin typeface="+mj-lt"/>
              </a:rPr>
              <a:t>If</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an</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error</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occurs</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at</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any</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point</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you</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can</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call</a:t>
            </a:r>
            <a:r>
              <a:rPr kumimoji="0" lang="ru-KZ" altLang="ru-KZ" sz="2000" b="0" i="0" u="none" strike="noStrike" cap="none" normalizeH="0" baseline="0">
                <a:ln>
                  <a:noFill/>
                </a:ln>
                <a:solidFill>
                  <a:schemeClr val="tx1"/>
                </a:solidFill>
                <a:effectLst/>
                <a:latin typeface="+mj-lt"/>
              </a:rPr>
              <a:t> ROLLBACK </a:t>
            </a:r>
            <a:r>
              <a:rPr kumimoji="0" lang="ru-KZ" altLang="ru-KZ" sz="2000" b="0" i="0" u="none" strike="noStrike" cap="none" normalizeH="0" baseline="0" err="1">
                <a:ln>
                  <a:noFill/>
                </a:ln>
                <a:solidFill>
                  <a:schemeClr val="tx1"/>
                </a:solidFill>
                <a:effectLst/>
                <a:latin typeface="+mj-lt"/>
              </a:rPr>
              <a:t>instead</a:t>
            </a:r>
            <a:r>
              <a:rPr kumimoji="0" lang="ru-KZ" altLang="ru-KZ" sz="2000" b="0" i="0" u="none" strike="noStrike" cap="none" normalizeH="0" baseline="0">
                <a:ln>
                  <a:noFill/>
                </a:ln>
                <a:solidFill>
                  <a:schemeClr val="tx1"/>
                </a:solidFill>
                <a:effectLst/>
                <a:latin typeface="+mj-lt"/>
              </a:rPr>
              <a:t> </a:t>
            </a:r>
            <a:r>
              <a:rPr kumimoji="0" lang="ru-KZ" altLang="ru-KZ" sz="2000" b="0" i="0" u="none" strike="noStrike" cap="none" normalizeH="0" baseline="0" err="1">
                <a:ln>
                  <a:noFill/>
                </a:ln>
                <a:solidFill>
                  <a:schemeClr val="tx1"/>
                </a:solidFill>
                <a:effectLst/>
                <a:latin typeface="+mj-lt"/>
              </a:rPr>
              <a:t>of</a:t>
            </a:r>
            <a:r>
              <a:rPr kumimoji="0" lang="ru-KZ" altLang="ru-KZ" sz="2000" b="0" i="0" u="none" strike="noStrike" cap="none" normalizeH="0" baseline="0">
                <a:ln>
                  <a:noFill/>
                </a:ln>
                <a:solidFill>
                  <a:schemeClr val="tx1"/>
                </a:solidFill>
                <a:effectLst/>
                <a:latin typeface="+mj-lt"/>
              </a:rPr>
              <a:t> COMMIT </a:t>
            </a:r>
          </a:p>
        </p:txBody>
      </p:sp>
    </p:spTree>
    <p:extLst>
      <p:ext uri="{BB962C8B-B14F-4D97-AF65-F5344CB8AC3E}">
        <p14:creationId xmlns:p14="http://schemas.microsoft.com/office/powerpoint/2010/main" val="1054562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3A1DEE-71E3-361D-5516-615324A6A313}"/>
              </a:ext>
            </a:extLst>
          </p:cNvPr>
          <p:cNvSpPr>
            <a:spLocks noGrp="1"/>
          </p:cNvSpPr>
          <p:nvPr>
            <p:ph type="title"/>
          </p:nvPr>
        </p:nvSpPr>
        <p:spPr>
          <a:xfrm>
            <a:off x="1066800" y="762000"/>
            <a:ext cx="6617777" cy="635000"/>
          </a:xfrm>
        </p:spPr>
        <p:txBody>
          <a:bodyPr/>
          <a:lstStyle/>
          <a:p>
            <a:r>
              <a:rPr lang="en-US"/>
              <a:t>Examples</a:t>
            </a:r>
            <a:endParaRPr lang="ru-KZ"/>
          </a:p>
        </p:txBody>
      </p:sp>
      <p:sp>
        <p:nvSpPr>
          <p:cNvPr id="3" name="Текст 2">
            <a:extLst>
              <a:ext uri="{FF2B5EF4-FFF2-40B4-BE49-F238E27FC236}">
                <a16:creationId xmlns:a16="http://schemas.microsoft.com/office/drawing/2014/main" id="{7FF80913-30A0-09FD-9283-26C11935584B}"/>
              </a:ext>
            </a:extLst>
          </p:cNvPr>
          <p:cNvSpPr>
            <a:spLocks noGrp="1"/>
          </p:cNvSpPr>
          <p:nvPr>
            <p:ph type="body" idx="1"/>
          </p:nvPr>
        </p:nvSpPr>
        <p:spPr/>
        <p:txBody>
          <a:bodyPr/>
          <a:lstStyle/>
          <a:p>
            <a:endParaRPr lang="ru-KZ"/>
          </a:p>
        </p:txBody>
      </p:sp>
      <p:pic>
        <p:nvPicPr>
          <p:cNvPr id="5" name="Рисунок 4">
            <a:extLst>
              <a:ext uri="{FF2B5EF4-FFF2-40B4-BE49-F238E27FC236}">
                <a16:creationId xmlns:a16="http://schemas.microsoft.com/office/drawing/2014/main" id="{53818A3D-30E5-3C40-88BD-E48D8F0B29F9}"/>
              </a:ext>
            </a:extLst>
          </p:cNvPr>
          <p:cNvPicPr>
            <a:picLocks noChangeAspect="1"/>
          </p:cNvPicPr>
          <p:nvPr/>
        </p:nvPicPr>
        <p:blipFill>
          <a:blip r:embed="rId2"/>
          <a:stretch>
            <a:fillRect/>
          </a:stretch>
        </p:blipFill>
        <p:spPr>
          <a:xfrm>
            <a:off x="408140" y="1403744"/>
            <a:ext cx="7010400" cy="4933245"/>
          </a:xfrm>
          <a:prstGeom prst="rect">
            <a:avLst/>
          </a:prstGeom>
        </p:spPr>
      </p:pic>
      <p:pic>
        <p:nvPicPr>
          <p:cNvPr id="7" name="Рисунок 6">
            <a:extLst>
              <a:ext uri="{FF2B5EF4-FFF2-40B4-BE49-F238E27FC236}">
                <a16:creationId xmlns:a16="http://schemas.microsoft.com/office/drawing/2014/main" id="{384F21EE-C287-B9CB-1B01-FCF8D0E52EC7}"/>
              </a:ext>
            </a:extLst>
          </p:cNvPr>
          <p:cNvPicPr>
            <a:picLocks noChangeAspect="1"/>
          </p:cNvPicPr>
          <p:nvPr/>
        </p:nvPicPr>
        <p:blipFill>
          <a:blip r:embed="rId3"/>
          <a:stretch>
            <a:fillRect/>
          </a:stretch>
        </p:blipFill>
        <p:spPr>
          <a:xfrm>
            <a:off x="3810000" y="2362201"/>
            <a:ext cx="8452494" cy="1638010"/>
          </a:xfrm>
          <a:prstGeom prst="rect">
            <a:avLst/>
          </a:prstGeom>
        </p:spPr>
      </p:pic>
    </p:spTree>
    <p:extLst>
      <p:ext uri="{BB962C8B-B14F-4D97-AF65-F5344CB8AC3E}">
        <p14:creationId xmlns:p14="http://schemas.microsoft.com/office/powerpoint/2010/main" val="1415679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20FC5D-8ECE-6DA7-E742-6E9A5C186AE9}"/>
              </a:ext>
            </a:extLst>
          </p:cNvPr>
          <p:cNvSpPr>
            <a:spLocks noGrp="1"/>
          </p:cNvSpPr>
          <p:nvPr>
            <p:ph type="title"/>
          </p:nvPr>
        </p:nvSpPr>
        <p:spPr>
          <a:xfrm>
            <a:off x="838200" y="609600"/>
            <a:ext cx="2567556" cy="635000"/>
          </a:xfrm>
        </p:spPr>
        <p:txBody>
          <a:bodyPr/>
          <a:lstStyle/>
          <a:p>
            <a:r>
              <a:rPr lang="en-US"/>
              <a:t>Examples</a:t>
            </a:r>
            <a:endParaRPr lang="ru-KZ"/>
          </a:p>
        </p:txBody>
      </p:sp>
      <p:sp>
        <p:nvSpPr>
          <p:cNvPr id="3" name="Текст 2">
            <a:extLst>
              <a:ext uri="{FF2B5EF4-FFF2-40B4-BE49-F238E27FC236}">
                <a16:creationId xmlns:a16="http://schemas.microsoft.com/office/drawing/2014/main" id="{E5D02B31-4693-9F3E-B5C1-38D91F6A893D}"/>
              </a:ext>
            </a:extLst>
          </p:cNvPr>
          <p:cNvSpPr>
            <a:spLocks noGrp="1"/>
          </p:cNvSpPr>
          <p:nvPr>
            <p:ph type="body" idx="1"/>
          </p:nvPr>
        </p:nvSpPr>
        <p:spPr/>
        <p:txBody>
          <a:bodyPr/>
          <a:lstStyle/>
          <a:p>
            <a:endParaRPr lang="ru-KZ"/>
          </a:p>
        </p:txBody>
      </p:sp>
      <p:pic>
        <p:nvPicPr>
          <p:cNvPr id="5" name="Рисунок 4">
            <a:extLst>
              <a:ext uri="{FF2B5EF4-FFF2-40B4-BE49-F238E27FC236}">
                <a16:creationId xmlns:a16="http://schemas.microsoft.com/office/drawing/2014/main" id="{01CD6849-84D0-CC1F-4B97-42DD200C6EF2}"/>
              </a:ext>
            </a:extLst>
          </p:cNvPr>
          <p:cNvPicPr>
            <a:picLocks noChangeAspect="1"/>
          </p:cNvPicPr>
          <p:nvPr/>
        </p:nvPicPr>
        <p:blipFill>
          <a:blip r:embed="rId2"/>
          <a:stretch>
            <a:fillRect/>
          </a:stretch>
        </p:blipFill>
        <p:spPr>
          <a:xfrm>
            <a:off x="593124" y="1428592"/>
            <a:ext cx="7013673" cy="4913072"/>
          </a:xfrm>
          <a:prstGeom prst="rect">
            <a:avLst/>
          </a:prstGeom>
        </p:spPr>
      </p:pic>
      <p:pic>
        <p:nvPicPr>
          <p:cNvPr id="7" name="Рисунок 6">
            <a:extLst>
              <a:ext uri="{FF2B5EF4-FFF2-40B4-BE49-F238E27FC236}">
                <a16:creationId xmlns:a16="http://schemas.microsoft.com/office/drawing/2014/main" id="{4E38C29C-77F1-F0DD-6119-147B17CB64BF}"/>
              </a:ext>
            </a:extLst>
          </p:cNvPr>
          <p:cNvPicPr>
            <a:picLocks noChangeAspect="1"/>
          </p:cNvPicPr>
          <p:nvPr/>
        </p:nvPicPr>
        <p:blipFill>
          <a:blip r:embed="rId3"/>
          <a:stretch>
            <a:fillRect/>
          </a:stretch>
        </p:blipFill>
        <p:spPr>
          <a:xfrm>
            <a:off x="3276600" y="4956251"/>
            <a:ext cx="8659350" cy="1752600"/>
          </a:xfrm>
          <a:prstGeom prst="rect">
            <a:avLst/>
          </a:prstGeom>
        </p:spPr>
      </p:pic>
    </p:spTree>
    <p:extLst>
      <p:ext uri="{BB962C8B-B14F-4D97-AF65-F5344CB8AC3E}">
        <p14:creationId xmlns:p14="http://schemas.microsoft.com/office/powerpoint/2010/main" val="3525726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6B2777-19BA-7EC9-AD62-6B71056F3C69}"/>
              </a:ext>
            </a:extLst>
          </p:cNvPr>
          <p:cNvSpPr>
            <a:spLocks noGrp="1"/>
          </p:cNvSpPr>
          <p:nvPr>
            <p:ph type="title"/>
          </p:nvPr>
        </p:nvSpPr>
        <p:spPr>
          <a:xfrm>
            <a:off x="2895600" y="725931"/>
            <a:ext cx="4484177" cy="615553"/>
          </a:xfrm>
        </p:spPr>
        <p:txBody>
          <a:bodyPr/>
          <a:lstStyle/>
          <a:p>
            <a:r>
              <a:rPr lang="en-US"/>
              <a:t>Isolation levels</a:t>
            </a:r>
            <a:endParaRPr lang="ru-KZ"/>
          </a:p>
        </p:txBody>
      </p:sp>
      <p:sp>
        <p:nvSpPr>
          <p:cNvPr id="4" name="Rectangle 1">
            <a:extLst>
              <a:ext uri="{FF2B5EF4-FFF2-40B4-BE49-F238E27FC236}">
                <a16:creationId xmlns:a16="http://schemas.microsoft.com/office/drawing/2014/main" id="{6B09E1A4-40AC-491D-3BB1-279E920718F9}"/>
              </a:ext>
            </a:extLst>
          </p:cNvPr>
          <p:cNvSpPr>
            <a:spLocks noGrp="1" noChangeArrowheads="1"/>
          </p:cNvSpPr>
          <p:nvPr>
            <p:ph type="body" idx="1"/>
          </p:nvPr>
        </p:nvSpPr>
        <p:spPr bwMode="auto">
          <a:xfrm>
            <a:off x="1013691" y="1902073"/>
            <a:ext cx="10591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ru-KZ" altLang="ru-KZ" sz="2400" b="1" i="0" u="none" strike="noStrike" cap="none" normalizeH="0" baseline="0" err="1">
                <a:ln>
                  <a:noFill/>
                </a:ln>
                <a:solidFill>
                  <a:schemeClr val="tx1"/>
                </a:solidFill>
                <a:effectLst/>
                <a:latin typeface="Arial" panose="020B0604020202020204" pitchFamily="34" charset="0"/>
              </a:rPr>
              <a:t>Read</a:t>
            </a:r>
            <a:r>
              <a:rPr kumimoji="0" lang="ru-KZ" altLang="ru-KZ" sz="2400" b="1" i="0" u="none" strike="noStrike" cap="none" normalizeH="0" baseline="0">
                <a:ln>
                  <a:noFill/>
                </a:ln>
                <a:solidFill>
                  <a:schemeClr val="tx1"/>
                </a:solidFill>
                <a:effectLst/>
                <a:latin typeface="Arial" panose="020B0604020202020204" pitchFamily="34" charset="0"/>
              </a:rPr>
              <a:t> </a:t>
            </a:r>
            <a:r>
              <a:rPr kumimoji="0" lang="ru-KZ" altLang="ru-KZ" sz="2400" b="1" i="0" u="none" strike="noStrike" cap="none" normalizeH="0" baseline="0" err="1">
                <a:ln>
                  <a:noFill/>
                </a:ln>
                <a:solidFill>
                  <a:schemeClr val="tx1"/>
                </a:solidFill>
                <a:effectLst/>
                <a:latin typeface="Arial" panose="020B0604020202020204" pitchFamily="34" charset="0"/>
              </a:rPr>
              <a:t>Uncommitted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Allows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transactions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to</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read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uncommitted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changes</a:t>
            </a:r>
            <a:r>
              <a:rPr kumimoji="0" lang="ru-KZ" altLang="ru-KZ" sz="2400" b="0" i="0" u="none" strike="noStrike" cap="none" normalizeH="0" baseline="0">
                <a:ln>
                  <a:noFill/>
                </a:ln>
                <a:solidFill>
                  <a:schemeClr val="tx1"/>
                </a:solidFill>
                <a:effectLst/>
                <a:latin typeface="Arial" panose="020B0604020202020204" pitchFamily="34" charset="0"/>
              </a:rPr>
              <a:t>.</a:t>
            </a:r>
            <a:endParaRPr kumimoji="0" lang="en-US" altLang="ru-KZ"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ru-KZ" altLang="ru-KZ"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ru-KZ" altLang="ru-KZ" sz="2400" b="1" i="0" u="none" strike="noStrike" cap="none" normalizeH="0" baseline="0" err="1">
                <a:ln>
                  <a:noFill/>
                </a:ln>
                <a:solidFill>
                  <a:schemeClr val="tx1"/>
                </a:solidFill>
                <a:effectLst/>
                <a:latin typeface="Arial" panose="020B0604020202020204" pitchFamily="34" charset="0"/>
              </a:rPr>
              <a:t>Read</a:t>
            </a:r>
            <a:r>
              <a:rPr kumimoji="0" lang="ru-KZ" altLang="ru-KZ" sz="2400" b="1" i="0" u="none" strike="noStrike" cap="none" normalizeH="0" baseline="0">
                <a:ln>
                  <a:noFill/>
                </a:ln>
                <a:solidFill>
                  <a:schemeClr val="tx1"/>
                </a:solidFill>
                <a:effectLst/>
                <a:latin typeface="Arial" panose="020B0604020202020204" pitchFamily="34" charset="0"/>
              </a:rPr>
              <a:t> </a:t>
            </a:r>
            <a:r>
              <a:rPr kumimoji="0" lang="ru-KZ" altLang="ru-KZ" sz="2400" b="1" i="0" u="none" strike="noStrike" cap="none" normalizeH="0" baseline="0" err="1">
                <a:ln>
                  <a:noFill/>
                </a:ln>
                <a:solidFill>
                  <a:schemeClr val="tx1"/>
                </a:solidFill>
                <a:effectLst/>
                <a:latin typeface="Arial" panose="020B0604020202020204" pitchFamily="34" charset="0"/>
              </a:rPr>
              <a:t>Committed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Default</a:t>
            </a:r>
            <a:r>
              <a:rPr kumimoji="0" lang="ru-KZ" altLang="ru-KZ" sz="2400" b="0" i="0" u="none" strike="noStrike" cap="none" normalizeH="0" baseline="0">
                <a:ln>
                  <a:noFill/>
                </a:ln>
                <a:solidFill>
                  <a:schemeClr val="tx1"/>
                </a:solidFill>
                <a:effectLst/>
                <a:latin typeface="Arial" panose="020B0604020202020204" pitchFamily="34" charset="0"/>
              </a:rPr>
              <a:t>): Only </a:t>
            </a:r>
            <a:r>
              <a:rPr kumimoji="0" lang="ru-KZ" altLang="ru-KZ" sz="2400" b="0" i="0" u="none" strike="noStrike" cap="none" normalizeH="0" baseline="0" err="1">
                <a:ln>
                  <a:noFill/>
                </a:ln>
                <a:solidFill>
                  <a:schemeClr val="tx1"/>
                </a:solidFill>
                <a:effectLst/>
                <a:latin typeface="Arial" panose="020B0604020202020204" pitchFamily="34" charset="0"/>
              </a:rPr>
              <a:t>reads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committed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data</a:t>
            </a:r>
            <a:r>
              <a:rPr lang="en-US" altLang="ru-KZ" sz="2400">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ru-KZ" altLang="ru-KZ"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ru-KZ" altLang="ru-KZ" sz="2400" b="1" i="0" u="none" strike="noStrike" cap="none" normalizeH="0" baseline="0" err="1">
                <a:ln>
                  <a:noFill/>
                </a:ln>
                <a:solidFill>
                  <a:schemeClr val="tx1"/>
                </a:solidFill>
                <a:effectLst/>
                <a:latin typeface="Arial" panose="020B0604020202020204" pitchFamily="34" charset="0"/>
              </a:rPr>
              <a:t>Repeatable</a:t>
            </a:r>
            <a:r>
              <a:rPr kumimoji="0" lang="ru-KZ" altLang="ru-KZ" sz="2400" b="1" i="0" u="none" strike="noStrike" cap="none" normalizeH="0" baseline="0">
                <a:ln>
                  <a:noFill/>
                </a:ln>
                <a:solidFill>
                  <a:schemeClr val="tx1"/>
                </a:solidFill>
                <a:effectLst/>
                <a:latin typeface="Arial" panose="020B0604020202020204" pitchFamily="34" charset="0"/>
              </a:rPr>
              <a:t> </a:t>
            </a:r>
            <a:r>
              <a:rPr kumimoji="0" lang="ru-KZ" altLang="ru-KZ" sz="2400" b="1" i="0" u="none" strike="noStrike" cap="none" normalizeH="0" baseline="0" err="1">
                <a:ln>
                  <a:noFill/>
                </a:ln>
                <a:solidFill>
                  <a:schemeClr val="tx1"/>
                </a:solidFill>
                <a:effectLst/>
                <a:latin typeface="Arial" panose="020B0604020202020204" pitchFamily="34" charset="0"/>
              </a:rPr>
              <a:t>Read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Guarantees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consistent</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data</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for</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the</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duration</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of</a:t>
            </a:r>
            <a:r>
              <a:rPr kumimoji="0" lang="ru-KZ" altLang="ru-KZ" sz="2400" b="0" i="0" u="none" strike="noStrike" cap="none" normalizeH="0" baseline="0">
                <a:ln>
                  <a:noFill/>
                </a:ln>
                <a:solidFill>
                  <a:schemeClr val="tx1"/>
                </a:solidFill>
                <a:effectLst/>
                <a:latin typeface="Arial" panose="020B0604020202020204" pitchFamily="34" charset="0"/>
              </a:rPr>
              <a:t> a </a:t>
            </a:r>
            <a:r>
              <a:rPr kumimoji="0" lang="ru-KZ" altLang="ru-KZ" sz="2400" b="0" i="0" u="none" strike="noStrike" cap="none" normalizeH="0" baseline="0" err="1">
                <a:ln>
                  <a:noFill/>
                </a:ln>
                <a:solidFill>
                  <a:schemeClr val="tx1"/>
                </a:solidFill>
                <a:effectLst/>
                <a:latin typeface="Arial" panose="020B0604020202020204" pitchFamily="34" charset="0"/>
              </a:rPr>
              <a:t>transaction</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even</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if</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other</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transactions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modify</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it</a:t>
            </a:r>
            <a:r>
              <a:rPr kumimoji="0" lang="ru-KZ" altLang="ru-KZ" sz="2400" b="0" i="0" u="none" strike="noStrike" cap="none" normalizeH="0" baseline="0">
                <a:ln>
                  <a:noFill/>
                </a:ln>
                <a:solidFill>
                  <a:schemeClr val="tx1"/>
                </a:solidFill>
                <a:effectLst/>
                <a:latin typeface="Arial" panose="020B0604020202020204" pitchFamily="34" charset="0"/>
              </a:rPr>
              <a:t>.</a:t>
            </a:r>
            <a:endParaRPr kumimoji="0" lang="en-US" altLang="ru-KZ"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ru-KZ" altLang="ru-KZ"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ru-KZ" altLang="ru-KZ" sz="2400" b="1" i="0" u="none" strike="noStrike" cap="none" normalizeH="0" baseline="0" err="1">
                <a:ln>
                  <a:noFill/>
                </a:ln>
                <a:solidFill>
                  <a:schemeClr val="tx1"/>
                </a:solidFill>
                <a:effectLst/>
                <a:latin typeface="Arial" panose="020B0604020202020204" pitchFamily="34" charset="0"/>
              </a:rPr>
              <a:t>Serializable</a:t>
            </a:r>
            <a:r>
              <a:rPr kumimoji="0" lang="ru-KZ" altLang="ru-KZ" sz="2400" b="0" i="0" u="none" strike="noStrike" cap="none" normalizeH="0" baseline="0">
                <a:ln>
                  <a:noFill/>
                </a:ln>
                <a:solidFill>
                  <a:schemeClr val="tx1"/>
                </a:solidFill>
                <a:effectLst/>
                <a:latin typeface="Arial" panose="020B0604020202020204" pitchFamily="34" charset="0"/>
              </a:rPr>
              <a:t>: The </a:t>
            </a:r>
            <a:r>
              <a:rPr kumimoji="0" lang="ru-KZ" altLang="ru-KZ" sz="2400" b="0" i="0" u="none" strike="noStrike" cap="none" normalizeH="0" baseline="0" err="1">
                <a:ln>
                  <a:noFill/>
                </a:ln>
                <a:solidFill>
                  <a:schemeClr val="tx1"/>
                </a:solidFill>
                <a:effectLst/>
                <a:latin typeface="Arial" panose="020B0604020202020204" pitchFamily="34" charset="0"/>
              </a:rPr>
              <a:t>strictest</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level</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ensuring</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transactions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behave</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as</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if</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executed</a:t>
            </a:r>
            <a:r>
              <a:rPr kumimoji="0" lang="ru-KZ" altLang="ru-KZ" sz="2400" b="0" i="0" u="none" strike="noStrike" cap="none" normalizeH="0" baseline="0">
                <a:ln>
                  <a:noFill/>
                </a:ln>
                <a:solidFill>
                  <a:schemeClr val="tx1"/>
                </a:solidFill>
                <a:effectLst/>
                <a:latin typeface="Arial" panose="020B0604020202020204" pitchFamily="34" charset="0"/>
              </a:rPr>
              <a:t> </a:t>
            </a:r>
            <a:r>
              <a:rPr kumimoji="0" lang="ru-KZ" altLang="ru-KZ" sz="2400" b="0" i="0" u="none" strike="noStrike" cap="none" normalizeH="0" baseline="0" err="1">
                <a:ln>
                  <a:noFill/>
                </a:ln>
                <a:solidFill>
                  <a:schemeClr val="tx1"/>
                </a:solidFill>
                <a:effectLst/>
                <a:latin typeface="Arial" panose="020B0604020202020204" pitchFamily="34" charset="0"/>
              </a:rPr>
              <a:t>sequentially</a:t>
            </a:r>
            <a:r>
              <a:rPr kumimoji="0" lang="ru-KZ" altLang="ru-KZ" sz="24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33640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17D0C2-3DC2-64D8-DC2A-5697B5359F38}"/>
              </a:ext>
            </a:extLst>
          </p:cNvPr>
          <p:cNvSpPr>
            <a:spLocks noGrp="1"/>
          </p:cNvSpPr>
          <p:nvPr>
            <p:ph type="title"/>
          </p:nvPr>
        </p:nvSpPr>
        <p:spPr>
          <a:xfrm>
            <a:off x="1828800" y="725931"/>
            <a:ext cx="5550977" cy="615553"/>
          </a:xfrm>
        </p:spPr>
        <p:txBody>
          <a:bodyPr/>
          <a:lstStyle/>
          <a:p>
            <a:r>
              <a:rPr lang="en-US"/>
              <a:t>Set an isolation level:</a:t>
            </a:r>
            <a:endParaRPr lang="ru-KZ"/>
          </a:p>
        </p:txBody>
      </p:sp>
      <p:sp>
        <p:nvSpPr>
          <p:cNvPr id="3" name="Текст 2">
            <a:extLst>
              <a:ext uri="{FF2B5EF4-FFF2-40B4-BE49-F238E27FC236}">
                <a16:creationId xmlns:a16="http://schemas.microsoft.com/office/drawing/2014/main" id="{58EA3957-C57B-C013-FE0C-C16A005815A4}"/>
              </a:ext>
            </a:extLst>
          </p:cNvPr>
          <p:cNvSpPr>
            <a:spLocks noGrp="1"/>
          </p:cNvSpPr>
          <p:nvPr>
            <p:ph type="body" idx="1"/>
          </p:nvPr>
        </p:nvSpPr>
        <p:spPr/>
        <p:txBody>
          <a:bodyPr/>
          <a:lstStyle/>
          <a:p>
            <a:endParaRPr lang="ru-KZ"/>
          </a:p>
        </p:txBody>
      </p:sp>
      <p:pic>
        <p:nvPicPr>
          <p:cNvPr id="5" name="Рисунок 4">
            <a:extLst>
              <a:ext uri="{FF2B5EF4-FFF2-40B4-BE49-F238E27FC236}">
                <a16:creationId xmlns:a16="http://schemas.microsoft.com/office/drawing/2014/main" id="{A2FA5DCA-C33D-7F89-5B2C-3F610CBA4E45}"/>
              </a:ext>
            </a:extLst>
          </p:cNvPr>
          <p:cNvPicPr>
            <a:picLocks noChangeAspect="1"/>
          </p:cNvPicPr>
          <p:nvPr/>
        </p:nvPicPr>
        <p:blipFill>
          <a:blip r:embed="rId2"/>
          <a:stretch>
            <a:fillRect/>
          </a:stretch>
        </p:blipFill>
        <p:spPr>
          <a:xfrm>
            <a:off x="916939" y="1795778"/>
            <a:ext cx="9446261" cy="2446923"/>
          </a:xfrm>
          <a:prstGeom prst="rect">
            <a:avLst/>
          </a:prstGeom>
        </p:spPr>
      </p:pic>
    </p:spTree>
    <p:extLst>
      <p:ext uri="{BB962C8B-B14F-4D97-AF65-F5344CB8AC3E}">
        <p14:creationId xmlns:p14="http://schemas.microsoft.com/office/powerpoint/2010/main" val="338054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3872EA-EF1F-67D7-7F24-0B77BA2528E9}"/>
              </a:ext>
            </a:extLst>
          </p:cNvPr>
          <p:cNvSpPr>
            <a:spLocks noGrp="1"/>
          </p:cNvSpPr>
          <p:nvPr>
            <p:ph type="title"/>
          </p:nvPr>
        </p:nvSpPr>
        <p:spPr>
          <a:xfrm>
            <a:off x="853561" y="597330"/>
            <a:ext cx="5093777" cy="1231106"/>
          </a:xfrm>
        </p:spPr>
        <p:txBody>
          <a:bodyPr/>
          <a:lstStyle/>
          <a:p>
            <a:r>
              <a:rPr lang="en-US" err="1"/>
              <a:t>Savepoints</a:t>
            </a:r>
            <a:endParaRPr lang="ru-KZ"/>
          </a:p>
        </p:txBody>
      </p:sp>
      <p:sp>
        <p:nvSpPr>
          <p:cNvPr id="3" name="Текст 2">
            <a:extLst>
              <a:ext uri="{FF2B5EF4-FFF2-40B4-BE49-F238E27FC236}">
                <a16:creationId xmlns:a16="http://schemas.microsoft.com/office/drawing/2014/main" id="{3014191E-99B9-7148-2380-A43063CA5645}"/>
              </a:ext>
            </a:extLst>
          </p:cNvPr>
          <p:cNvSpPr>
            <a:spLocks noGrp="1"/>
          </p:cNvSpPr>
          <p:nvPr>
            <p:ph type="body" idx="1"/>
          </p:nvPr>
        </p:nvSpPr>
        <p:spPr>
          <a:xfrm>
            <a:off x="851087" y="1833409"/>
            <a:ext cx="10358120" cy="1292662"/>
          </a:xfrm>
        </p:spPr>
        <p:txBody>
          <a:bodyPr/>
          <a:lstStyle/>
          <a:p>
            <a:r>
              <a:rPr lang="en-US" b="1" err="1"/>
              <a:t>Savepoints</a:t>
            </a:r>
            <a:r>
              <a:rPr lang="en-US"/>
              <a:t>: </a:t>
            </a:r>
            <a:r>
              <a:rPr lang="en-US" err="1"/>
              <a:t>Savepoints</a:t>
            </a:r>
            <a:r>
              <a:rPr lang="en-US"/>
              <a:t> allow you to create a checkpoint within a transaction, which can be rolled back to without affecting the entire transaction. </a:t>
            </a:r>
            <a:endParaRPr lang="ru-KZ"/>
          </a:p>
        </p:txBody>
      </p:sp>
      <p:pic>
        <p:nvPicPr>
          <p:cNvPr id="5" name="Рисунок 4">
            <a:extLst>
              <a:ext uri="{FF2B5EF4-FFF2-40B4-BE49-F238E27FC236}">
                <a16:creationId xmlns:a16="http://schemas.microsoft.com/office/drawing/2014/main" id="{102324F9-B6C6-F297-C653-6EC324064C98}"/>
              </a:ext>
            </a:extLst>
          </p:cNvPr>
          <p:cNvPicPr>
            <a:picLocks noChangeAspect="1"/>
          </p:cNvPicPr>
          <p:nvPr/>
        </p:nvPicPr>
        <p:blipFill>
          <a:blip r:embed="rId2"/>
          <a:stretch>
            <a:fillRect/>
          </a:stretch>
        </p:blipFill>
        <p:spPr>
          <a:xfrm>
            <a:off x="652276" y="3530863"/>
            <a:ext cx="10611897" cy="2481943"/>
          </a:xfrm>
          <a:prstGeom prst="rect">
            <a:avLst/>
          </a:prstGeom>
        </p:spPr>
      </p:pic>
    </p:spTree>
    <p:extLst>
      <p:ext uri="{BB962C8B-B14F-4D97-AF65-F5344CB8AC3E}">
        <p14:creationId xmlns:p14="http://schemas.microsoft.com/office/powerpoint/2010/main" val="4232197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0D4340-9D74-416B-8398-94DDABB5CA1E}"/>
              </a:ext>
            </a:extLst>
          </p:cNvPr>
          <p:cNvSpPr>
            <a:spLocks noGrp="1"/>
          </p:cNvSpPr>
          <p:nvPr>
            <p:ph type="title"/>
          </p:nvPr>
        </p:nvSpPr>
        <p:spPr>
          <a:xfrm>
            <a:off x="906053" y="762000"/>
            <a:ext cx="6084377" cy="3077766"/>
          </a:xfrm>
        </p:spPr>
        <p:txBody>
          <a:bodyPr/>
          <a:lstStyle/>
          <a:p>
            <a:r>
              <a:rPr lang="en-US" b="1"/>
              <a:t>Benefits of </a:t>
            </a:r>
            <a:r>
              <a:rPr lang="en-US" b="1" err="1"/>
              <a:t>Savepoints</a:t>
            </a:r>
            <a:br>
              <a:rPr lang="en-US" b="1"/>
            </a:br>
            <a:endParaRPr lang="ru-KZ"/>
          </a:p>
        </p:txBody>
      </p:sp>
      <p:sp>
        <p:nvSpPr>
          <p:cNvPr id="3" name="Текст 2">
            <a:extLst>
              <a:ext uri="{FF2B5EF4-FFF2-40B4-BE49-F238E27FC236}">
                <a16:creationId xmlns:a16="http://schemas.microsoft.com/office/drawing/2014/main" id="{95B90C8F-117A-DA07-30E8-44E3F43E77F8}"/>
              </a:ext>
            </a:extLst>
          </p:cNvPr>
          <p:cNvSpPr>
            <a:spLocks noGrp="1"/>
          </p:cNvSpPr>
          <p:nvPr>
            <p:ph type="body" idx="1"/>
          </p:nvPr>
        </p:nvSpPr>
        <p:spPr>
          <a:xfrm>
            <a:off x="916939" y="1795779"/>
            <a:ext cx="10358120" cy="4308872"/>
          </a:xfrm>
        </p:spPr>
        <p:txBody>
          <a:bodyPr/>
          <a:lstStyle/>
          <a:p>
            <a:pPr marL="457200" indent="-457200" algn="just">
              <a:buFont typeface="Arial" panose="020B0604020202020204" pitchFamily="34" charset="0"/>
              <a:buChar char="•"/>
            </a:pPr>
            <a:r>
              <a:rPr lang="en-US" b="1"/>
              <a:t>Flexibility in Transactions: </a:t>
            </a:r>
            <a:r>
              <a:rPr lang="en-US" err="1"/>
              <a:t>Savepoints</a:t>
            </a:r>
            <a:r>
              <a:rPr lang="en-US"/>
              <a:t> allow you to manage complex transactions that may require only partial rollbacks rather than full transaction rollbacks. </a:t>
            </a:r>
          </a:p>
          <a:p>
            <a:pPr marL="457200" indent="-457200" algn="just">
              <a:buFont typeface="Arial" panose="020B0604020202020204" pitchFamily="34" charset="0"/>
              <a:buChar char="•"/>
            </a:pPr>
            <a:r>
              <a:rPr lang="en-US" b="1"/>
              <a:t>Improved Error Management: </a:t>
            </a:r>
            <a:r>
              <a:rPr lang="en-US"/>
              <a:t>By using </a:t>
            </a:r>
            <a:r>
              <a:rPr lang="en-US" err="1"/>
              <a:t>savepoints</a:t>
            </a:r>
            <a:r>
              <a:rPr lang="en-US"/>
              <a:t>, you can isolate and handle errors within sections of a transaction, retry specific steps, or skip them if needed. </a:t>
            </a:r>
          </a:p>
          <a:p>
            <a:pPr marL="457200" indent="-457200" algn="just">
              <a:buFont typeface="Arial" panose="020B0604020202020204" pitchFamily="34" charset="0"/>
              <a:buChar char="•"/>
            </a:pPr>
            <a:r>
              <a:rPr lang="en-US" b="1"/>
              <a:t>Enhanced Modularity: </a:t>
            </a:r>
            <a:r>
              <a:rPr lang="en-US" err="1"/>
              <a:t>Savepoints</a:t>
            </a:r>
            <a:r>
              <a:rPr lang="en-US"/>
              <a:t> break a large transaction into parts, making it easier to understand, test, and debug, particularly useful in complex applications like financial processing or booking systems.</a:t>
            </a:r>
            <a:endParaRPr lang="ru-KZ"/>
          </a:p>
        </p:txBody>
      </p:sp>
    </p:spTree>
    <p:extLst>
      <p:ext uri="{BB962C8B-B14F-4D97-AF65-F5344CB8AC3E}">
        <p14:creationId xmlns:p14="http://schemas.microsoft.com/office/powerpoint/2010/main" val="463056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D5153D-1DD4-9A0F-308C-DF9402F87DA6}"/>
              </a:ext>
            </a:extLst>
          </p:cNvPr>
          <p:cNvSpPr>
            <a:spLocks noGrp="1"/>
          </p:cNvSpPr>
          <p:nvPr>
            <p:ph type="title"/>
          </p:nvPr>
        </p:nvSpPr>
        <p:spPr/>
        <p:txBody>
          <a:bodyPr/>
          <a:lstStyle/>
          <a:p>
            <a:r>
              <a:rPr lang="en-US"/>
              <a:t>Examples</a:t>
            </a:r>
            <a:endParaRPr lang="ru-KZ"/>
          </a:p>
        </p:txBody>
      </p:sp>
      <p:sp>
        <p:nvSpPr>
          <p:cNvPr id="3" name="Текст 2">
            <a:extLst>
              <a:ext uri="{FF2B5EF4-FFF2-40B4-BE49-F238E27FC236}">
                <a16:creationId xmlns:a16="http://schemas.microsoft.com/office/drawing/2014/main" id="{9B3F9BBC-CB39-A1C0-8A4C-1298BF48BE53}"/>
              </a:ext>
            </a:extLst>
          </p:cNvPr>
          <p:cNvSpPr>
            <a:spLocks noGrp="1"/>
          </p:cNvSpPr>
          <p:nvPr>
            <p:ph type="body" idx="1"/>
          </p:nvPr>
        </p:nvSpPr>
        <p:spPr>
          <a:xfrm>
            <a:off x="-703517" y="-1088246"/>
            <a:ext cx="10358120" cy="3259454"/>
          </a:xfrm>
        </p:spPr>
        <p:txBody>
          <a:bodyPr/>
          <a:lstStyle/>
          <a:p>
            <a:endParaRPr lang="ru-KZ"/>
          </a:p>
        </p:txBody>
      </p:sp>
      <p:pic>
        <p:nvPicPr>
          <p:cNvPr id="5" name="Рисунок 4">
            <a:extLst>
              <a:ext uri="{FF2B5EF4-FFF2-40B4-BE49-F238E27FC236}">
                <a16:creationId xmlns:a16="http://schemas.microsoft.com/office/drawing/2014/main" id="{DE3462A1-C952-3939-11BD-B19ABC8DFC2F}"/>
              </a:ext>
            </a:extLst>
          </p:cNvPr>
          <p:cNvPicPr>
            <a:picLocks noChangeAspect="1"/>
          </p:cNvPicPr>
          <p:nvPr/>
        </p:nvPicPr>
        <p:blipFill>
          <a:blip r:embed="rId2"/>
          <a:stretch>
            <a:fillRect/>
          </a:stretch>
        </p:blipFill>
        <p:spPr>
          <a:xfrm>
            <a:off x="662616" y="2971800"/>
            <a:ext cx="11529384" cy="1905000"/>
          </a:xfrm>
          <a:prstGeom prst="rect">
            <a:avLst/>
          </a:prstGeom>
        </p:spPr>
      </p:pic>
      <p:sp>
        <p:nvSpPr>
          <p:cNvPr id="7" name="TextBox 6">
            <a:extLst>
              <a:ext uri="{FF2B5EF4-FFF2-40B4-BE49-F238E27FC236}">
                <a16:creationId xmlns:a16="http://schemas.microsoft.com/office/drawing/2014/main" id="{0FA19D7D-F866-B0E7-C4C1-CB827BD2F1D5}"/>
              </a:ext>
            </a:extLst>
          </p:cNvPr>
          <p:cNvSpPr txBox="1"/>
          <p:nvPr/>
        </p:nvSpPr>
        <p:spPr>
          <a:xfrm>
            <a:off x="684387" y="2167620"/>
            <a:ext cx="609600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Update Flight Status to ‘Boarding’:</a:t>
            </a:r>
            <a:endParaRPr lang="ru-KZ"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0253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929650-8DDB-A574-C219-A913BC35BA36}"/>
              </a:ext>
            </a:extLst>
          </p:cNvPr>
          <p:cNvSpPr>
            <a:spLocks noGrp="1"/>
          </p:cNvSpPr>
          <p:nvPr>
            <p:ph type="title"/>
          </p:nvPr>
        </p:nvSpPr>
        <p:spPr/>
        <p:txBody>
          <a:bodyPr/>
          <a:lstStyle/>
          <a:p>
            <a:r>
              <a:rPr lang="en-US"/>
              <a:t>Examples</a:t>
            </a:r>
            <a:endParaRPr lang="ru-KZ"/>
          </a:p>
        </p:txBody>
      </p:sp>
      <p:sp>
        <p:nvSpPr>
          <p:cNvPr id="3" name="Текст 2">
            <a:extLst>
              <a:ext uri="{FF2B5EF4-FFF2-40B4-BE49-F238E27FC236}">
                <a16:creationId xmlns:a16="http://schemas.microsoft.com/office/drawing/2014/main" id="{028A2431-36D6-AB09-48D8-B86E49515E96}"/>
              </a:ext>
            </a:extLst>
          </p:cNvPr>
          <p:cNvSpPr>
            <a:spLocks noGrp="1"/>
          </p:cNvSpPr>
          <p:nvPr>
            <p:ph type="body" idx="1"/>
          </p:nvPr>
        </p:nvSpPr>
        <p:spPr/>
        <p:txBody>
          <a:bodyPr/>
          <a:lstStyle/>
          <a:p>
            <a:endParaRPr lang="ru-KZ"/>
          </a:p>
        </p:txBody>
      </p:sp>
      <p:pic>
        <p:nvPicPr>
          <p:cNvPr id="5" name="Рисунок 4">
            <a:extLst>
              <a:ext uri="{FF2B5EF4-FFF2-40B4-BE49-F238E27FC236}">
                <a16:creationId xmlns:a16="http://schemas.microsoft.com/office/drawing/2014/main" id="{DFD6555B-C1CF-EACA-CE5D-867864B056DE}"/>
              </a:ext>
            </a:extLst>
          </p:cNvPr>
          <p:cNvPicPr>
            <a:picLocks noChangeAspect="1"/>
          </p:cNvPicPr>
          <p:nvPr/>
        </p:nvPicPr>
        <p:blipFill>
          <a:blip r:embed="rId2"/>
          <a:stretch>
            <a:fillRect/>
          </a:stretch>
        </p:blipFill>
        <p:spPr>
          <a:xfrm>
            <a:off x="355601" y="1371091"/>
            <a:ext cx="11734800" cy="2682841"/>
          </a:xfrm>
          <a:prstGeom prst="rect">
            <a:avLst/>
          </a:prstGeom>
        </p:spPr>
      </p:pic>
      <p:sp>
        <p:nvSpPr>
          <p:cNvPr id="6" name="Rectangle 1">
            <a:extLst>
              <a:ext uri="{FF2B5EF4-FFF2-40B4-BE49-F238E27FC236}">
                <a16:creationId xmlns:a16="http://schemas.microsoft.com/office/drawing/2014/main" id="{57A37849-EA69-E044-EE8E-A491DB9EC3B4}"/>
              </a:ext>
            </a:extLst>
          </p:cNvPr>
          <p:cNvSpPr>
            <a:spLocks noChangeArrowheads="1"/>
          </p:cNvSpPr>
          <p:nvPr/>
        </p:nvSpPr>
        <p:spPr bwMode="auto">
          <a:xfrm>
            <a:off x="381000" y="4210616"/>
            <a:ext cx="1171942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KZ" altLang="ru-KZ"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sz="2000" b="0" i="0" u="none" strike="noStrike" cap="none" normalizeH="0" baseline="0">
                <a:ln>
                  <a:noFill/>
                </a:ln>
                <a:solidFill>
                  <a:schemeClr val="tx1"/>
                </a:solidFill>
                <a:effectLst/>
                <a:latin typeface="Arial" panose="020B0604020202020204" pitchFamily="34" charset="0"/>
              </a:rPr>
              <a:t>The </a:t>
            </a:r>
            <a:r>
              <a:rPr kumimoji="0" lang="ru-KZ" altLang="ru-KZ" sz="2000" b="0" i="0" u="none" strike="noStrike" cap="none" normalizeH="0" baseline="0" err="1">
                <a:ln>
                  <a:noFill/>
                </a:ln>
                <a:solidFill>
                  <a:schemeClr val="tx1"/>
                </a:solidFill>
                <a:effectLst/>
                <a:latin typeface="Arial" panose="020B0604020202020204" pitchFamily="34" charset="0"/>
              </a:rPr>
              <a:t>transaction</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starts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with</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a:ln>
                  <a:noFill/>
                </a:ln>
                <a:solidFill>
                  <a:schemeClr val="tx1"/>
                </a:solidFill>
                <a:effectLst/>
                <a:latin typeface="Arial Unicode MS"/>
              </a:rPr>
              <a:t>BEGIN</a:t>
            </a:r>
            <a:r>
              <a:rPr kumimoji="0" lang="ru-KZ" altLang="ru-KZ" sz="2000" b="0" i="0" u="none" strike="noStrike" cap="none" normalizeH="0" baseline="0">
                <a:ln>
                  <a:noFill/>
                </a:ln>
                <a:solidFill>
                  <a:schemeClr val="tx1"/>
                </a:solidFill>
                <a:effectLst/>
              </a:rPr>
              <a:t>.</a:t>
            </a:r>
            <a:endParaRPr kumimoji="0" lang="ru-KZ" altLang="ru-KZ"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sz="2000" b="0" i="0" u="none" strike="noStrike" cap="none" normalizeH="0" baseline="0">
                <a:ln>
                  <a:noFill/>
                </a:ln>
                <a:solidFill>
                  <a:schemeClr val="tx1"/>
                </a:solidFill>
                <a:effectLst/>
                <a:latin typeface="Arial" panose="020B0604020202020204" pitchFamily="34" charset="0"/>
              </a:rPr>
              <a:t>The </a:t>
            </a:r>
            <a:r>
              <a:rPr kumimoji="0" lang="ru-KZ" altLang="ru-KZ" sz="2000" b="0" i="0" u="none" strike="noStrike" cap="none" normalizeH="0" baseline="0" err="1">
                <a:ln>
                  <a:noFill/>
                </a:ln>
                <a:solidFill>
                  <a:schemeClr val="tx1"/>
                </a:solidFill>
                <a:effectLst/>
                <a:latin typeface="Arial" panose="020B0604020202020204" pitchFamily="34" charset="0"/>
              </a:rPr>
              <a:t>status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of</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1" i="0" u="none" strike="noStrike" cap="none" normalizeH="0" baseline="0" err="1">
                <a:ln>
                  <a:noFill/>
                </a:ln>
                <a:solidFill>
                  <a:schemeClr val="tx1"/>
                </a:solidFill>
                <a:effectLst/>
                <a:latin typeface="Arial" panose="020B0604020202020204" pitchFamily="34" charset="0"/>
              </a:rPr>
              <a:t>flight</a:t>
            </a:r>
            <a:r>
              <a:rPr lang="en-US" altLang="ru-KZ" sz="2000" b="1">
                <a:latin typeface="Arial" panose="020B0604020202020204" pitchFamily="34" charset="0"/>
              </a:rPr>
              <a:t> UK-KS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checked</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Since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the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flight</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initially</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available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it</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will</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return</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a:ln>
                  <a:noFill/>
                </a:ln>
                <a:solidFill>
                  <a:schemeClr val="tx1"/>
                </a:solidFill>
                <a:effectLst/>
                <a:latin typeface="Arial Unicode MS"/>
              </a:rPr>
              <a:t>'</a:t>
            </a:r>
            <a:r>
              <a:rPr kumimoji="0" lang="ru-KZ" altLang="ru-KZ" sz="2000" b="0" i="0" u="none" strike="noStrike" cap="none" normalizeH="0" baseline="0" err="1">
                <a:ln>
                  <a:noFill/>
                </a:ln>
                <a:solidFill>
                  <a:schemeClr val="tx1"/>
                </a:solidFill>
                <a:effectLst/>
                <a:latin typeface="Arial Unicode MS"/>
              </a:rPr>
              <a:t>available</a:t>
            </a:r>
            <a:r>
              <a:rPr kumimoji="0" lang="ru-KZ" altLang="ru-KZ" sz="2000" b="0" i="0" u="none" strike="noStrike" cap="none" normalizeH="0" baseline="0">
                <a:ln>
                  <a:noFill/>
                </a:ln>
                <a:solidFill>
                  <a:schemeClr val="tx1"/>
                </a:solidFill>
                <a:effectLst/>
                <a:latin typeface="Arial Unicode MS"/>
              </a:rPr>
              <a:t>'</a:t>
            </a:r>
            <a:r>
              <a:rPr kumimoji="0" lang="ru-KZ" altLang="ru-KZ" sz="2000" b="0" i="0" u="none" strike="noStrike" cap="none" normalizeH="0" baseline="0">
                <a:ln>
                  <a:noFill/>
                </a:ln>
                <a:solidFill>
                  <a:schemeClr val="tx1"/>
                </a:solidFill>
                <a:effectLst/>
              </a:rPr>
              <a:t>.</a:t>
            </a:r>
            <a:endParaRPr kumimoji="0" lang="ru-KZ" altLang="ru-KZ"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sz="2000" b="0" i="0" u="none" strike="noStrike" cap="none" normalizeH="0" baseline="0" err="1">
                <a:ln>
                  <a:noFill/>
                </a:ln>
                <a:solidFill>
                  <a:schemeClr val="tx1"/>
                </a:solidFill>
                <a:effectLst/>
                <a:latin typeface="Arial" panose="020B0604020202020204" pitchFamily="34" charset="0"/>
              </a:rPr>
              <a:t>Once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en-US" altLang="ru-KZ" sz="2000" b="0" i="0" u="none" strike="noStrike" cap="none" normalizeH="0" baseline="0" err="1">
                <a:ln>
                  <a:noFill/>
                </a:ln>
                <a:solidFill>
                  <a:schemeClr val="tx1"/>
                </a:solidFill>
                <a:effectLst/>
                <a:latin typeface="Arial" panose="020B0604020202020204" pitchFamily="34" charset="0"/>
              </a:rPr>
              <a:t>Zere’s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books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her</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ticket</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the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flight’s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status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updated</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to</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a:ln>
                  <a:noFill/>
                </a:ln>
                <a:solidFill>
                  <a:schemeClr val="tx1"/>
                </a:solidFill>
                <a:effectLst/>
                <a:latin typeface="Arial Unicode MS"/>
              </a:rPr>
              <a:t>'</a:t>
            </a:r>
            <a:r>
              <a:rPr kumimoji="0" lang="ru-KZ" altLang="ru-KZ" sz="2000" b="0" i="0" u="none" strike="noStrike" cap="none" normalizeH="0" baseline="0" err="1">
                <a:ln>
                  <a:noFill/>
                </a:ln>
                <a:solidFill>
                  <a:schemeClr val="tx1"/>
                </a:solidFill>
                <a:effectLst/>
                <a:latin typeface="Arial Unicode MS"/>
              </a:rPr>
              <a:t>full</a:t>
            </a:r>
            <a:r>
              <a:rPr kumimoji="0" lang="ru-KZ" altLang="ru-KZ" sz="2000" b="0" i="0" u="none" strike="noStrike" cap="none" normalizeH="0" baseline="0">
                <a:ln>
                  <a:noFill/>
                </a:ln>
                <a:solidFill>
                  <a:schemeClr val="tx1"/>
                </a:solidFill>
                <a:effectLst/>
                <a:latin typeface="Arial Unicode MS"/>
              </a:rPr>
              <a:t>'</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indicating</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no</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more</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seats</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are</a:t>
            </a:r>
            <a:r>
              <a:rPr kumimoji="0" lang="ru-KZ" altLang="ru-KZ" sz="2000" b="0" i="0" u="none" strike="noStrike" cap="none" normalizeH="0" baseline="0">
                <a:ln>
                  <a:noFill/>
                </a:ln>
                <a:solidFill>
                  <a:schemeClr val="tx1"/>
                </a:solidFill>
                <a:effectLst/>
              </a:rPr>
              <a:t> </a:t>
            </a:r>
            <a:r>
              <a:rPr kumimoji="0" lang="ru-KZ" altLang="ru-KZ" sz="2000" b="0" i="0" u="none" strike="noStrike" cap="none" normalizeH="0" baseline="0" err="1">
                <a:ln>
                  <a:noFill/>
                </a:ln>
                <a:solidFill>
                  <a:schemeClr val="tx1"/>
                </a:solidFill>
                <a:effectLst/>
              </a:rPr>
              <a:t>available</a:t>
            </a:r>
            <a:r>
              <a:rPr kumimoji="0" lang="ru-KZ" altLang="ru-KZ" sz="2000" b="0" i="0" u="none" strike="noStrike" cap="none" normalizeH="0" baseline="0">
                <a:ln>
                  <a:noFill/>
                </a:ln>
                <a:solidFill>
                  <a:schemeClr val="tx1"/>
                </a:solidFill>
                <a:effectLst/>
              </a:rPr>
              <a:t>.</a:t>
            </a:r>
            <a:endParaRPr kumimoji="0" lang="ru-KZ" altLang="ru-KZ"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sz="2000" b="0" i="0" u="none" strike="noStrike" cap="none" normalizeH="0" baseline="0">
                <a:ln>
                  <a:noFill/>
                </a:ln>
                <a:solidFill>
                  <a:schemeClr val="tx1"/>
                </a:solidFill>
                <a:effectLst/>
                <a:latin typeface="Arial" panose="020B0604020202020204" pitchFamily="34" charset="0"/>
              </a:rPr>
              <a:t>A </a:t>
            </a:r>
            <a:r>
              <a:rPr kumimoji="0" lang="ru-KZ" altLang="ru-KZ" sz="2000" b="0" i="0" u="none" strike="noStrike" cap="none" normalizeH="0" baseline="0" err="1">
                <a:ln>
                  <a:noFill/>
                </a:ln>
                <a:solidFill>
                  <a:schemeClr val="tx1"/>
                </a:solidFill>
                <a:effectLst/>
                <a:latin typeface="Arial" panose="020B0604020202020204" pitchFamily="34" charset="0"/>
              </a:rPr>
              <a:t>record</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inserted</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for</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en-US" altLang="ru-KZ" sz="2000" b="0" i="0" u="none" strike="noStrike" cap="none" normalizeH="0" baseline="0" err="1">
                <a:ln>
                  <a:noFill/>
                </a:ln>
                <a:solidFill>
                  <a:schemeClr val="tx1"/>
                </a:solidFill>
                <a:effectLst/>
                <a:latin typeface="Arial" panose="020B0604020202020204" pitchFamily="34" charset="0"/>
              </a:rPr>
              <a:t>Zere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in</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the</a:t>
            </a:r>
            <a:r>
              <a:rPr kumimoji="0" lang="ru-KZ" altLang="ru-KZ" sz="2000" b="0" i="0" u="none" strike="noStrike" cap="none" normalizeH="0" baseline="0">
                <a:ln>
                  <a:noFill/>
                </a:ln>
                <a:solidFill>
                  <a:schemeClr val="tx1"/>
                </a:solidFill>
                <a:effectLst/>
                <a:latin typeface="Arial" panose="020B0604020202020204" pitchFamily="34" charset="0"/>
              </a:rPr>
              <a:t> </a:t>
            </a:r>
            <a:r>
              <a:rPr lang="en-US" altLang="ru-KZ" sz="2000" b="1">
                <a:latin typeface="Arial" panose="020B0604020202020204" pitchFamily="34" charset="0"/>
              </a:rPr>
              <a:t>booking</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table</a:t>
            </a:r>
            <a:r>
              <a:rPr kumimoji="0" lang="ru-KZ" altLang="ru-KZ" sz="20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KZ" altLang="ru-KZ" sz="2000" b="0" i="0" u="none" strike="noStrike" cap="none" normalizeH="0" baseline="0">
                <a:ln>
                  <a:noFill/>
                </a:ln>
                <a:solidFill>
                  <a:schemeClr val="tx1"/>
                </a:solidFill>
                <a:effectLst/>
                <a:latin typeface="Arial" panose="020B0604020202020204" pitchFamily="34" charset="0"/>
              </a:rPr>
              <a:t>The </a:t>
            </a:r>
            <a:r>
              <a:rPr kumimoji="0" lang="ru-KZ" altLang="ru-KZ" sz="2000" b="0" i="0" u="none" strike="noStrike" cap="none" normalizeH="0" baseline="0" err="1">
                <a:ln>
                  <a:noFill/>
                </a:ln>
                <a:solidFill>
                  <a:schemeClr val="tx1"/>
                </a:solidFill>
                <a:effectLst/>
                <a:latin typeface="Arial" panose="020B0604020202020204" pitchFamily="34" charset="0"/>
              </a:rPr>
              <a:t>transaction</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is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committed</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which</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saves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the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changes</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to</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the</a:t>
            </a:r>
            <a:r>
              <a:rPr kumimoji="0" lang="ru-KZ" altLang="ru-KZ" sz="2000" b="0" i="0" u="none" strike="noStrike" cap="none" normalizeH="0" baseline="0">
                <a:ln>
                  <a:noFill/>
                </a:ln>
                <a:solidFill>
                  <a:schemeClr val="tx1"/>
                </a:solidFill>
                <a:effectLst/>
                <a:latin typeface="Arial" panose="020B0604020202020204" pitchFamily="34" charset="0"/>
              </a:rPr>
              <a:t> </a:t>
            </a:r>
            <a:r>
              <a:rPr kumimoji="0" lang="ru-KZ" altLang="ru-KZ" sz="2000" b="0" i="0" u="none" strike="noStrike" cap="none" normalizeH="0" baseline="0" err="1">
                <a:ln>
                  <a:noFill/>
                </a:ln>
                <a:solidFill>
                  <a:schemeClr val="tx1"/>
                </a:solidFill>
                <a:effectLst/>
                <a:latin typeface="Arial" panose="020B0604020202020204" pitchFamily="34" charset="0"/>
              </a:rPr>
              <a:t>database</a:t>
            </a:r>
            <a:r>
              <a:rPr kumimoji="0" lang="ru-KZ" altLang="ru-KZ" sz="20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KZ" altLang="ru-KZ"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4477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A284AF-2225-B532-6BE3-A23AA61940FE}"/>
              </a:ext>
            </a:extLst>
          </p:cNvPr>
          <p:cNvSpPr>
            <a:spLocks noGrp="1"/>
          </p:cNvSpPr>
          <p:nvPr>
            <p:ph type="title"/>
          </p:nvPr>
        </p:nvSpPr>
        <p:spPr/>
        <p:txBody>
          <a:bodyPr/>
          <a:lstStyle/>
          <a:p>
            <a:r>
              <a:rPr lang="en-US"/>
              <a:t>Examples</a:t>
            </a:r>
            <a:endParaRPr lang="ru-KZ"/>
          </a:p>
        </p:txBody>
      </p:sp>
      <p:sp>
        <p:nvSpPr>
          <p:cNvPr id="3" name="Текст 2">
            <a:extLst>
              <a:ext uri="{FF2B5EF4-FFF2-40B4-BE49-F238E27FC236}">
                <a16:creationId xmlns:a16="http://schemas.microsoft.com/office/drawing/2014/main" id="{B295B8E1-121B-5B12-F23A-21E78495B735}"/>
              </a:ext>
            </a:extLst>
          </p:cNvPr>
          <p:cNvSpPr>
            <a:spLocks noGrp="1"/>
          </p:cNvSpPr>
          <p:nvPr>
            <p:ph type="body" idx="1"/>
          </p:nvPr>
        </p:nvSpPr>
        <p:spPr/>
        <p:txBody>
          <a:bodyPr/>
          <a:lstStyle/>
          <a:p>
            <a:endParaRPr lang="ru-KZ"/>
          </a:p>
        </p:txBody>
      </p:sp>
      <p:sp>
        <p:nvSpPr>
          <p:cNvPr id="7" name="TextBox 6">
            <a:extLst>
              <a:ext uri="{FF2B5EF4-FFF2-40B4-BE49-F238E27FC236}">
                <a16:creationId xmlns:a16="http://schemas.microsoft.com/office/drawing/2014/main" id="{52B93B9D-B20A-E535-9B9A-99BE25532AD1}"/>
              </a:ext>
            </a:extLst>
          </p:cNvPr>
          <p:cNvSpPr txBox="1"/>
          <p:nvPr/>
        </p:nvSpPr>
        <p:spPr>
          <a:xfrm>
            <a:off x="457200" y="1514578"/>
            <a:ext cx="6096000" cy="400110"/>
          </a:xfrm>
          <a:prstGeom prst="rect">
            <a:avLst/>
          </a:prstGeom>
          <a:noFill/>
        </p:spPr>
        <p:txBody>
          <a:bodyPr wrap="square">
            <a:spAutoFit/>
          </a:bodyPr>
          <a:lstStyle/>
          <a:p>
            <a:r>
              <a:rPr lang="en-US" sz="2000" b="1">
                <a:latin typeface="Times New Roman" panose="02020603050405020304" pitchFamily="18" charset="0"/>
                <a:cs typeface="Times New Roman" panose="02020603050405020304" pitchFamily="18" charset="0"/>
              </a:rPr>
              <a:t>Cancel a booking for </a:t>
            </a:r>
            <a:r>
              <a:rPr lang="en-US" sz="2000" b="1" err="1">
                <a:latin typeface="Times New Roman" panose="02020603050405020304" pitchFamily="18" charset="0"/>
                <a:cs typeface="Times New Roman" panose="02020603050405020304" pitchFamily="18" charset="0"/>
              </a:rPr>
              <a:t>Zere</a:t>
            </a:r>
            <a:r>
              <a:rPr lang="en-US" sz="2000" b="1">
                <a:latin typeface="Times New Roman" panose="02020603050405020304" pitchFamily="18" charset="0"/>
                <a:cs typeface="Times New Roman" panose="02020603050405020304" pitchFamily="18" charset="0"/>
              </a:rPr>
              <a:t> </a:t>
            </a:r>
            <a:endParaRPr lang="ru-KZ" sz="2000" b="1">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259A5D52-FBCD-852C-5AB8-82B4135D0E7E}"/>
              </a:ext>
            </a:extLst>
          </p:cNvPr>
          <p:cNvPicPr>
            <a:picLocks noChangeAspect="1"/>
          </p:cNvPicPr>
          <p:nvPr/>
        </p:nvPicPr>
        <p:blipFill>
          <a:blip r:embed="rId2"/>
          <a:stretch>
            <a:fillRect/>
          </a:stretch>
        </p:blipFill>
        <p:spPr>
          <a:xfrm>
            <a:off x="335280" y="2590801"/>
            <a:ext cx="11144800" cy="2352512"/>
          </a:xfrm>
          <a:prstGeom prst="rect">
            <a:avLst/>
          </a:prstGeom>
        </p:spPr>
      </p:pic>
    </p:spTree>
    <p:extLst>
      <p:ext uri="{BB962C8B-B14F-4D97-AF65-F5344CB8AC3E}">
        <p14:creationId xmlns:p14="http://schemas.microsoft.com/office/powerpoint/2010/main" val="336212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6F63CA-F3A4-A972-FF75-1F800D5147BE}"/>
              </a:ext>
            </a:extLst>
          </p:cNvPr>
          <p:cNvSpPr>
            <a:spLocks noGrp="1"/>
          </p:cNvSpPr>
          <p:nvPr>
            <p:ph type="title"/>
          </p:nvPr>
        </p:nvSpPr>
        <p:spPr>
          <a:xfrm>
            <a:off x="1371600" y="971622"/>
            <a:ext cx="10210800" cy="1107996"/>
          </a:xfrm>
        </p:spPr>
        <p:txBody>
          <a:bodyPr/>
          <a:lstStyle/>
          <a:p>
            <a:r>
              <a:rPr lang="en-US" sz="3600"/>
              <a:t>Advantages of Using Transactions</a:t>
            </a:r>
            <a:endParaRPr lang="ru-KZ" sz="3600"/>
          </a:p>
        </p:txBody>
      </p:sp>
      <p:sp>
        <p:nvSpPr>
          <p:cNvPr id="4" name="Rectangle 1">
            <a:extLst>
              <a:ext uri="{FF2B5EF4-FFF2-40B4-BE49-F238E27FC236}">
                <a16:creationId xmlns:a16="http://schemas.microsoft.com/office/drawing/2014/main" id="{E2606DB7-68D8-75C4-8E0B-C7DF2816E4D4}"/>
              </a:ext>
            </a:extLst>
          </p:cNvPr>
          <p:cNvSpPr>
            <a:spLocks noGrp="1" noChangeArrowheads="1"/>
          </p:cNvSpPr>
          <p:nvPr>
            <p:ph type="body" idx="1"/>
          </p:nvPr>
        </p:nvSpPr>
        <p:spPr bwMode="auto">
          <a:xfrm>
            <a:off x="500063" y="2131504"/>
            <a:ext cx="1138713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ru-KZ" b="1"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rPr>
              <a:t>ACID</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ru-KZ" b="1"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rPr>
              <a:t>Error Handling and Rollback Capability: </a:t>
            </a:r>
            <a:r>
              <a:rPr kumimoji="0" lang="en-US" altLang="ru-KZ" b="0"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rPr>
              <a:t>Transactions allow error handling through rollbacks. If an error or failure occurs, changes are reverted to the initial state, protecting the database from corrupt or partial data entries.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ru-KZ" b="1"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rPr>
              <a:t>Improved Concurrency Control: </a:t>
            </a:r>
            <a:r>
              <a:rPr kumimoji="0" lang="en-US" altLang="ru-KZ" b="0"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rPr>
              <a:t>By isolating transactions, databases can manage multiple users and operations concurrently without compromising data consistency. This is particularly beneficial for multi-user environments where several transactions are processed simultaneously.</a:t>
            </a:r>
            <a:endParaRPr kumimoji="0" lang="ru-KZ" altLang="ru-KZ" b="0" i="0" u="none" strike="noStrike" cap="none" normalizeH="0" baseline="0">
              <a:ln>
                <a:noFill/>
              </a:ln>
              <a:solidFill>
                <a:schemeClr val="tx1"/>
              </a:solidFill>
              <a:effectLst/>
              <a:latin typeface="Error Handling and Rollback Capability: Transactions allow error handling through rollbacks. If an error or failure occurs, changes are reverted to the initial state, protecting the database from corrupt or partial data entries. Improved Concurrency Contr"/>
            </a:endParaRPr>
          </a:p>
        </p:txBody>
      </p:sp>
    </p:spTree>
    <p:extLst>
      <p:ext uri="{BB962C8B-B14F-4D97-AF65-F5344CB8AC3E}">
        <p14:creationId xmlns:p14="http://schemas.microsoft.com/office/powerpoint/2010/main" val="1670386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346BEF-BF46-E121-BAB1-4CCA930E81FE}"/>
              </a:ext>
            </a:extLst>
          </p:cNvPr>
          <p:cNvSpPr>
            <a:spLocks noGrp="1"/>
          </p:cNvSpPr>
          <p:nvPr>
            <p:ph type="title"/>
          </p:nvPr>
        </p:nvSpPr>
        <p:spPr>
          <a:xfrm>
            <a:off x="838200" y="725931"/>
            <a:ext cx="9982200" cy="1661993"/>
          </a:xfrm>
        </p:spPr>
        <p:txBody>
          <a:bodyPr/>
          <a:lstStyle/>
          <a:p>
            <a:r>
              <a:rPr lang="en-US" sz="3600">
                <a:latin typeface="Times New Roman" panose="02020603050405020304" pitchFamily="18" charset="0"/>
                <a:cs typeface="Times New Roman" panose="02020603050405020304" pitchFamily="18" charset="0"/>
              </a:rPr>
              <a:t>Disadvantages of Using Transactions</a:t>
            </a:r>
            <a:endParaRPr lang="ru-KZ" sz="3600">
              <a:latin typeface="Times New Roman" panose="02020603050405020304" pitchFamily="18" charset="0"/>
              <a:cs typeface="Times New Roman" panose="02020603050405020304" pitchFamily="18" charset="0"/>
            </a:endParaRPr>
          </a:p>
        </p:txBody>
      </p:sp>
      <p:sp>
        <p:nvSpPr>
          <p:cNvPr id="3" name="Текст 2">
            <a:extLst>
              <a:ext uri="{FF2B5EF4-FFF2-40B4-BE49-F238E27FC236}">
                <a16:creationId xmlns:a16="http://schemas.microsoft.com/office/drawing/2014/main" id="{7D1B8FD2-B3F7-197C-6D63-892D80CF3D79}"/>
              </a:ext>
            </a:extLst>
          </p:cNvPr>
          <p:cNvSpPr>
            <a:spLocks noGrp="1"/>
          </p:cNvSpPr>
          <p:nvPr>
            <p:ph type="body" idx="1"/>
          </p:nvPr>
        </p:nvSpPr>
        <p:spPr>
          <a:xfrm>
            <a:off x="916939" y="1447800"/>
            <a:ext cx="10358120" cy="5909310"/>
          </a:xfrm>
        </p:spPr>
        <p:txBody>
          <a:bodyPr/>
          <a:lstStyle/>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Increased Complexity and Overhead</a:t>
            </a:r>
            <a:r>
              <a:rPr lang="en-US" sz="2400">
                <a:latin typeface="Times New Roman" panose="02020603050405020304" pitchFamily="18" charset="0"/>
                <a:cs typeface="Times New Roman" panose="02020603050405020304" pitchFamily="18" charset="0"/>
              </a:rPr>
              <a:t>:</a:t>
            </a:r>
          </a:p>
          <a:p>
            <a:pPr algn="just"/>
            <a:r>
              <a:rPr lang="en-US" sz="2400">
                <a:latin typeface="Times New Roman" panose="02020603050405020304" pitchFamily="18" charset="0"/>
                <a:cs typeface="Times New Roman" panose="02020603050405020304" pitchFamily="18" charset="0"/>
              </a:rPr>
              <a:t>Managing transactions and implementing isolation levels adds complexity to application design and introduces computational overhead.</a:t>
            </a:r>
          </a:p>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Reduced Concurrency Due to Locking</a:t>
            </a:r>
            <a:r>
              <a:rPr lang="en-US" sz="2400">
                <a:latin typeface="Times New Roman" panose="02020603050405020304" pitchFamily="18" charset="0"/>
                <a:cs typeface="Times New Roman" panose="02020603050405020304" pitchFamily="18" charset="0"/>
              </a:rPr>
              <a:t>:</a:t>
            </a:r>
          </a:p>
          <a:p>
            <a:pPr algn="just"/>
            <a:r>
              <a:rPr lang="en-US" sz="2400">
                <a:latin typeface="Times New Roman" panose="02020603050405020304" pitchFamily="18" charset="0"/>
                <a:cs typeface="Times New Roman" panose="02020603050405020304" pitchFamily="18" charset="0"/>
              </a:rPr>
              <a:t>Depending on the isolation level, transactions may require extensive locking, reducing the level of concurrency by blocking access to certain data until the transaction is complete.</a:t>
            </a:r>
          </a:p>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Resource Consumption</a:t>
            </a:r>
            <a:r>
              <a:rPr lang="en-US" sz="2400">
                <a:latin typeface="Times New Roman" panose="02020603050405020304" pitchFamily="18" charset="0"/>
                <a:cs typeface="Times New Roman" panose="02020603050405020304" pitchFamily="18" charset="0"/>
              </a:rPr>
              <a:t>:</a:t>
            </a:r>
          </a:p>
          <a:p>
            <a:pPr algn="just"/>
            <a:r>
              <a:rPr lang="en-US" sz="2400">
                <a:latin typeface="Times New Roman" panose="02020603050405020304" pitchFamily="18" charset="0"/>
                <a:cs typeface="Times New Roman" panose="02020603050405020304" pitchFamily="18" charset="0"/>
              </a:rPr>
              <a:t>Transactions often consume significant resources, especially in long or complex transactions</a:t>
            </a:r>
          </a:p>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Difficulty in Debugging and Troubleshooting</a:t>
            </a:r>
            <a:r>
              <a:rPr lang="en-US" sz="2400">
                <a:latin typeface="Times New Roman" panose="02020603050405020304" pitchFamily="18" charset="0"/>
                <a:cs typeface="Times New Roman" panose="02020603050405020304" pitchFamily="18" charset="0"/>
              </a:rPr>
              <a:t>:</a:t>
            </a:r>
          </a:p>
          <a:p>
            <a:pPr algn="just"/>
            <a:r>
              <a:rPr lang="en-US" sz="2400">
                <a:latin typeface="Times New Roman" panose="02020603050405020304" pitchFamily="18" charset="0"/>
                <a:cs typeface="Times New Roman" panose="02020603050405020304" pitchFamily="18" charset="0"/>
              </a:rPr>
              <a:t>Errors in transactions can be challenging to diagnose and troubleshoot due to the potential for complex dependencies between operations within the transaction. </a:t>
            </a:r>
          </a:p>
          <a:p>
            <a:pPr algn="just"/>
            <a:endParaRPr 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ru-KZ"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80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D71570AD13F0224BB1245ED162607349" ma:contentTypeVersion="8" ma:contentTypeDescription="Создание документа." ma:contentTypeScope="" ma:versionID="b34c0b78990df12d174317d7290c462f">
  <xsd:schema xmlns:xsd="http://www.w3.org/2001/XMLSchema" xmlns:xs="http://www.w3.org/2001/XMLSchema" xmlns:p="http://schemas.microsoft.com/office/2006/metadata/properties" xmlns:ns2="14a8a632-e596-4d42-a9cb-ac377c4fa28b" targetNamespace="http://schemas.microsoft.com/office/2006/metadata/properties" ma:root="true" ma:fieldsID="51dadbd8aa9e92f520983c4df36c56ca" ns2:_="">
    <xsd:import namespace="14a8a632-e596-4d42-a9cb-ac377c4fa28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a8a632-e596-4d42-a9cb-ac377c4fa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4CB312-ADC8-45C1-B76F-952A83CE010C}">
  <ds:schemaRefs>
    <ds:schemaRef ds:uri="http://schemas.microsoft.com/sharepoint/v3/contenttype/forms"/>
  </ds:schemaRefs>
</ds:datastoreItem>
</file>

<file path=customXml/itemProps2.xml><?xml version="1.0" encoding="utf-8"?>
<ds:datastoreItem xmlns:ds="http://schemas.openxmlformats.org/officeDocument/2006/customXml" ds:itemID="{A74846D3-F37C-44E8-B145-8BF889BFDAB0}">
  <ds:schemaRefs>
    <ds:schemaRef ds:uri="14a8a632-e596-4d42-a9cb-ac377c4fa28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15641C5-EA62-47C7-89A9-632F580F063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1121</Words>
  <Application>Microsoft Office PowerPoint</Application>
  <PresentationFormat>Widescreen</PresentationFormat>
  <Paragraphs>106</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MT</vt:lpstr>
      <vt:lpstr>Arial Unicode MS</vt:lpstr>
      <vt:lpstr>Calibri</vt:lpstr>
      <vt:lpstr>Error Handling and Rollback Capability: Transactions allow error handling through rollbacks. If an error or failure occurs, changes are reverted to the initial state, protecting the database from corrupt or partial data entries. Improved Concurrency Contr</vt:lpstr>
      <vt:lpstr>Times New Roman</vt:lpstr>
      <vt:lpstr>Office Theme</vt:lpstr>
      <vt:lpstr>PowerPoint Presentation</vt:lpstr>
      <vt:lpstr>PostgreSQL Transaction</vt:lpstr>
      <vt:lpstr>When to Use Transactions</vt:lpstr>
      <vt:lpstr>ACID</vt:lpstr>
      <vt:lpstr>Atomicity</vt:lpstr>
      <vt:lpstr>Consistency</vt:lpstr>
      <vt:lpstr>Consistency in data</vt:lpstr>
      <vt:lpstr>Isolation</vt:lpstr>
      <vt:lpstr>Durability</vt:lpstr>
      <vt:lpstr>Transaction Lifecycle </vt:lpstr>
      <vt:lpstr>Commit a transaction</vt:lpstr>
      <vt:lpstr>Begin a transaction</vt:lpstr>
      <vt:lpstr>Rolling back a transaction</vt:lpstr>
      <vt:lpstr>Basic Transaction Control Statements</vt:lpstr>
      <vt:lpstr>Examples</vt:lpstr>
      <vt:lpstr>Examples</vt:lpstr>
      <vt:lpstr>Isolation levels</vt:lpstr>
      <vt:lpstr>Set an isolation level:</vt:lpstr>
      <vt:lpstr>Savepoints</vt:lpstr>
      <vt:lpstr>Benefits of Savepoints </vt:lpstr>
      <vt:lpstr>Examples</vt:lpstr>
      <vt:lpstr>Examples</vt:lpstr>
      <vt:lpstr>Examples</vt:lpstr>
      <vt:lpstr>Advantages of Using Transactions</vt:lpstr>
      <vt:lpstr>Disadvantages of Using Transactions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Assel Smaiyl</cp:lastModifiedBy>
  <cp:revision>3</cp:revision>
  <dcterms:created xsi:type="dcterms:W3CDTF">2024-11-11T17:21:11Z</dcterms:created>
  <dcterms:modified xsi:type="dcterms:W3CDTF">2025-11-10T13:37:16Z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2023-12-06T00:00:00Z</vt:filetime>
  </property>
  <property fmtid="{D5CDD505-2E9C-101B-9397-08002B2CF9AE}" pid="3" name="LastSaved">
    <vt:filetime>2024-11-11T00:00:00Z</vt:filetime>
  </property>
  <property fmtid="{D5CDD505-2E9C-101B-9397-08002B2CF9AE}" pid="4" name="ContentTypeId">
    <vt:lpwstr>0x010100D71570AD13F0224BB1245ED162607349</vt:lpwstr>
  </property>
</Properties>
</file>