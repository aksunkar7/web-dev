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g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12192000" cy="6858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3097A3-CBB4-16E0-C149-12A193BBC038}" v="1" dt="2024-12-23T20:43:39.96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-80" y="-2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9" Type="http://schemas.microsoft.com/office/2016/11/relationships/changesInfo" Target="changesInfos/changesInfo1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printerSettings" Target="printerSettings/printerSettings1.bin"/><Relationship Id="rId29" Type="http://schemas.openxmlformats.org/officeDocument/2006/relationships/presProps" Target="presProps.xml"/><Relationship Id="rId50" Type="http://schemas.microsoft.com/office/2015/10/relationships/revisionInfo" Target="revisionInfo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9" Type="http://schemas.openxmlformats.org/officeDocument/2006/relationships/slide" Target="slides/slide5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khan Marat" userId="S::al_marat@kbtu.kz::a50d91d2-6286-4486-92fb-0c9082a43786" providerId="AD" clId="Web-{84B8EC05-0994-F91B-C420-8BA4AFC906AB}"/>
    <pc:docChg chg="modSld">
      <pc:chgData name="Alikhan Marat" userId="S::al_marat@kbtu.kz::a50d91d2-6286-4486-92fb-0c9082a43786" providerId="AD" clId="Web-{84B8EC05-0994-F91B-C420-8BA4AFC906AB}" dt="2024-10-24T07:28:08.553" v="0" actId="1076"/>
      <pc:docMkLst>
        <pc:docMk/>
      </pc:docMkLst>
      <pc:sldChg chg="modSp">
        <pc:chgData name="Alikhan Marat" userId="S::al_marat@kbtu.kz::a50d91d2-6286-4486-92fb-0c9082a43786" providerId="AD" clId="Web-{84B8EC05-0994-F91B-C420-8BA4AFC906AB}" dt="2024-10-24T07:28:08.553" v="0" actId="1076"/>
        <pc:sldMkLst>
          <pc:docMk/>
          <pc:sldMk cId="0" sldId="285"/>
        </pc:sldMkLst>
        <pc:picChg chg="mod">
          <ac:chgData name="Alikhan Marat" userId="S::al_marat@kbtu.kz::a50d91d2-6286-4486-92fb-0c9082a43786" providerId="AD" clId="Web-{84B8EC05-0994-F91B-C420-8BA4AFC906AB}" dt="2024-10-24T07:28:08.553" v="0" actId="1076"/>
          <ac:picMkLst>
            <pc:docMk/>
            <pc:sldMk cId="0" sldId="285"/>
            <ac:picMk id="4" creationId="{00000000-0000-0000-0000-000000000000}"/>
          </ac:picMkLst>
        </pc:picChg>
      </pc:sldChg>
    </pc:docChg>
  </pc:docChgLst>
  <pc:docChgLst>
    <pc:chgData name="Karakoz Nurgaliyeva" userId="S::k_nurgaliyeva@kbtu.kz::4e9ebea3-12b1-4b48-b1ef-e7d832b112d1" providerId="AD" clId="Web-{E8B0EC8C-B57B-B74A-5B7F-7AED2D8F08C6}"/>
    <pc:docChg chg="addSld modSld">
      <pc:chgData name="Karakoz Nurgaliyeva" userId="S::k_nurgaliyeva@kbtu.kz::4e9ebea3-12b1-4b48-b1ef-e7d832b112d1" providerId="AD" clId="Web-{E8B0EC8C-B57B-B74A-5B7F-7AED2D8F08C6}" dt="2024-12-03T18:37:20.969" v="3" actId="20577"/>
      <pc:docMkLst>
        <pc:docMk/>
      </pc:docMkLst>
      <pc:sldChg chg="modSp">
        <pc:chgData name="Karakoz Nurgaliyeva" userId="S::k_nurgaliyeva@kbtu.kz::4e9ebea3-12b1-4b48-b1ef-e7d832b112d1" providerId="AD" clId="Web-{E8B0EC8C-B57B-B74A-5B7F-7AED2D8F08C6}" dt="2024-12-03T18:37:20.969" v="3" actId="20577"/>
        <pc:sldMkLst>
          <pc:docMk/>
          <pc:sldMk cId="0" sldId="288"/>
        </pc:sldMkLst>
        <pc:spChg chg="mod">
          <ac:chgData name="Karakoz Nurgaliyeva" userId="S::k_nurgaliyeva@kbtu.kz::4e9ebea3-12b1-4b48-b1ef-e7d832b112d1" providerId="AD" clId="Web-{E8B0EC8C-B57B-B74A-5B7F-7AED2D8F08C6}" dt="2024-12-03T18:37:20.969" v="3" actId="20577"/>
          <ac:spMkLst>
            <pc:docMk/>
            <pc:sldMk cId="0" sldId="288"/>
            <ac:spMk id="3" creationId="{00000000-0000-0000-0000-000000000000}"/>
          </ac:spMkLst>
        </pc:spChg>
      </pc:sldChg>
      <pc:sldChg chg="new">
        <pc:chgData name="Karakoz Nurgaliyeva" userId="S::k_nurgaliyeva@kbtu.kz::4e9ebea3-12b1-4b48-b1ef-e7d832b112d1" providerId="AD" clId="Web-{E8B0EC8C-B57B-B74A-5B7F-7AED2D8F08C6}" dt="2024-12-03T18:27:33.578" v="0"/>
        <pc:sldMkLst>
          <pc:docMk/>
          <pc:sldMk cId="1432502762" sldId="296"/>
        </pc:sldMkLst>
      </pc:sldChg>
    </pc:docChg>
  </pc:docChgLst>
  <pc:docChgLst>
    <pc:chgData name="Malika Zhengis" userId="S::m_zhengis@kbtu.kz::b4351c88-768c-4bb1-828e-8059a180bfe9" providerId="AD" clId="Web-{83012C18-80AA-523C-06E0-9CD7CFD9341E}"/>
    <pc:docChg chg="modSld">
      <pc:chgData name="Malika Zhengis" userId="S::m_zhengis@kbtu.kz::b4351c88-768c-4bb1-828e-8059a180bfe9" providerId="AD" clId="Web-{83012C18-80AA-523C-06E0-9CD7CFD9341E}" dt="2024-10-16T12:09:57.166" v="1" actId="20577"/>
      <pc:docMkLst>
        <pc:docMk/>
      </pc:docMkLst>
      <pc:sldChg chg="modSp">
        <pc:chgData name="Malika Zhengis" userId="S::m_zhengis@kbtu.kz::b4351c88-768c-4bb1-828e-8059a180bfe9" providerId="AD" clId="Web-{83012C18-80AA-523C-06E0-9CD7CFD9341E}" dt="2024-10-16T12:09:57.166" v="1" actId="20577"/>
        <pc:sldMkLst>
          <pc:docMk/>
          <pc:sldMk cId="0" sldId="267"/>
        </pc:sldMkLst>
        <pc:spChg chg="mod">
          <ac:chgData name="Malika Zhengis" userId="S::m_zhengis@kbtu.kz::b4351c88-768c-4bb1-828e-8059a180bfe9" providerId="AD" clId="Web-{83012C18-80AA-523C-06E0-9CD7CFD9341E}" dt="2024-10-16T12:09:57.166" v="1" actId="20577"/>
          <ac:spMkLst>
            <pc:docMk/>
            <pc:sldMk cId="0" sldId="267"/>
            <ac:spMk id="3" creationId="{00000000-0000-0000-0000-000000000000}"/>
          </ac:spMkLst>
        </pc:spChg>
      </pc:sldChg>
    </pc:docChg>
  </pc:docChgLst>
  <pc:docChgLst>
    <pc:chgData name="Kengesbay Assiya" userId="S::k_assiya@kbtu.kz::f2096f37-6ed0-44c3-aeec-fb2ea14c9bae" providerId="AD" clId="Web-{123097A3-CBB4-16E0-C149-12A193BBC038}"/>
    <pc:docChg chg="delSld">
      <pc:chgData name="Kengesbay Assiya" userId="S::k_assiya@kbtu.kz::f2096f37-6ed0-44c3-aeec-fb2ea14c9bae" providerId="AD" clId="Web-{123097A3-CBB4-16E0-C149-12A193BBC038}" dt="2024-12-23T20:43:39.964" v="0"/>
      <pc:docMkLst>
        <pc:docMk/>
      </pc:docMkLst>
      <pc:sldChg chg="del">
        <pc:chgData name="Kengesbay Assiya" userId="S::k_assiya@kbtu.kz::f2096f37-6ed0-44c3-aeec-fb2ea14c9bae" providerId="AD" clId="Web-{123097A3-CBB4-16E0-C149-12A193BBC038}" dt="2024-12-23T20:43:39.964" v="0"/>
        <pc:sldMkLst>
          <pc:docMk/>
          <pc:sldMk cId="1432502762" sldId="29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939" y="637539"/>
            <a:ext cx="1035812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10.10.25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10.10.25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10.10.25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10.10.25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10.10.25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53476" y="567435"/>
            <a:ext cx="2285047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626108"/>
            <a:ext cx="10358120" cy="4713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10.10.25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6.jp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6939" y="1626108"/>
            <a:ext cx="10358120" cy="8976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6840"/>
              </a:lnSpc>
              <a:spcBef>
                <a:spcPts val="100"/>
              </a:spcBef>
            </a:pPr>
            <a:r>
              <a:rPr sz="6000" b="1" spc="-5" dirty="0">
                <a:latin typeface="Arial"/>
                <a:cs typeface="Arial"/>
              </a:rPr>
              <a:t>Aggregate</a:t>
            </a:r>
            <a:r>
              <a:rPr sz="6000" b="1" spc="-75" dirty="0">
                <a:latin typeface="Arial"/>
                <a:cs typeface="Arial"/>
              </a:rPr>
              <a:t> </a:t>
            </a:r>
            <a:r>
              <a:rPr sz="6000" b="1" spc="-10" dirty="0" smtClean="0">
                <a:latin typeface="Arial"/>
                <a:cs typeface="Arial"/>
              </a:rPr>
              <a:t>function</a:t>
            </a:r>
            <a:r>
              <a:rPr lang="en-US" sz="6000" b="1" spc="-10" dirty="0" smtClean="0">
                <a:latin typeface="Arial"/>
                <a:cs typeface="Arial"/>
              </a:rPr>
              <a:t>s</a:t>
            </a:r>
            <a:endParaRPr sz="6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85800"/>
            <a:ext cx="1021905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5"/>
              <a:t>Introduction</a:t>
            </a:r>
            <a:r>
              <a:rPr sz="3500" spc="5"/>
              <a:t> </a:t>
            </a:r>
            <a:r>
              <a:rPr sz="3500" spc="-5"/>
              <a:t>to</a:t>
            </a:r>
            <a:r>
              <a:rPr sz="3500" spc="10"/>
              <a:t> </a:t>
            </a:r>
            <a:r>
              <a:rPr sz="3500" spc="-5"/>
              <a:t>PostgreSQL</a:t>
            </a:r>
            <a:r>
              <a:rPr sz="3500" spc="-55"/>
              <a:t> </a:t>
            </a:r>
            <a:r>
              <a:rPr sz="3500" spc="-5"/>
              <a:t>aggregate</a:t>
            </a:r>
            <a:r>
              <a:rPr sz="3500" spc="15"/>
              <a:t> </a:t>
            </a:r>
            <a:r>
              <a:rPr sz="3500" spc="-5"/>
              <a:t>functions</a:t>
            </a:r>
            <a:endParaRPr sz="3500"/>
          </a:p>
        </p:txBody>
      </p:sp>
      <p:sp>
        <p:nvSpPr>
          <p:cNvPr id="3" name="object 3"/>
          <p:cNvSpPr txBox="1"/>
          <p:nvPr/>
        </p:nvSpPr>
        <p:spPr>
          <a:xfrm>
            <a:off x="916939" y="1502664"/>
            <a:ext cx="10203815" cy="494538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359"/>
              </a:spcBef>
            </a:pPr>
            <a:r>
              <a:rPr sz="1700" b="1" spc="-5">
                <a:latin typeface="Arial"/>
                <a:cs typeface="Arial"/>
              </a:rPr>
              <a:t>Aggregate</a:t>
            </a:r>
            <a:r>
              <a:rPr sz="1700" b="1" spc="10">
                <a:latin typeface="Arial"/>
                <a:cs typeface="Arial"/>
              </a:rPr>
              <a:t> </a:t>
            </a:r>
            <a:r>
              <a:rPr sz="1700" b="1" spc="-5">
                <a:latin typeface="Arial"/>
                <a:cs typeface="Arial"/>
              </a:rPr>
              <a:t>functions</a:t>
            </a:r>
            <a:r>
              <a:rPr sz="1700" b="1" spc="15">
                <a:latin typeface="Arial"/>
                <a:cs typeface="Arial"/>
              </a:rPr>
              <a:t> </a:t>
            </a:r>
            <a:r>
              <a:rPr sz="1700" spc="-5">
                <a:latin typeface="Arial MT"/>
                <a:cs typeface="Arial MT"/>
              </a:rPr>
              <a:t>perform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a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calculation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on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a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set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of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rows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and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return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a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single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30">
                <a:latin typeface="Arial MT"/>
                <a:cs typeface="Arial MT"/>
              </a:rPr>
              <a:t>row.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PostgreSQL</a:t>
            </a:r>
            <a:r>
              <a:rPr sz="1700" spc="-5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provides </a:t>
            </a:r>
            <a:r>
              <a:rPr sz="1700" spc="-459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all</a:t>
            </a:r>
            <a:r>
              <a:rPr sz="170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standard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 spc="-25">
                <a:latin typeface="Arial MT"/>
                <a:cs typeface="Arial MT"/>
              </a:rPr>
              <a:t>SQL’s</a:t>
            </a:r>
            <a:r>
              <a:rPr sz="170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aggregate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functions</a:t>
            </a:r>
            <a:r>
              <a:rPr sz="1700">
                <a:latin typeface="Arial MT"/>
                <a:cs typeface="Arial MT"/>
              </a:rPr>
              <a:t> as </a:t>
            </a:r>
            <a:r>
              <a:rPr sz="1700" spc="-5">
                <a:latin typeface="Arial MT"/>
                <a:cs typeface="Arial MT"/>
              </a:rPr>
              <a:t>follows: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700" spc="-30">
                <a:latin typeface="Arial MT"/>
                <a:cs typeface="Arial MT"/>
              </a:rPr>
              <a:t>AVG()</a:t>
            </a:r>
            <a:r>
              <a:rPr sz="1700" spc="-10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–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return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the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average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value.</a:t>
            </a:r>
            <a:endParaRPr sz="1700">
              <a:latin typeface="Arial MT"/>
              <a:cs typeface="Arial MT"/>
            </a:endParaRPr>
          </a:p>
          <a:p>
            <a:pPr marL="12700" marR="6323965">
              <a:lnSpc>
                <a:spcPct val="136500"/>
              </a:lnSpc>
              <a:spcBef>
                <a:spcPts val="120"/>
              </a:spcBef>
            </a:pPr>
            <a:r>
              <a:rPr sz="1700" spc="-5">
                <a:latin typeface="Arial MT"/>
                <a:cs typeface="Arial MT"/>
              </a:rPr>
              <a:t>COUNT()</a:t>
            </a:r>
            <a:r>
              <a:rPr sz="1700" spc="-10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–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return</a:t>
            </a:r>
            <a:r>
              <a:rPr sz="1700">
                <a:latin typeface="Arial MT"/>
                <a:cs typeface="Arial MT"/>
              </a:rPr>
              <a:t> the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number</a:t>
            </a:r>
            <a:r>
              <a:rPr sz="1700" spc="-10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of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values. </a:t>
            </a:r>
            <a:r>
              <a:rPr sz="1700" spc="-459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MAX()</a:t>
            </a:r>
            <a:r>
              <a:rPr sz="1700" spc="-10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–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return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the </a:t>
            </a:r>
            <a:r>
              <a:rPr sz="1700" spc="-5">
                <a:latin typeface="Arial MT"/>
                <a:cs typeface="Arial MT"/>
              </a:rPr>
              <a:t>maximum value.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700" spc="-5">
                <a:latin typeface="Arial MT"/>
                <a:cs typeface="Arial MT"/>
              </a:rPr>
              <a:t>MIN()</a:t>
            </a:r>
            <a:r>
              <a:rPr sz="1700" spc="-10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– </a:t>
            </a:r>
            <a:r>
              <a:rPr sz="1700" spc="-5">
                <a:latin typeface="Arial MT"/>
                <a:cs typeface="Arial MT"/>
              </a:rPr>
              <a:t>return</a:t>
            </a:r>
            <a:r>
              <a:rPr sz="1700">
                <a:latin typeface="Arial MT"/>
                <a:cs typeface="Arial MT"/>
              </a:rPr>
              <a:t> the </a:t>
            </a:r>
            <a:r>
              <a:rPr sz="1700" spc="-5">
                <a:latin typeface="Arial MT"/>
                <a:cs typeface="Arial MT"/>
              </a:rPr>
              <a:t>minimum</a:t>
            </a:r>
            <a:r>
              <a:rPr sz="1700" spc="-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value.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700" spc="-5">
                <a:latin typeface="Arial MT"/>
                <a:cs typeface="Arial MT"/>
              </a:rPr>
              <a:t>SUM() </a:t>
            </a:r>
            <a:r>
              <a:rPr sz="1700">
                <a:latin typeface="Arial MT"/>
                <a:cs typeface="Arial MT"/>
              </a:rPr>
              <a:t>–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return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the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sum</a:t>
            </a:r>
            <a:r>
              <a:rPr sz="1700" spc="-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of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all</a:t>
            </a:r>
            <a:r>
              <a:rPr sz="1700">
                <a:latin typeface="Arial MT"/>
                <a:cs typeface="Arial MT"/>
              </a:rPr>
              <a:t> or</a:t>
            </a:r>
            <a:r>
              <a:rPr sz="1700" spc="-5">
                <a:latin typeface="Arial MT"/>
                <a:cs typeface="Arial MT"/>
              </a:rPr>
              <a:t> distinct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values.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50">
              <a:latin typeface="Arial MT"/>
              <a:cs typeface="Arial MT"/>
            </a:endParaRPr>
          </a:p>
          <a:p>
            <a:pPr marL="12700" marR="507365">
              <a:lnSpc>
                <a:spcPts val="1800"/>
              </a:lnSpc>
            </a:pPr>
            <a:r>
              <a:rPr sz="1700" spc="-20">
                <a:latin typeface="Arial MT"/>
                <a:cs typeface="Arial MT"/>
              </a:rPr>
              <a:t>We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often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use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the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aggregate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functions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with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the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GROUP</a:t>
            </a:r>
            <a:r>
              <a:rPr sz="1700" spc="-1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BY</a:t>
            </a:r>
            <a:r>
              <a:rPr sz="1700" spc="-2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clause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in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the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SELECT</a:t>
            </a:r>
            <a:r>
              <a:rPr sz="1700" spc="-2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statement.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In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these </a:t>
            </a:r>
            <a:r>
              <a:rPr sz="1700" spc="-459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cases,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the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GROUP</a:t>
            </a:r>
            <a:r>
              <a:rPr sz="1700" spc="-20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BY</a:t>
            </a:r>
            <a:r>
              <a:rPr sz="1700" spc="-2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clause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divides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the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result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set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into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groups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of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rows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and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the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aggregate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functions </a:t>
            </a:r>
            <a:r>
              <a:rPr sz="170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perform </a:t>
            </a:r>
            <a:r>
              <a:rPr sz="1700">
                <a:latin typeface="Arial MT"/>
                <a:cs typeface="Arial MT"/>
              </a:rPr>
              <a:t>a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calculation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on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each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group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e.g.,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maximum,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minimum,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average,</a:t>
            </a:r>
            <a:r>
              <a:rPr sz="1700" spc="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etc.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500">
              <a:latin typeface="Arial MT"/>
              <a:cs typeface="Arial MT"/>
            </a:endParaRPr>
          </a:p>
          <a:p>
            <a:pPr marL="73025" marR="2727960" indent="-60325">
              <a:lnSpc>
                <a:spcPct val="136500"/>
              </a:lnSpc>
            </a:pPr>
            <a:r>
              <a:rPr sz="1700" spc="-55">
                <a:latin typeface="Arial MT"/>
                <a:cs typeface="Arial MT"/>
              </a:rPr>
              <a:t>You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can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use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aggregate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functions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as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expressions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only</a:t>
            </a:r>
            <a:r>
              <a:rPr sz="1700" spc="1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in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>
                <a:latin typeface="Arial MT"/>
                <a:cs typeface="Arial MT"/>
              </a:rPr>
              <a:t>the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following</a:t>
            </a:r>
            <a:r>
              <a:rPr sz="1700" spc="1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clauses: </a:t>
            </a:r>
            <a:r>
              <a:rPr sz="1700" spc="-459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SELECT</a:t>
            </a:r>
            <a:r>
              <a:rPr sz="1700" spc="-35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clause.</a:t>
            </a:r>
            <a:endParaRPr sz="1700">
              <a:latin typeface="Arial MT"/>
              <a:cs typeface="Arial MT"/>
            </a:endParaRPr>
          </a:p>
          <a:p>
            <a:pPr marL="73025">
              <a:lnSpc>
                <a:spcPct val="100000"/>
              </a:lnSpc>
              <a:spcBef>
                <a:spcPts val="865"/>
              </a:spcBef>
            </a:pPr>
            <a:r>
              <a:rPr sz="1700" spc="-25">
                <a:latin typeface="Arial MT"/>
                <a:cs typeface="Arial MT"/>
              </a:rPr>
              <a:t>HAVING</a:t>
            </a:r>
            <a:r>
              <a:rPr sz="1700" spc="-50">
                <a:latin typeface="Arial MT"/>
                <a:cs typeface="Arial MT"/>
              </a:rPr>
              <a:t> </a:t>
            </a:r>
            <a:r>
              <a:rPr sz="1700" spc="-5">
                <a:latin typeface="Arial MT"/>
                <a:cs typeface="Arial MT"/>
              </a:rPr>
              <a:t>clause.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706500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PostgreSQL</a:t>
            </a:r>
            <a:r>
              <a:rPr sz="4400" spc="-265"/>
              <a:t> </a:t>
            </a:r>
            <a:r>
              <a:rPr sz="4400" spc="-110"/>
              <a:t>AVG</a:t>
            </a:r>
            <a:r>
              <a:rPr sz="4400" spc="-20"/>
              <a:t> </a:t>
            </a:r>
            <a:r>
              <a:rPr sz="4400" spc="-5"/>
              <a:t>Function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94255"/>
            <a:ext cx="10090785" cy="344233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400"/>
              </a:spcBef>
            </a:pPr>
            <a:r>
              <a:rPr sz="2500" spc="-5">
                <a:latin typeface="Arial MT"/>
                <a:cs typeface="Arial MT"/>
              </a:rPr>
              <a:t>The</a:t>
            </a:r>
            <a:r>
              <a:rPr sz="2500">
                <a:latin typeface="Arial MT"/>
                <a:cs typeface="Arial MT"/>
              </a:rPr>
              <a:t> </a:t>
            </a:r>
            <a:r>
              <a:rPr sz="2500" b="1" spc="-40">
                <a:latin typeface="Arial"/>
                <a:cs typeface="Arial"/>
              </a:rPr>
              <a:t>AVG()</a:t>
            </a:r>
            <a:r>
              <a:rPr sz="2500" b="1" spc="5">
                <a:latin typeface="Arial"/>
                <a:cs typeface="Arial"/>
              </a:rPr>
              <a:t> </a:t>
            </a:r>
            <a:r>
              <a:rPr sz="2500" spc="-5">
                <a:latin typeface="Arial MT"/>
                <a:cs typeface="Arial MT"/>
              </a:rPr>
              <a:t>function</a:t>
            </a:r>
            <a:r>
              <a:rPr sz="2500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is</a:t>
            </a:r>
            <a:r>
              <a:rPr sz="2500" spc="5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one</a:t>
            </a:r>
            <a:r>
              <a:rPr sz="2500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of</a:t>
            </a:r>
            <a:r>
              <a:rPr sz="2500" spc="10">
                <a:latin typeface="Arial MT"/>
                <a:cs typeface="Arial MT"/>
              </a:rPr>
              <a:t> </a:t>
            </a:r>
            <a:r>
              <a:rPr sz="2500">
                <a:latin typeface="Arial MT"/>
                <a:cs typeface="Arial MT"/>
              </a:rPr>
              <a:t>the</a:t>
            </a:r>
            <a:r>
              <a:rPr sz="2500" spc="5">
                <a:latin typeface="Arial MT"/>
                <a:cs typeface="Arial MT"/>
              </a:rPr>
              <a:t> </a:t>
            </a:r>
            <a:r>
              <a:rPr sz="2500">
                <a:latin typeface="Arial MT"/>
                <a:cs typeface="Arial MT"/>
              </a:rPr>
              <a:t>most</a:t>
            </a:r>
            <a:r>
              <a:rPr sz="2500" spc="10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commonly</a:t>
            </a:r>
            <a:r>
              <a:rPr sz="2500" spc="5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used</a:t>
            </a:r>
            <a:r>
              <a:rPr sz="2500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aggregate </a:t>
            </a:r>
            <a:r>
              <a:rPr sz="2500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functions in PostgreSQL. The </a:t>
            </a:r>
            <a:r>
              <a:rPr sz="2500" spc="-40">
                <a:latin typeface="Arial MT"/>
                <a:cs typeface="Arial MT"/>
              </a:rPr>
              <a:t>AVG() </a:t>
            </a:r>
            <a:r>
              <a:rPr sz="2500" spc="-5">
                <a:latin typeface="Arial MT"/>
                <a:cs typeface="Arial MT"/>
              </a:rPr>
              <a:t>function </a:t>
            </a:r>
            <a:r>
              <a:rPr sz="2500" spc="-10">
                <a:latin typeface="Arial MT"/>
                <a:cs typeface="Arial MT"/>
              </a:rPr>
              <a:t>allows </a:t>
            </a:r>
            <a:r>
              <a:rPr sz="2500" spc="-5">
                <a:latin typeface="Arial MT"/>
                <a:cs typeface="Arial MT"/>
              </a:rPr>
              <a:t>you </a:t>
            </a:r>
            <a:r>
              <a:rPr sz="2500">
                <a:latin typeface="Arial MT"/>
                <a:cs typeface="Arial MT"/>
              </a:rPr>
              <a:t>to </a:t>
            </a:r>
            <a:r>
              <a:rPr sz="2500" spc="-5">
                <a:latin typeface="Arial MT"/>
                <a:cs typeface="Arial MT"/>
              </a:rPr>
              <a:t>calculate </a:t>
            </a:r>
            <a:r>
              <a:rPr sz="2500">
                <a:latin typeface="Arial MT"/>
                <a:cs typeface="Arial MT"/>
              </a:rPr>
              <a:t>the </a:t>
            </a:r>
            <a:r>
              <a:rPr sz="2500" spc="-680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average value</a:t>
            </a:r>
            <a:r>
              <a:rPr sz="2500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of</a:t>
            </a:r>
            <a:r>
              <a:rPr sz="2500" spc="10">
                <a:latin typeface="Arial MT"/>
                <a:cs typeface="Arial MT"/>
              </a:rPr>
              <a:t> </a:t>
            </a:r>
            <a:r>
              <a:rPr sz="2500">
                <a:latin typeface="Arial MT"/>
                <a:cs typeface="Arial MT"/>
              </a:rPr>
              <a:t>a set.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200">
              <a:latin typeface="Arial MT"/>
              <a:cs typeface="Arial MT"/>
            </a:endParaRPr>
          </a:p>
          <a:p>
            <a:pPr marL="12700" marR="3615054">
              <a:lnSpc>
                <a:spcPct val="123200"/>
              </a:lnSpc>
            </a:pPr>
            <a:r>
              <a:rPr sz="2500" spc="-5">
                <a:latin typeface="Arial MT"/>
                <a:cs typeface="Arial MT"/>
              </a:rPr>
              <a:t>The syntax of </a:t>
            </a:r>
            <a:r>
              <a:rPr sz="2500">
                <a:latin typeface="Arial MT"/>
                <a:cs typeface="Arial MT"/>
              </a:rPr>
              <a:t>the </a:t>
            </a:r>
            <a:r>
              <a:rPr sz="2500" spc="-40">
                <a:latin typeface="Arial MT"/>
                <a:cs typeface="Arial MT"/>
              </a:rPr>
              <a:t>AVG() </a:t>
            </a:r>
            <a:r>
              <a:rPr sz="2500" spc="-5">
                <a:latin typeface="Arial MT"/>
                <a:cs typeface="Arial MT"/>
              </a:rPr>
              <a:t>function is as follows: </a:t>
            </a:r>
            <a:r>
              <a:rPr sz="2500" spc="-680">
                <a:latin typeface="Arial MT"/>
                <a:cs typeface="Arial MT"/>
              </a:rPr>
              <a:t> </a:t>
            </a:r>
            <a:r>
              <a:rPr sz="2500" spc="-20">
                <a:latin typeface="Arial MT"/>
                <a:cs typeface="Arial MT"/>
              </a:rPr>
              <a:t>AVG(column)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2500" spc="-80">
                <a:latin typeface="Arial MT"/>
                <a:cs typeface="Arial MT"/>
              </a:rPr>
              <a:t>You</a:t>
            </a:r>
            <a:r>
              <a:rPr sz="2500" spc="-5">
                <a:latin typeface="Arial MT"/>
                <a:cs typeface="Arial MT"/>
              </a:rPr>
              <a:t> can</a:t>
            </a:r>
            <a:r>
              <a:rPr sz="2500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use</a:t>
            </a:r>
            <a:r>
              <a:rPr sz="2500">
                <a:latin typeface="Arial MT"/>
                <a:cs typeface="Arial MT"/>
              </a:rPr>
              <a:t> the</a:t>
            </a:r>
            <a:r>
              <a:rPr sz="2500" spc="-135">
                <a:latin typeface="Arial MT"/>
                <a:cs typeface="Arial MT"/>
              </a:rPr>
              <a:t> </a:t>
            </a:r>
            <a:r>
              <a:rPr sz="2500" spc="-40">
                <a:latin typeface="Arial MT"/>
                <a:cs typeface="Arial MT"/>
              </a:rPr>
              <a:t>AVG()</a:t>
            </a:r>
            <a:r>
              <a:rPr sz="2500" spc="5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function</a:t>
            </a:r>
            <a:r>
              <a:rPr sz="2500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in</a:t>
            </a:r>
            <a:r>
              <a:rPr sz="2500">
                <a:latin typeface="Arial MT"/>
                <a:cs typeface="Arial MT"/>
              </a:rPr>
              <a:t> the </a:t>
            </a:r>
            <a:r>
              <a:rPr sz="2500" spc="-5">
                <a:latin typeface="Arial MT"/>
                <a:cs typeface="Arial MT"/>
              </a:rPr>
              <a:t>SELECT</a:t>
            </a:r>
            <a:r>
              <a:rPr sz="2500" spc="-50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and</a:t>
            </a:r>
            <a:r>
              <a:rPr sz="2500">
                <a:latin typeface="Arial MT"/>
                <a:cs typeface="Arial MT"/>
              </a:rPr>
              <a:t> </a:t>
            </a:r>
            <a:r>
              <a:rPr sz="2500" spc="-35">
                <a:latin typeface="Arial MT"/>
                <a:cs typeface="Arial MT"/>
              </a:rPr>
              <a:t>HAVING</a:t>
            </a:r>
            <a:r>
              <a:rPr sz="2500" spc="10">
                <a:latin typeface="Arial MT"/>
                <a:cs typeface="Arial MT"/>
              </a:rPr>
              <a:t> </a:t>
            </a:r>
            <a:r>
              <a:rPr sz="2500" spc="-5">
                <a:latin typeface="Arial MT"/>
                <a:cs typeface="Arial MT"/>
              </a:rPr>
              <a:t>clauses.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11124"/>
            <a:ext cx="23260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5">
                <a:latin typeface="Arial"/>
                <a:cs typeface="Arial"/>
              </a:rPr>
              <a:t>Example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3631565" cy="1037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600"/>
              </a:lnSpc>
              <a:spcBef>
                <a:spcPts val="100"/>
              </a:spcBef>
            </a:pPr>
            <a:r>
              <a:rPr sz="2800" spc="-5">
                <a:latin typeface="Arial MT"/>
                <a:cs typeface="Arial MT"/>
              </a:rPr>
              <a:t>SE</a:t>
            </a:r>
            <a:r>
              <a:rPr sz="2800" spc="5">
                <a:latin typeface="Arial MT"/>
                <a:cs typeface="Arial MT"/>
              </a:rPr>
              <a:t>L</a:t>
            </a:r>
            <a:r>
              <a:rPr sz="2800" spc="-5">
                <a:latin typeface="Arial MT"/>
                <a:cs typeface="Arial MT"/>
              </a:rPr>
              <a:t>E</a:t>
            </a:r>
            <a:r>
              <a:rPr sz="2800">
                <a:latin typeface="Arial MT"/>
                <a:cs typeface="Arial MT"/>
              </a:rPr>
              <a:t>CT</a:t>
            </a:r>
            <a:r>
              <a:rPr sz="2800" spc="-204">
                <a:latin typeface="Arial MT"/>
                <a:cs typeface="Arial MT"/>
              </a:rPr>
              <a:t> </a:t>
            </a:r>
            <a:r>
              <a:rPr sz="2800" spc="-215">
                <a:latin typeface="Arial MT"/>
                <a:cs typeface="Arial MT"/>
              </a:rPr>
              <a:t>A</a:t>
            </a:r>
            <a:r>
              <a:rPr sz="2800" spc="-5">
                <a:latin typeface="Arial MT"/>
                <a:cs typeface="Arial MT"/>
              </a:rPr>
              <a:t>VG</a:t>
            </a:r>
            <a:r>
              <a:rPr sz="2800" spc="5">
                <a:latin typeface="Arial MT"/>
                <a:cs typeface="Arial MT"/>
              </a:rPr>
              <a:t>(amoun</a:t>
            </a:r>
            <a:r>
              <a:rPr sz="2800" spc="-5">
                <a:latin typeface="Arial MT"/>
                <a:cs typeface="Arial MT"/>
              </a:rPr>
              <a:t>t</a:t>
            </a:r>
            <a:r>
              <a:rPr sz="2800">
                <a:latin typeface="Arial MT"/>
                <a:cs typeface="Arial MT"/>
              </a:rPr>
              <a:t>)  </a:t>
            </a:r>
            <a:r>
              <a:rPr sz="2800" spc="-5">
                <a:latin typeface="Arial MT"/>
                <a:cs typeface="Arial MT"/>
              </a:rPr>
              <a:t>FROM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payment;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60919" y="1690687"/>
            <a:ext cx="2476500" cy="20955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200" y="3776434"/>
            <a:ext cx="2997200" cy="19176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731011"/>
            <a:ext cx="93643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>
                <a:latin typeface="Arial"/>
                <a:cs typeface="Arial"/>
              </a:rPr>
              <a:t>PostgreSQL</a:t>
            </a:r>
            <a:r>
              <a:rPr sz="3000" b="1" spc="-150">
                <a:latin typeface="Arial"/>
                <a:cs typeface="Arial"/>
              </a:rPr>
              <a:t> </a:t>
            </a:r>
            <a:r>
              <a:rPr sz="3000" b="1" spc="-50">
                <a:latin typeface="Arial"/>
                <a:cs typeface="Arial"/>
              </a:rPr>
              <a:t>AVG()</a:t>
            </a:r>
            <a:r>
              <a:rPr sz="3000" b="1" spc="10">
                <a:latin typeface="Arial"/>
                <a:cs typeface="Arial"/>
              </a:rPr>
              <a:t> </a:t>
            </a:r>
            <a:r>
              <a:rPr sz="3000" b="1">
                <a:latin typeface="Arial"/>
                <a:cs typeface="Arial"/>
              </a:rPr>
              <a:t>function</a:t>
            </a:r>
            <a:r>
              <a:rPr sz="3000" b="1" spc="15">
                <a:latin typeface="Arial"/>
                <a:cs typeface="Arial"/>
              </a:rPr>
              <a:t> </a:t>
            </a:r>
            <a:r>
              <a:rPr sz="3000" b="1">
                <a:latin typeface="Arial"/>
                <a:cs typeface="Arial"/>
              </a:rPr>
              <a:t>with</a:t>
            </a:r>
            <a:r>
              <a:rPr sz="3000" b="1" spc="20">
                <a:latin typeface="Arial"/>
                <a:cs typeface="Arial"/>
              </a:rPr>
              <a:t> </a:t>
            </a:r>
            <a:r>
              <a:rPr sz="3000" b="1" spc="-5">
                <a:latin typeface="Arial"/>
                <a:cs typeface="Arial"/>
              </a:rPr>
              <a:t>DISTINCT</a:t>
            </a:r>
            <a:r>
              <a:rPr sz="3000" b="1" spc="15">
                <a:latin typeface="Arial"/>
                <a:cs typeface="Arial"/>
              </a:rPr>
              <a:t> </a:t>
            </a:r>
            <a:r>
              <a:rPr sz="3000" b="1" spc="-5">
                <a:latin typeface="Arial"/>
                <a:cs typeface="Arial"/>
              </a:rPr>
              <a:t>operator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7759700" cy="1037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600"/>
              </a:lnSpc>
              <a:spcBef>
                <a:spcPts val="100"/>
              </a:spcBef>
            </a:pPr>
            <a:r>
              <a:rPr sz="2800" spc="-5">
                <a:latin typeface="Arial MT"/>
                <a:cs typeface="Arial MT"/>
              </a:rPr>
              <a:t>SE</a:t>
            </a:r>
            <a:r>
              <a:rPr sz="2800" spc="5">
                <a:latin typeface="Arial MT"/>
                <a:cs typeface="Arial MT"/>
              </a:rPr>
              <a:t>L</a:t>
            </a:r>
            <a:r>
              <a:rPr sz="2800" spc="-5">
                <a:latin typeface="Arial MT"/>
                <a:cs typeface="Arial MT"/>
              </a:rPr>
              <a:t>E</a:t>
            </a:r>
            <a:r>
              <a:rPr sz="2800">
                <a:latin typeface="Arial MT"/>
                <a:cs typeface="Arial MT"/>
              </a:rPr>
              <a:t>CT</a:t>
            </a:r>
            <a:r>
              <a:rPr sz="2800" spc="-204">
                <a:latin typeface="Arial MT"/>
                <a:cs typeface="Arial MT"/>
              </a:rPr>
              <a:t> </a:t>
            </a:r>
            <a:r>
              <a:rPr sz="2800" spc="-215">
                <a:latin typeface="Arial MT"/>
                <a:cs typeface="Arial MT"/>
              </a:rPr>
              <a:t>A</a:t>
            </a:r>
            <a:r>
              <a:rPr sz="2800" spc="-5">
                <a:latin typeface="Arial MT"/>
                <a:cs typeface="Arial MT"/>
              </a:rPr>
              <a:t>VG</a:t>
            </a:r>
            <a:r>
              <a:rPr sz="2800" spc="5">
                <a:latin typeface="Arial MT"/>
                <a:cs typeface="Arial MT"/>
              </a:rPr>
              <a:t>(</a:t>
            </a:r>
            <a:r>
              <a:rPr sz="2800">
                <a:latin typeface="Arial MT"/>
                <a:cs typeface="Arial MT"/>
              </a:rPr>
              <a:t>D</a:t>
            </a:r>
            <a:r>
              <a:rPr sz="2800" spc="-5">
                <a:latin typeface="Arial MT"/>
                <a:cs typeface="Arial MT"/>
              </a:rPr>
              <a:t>IS</a:t>
            </a:r>
            <a:r>
              <a:rPr sz="2800">
                <a:latin typeface="Arial MT"/>
                <a:cs typeface="Arial MT"/>
              </a:rPr>
              <a:t>T</a:t>
            </a:r>
            <a:r>
              <a:rPr sz="2800" spc="-5">
                <a:latin typeface="Arial MT"/>
                <a:cs typeface="Arial MT"/>
              </a:rPr>
              <a:t>I</a:t>
            </a:r>
            <a:r>
              <a:rPr sz="2800">
                <a:latin typeface="Arial MT"/>
                <a:cs typeface="Arial MT"/>
              </a:rPr>
              <a:t>NCT</a:t>
            </a:r>
            <a:r>
              <a:rPr sz="2800" spc="-50">
                <a:latin typeface="Arial MT"/>
                <a:cs typeface="Arial MT"/>
              </a:rPr>
              <a:t> </a:t>
            </a:r>
            <a:r>
              <a:rPr sz="2800" spc="5">
                <a:latin typeface="Arial MT"/>
                <a:cs typeface="Arial MT"/>
              </a:rPr>
              <a:t>amoun</a:t>
            </a:r>
            <a:r>
              <a:rPr sz="2800" spc="-5">
                <a:latin typeface="Arial MT"/>
                <a:cs typeface="Arial MT"/>
              </a:rPr>
              <a:t>t</a:t>
            </a:r>
            <a:r>
              <a:rPr sz="2800" spc="5">
                <a:latin typeface="Arial MT"/>
                <a:cs typeface="Arial MT"/>
              </a:rPr>
              <a:t>)</a:t>
            </a:r>
            <a:r>
              <a:rPr sz="2800" spc="-5">
                <a:latin typeface="Arial MT"/>
                <a:cs typeface="Arial MT"/>
              </a:rPr>
              <a:t>::</a:t>
            </a:r>
            <a:r>
              <a:rPr sz="2800" spc="5">
                <a:latin typeface="Arial MT"/>
                <a:cs typeface="Arial MT"/>
              </a:rPr>
              <a:t>numer</a:t>
            </a:r>
            <a:r>
              <a:rPr sz="2800">
                <a:latin typeface="Arial MT"/>
                <a:cs typeface="Arial MT"/>
              </a:rPr>
              <a:t>ic</a:t>
            </a:r>
            <a:r>
              <a:rPr sz="2800" spc="5">
                <a:latin typeface="Arial MT"/>
                <a:cs typeface="Arial MT"/>
              </a:rPr>
              <a:t>(10</a:t>
            </a:r>
            <a:r>
              <a:rPr sz="2800" spc="-5">
                <a:latin typeface="Arial MT"/>
                <a:cs typeface="Arial MT"/>
              </a:rPr>
              <a:t>,</a:t>
            </a:r>
            <a:r>
              <a:rPr sz="2800" spc="5">
                <a:latin typeface="Arial MT"/>
                <a:cs typeface="Arial MT"/>
              </a:rPr>
              <a:t>2</a:t>
            </a:r>
            <a:r>
              <a:rPr sz="2800">
                <a:latin typeface="Arial MT"/>
                <a:cs typeface="Arial MT"/>
              </a:rPr>
              <a:t>)  </a:t>
            </a:r>
            <a:r>
              <a:rPr sz="2800" spc="-5">
                <a:latin typeface="Arial MT"/>
                <a:cs typeface="Arial MT"/>
              </a:rPr>
              <a:t>FROM </a:t>
            </a:r>
            <a:r>
              <a:rPr sz="2800">
                <a:latin typeface="Arial MT"/>
                <a:cs typeface="Arial MT"/>
              </a:rPr>
              <a:t>payment;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3600" y="2940461"/>
            <a:ext cx="1422400" cy="187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1011"/>
            <a:ext cx="81578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/>
              <a:t>PostgreSQL</a:t>
            </a:r>
            <a:r>
              <a:rPr sz="3000" spc="-160"/>
              <a:t> </a:t>
            </a:r>
            <a:r>
              <a:rPr sz="3000" spc="-80"/>
              <a:t>AVG</a:t>
            </a:r>
            <a:r>
              <a:rPr sz="3000"/>
              <a:t> function</a:t>
            </a:r>
            <a:r>
              <a:rPr sz="3000" spc="5"/>
              <a:t> </a:t>
            </a:r>
            <a:r>
              <a:rPr sz="3000"/>
              <a:t>with</a:t>
            </a:r>
            <a:r>
              <a:rPr sz="3000" spc="5"/>
              <a:t> </a:t>
            </a:r>
            <a:r>
              <a:rPr sz="3000" spc="-5"/>
              <a:t>SUM</a:t>
            </a:r>
            <a:r>
              <a:rPr sz="3000"/>
              <a:t> 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5586095" cy="257683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>
                <a:latin typeface="Arial MT"/>
                <a:cs typeface="Arial MT"/>
              </a:rPr>
              <a:t>SELECT</a:t>
            </a:r>
            <a:endParaRPr sz="2800">
              <a:latin typeface="Arial MT"/>
              <a:cs typeface="Arial MT"/>
            </a:endParaRPr>
          </a:p>
          <a:p>
            <a:pPr marL="926465" marR="5080">
              <a:lnSpc>
                <a:spcPts val="4010"/>
              </a:lnSpc>
              <a:spcBef>
                <a:spcPts val="219"/>
              </a:spcBef>
            </a:pPr>
            <a:r>
              <a:rPr sz="2800" spc="-10">
                <a:latin typeface="Arial MT"/>
                <a:cs typeface="Arial MT"/>
              </a:rPr>
              <a:t>AVG(amount)::numeric(10,2), </a:t>
            </a:r>
            <a:r>
              <a:rPr sz="2800" spc="-76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SUM(amount)::numeric(10,2)</a:t>
            </a: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800" spc="-5">
                <a:latin typeface="Arial MT"/>
                <a:cs typeface="Arial MT"/>
              </a:rPr>
              <a:t>FROM</a:t>
            </a:r>
            <a:endParaRPr sz="28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745"/>
              </a:spcBef>
            </a:pPr>
            <a:r>
              <a:rPr sz="2800">
                <a:latin typeface="Arial MT"/>
                <a:cs typeface="Arial MT"/>
              </a:rPr>
              <a:t>payment;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57606" y="4208462"/>
            <a:ext cx="2743200" cy="193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1011"/>
            <a:ext cx="92646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/>
              <a:t>PostgreSQL</a:t>
            </a:r>
            <a:r>
              <a:rPr sz="3000" spc="-160"/>
              <a:t> </a:t>
            </a:r>
            <a:r>
              <a:rPr sz="3000" spc="-50"/>
              <a:t>AVG()</a:t>
            </a:r>
            <a:r>
              <a:rPr sz="3000" spc="5"/>
              <a:t> </a:t>
            </a:r>
            <a:r>
              <a:rPr sz="3000"/>
              <a:t>function</a:t>
            </a:r>
            <a:r>
              <a:rPr sz="3000" spc="5"/>
              <a:t> </a:t>
            </a:r>
            <a:r>
              <a:rPr sz="3000"/>
              <a:t>with</a:t>
            </a:r>
            <a:r>
              <a:rPr sz="3000" spc="10"/>
              <a:t> </a:t>
            </a:r>
            <a:r>
              <a:rPr sz="3000"/>
              <a:t>GROUP</a:t>
            </a:r>
            <a:r>
              <a:rPr sz="3000" spc="-55"/>
              <a:t> </a:t>
            </a:r>
            <a:r>
              <a:rPr sz="3000" spc="-5"/>
              <a:t>BY</a:t>
            </a:r>
            <a:r>
              <a:rPr sz="3000" spc="-50"/>
              <a:t> </a:t>
            </a:r>
            <a:r>
              <a:rPr sz="3000" spc="-5"/>
              <a:t>clause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916939" y="1719580"/>
            <a:ext cx="4013200" cy="4180204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600" spc="-5">
                <a:latin typeface="Arial MT"/>
                <a:cs typeface="Arial MT"/>
              </a:rPr>
              <a:t>SELECT</a:t>
            </a:r>
            <a:endParaRPr sz="16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790"/>
              </a:spcBef>
            </a:pPr>
            <a:r>
              <a:rPr sz="1600" spc="-5">
                <a:latin typeface="Arial MT"/>
                <a:cs typeface="Arial MT"/>
              </a:rPr>
              <a:t>customer_id,</a:t>
            </a:r>
            <a:endParaRPr sz="1600">
              <a:latin typeface="Arial MT"/>
              <a:cs typeface="Arial MT"/>
            </a:endParaRPr>
          </a:p>
          <a:p>
            <a:pPr marL="926465" marR="2072005">
              <a:lnSpc>
                <a:spcPct val="141200"/>
              </a:lnSpc>
              <a:spcBef>
                <a:spcPts val="75"/>
              </a:spcBef>
            </a:pPr>
            <a:r>
              <a:rPr sz="1600" spc="5">
                <a:latin typeface="Arial MT"/>
                <a:cs typeface="Arial MT"/>
              </a:rPr>
              <a:t>f</a:t>
            </a:r>
            <a:r>
              <a:rPr sz="1600" spc="-10">
                <a:latin typeface="Arial MT"/>
                <a:cs typeface="Arial MT"/>
              </a:rPr>
              <a:t>i</a:t>
            </a:r>
            <a:r>
              <a:rPr sz="1600">
                <a:latin typeface="Arial MT"/>
                <a:cs typeface="Arial MT"/>
              </a:rPr>
              <a:t>rs</a:t>
            </a:r>
            <a:r>
              <a:rPr sz="1600" spc="5">
                <a:latin typeface="Arial MT"/>
                <a:cs typeface="Arial MT"/>
              </a:rPr>
              <a:t>t</a:t>
            </a:r>
            <a:r>
              <a:rPr sz="1600" spc="-5">
                <a:latin typeface="Arial MT"/>
                <a:cs typeface="Arial MT"/>
              </a:rPr>
              <a:t>_na</a:t>
            </a:r>
            <a:r>
              <a:rPr sz="1600">
                <a:latin typeface="Arial MT"/>
                <a:cs typeface="Arial MT"/>
              </a:rPr>
              <a:t>m</a:t>
            </a:r>
            <a:r>
              <a:rPr sz="1600" spc="-5">
                <a:latin typeface="Arial MT"/>
                <a:cs typeface="Arial MT"/>
              </a:rPr>
              <a:t>e</a:t>
            </a:r>
            <a:r>
              <a:rPr sz="1600">
                <a:latin typeface="Arial MT"/>
                <a:cs typeface="Arial MT"/>
              </a:rPr>
              <a:t>,  </a:t>
            </a:r>
            <a:r>
              <a:rPr sz="1600" spc="-5">
                <a:latin typeface="Arial MT"/>
                <a:cs typeface="Arial MT"/>
              </a:rPr>
              <a:t>last_name,</a:t>
            </a:r>
            <a:endParaRPr sz="16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770"/>
              </a:spcBef>
            </a:pPr>
            <a:r>
              <a:rPr sz="1600" spc="-45">
                <a:latin typeface="Arial MT"/>
                <a:cs typeface="Arial MT"/>
              </a:rPr>
              <a:t>AVG</a:t>
            </a:r>
            <a:r>
              <a:rPr sz="1600" spc="10">
                <a:latin typeface="Arial MT"/>
                <a:cs typeface="Arial MT"/>
              </a:rPr>
              <a:t> </a:t>
            </a:r>
            <a:r>
              <a:rPr sz="1600" spc="-5">
                <a:latin typeface="Arial MT"/>
                <a:cs typeface="Arial MT"/>
              </a:rPr>
              <a:t>(amount)::NUMERIC(10,2)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600" spc="-5">
                <a:latin typeface="Arial MT"/>
                <a:cs typeface="Arial MT"/>
              </a:rPr>
              <a:t>FROM</a:t>
            </a:r>
            <a:endParaRPr sz="16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865"/>
              </a:spcBef>
            </a:pPr>
            <a:r>
              <a:rPr sz="1600" spc="-5">
                <a:latin typeface="Arial MT"/>
                <a:cs typeface="Arial MT"/>
              </a:rPr>
              <a:t>payment</a:t>
            </a:r>
            <a:endParaRPr sz="1600">
              <a:latin typeface="Arial MT"/>
              <a:cs typeface="Arial MT"/>
            </a:endParaRPr>
          </a:p>
          <a:p>
            <a:pPr marL="12700" marR="5080">
              <a:lnSpc>
                <a:spcPct val="140000"/>
              </a:lnSpc>
              <a:spcBef>
                <a:spcPts val="25"/>
              </a:spcBef>
            </a:pPr>
            <a:r>
              <a:rPr sz="1600" spc="-5">
                <a:latin typeface="Arial MT"/>
                <a:cs typeface="Arial MT"/>
              </a:rPr>
              <a:t>INNER </a:t>
            </a:r>
            <a:r>
              <a:rPr sz="1600">
                <a:latin typeface="Arial MT"/>
                <a:cs typeface="Arial MT"/>
              </a:rPr>
              <a:t>JOIN</a:t>
            </a:r>
            <a:r>
              <a:rPr sz="1600" spc="-5">
                <a:latin typeface="Arial MT"/>
                <a:cs typeface="Arial MT"/>
              </a:rPr>
              <a:t> customer</a:t>
            </a:r>
            <a:r>
              <a:rPr sz="1600" spc="10">
                <a:latin typeface="Arial MT"/>
                <a:cs typeface="Arial MT"/>
              </a:rPr>
              <a:t> </a:t>
            </a:r>
            <a:r>
              <a:rPr sz="1600" spc="-5">
                <a:latin typeface="Arial MT"/>
                <a:cs typeface="Arial MT"/>
              </a:rPr>
              <a:t>USING(customer_id) </a:t>
            </a:r>
            <a:r>
              <a:rPr sz="1600" spc="-430">
                <a:latin typeface="Arial MT"/>
                <a:cs typeface="Arial MT"/>
              </a:rPr>
              <a:t> </a:t>
            </a:r>
            <a:r>
              <a:rPr sz="1600" spc="-5">
                <a:latin typeface="Arial MT"/>
                <a:cs typeface="Arial MT"/>
              </a:rPr>
              <a:t>GROUP</a:t>
            </a:r>
            <a:r>
              <a:rPr sz="1600" spc="-35">
                <a:latin typeface="Arial MT"/>
                <a:cs typeface="Arial MT"/>
              </a:rPr>
              <a:t> </a:t>
            </a:r>
            <a:r>
              <a:rPr sz="1600" spc="-5">
                <a:latin typeface="Arial MT"/>
                <a:cs typeface="Arial MT"/>
              </a:rPr>
              <a:t>BY</a:t>
            </a:r>
            <a:endParaRPr sz="1600">
              <a:latin typeface="Arial MT"/>
              <a:cs typeface="Arial MT"/>
            </a:endParaRPr>
          </a:p>
          <a:p>
            <a:pPr marL="12700" marR="1971039" indent="914400">
              <a:lnSpc>
                <a:spcPts val="2810"/>
              </a:lnSpc>
              <a:spcBef>
                <a:spcPts val="140"/>
              </a:spcBef>
            </a:pPr>
            <a:r>
              <a:rPr sz="1600">
                <a:latin typeface="Arial MT"/>
                <a:cs typeface="Arial MT"/>
              </a:rPr>
              <a:t>c</a:t>
            </a:r>
            <a:r>
              <a:rPr sz="1600" spc="-5">
                <a:latin typeface="Arial MT"/>
                <a:cs typeface="Arial MT"/>
              </a:rPr>
              <a:t>u</a:t>
            </a:r>
            <a:r>
              <a:rPr sz="1600">
                <a:latin typeface="Arial MT"/>
                <a:cs typeface="Arial MT"/>
              </a:rPr>
              <a:t>s</a:t>
            </a:r>
            <a:r>
              <a:rPr sz="1600" spc="5">
                <a:latin typeface="Arial MT"/>
                <a:cs typeface="Arial MT"/>
              </a:rPr>
              <a:t>t</a:t>
            </a:r>
            <a:r>
              <a:rPr sz="1600" spc="-5">
                <a:latin typeface="Arial MT"/>
                <a:cs typeface="Arial MT"/>
              </a:rPr>
              <a:t>o</a:t>
            </a:r>
            <a:r>
              <a:rPr sz="1600">
                <a:latin typeface="Arial MT"/>
                <a:cs typeface="Arial MT"/>
              </a:rPr>
              <a:t>m</a:t>
            </a:r>
            <a:r>
              <a:rPr sz="1600" spc="-5">
                <a:latin typeface="Arial MT"/>
                <a:cs typeface="Arial MT"/>
              </a:rPr>
              <a:t>e</a:t>
            </a:r>
            <a:r>
              <a:rPr sz="1600">
                <a:latin typeface="Arial MT"/>
                <a:cs typeface="Arial MT"/>
              </a:rPr>
              <a:t>r</a:t>
            </a:r>
            <a:r>
              <a:rPr sz="1600" spc="-5">
                <a:latin typeface="Arial MT"/>
                <a:cs typeface="Arial MT"/>
              </a:rPr>
              <a:t>_</a:t>
            </a:r>
            <a:r>
              <a:rPr sz="1600" spc="-10">
                <a:latin typeface="Arial MT"/>
                <a:cs typeface="Arial MT"/>
              </a:rPr>
              <a:t>i</a:t>
            </a:r>
            <a:r>
              <a:rPr sz="1600">
                <a:latin typeface="Arial MT"/>
                <a:cs typeface="Arial MT"/>
              </a:rPr>
              <a:t>d  </a:t>
            </a:r>
            <a:r>
              <a:rPr sz="1600" spc="-5">
                <a:latin typeface="Arial MT"/>
                <a:cs typeface="Arial MT"/>
              </a:rPr>
              <a:t>ORDER</a:t>
            </a:r>
            <a:r>
              <a:rPr sz="1600" spc="-10">
                <a:latin typeface="Arial MT"/>
                <a:cs typeface="Arial MT"/>
              </a:rPr>
              <a:t> </a:t>
            </a:r>
            <a:r>
              <a:rPr sz="1600" spc="-5">
                <a:latin typeface="Arial MT"/>
                <a:cs typeface="Arial MT"/>
              </a:rPr>
              <a:t>BY</a:t>
            </a:r>
            <a:endParaRPr sz="16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525"/>
              </a:spcBef>
            </a:pPr>
            <a:r>
              <a:rPr sz="1600" spc="-5">
                <a:latin typeface="Arial MT"/>
                <a:cs typeface="Arial MT"/>
              </a:rPr>
              <a:t>customer_id;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7061" y="1825625"/>
            <a:ext cx="6553620" cy="41989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1011"/>
            <a:ext cx="86988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/>
              <a:t>PostgreSQL</a:t>
            </a:r>
            <a:r>
              <a:rPr sz="3000" spc="-160"/>
              <a:t> </a:t>
            </a:r>
            <a:r>
              <a:rPr sz="3000" spc="-50"/>
              <a:t>AVG()</a:t>
            </a:r>
            <a:r>
              <a:rPr sz="3000"/>
              <a:t> function</a:t>
            </a:r>
            <a:r>
              <a:rPr sz="3000" spc="5"/>
              <a:t> </a:t>
            </a:r>
            <a:r>
              <a:rPr sz="3000"/>
              <a:t>with</a:t>
            </a:r>
            <a:r>
              <a:rPr sz="3000" spc="5"/>
              <a:t> </a:t>
            </a:r>
            <a:r>
              <a:rPr sz="3000" spc="-40"/>
              <a:t>HAVING</a:t>
            </a:r>
            <a:r>
              <a:rPr sz="3000" spc="10"/>
              <a:t> </a:t>
            </a:r>
            <a:r>
              <a:rPr sz="3000" spc="-5"/>
              <a:t>clause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916939" y="1717039"/>
            <a:ext cx="3764279" cy="405193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500" spc="-5">
                <a:latin typeface="Arial MT"/>
                <a:cs typeface="Arial MT"/>
              </a:rPr>
              <a:t>SELECT</a:t>
            </a:r>
            <a:endParaRPr sz="1500">
              <a:latin typeface="Arial MT"/>
              <a:cs typeface="Arial MT"/>
            </a:endParaRPr>
          </a:p>
          <a:p>
            <a:pPr marL="926465" marR="1736089">
              <a:lnSpc>
                <a:spcPct val="125299"/>
              </a:lnSpc>
              <a:spcBef>
                <a:spcPts val="45"/>
              </a:spcBef>
            </a:pPr>
            <a:r>
              <a:rPr sz="1500">
                <a:latin typeface="Arial MT"/>
                <a:cs typeface="Arial MT"/>
              </a:rPr>
              <a:t>cus</a:t>
            </a:r>
            <a:r>
              <a:rPr sz="1500" spc="-5">
                <a:latin typeface="Arial MT"/>
                <a:cs typeface="Arial MT"/>
              </a:rPr>
              <a:t>t</a:t>
            </a:r>
            <a:r>
              <a:rPr sz="1500">
                <a:latin typeface="Arial MT"/>
                <a:cs typeface="Arial MT"/>
              </a:rPr>
              <a:t>omer_id,  </a:t>
            </a:r>
            <a:r>
              <a:rPr sz="1500" spc="-5">
                <a:latin typeface="Arial MT"/>
                <a:cs typeface="Arial MT"/>
              </a:rPr>
              <a:t>first_name, </a:t>
            </a:r>
            <a:r>
              <a:rPr sz="1500">
                <a:latin typeface="Arial MT"/>
                <a:cs typeface="Arial MT"/>
              </a:rPr>
              <a:t> </a:t>
            </a:r>
            <a:r>
              <a:rPr sz="1500" spc="-5">
                <a:latin typeface="Arial MT"/>
                <a:cs typeface="Arial MT"/>
              </a:rPr>
              <a:t>last_name,</a:t>
            </a:r>
            <a:endParaRPr sz="15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505"/>
              </a:spcBef>
            </a:pPr>
            <a:r>
              <a:rPr sz="1500" spc="-40">
                <a:latin typeface="Arial MT"/>
                <a:cs typeface="Arial MT"/>
              </a:rPr>
              <a:t>AVG</a:t>
            </a:r>
            <a:r>
              <a:rPr sz="1500" spc="-15">
                <a:latin typeface="Arial MT"/>
                <a:cs typeface="Arial MT"/>
              </a:rPr>
              <a:t> </a:t>
            </a:r>
            <a:r>
              <a:rPr sz="1500" spc="-5">
                <a:latin typeface="Arial MT"/>
                <a:cs typeface="Arial MT"/>
              </a:rPr>
              <a:t>(amount)::NUMERIC(10,2)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500" spc="-5">
                <a:latin typeface="Arial MT"/>
                <a:cs typeface="Arial MT"/>
              </a:rPr>
              <a:t>FROM</a:t>
            </a:r>
            <a:endParaRPr sz="15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505"/>
              </a:spcBef>
            </a:pPr>
            <a:r>
              <a:rPr sz="1500">
                <a:latin typeface="Arial MT"/>
                <a:cs typeface="Arial MT"/>
              </a:rPr>
              <a:t>payment</a:t>
            </a:r>
          </a:p>
          <a:p>
            <a:pPr marL="12700" marR="5080">
              <a:lnSpc>
                <a:spcPct val="122700"/>
              </a:lnSpc>
              <a:spcBef>
                <a:spcPts val="95"/>
              </a:spcBef>
            </a:pPr>
            <a:r>
              <a:rPr sz="1500" spc="-5">
                <a:latin typeface="Arial MT"/>
                <a:cs typeface="Arial MT"/>
              </a:rPr>
              <a:t>INNER</a:t>
            </a:r>
            <a:r>
              <a:rPr sz="1500" spc="5">
                <a:latin typeface="Arial MT"/>
                <a:cs typeface="Arial MT"/>
              </a:rPr>
              <a:t> </a:t>
            </a:r>
            <a:r>
              <a:rPr sz="1500" spc="-5">
                <a:latin typeface="Arial MT"/>
                <a:cs typeface="Arial MT"/>
              </a:rPr>
              <a:t>JOIN</a:t>
            </a:r>
            <a:r>
              <a:rPr sz="1500" spc="10">
                <a:latin typeface="Arial MT"/>
                <a:cs typeface="Arial MT"/>
              </a:rPr>
              <a:t> </a:t>
            </a:r>
            <a:r>
              <a:rPr sz="1500" spc="-5">
                <a:latin typeface="Arial MT"/>
                <a:cs typeface="Arial MT"/>
              </a:rPr>
              <a:t>customer</a:t>
            </a:r>
            <a:r>
              <a:rPr sz="1500" spc="5">
                <a:latin typeface="Arial MT"/>
                <a:cs typeface="Arial MT"/>
              </a:rPr>
              <a:t> </a:t>
            </a:r>
            <a:r>
              <a:rPr sz="1500" spc="-5">
                <a:latin typeface="Arial MT"/>
                <a:cs typeface="Arial MT"/>
              </a:rPr>
              <a:t>USING(customer_id) </a:t>
            </a:r>
            <a:r>
              <a:rPr sz="1500" spc="-400">
                <a:latin typeface="Arial MT"/>
                <a:cs typeface="Arial MT"/>
              </a:rPr>
              <a:t> </a:t>
            </a:r>
            <a:r>
              <a:rPr sz="1500" spc="-5">
                <a:latin typeface="Arial MT"/>
                <a:cs typeface="Arial MT"/>
              </a:rPr>
              <a:t>GROUP</a:t>
            </a:r>
            <a:r>
              <a:rPr sz="1500" spc="-4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BY</a:t>
            </a:r>
          </a:p>
          <a:p>
            <a:pPr marL="926465">
              <a:lnSpc>
                <a:spcPct val="100000"/>
              </a:lnSpc>
              <a:spcBef>
                <a:spcPts val="480"/>
              </a:spcBef>
            </a:pPr>
            <a:r>
              <a:rPr sz="1500" spc="-5">
                <a:latin typeface="Arial MT"/>
                <a:cs typeface="Arial MT"/>
              </a:rPr>
              <a:t>customer_id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500" spc="-20">
                <a:latin typeface="Arial MT"/>
                <a:cs typeface="Arial MT"/>
              </a:rPr>
              <a:t>HAVING</a:t>
            </a:r>
            <a:endParaRPr sz="1500">
              <a:latin typeface="Arial MT"/>
              <a:cs typeface="Arial MT"/>
            </a:endParaRPr>
          </a:p>
          <a:p>
            <a:pPr marL="12700" marR="1303655" indent="914400">
              <a:lnSpc>
                <a:spcPct val="128000"/>
              </a:lnSpc>
            </a:pPr>
            <a:r>
              <a:rPr sz="1500" spc="-40">
                <a:latin typeface="Arial MT"/>
                <a:cs typeface="Arial MT"/>
              </a:rPr>
              <a:t>AVG</a:t>
            </a:r>
            <a:r>
              <a:rPr sz="1500" spc="-30">
                <a:latin typeface="Arial MT"/>
                <a:cs typeface="Arial MT"/>
              </a:rPr>
              <a:t> </a:t>
            </a:r>
            <a:r>
              <a:rPr sz="1500" spc="-5">
                <a:latin typeface="Arial MT"/>
                <a:cs typeface="Arial MT"/>
              </a:rPr>
              <a:t>(amount)</a:t>
            </a:r>
            <a:r>
              <a:rPr sz="1500" spc="-2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&gt;</a:t>
            </a:r>
            <a:r>
              <a:rPr sz="1500" spc="-30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5 </a:t>
            </a:r>
            <a:r>
              <a:rPr sz="1500" spc="-400">
                <a:latin typeface="Arial MT"/>
                <a:cs typeface="Arial MT"/>
              </a:rPr>
              <a:t> </a:t>
            </a:r>
            <a:r>
              <a:rPr sz="1500" spc="-5">
                <a:latin typeface="Arial MT"/>
                <a:cs typeface="Arial MT"/>
              </a:rPr>
              <a:t>ORDER </a:t>
            </a:r>
            <a:r>
              <a:rPr sz="1500">
                <a:latin typeface="Arial MT"/>
                <a:cs typeface="Arial MT"/>
              </a:rPr>
              <a:t>BY</a:t>
            </a:r>
          </a:p>
          <a:p>
            <a:pPr marL="926465">
              <a:lnSpc>
                <a:spcPct val="100000"/>
              </a:lnSpc>
              <a:spcBef>
                <a:spcPts val="385"/>
              </a:spcBef>
            </a:pPr>
            <a:r>
              <a:rPr sz="1500" spc="-5">
                <a:latin typeface="Arial MT"/>
                <a:cs typeface="Arial MT"/>
              </a:rPr>
              <a:t>customer_id;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91964" y="1690687"/>
            <a:ext cx="6461834" cy="38655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1011"/>
            <a:ext cx="68834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/>
              <a:t>PostgreSQL</a:t>
            </a:r>
            <a:r>
              <a:rPr sz="3000" spc="-160"/>
              <a:t> </a:t>
            </a:r>
            <a:r>
              <a:rPr sz="3000" spc="-50"/>
              <a:t>AVG()</a:t>
            </a:r>
            <a:r>
              <a:rPr sz="3000"/>
              <a:t> function</a:t>
            </a:r>
            <a:r>
              <a:rPr sz="3000" spc="5"/>
              <a:t> </a:t>
            </a:r>
            <a:r>
              <a:rPr sz="3000" spc="-5"/>
              <a:t>and</a:t>
            </a:r>
            <a:r>
              <a:rPr sz="3000" spc="10"/>
              <a:t> </a:t>
            </a:r>
            <a:r>
              <a:rPr sz="3000" spc="-5"/>
              <a:t>NULL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916939" y="1725168"/>
            <a:ext cx="4057650" cy="177800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300" spc="-30">
                <a:latin typeface="Arial MT"/>
                <a:cs typeface="Arial MT"/>
              </a:rPr>
              <a:t>CREATE</a:t>
            </a:r>
            <a:r>
              <a:rPr sz="2300" spc="-60">
                <a:latin typeface="Arial MT"/>
                <a:cs typeface="Arial MT"/>
              </a:rPr>
              <a:t> </a:t>
            </a:r>
            <a:r>
              <a:rPr sz="2300" spc="-40">
                <a:latin typeface="Arial MT"/>
                <a:cs typeface="Arial MT"/>
              </a:rPr>
              <a:t>TABLE</a:t>
            </a:r>
            <a:r>
              <a:rPr sz="2300" spc="-20">
                <a:latin typeface="Arial MT"/>
                <a:cs typeface="Arial MT"/>
              </a:rPr>
              <a:t> </a:t>
            </a:r>
            <a:r>
              <a:rPr sz="2300" spc="-5">
                <a:latin typeface="Arial MT"/>
                <a:cs typeface="Arial MT"/>
              </a:rPr>
              <a:t>t1</a:t>
            </a:r>
            <a:r>
              <a:rPr sz="2300" spc="-25">
                <a:latin typeface="Arial MT"/>
                <a:cs typeface="Arial MT"/>
              </a:rPr>
              <a:t> </a:t>
            </a:r>
            <a:r>
              <a:rPr sz="2300">
                <a:latin typeface="Arial MT"/>
                <a:cs typeface="Arial MT"/>
              </a:rPr>
              <a:t>(</a:t>
            </a:r>
          </a:p>
          <a:p>
            <a:pPr marL="926465" marR="5080">
              <a:lnSpc>
                <a:spcPts val="3500"/>
              </a:lnSpc>
              <a:spcBef>
                <a:spcPts val="150"/>
              </a:spcBef>
            </a:pPr>
            <a:r>
              <a:rPr sz="2300">
                <a:latin typeface="Arial MT"/>
                <a:cs typeface="Arial MT"/>
              </a:rPr>
              <a:t>id</a:t>
            </a:r>
            <a:r>
              <a:rPr sz="2300" spc="-30">
                <a:latin typeface="Arial MT"/>
                <a:cs typeface="Arial MT"/>
              </a:rPr>
              <a:t> </a:t>
            </a:r>
            <a:r>
              <a:rPr sz="2300" spc="-5">
                <a:latin typeface="Arial MT"/>
                <a:cs typeface="Arial MT"/>
              </a:rPr>
              <a:t>serial</a:t>
            </a:r>
            <a:r>
              <a:rPr sz="2300" spc="-20">
                <a:latin typeface="Arial MT"/>
                <a:cs typeface="Arial MT"/>
              </a:rPr>
              <a:t> </a:t>
            </a:r>
            <a:r>
              <a:rPr sz="2300" spc="-10">
                <a:latin typeface="Arial MT"/>
                <a:cs typeface="Arial MT"/>
              </a:rPr>
              <a:t>PRIMARY</a:t>
            </a:r>
            <a:r>
              <a:rPr sz="2300" spc="-60">
                <a:latin typeface="Arial MT"/>
                <a:cs typeface="Arial MT"/>
              </a:rPr>
              <a:t> </a:t>
            </a:r>
            <a:r>
              <a:rPr sz="2300" spc="-75">
                <a:latin typeface="Arial MT"/>
                <a:cs typeface="Arial MT"/>
              </a:rPr>
              <a:t>KEY, </a:t>
            </a:r>
            <a:r>
              <a:rPr sz="2300" spc="-625">
                <a:latin typeface="Arial MT"/>
                <a:cs typeface="Arial MT"/>
              </a:rPr>
              <a:t> </a:t>
            </a:r>
            <a:r>
              <a:rPr sz="2300" spc="-5">
                <a:latin typeface="Arial MT"/>
                <a:cs typeface="Arial MT"/>
              </a:rPr>
              <a:t>amount</a:t>
            </a:r>
            <a:r>
              <a:rPr sz="2300" spc="-15">
                <a:latin typeface="Arial MT"/>
                <a:cs typeface="Arial MT"/>
              </a:rPr>
              <a:t> </a:t>
            </a:r>
            <a:r>
              <a:rPr sz="2300" spc="-5">
                <a:latin typeface="Arial MT"/>
                <a:cs typeface="Arial MT"/>
              </a:rPr>
              <a:t>INTEGER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300" spc="-5">
                <a:latin typeface="Arial MT"/>
                <a:cs typeface="Arial MT"/>
              </a:rPr>
              <a:t>);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3922776"/>
            <a:ext cx="3430270" cy="2235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7000"/>
              </a:lnSpc>
              <a:spcBef>
                <a:spcPts val="95"/>
              </a:spcBef>
            </a:pPr>
            <a:r>
              <a:rPr sz="2300" spc="-10">
                <a:latin typeface="Arial MT"/>
                <a:cs typeface="Arial MT"/>
              </a:rPr>
              <a:t>INSERT</a:t>
            </a:r>
            <a:r>
              <a:rPr sz="2300" spc="-75">
                <a:latin typeface="Arial MT"/>
                <a:cs typeface="Arial MT"/>
              </a:rPr>
              <a:t> </a:t>
            </a:r>
            <a:r>
              <a:rPr sz="2300" spc="-15">
                <a:latin typeface="Arial MT"/>
                <a:cs typeface="Arial MT"/>
              </a:rPr>
              <a:t>INTO</a:t>
            </a:r>
            <a:r>
              <a:rPr sz="2300" spc="-30">
                <a:latin typeface="Arial MT"/>
                <a:cs typeface="Arial MT"/>
              </a:rPr>
              <a:t> </a:t>
            </a:r>
            <a:r>
              <a:rPr sz="2300" spc="-5">
                <a:latin typeface="Arial MT"/>
                <a:cs typeface="Arial MT"/>
              </a:rPr>
              <a:t>t1</a:t>
            </a:r>
            <a:r>
              <a:rPr sz="2300" spc="-35">
                <a:latin typeface="Arial MT"/>
                <a:cs typeface="Arial MT"/>
              </a:rPr>
              <a:t> </a:t>
            </a:r>
            <a:r>
              <a:rPr sz="2300" spc="-5">
                <a:latin typeface="Arial MT"/>
                <a:cs typeface="Arial MT"/>
              </a:rPr>
              <a:t>(amount) </a:t>
            </a:r>
            <a:r>
              <a:rPr sz="2300" spc="-625">
                <a:latin typeface="Arial MT"/>
                <a:cs typeface="Arial MT"/>
              </a:rPr>
              <a:t> </a:t>
            </a:r>
            <a:r>
              <a:rPr sz="2300" spc="-30">
                <a:latin typeface="Arial MT"/>
                <a:cs typeface="Arial MT"/>
              </a:rPr>
              <a:t>VALUES</a:t>
            </a:r>
            <a:endParaRPr sz="23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745"/>
              </a:spcBef>
            </a:pPr>
            <a:r>
              <a:rPr sz="2300" spc="-5">
                <a:latin typeface="Arial MT"/>
                <a:cs typeface="Arial MT"/>
              </a:rPr>
              <a:t>(10),</a:t>
            </a:r>
            <a:endParaRPr sz="23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625"/>
              </a:spcBef>
            </a:pPr>
            <a:r>
              <a:rPr sz="2300" spc="-5">
                <a:latin typeface="Arial MT"/>
                <a:cs typeface="Arial MT"/>
              </a:rPr>
              <a:t>(NULL),</a:t>
            </a:r>
            <a:endParaRPr sz="23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745"/>
              </a:spcBef>
            </a:pPr>
            <a:r>
              <a:rPr sz="2300" spc="-5">
                <a:latin typeface="Arial MT"/>
                <a:cs typeface="Arial MT"/>
              </a:rPr>
              <a:t>(30);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75926" y="1831847"/>
            <a:ext cx="4942840" cy="7327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50"/>
              </a:spcBef>
            </a:pPr>
            <a:r>
              <a:rPr sz="2300" spc="-5">
                <a:latin typeface="Arial MT"/>
                <a:cs typeface="Arial MT"/>
              </a:rPr>
              <a:t>SELECT</a:t>
            </a:r>
            <a:r>
              <a:rPr sz="2300" spc="-145">
                <a:latin typeface="Arial MT"/>
                <a:cs typeface="Arial MT"/>
              </a:rPr>
              <a:t> </a:t>
            </a:r>
            <a:r>
              <a:rPr sz="2300" spc="-15">
                <a:latin typeface="Arial MT"/>
                <a:cs typeface="Arial MT"/>
              </a:rPr>
              <a:t>AVG(amount)::numeric(10,2) </a:t>
            </a:r>
            <a:r>
              <a:rPr sz="2300" spc="-620">
                <a:latin typeface="Arial MT"/>
                <a:cs typeface="Arial MT"/>
              </a:rPr>
              <a:t> </a:t>
            </a:r>
            <a:r>
              <a:rPr sz="2300" spc="-5">
                <a:latin typeface="Arial MT"/>
                <a:cs typeface="Arial MT"/>
              </a:rPr>
              <a:t>FROM</a:t>
            </a:r>
            <a:r>
              <a:rPr sz="2300" spc="-15">
                <a:latin typeface="Arial MT"/>
                <a:cs typeface="Arial MT"/>
              </a:rPr>
              <a:t> </a:t>
            </a:r>
            <a:r>
              <a:rPr sz="2300" spc="-5">
                <a:latin typeface="Arial MT"/>
                <a:cs typeface="Arial MT"/>
              </a:rPr>
              <a:t>t1;</a:t>
            </a:r>
            <a:endParaRPr sz="23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54504" y="3055143"/>
            <a:ext cx="1625600" cy="1892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79019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PostgreSQL</a:t>
            </a:r>
            <a:r>
              <a:rPr sz="4400" spc="-95"/>
              <a:t> </a:t>
            </a:r>
            <a:r>
              <a:rPr sz="4400" spc="-5"/>
              <a:t>COUNT</a:t>
            </a:r>
            <a:r>
              <a:rPr sz="4400" spc="-20"/>
              <a:t> </a:t>
            </a:r>
            <a:r>
              <a:rPr sz="4400" spc="-5"/>
              <a:t>Function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10338435" cy="2878455"/>
          </a:xfrm>
          <a:prstGeom prst="rect">
            <a:avLst/>
          </a:prstGeom>
        </p:spPr>
        <p:txBody>
          <a:bodyPr vert="horz" wrap="square" lIns="0" tIns="63500" rIns="0" bIns="0" rtlCol="0" anchor="t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500"/>
              </a:spcBef>
            </a:pPr>
            <a:r>
              <a:rPr sz="2800">
                <a:latin typeface="Arial MT"/>
                <a:cs typeface="Arial MT"/>
              </a:rPr>
              <a:t>The </a:t>
            </a:r>
            <a:r>
              <a:rPr sz="2800" b="1">
                <a:latin typeface="Arial"/>
                <a:cs typeface="Arial"/>
              </a:rPr>
              <a:t>COUNT</a:t>
            </a:r>
            <a:r>
              <a:rPr sz="2800">
                <a:latin typeface="Arial MT"/>
                <a:cs typeface="Arial MT"/>
              </a:rPr>
              <a:t>() function is an aggregate function that allows you </a:t>
            </a:r>
            <a:r>
              <a:rPr sz="2800" spc="-5">
                <a:latin typeface="Arial MT"/>
                <a:cs typeface="Arial MT"/>
              </a:rPr>
              <a:t>to </a:t>
            </a:r>
            <a:r>
              <a:rPr sz="2800" spc="-76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get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the number of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rows</a:t>
            </a:r>
            <a:r>
              <a:rPr sz="2800" spc="-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that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match a specific</a:t>
            </a:r>
            <a:r>
              <a:rPr sz="2800" spc="-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condition of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a </a:t>
            </a:r>
            <a:r>
              <a:rPr sz="2800" spc="-35">
                <a:latin typeface="Arial MT"/>
                <a:cs typeface="Arial MT"/>
              </a:rPr>
              <a:t>query.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00">
              <a:latin typeface="Arial MT"/>
              <a:cs typeface="Arial MT"/>
            </a:endParaRPr>
          </a:p>
          <a:p>
            <a:pPr marL="12700" marR="6063615">
              <a:lnSpc>
                <a:spcPct val="119300"/>
              </a:lnSpc>
              <a:spcBef>
                <a:spcPts val="5"/>
              </a:spcBef>
            </a:pPr>
            <a:r>
              <a:rPr sz="2800" spc="-10">
                <a:latin typeface="Courier New"/>
                <a:cs typeface="Courier New"/>
              </a:rPr>
              <a:t>SELECT</a:t>
            </a:r>
            <a:r>
              <a:rPr sz="2800" spc="-100">
                <a:latin typeface="Courier New"/>
                <a:cs typeface="Courier New"/>
              </a:rPr>
              <a:t> </a:t>
            </a:r>
            <a:r>
              <a:rPr sz="2800" spc="-10">
                <a:latin typeface="Courier New"/>
                <a:cs typeface="Courier New"/>
              </a:rPr>
              <a:t>COUNT</a:t>
            </a:r>
            <a:r>
              <a:rPr sz="2800" spc="-10">
                <a:solidFill>
                  <a:srgbClr val="383A42"/>
                </a:solidFill>
                <a:latin typeface="Courier New"/>
                <a:cs typeface="Courier New"/>
              </a:rPr>
              <a:t>(column) </a:t>
            </a:r>
            <a:endParaRPr lang="ru-RU" sz="2800">
              <a:solidFill>
                <a:srgbClr val="000000"/>
              </a:solidFill>
              <a:latin typeface="Courier New"/>
              <a:cs typeface="Courier New"/>
            </a:endParaRPr>
          </a:p>
          <a:p>
            <a:pPr marL="12700" marR="6063615">
              <a:lnSpc>
                <a:spcPct val="119300"/>
              </a:lnSpc>
              <a:spcBef>
                <a:spcPts val="5"/>
              </a:spcBef>
            </a:pPr>
            <a:r>
              <a:rPr lang="ru-RU" sz="2800" spc="-1670">
                <a:solidFill>
                  <a:srgbClr val="383A42"/>
                </a:solidFill>
                <a:latin typeface="Courier New"/>
                <a:cs typeface="Courier New"/>
              </a:rPr>
              <a:t> </a:t>
            </a:r>
            <a:r>
              <a:rPr sz="2800" spc="-10">
                <a:latin typeface="Courier New"/>
                <a:cs typeface="Courier New"/>
              </a:rPr>
              <a:t>FROM</a:t>
            </a:r>
            <a:r>
              <a:rPr sz="2800" spc="90">
                <a:latin typeface="Courier New"/>
                <a:cs typeface="Courier New"/>
              </a:rPr>
              <a:t> </a:t>
            </a:r>
            <a:r>
              <a:rPr sz="2800" spc="-10">
                <a:solidFill>
                  <a:srgbClr val="383A42"/>
                </a:solidFill>
                <a:latin typeface="Courier New"/>
                <a:cs typeface="Courier New"/>
              </a:rPr>
              <a:t>table_name </a:t>
            </a:r>
            <a:r>
              <a:rPr sz="2800" spc="-5">
                <a:solidFill>
                  <a:srgbClr val="383A42"/>
                </a:solidFill>
                <a:latin typeface="Courier New"/>
                <a:cs typeface="Courier New"/>
              </a:rPr>
              <a:t> </a:t>
            </a:r>
            <a:r>
              <a:rPr sz="2800" spc="-10">
                <a:latin typeface="Courier New"/>
                <a:cs typeface="Courier New"/>
              </a:rPr>
              <a:t>WHERE</a:t>
            </a:r>
            <a:r>
              <a:rPr sz="2800" spc="-35">
                <a:latin typeface="Courier New"/>
                <a:cs typeface="Courier New"/>
              </a:rPr>
              <a:t> </a:t>
            </a:r>
            <a:r>
              <a:rPr sz="2800" spc="-10">
                <a:solidFill>
                  <a:srgbClr val="383A42"/>
                </a:solidFill>
                <a:latin typeface="Courier New"/>
                <a:cs typeface="Courier New"/>
              </a:rPr>
              <a:t>condition;</a:t>
            </a:r>
            <a:endParaRPr sz="2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1011"/>
            <a:ext cx="738885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/>
              <a:t>PostgreSQL</a:t>
            </a:r>
            <a:r>
              <a:rPr sz="3000" spc="-55"/>
              <a:t> </a:t>
            </a:r>
            <a:r>
              <a:rPr sz="3000" spc="-5"/>
              <a:t>COUNT() </a:t>
            </a:r>
            <a:r>
              <a:rPr sz="3000"/>
              <a:t>function</a:t>
            </a:r>
            <a:r>
              <a:rPr sz="3000" spc="5"/>
              <a:t> </a:t>
            </a:r>
            <a:r>
              <a:rPr sz="3000" spc="-5"/>
              <a:t>examples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1961514" cy="2055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7975" marR="5080" indent="-295275">
              <a:lnSpc>
                <a:spcPct val="118600"/>
              </a:lnSpc>
              <a:spcBef>
                <a:spcPts val="100"/>
              </a:spcBef>
            </a:pPr>
            <a:r>
              <a:rPr sz="2800" spc="-5">
                <a:latin typeface="Arial MT"/>
                <a:cs typeface="Arial MT"/>
              </a:rPr>
              <a:t>SELECT </a:t>
            </a:r>
            <a:r>
              <a:rPr sz="2800">
                <a:latin typeface="Arial MT"/>
                <a:cs typeface="Arial MT"/>
              </a:rPr>
              <a:t> C</a:t>
            </a:r>
            <a:r>
              <a:rPr sz="2800" spc="-5">
                <a:latin typeface="Arial MT"/>
                <a:cs typeface="Arial MT"/>
              </a:rPr>
              <a:t>O</a:t>
            </a:r>
            <a:r>
              <a:rPr sz="2800">
                <a:latin typeface="Arial MT"/>
                <a:cs typeface="Arial MT"/>
              </a:rPr>
              <a:t>UNT</a:t>
            </a:r>
            <a:r>
              <a:rPr sz="2800" spc="5">
                <a:latin typeface="Arial MT"/>
                <a:cs typeface="Arial MT"/>
              </a:rPr>
              <a:t>(</a:t>
            </a:r>
            <a:r>
              <a:rPr sz="2800" spc="-5">
                <a:latin typeface="Arial MT"/>
                <a:cs typeface="Arial MT"/>
              </a:rPr>
              <a:t>*</a:t>
            </a:r>
            <a:r>
              <a:rPr sz="2800">
                <a:latin typeface="Arial MT"/>
                <a:cs typeface="Arial MT"/>
              </a:rPr>
              <a:t>)</a:t>
            </a: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800" spc="-5">
                <a:latin typeface="Arial MT"/>
                <a:cs typeface="Arial MT"/>
              </a:rPr>
              <a:t>FROM</a:t>
            </a:r>
            <a:endParaRPr sz="2800">
              <a:latin typeface="Arial MT"/>
              <a:cs typeface="Arial MT"/>
            </a:endParaRPr>
          </a:p>
          <a:p>
            <a:pPr marL="307975">
              <a:lnSpc>
                <a:spcPct val="100000"/>
              </a:lnSpc>
              <a:spcBef>
                <a:spcPts val="650"/>
              </a:spcBef>
            </a:pPr>
            <a:r>
              <a:rPr sz="2800">
                <a:latin typeface="Arial MT"/>
                <a:cs typeface="Arial MT"/>
              </a:rPr>
              <a:t>payment;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1650" y="1675843"/>
            <a:ext cx="2781300" cy="21462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200" y="4147952"/>
            <a:ext cx="1985984" cy="11271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85800"/>
            <a:ext cx="958786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5"/>
              <a:t>PostgreSQL</a:t>
            </a:r>
            <a:r>
              <a:rPr sz="3500" spc="-65"/>
              <a:t> </a:t>
            </a:r>
            <a:r>
              <a:rPr sz="3500" spc="-5"/>
              <a:t>COUNT() with</a:t>
            </a:r>
            <a:r>
              <a:rPr sz="3500" spc="5"/>
              <a:t> </a:t>
            </a:r>
            <a:r>
              <a:rPr sz="3500" spc="-5"/>
              <a:t>GROUP</a:t>
            </a:r>
            <a:r>
              <a:rPr sz="3500" spc="-60"/>
              <a:t> </a:t>
            </a:r>
            <a:r>
              <a:rPr sz="3500" spc="-5"/>
              <a:t>BY</a:t>
            </a:r>
            <a:r>
              <a:rPr sz="3500" spc="-60"/>
              <a:t> </a:t>
            </a:r>
            <a:r>
              <a:rPr sz="3500" spc="-5"/>
              <a:t>clause</a:t>
            </a:r>
            <a:endParaRPr sz="3500"/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4476750" cy="359156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>
                <a:latin typeface="Arial MT"/>
                <a:cs typeface="Arial MT"/>
              </a:rPr>
              <a:t>SELECT</a:t>
            </a:r>
            <a:endParaRPr sz="28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625"/>
              </a:spcBef>
            </a:pPr>
            <a:r>
              <a:rPr sz="2800">
                <a:latin typeface="Arial MT"/>
                <a:cs typeface="Arial MT"/>
              </a:rPr>
              <a:t>customer_id,</a:t>
            </a:r>
          </a:p>
          <a:p>
            <a:pPr marL="12700" marR="5080" indent="914400">
              <a:lnSpc>
                <a:spcPct val="119300"/>
              </a:lnSpc>
            </a:pPr>
            <a:r>
              <a:rPr sz="2800" spc="-5">
                <a:latin typeface="Arial MT"/>
                <a:cs typeface="Arial MT"/>
              </a:rPr>
              <a:t>COUNT</a:t>
            </a:r>
            <a:r>
              <a:rPr sz="2800" spc="-10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(customer_id) </a:t>
            </a:r>
            <a:r>
              <a:rPr sz="2800" spc="-76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FROM</a:t>
            </a:r>
            <a:endParaRPr sz="2800">
              <a:latin typeface="Arial MT"/>
              <a:cs typeface="Arial MT"/>
            </a:endParaRPr>
          </a:p>
          <a:p>
            <a:pPr marL="12700" marR="2174240" indent="914400">
              <a:lnSpc>
                <a:spcPct val="118600"/>
              </a:lnSpc>
              <a:spcBef>
                <a:spcPts val="120"/>
              </a:spcBef>
            </a:pPr>
            <a:r>
              <a:rPr sz="2800" spc="5">
                <a:latin typeface="Arial MT"/>
                <a:cs typeface="Arial MT"/>
              </a:rPr>
              <a:t>pa</a:t>
            </a:r>
            <a:r>
              <a:rPr sz="2800">
                <a:latin typeface="Arial MT"/>
                <a:cs typeface="Arial MT"/>
              </a:rPr>
              <a:t>y</a:t>
            </a:r>
            <a:r>
              <a:rPr sz="2800" spc="5">
                <a:latin typeface="Arial MT"/>
                <a:cs typeface="Arial MT"/>
              </a:rPr>
              <a:t>men</a:t>
            </a:r>
            <a:r>
              <a:rPr sz="2800">
                <a:latin typeface="Arial MT"/>
                <a:cs typeface="Arial MT"/>
              </a:rPr>
              <a:t>t  </a:t>
            </a:r>
            <a:r>
              <a:rPr sz="2800" spc="-5">
                <a:latin typeface="Arial MT"/>
                <a:cs typeface="Arial MT"/>
              </a:rPr>
              <a:t>GROUP</a:t>
            </a:r>
            <a:r>
              <a:rPr sz="2800" spc="-80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BY</a:t>
            </a:r>
            <a:endParaRPr sz="28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650"/>
              </a:spcBef>
            </a:pPr>
            <a:r>
              <a:rPr sz="2800">
                <a:latin typeface="Arial MT"/>
                <a:cs typeface="Arial MT"/>
              </a:rPr>
              <a:t>customer_id;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3655" y="1825625"/>
            <a:ext cx="3633530" cy="336206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85800"/>
            <a:ext cx="892810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5"/>
              <a:t>PostgreSQL</a:t>
            </a:r>
            <a:r>
              <a:rPr sz="3500" spc="-70"/>
              <a:t> </a:t>
            </a:r>
            <a:r>
              <a:rPr sz="3500" spc="-5"/>
              <a:t>COUNT() with </a:t>
            </a:r>
            <a:r>
              <a:rPr sz="3500" spc="-45"/>
              <a:t>HAVING</a:t>
            </a:r>
            <a:r>
              <a:rPr sz="3500" spc="5"/>
              <a:t> </a:t>
            </a:r>
            <a:r>
              <a:rPr sz="3500" spc="-5"/>
              <a:t>clause</a:t>
            </a:r>
            <a:endParaRPr sz="3500"/>
          </a:p>
        </p:txBody>
      </p:sp>
      <p:sp>
        <p:nvSpPr>
          <p:cNvPr id="3" name="object 3"/>
          <p:cNvSpPr txBox="1"/>
          <p:nvPr/>
        </p:nvSpPr>
        <p:spPr>
          <a:xfrm>
            <a:off x="916939" y="1713484"/>
            <a:ext cx="5377815" cy="424116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2800" spc="-5">
                <a:latin typeface="Arial MT"/>
                <a:cs typeface="Arial MT"/>
              </a:rPr>
              <a:t>SELECT</a:t>
            </a:r>
            <a:endParaRPr sz="28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335"/>
              </a:spcBef>
            </a:pPr>
            <a:r>
              <a:rPr sz="2800">
                <a:latin typeface="Arial MT"/>
                <a:cs typeface="Arial MT"/>
              </a:rPr>
              <a:t>customer_id,</a:t>
            </a:r>
          </a:p>
          <a:p>
            <a:pPr marL="12700" marR="906144" indent="914400">
              <a:lnSpc>
                <a:spcPct val="110000"/>
              </a:lnSpc>
              <a:spcBef>
                <a:spcPts val="25"/>
              </a:spcBef>
            </a:pPr>
            <a:r>
              <a:rPr sz="2800" spc="-5">
                <a:latin typeface="Arial MT"/>
                <a:cs typeface="Arial MT"/>
              </a:rPr>
              <a:t>COUNT</a:t>
            </a:r>
            <a:r>
              <a:rPr sz="2800" spc="-10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(customer_id) </a:t>
            </a:r>
            <a:r>
              <a:rPr sz="2800" spc="-76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FROM</a:t>
            </a:r>
            <a:endParaRPr sz="2800">
              <a:latin typeface="Arial MT"/>
              <a:cs typeface="Arial MT"/>
            </a:endParaRPr>
          </a:p>
          <a:p>
            <a:pPr marL="12700" marR="3075305" indent="914400">
              <a:lnSpc>
                <a:spcPct val="110000"/>
              </a:lnSpc>
            </a:pPr>
            <a:r>
              <a:rPr sz="2800" spc="5">
                <a:latin typeface="Arial MT"/>
                <a:cs typeface="Arial MT"/>
              </a:rPr>
              <a:t>pa</a:t>
            </a:r>
            <a:r>
              <a:rPr sz="2800">
                <a:latin typeface="Arial MT"/>
                <a:cs typeface="Arial MT"/>
              </a:rPr>
              <a:t>y</a:t>
            </a:r>
            <a:r>
              <a:rPr sz="2800" spc="5">
                <a:latin typeface="Arial MT"/>
                <a:cs typeface="Arial MT"/>
              </a:rPr>
              <a:t>men</a:t>
            </a:r>
            <a:r>
              <a:rPr sz="2800">
                <a:latin typeface="Arial MT"/>
                <a:cs typeface="Arial MT"/>
              </a:rPr>
              <a:t>t  </a:t>
            </a:r>
            <a:r>
              <a:rPr sz="2800" spc="-5">
                <a:latin typeface="Arial MT"/>
                <a:cs typeface="Arial MT"/>
              </a:rPr>
              <a:t>GROUP</a:t>
            </a:r>
            <a:r>
              <a:rPr sz="2800" spc="-80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BY</a:t>
            </a:r>
            <a:endParaRPr sz="2800">
              <a:latin typeface="Arial MT"/>
              <a:cs typeface="Arial MT"/>
            </a:endParaRPr>
          </a:p>
          <a:p>
            <a:pPr marL="12700" marR="2501900" indent="914400">
              <a:lnSpc>
                <a:spcPts val="3700"/>
              </a:lnSpc>
              <a:spcBef>
                <a:spcPts val="80"/>
              </a:spcBef>
            </a:pPr>
            <a:r>
              <a:rPr sz="2800">
                <a:latin typeface="Arial MT"/>
                <a:cs typeface="Arial MT"/>
              </a:rPr>
              <a:t>c</a:t>
            </a:r>
            <a:r>
              <a:rPr sz="2800" spc="5">
                <a:latin typeface="Arial MT"/>
                <a:cs typeface="Arial MT"/>
              </a:rPr>
              <a:t>u</a:t>
            </a:r>
            <a:r>
              <a:rPr sz="2800">
                <a:latin typeface="Arial MT"/>
                <a:cs typeface="Arial MT"/>
              </a:rPr>
              <a:t>s</a:t>
            </a:r>
            <a:r>
              <a:rPr sz="2800" spc="-5">
                <a:latin typeface="Arial MT"/>
                <a:cs typeface="Arial MT"/>
              </a:rPr>
              <a:t>t</a:t>
            </a:r>
            <a:r>
              <a:rPr sz="2800" spc="5">
                <a:latin typeface="Arial MT"/>
                <a:cs typeface="Arial MT"/>
              </a:rPr>
              <a:t>omer_</a:t>
            </a:r>
            <a:r>
              <a:rPr sz="2800">
                <a:latin typeface="Arial MT"/>
                <a:cs typeface="Arial MT"/>
              </a:rPr>
              <a:t>id  </a:t>
            </a:r>
            <a:r>
              <a:rPr sz="2800" spc="-40">
                <a:latin typeface="Arial MT"/>
                <a:cs typeface="Arial MT"/>
              </a:rPr>
              <a:t>HAVING</a:t>
            </a:r>
            <a:endParaRPr sz="28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150"/>
              </a:spcBef>
            </a:pPr>
            <a:r>
              <a:rPr sz="2800" spc="-5">
                <a:latin typeface="Arial MT"/>
                <a:cs typeface="Arial MT"/>
              </a:rPr>
              <a:t>COUNT</a:t>
            </a:r>
            <a:r>
              <a:rPr sz="2800" spc="-6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(customer_id)</a:t>
            </a:r>
            <a:r>
              <a:rPr sz="2800" spc="-2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&gt;</a:t>
            </a:r>
            <a:r>
              <a:rPr sz="2800" spc="-2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40;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0712" y="2604036"/>
            <a:ext cx="4504565" cy="16499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71577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PostgreSQL</a:t>
            </a:r>
            <a:r>
              <a:rPr sz="4400" spc="-95"/>
              <a:t> </a:t>
            </a:r>
            <a:r>
              <a:rPr sz="4400" spc="-5"/>
              <a:t>SUM</a:t>
            </a:r>
            <a:r>
              <a:rPr sz="4400" spc="-20"/>
              <a:t> </a:t>
            </a:r>
            <a:r>
              <a:rPr sz="4400" spc="-5"/>
              <a:t>Function</a:t>
            </a:r>
            <a:endParaRPr sz="4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33171" rIns="0" bIns="0" rtlCol="0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500"/>
              </a:spcBef>
            </a:pPr>
            <a:r>
              <a:rPr sz="2800"/>
              <a:t>The</a:t>
            </a:r>
            <a:r>
              <a:rPr sz="2800" spc="-5"/>
              <a:t> </a:t>
            </a:r>
            <a:r>
              <a:rPr sz="2800"/>
              <a:t>PostgreSQL</a:t>
            </a:r>
            <a:r>
              <a:rPr sz="2800" spc="-105"/>
              <a:t> </a:t>
            </a:r>
            <a:r>
              <a:rPr sz="2800" b="1">
                <a:latin typeface="Arial"/>
                <a:cs typeface="Arial"/>
              </a:rPr>
              <a:t>SUM</a:t>
            </a:r>
            <a:r>
              <a:rPr sz="2800"/>
              <a:t>() is</a:t>
            </a:r>
            <a:r>
              <a:rPr sz="2800" spc="-10"/>
              <a:t> </a:t>
            </a:r>
            <a:r>
              <a:rPr sz="2800"/>
              <a:t>an</a:t>
            </a:r>
            <a:r>
              <a:rPr sz="2800" spc="-5"/>
              <a:t> </a:t>
            </a:r>
            <a:r>
              <a:rPr sz="2800"/>
              <a:t>aggregate function</a:t>
            </a:r>
            <a:r>
              <a:rPr sz="2800" spc="-5"/>
              <a:t> </a:t>
            </a:r>
            <a:r>
              <a:rPr sz="2800"/>
              <a:t>that</a:t>
            </a:r>
            <a:r>
              <a:rPr sz="2800" spc="-15"/>
              <a:t> </a:t>
            </a:r>
            <a:r>
              <a:rPr sz="2800"/>
              <a:t>returns</a:t>
            </a:r>
            <a:r>
              <a:rPr sz="2800" spc="-5"/>
              <a:t> </a:t>
            </a:r>
            <a:r>
              <a:rPr sz="2800"/>
              <a:t>the </a:t>
            </a:r>
            <a:r>
              <a:rPr sz="2800" spc="-765"/>
              <a:t> </a:t>
            </a:r>
            <a:r>
              <a:rPr sz="2800"/>
              <a:t>sum</a:t>
            </a:r>
            <a:r>
              <a:rPr sz="2800" spc="-5"/>
              <a:t> </a:t>
            </a:r>
            <a:r>
              <a:rPr sz="2800"/>
              <a:t>of</a:t>
            </a:r>
            <a:r>
              <a:rPr sz="2800" spc="-10"/>
              <a:t> </a:t>
            </a:r>
            <a:r>
              <a:rPr sz="2800"/>
              <a:t>values</a:t>
            </a:r>
            <a:r>
              <a:rPr sz="2800" spc="-5"/>
              <a:t> </a:t>
            </a:r>
            <a:r>
              <a:rPr sz="2800"/>
              <a:t>or distinct</a:t>
            </a:r>
            <a:r>
              <a:rPr sz="2800" spc="-10"/>
              <a:t> </a:t>
            </a:r>
            <a:r>
              <a:rPr sz="2800"/>
              <a:t>values.</a:t>
            </a:r>
            <a:endParaRPr sz="2800">
              <a:latin typeface="Arial"/>
              <a:cs typeface="Arial"/>
            </a:endParaRPr>
          </a:p>
          <a:p>
            <a:pPr marL="12700" marR="2844800">
              <a:lnSpc>
                <a:spcPts val="8109"/>
              </a:lnSpc>
              <a:spcBef>
                <a:spcPts val="705"/>
              </a:spcBef>
            </a:pPr>
            <a:r>
              <a:rPr sz="2800"/>
              <a:t>The</a:t>
            </a:r>
            <a:r>
              <a:rPr sz="2800" spc="-10"/>
              <a:t> </a:t>
            </a:r>
            <a:r>
              <a:rPr sz="2800"/>
              <a:t>syntax</a:t>
            </a:r>
            <a:r>
              <a:rPr sz="2800" spc="-15"/>
              <a:t> </a:t>
            </a:r>
            <a:r>
              <a:rPr sz="2800"/>
              <a:t>of</a:t>
            </a:r>
            <a:r>
              <a:rPr sz="2800" spc="-15"/>
              <a:t> </a:t>
            </a:r>
            <a:r>
              <a:rPr sz="2800"/>
              <a:t>the</a:t>
            </a:r>
            <a:r>
              <a:rPr sz="2800" spc="-10"/>
              <a:t> </a:t>
            </a:r>
            <a:r>
              <a:rPr sz="2800"/>
              <a:t>SUM()</a:t>
            </a:r>
            <a:r>
              <a:rPr sz="2800" spc="-10"/>
              <a:t> </a:t>
            </a:r>
            <a:r>
              <a:rPr sz="2800"/>
              <a:t>function</a:t>
            </a:r>
            <a:r>
              <a:rPr sz="2800" spc="-5"/>
              <a:t> </a:t>
            </a:r>
            <a:r>
              <a:rPr sz="2800"/>
              <a:t>is</a:t>
            </a:r>
            <a:r>
              <a:rPr sz="2800" spc="-15"/>
              <a:t> </a:t>
            </a:r>
            <a:r>
              <a:rPr sz="2800"/>
              <a:t>as</a:t>
            </a:r>
            <a:r>
              <a:rPr sz="2800" spc="-10"/>
              <a:t> </a:t>
            </a:r>
            <a:r>
              <a:rPr sz="2800"/>
              <a:t>follows: </a:t>
            </a:r>
            <a:r>
              <a:rPr sz="2800" spc="-765"/>
              <a:t> </a:t>
            </a:r>
            <a:r>
              <a:rPr sz="2800" spc="-5"/>
              <a:t>SUM(DISTINCT</a:t>
            </a:r>
            <a:r>
              <a:rPr sz="2800" spc="-55"/>
              <a:t> </a:t>
            </a:r>
            <a:r>
              <a:rPr sz="2800"/>
              <a:t>expression)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7539"/>
            <a:ext cx="91649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/>
              <a:t>PostgreSQL</a:t>
            </a:r>
            <a:r>
              <a:rPr spc="-85"/>
              <a:t> </a:t>
            </a:r>
            <a:r>
              <a:rPr spc="-5"/>
              <a:t>SUM()</a:t>
            </a:r>
            <a:r>
              <a:t> </a:t>
            </a:r>
            <a:r>
              <a:rPr spc="-5"/>
              <a:t>function</a:t>
            </a:r>
            <a:r>
              <a:rPr spc="-10"/>
              <a:t> </a:t>
            </a:r>
            <a:r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5142230" cy="154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600"/>
              </a:lnSpc>
              <a:spcBef>
                <a:spcPts val="100"/>
              </a:spcBef>
            </a:pPr>
            <a:r>
              <a:rPr sz="2800" spc="-5">
                <a:latin typeface="Arial MT"/>
                <a:cs typeface="Arial MT"/>
              </a:rPr>
              <a:t>SELECT</a:t>
            </a:r>
            <a:r>
              <a:rPr sz="2800" spc="-60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SUM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(amount)</a:t>
            </a:r>
            <a:r>
              <a:rPr sz="2800" spc="-15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AS</a:t>
            </a:r>
            <a:r>
              <a:rPr sz="2800" spc="-2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total </a:t>
            </a:r>
            <a:r>
              <a:rPr sz="2800" spc="-76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FROM </a:t>
            </a:r>
            <a:r>
              <a:rPr sz="2800">
                <a:latin typeface="Arial MT"/>
                <a:cs typeface="Arial MT"/>
              </a:rPr>
              <a:t>payment</a:t>
            </a: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800" spc="-5">
                <a:latin typeface="Arial MT"/>
                <a:cs typeface="Arial MT"/>
              </a:rPr>
              <a:t>WHERE</a:t>
            </a:r>
            <a:r>
              <a:rPr sz="2800" spc="-3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customer_id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=</a:t>
            </a:r>
            <a:r>
              <a:rPr sz="2800" spc="-2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2000;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4076" y="1690687"/>
            <a:ext cx="2476500" cy="20955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1191" y="3786187"/>
            <a:ext cx="1473200" cy="187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45007"/>
            <a:ext cx="9995535" cy="104076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 marR="5080">
              <a:lnSpc>
                <a:spcPts val="3790"/>
              </a:lnSpc>
              <a:spcBef>
                <a:spcPts val="565"/>
              </a:spcBef>
            </a:pPr>
            <a:r>
              <a:rPr sz="3500" spc="-5"/>
              <a:t>Using PostgreSQL SUM() function with GROUP </a:t>
            </a:r>
            <a:r>
              <a:rPr sz="3500" spc="-960"/>
              <a:t> </a:t>
            </a:r>
            <a:r>
              <a:rPr sz="3500" spc="-5"/>
              <a:t>BY</a:t>
            </a:r>
            <a:r>
              <a:rPr sz="3500" spc="-65"/>
              <a:t> </a:t>
            </a:r>
            <a:r>
              <a:rPr sz="3500"/>
              <a:t>clause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4581525" cy="4100829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>
                <a:latin typeface="Arial MT"/>
                <a:cs typeface="Arial MT"/>
              </a:rPr>
              <a:t>SELECT</a:t>
            </a:r>
            <a:endParaRPr sz="2800">
              <a:latin typeface="Arial MT"/>
              <a:cs typeface="Arial MT"/>
            </a:endParaRPr>
          </a:p>
          <a:p>
            <a:pPr marL="926465">
              <a:lnSpc>
                <a:spcPct val="100000"/>
              </a:lnSpc>
              <a:spcBef>
                <a:spcPts val="625"/>
              </a:spcBef>
            </a:pPr>
            <a:r>
              <a:rPr sz="2800">
                <a:latin typeface="Arial MT"/>
                <a:cs typeface="Arial MT"/>
              </a:rPr>
              <a:t>customer_id,</a:t>
            </a:r>
          </a:p>
          <a:p>
            <a:pPr marL="12700" marR="5080" indent="914400">
              <a:lnSpc>
                <a:spcPct val="119300"/>
              </a:lnSpc>
            </a:pPr>
            <a:r>
              <a:rPr sz="2800" spc="-5">
                <a:latin typeface="Arial MT"/>
                <a:cs typeface="Arial MT"/>
              </a:rPr>
              <a:t>SUM</a:t>
            </a:r>
            <a:r>
              <a:rPr sz="2800" spc="-2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(amount)</a:t>
            </a:r>
            <a:r>
              <a:rPr sz="2800" spc="-16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AS</a:t>
            </a:r>
            <a:r>
              <a:rPr sz="2800" spc="-3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total </a:t>
            </a:r>
            <a:r>
              <a:rPr sz="2800" spc="-76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FROM</a:t>
            </a:r>
            <a:endParaRPr sz="2800">
              <a:latin typeface="Arial MT"/>
              <a:cs typeface="Arial MT"/>
            </a:endParaRPr>
          </a:p>
          <a:p>
            <a:pPr marL="12700" marR="2279015" indent="914400">
              <a:lnSpc>
                <a:spcPct val="118600"/>
              </a:lnSpc>
              <a:spcBef>
                <a:spcPts val="120"/>
              </a:spcBef>
            </a:pPr>
            <a:r>
              <a:rPr sz="2800" spc="5">
                <a:latin typeface="Arial MT"/>
                <a:cs typeface="Arial MT"/>
              </a:rPr>
              <a:t>pa</a:t>
            </a:r>
            <a:r>
              <a:rPr sz="2800">
                <a:latin typeface="Arial MT"/>
                <a:cs typeface="Arial MT"/>
              </a:rPr>
              <a:t>y</a:t>
            </a:r>
            <a:r>
              <a:rPr sz="2800" spc="5">
                <a:latin typeface="Arial MT"/>
                <a:cs typeface="Arial MT"/>
              </a:rPr>
              <a:t>men</a:t>
            </a:r>
            <a:r>
              <a:rPr sz="2800">
                <a:latin typeface="Arial MT"/>
                <a:cs typeface="Arial MT"/>
              </a:rPr>
              <a:t>t  </a:t>
            </a:r>
            <a:r>
              <a:rPr sz="2800" spc="-5">
                <a:latin typeface="Arial MT"/>
                <a:cs typeface="Arial MT"/>
              </a:rPr>
              <a:t>GROUP</a:t>
            </a:r>
            <a:r>
              <a:rPr sz="2800" spc="-80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BY</a:t>
            </a:r>
            <a:endParaRPr sz="2800">
              <a:latin typeface="Arial MT"/>
              <a:cs typeface="Arial MT"/>
            </a:endParaRPr>
          </a:p>
          <a:p>
            <a:pPr marL="12700" marR="1704975" indent="914400">
              <a:lnSpc>
                <a:spcPct val="119300"/>
              </a:lnSpc>
            </a:pPr>
            <a:r>
              <a:rPr sz="2800">
                <a:latin typeface="Arial MT"/>
                <a:cs typeface="Arial MT"/>
              </a:rPr>
              <a:t>c</a:t>
            </a:r>
            <a:r>
              <a:rPr sz="2800" spc="5">
                <a:latin typeface="Arial MT"/>
                <a:cs typeface="Arial MT"/>
              </a:rPr>
              <a:t>u</a:t>
            </a:r>
            <a:r>
              <a:rPr sz="2800">
                <a:latin typeface="Arial MT"/>
                <a:cs typeface="Arial MT"/>
              </a:rPr>
              <a:t>s</a:t>
            </a:r>
            <a:r>
              <a:rPr sz="2800" spc="-5">
                <a:latin typeface="Arial MT"/>
                <a:cs typeface="Arial MT"/>
              </a:rPr>
              <a:t>t</a:t>
            </a:r>
            <a:r>
              <a:rPr sz="2800" spc="5">
                <a:latin typeface="Arial MT"/>
                <a:cs typeface="Arial MT"/>
              </a:rPr>
              <a:t>omer_</a:t>
            </a:r>
            <a:r>
              <a:rPr sz="2800">
                <a:latin typeface="Arial MT"/>
                <a:cs typeface="Arial MT"/>
              </a:rPr>
              <a:t>id  </a:t>
            </a:r>
            <a:r>
              <a:rPr sz="2800" spc="-5">
                <a:latin typeface="Arial MT"/>
                <a:cs typeface="Arial MT"/>
              </a:rPr>
              <a:t>ORDER</a:t>
            </a:r>
            <a:r>
              <a:rPr sz="2800" spc="-3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BY</a:t>
            </a:r>
            <a:r>
              <a:rPr sz="2800" spc="-8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total;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6960" y="1825625"/>
            <a:ext cx="2743200" cy="39623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37539"/>
            <a:ext cx="97485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5">
                <a:latin typeface="Arial"/>
                <a:cs typeface="Arial"/>
              </a:rPr>
              <a:t>Using</a:t>
            </a:r>
            <a:r>
              <a:rPr sz="4000" b="1" spc="-30">
                <a:latin typeface="Arial"/>
                <a:cs typeface="Arial"/>
              </a:rPr>
              <a:t> </a:t>
            </a:r>
            <a:r>
              <a:rPr sz="4000" b="1" spc="-5">
                <a:latin typeface="Arial"/>
                <a:cs typeface="Arial"/>
              </a:rPr>
              <a:t>PostgreSQL</a:t>
            </a:r>
            <a:r>
              <a:rPr sz="4000" b="1" spc="-95">
                <a:latin typeface="Arial"/>
                <a:cs typeface="Arial"/>
              </a:rPr>
              <a:t> </a:t>
            </a:r>
            <a:r>
              <a:rPr sz="4000" b="1" spc="-5">
                <a:latin typeface="Arial"/>
                <a:cs typeface="Arial"/>
              </a:rPr>
              <a:t>SUM</a:t>
            </a:r>
            <a:r>
              <a:rPr sz="4000" b="1" spc="-10">
                <a:latin typeface="Arial"/>
                <a:cs typeface="Arial"/>
              </a:rPr>
              <a:t> </a:t>
            </a:r>
            <a:r>
              <a:rPr sz="4000" b="1">
                <a:latin typeface="Arial"/>
                <a:cs typeface="Arial"/>
              </a:rPr>
              <a:t>with</a:t>
            </a:r>
            <a:r>
              <a:rPr sz="4000" b="1" spc="-25">
                <a:latin typeface="Arial"/>
                <a:cs typeface="Arial"/>
              </a:rPr>
              <a:t> </a:t>
            </a:r>
            <a:r>
              <a:rPr sz="4000" b="1" spc="-5">
                <a:latin typeface="Arial"/>
                <a:cs typeface="Arial"/>
              </a:rPr>
              <a:t>expression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6551295" cy="1037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600"/>
              </a:lnSpc>
              <a:spcBef>
                <a:spcPts val="100"/>
              </a:spcBef>
            </a:pPr>
            <a:r>
              <a:rPr sz="2800" spc="-5">
                <a:latin typeface="Arial MT"/>
                <a:cs typeface="Arial MT"/>
              </a:rPr>
              <a:t>SELECT</a:t>
            </a:r>
            <a:r>
              <a:rPr sz="2800" spc="-7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SUM(return_date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-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rental_date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) </a:t>
            </a:r>
            <a:r>
              <a:rPr sz="2800" spc="-76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FROM rental;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6746" y="1690687"/>
            <a:ext cx="2616200" cy="24638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74900" y="3343398"/>
            <a:ext cx="37211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71577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PostgreSQL</a:t>
            </a:r>
            <a:r>
              <a:rPr sz="4400" spc="-100"/>
              <a:t> </a:t>
            </a:r>
            <a:r>
              <a:rPr sz="4400" spc="-5"/>
              <a:t>MAX</a:t>
            </a:r>
            <a:r>
              <a:rPr sz="4400" spc="-15"/>
              <a:t> </a:t>
            </a:r>
            <a:r>
              <a:rPr sz="4400" spc="-5"/>
              <a:t>Function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10294620" cy="376555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212725">
              <a:lnSpc>
                <a:spcPts val="3000"/>
              </a:lnSpc>
              <a:spcBef>
                <a:spcPts val="500"/>
              </a:spcBef>
              <a:tabLst>
                <a:tab pos="2134235" algn="l"/>
              </a:tabLst>
            </a:pPr>
            <a:r>
              <a:rPr sz="2800">
                <a:latin typeface="Arial MT"/>
                <a:cs typeface="Arial MT"/>
              </a:rPr>
              <a:t>PostgreSQL	</a:t>
            </a:r>
            <a:r>
              <a:rPr sz="2800" b="1">
                <a:latin typeface="Arial"/>
                <a:cs typeface="Arial"/>
              </a:rPr>
              <a:t>MAX </a:t>
            </a:r>
            <a:r>
              <a:rPr sz="2800">
                <a:latin typeface="Arial MT"/>
                <a:cs typeface="Arial MT"/>
              </a:rPr>
              <a:t>function is an aggregate function that returns </a:t>
            </a:r>
            <a:r>
              <a:rPr sz="2800" spc="-76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the</a:t>
            </a:r>
            <a:r>
              <a:rPr sz="2800" spc="-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maximum value in a set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of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values.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300">
              <a:latin typeface="Arial MT"/>
              <a:cs typeface="Arial MT"/>
            </a:endParaRPr>
          </a:p>
          <a:p>
            <a:pPr marL="12700" marR="3212465">
              <a:lnSpc>
                <a:spcPct val="122100"/>
              </a:lnSpc>
              <a:spcBef>
                <a:spcPts val="5"/>
              </a:spcBef>
            </a:pPr>
            <a:r>
              <a:rPr sz="2800">
                <a:latin typeface="Arial MT"/>
                <a:cs typeface="Arial MT"/>
              </a:rPr>
              <a:t>The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syntax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of</a:t>
            </a:r>
            <a:r>
              <a:rPr sz="2800" spc="-2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the</a:t>
            </a:r>
            <a:r>
              <a:rPr sz="2800" spc="-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MAX</a:t>
            </a:r>
            <a:r>
              <a:rPr sz="2800" spc="-2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function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is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as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follows: </a:t>
            </a:r>
            <a:r>
              <a:rPr sz="2800" spc="-76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MAX(expression);</a:t>
            </a:r>
          </a:p>
          <a:p>
            <a:pPr>
              <a:lnSpc>
                <a:spcPct val="100000"/>
              </a:lnSpc>
            </a:pPr>
            <a:endParaRPr sz="2800">
              <a:latin typeface="Arial MT"/>
              <a:cs typeface="Arial MT"/>
            </a:endParaRPr>
          </a:p>
          <a:p>
            <a:pPr marL="12700" marR="5080">
              <a:lnSpc>
                <a:spcPts val="3000"/>
              </a:lnSpc>
              <a:spcBef>
                <a:spcPts val="1810"/>
              </a:spcBef>
            </a:pPr>
            <a:r>
              <a:rPr sz="2800" spc="-90">
                <a:latin typeface="Arial MT"/>
                <a:cs typeface="Arial MT"/>
              </a:rPr>
              <a:t>You</a:t>
            </a:r>
            <a:r>
              <a:rPr sz="2800" spc="-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can use the MAX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function not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only</a:t>
            </a:r>
            <a:r>
              <a:rPr sz="2800" spc="-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in</a:t>
            </a:r>
            <a:r>
              <a:rPr sz="2800" spc="-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the </a:t>
            </a:r>
            <a:r>
              <a:rPr sz="2800" spc="-5">
                <a:latin typeface="Arial MT"/>
                <a:cs typeface="Arial MT"/>
              </a:rPr>
              <a:t>SELECT</a:t>
            </a:r>
            <a:r>
              <a:rPr sz="2800" spc="-5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clause but </a:t>
            </a:r>
            <a:r>
              <a:rPr sz="2800" spc="-76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also</a:t>
            </a:r>
            <a:r>
              <a:rPr sz="2800" spc="-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in the </a:t>
            </a:r>
            <a:r>
              <a:rPr sz="2800" spc="-5">
                <a:latin typeface="Arial MT"/>
                <a:cs typeface="Arial MT"/>
              </a:rPr>
              <a:t>WHERE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and</a:t>
            </a:r>
            <a:r>
              <a:rPr sz="2800" spc="-5">
                <a:latin typeface="Arial MT"/>
                <a:cs typeface="Arial MT"/>
              </a:rPr>
              <a:t> </a:t>
            </a:r>
            <a:r>
              <a:rPr sz="2800" spc="-40">
                <a:latin typeface="Arial MT"/>
                <a:cs typeface="Arial MT"/>
              </a:rPr>
              <a:t>HAVING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clauses.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37539"/>
            <a:ext cx="88252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5">
                <a:latin typeface="Arial"/>
                <a:cs typeface="Arial"/>
              </a:rPr>
              <a:t>PostgreSQL</a:t>
            </a:r>
            <a:r>
              <a:rPr sz="4000" b="1" spc="-90">
                <a:latin typeface="Arial"/>
                <a:cs typeface="Arial"/>
              </a:rPr>
              <a:t> </a:t>
            </a:r>
            <a:r>
              <a:rPr sz="4000" b="1">
                <a:latin typeface="Arial"/>
                <a:cs typeface="Arial"/>
              </a:rPr>
              <a:t>MAX</a:t>
            </a:r>
            <a:r>
              <a:rPr sz="4000" b="1" spc="-20">
                <a:latin typeface="Arial"/>
                <a:cs typeface="Arial"/>
              </a:rPr>
              <a:t> </a:t>
            </a:r>
            <a:r>
              <a:rPr sz="4000" b="1" spc="-5">
                <a:latin typeface="Arial"/>
                <a:cs typeface="Arial"/>
              </a:rPr>
              <a:t>function</a:t>
            </a:r>
            <a:r>
              <a:rPr sz="4000" b="1" spc="-15">
                <a:latin typeface="Arial"/>
                <a:cs typeface="Arial"/>
              </a:rPr>
              <a:t> </a:t>
            </a:r>
            <a:r>
              <a:rPr sz="4000" b="1">
                <a:latin typeface="Arial"/>
                <a:cs typeface="Arial"/>
              </a:rPr>
              <a:t>examples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3698240" cy="1037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600"/>
              </a:lnSpc>
              <a:spcBef>
                <a:spcPts val="100"/>
              </a:spcBef>
            </a:pPr>
            <a:r>
              <a:rPr sz="2800" spc="-5">
                <a:latin typeface="Arial MT"/>
                <a:cs typeface="Arial MT"/>
              </a:rPr>
              <a:t>SELECT</a:t>
            </a:r>
            <a:r>
              <a:rPr sz="2800" spc="-1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MAX(amount) </a:t>
            </a:r>
            <a:r>
              <a:rPr sz="2800" spc="-76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FROM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payment;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69084" y="1825625"/>
            <a:ext cx="2476500" cy="20955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2827" y="3325873"/>
            <a:ext cx="2476500" cy="137583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7539"/>
            <a:ext cx="93859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/>
              <a:t>PostgreSQL</a:t>
            </a:r>
            <a:r>
              <a:rPr spc="-80"/>
              <a:t> </a:t>
            </a:r>
            <a:r>
              <a:t>MAX</a:t>
            </a:r>
            <a:r>
              <a:rPr spc="-10"/>
              <a:t> </a:t>
            </a:r>
            <a:r>
              <a:rPr spc="-5"/>
              <a:t>function</a:t>
            </a:r>
            <a:r>
              <a:rPr spc="-10"/>
              <a:t> </a:t>
            </a:r>
            <a:r>
              <a:t>in</a:t>
            </a:r>
            <a:r>
              <a:rPr spc="-5"/>
              <a:t> subquery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4250690" cy="257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600"/>
              </a:lnSpc>
              <a:spcBef>
                <a:spcPts val="100"/>
              </a:spcBef>
            </a:pPr>
            <a:r>
              <a:rPr sz="2800" spc="-5">
                <a:latin typeface="Arial MT"/>
                <a:cs typeface="Arial MT"/>
              </a:rPr>
              <a:t>SELECT</a:t>
            </a:r>
            <a:r>
              <a:rPr sz="2800" spc="-6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*</a:t>
            </a:r>
            <a:r>
              <a:rPr sz="2800" spc="-20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FROM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payment </a:t>
            </a:r>
            <a:r>
              <a:rPr sz="2800" spc="-76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WHERE</a:t>
            </a:r>
            <a:r>
              <a:rPr sz="2800" spc="-1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amount</a:t>
            </a:r>
            <a:r>
              <a:rPr sz="2800" spc="-1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=</a:t>
            </a:r>
            <a:r>
              <a:rPr sz="2800" spc="-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(</a:t>
            </a:r>
          </a:p>
          <a:p>
            <a:pPr marL="307975" marR="163195">
              <a:lnSpc>
                <a:spcPct val="119300"/>
              </a:lnSpc>
            </a:pPr>
            <a:r>
              <a:rPr sz="2800" spc="-5">
                <a:latin typeface="Arial MT"/>
                <a:cs typeface="Arial MT"/>
              </a:rPr>
              <a:t>SELECT</a:t>
            </a:r>
            <a:r>
              <a:rPr sz="2800" spc="-80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MAX</a:t>
            </a:r>
            <a:r>
              <a:rPr sz="2800" spc="-3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(amount) </a:t>
            </a:r>
            <a:r>
              <a:rPr sz="2800" spc="-765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FROM </a:t>
            </a:r>
            <a:r>
              <a:rPr sz="2800">
                <a:latin typeface="Arial MT"/>
                <a:cs typeface="Arial MT"/>
              </a:rPr>
              <a:t>payment</a:t>
            </a: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800" spc="5">
                <a:latin typeface="Arial MT"/>
                <a:cs typeface="Arial MT"/>
              </a:rPr>
              <a:t>);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5947" y="3756891"/>
            <a:ext cx="7315200" cy="233679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69405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/>
              <a:t>PostgreSQL</a:t>
            </a:r>
            <a:r>
              <a:rPr sz="4400" spc="-95"/>
              <a:t> </a:t>
            </a:r>
            <a:r>
              <a:rPr sz="4400" spc="-5"/>
              <a:t>MIN</a:t>
            </a:r>
            <a:r>
              <a:rPr sz="4400" spc="-20"/>
              <a:t> </a:t>
            </a:r>
            <a:r>
              <a:rPr sz="4400" spc="-5"/>
              <a:t>Function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807464"/>
            <a:ext cx="9885680" cy="4097654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172720">
              <a:lnSpc>
                <a:spcPts val="2400"/>
              </a:lnSpc>
              <a:spcBef>
                <a:spcPts val="480"/>
              </a:spcBef>
            </a:pPr>
            <a:r>
              <a:rPr sz="2300" spc="-5">
                <a:latin typeface="Arial MT"/>
                <a:cs typeface="Arial MT"/>
              </a:rPr>
              <a:t>PostgreSQL </a:t>
            </a:r>
            <a:r>
              <a:rPr sz="2300" b="1" spc="-5">
                <a:latin typeface="Arial"/>
                <a:cs typeface="Arial"/>
              </a:rPr>
              <a:t>MIN</a:t>
            </a:r>
            <a:r>
              <a:rPr sz="2300" spc="-5">
                <a:latin typeface="Arial MT"/>
                <a:cs typeface="Arial MT"/>
              </a:rPr>
              <a:t>() function an aggregate function that returns the minimum </a:t>
            </a:r>
            <a:r>
              <a:rPr sz="2300" spc="-630">
                <a:latin typeface="Arial MT"/>
                <a:cs typeface="Arial MT"/>
              </a:rPr>
              <a:t> </a:t>
            </a:r>
            <a:r>
              <a:rPr sz="2300" spc="-5">
                <a:latin typeface="Arial MT"/>
                <a:cs typeface="Arial MT"/>
              </a:rPr>
              <a:t>value</a:t>
            </a:r>
            <a:r>
              <a:rPr sz="2300" spc="-15">
                <a:latin typeface="Arial MT"/>
                <a:cs typeface="Arial MT"/>
              </a:rPr>
              <a:t> </a:t>
            </a:r>
            <a:r>
              <a:rPr sz="2300">
                <a:latin typeface="Arial MT"/>
                <a:cs typeface="Arial MT"/>
              </a:rPr>
              <a:t>in</a:t>
            </a:r>
            <a:r>
              <a:rPr sz="2300" spc="-10">
                <a:latin typeface="Arial MT"/>
                <a:cs typeface="Arial MT"/>
              </a:rPr>
              <a:t> </a:t>
            </a:r>
            <a:r>
              <a:rPr sz="2300">
                <a:latin typeface="Arial MT"/>
                <a:cs typeface="Arial MT"/>
              </a:rPr>
              <a:t>a</a:t>
            </a:r>
            <a:r>
              <a:rPr sz="2300" spc="-10">
                <a:latin typeface="Arial MT"/>
                <a:cs typeface="Arial MT"/>
              </a:rPr>
              <a:t> </a:t>
            </a:r>
            <a:r>
              <a:rPr sz="2300" spc="-5">
                <a:latin typeface="Arial MT"/>
                <a:cs typeface="Arial MT"/>
              </a:rPr>
              <a:t>set of values.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300">
                <a:solidFill>
                  <a:srgbClr val="212529"/>
                </a:solidFill>
                <a:latin typeface="Calibri"/>
                <a:cs typeface="Calibri"/>
              </a:rPr>
              <a:t>The </a:t>
            </a:r>
            <a:r>
              <a:rPr sz="2300" spc="-20">
                <a:solidFill>
                  <a:srgbClr val="212529"/>
                </a:solidFill>
                <a:latin typeface="Calibri"/>
                <a:cs typeface="Calibri"/>
              </a:rPr>
              <a:t>syntax</a:t>
            </a:r>
            <a:r>
              <a:rPr sz="2300" spc="5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2300" spc="-5">
                <a:solidFill>
                  <a:srgbClr val="212529"/>
                </a:solidFill>
                <a:latin typeface="Calibri"/>
                <a:cs typeface="Calibri"/>
              </a:rPr>
              <a:t>of </a:t>
            </a:r>
            <a:r>
              <a:rPr sz="2300">
                <a:solidFill>
                  <a:srgbClr val="212529"/>
                </a:solidFill>
                <a:latin typeface="Calibri"/>
                <a:cs typeface="Calibri"/>
              </a:rPr>
              <a:t>the</a:t>
            </a:r>
            <a:r>
              <a:rPr sz="2300" spc="1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2300" spc="-5">
                <a:latin typeface="Calibri"/>
                <a:cs typeface="Calibri"/>
              </a:rPr>
              <a:t>MIN()</a:t>
            </a:r>
            <a:r>
              <a:rPr sz="2300">
                <a:latin typeface="Calibri"/>
                <a:cs typeface="Calibri"/>
              </a:rPr>
              <a:t> </a:t>
            </a:r>
            <a:r>
              <a:rPr sz="2300" spc="-5">
                <a:solidFill>
                  <a:srgbClr val="212529"/>
                </a:solidFill>
                <a:latin typeface="Calibri"/>
                <a:cs typeface="Calibri"/>
              </a:rPr>
              <a:t>function</a:t>
            </a:r>
            <a:r>
              <a:rPr sz="2300" spc="5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2300" spc="-5">
                <a:solidFill>
                  <a:srgbClr val="212529"/>
                </a:solidFill>
                <a:latin typeface="Calibri"/>
                <a:cs typeface="Calibri"/>
              </a:rPr>
              <a:t>is</a:t>
            </a:r>
            <a:r>
              <a:rPr sz="230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2300" spc="-5">
                <a:solidFill>
                  <a:srgbClr val="212529"/>
                </a:solidFill>
                <a:latin typeface="Calibri"/>
                <a:cs typeface="Calibri"/>
              </a:rPr>
              <a:t>as</a:t>
            </a:r>
            <a:r>
              <a:rPr sz="2300">
                <a:solidFill>
                  <a:srgbClr val="212529"/>
                </a:solidFill>
                <a:latin typeface="Calibri"/>
                <a:cs typeface="Calibri"/>
              </a:rPr>
              <a:t> </a:t>
            </a:r>
            <a:r>
              <a:rPr sz="2300" spc="-15">
                <a:solidFill>
                  <a:srgbClr val="212529"/>
                </a:solidFill>
                <a:latin typeface="Calibri"/>
                <a:cs typeface="Calibri"/>
              </a:rPr>
              <a:t>follows: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300" spc="-5">
                <a:latin typeface="Arial MT"/>
                <a:cs typeface="Arial MT"/>
              </a:rPr>
              <a:t>SELECT</a:t>
            </a:r>
            <a:endParaRPr sz="2300">
              <a:latin typeface="Arial MT"/>
              <a:cs typeface="Arial MT"/>
            </a:endParaRPr>
          </a:p>
          <a:p>
            <a:pPr marL="12700" marR="7402195" indent="323850">
              <a:lnSpc>
                <a:spcPct val="126099"/>
              </a:lnSpc>
              <a:spcBef>
                <a:spcPts val="25"/>
              </a:spcBef>
            </a:pPr>
            <a:r>
              <a:rPr sz="2300" spc="-5">
                <a:latin typeface="Arial MT"/>
                <a:cs typeface="Arial MT"/>
              </a:rPr>
              <a:t>MI</a:t>
            </a:r>
            <a:r>
              <a:rPr sz="2300">
                <a:latin typeface="Arial MT"/>
                <a:cs typeface="Arial MT"/>
              </a:rPr>
              <a:t>N</a:t>
            </a:r>
            <a:r>
              <a:rPr sz="2300" spc="-5">
                <a:latin typeface="Arial MT"/>
                <a:cs typeface="Arial MT"/>
              </a:rPr>
              <a:t>(e</a:t>
            </a:r>
            <a:r>
              <a:rPr sz="2300">
                <a:latin typeface="Arial MT"/>
                <a:cs typeface="Arial MT"/>
              </a:rPr>
              <a:t>x</a:t>
            </a:r>
            <a:r>
              <a:rPr sz="2300" spc="-5">
                <a:latin typeface="Arial MT"/>
                <a:cs typeface="Arial MT"/>
              </a:rPr>
              <a:t>pre</a:t>
            </a:r>
            <a:r>
              <a:rPr sz="2300">
                <a:latin typeface="Arial MT"/>
                <a:cs typeface="Arial MT"/>
              </a:rPr>
              <a:t>ssi</a:t>
            </a:r>
            <a:r>
              <a:rPr sz="2300" spc="-5">
                <a:latin typeface="Arial MT"/>
                <a:cs typeface="Arial MT"/>
              </a:rPr>
              <a:t>on</a:t>
            </a:r>
            <a:r>
              <a:rPr sz="2300">
                <a:latin typeface="Arial MT"/>
                <a:cs typeface="Arial MT"/>
              </a:rPr>
              <a:t>)  </a:t>
            </a:r>
            <a:r>
              <a:rPr sz="2300" spc="-5">
                <a:latin typeface="Arial MT"/>
                <a:cs typeface="Arial MT"/>
              </a:rPr>
              <a:t>FROM</a:t>
            </a:r>
            <a:endParaRPr sz="2300">
              <a:latin typeface="Arial MT"/>
              <a:cs typeface="Arial MT"/>
            </a:endParaRPr>
          </a:p>
          <a:p>
            <a:pPr marL="255270">
              <a:lnSpc>
                <a:spcPct val="100000"/>
              </a:lnSpc>
              <a:spcBef>
                <a:spcPts val="745"/>
              </a:spcBef>
            </a:pPr>
            <a:r>
              <a:rPr sz="2300" spc="-5">
                <a:latin typeface="Arial MT"/>
                <a:cs typeface="Arial MT"/>
              </a:rPr>
              <a:t>table_expression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300" spc="-5">
                <a:latin typeface="Arial MT"/>
                <a:cs typeface="Arial MT"/>
              </a:rPr>
              <a:t>...;</a:t>
            </a:r>
            <a:endParaRPr sz="2300">
              <a:latin typeface="Arial MT"/>
              <a:cs typeface="Arial MT"/>
            </a:endParaRPr>
          </a:p>
          <a:p>
            <a:pPr marL="12700" marR="5080">
              <a:lnSpc>
                <a:spcPts val="2500"/>
              </a:lnSpc>
              <a:spcBef>
                <a:spcPts val="944"/>
              </a:spcBef>
            </a:pPr>
            <a:r>
              <a:rPr sz="2300" spc="-5">
                <a:latin typeface="Arial MT"/>
                <a:cs typeface="Arial MT"/>
              </a:rPr>
              <a:t>Unlike the </a:t>
            </a:r>
            <a:r>
              <a:rPr sz="2300" spc="-35">
                <a:latin typeface="Arial MT"/>
                <a:cs typeface="Arial MT"/>
              </a:rPr>
              <a:t>AVG(), </a:t>
            </a:r>
            <a:r>
              <a:rPr sz="2300" spc="-5">
                <a:latin typeface="Arial MT"/>
                <a:cs typeface="Arial MT"/>
              </a:rPr>
              <a:t>COUNT() and SUM() functions, the DISTINCT option does </a:t>
            </a:r>
            <a:r>
              <a:rPr sz="2300" spc="-625">
                <a:latin typeface="Arial MT"/>
                <a:cs typeface="Arial MT"/>
              </a:rPr>
              <a:t> </a:t>
            </a:r>
            <a:r>
              <a:rPr sz="2300" spc="-5">
                <a:latin typeface="Arial MT"/>
                <a:cs typeface="Arial MT"/>
              </a:rPr>
              <a:t>not</a:t>
            </a:r>
            <a:r>
              <a:rPr sz="2300" spc="-10">
                <a:latin typeface="Arial MT"/>
                <a:cs typeface="Arial MT"/>
              </a:rPr>
              <a:t> </a:t>
            </a:r>
            <a:r>
              <a:rPr sz="2300" spc="-5">
                <a:latin typeface="Arial MT"/>
                <a:cs typeface="Arial MT"/>
              </a:rPr>
              <a:t>have</a:t>
            </a:r>
            <a:r>
              <a:rPr sz="2300" spc="-10">
                <a:latin typeface="Arial MT"/>
                <a:cs typeface="Arial MT"/>
              </a:rPr>
              <a:t> </a:t>
            </a:r>
            <a:r>
              <a:rPr sz="2300" spc="-5">
                <a:latin typeface="Arial MT"/>
                <a:cs typeface="Arial MT"/>
              </a:rPr>
              <a:t>any </a:t>
            </a:r>
            <a:r>
              <a:rPr sz="2300" spc="-10">
                <a:latin typeface="Arial MT"/>
                <a:cs typeface="Arial MT"/>
              </a:rPr>
              <a:t>effects</a:t>
            </a:r>
            <a:r>
              <a:rPr sz="2300" spc="-5">
                <a:latin typeface="Arial MT"/>
                <a:cs typeface="Arial MT"/>
              </a:rPr>
              <a:t> on</a:t>
            </a:r>
            <a:r>
              <a:rPr sz="2300" spc="-10">
                <a:latin typeface="Arial MT"/>
                <a:cs typeface="Arial MT"/>
              </a:rPr>
              <a:t> </a:t>
            </a:r>
            <a:r>
              <a:rPr sz="2300" spc="-5">
                <a:latin typeface="Arial MT"/>
                <a:cs typeface="Arial MT"/>
              </a:rPr>
              <a:t>the</a:t>
            </a:r>
            <a:r>
              <a:rPr sz="2300" spc="-10">
                <a:latin typeface="Arial MT"/>
                <a:cs typeface="Arial MT"/>
              </a:rPr>
              <a:t> </a:t>
            </a:r>
            <a:r>
              <a:rPr sz="2300" spc="-5">
                <a:latin typeface="Arial MT"/>
                <a:cs typeface="Arial MT"/>
              </a:rPr>
              <a:t>MIN() function.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7539"/>
            <a:ext cx="89681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/>
              <a:t>PostgreSQL</a:t>
            </a:r>
            <a:r>
              <a:rPr spc="-90"/>
              <a:t> </a:t>
            </a:r>
            <a:r>
              <a:t>MIN()</a:t>
            </a:r>
            <a:r>
              <a:rPr spc="-5"/>
              <a:t> function</a:t>
            </a:r>
            <a:r>
              <a:rPr spc="-15"/>
              <a:t> </a:t>
            </a:r>
            <a:r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6532"/>
            <a:ext cx="3014345" cy="205549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800" spc="-5">
                <a:latin typeface="Arial MT"/>
                <a:cs typeface="Arial MT"/>
              </a:rPr>
              <a:t>SELECT</a:t>
            </a:r>
            <a:endParaRPr sz="2800">
              <a:latin typeface="Arial MT"/>
              <a:cs typeface="Arial MT"/>
            </a:endParaRPr>
          </a:p>
          <a:p>
            <a:pPr marL="12700" marR="5080" indent="295275">
              <a:lnSpc>
                <a:spcPts val="4010"/>
              </a:lnSpc>
              <a:spcBef>
                <a:spcPts val="219"/>
              </a:spcBef>
            </a:pPr>
            <a:r>
              <a:rPr sz="2800">
                <a:latin typeface="Arial MT"/>
                <a:cs typeface="Arial MT"/>
              </a:rPr>
              <a:t>MIN</a:t>
            </a:r>
            <a:r>
              <a:rPr sz="2800" spc="-85">
                <a:latin typeface="Arial MT"/>
                <a:cs typeface="Arial MT"/>
              </a:rPr>
              <a:t> </a:t>
            </a:r>
            <a:r>
              <a:rPr sz="2800">
                <a:latin typeface="Arial MT"/>
                <a:cs typeface="Arial MT"/>
              </a:rPr>
              <a:t>(rental_rate) </a:t>
            </a:r>
            <a:r>
              <a:rPr sz="2800" spc="-760">
                <a:latin typeface="Arial MT"/>
                <a:cs typeface="Arial MT"/>
              </a:rPr>
              <a:t> </a:t>
            </a:r>
            <a:r>
              <a:rPr sz="2800" spc="-5">
                <a:latin typeface="Arial MT"/>
                <a:cs typeface="Arial MT"/>
              </a:rPr>
              <a:t>FROM</a:t>
            </a:r>
            <a:endParaRPr sz="2800">
              <a:latin typeface="Arial MT"/>
              <a:cs typeface="Arial MT"/>
            </a:endParaRPr>
          </a:p>
          <a:p>
            <a:pPr marL="307975">
              <a:lnSpc>
                <a:spcPct val="100000"/>
              </a:lnSpc>
              <a:spcBef>
                <a:spcPts val="400"/>
              </a:spcBef>
            </a:pPr>
            <a:r>
              <a:rPr sz="2800">
                <a:latin typeface="Arial MT"/>
                <a:cs typeface="Arial MT"/>
              </a:rPr>
              <a:t>film;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57661" y="1579417"/>
            <a:ext cx="7216870" cy="333506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5706" y="4138961"/>
            <a:ext cx="2011877" cy="12473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31011"/>
            <a:ext cx="100869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/>
              <a:t>Using</a:t>
            </a:r>
            <a:r>
              <a:rPr sz="3000"/>
              <a:t> </a:t>
            </a:r>
            <a:r>
              <a:rPr sz="3000" spc="-5"/>
              <a:t>PostgreSQL</a:t>
            </a:r>
            <a:r>
              <a:rPr sz="3000" spc="-55"/>
              <a:t> </a:t>
            </a:r>
            <a:r>
              <a:rPr sz="3000"/>
              <a:t>MIN</a:t>
            </a:r>
            <a:r>
              <a:rPr sz="3000" spc="-10"/>
              <a:t> </a:t>
            </a:r>
            <a:r>
              <a:rPr sz="3000"/>
              <a:t>function with </a:t>
            </a:r>
            <a:r>
              <a:rPr sz="3000" spc="-5"/>
              <a:t>GROUP</a:t>
            </a:r>
            <a:r>
              <a:rPr sz="3000" spc="-55"/>
              <a:t> </a:t>
            </a:r>
            <a:r>
              <a:rPr sz="3000" spc="-5"/>
              <a:t>BY</a:t>
            </a:r>
            <a:r>
              <a:rPr sz="3000" spc="-60"/>
              <a:t> </a:t>
            </a:r>
            <a:r>
              <a:rPr sz="3000" spc="-5"/>
              <a:t>clause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916939" y="1708404"/>
            <a:ext cx="5650865" cy="323532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000" dirty="0">
                <a:latin typeface="Arial MT"/>
                <a:cs typeface="Arial MT"/>
              </a:rPr>
              <a:t>SELECT</a:t>
            </a:r>
          </a:p>
          <a:p>
            <a:pPr marL="926465">
              <a:lnSpc>
                <a:spcPct val="100000"/>
              </a:lnSpc>
              <a:spcBef>
                <a:spcPts val="790"/>
              </a:spcBef>
            </a:pPr>
            <a:r>
              <a:rPr sz="2000" spc="-5" dirty="0">
                <a:latin typeface="Arial MT"/>
                <a:cs typeface="Arial MT"/>
              </a:rPr>
              <a:t>name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category,</a:t>
            </a:r>
            <a:endParaRPr sz="2000" dirty="0">
              <a:latin typeface="Arial MT"/>
              <a:cs typeface="Arial MT"/>
            </a:endParaRPr>
          </a:p>
          <a:p>
            <a:pPr marL="12700" marR="5080" indent="914400">
              <a:lnSpc>
                <a:spcPts val="3190"/>
              </a:lnSpc>
              <a:spcBef>
                <a:spcPts val="145"/>
              </a:spcBef>
            </a:pPr>
            <a:r>
              <a:rPr sz="2000" spc="-5" dirty="0">
                <a:latin typeface="Arial MT"/>
                <a:cs typeface="Arial MT"/>
              </a:rPr>
              <a:t>MIN(replacement_cost)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replacement_cost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FROM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category</a:t>
            </a:r>
            <a:endParaRPr sz="2000" dirty="0">
              <a:latin typeface="Arial MT"/>
              <a:cs typeface="Arial MT"/>
            </a:endParaRPr>
          </a:p>
          <a:p>
            <a:pPr marL="12700" marR="184785">
              <a:lnSpc>
                <a:spcPts val="31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INNER </a:t>
            </a:r>
            <a:r>
              <a:rPr sz="2000" spc="-5" dirty="0">
                <a:latin typeface="Arial MT"/>
                <a:cs typeface="Arial MT"/>
              </a:rPr>
              <a:t>JOIN film_category </a:t>
            </a:r>
            <a:r>
              <a:rPr sz="2000" dirty="0">
                <a:latin typeface="Arial MT"/>
                <a:cs typeface="Arial MT"/>
              </a:rPr>
              <a:t>USING </a:t>
            </a:r>
            <a:r>
              <a:rPr sz="2000" spc="-5" dirty="0">
                <a:latin typeface="Arial MT"/>
                <a:cs typeface="Arial MT"/>
              </a:rPr>
              <a:t>(category_id)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INNER</a:t>
            </a:r>
            <a:r>
              <a:rPr sz="2000" spc="-5" dirty="0">
                <a:latin typeface="Arial MT"/>
                <a:cs typeface="Arial MT"/>
              </a:rPr>
              <a:t> JOIN</a:t>
            </a:r>
            <a:r>
              <a:rPr sz="2000" dirty="0">
                <a:latin typeface="Arial MT"/>
                <a:cs typeface="Arial MT"/>
              </a:rPr>
              <a:t> film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(film_id)</a:t>
            </a:r>
            <a:endParaRPr sz="2000" dirty="0">
              <a:latin typeface="Arial MT"/>
              <a:cs typeface="Arial MT"/>
            </a:endParaRPr>
          </a:p>
          <a:p>
            <a:pPr marL="12700" marR="3530600">
              <a:lnSpc>
                <a:spcPts val="3100"/>
              </a:lnSpc>
            </a:pPr>
            <a:r>
              <a:rPr sz="2000" spc="-5" dirty="0">
                <a:latin typeface="Arial MT"/>
                <a:cs typeface="Arial MT"/>
              </a:rPr>
              <a:t>GROUP </a:t>
            </a:r>
            <a:r>
              <a:rPr sz="2000" dirty="0">
                <a:latin typeface="Arial MT"/>
                <a:cs typeface="Arial MT"/>
              </a:rPr>
              <a:t>BY </a:t>
            </a:r>
            <a:r>
              <a:rPr sz="2000" spc="-5" dirty="0">
                <a:latin typeface="Arial MT"/>
                <a:cs typeface="Arial MT"/>
              </a:rPr>
              <a:t>name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ORDER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name;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19007" y="1517033"/>
            <a:ext cx="3521628" cy="47385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D71570AD13F0224BB1245ED162607349" ma:contentTypeVersion="8" ma:contentTypeDescription="Создание документа." ma:contentTypeScope="" ma:versionID="b34c0b78990df12d174317d7290c462f">
  <xsd:schema xmlns:xsd="http://www.w3.org/2001/XMLSchema" xmlns:xs="http://www.w3.org/2001/XMLSchema" xmlns:p="http://schemas.microsoft.com/office/2006/metadata/properties" xmlns:ns2="14a8a632-e596-4d42-a9cb-ac377c4fa28b" targetNamespace="http://schemas.microsoft.com/office/2006/metadata/properties" ma:root="true" ma:fieldsID="51dadbd8aa9e92f520983c4df36c56ca" ns2:_="">
    <xsd:import namespace="14a8a632-e596-4d42-a9cb-ac377c4fa2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a8a632-e596-4d42-a9cb-ac377c4fa2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E9928F6-D764-4137-8886-9154ABB7BA7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C62F809-CF65-42A4-8A7B-4945127519FF}">
  <ds:schemaRefs>
    <ds:schemaRef ds:uri="14a8a632-e596-4d42-a9cb-ac377c4fa28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6C3929A-D671-4BB4-B723-9DF25EFD8451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794</Words>
  <Application>Microsoft Macintosh PowerPoint</Application>
  <PresentationFormat>Другой</PresentationFormat>
  <Paragraphs>124</Paragraphs>
  <Slides>23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4" baseType="lpstr">
      <vt:lpstr>Office Theme</vt:lpstr>
      <vt:lpstr>Презентация PowerPoint</vt:lpstr>
      <vt:lpstr>Introduction to PostgreSQL aggregate functions</vt:lpstr>
      <vt:lpstr>PostgreSQL AVG Function</vt:lpstr>
      <vt:lpstr>Презентация PowerPoint</vt:lpstr>
      <vt:lpstr>Презентация PowerPoint</vt:lpstr>
      <vt:lpstr>PostgreSQL AVG function with SUM function</vt:lpstr>
      <vt:lpstr>PostgreSQL AVG() function with GROUP BY clause</vt:lpstr>
      <vt:lpstr>PostgreSQL AVG() function with HAVING clause</vt:lpstr>
      <vt:lpstr>PostgreSQL AVG() function and NULL</vt:lpstr>
      <vt:lpstr>PostgreSQL COUNT Function</vt:lpstr>
      <vt:lpstr>PostgreSQL COUNT() function examples</vt:lpstr>
      <vt:lpstr>PostgreSQL COUNT() with GROUP BY clause</vt:lpstr>
      <vt:lpstr>PostgreSQL COUNT() with HAVING clause</vt:lpstr>
      <vt:lpstr>PostgreSQL SUM Function</vt:lpstr>
      <vt:lpstr>PostgreSQL SUM() function examples</vt:lpstr>
      <vt:lpstr>Using PostgreSQL SUM() function with GROUP  BY clause</vt:lpstr>
      <vt:lpstr>Презентация PowerPoint</vt:lpstr>
      <vt:lpstr>PostgreSQL MAX Function</vt:lpstr>
      <vt:lpstr>Презентация PowerPoint</vt:lpstr>
      <vt:lpstr>PostgreSQL MAX function in subquery</vt:lpstr>
      <vt:lpstr>PostgreSQL MIN Function</vt:lpstr>
      <vt:lpstr>PostgreSQL MIN() function examples</vt:lpstr>
      <vt:lpstr>Using PostgreSQL MIN function with GROUP BY clause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Sholpan Saimassayeva</dc:creator>
  <cp:lastModifiedBy>Assel Syrymbayeva</cp:lastModifiedBy>
  <cp:revision>3</cp:revision>
  <dcterms:created xsi:type="dcterms:W3CDTF">2024-10-14T19:45:58Z</dcterms:created>
  <dcterms:modified xsi:type="dcterms:W3CDTF">2025-10-12T19:56:45Z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2023-12-02T00:00:00Z</vt:filetime>
  </property>
  <property fmtid="{D5CDD505-2E9C-101B-9397-08002B2CF9AE}" pid="3" name="LastSaved">
    <vt:filetime>2024-10-14T00:00:00Z</vt:filetime>
  </property>
  <property fmtid="{D5CDD505-2E9C-101B-9397-08002B2CF9AE}" pid="4" name="ContentTypeId">
    <vt:lpwstr>0x010100D71570AD13F0224BB1245ED162607349</vt:lpwstr>
  </property>
</Properties>
</file>