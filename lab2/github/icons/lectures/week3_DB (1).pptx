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86"/>
  </p:notesMasterIdLst>
  <p:sldIdLst>
    <p:sldId id="393" r:id="rId2"/>
    <p:sldId id="394" r:id="rId3"/>
    <p:sldId id="395" r:id="rId4"/>
    <p:sldId id="396" r:id="rId5"/>
    <p:sldId id="404" r:id="rId6"/>
    <p:sldId id="405" r:id="rId7"/>
    <p:sldId id="406" r:id="rId8"/>
    <p:sldId id="407" r:id="rId9"/>
    <p:sldId id="408" r:id="rId10"/>
    <p:sldId id="397" r:id="rId11"/>
    <p:sldId id="398" r:id="rId12"/>
    <p:sldId id="399" r:id="rId13"/>
    <p:sldId id="401" r:id="rId14"/>
    <p:sldId id="402" r:id="rId15"/>
    <p:sldId id="403" r:id="rId16"/>
    <p:sldId id="472" r:id="rId17"/>
    <p:sldId id="409" r:id="rId18"/>
    <p:sldId id="410" r:id="rId19"/>
    <p:sldId id="411" r:id="rId20"/>
    <p:sldId id="412" r:id="rId21"/>
    <p:sldId id="413" r:id="rId22"/>
    <p:sldId id="414" r:id="rId23"/>
    <p:sldId id="415" r:id="rId24"/>
    <p:sldId id="416" r:id="rId25"/>
    <p:sldId id="417" r:id="rId26"/>
    <p:sldId id="418" r:id="rId27"/>
    <p:sldId id="419" r:id="rId28"/>
    <p:sldId id="420" r:id="rId29"/>
    <p:sldId id="421" r:id="rId30"/>
    <p:sldId id="422" r:id="rId31"/>
    <p:sldId id="423" r:id="rId32"/>
    <p:sldId id="424" r:id="rId33"/>
    <p:sldId id="425" r:id="rId34"/>
    <p:sldId id="426" r:id="rId35"/>
    <p:sldId id="427" r:id="rId36"/>
    <p:sldId id="428" r:id="rId37"/>
    <p:sldId id="429" r:id="rId38"/>
    <p:sldId id="430" r:id="rId39"/>
    <p:sldId id="431" r:id="rId40"/>
    <p:sldId id="473" r:id="rId41"/>
    <p:sldId id="474" r:id="rId42"/>
    <p:sldId id="475" r:id="rId43"/>
    <p:sldId id="476" r:id="rId44"/>
    <p:sldId id="477" r:id="rId45"/>
    <p:sldId id="478" r:id="rId46"/>
    <p:sldId id="479" r:id="rId47"/>
    <p:sldId id="432" r:id="rId48"/>
    <p:sldId id="433" r:id="rId49"/>
    <p:sldId id="434" r:id="rId50"/>
    <p:sldId id="435" r:id="rId51"/>
    <p:sldId id="436" r:id="rId52"/>
    <p:sldId id="438" r:id="rId53"/>
    <p:sldId id="439" r:id="rId54"/>
    <p:sldId id="440" r:id="rId55"/>
    <p:sldId id="441" r:id="rId56"/>
    <p:sldId id="442" r:id="rId57"/>
    <p:sldId id="443" r:id="rId58"/>
    <p:sldId id="444" r:id="rId59"/>
    <p:sldId id="445" r:id="rId60"/>
    <p:sldId id="446" r:id="rId61"/>
    <p:sldId id="447" r:id="rId62"/>
    <p:sldId id="448" r:id="rId63"/>
    <p:sldId id="449" r:id="rId64"/>
    <p:sldId id="450" r:id="rId65"/>
    <p:sldId id="451" r:id="rId66"/>
    <p:sldId id="452" r:id="rId67"/>
    <p:sldId id="453" r:id="rId68"/>
    <p:sldId id="454" r:id="rId69"/>
    <p:sldId id="455" r:id="rId70"/>
    <p:sldId id="456" r:id="rId71"/>
    <p:sldId id="457" r:id="rId72"/>
    <p:sldId id="458" r:id="rId73"/>
    <p:sldId id="459" r:id="rId74"/>
    <p:sldId id="460" r:id="rId75"/>
    <p:sldId id="461" r:id="rId76"/>
    <p:sldId id="462" r:id="rId77"/>
    <p:sldId id="463" r:id="rId78"/>
    <p:sldId id="464" r:id="rId79"/>
    <p:sldId id="465" r:id="rId80"/>
    <p:sldId id="466" r:id="rId81"/>
    <p:sldId id="467" r:id="rId82"/>
    <p:sldId id="468" r:id="rId83"/>
    <p:sldId id="469" r:id="rId84"/>
    <p:sldId id="470" r:id="rId85"/>
  </p:sldIdLst>
  <p:sldSz cx="9144000" cy="6858000" type="screen4x3"/>
  <p:notesSz cx="9144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7"/>
    <p:restoredTop sz="92742"/>
  </p:normalViewPr>
  <p:slideViewPr>
    <p:cSldViewPr>
      <p:cViewPr varScale="1">
        <p:scale>
          <a:sx n="77" d="100"/>
          <a:sy n="77" d="100"/>
        </p:scale>
        <p:origin x="-328" y="-1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90" Type="http://schemas.openxmlformats.org/officeDocument/2006/relationships/theme" Target="theme/theme1.xml"/><Relationship Id="rId91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notesMaster" Target="notesMasters/notesMaster1.xml"/><Relationship Id="rId87" Type="http://schemas.openxmlformats.org/officeDocument/2006/relationships/printerSettings" Target="printerSettings/printerSettings1.bin"/><Relationship Id="rId88" Type="http://schemas.openxmlformats.org/officeDocument/2006/relationships/presProps" Target="presProps.xml"/><Relationship Id="rId8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AACCD-7612-46E1-81BC-CAB50E48411C}" type="datetimeFigureOut">
              <a:rPr lang="ru-RU" smtClean="0"/>
              <a:t>12.09.25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97CFD-EC87-401A-8E35-D8368F6772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1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397CFD-EC87-401A-8E35-D8368F6772E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9313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4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28166" y="1295400"/>
            <a:ext cx="6487668" cy="3152887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</a:pPr>
            <a:endParaRPr sz="32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Образец заголовка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Образец подзаголовка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12.09.25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Образец заголовка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12.09.25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 с рисун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</p:spPr>
        <p:txBody>
          <a:bodyPr/>
          <a:lstStyle/>
          <a:p>
            <a:r>
              <a:rPr lang="en-US" smtClean="0"/>
              <a:t>Образец заголовка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Образец подзаголовка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12.09.25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363538"/>
            <a:ext cx="840204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Чтобы добавить рисунок, перетащите его на заполнитель или щелкните значок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</p:spPr>
        <p:txBody>
          <a:bodyPr anchor="b" anchorCtr="0"/>
          <a:lstStyle>
            <a:lvl1pPr algn="ctr">
              <a:defRPr sz="4600" b="0" cap="none" baseline="0"/>
            </a:lvl1pPr>
          </a:lstStyle>
          <a:p>
            <a:r>
              <a:rPr lang="en-US" smtClean="0"/>
              <a:t>Образец заголовка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12.09.25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</p:spPr>
        <p:txBody>
          <a:bodyPr/>
          <a:lstStyle/>
          <a:p>
            <a:r>
              <a:rPr lang="en-US" smtClean="0"/>
              <a:t>Образец заголовка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12.09.25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Образец заголовка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12.09.25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Образец заголовка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12.09.25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12.09.25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 smtClean="0"/>
              <a:t>Образец заголовка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368300"/>
            <a:ext cx="384048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787856"/>
            <a:ext cx="384048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12.09.25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 smtClean="0"/>
              <a:t>Образец заголовка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8" y="1787856"/>
            <a:ext cx="4079545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12.09.25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359392"/>
            <a:ext cx="36576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Чтобы добавить рисунок, перетащите его на заполнитель или щелкните значок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Образец заголовка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12.09.25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368301"/>
            <a:ext cx="1524000" cy="5575300"/>
          </a:xfrm>
        </p:spPr>
        <p:txBody>
          <a:bodyPr vert="eaVert"/>
          <a:lstStyle/>
          <a:p>
            <a:r>
              <a:rPr lang="en-US" smtClean="0"/>
              <a:t>Образец заголовка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368301"/>
            <a:ext cx="6689726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12.09.25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12.09.25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4105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404167" y="311740"/>
            <a:ext cx="498634" cy="675005"/>
          </a:xfrm>
          <a:custGeom>
            <a:avLst/>
            <a:gdLst/>
            <a:ahLst/>
            <a:cxnLst/>
            <a:rect l="l" t="t" r="r" b="b"/>
            <a:pathLst>
              <a:path w="664845" h="675005">
                <a:moveTo>
                  <a:pt x="304936" y="0"/>
                </a:moveTo>
                <a:lnTo>
                  <a:pt x="231485" y="20668"/>
                </a:lnTo>
                <a:lnTo>
                  <a:pt x="193074" y="41320"/>
                </a:lnTo>
                <a:lnTo>
                  <a:pt x="132835" y="83326"/>
                </a:lnTo>
                <a:lnTo>
                  <a:pt x="103641" y="108541"/>
                </a:lnTo>
                <a:lnTo>
                  <a:pt x="76302" y="136569"/>
                </a:lnTo>
                <a:lnTo>
                  <a:pt x="51750" y="167415"/>
                </a:lnTo>
                <a:lnTo>
                  <a:pt x="30914" y="201083"/>
                </a:lnTo>
                <a:lnTo>
                  <a:pt x="14723" y="237579"/>
                </a:lnTo>
                <a:lnTo>
                  <a:pt x="4109" y="276906"/>
                </a:lnTo>
                <a:lnTo>
                  <a:pt x="0" y="319069"/>
                </a:lnTo>
                <a:lnTo>
                  <a:pt x="3326" y="364073"/>
                </a:lnTo>
                <a:lnTo>
                  <a:pt x="15018" y="411922"/>
                </a:lnTo>
                <a:lnTo>
                  <a:pt x="36005" y="462620"/>
                </a:lnTo>
                <a:lnTo>
                  <a:pt x="67217" y="516173"/>
                </a:lnTo>
                <a:lnTo>
                  <a:pt x="105132" y="565754"/>
                </a:lnTo>
                <a:lnTo>
                  <a:pt x="144935" y="604847"/>
                </a:lnTo>
                <a:lnTo>
                  <a:pt x="186059" y="634365"/>
                </a:lnTo>
                <a:lnTo>
                  <a:pt x="227933" y="655219"/>
                </a:lnTo>
                <a:lnTo>
                  <a:pt x="269989" y="668321"/>
                </a:lnTo>
                <a:lnTo>
                  <a:pt x="311659" y="674581"/>
                </a:lnTo>
                <a:lnTo>
                  <a:pt x="352373" y="674912"/>
                </a:lnTo>
                <a:lnTo>
                  <a:pt x="391562" y="670225"/>
                </a:lnTo>
                <a:lnTo>
                  <a:pt x="428659" y="661432"/>
                </a:lnTo>
                <a:lnTo>
                  <a:pt x="494297" y="635171"/>
                </a:lnTo>
                <a:lnTo>
                  <a:pt x="544737" y="603422"/>
                </a:lnTo>
                <a:lnTo>
                  <a:pt x="593902" y="560949"/>
                </a:lnTo>
                <a:lnTo>
                  <a:pt x="636322" y="507656"/>
                </a:lnTo>
                <a:lnTo>
                  <a:pt x="661721" y="441262"/>
                </a:lnTo>
                <a:lnTo>
                  <a:pt x="664829" y="402439"/>
                </a:lnTo>
                <a:lnTo>
                  <a:pt x="659829" y="359486"/>
                </a:lnTo>
                <a:lnTo>
                  <a:pt x="645438" y="312117"/>
                </a:lnTo>
                <a:lnTo>
                  <a:pt x="620371" y="260047"/>
                </a:lnTo>
                <a:lnTo>
                  <a:pt x="583345" y="202991"/>
                </a:lnTo>
                <a:lnTo>
                  <a:pt x="537219" y="143302"/>
                </a:lnTo>
                <a:lnTo>
                  <a:pt x="494111" y="94774"/>
                </a:lnTo>
                <a:lnTo>
                  <a:pt x="453481" y="56848"/>
                </a:lnTo>
                <a:lnTo>
                  <a:pt x="414788" y="28967"/>
                </a:lnTo>
                <a:lnTo>
                  <a:pt x="377494" y="10570"/>
                </a:lnTo>
                <a:lnTo>
                  <a:pt x="304936" y="0"/>
                </a:lnTo>
                <a:close/>
              </a:path>
            </a:pathLst>
          </a:custGeom>
          <a:solidFill>
            <a:srgbClr val="3493B9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466039" y="347511"/>
            <a:ext cx="470059" cy="674370"/>
          </a:xfrm>
          <a:custGeom>
            <a:avLst/>
            <a:gdLst/>
            <a:ahLst/>
            <a:cxnLst/>
            <a:rect l="l" t="t" r="r" b="b"/>
            <a:pathLst>
              <a:path w="626745" h="674369">
                <a:moveTo>
                  <a:pt x="304054" y="0"/>
                </a:moveTo>
                <a:lnTo>
                  <a:pt x="264547" y="2370"/>
                </a:lnTo>
                <a:lnTo>
                  <a:pt x="225407" y="10183"/>
                </a:lnTo>
                <a:lnTo>
                  <a:pt x="187167" y="24204"/>
                </a:lnTo>
                <a:lnTo>
                  <a:pt x="150361" y="45198"/>
                </a:lnTo>
                <a:lnTo>
                  <a:pt x="115524" y="73931"/>
                </a:lnTo>
                <a:lnTo>
                  <a:pt x="83188" y="111167"/>
                </a:lnTo>
                <a:lnTo>
                  <a:pt x="53887" y="157671"/>
                </a:lnTo>
                <a:lnTo>
                  <a:pt x="28156" y="214209"/>
                </a:lnTo>
                <a:lnTo>
                  <a:pt x="9480" y="273612"/>
                </a:lnTo>
                <a:lnTo>
                  <a:pt x="451" y="328535"/>
                </a:lnTo>
                <a:lnTo>
                  <a:pt x="0" y="379039"/>
                </a:lnTo>
                <a:lnTo>
                  <a:pt x="7054" y="425183"/>
                </a:lnTo>
                <a:lnTo>
                  <a:pt x="20545" y="467028"/>
                </a:lnTo>
                <a:lnTo>
                  <a:pt x="39402" y="504634"/>
                </a:lnTo>
                <a:lnTo>
                  <a:pt x="62554" y="538062"/>
                </a:lnTo>
                <a:lnTo>
                  <a:pt x="88932" y="567372"/>
                </a:lnTo>
                <a:lnTo>
                  <a:pt x="117465" y="592624"/>
                </a:lnTo>
                <a:lnTo>
                  <a:pt x="176713" y="631197"/>
                </a:lnTo>
                <a:lnTo>
                  <a:pt x="231737" y="654264"/>
                </a:lnTo>
                <a:lnTo>
                  <a:pt x="294818" y="669895"/>
                </a:lnTo>
                <a:lnTo>
                  <a:pt x="328481" y="673905"/>
                </a:lnTo>
                <a:lnTo>
                  <a:pt x="362877" y="673767"/>
                </a:lnTo>
                <a:lnTo>
                  <a:pt x="431825" y="656212"/>
                </a:lnTo>
                <a:lnTo>
                  <a:pt x="465354" y="636377"/>
                </a:lnTo>
                <a:lnTo>
                  <a:pt x="497571" y="607560"/>
                </a:lnTo>
                <a:lnTo>
                  <a:pt x="527966" y="568552"/>
                </a:lnTo>
                <a:lnTo>
                  <a:pt x="556026" y="518144"/>
                </a:lnTo>
                <a:lnTo>
                  <a:pt x="581241" y="455128"/>
                </a:lnTo>
                <a:lnTo>
                  <a:pt x="603512" y="383142"/>
                </a:lnTo>
                <a:lnTo>
                  <a:pt x="618379" y="319999"/>
                </a:lnTo>
                <a:lnTo>
                  <a:pt x="625989" y="264947"/>
                </a:lnTo>
                <a:lnTo>
                  <a:pt x="626488" y="217234"/>
                </a:lnTo>
                <a:lnTo>
                  <a:pt x="620024" y="176109"/>
                </a:lnTo>
                <a:lnTo>
                  <a:pt x="586795" y="110619"/>
                </a:lnTo>
                <a:lnTo>
                  <a:pt x="527478" y="62466"/>
                </a:lnTo>
                <a:lnTo>
                  <a:pt x="488404" y="43013"/>
                </a:lnTo>
                <a:lnTo>
                  <a:pt x="419436" y="17895"/>
                </a:lnTo>
                <a:lnTo>
                  <a:pt x="382032" y="8527"/>
                </a:lnTo>
                <a:lnTo>
                  <a:pt x="343393" y="2307"/>
                </a:lnTo>
                <a:lnTo>
                  <a:pt x="304054" y="0"/>
                </a:lnTo>
                <a:close/>
              </a:path>
            </a:pathLst>
          </a:custGeom>
          <a:solidFill>
            <a:srgbClr val="3493B9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386999" y="400998"/>
            <a:ext cx="503396" cy="522605"/>
          </a:xfrm>
          <a:custGeom>
            <a:avLst/>
            <a:gdLst/>
            <a:ahLst/>
            <a:cxnLst/>
            <a:rect l="l" t="t" r="r" b="b"/>
            <a:pathLst>
              <a:path w="671195" h="522605">
                <a:moveTo>
                  <a:pt x="383181" y="0"/>
                </a:moveTo>
                <a:lnTo>
                  <a:pt x="330700" y="7701"/>
                </a:lnTo>
                <a:lnTo>
                  <a:pt x="279878" y="22999"/>
                </a:lnTo>
                <a:lnTo>
                  <a:pt x="231342" y="44706"/>
                </a:lnTo>
                <a:lnTo>
                  <a:pt x="185719" y="71632"/>
                </a:lnTo>
                <a:lnTo>
                  <a:pt x="143639" y="102589"/>
                </a:lnTo>
                <a:lnTo>
                  <a:pt x="105728" y="136387"/>
                </a:lnTo>
                <a:lnTo>
                  <a:pt x="72615" y="171838"/>
                </a:lnTo>
                <a:lnTo>
                  <a:pt x="44928" y="207753"/>
                </a:lnTo>
                <a:lnTo>
                  <a:pt x="23294" y="242943"/>
                </a:lnTo>
                <a:lnTo>
                  <a:pt x="700" y="306392"/>
                </a:lnTo>
                <a:lnTo>
                  <a:pt x="0" y="334768"/>
                </a:lnTo>
                <a:lnTo>
                  <a:pt x="5847" y="363020"/>
                </a:lnTo>
                <a:lnTo>
                  <a:pt x="37643" y="416985"/>
                </a:lnTo>
                <a:lnTo>
                  <a:pt x="96998" y="463951"/>
                </a:lnTo>
                <a:lnTo>
                  <a:pt x="137294" y="483455"/>
                </a:lnTo>
                <a:lnTo>
                  <a:pt x="184822" y="499583"/>
                </a:lnTo>
                <a:lnTo>
                  <a:pt x="239694" y="511793"/>
                </a:lnTo>
                <a:lnTo>
                  <a:pt x="302025" y="519543"/>
                </a:lnTo>
                <a:lnTo>
                  <a:pt x="371929" y="522292"/>
                </a:lnTo>
                <a:lnTo>
                  <a:pt x="449518" y="519498"/>
                </a:lnTo>
                <a:lnTo>
                  <a:pt x="493467" y="513231"/>
                </a:lnTo>
                <a:lnTo>
                  <a:pt x="532276" y="501521"/>
                </a:lnTo>
                <a:lnTo>
                  <a:pt x="594907" y="464046"/>
                </a:lnTo>
                <a:lnTo>
                  <a:pt x="638275" y="411624"/>
                </a:lnTo>
                <a:lnTo>
                  <a:pt x="663243" y="348801"/>
                </a:lnTo>
                <a:lnTo>
                  <a:pt x="670676" y="280127"/>
                </a:lnTo>
                <a:lnTo>
                  <a:pt x="668086" y="245017"/>
                </a:lnTo>
                <a:lnTo>
                  <a:pt x="650833" y="176094"/>
                </a:lnTo>
                <a:lnTo>
                  <a:pt x="618204" y="112691"/>
                </a:lnTo>
                <a:lnTo>
                  <a:pt x="571062" y="59356"/>
                </a:lnTo>
                <a:lnTo>
                  <a:pt x="510269" y="20637"/>
                </a:lnTo>
                <a:lnTo>
                  <a:pt x="436691" y="1084"/>
                </a:lnTo>
                <a:lnTo>
                  <a:pt x="383181" y="0"/>
                </a:lnTo>
                <a:close/>
              </a:path>
            </a:pathLst>
          </a:custGeom>
          <a:solidFill>
            <a:srgbClr val="3493B9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543181" cy="300634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6486" y="2426844"/>
            <a:ext cx="2798372" cy="4431157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3973" y="1519937"/>
            <a:ext cx="8356092" cy="381800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12.09.25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560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106411" y="1973468"/>
            <a:ext cx="2731647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12.09.25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9018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Образец заголовка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1600201"/>
            <a:ext cx="8042276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12.09.25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pPr marL="102870">
                <a:lnSpc>
                  <a:spcPts val="1240"/>
                </a:lnSpc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9250" indent="-349250" algn="l" defTabSz="914400" rtl="0" eaLnBrk="1" latinLnBrk="0" hangingPunct="1">
        <a:spcBef>
          <a:spcPts val="2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96837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63650" indent="-295275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622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9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0">
              <a:lnSpc>
                <a:spcPct val="100000"/>
              </a:lnSpc>
              <a:spcBef>
                <a:spcPts val="105"/>
              </a:spcBef>
            </a:pPr>
            <a:r>
              <a:rPr spc="-434" dirty="0"/>
              <a:t>NORMALIZATION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1000" y="1752600"/>
            <a:ext cx="8305800" cy="23980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100"/>
              </a:spcBef>
            </a:pPr>
            <a:r>
              <a:rPr sz="2000" spc="65" dirty="0">
                <a:solidFill>
                  <a:srgbClr val="3493B9"/>
                </a:solidFill>
                <a:latin typeface="Microsoft Sans Serif"/>
                <a:cs typeface="Microsoft Sans Serif"/>
              </a:rPr>
              <a:t>Normalization</a:t>
            </a:r>
            <a:r>
              <a:rPr sz="2000" spc="325" dirty="0">
                <a:solidFill>
                  <a:srgbClr val="3493B9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320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325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database</a:t>
            </a:r>
            <a:r>
              <a:rPr sz="2000" spc="320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design</a:t>
            </a:r>
            <a:r>
              <a:rPr sz="2000" spc="315" dirty="0">
                <a:latin typeface="Microsoft Sans Serif"/>
                <a:cs typeface="Microsoft Sans Serif"/>
              </a:rPr>
              <a:t>  </a:t>
            </a:r>
            <a:r>
              <a:rPr sz="2000" spc="65" dirty="0">
                <a:latin typeface="Microsoft Sans Serif"/>
                <a:cs typeface="Microsoft Sans Serif"/>
              </a:rPr>
              <a:t>technique</a:t>
            </a:r>
            <a:r>
              <a:rPr sz="2000" spc="315" dirty="0">
                <a:latin typeface="Microsoft Sans Serif"/>
                <a:cs typeface="Microsoft Sans Serif"/>
              </a:rPr>
              <a:t>  </a:t>
            </a:r>
            <a:r>
              <a:rPr sz="2000" spc="150" dirty="0">
                <a:latin typeface="Microsoft Sans Serif"/>
                <a:cs typeface="Microsoft Sans Serif"/>
              </a:rPr>
              <a:t>that </a:t>
            </a:r>
            <a:r>
              <a:rPr sz="2000" dirty="0">
                <a:latin typeface="Microsoft Sans Serif"/>
                <a:cs typeface="Microsoft Sans Serif"/>
              </a:rPr>
              <a:t>organizes</a:t>
            </a:r>
            <a:r>
              <a:rPr sz="2000" spc="490" dirty="0">
                <a:latin typeface="Microsoft Sans Serif"/>
                <a:cs typeface="Microsoft Sans Serif"/>
              </a:rPr>
              <a:t> </a:t>
            </a:r>
            <a:r>
              <a:rPr sz="2000" spc="55" dirty="0">
                <a:latin typeface="Microsoft Sans Serif"/>
                <a:cs typeface="Microsoft Sans Serif"/>
              </a:rPr>
              <a:t>tables</a:t>
            </a:r>
            <a:r>
              <a:rPr sz="2000" spc="490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in</a:t>
            </a:r>
            <a:r>
              <a:rPr sz="2000" spc="47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4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manner</a:t>
            </a:r>
            <a:r>
              <a:rPr sz="2000" spc="495" dirty="0">
                <a:latin typeface="Microsoft Sans Serif"/>
                <a:cs typeface="Microsoft Sans Serif"/>
              </a:rPr>
              <a:t> </a:t>
            </a:r>
            <a:r>
              <a:rPr sz="2000" spc="170" dirty="0">
                <a:latin typeface="Microsoft Sans Serif"/>
                <a:cs typeface="Microsoft Sans Serif"/>
              </a:rPr>
              <a:t>that</a:t>
            </a:r>
            <a:r>
              <a:rPr sz="2000" spc="484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reduces</a:t>
            </a:r>
            <a:r>
              <a:rPr sz="2000" spc="484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redundancy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7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dependency</a:t>
            </a:r>
            <a:r>
              <a:rPr sz="2000" spc="765" dirty="0">
                <a:latin typeface="Microsoft Sans Serif"/>
                <a:cs typeface="Microsoft Sans Serif"/>
              </a:rPr>
              <a:t> </a:t>
            </a:r>
            <a:r>
              <a:rPr sz="2000" spc="225" dirty="0">
                <a:latin typeface="Microsoft Sans Serif"/>
                <a:cs typeface="Microsoft Sans Serif"/>
              </a:rPr>
              <a:t>of</a:t>
            </a:r>
            <a:r>
              <a:rPr sz="2000" spc="7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data.</a:t>
            </a:r>
            <a:r>
              <a:rPr sz="2000" spc="770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Normalization</a:t>
            </a:r>
            <a:r>
              <a:rPr sz="2000" spc="7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divides</a:t>
            </a:r>
            <a:r>
              <a:rPr sz="2000" spc="755" dirty="0">
                <a:latin typeface="Microsoft Sans Serif"/>
                <a:cs typeface="Microsoft Sans Serif"/>
              </a:rPr>
              <a:t> </a:t>
            </a:r>
            <a:r>
              <a:rPr sz="2000" spc="60" dirty="0">
                <a:latin typeface="Microsoft Sans Serif"/>
                <a:cs typeface="Microsoft Sans Serif"/>
              </a:rPr>
              <a:t>larger </a:t>
            </a:r>
            <a:r>
              <a:rPr sz="2000" spc="55" dirty="0">
                <a:latin typeface="Microsoft Sans Serif"/>
                <a:cs typeface="Microsoft Sans Serif"/>
              </a:rPr>
              <a:t>tables</a:t>
            </a:r>
            <a:r>
              <a:rPr sz="2000" spc="635" dirty="0">
                <a:latin typeface="Microsoft Sans Serif"/>
                <a:cs typeface="Microsoft Sans Serif"/>
              </a:rPr>
              <a:t>  </a:t>
            </a:r>
            <a:r>
              <a:rPr sz="2000" spc="150" dirty="0">
                <a:latin typeface="Microsoft Sans Serif"/>
                <a:cs typeface="Microsoft Sans Serif"/>
              </a:rPr>
              <a:t>into</a:t>
            </a:r>
            <a:r>
              <a:rPr sz="2000" spc="640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smaller</a:t>
            </a:r>
            <a:r>
              <a:rPr sz="2000" spc="630" dirty="0">
                <a:latin typeface="Microsoft Sans Serif"/>
                <a:cs typeface="Microsoft Sans Serif"/>
              </a:rPr>
              <a:t>  </a:t>
            </a:r>
            <a:r>
              <a:rPr sz="2000" spc="55" dirty="0">
                <a:latin typeface="Microsoft Sans Serif"/>
                <a:cs typeface="Microsoft Sans Serif"/>
              </a:rPr>
              <a:t>tables</a:t>
            </a:r>
            <a:r>
              <a:rPr sz="2000" spc="640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635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links</a:t>
            </a:r>
            <a:r>
              <a:rPr sz="2000" spc="640" dirty="0">
                <a:latin typeface="Microsoft Sans Serif"/>
                <a:cs typeface="Microsoft Sans Serif"/>
              </a:rPr>
              <a:t>  </a:t>
            </a:r>
            <a:r>
              <a:rPr sz="2000" spc="125" dirty="0">
                <a:latin typeface="Microsoft Sans Serif"/>
                <a:cs typeface="Microsoft Sans Serif"/>
              </a:rPr>
              <a:t>them</a:t>
            </a:r>
            <a:r>
              <a:rPr sz="2000" spc="635" dirty="0">
                <a:latin typeface="Microsoft Sans Serif"/>
                <a:cs typeface="Microsoft Sans Serif"/>
              </a:rPr>
              <a:t>  </a:t>
            </a:r>
            <a:r>
              <a:rPr sz="2000" spc="-10" dirty="0">
                <a:latin typeface="Microsoft Sans Serif"/>
                <a:cs typeface="Microsoft Sans Serif"/>
              </a:rPr>
              <a:t>using </a:t>
            </a:r>
            <a:r>
              <a:rPr sz="2000" dirty="0">
                <a:latin typeface="Microsoft Sans Serif"/>
                <a:cs typeface="Microsoft Sans Serif"/>
              </a:rPr>
              <a:t>relationships.</a:t>
            </a:r>
            <a:r>
              <a:rPr sz="2000" spc="509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520" dirty="0">
                <a:latin typeface="Microsoft Sans Serif"/>
                <a:cs typeface="Microsoft Sans Serif"/>
              </a:rPr>
              <a:t>  </a:t>
            </a:r>
            <a:r>
              <a:rPr sz="2000" spc="55" dirty="0">
                <a:latin typeface="Microsoft Sans Serif"/>
                <a:cs typeface="Microsoft Sans Serif"/>
              </a:rPr>
              <a:t>purpose</a:t>
            </a:r>
            <a:r>
              <a:rPr sz="2000" spc="515" dirty="0">
                <a:latin typeface="Microsoft Sans Serif"/>
                <a:cs typeface="Microsoft Sans Serif"/>
              </a:rPr>
              <a:t>  </a:t>
            </a:r>
            <a:r>
              <a:rPr sz="2000" spc="225" dirty="0">
                <a:latin typeface="Microsoft Sans Serif"/>
                <a:cs typeface="Microsoft Sans Serif"/>
              </a:rPr>
              <a:t>of</a:t>
            </a:r>
            <a:r>
              <a:rPr sz="2000" spc="515" dirty="0">
                <a:latin typeface="Microsoft Sans Serif"/>
                <a:cs typeface="Microsoft Sans Serif"/>
              </a:rPr>
              <a:t>  </a:t>
            </a:r>
            <a:r>
              <a:rPr sz="2000" spc="65" dirty="0">
                <a:latin typeface="Microsoft Sans Serif"/>
                <a:cs typeface="Microsoft Sans Serif"/>
              </a:rPr>
              <a:t>Normalization</a:t>
            </a:r>
            <a:r>
              <a:rPr sz="2000" spc="520" dirty="0">
                <a:latin typeface="Microsoft Sans Serif"/>
                <a:cs typeface="Microsoft Sans Serif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505" dirty="0">
                <a:latin typeface="Microsoft Sans Serif"/>
                <a:cs typeface="Microsoft Sans Serif"/>
              </a:rPr>
              <a:t>  </a:t>
            </a:r>
            <a:r>
              <a:rPr sz="2000" spc="220" dirty="0">
                <a:latin typeface="Microsoft Sans Serif"/>
                <a:cs typeface="Microsoft Sans Serif"/>
              </a:rPr>
              <a:t>to </a:t>
            </a:r>
            <a:r>
              <a:rPr sz="2000" spc="80" dirty="0">
                <a:latin typeface="Microsoft Sans Serif"/>
                <a:cs typeface="Microsoft Sans Serif"/>
              </a:rPr>
              <a:t>eliminate</a:t>
            </a:r>
            <a:r>
              <a:rPr sz="2000" spc="540" dirty="0">
                <a:latin typeface="Microsoft Sans Serif"/>
                <a:cs typeface="Microsoft Sans Serif"/>
              </a:rPr>
              <a:t> </a:t>
            </a:r>
            <a:r>
              <a:rPr sz="2000" spc="85" dirty="0">
                <a:latin typeface="Microsoft Sans Serif"/>
                <a:cs typeface="Microsoft Sans Serif"/>
              </a:rPr>
              <a:t>redundant</a:t>
            </a:r>
            <a:r>
              <a:rPr sz="2000" spc="5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(useless)</a:t>
            </a:r>
            <a:r>
              <a:rPr sz="2000" spc="525" dirty="0">
                <a:latin typeface="Microsoft Sans Serif"/>
                <a:cs typeface="Microsoft Sans Serif"/>
              </a:rPr>
              <a:t> </a:t>
            </a:r>
            <a:r>
              <a:rPr sz="2000" spc="60" dirty="0">
                <a:latin typeface="Microsoft Sans Serif"/>
                <a:cs typeface="Microsoft Sans Serif"/>
              </a:rPr>
              <a:t>data</a:t>
            </a:r>
            <a:r>
              <a:rPr sz="2000" spc="5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5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ensure</a:t>
            </a:r>
            <a:r>
              <a:rPr sz="2000" spc="540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data</a:t>
            </a:r>
            <a:r>
              <a:rPr sz="2000" spc="54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is </a:t>
            </a:r>
            <a:r>
              <a:rPr sz="2000" spc="100" dirty="0">
                <a:latin typeface="Microsoft Sans Serif"/>
                <a:cs typeface="Microsoft Sans Serif"/>
              </a:rPr>
              <a:t>stored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logically.</a:t>
            </a:r>
            <a:endParaRPr sz="20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267662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7975">
              <a:lnSpc>
                <a:spcPct val="100000"/>
              </a:lnSpc>
              <a:spcBef>
                <a:spcPts val="105"/>
              </a:spcBef>
            </a:pPr>
            <a:r>
              <a:rPr spc="-660" dirty="0">
                <a:latin typeface="+mn-lt"/>
              </a:rPr>
              <a:t>BENEFITS</a:t>
            </a:r>
            <a:r>
              <a:rPr spc="-130" dirty="0"/>
              <a:t> </a:t>
            </a:r>
            <a:r>
              <a:rPr spc="-425" dirty="0"/>
              <a:t>OF</a:t>
            </a:r>
            <a:r>
              <a:rPr spc="-114" dirty="0"/>
              <a:t> </a:t>
            </a:r>
            <a:r>
              <a:rPr spc="-440" dirty="0"/>
              <a:t>NORMALIZATION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06711" y="1406709"/>
            <a:ext cx="5903690" cy="4076757"/>
          </a:xfrm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2025"/>
              </a:spcBef>
              <a:buFont typeface="Arial MT"/>
              <a:buChar char="•"/>
              <a:tabLst>
                <a:tab pos="298450" algn="l"/>
              </a:tabLst>
            </a:pPr>
            <a:r>
              <a:rPr sz="2400" spc="80" dirty="0">
                <a:latin typeface="Microsoft Sans Serif"/>
                <a:cs typeface="Microsoft Sans Serif"/>
              </a:rPr>
              <a:t>improved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data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integrity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(no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85" dirty="0">
                <a:latin typeface="Microsoft Sans Serif"/>
                <a:cs typeface="Microsoft Sans Serif"/>
              </a:rPr>
              <a:t>redundant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data)</a:t>
            </a:r>
            <a:endParaRPr sz="2400" dirty="0">
              <a:latin typeface="Microsoft Sans Serif"/>
              <a:cs typeface="Microsoft Sans Serif"/>
            </a:endParaRPr>
          </a:p>
          <a:p>
            <a:pPr marL="298450" indent="-285750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298450" algn="l"/>
              </a:tabLst>
            </a:pPr>
            <a:r>
              <a:rPr sz="2400" dirty="0">
                <a:latin typeface="Microsoft Sans Serif"/>
                <a:cs typeface="Microsoft Sans Serif"/>
              </a:rPr>
              <a:t>smaller</a:t>
            </a:r>
            <a:r>
              <a:rPr sz="2400" spc="18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databases</a:t>
            </a:r>
            <a:endParaRPr sz="2400" dirty="0">
              <a:latin typeface="Microsoft Sans Serif"/>
              <a:cs typeface="Microsoft Sans Serif"/>
            </a:endParaRPr>
          </a:p>
          <a:p>
            <a:pPr marL="298450" indent="-285750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298450" algn="l"/>
              </a:tabLst>
            </a:pPr>
            <a:r>
              <a:rPr sz="2400" spc="170" dirty="0">
                <a:latin typeface="Microsoft Sans Serif"/>
                <a:cs typeface="Microsoft Sans Serif"/>
              </a:rPr>
              <a:t>better</a:t>
            </a:r>
            <a:r>
              <a:rPr sz="2400" spc="-110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performance</a:t>
            </a:r>
            <a:endParaRPr sz="2400" dirty="0">
              <a:latin typeface="Microsoft Sans Serif"/>
              <a:cs typeface="Microsoft Sans Serif"/>
            </a:endParaRPr>
          </a:p>
          <a:p>
            <a:pPr marL="298450" indent="-285750">
              <a:lnSpc>
                <a:spcPct val="100000"/>
              </a:lnSpc>
              <a:spcBef>
                <a:spcPts val="1925"/>
              </a:spcBef>
              <a:buFont typeface="Arial MT"/>
              <a:buChar char="•"/>
              <a:tabLst>
                <a:tab pos="298450" algn="l"/>
              </a:tabLst>
            </a:pPr>
            <a:r>
              <a:rPr sz="2400" spc="135" dirty="0">
                <a:latin typeface="Microsoft Sans Serif"/>
                <a:cs typeface="Microsoft Sans Serif"/>
              </a:rPr>
              <a:t>fewer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indexes</a:t>
            </a:r>
            <a:endParaRPr sz="2400" dirty="0">
              <a:latin typeface="Microsoft Sans Serif"/>
              <a:cs typeface="Microsoft Sans Serif"/>
            </a:endParaRPr>
          </a:p>
          <a:p>
            <a:pPr marL="298450" indent="-285750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298450" algn="l"/>
              </a:tabLst>
            </a:pPr>
            <a:r>
              <a:rPr sz="2400" spc="-55" dirty="0">
                <a:latin typeface="Microsoft Sans Serif"/>
                <a:cs typeface="Microsoft Sans Serif"/>
              </a:rPr>
              <a:t>less</a:t>
            </a:r>
            <a:r>
              <a:rPr sz="2400" spc="-140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management</a:t>
            </a:r>
            <a:endParaRPr sz="2400" dirty="0">
              <a:latin typeface="Microsoft Sans Serif"/>
              <a:cs typeface="Microsoft Sans Serif"/>
            </a:endParaRPr>
          </a:p>
          <a:p>
            <a:pPr marL="298450" indent="-285750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298450" algn="l"/>
              </a:tabLst>
            </a:pPr>
            <a:r>
              <a:rPr sz="2400" spc="70" dirty="0">
                <a:latin typeface="Microsoft Sans Serif"/>
                <a:cs typeface="Microsoft Sans Serif"/>
              </a:rPr>
              <a:t>prevents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data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modification</a:t>
            </a:r>
            <a:r>
              <a:rPr sz="2400" spc="-1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anomalies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4065116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0">
              <a:lnSpc>
                <a:spcPct val="100000"/>
              </a:lnSpc>
              <a:spcBef>
                <a:spcPts val="105"/>
              </a:spcBef>
            </a:pPr>
            <a:r>
              <a:rPr spc="-434" dirty="0"/>
              <a:t>NORMALIZATION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95672" y="1356694"/>
            <a:ext cx="3263741" cy="506549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600" b="1" i="1" spc="-30" dirty="0">
                <a:latin typeface="Arial"/>
                <a:cs typeface="Arial"/>
              </a:rPr>
              <a:t>There</a:t>
            </a:r>
            <a:r>
              <a:rPr sz="1600" b="1" i="1" spc="-90" dirty="0">
                <a:latin typeface="Arial"/>
                <a:cs typeface="Arial"/>
              </a:rPr>
              <a:t> </a:t>
            </a:r>
            <a:r>
              <a:rPr sz="1600" b="1" i="1" spc="-70" dirty="0">
                <a:latin typeface="Arial"/>
                <a:cs typeface="Arial"/>
              </a:rPr>
              <a:t>is</a:t>
            </a:r>
            <a:r>
              <a:rPr sz="1600" b="1" i="1" spc="-75" dirty="0">
                <a:latin typeface="Arial"/>
                <a:cs typeface="Arial"/>
              </a:rPr>
              <a:t> </a:t>
            </a:r>
            <a:r>
              <a:rPr sz="1600" b="1" i="1" spc="55" dirty="0">
                <a:latin typeface="Arial"/>
                <a:cs typeface="Arial"/>
              </a:rPr>
              <a:t>a</a:t>
            </a:r>
            <a:r>
              <a:rPr sz="1600" b="1" i="1" spc="-75" dirty="0">
                <a:latin typeface="Arial"/>
                <a:cs typeface="Arial"/>
              </a:rPr>
              <a:t> </a:t>
            </a:r>
            <a:r>
              <a:rPr sz="1600" b="1" i="1" spc="-90" dirty="0">
                <a:latin typeface="Arial"/>
                <a:cs typeface="Arial"/>
              </a:rPr>
              <a:t>sequence </a:t>
            </a:r>
            <a:r>
              <a:rPr sz="1600" b="1" i="1" dirty="0">
                <a:latin typeface="Arial"/>
                <a:cs typeface="Arial"/>
              </a:rPr>
              <a:t>to</a:t>
            </a:r>
            <a:r>
              <a:rPr sz="1600" b="1" i="1" spc="-55" dirty="0">
                <a:latin typeface="Arial"/>
                <a:cs typeface="Arial"/>
              </a:rPr>
              <a:t> </a:t>
            </a:r>
            <a:r>
              <a:rPr sz="1600" b="1" i="1" spc="-10" dirty="0">
                <a:latin typeface="Arial"/>
                <a:cs typeface="Arial"/>
              </a:rPr>
              <a:t>normal</a:t>
            </a:r>
            <a:r>
              <a:rPr sz="1600" b="1" i="1" spc="-105" dirty="0">
                <a:latin typeface="Arial"/>
                <a:cs typeface="Arial"/>
              </a:rPr>
              <a:t> </a:t>
            </a:r>
            <a:r>
              <a:rPr sz="1600" b="1" i="1" spc="-10" dirty="0">
                <a:latin typeface="Arial"/>
                <a:cs typeface="Arial"/>
              </a:rPr>
              <a:t>forms: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i="1" spc="-85" dirty="0">
                <a:latin typeface="Arial"/>
                <a:cs typeface="Arial"/>
              </a:rPr>
              <a:t>1NF</a:t>
            </a:r>
            <a:r>
              <a:rPr sz="1600" i="1" spc="-60" dirty="0">
                <a:latin typeface="Arial"/>
                <a:cs typeface="Arial"/>
              </a:rPr>
              <a:t> </a:t>
            </a:r>
            <a:r>
              <a:rPr sz="1600" i="1" spc="-70" dirty="0">
                <a:latin typeface="Arial"/>
                <a:cs typeface="Arial"/>
              </a:rPr>
              <a:t>is</a:t>
            </a:r>
            <a:r>
              <a:rPr sz="1600" i="1" spc="-40" dirty="0">
                <a:latin typeface="Arial"/>
                <a:cs typeface="Arial"/>
              </a:rPr>
              <a:t> considered </a:t>
            </a:r>
            <a:r>
              <a:rPr sz="1600" i="1" dirty="0">
                <a:latin typeface="Arial"/>
                <a:cs typeface="Arial"/>
              </a:rPr>
              <a:t>the</a:t>
            </a:r>
            <a:r>
              <a:rPr sz="1600" i="1" spc="-60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weakest,</a:t>
            </a:r>
            <a:endParaRPr sz="1600" dirty="0">
              <a:latin typeface="Arial"/>
              <a:cs typeface="Arial"/>
            </a:endParaRPr>
          </a:p>
          <a:p>
            <a:pPr marL="12700" marR="1019810">
              <a:lnSpc>
                <a:spcPct val="150000"/>
              </a:lnSpc>
            </a:pPr>
            <a:r>
              <a:rPr sz="1600" i="1" spc="-85" dirty="0">
                <a:latin typeface="Arial"/>
                <a:cs typeface="Arial"/>
              </a:rPr>
              <a:t>2NF</a:t>
            </a:r>
            <a:r>
              <a:rPr sz="1600" i="1" spc="-30" dirty="0">
                <a:latin typeface="Arial"/>
                <a:cs typeface="Arial"/>
              </a:rPr>
              <a:t> </a:t>
            </a:r>
            <a:r>
              <a:rPr sz="1600" i="1" spc="-70" dirty="0">
                <a:latin typeface="Arial"/>
                <a:cs typeface="Arial"/>
              </a:rPr>
              <a:t>is</a:t>
            </a:r>
            <a:r>
              <a:rPr sz="1600" i="1" spc="-2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stronger</a:t>
            </a:r>
            <a:r>
              <a:rPr sz="1600" i="1" spc="-2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than</a:t>
            </a:r>
            <a:r>
              <a:rPr sz="1600" i="1" spc="-40" dirty="0">
                <a:latin typeface="Arial"/>
                <a:cs typeface="Arial"/>
              </a:rPr>
              <a:t> </a:t>
            </a:r>
            <a:r>
              <a:rPr sz="1600" i="1" spc="-20" dirty="0">
                <a:latin typeface="Arial"/>
                <a:cs typeface="Arial"/>
              </a:rPr>
              <a:t>1NF, </a:t>
            </a:r>
            <a:r>
              <a:rPr sz="1600" i="1" spc="-85" dirty="0">
                <a:latin typeface="Arial"/>
                <a:cs typeface="Arial"/>
              </a:rPr>
              <a:t>3NF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i="1" spc="-70" dirty="0">
                <a:latin typeface="Arial"/>
                <a:cs typeface="Arial"/>
              </a:rPr>
              <a:t>is</a:t>
            </a:r>
            <a:r>
              <a:rPr sz="1600" i="1" spc="-3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stronger</a:t>
            </a:r>
            <a:r>
              <a:rPr sz="1600" i="1" spc="-2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than</a:t>
            </a:r>
            <a:r>
              <a:rPr sz="1600" i="1" spc="-55" dirty="0">
                <a:latin typeface="Arial"/>
                <a:cs typeface="Arial"/>
              </a:rPr>
              <a:t> </a:t>
            </a:r>
            <a:r>
              <a:rPr sz="1600" i="1" spc="-75" dirty="0">
                <a:latin typeface="Arial"/>
                <a:cs typeface="Arial"/>
              </a:rPr>
              <a:t>2NF,</a:t>
            </a:r>
            <a:r>
              <a:rPr sz="1600" i="1" spc="-50" dirty="0">
                <a:latin typeface="Arial"/>
                <a:cs typeface="Arial"/>
              </a:rPr>
              <a:t> </a:t>
            </a:r>
            <a:r>
              <a:rPr sz="1600" i="1" spc="-25" dirty="0">
                <a:latin typeface="Arial"/>
                <a:cs typeface="Arial"/>
              </a:rPr>
              <a:t>and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i="1" spc="-160" dirty="0">
                <a:latin typeface="Arial"/>
                <a:cs typeface="Arial"/>
              </a:rPr>
              <a:t>BCNF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i="1" spc="-70" dirty="0">
                <a:latin typeface="Arial"/>
                <a:cs typeface="Arial"/>
              </a:rPr>
              <a:t>is</a:t>
            </a:r>
            <a:r>
              <a:rPr sz="1600" i="1" spc="-40" dirty="0">
                <a:latin typeface="Arial"/>
                <a:cs typeface="Arial"/>
              </a:rPr>
              <a:t> considered</a:t>
            </a:r>
            <a:r>
              <a:rPr sz="1600" i="1" spc="-5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the</a:t>
            </a:r>
            <a:r>
              <a:rPr sz="1600" i="1" spc="-60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strongest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i="1" spc="-10" dirty="0">
                <a:latin typeface="Arial"/>
                <a:cs typeface="Arial"/>
              </a:rPr>
              <a:t>Also,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i="1" spc="-40" dirty="0">
                <a:latin typeface="Arial"/>
                <a:cs typeface="Arial"/>
              </a:rPr>
              <a:t>any</a:t>
            </a:r>
            <a:r>
              <a:rPr sz="1600" i="1" spc="-6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relation</a:t>
            </a:r>
            <a:r>
              <a:rPr sz="1600" i="1" spc="-60" dirty="0">
                <a:latin typeface="Arial"/>
                <a:cs typeface="Arial"/>
              </a:rPr>
              <a:t> </a:t>
            </a:r>
            <a:r>
              <a:rPr sz="1600" i="1" spc="105" dirty="0">
                <a:latin typeface="Arial"/>
                <a:cs typeface="Arial"/>
              </a:rPr>
              <a:t>that</a:t>
            </a:r>
            <a:r>
              <a:rPr sz="1600" i="1" spc="-65" dirty="0">
                <a:latin typeface="Arial"/>
                <a:cs typeface="Arial"/>
              </a:rPr>
              <a:t> </a:t>
            </a:r>
            <a:r>
              <a:rPr sz="1600" i="1" spc="-70" dirty="0">
                <a:latin typeface="Arial"/>
                <a:cs typeface="Arial"/>
              </a:rPr>
              <a:t>is</a:t>
            </a:r>
            <a:r>
              <a:rPr sz="1600" i="1" spc="-3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in</a:t>
            </a:r>
            <a:r>
              <a:rPr sz="1600" i="1" spc="-65" dirty="0">
                <a:latin typeface="Arial"/>
                <a:cs typeface="Arial"/>
              </a:rPr>
              <a:t> </a:t>
            </a:r>
            <a:r>
              <a:rPr sz="1600" i="1" spc="-135" dirty="0">
                <a:latin typeface="Arial"/>
                <a:cs typeface="Arial"/>
              </a:rPr>
              <a:t>BCNF,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i="1" spc="-70" dirty="0">
                <a:latin typeface="Arial"/>
                <a:cs typeface="Arial"/>
              </a:rPr>
              <a:t>is</a:t>
            </a:r>
            <a:r>
              <a:rPr sz="1600" i="1" spc="-40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in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i="1" spc="-20" dirty="0">
                <a:latin typeface="Arial"/>
                <a:cs typeface="Arial"/>
              </a:rPr>
              <a:t>3NF;</a:t>
            </a:r>
            <a:endParaRPr sz="1600" dirty="0">
              <a:latin typeface="Arial"/>
              <a:cs typeface="Arial"/>
            </a:endParaRPr>
          </a:p>
          <a:p>
            <a:pPr marL="12700" marR="681355">
              <a:lnSpc>
                <a:spcPct val="150000"/>
              </a:lnSpc>
            </a:pPr>
            <a:r>
              <a:rPr sz="1600" i="1" spc="-40" dirty="0">
                <a:latin typeface="Arial"/>
                <a:cs typeface="Arial"/>
              </a:rPr>
              <a:t>any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relation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in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i="1" spc="-85" dirty="0">
                <a:latin typeface="Arial"/>
                <a:cs typeface="Arial"/>
              </a:rPr>
              <a:t>3NF</a:t>
            </a:r>
            <a:r>
              <a:rPr sz="1600" i="1" spc="-30" dirty="0">
                <a:latin typeface="Arial"/>
                <a:cs typeface="Arial"/>
              </a:rPr>
              <a:t> </a:t>
            </a:r>
            <a:r>
              <a:rPr sz="1600" i="1" spc="-70" dirty="0">
                <a:latin typeface="Arial"/>
                <a:cs typeface="Arial"/>
              </a:rPr>
              <a:t>is</a:t>
            </a:r>
            <a:r>
              <a:rPr sz="1600" i="1" spc="-2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in</a:t>
            </a:r>
            <a:r>
              <a:rPr sz="1600" i="1" spc="-25" dirty="0">
                <a:latin typeface="Arial"/>
                <a:cs typeface="Arial"/>
              </a:rPr>
              <a:t> </a:t>
            </a:r>
            <a:r>
              <a:rPr sz="1600" i="1" spc="-75" dirty="0">
                <a:latin typeface="Arial"/>
                <a:cs typeface="Arial"/>
              </a:rPr>
              <a:t>2NF;</a:t>
            </a:r>
            <a:r>
              <a:rPr sz="1600" i="1" spc="-50" dirty="0">
                <a:latin typeface="Arial"/>
                <a:cs typeface="Arial"/>
              </a:rPr>
              <a:t> </a:t>
            </a:r>
            <a:r>
              <a:rPr sz="1600" i="1" spc="-25" dirty="0">
                <a:latin typeface="Arial"/>
                <a:cs typeface="Arial"/>
              </a:rPr>
              <a:t>and </a:t>
            </a:r>
            <a:r>
              <a:rPr sz="1600" i="1" spc="-40" dirty="0">
                <a:latin typeface="Arial"/>
                <a:cs typeface="Arial"/>
              </a:rPr>
              <a:t>any </a:t>
            </a:r>
            <a:r>
              <a:rPr sz="1600" i="1" dirty="0">
                <a:latin typeface="Arial"/>
                <a:cs typeface="Arial"/>
              </a:rPr>
              <a:t>relation</a:t>
            </a:r>
            <a:r>
              <a:rPr sz="1600" i="1" spc="-3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in</a:t>
            </a:r>
            <a:r>
              <a:rPr sz="1600" i="1" spc="-35" dirty="0">
                <a:latin typeface="Arial"/>
                <a:cs typeface="Arial"/>
              </a:rPr>
              <a:t> </a:t>
            </a:r>
            <a:r>
              <a:rPr sz="1600" i="1" spc="-85" dirty="0">
                <a:latin typeface="Arial"/>
                <a:cs typeface="Arial"/>
              </a:rPr>
              <a:t>2NF</a:t>
            </a:r>
            <a:r>
              <a:rPr sz="1600" i="1" spc="-20" dirty="0">
                <a:latin typeface="Arial"/>
                <a:cs typeface="Arial"/>
              </a:rPr>
              <a:t> </a:t>
            </a:r>
            <a:r>
              <a:rPr sz="1600" i="1" spc="-70" dirty="0">
                <a:latin typeface="Arial"/>
                <a:cs typeface="Arial"/>
              </a:rPr>
              <a:t>is</a:t>
            </a:r>
            <a:r>
              <a:rPr sz="1600" i="1" spc="-15" dirty="0">
                <a:latin typeface="Arial"/>
                <a:cs typeface="Arial"/>
              </a:rPr>
              <a:t> </a:t>
            </a:r>
            <a:r>
              <a:rPr sz="1600" i="1" dirty="0">
                <a:latin typeface="Arial"/>
                <a:cs typeface="Arial"/>
              </a:rPr>
              <a:t>in</a:t>
            </a:r>
            <a:r>
              <a:rPr sz="1600" i="1" spc="-20" dirty="0">
                <a:latin typeface="Arial"/>
                <a:cs typeface="Arial"/>
              </a:rPr>
              <a:t> 1NF.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266" y="1592986"/>
            <a:ext cx="3612452" cy="441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069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563" y="2062099"/>
            <a:ext cx="7000875" cy="27336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53958"/>
            <a:ext cx="804227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52145">
              <a:lnSpc>
                <a:spcPct val="100000"/>
              </a:lnSpc>
              <a:spcBef>
                <a:spcPts val="105"/>
              </a:spcBef>
            </a:pPr>
            <a:r>
              <a:rPr spc="-665" dirty="0"/>
              <a:t>TYPES</a:t>
            </a:r>
            <a:r>
              <a:rPr spc="-125" dirty="0"/>
              <a:t> </a:t>
            </a:r>
            <a:r>
              <a:rPr spc="-425" dirty="0"/>
              <a:t>OF</a:t>
            </a:r>
            <a:r>
              <a:rPr spc="-125" dirty="0"/>
              <a:t> </a:t>
            </a:r>
            <a:r>
              <a:rPr spc="-430" dirty="0"/>
              <a:t>NORMALIZATION</a:t>
            </a:r>
          </a:p>
        </p:txBody>
      </p:sp>
    </p:spTree>
    <p:extLst>
      <p:ext uri="{BB962C8B-B14F-4D97-AF65-F5344CB8AC3E}">
        <p14:creationId xmlns:p14="http://schemas.microsoft.com/office/powerpoint/2010/main" val="514790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75" y="381000"/>
            <a:ext cx="8839200" cy="622084"/>
          </a:xfrm>
          <a:prstGeom prst="rect">
            <a:avLst/>
          </a:prstGeom>
        </p:spPr>
        <p:txBody>
          <a:bodyPr vert="horz" wrap="square" lIns="0" tIns="6468" rIns="0" bIns="0" rtlCol="0">
            <a:spAutoFit/>
          </a:bodyPr>
          <a:lstStyle/>
          <a:p>
            <a:pPr marL="104459">
              <a:spcBef>
                <a:spcPts val="51"/>
              </a:spcBef>
            </a:pPr>
            <a:r>
              <a:rPr spc="74" dirty="0"/>
              <a:t>Normalization</a:t>
            </a:r>
            <a:r>
              <a:rPr spc="-15" dirty="0"/>
              <a:t> </a:t>
            </a:r>
            <a:r>
              <a:rPr spc="211" dirty="0"/>
              <a:t>-</a:t>
            </a:r>
            <a:r>
              <a:rPr spc="-13" dirty="0"/>
              <a:t> </a:t>
            </a:r>
            <a:r>
              <a:rPr spc="25" dirty="0"/>
              <a:t>Why</a:t>
            </a:r>
            <a:r>
              <a:rPr spc="-13" dirty="0"/>
              <a:t> </a:t>
            </a:r>
            <a:r>
              <a:rPr spc="51" dirty="0"/>
              <a:t>Do</a:t>
            </a:r>
            <a:r>
              <a:rPr spc="-15" dirty="0"/>
              <a:t> </a:t>
            </a:r>
            <a:r>
              <a:rPr dirty="0"/>
              <a:t>We</a:t>
            </a:r>
            <a:r>
              <a:rPr spc="-13" dirty="0"/>
              <a:t> </a:t>
            </a:r>
            <a:r>
              <a:rPr spc="46" dirty="0"/>
              <a:t>Need</a:t>
            </a:r>
            <a:r>
              <a:rPr spc="-13" dirty="0"/>
              <a:t> </a:t>
            </a:r>
            <a:r>
              <a:rPr spc="61" dirty="0"/>
              <a:t>It?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192" y="1347369"/>
            <a:ext cx="4104980" cy="1243351"/>
          </a:xfrm>
          <a:prstGeom prst="rect">
            <a:avLst/>
          </a:prstGeom>
        </p:spPr>
        <p:txBody>
          <a:bodyPr vert="horz" wrap="square" lIns="0" tIns="6792" rIns="0" bIns="0" rtlCol="0">
            <a:spAutoFit/>
          </a:bodyPr>
          <a:lstStyle/>
          <a:p>
            <a:pPr marL="150060">
              <a:spcBef>
                <a:spcPts val="53"/>
              </a:spcBef>
            </a:pPr>
            <a:r>
              <a:rPr sz="2000" b="1" dirty="0">
                <a:latin typeface="Arial"/>
                <a:cs typeface="Arial"/>
              </a:rPr>
              <a:t>Problems with</a:t>
            </a:r>
            <a:r>
              <a:rPr sz="2000" b="1" spc="3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Unnormalized</a:t>
            </a:r>
            <a:r>
              <a:rPr sz="2000" b="1" spc="-3" dirty="0">
                <a:latin typeface="Arial"/>
                <a:cs typeface="Arial"/>
              </a:rPr>
              <a:t> </a:t>
            </a:r>
            <a:r>
              <a:rPr sz="2000" b="1" spc="-38" dirty="0">
                <a:latin typeface="Arial"/>
                <a:cs typeface="Arial"/>
              </a:rPr>
              <a:t>Tables:</a:t>
            </a:r>
            <a:endParaRPr sz="2000">
              <a:latin typeface="Arial"/>
              <a:cs typeface="Arial"/>
            </a:endParaRPr>
          </a:p>
          <a:p>
            <a:pPr>
              <a:spcBef>
                <a:spcPts val="522"/>
              </a:spcBef>
            </a:pPr>
            <a:endParaRPr sz="2000">
              <a:latin typeface="Arial"/>
              <a:cs typeface="Arial"/>
            </a:endParaRPr>
          </a:p>
          <a:p>
            <a:pPr marL="6468"/>
            <a:r>
              <a:rPr sz="1600" dirty="0">
                <a:latin typeface="Arial MT"/>
                <a:cs typeface="Arial MT"/>
              </a:rPr>
              <a:t>Example: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StudentCourseInfo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Table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497" y="2593563"/>
            <a:ext cx="5537387" cy="29242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sz="half" idx="3"/>
          </p:nvPr>
        </p:nvSpPr>
        <p:spPr>
          <a:xfrm>
            <a:off x="6096000" y="1752600"/>
            <a:ext cx="2731647" cy="3835244"/>
          </a:xfrm>
          <a:prstGeom prst="rect">
            <a:avLst/>
          </a:prstGeom>
        </p:spPr>
        <p:txBody>
          <a:bodyPr vert="horz" wrap="square" lIns="0" tIns="7762" rIns="0" bIns="0" rtlCol="0">
            <a:spAutoFit/>
          </a:bodyPr>
          <a:lstStyle/>
          <a:p>
            <a:pPr marL="0" indent="0">
              <a:spcBef>
                <a:spcPts val="61"/>
              </a:spcBef>
              <a:buNone/>
            </a:pPr>
            <a:r>
              <a:rPr spc="-5" dirty="0"/>
              <a:t>Problems</a:t>
            </a:r>
            <a:r>
              <a:rPr spc="-5" dirty="0" smtClean="0"/>
              <a:t>:</a:t>
            </a:r>
            <a:endParaRPr spc="-5" dirty="0"/>
          </a:p>
          <a:p>
            <a:pPr marL="379678" marR="663628" indent="-373533">
              <a:lnSpc>
                <a:spcPts val="1645"/>
              </a:lnSpc>
              <a:buFont typeface="Arial MT"/>
              <a:buAutoNum type="arabicPeriod"/>
              <a:tabLst>
                <a:tab pos="379678" algn="l"/>
              </a:tabLst>
            </a:pPr>
            <a:r>
              <a:rPr b="1" dirty="0">
                <a:latin typeface="Arial"/>
                <a:cs typeface="Arial"/>
              </a:rPr>
              <a:t>Redundancy</a:t>
            </a:r>
            <a:r>
              <a:rPr dirty="0"/>
              <a:t>:</a:t>
            </a:r>
            <a:r>
              <a:rPr spc="8" dirty="0"/>
              <a:t> </a:t>
            </a:r>
            <a:r>
              <a:rPr spc="31" dirty="0"/>
              <a:t>John's</a:t>
            </a:r>
            <a:r>
              <a:rPr spc="10" dirty="0"/>
              <a:t> </a:t>
            </a:r>
            <a:r>
              <a:rPr spc="-10" dirty="0"/>
              <a:t>info </a:t>
            </a:r>
            <a:r>
              <a:rPr dirty="0"/>
              <a:t>repeated</a:t>
            </a:r>
            <a:r>
              <a:rPr spc="25" dirty="0"/>
              <a:t> </a:t>
            </a:r>
            <a:r>
              <a:rPr dirty="0"/>
              <a:t>for</a:t>
            </a:r>
            <a:r>
              <a:rPr spc="25" dirty="0"/>
              <a:t> </a:t>
            </a:r>
            <a:r>
              <a:rPr dirty="0"/>
              <a:t>each</a:t>
            </a:r>
            <a:r>
              <a:rPr spc="28" dirty="0"/>
              <a:t> </a:t>
            </a:r>
            <a:r>
              <a:rPr spc="-5" dirty="0" smtClean="0"/>
              <a:t>course</a:t>
            </a:r>
            <a:endParaRPr spc="-5" dirty="0"/>
          </a:p>
          <a:p>
            <a:pPr marL="379678" marR="2587" indent="-373533">
              <a:lnSpc>
                <a:spcPct val="102200"/>
              </a:lnSpc>
              <a:buFont typeface="Arial MT"/>
              <a:buAutoNum type="arabicPeriod"/>
              <a:tabLst>
                <a:tab pos="379678" algn="l"/>
              </a:tabLst>
            </a:pPr>
            <a:r>
              <a:rPr b="1" dirty="0">
                <a:latin typeface="Arial"/>
                <a:cs typeface="Arial"/>
              </a:rPr>
              <a:t>Update</a:t>
            </a:r>
            <a:r>
              <a:rPr b="1" spc="8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Anomaly</a:t>
            </a:r>
            <a:r>
              <a:rPr spc="-5" dirty="0"/>
              <a:t>:</a:t>
            </a:r>
            <a:r>
              <a:rPr spc="8" dirty="0"/>
              <a:t> </a:t>
            </a:r>
            <a:r>
              <a:rPr dirty="0"/>
              <a:t>Change</a:t>
            </a:r>
            <a:r>
              <a:rPr spc="10" dirty="0"/>
              <a:t> </a:t>
            </a:r>
            <a:r>
              <a:rPr spc="25" dirty="0"/>
              <a:t>John's </a:t>
            </a:r>
            <a:r>
              <a:rPr dirty="0"/>
              <a:t>major</a:t>
            </a:r>
            <a:r>
              <a:rPr spc="66" dirty="0"/>
              <a:t> </a:t>
            </a:r>
            <a:r>
              <a:rPr spc="201" dirty="0">
                <a:latin typeface="Segoe UI Emoji"/>
                <a:cs typeface="Segoe UI Emoji"/>
              </a:rPr>
              <a:t>→</a:t>
            </a:r>
            <a:r>
              <a:rPr spc="71" dirty="0">
                <a:latin typeface="Segoe UI Emoji"/>
                <a:cs typeface="Segoe UI Emoji"/>
              </a:rPr>
              <a:t> </a:t>
            </a:r>
            <a:r>
              <a:rPr dirty="0"/>
              <a:t>update</a:t>
            </a:r>
            <a:r>
              <a:rPr spc="66" dirty="0"/>
              <a:t> </a:t>
            </a:r>
            <a:r>
              <a:rPr dirty="0"/>
              <a:t>multiple</a:t>
            </a:r>
            <a:r>
              <a:rPr spc="66" dirty="0"/>
              <a:t> </a:t>
            </a:r>
            <a:r>
              <a:rPr spc="-10" dirty="0" smtClean="0"/>
              <a:t>rows</a:t>
            </a:r>
            <a:endParaRPr spc="-10" dirty="0"/>
          </a:p>
          <a:p>
            <a:pPr marL="379678" marR="165584" indent="-373533">
              <a:lnSpc>
                <a:spcPts val="1645"/>
              </a:lnSpc>
              <a:buFont typeface="Arial MT"/>
              <a:buAutoNum type="arabicPeriod"/>
              <a:tabLst>
                <a:tab pos="379678" algn="l"/>
              </a:tabLst>
            </a:pPr>
            <a:r>
              <a:rPr b="1" dirty="0">
                <a:latin typeface="Arial"/>
                <a:cs typeface="Arial"/>
              </a:rPr>
              <a:t>Insert</a:t>
            </a:r>
            <a:r>
              <a:rPr b="1" spc="-8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Anomaly</a:t>
            </a:r>
            <a:r>
              <a:rPr spc="-5" dirty="0"/>
              <a:t>: </a:t>
            </a:r>
            <a:r>
              <a:rPr spc="31" dirty="0"/>
              <a:t>Can't</a:t>
            </a:r>
            <a:r>
              <a:rPr spc="-5" dirty="0"/>
              <a:t> </a:t>
            </a:r>
            <a:r>
              <a:rPr spc="31" dirty="0"/>
              <a:t>add</a:t>
            </a:r>
            <a:r>
              <a:rPr spc="-5" dirty="0"/>
              <a:t> </a:t>
            </a:r>
            <a:r>
              <a:rPr spc="-13" dirty="0"/>
              <a:t>new </a:t>
            </a:r>
            <a:r>
              <a:rPr dirty="0"/>
              <a:t>student</a:t>
            </a:r>
            <a:r>
              <a:rPr spc="155" dirty="0"/>
              <a:t> </a:t>
            </a:r>
            <a:r>
              <a:rPr dirty="0"/>
              <a:t>without</a:t>
            </a:r>
            <a:r>
              <a:rPr spc="158" dirty="0"/>
              <a:t> </a:t>
            </a:r>
            <a:r>
              <a:rPr spc="-5" dirty="0" smtClean="0"/>
              <a:t>enrollment</a:t>
            </a:r>
            <a:endParaRPr spc="-5" dirty="0"/>
          </a:p>
          <a:p>
            <a:pPr marL="379678" marR="272307" indent="-373533">
              <a:lnSpc>
                <a:spcPct val="102200"/>
              </a:lnSpc>
              <a:buFont typeface="Arial MT"/>
              <a:buAutoNum type="arabicPeriod"/>
              <a:tabLst>
                <a:tab pos="379678" algn="l"/>
              </a:tabLst>
            </a:pPr>
            <a:r>
              <a:rPr b="1" dirty="0">
                <a:latin typeface="Arial"/>
                <a:cs typeface="Arial"/>
              </a:rPr>
              <a:t>Delete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Anomaly</a:t>
            </a:r>
            <a:r>
              <a:rPr spc="-5" dirty="0"/>
              <a:t>:</a:t>
            </a:r>
            <a:r>
              <a:rPr spc="5" dirty="0"/>
              <a:t> </a:t>
            </a:r>
            <a:r>
              <a:rPr dirty="0"/>
              <a:t>Delete</a:t>
            </a:r>
            <a:r>
              <a:rPr spc="5" dirty="0"/>
              <a:t> </a:t>
            </a:r>
            <a:r>
              <a:rPr spc="-10" dirty="0"/>
              <a:t>last </a:t>
            </a:r>
            <a:r>
              <a:rPr dirty="0"/>
              <a:t>enrollment</a:t>
            </a:r>
            <a:r>
              <a:rPr spc="46" dirty="0"/>
              <a:t> </a:t>
            </a:r>
            <a:r>
              <a:rPr spc="201" dirty="0">
                <a:latin typeface="Segoe UI Emoji"/>
                <a:cs typeface="Segoe UI Emoji"/>
              </a:rPr>
              <a:t>→</a:t>
            </a:r>
            <a:r>
              <a:rPr spc="53" dirty="0">
                <a:latin typeface="Segoe UI Emoji"/>
                <a:cs typeface="Segoe UI Emoji"/>
              </a:rPr>
              <a:t> </a:t>
            </a:r>
            <a:r>
              <a:rPr dirty="0"/>
              <a:t>lose</a:t>
            </a:r>
            <a:r>
              <a:rPr spc="46" dirty="0"/>
              <a:t> </a:t>
            </a:r>
            <a:r>
              <a:rPr dirty="0"/>
              <a:t>student</a:t>
            </a:r>
            <a:r>
              <a:rPr spc="48" dirty="0"/>
              <a:t> </a:t>
            </a:r>
            <a:r>
              <a:rPr spc="-10" dirty="0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693523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01000" cy="714417"/>
          </a:xfrm>
          <a:prstGeom prst="rect">
            <a:avLst/>
          </a:prstGeom>
        </p:spPr>
        <p:txBody>
          <a:bodyPr vert="horz" wrap="square" lIns="0" tIns="6468" rIns="0" bIns="0" rtlCol="0">
            <a:spAutoFit/>
          </a:bodyPr>
          <a:lstStyle/>
          <a:p>
            <a:pPr marL="6468">
              <a:spcBef>
                <a:spcPts val="51"/>
              </a:spcBef>
            </a:pPr>
            <a:r>
              <a:rPr spc="61" dirty="0"/>
              <a:t>First</a:t>
            </a:r>
            <a:r>
              <a:rPr spc="3" dirty="0"/>
              <a:t> </a:t>
            </a:r>
            <a:r>
              <a:rPr spc="64" dirty="0"/>
              <a:t>Normal</a:t>
            </a:r>
            <a:r>
              <a:rPr spc="5" dirty="0"/>
              <a:t> </a:t>
            </a:r>
            <a:r>
              <a:rPr spc="69" dirty="0"/>
              <a:t>Form</a:t>
            </a:r>
            <a:r>
              <a:rPr spc="5" dirty="0"/>
              <a:t> </a:t>
            </a:r>
            <a:r>
              <a:rPr spc="-71" dirty="0"/>
              <a:t>(1NF)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295400"/>
            <a:ext cx="7315200" cy="314635"/>
          </a:xfrm>
          <a:prstGeom prst="rect">
            <a:avLst/>
          </a:prstGeom>
        </p:spPr>
        <p:txBody>
          <a:bodyPr vert="horz" wrap="square" lIns="0" tIns="6792" rIns="0" bIns="0" rtlCol="0">
            <a:spAutoFit/>
          </a:bodyPr>
          <a:lstStyle/>
          <a:p>
            <a:pPr marL="6468">
              <a:spcBef>
                <a:spcPts val="53"/>
              </a:spcBef>
            </a:pPr>
            <a:r>
              <a:rPr sz="2000" b="1" spc="-5" dirty="0">
                <a:solidFill>
                  <a:srgbClr val="0076BA"/>
                </a:solidFill>
                <a:latin typeface="Arial"/>
                <a:cs typeface="Arial"/>
              </a:rPr>
              <a:t>Rule:</a:t>
            </a:r>
            <a:r>
              <a:rPr sz="2000" b="1" spc="-41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76BA"/>
                </a:solidFill>
                <a:latin typeface="Arial"/>
                <a:cs typeface="Arial"/>
              </a:rPr>
              <a:t>All</a:t>
            </a:r>
            <a:r>
              <a:rPr sz="2000" b="1" spc="-3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attributes</a:t>
            </a:r>
            <a:r>
              <a:rPr sz="2000" b="1" spc="-3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must</a:t>
            </a:r>
            <a:r>
              <a:rPr sz="2000" b="1" spc="-3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contain</a:t>
            </a:r>
            <a:r>
              <a:rPr sz="2000" b="1" spc="-3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atomic</a:t>
            </a:r>
            <a:r>
              <a:rPr sz="2000" b="1" spc="-3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spc="-28" dirty="0">
                <a:solidFill>
                  <a:srgbClr val="0076BA"/>
                </a:solidFill>
                <a:latin typeface="Arial"/>
                <a:cs typeface="Arial"/>
              </a:rPr>
              <a:t>(indivisible)</a:t>
            </a:r>
            <a:r>
              <a:rPr sz="2000" b="1" spc="-3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76BA"/>
                </a:solidFill>
                <a:latin typeface="Arial"/>
                <a:cs typeface="Arial"/>
              </a:rPr>
              <a:t>values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133600"/>
            <a:ext cx="157162" cy="20953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572000"/>
            <a:ext cx="157162" cy="20953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5334000" cy="4535868"/>
          </a:xfrm>
          <a:prstGeom prst="rect">
            <a:avLst/>
          </a:prstGeom>
        </p:spPr>
        <p:txBody>
          <a:bodyPr vert="horz" wrap="square" lIns="0" tIns="7762" rIns="0" bIns="0" rtlCol="0">
            <a:spAutoFit/>
          </a:bodyPr>
          <a:lstStyle/>
          <a:p>
            <a:pPr marL="0" indent="0">
              <a:spcBef>
                <a:spcPts val="61"/>
              </a:spcBef>
              <a:buNone/>
            </a:pPr>
            <a:r>
              <a:rPr sz="2000" dirty="0"/>
              <a:t>Violation</a:t>
            </a:r>
            <a:r>
              <a:rPr sz="2000" spc="-10" dirty="0"/>
              <a:t> </a:t>
            </a:r>
            <a:r>
              <a:rPr sz="2000" spc="-5" dirty="0"/>
              <a:t>Examples:</a:t>
            </a:r>
          </a:p>
          <a:p>
            <a:pPr marL="0" indent="0">
              <a:spcBef>
                <a:spcPts val="1189"/>
              </a:spcBef>
              <a:buNone/>
            </a:pPr>
            <a:r>
              <a:rPr sz="2000" dirty="0"/>
              <a:t>Multi-valued</a:t>
            </a:r>
            <a:r>
              <a:rPr sz="2000" spc="224" dirty="0"/>
              <a:t> </a:t>
            </a:r>
            <a:r>
              <a:rPr sz="2000" spc="-5" dirty="0"/>
              <a:t>Attributes:</a:t>
            </a:r>
          </a:p>
          <a:p>
            <a:pPr marL="0" marR="2587" indent="0">
              <a:lnSpc>
                <a:spcPct val="162900"/>
              </a:lnSpc>
              <a:spcBef>
                <a:spcPts val="56"/>
              </a:spcBef>
              <a:buNone/>
            </a:pPr>
            <a:r>
              <a:rPr sz="2000" dirty="0">
                <a:latin typeface="Courier New"/>
                <a:cs typeface="Courier New"/>
              </a:rPr>
              <a:t>Student(ID,</a:t>
            </a:r>
            <a:r>
              <a:rPr sz="2000" spc="3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Name,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EE220C"/>
                </a:solidFill>
                <a:latin typeface="Courier New"/>
                <a:cs typeface="Courier New"/>
              </a:rPr>
              <a:t>PhoneNumbers</a:t>
            </a:r>
            <a:r>
              <a:rPr sz="2000" dirty="0">
                <a:latin typeface="Courier New"/>
                <a:cs typeface="Courier New"/>
              </a:rPr>
              <a:t>,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EE220C"/>
                </a:solidFill>
                <a:latin typeface="Courier New"/>
                <a:cs typeface="Courier New"/>
              </a:rPr>
              <a:t>Skills</a:t>
            </a:r>
            <a:r>
              <a:rPr sz="2000" spc="-5" dirty="0">
                <a:latin typeface="Courier New"/>
                <a:cs typeface="Courier New"/>
              </a:rPr>
              <a:t>) </a:t>
            </a:r>
            <a:r>
              <a:rPr lang="en-US" sz="2000" spc="-5" dirty="0" smtClean="0">
                <a:latin typeface="Courier New"/>
                <a:cs typeface="Courier New"/>
              </a:rPr>
              <a:t>      </a:t>
            </a:r>
            <a:r>
              <a:rPr sz="2000" dirty="0" smtClean="0">
                <a:latin typeface="Courier New"/>
                <a:cs typeface="Courier New"/>
              </a:rPr>
              <a:t>(</a:t>
            </a:r>
            <a:r>
              <a:rPr sz="2000" dirty="0">
                <a:latin typeface="Courier New"/>
                <a:cs typeface="Courier New"/>
              </a:rPr>
              <a:t>1,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"John",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"555-1234,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555-</a:t>
            </a:r>
            <a:r>
              <a:rPr sz="2000" spc="-5" dirty="0">
                <a:latin typeface="Courier New"/>
                <a:cs typeface="Courier New"/>
              </a:rPr>
              <a:t>5678",</a:t>
            </a:r>
          </a:p>
          <a:p>
            <a:pPr marL="0" indent="0">
              <a:lnSpc>
                <a:spcPts val="1553"/>
              </a:lnSpc>
              <a:buNone/>
            </a:pPr>
            <a:r>
              <a:rPr sz="2000" dirty="0">
                <a:latin typeface="Courier New"/>
                <a:cs typeface="Courier New"/>
              </a:rPr>
              <a:t>"Java,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Python,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SQL")</a:t>
            </a:r>
          </a:p>
          <a:p>
            <a:pPr marL="0" indent="0">
              <a:spcBef>
                <a:spcPts val="1271"/>
              </a:spcBef>
              <a:buNone/>
            </a:pPr>
            <a:r>
              <a:rPr sz="2000" dirty="0"/>
              <a:t>Composite</a:t>
            </a:r>
            <a:r>
              <a:rPr sz="2000" spc="199" dirty="0"/>
              <a:t> </a:t>
            </a:r>
            <a:r>
              <a:rPr sz="2000" spc="-5" dirty="0"/>
              <a:t>Attributes:</a:t>
            </a:r>
          </a:p>
          <a:p>
            <a:pPr marL="0" indent="0">
              <a:spcBef>
                <a:spcPts val="1095"/>
              </a:spcBef>
              <a:buNone/>
            </a:pPr>
            <a:r>
              <a:rPr sz="2000" dirty="0">
                <a:latin typeface="Courier New"/>
                <a:cs typeface="Courier New"/>
              </a:rPr>
              <a:t>Employee(ID,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Name,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EE220C"/>
                </a:solidFill>
                <a:latin typeface="Courier New"/>
                <a:cs typeface="Courier New"/>
              </a:rPr>
              <a:t>Address</a:t>
            </a:r>
            <a:r>
              <a:rPr sz="2000" dirty="0">
                <a:latin typeface="Courier New"/>
                <a:cs typeface="Courier New"/>
              </a:rPr>
              <a:t>,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Department)</a:t>
            </a:r>
          </a:p>
          <a:p>
            <a:pPr marL="0" marR="2587" indent="0">
              <a:lnSpc>
                <a:spcPts val="1553"/>
              </a:lnSpc>
              <a:spcBef>
                <a:spcPts val="1169"/>
              </a:spcBef>
              <a:buNone/>
            </a:pPr>
            <a:r>
              <a:rPr sz="2000" dirty="0">
                <a:latin typeface="Courier New"/>
                <a:cs typeface="Courier New"/>
              </a:rPr>
              <a:t>(101,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"Alice",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"123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Main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St,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Boston,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spc="-13" dirty="0">
                <a:latin typeface="Courier New"/>
                <a:cs typeface="Courier New"/>
              </a:rPr>
              <a:t>MA </a:t>
            </a:r>
            <a:r>
              <a:rPr sz="2000" dirty="0">
                <a:latin typeface="Courier New"/>
                <a:cs typeface="Courier New"/>
              </a:rPr>
              <a:t>02101",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"CS")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562600" y="1905000"/>
            <a:ext cx="3406905" cy="1979629"/>
          </a:xfrm>
          <a:prstGeom prst="rect">
            <a:avLst/>
          </a:prstGeom>
        </p:spPr>
        <p:txBody>
          <a:bodyPr vert="horz" wrap="square" lIns="0" tIns="7762" rIns="0" bIns="0" rtlCol="0">
            <a:spAutoFit/>
          </a:bodyPr>
          <a:lstStyle/>
          <a:p>
            <a:pPr marL="6468">
              <a:spcBef>
                <a:spcPts val="61"/>
              </a:spcBef>
            </a:pPr>
            <a:r>
              <a:rPr sz="1400" dirty="0">
                <a:latin typeface="Arial MT"/>
                <a:cs typeface="Arial MT"/>
              </a:rPr>
              <a:t>1NF</a:t>
            </a:r>
            <a:r>
              <a:rPr sz="1400" spc="-51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Solutions:</a:t>
            </a:r>
            <a:endParaRPr sz="1400" dirty="0">
              <a:latin typeface="Arial MT"/>
              <a:cs typeface="Arial MT"/>
            </a:endParaRPr>
          </a:p>
          <a:p>
            <a:pPr marL="231235">
              <a:spcBef>
                <a:spcPts val="1189"/>
              </a:spcBef>
            </a:pPr>
            <a:r>
              <a:rPr sz="1400" dirty="0">
                <a:latin typeface="Arial MT"/>
                <a:cs typeface="Arial MT"/>
              </a:rPr>
              <a:t>Separate</a:t>
            </a:r>
            <a:r>
              <a:rPr sz="1400" spc="102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Multi-</a:t>
            </a:r>
            <a:r>
              <a:rPr sz="1400" spc="-5" dirty="0">
                <a:latin typeface="Arial MT"/>
                <a:cs typeface="Arial MT"/>
              </a:rPr>
              <a:t>valued:</a:t>
            </a:r>
            <a:endParaRPr sz="1400" dirty="0">
              <a:latin typeface="Arial MT"/>
              <a:cs typeface="Arial MT"/>
            </a:endParaRPr>
          </a:p>
          <a:p>
            <a:pPr marL="6468" marR="2587">
              <a:lnSpc>
                <a:spcPct val="162900"/>
              </a:lnSpc>
              <a:spcBef>
                <a:spcPts val="56"/>
              </a:spcBef>
            </a:pPr>
            <a:r>
              <a:rPr sz="1400" dirty="0">
                <a:latin typeface="Courier New"/>
                <a:cs typeface="Courier New"/>
              </a:rPr>
              <a:t>Student(ID,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Name) </a:t>
            </a:r>
            <a:r>
              <a:rPr sz="1400" b="1" dirty="0">
                <a:solidFill>
                  <a:srgbClr val="1DB100"/>
                </a:solidFill>
                <a:latin typeface="Courier New"/>
                <a:cs typeface="Courier New"/>
              </a:rPr>
              <a:t>StudentPhone(StudentID,</a:t>
            </a:r>
            <a:r>
              <a:rPr sz="1400" b="1" spc="5" dirty="0">
                <a:solidFill>
                  <a:srgbClr val="1DB100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1DB100"/>
                </a:solidFill>
                <a:latin typeface="Courier New"/>
                <a:cs typeface="Courier New"/>
              </a:rPr>
              <a:t>PhoneNumber) </a:t>
            </a:r>
            <a:r>
              <a:rPr sz="1400" b="1" dirty="0">
                <a:solidFill>
                  <a:srgbClr val="1DB100"/>
                </a:solidFill>
                <a:latin typeface="Courier New"/>
                <a:cs typeface="Courier New"/>
              </a:rPr>
              <a:t>StudentSkill(StudentID,</a:t>
            </a:r>
            <a:r>
              <a:rPr sz="1400" b="1" spc="5" dirty="0">
                <a:solidFill>
                  <a:srgbClr val="1DB100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1DB100"/>
                </a:solidFill>
                <a:latin typeface="Courier New"/>
                <a:cs typeface="Courier New"/>
              </a:rPr>
              <a:t>Skill)</a:t>
            </a:r>
            <a:endParaRPr sz="1400" dirty="0">
              <a:latin typeface="Courier New"/>
              <a:cs typeface="Courier New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1638" y="2286000"/>
            <a:ext cx="157162" cy="20953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419128" y="4419600"/>
            <a:ext cx="3689947" cy="781404"/>
          </a:xfrm>
          <a:prstGeom prst="rect">
            <a:avLst/>
          </a:prstGeom>
        </p:spPr>
        <p:txBody>
          <a:bodyPr vert="horz" wrap="square" lIns="0" tIns="7762" rIns="0" bIns="0" rtlCol="0">
            <a:spAutoFit/>
          </a:bodyPr>
          <a:lstStyle/>
          <a:p>
            <a:pPr marL="231235">
              <a:spcBef>
                <a:spcPts val="61"/>
              </a:spcBef>
            </a:pPr>
            <a:r>
              <a:rPr sz="1400" dirty="0">
                <a:latin typeface="Arial MT"/>
                <a:cs typeface="Arial MT"/>
              </a:rPr>
              <a:t>Break</a:t>
            </a:r>
            <a:r>
              <a:rPr sz="1400" spc="-18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Composite:</a:t>
            </a:r>
            <a:endParaRPr sz="1400" dirty="0">
              <a:latin typeface="Arial MT"/>
              <a:cs typeface="Arial MT"/>
            </a:endParaRPr>
          </a:p>
          <a:p>
            <a:pPr marL="6468" marR="2587">
              <a:lnSpc>
                <a:spcPts val="1553"/>
              </a:lnSpc>
              <a:spcBef>
                <a:spcPts val="1225"/>
              </a:spcBef>
            </a:pPr>
            <a:r>
              <a:rPr sz="1400" dirty="0">
                <a:latin typeface="Courier New"/>
                <a:cs typeface="Courier New"/>
              </a:rPr>
              <a:t>Employee(ID,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Name,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1DB100"/>
                </a:solidFill>
                <a:latin typeface="Courier New"/>
                <a:cs typeface="Courier New"/>
              </a:rPr>
              <a:t>Street,</a:t>
            </a:r>
            <a:r>
              <a:rPr sz="1400" b="1" spc="5" dirty="0">
                <a:solidFill>
                  <a:srgbClr val="1DB1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1DB100"/>
                </a:solidFill>
                <a:latin typeface="Courier New"/>
                <a:cs typeface="Courier New"/>
              </a:rPr>
              <a:t>City,</a:t>
            </a:r>
            <a:r>
              <a:rPr sz="1400" b="1" spc="5" dirty="0">
                <a:solidFill>
                  <a:srgbClr val="1DB100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1DB100"/>
                </a:solidFill>
                <a:latin typeface="Courier New"/>
                <a:cs typeface="Courier New"/>
              </a:rPr>
              <a:t>State, </a:t>
            </a:r>
            <a:r>
              <a:rPr sz="1400" b="1" dirty="0">
                <a:solidFill>
                  <a:srgbClr val="1DB100"/>
                </a:solidFill>
                <a:latin typeface="Courier New"/>
                <a:cs typeface="Courier New"/>
              </a:rPr>
              <a:t>Zip</a:t>
            </a:r>
            <a:r>
              <a:rPr sz="1400" dirty="0">
                <a:latin typeface="Courier New"/>
                <a:cs typeface="Courier New"/>
              </a:rPr>
              <a:t>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Department)</a:t>
            </a:r>
            <a:endParaRPr sz="1400" dirty="0">
              <a:latin typeface="Courier New"/>
              <a:cs typeface="Courier New"/>
            </a:endParaRPr>
          </a:p>
        </p:txBody>
      </p:sp>
      <p:pic>
        <p:nvPicPr>
          <p:cNvPr id="11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05438" y="4419600"/>
            <a:ext cx="157162" cy="20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13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533400" y="457200"/>
            <a:ext cx="9124951" cy="714417"/>
          </a:xfrm>
          <a:prstGeom prst="rect">
            <a:avLst/>
          </a:prstGeom>
        </p:spPr>
        <p:txBody>
          <a:bodyPr vert="horz" wrap="square" lIns="0" tIns="6468" rIns="0" bIns="0" rtlCol="0">
            <a:spAutoFit/>
          </a:bodyPr>
          <a:lstStyle/>
          <a:p>
            <a:pPr marL="1204685">
              <a:spcBef>
                <a:spcPts val="51"/>
              </a:spcBef>
            </a:pPr>
            <a:r>
              <a:rPr spc="89" dirty="0"/>
              <a:t>Second</a:t>
            </a:r>
            <a:r>
              <a:rPr spc="5" dirty="0"/>
              <a:t> </a:t>
            </a:r>
            <a:r>
              <a:rPr spc="64" dirty="0"/>
              <a:t>Normal</a:t>
            </a:r>
            <a:r>
              <a:rPr spc="5" dirty="0"/>
              <a:t> </a:t>
            </a:r>
            <a:r>
              <a:rPr spc="69" dirty="0"/>
              <a:t>Form</a:t>
            </a:r>
            <a:r>
              <a:rPr spc="5" dirty="0"/>
              <a:t> </a:t>
            </a:r>
            <a:r>
              <a:rPr spc="-76" dirty="0"/>
              <a:t>(2NF)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1224" y="3317513"/>
            <a:ext cx="157162" cy="2095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5448" y="3284413"/>
            <a:ext cx="4032752" cy="768815"/>
          </a:xfrm>
          <a:prstGeom prst="rect">
            <a:avLst/>
          </a:prstGeom>
        </p:spPr>
        <p:txBody>
          <a:bodyPr vert="horz" wrap="square" lIns="0" tIns="7762" rIns="0" bIns="0" rtlCol="0">
            <a:spAutoFit/>
          </a:bodyPr>
          <a:lstStyle/>
          <a:p>
            <a:pPr marL="287831">
              <a:lnSpc>
                <a:spcPts val="1609"/>
              </a:lnSpc>
              <a:spcBef>
                <a:spcPts val="61"/>
              </a:spcBef>
            </a:pPr>
            <a:r>
              <a:rPr sz="1400" dirty="0">
                <a:latin typeface="Courier New"/>
                <a:cs typeface="Courier New"/>
              </a:rPr>
              <a:t>Enrollment(StudentID,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CourseID,</a:t>
            </a:r>
            <a:endParaRPr sz="1400" dirty="0">
              <a:latin typeface="Courier New"/>
              <a:cs typeface="Courier New"/>
            </a:endParaRPr>
          </a:p>
          <a:p>
            <a:pPr marL="6468">
              <a:lnSpc>
                <a:spcPts val="1609"/>
              </a:lnSpc>
            </a:pPr>
            <a:r>
              <a:rPr sz="1400" b="1" dirty="0">
                <a:solidFill>
                  <a:srgbClr val="EE220C"/>
                </a:solidFill>
                <a:latin typeface="Courier New"/>
                <a:cs typeface="Courier New"/>
              </a:rPr>
              <a:t>StudentName,</a:t>
            </a:r>
            <a:r>
              <a:rPr sz="1400" b="1" spc="-3" dirty="0">
                <a:solidFill>
                  <a:srgbClr val="EE220C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EE220C"/>
                </a:solidFill>
                <a:latin typeface="Courier New"/>
                <a:cs typeface="Courier New"/>
              </a:rPr>
              <a:t>CourseName</a:t>
            </a:r>
            <a:r>
              <a:rPr sz="1400" dirty="0">
                <a:latin typeface="Courier New"/>
                <a:cs typeface="Courier New"/>
              </a:rPr>
              <a:t>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Grade)</a:t>
            </a:r>
            <a:endParaRPr sz="1400" dirty="0">
              <a:latin typeface="Courier New"/>
              <a:cs typeface="Courier New"/>
            </a:endParaRPr>
          </a:p>
          <a:p>
            <a:pPr marL="6468">
              <a:spcBef>
                <a:spcPts val="1036"/>
              </a:spcBef>
            </a:pPr>
            <a:r>
              <a:rPr sz="1400" dirty="0">
                <a:latin typeface="Courier New"/>
                <a:cs typeface="Courier New"/>
              </a:rPr>
              <a:t>Primary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Key: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(StudentID,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CourseID)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0256" y="1354283"/>
            <a:ext cx="7752760" cy="1983853"/>
          </a:xfrm>
          <a:prstGeom prst="rect">
            <a:avLst/>
          </a:prstGeom>
        </p:spPr>
        <p:txBody>
          <a:bodyPr vert="horz" wrap="square" lIns="0" tIns="6792" rIns="0" bIns="0" rtlCol="0">
            <a:spAutoFit/>
          </a:bodyPr>
          <a:lstStyle/>
          <a:p>
            <a:pPr marL="6468">
              <a:spcBef>
                <a:spcPts val="53"/>
              </a:spcBef>
            </a:pPr>
            <a:r>
              <a:rPr sz="2000" b="1" spc="-5" dirty="0">
                <a:solidFill>
                  <a:srgbClr val="0076BA"/>
                </a:solidFill>
                <a:latin typeface="Arial"/>
                <a:cs typeface="Arial"/>
              </a:rPr>
              <a:t>Rule:</a:t>
            </a:r>
            <a:r>
              <a:rPr sz="2000" b="1" spc="-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Must</a:t>
            </a:r>
            <a:r>
              <a:rPr sz="2000" b="1" spc="-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be</a:t>
            </a:r>
            <a:r>
              <a:rPr sz="2000" b="1" spc="-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in</a:t>
            </a:r>
            <a:r>
              <a:rPr sz="2000" b="1" spc="-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1NF</a:t>
            </a:r>
            <a:r>
              <a:rPr sz="2000" b="1" spc="-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+</a:t>
            </a:r>
            <a:r>
              <a:rPr sz="2000" b="1" spc="-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No</a:t>
            </a:r>
            <a:r>
              <a:rPr sz="2000" b="1" spc="-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partial</a:t>
            </a:r>
            <a:r>
              <a:rPr sz="2000" b="1" spc="-5" dirty="0">
                <a:solidFill>
                  <a:srgbClr val="0076BA"/>
                </a:solidFill>
                <a:latin typeface="Arial"/>
                <a:cs typeface="Arial"/>
              </a:rPr>
              <a:t> dependencies</a:t>
            </a:r>
            <a:endParaRPr sz="2000">
              <a:latin typeface="Arial"/>
              <a:cs typeface="Arial"/>
            </a:endParaRPr>
          </a:p>
          <a:p>
            <a:pPr>
              <a:spcBef>
                <a:spcPts val="208"/>
              </a:spcBef>
            </a:pPr>
            <a:endParaRPr sz="2000">
              <a:latin typeface="Arial"/>
              <a:cs typeface="Arial"/>
            </a:endParaRPr>
          </a:p>
          <a:p>
            <a:pPr marL="6468"/>
            <a:r>
              <a:rPr b="1" dirty="0">
                <a:solidFill>
                  <a:srgbClr val="0076BA"/>
                </a:solidFill>
                <a:latin typeface="Arial"/>
                <a:cs typeface="Arial"/>
              </a:rPr>
              <a:t>Partial</a:t>
            </a:r>
            <a:r>
              <a:rPr b="1" spc="1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76BA"/>
                </a:solidFill>
                <a:latin typeface="Arial"/>
                <a:cs typeface="Arial"/>
              </a:rPr>
              <a:t>Dependency:</a:t>
            </a:r>
            <a:r>
              <a:rPr b="1" spc="1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76BA"/>
                </a:solidFill>
                <a:latin typeface="Arial"/>
                <a:cs typeface="Arial"/>
              </a:rPr>
              <a:t>Non-key</a:t>
            </a:r>
            <a:r>
              <a:rPr b="1" spc="1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76BA"/>
                </a:solidFill>
                <a:latin typeface="Arial"/>
                <a:cs typeface="Arial"/>
              </a:rPr>
              <a:t>attribute</a:t>
            </a:r>
            <a:r>
              <a:rPr b="1" spc="1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76BA"/>
                </a:solidFill>
                <a:latin typeface="Arial"/>
                <a:cs typeface="Arial"/>
              </a:rPr>
              <a:t>depends</a:t>
            </a:r>
            <a:r>
              <a:rPr b="1" spc="1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76BA"/>
                </a:solidFill>
                <a:latin typeface="Arial"/>
                <a:cs typeface="Arial"/>
              </a:rPr>
              <a:t>on</a:t>
            </a:r>
            <a:r>
              <a:rPr b="1" spc="1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76BA"/>
                </a:solidFill>
                <a:latin typeface="Arial"/>
                <a:cs typeface="Arial"/>
              </a:rPr>
              <a:t>part</a:t>
            </a:r>
            <a:r>
              <a:rPr b="1" spc="1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76BA"/>
                </a:solidFill>
                <a:latin typeface="Arial"/>
                <a:cs typeface="Arial"/>
              </a:rPr>
              <a:t>of</a:t>
            </a:r>
            <a:r>
              <a:rPr b="1" spc="1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76BA"/>
                </a:solidFill>
                <a:latin typeface="Arial"/>
                <a:cs typeface="Arial"/>
              </a:rPr>
              <a:t>composite</a:t>
            </a:r>
            <a:r>
              <a:rPr b="1" spc="1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76BA"/>
                </a:solidFill>
                <a:latin typeface="Arial"/>
                <a:cs typeface="Arial"/>
              </a:rPr>
              <a:t>primary</a:t>
            </a:r>
            <a:r>
              <a:rPr b="1" spc="1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b="1" spc="-13" dirty="0">
                <a:solidFill>
                  <a:srgbClr val="0076BA"/>
                </a:solidFill>
                <a:latin typeface="Arial"/>
                <a:cs typeface="Arial"/>
              </a:rPr>
              <a:t>key</a:t>
            </a:r>
            <a:endParaRPr>
              <a:latin typeface="Arial"/>
              <a:cs typeface="Arial"/>
            </a:endParaRPr>
          </a:p>
          <a:p>
            <a:pPr>
              <a:spcBef>
                <a:spcPts val="866"/>
              </a:spcBef>
            </a:pPr>
            <a:endParaRPr>
              <a:latin typeface="Arial"/>
              <a:cs typeface="Arial"/>
            </a:endParaRPr>
          </a:p>
          <a:p>
            <a:pPr marL="45600">
              <a:lnSpc>
                <a:spcPts val="1541"/>
              </a:lnSpc>
            </a:pPr>
            <a:r>
              <a:rPr sz="1400" dirty="0">
                <a:latin typeface="Arial MT"/>
                <a:cs typeface="Arial MT"/>
              </a:rPr>
              <a:t>Violation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Example:</a:t>
            </a:r>
            <a:endParaRPr sz="1400">
              <a:latin typeface="Arial MT"/>
              <a:cs typeface="Arial MT"/>
            </a:endParaRPr>
          </a:p>
          <a:p>
            <a:pPr marL="4781227">
              <a:lnSpc>
                <a:spcPts val="1541"/>
              </a:lnSpc>
            </a:pPr>
            <a:r>
              <a:rPr sz="1400" dirty="0">
                <a:latin typeface="Arial MT"/>
                <a:cs typeface="Arial MT"/>
              </a:rPr>
              <a:t>2NF</a:t>
            </a:r>
            <a:r>
              <a:rPr sz="1400" spc="-51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Solution: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448" y="4778841"/>
            <a:ext cx="2584952" cy="223281"/>
          </a:xfrm>
          <a:prstGeom prst="rect">
            <a:avLst/>
          </a:prstGeom>
        </p:spPr>
        <p:txBody>
          <a:bodyPr vert="horz" wrap="square" lIns="0" tIns="7762" rIns="0" bIns="0" rtlCol="0">
            <a:spAutoFit/>
          </a:bodyPr>
          <a:lstStyle/>
          <a:p>
            <a:pPr marL="6468">
              <a:spcBef>
                <a:spcPts val="61"/>
              </a:spcBef>
            </a:pPr>
            <a:r>
              <a:rPr sz="1400" dirty="0">
                <a:latin typeface="Arial MT"/>
                <a:cs typeface="Arial MT"/>
              </a:rPr>
              <a:t>Partial</a:t>
            </a:r>
            <a:r>
              <a:rPr sz="1400" spc="3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Dependencies: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448" y="5060617"/>
            <a:ext cx="88090" cy="1060877"/>
          </a:xfrm>
          <a:prstGeom prst="rect">
            <a:avLst/>
          </a:prstGeom>
        </p:spPr>
        <p:txBody>
          <a:bodyPr vert="horz" wrap="square" lIns="0" tIns="94434" rIns="0" bIns="0" rtlCol="0">
            <a:spAutoFit/>
          </a:bodyPr>
          <a:lstStyle/>
          <a:p>
            <a:pPr marL="6468">
              <a:spcBef>
                <a:spcPts val="744"/>
              </a:spcBef>
            </a:pPr>
            <a:r>
              <a:rPr sz="1700" spc="66" dirty="0">
                <a:latin typeface="Arial MT"/>
                <a:cs typeface="Arial MT"/>
              </a:rPr>
              <a:t>-</a:t>
            </a:r>
            <a:endParaRPr sz="1700">
              <a:latin typeface="Arial MT"/>
              <a:cs typeface="Arial MT"/>
            </a:endParaRPr>
          </a:p>
          <a:p>
            <a:pPr marL="6468">
              <a:spcBef>
                <a:spcPts val="693"/>
              </a:spcBef>
            </a:pPr>
            <a:r>
              <a:rPr sz="1700" spc="66" dirty="0">
                <a:latin typeface="Arial MT"/>
                <a:cs typeface="Arial MT"/>
              </a:rPr>
              <a:t>-</a:t>
            </a:r>
            <a:endParaRPr sz="1700">
              <a:latin typeface="Arial MT"/>
              <a:cs typeface="Arial MT"/>
            </a:endParaRPr>
          </a:p>
          <a:p>
            <a:pPr marL="6468">
              <a:spcBef>
                <a:spcPts val="716"/>
              </a:spcBef>
            </a:pPr>
            <a:r>
              <a:rPr sz="1700" spc="66" dirty="0">
                <a:latin typeface="Arial MT"/>
                <a:cs typeface="Arial MT"/>
              </a:rPr>
              <a:t>-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7108" y="5197912"/>
            <a:ext cx="3612491" cy="938670"/>
          </a:xfrm>
          <a:prstGeom prst="rect">
            <a:avLst/>
          </a:prstGeom>
        </p:spPr>
        <p:txBody>
          <a:bodyPr vert="horz" wrap="square" lIns="0" tIns="7762" rIns="0" bIns="0" rtlCol="0">
            <a:spAutoFit/>
          </a:bodyPr>
          <a:lstStyle/>
          <a:p>
            <a:pPr marL="6468">
              <a:spcBef>
                <a:spcPts val="61"/>
              </a:spcBef>
            </a:pPr>
            <a:r>
              <a:rPr sz="1400" dirty="0">
                <a:latin typeface="Arial MT"/>
                <a:cs typeface="Arial MT"/>
              </a:rPr>
              <a:t>StudentName</a:t>
            </a:r>
            <a:r>
              <a:rPr sz="1400" spc="6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depends</a:t>
            </a:r>
            <a:r>
              <a:rPr sz="1400" spc="6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only</a:t>
            </a:r>
            <a:r>
              <a:rPr sz="1400" spc="6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on</a:t>
            </a:r>
            <a:r>
              <a:rPr sz="1400" spc="64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StudentID</a:t>
            </a:r>
            <a:endParaRPr sz="1400" dirty="0">
              <a:latin typeface="Arial MT"/>
              <a:cs typeface="Arial MT"/>
            </a:endParaRPr>
          </a:p>
          <a:p>
            <a:pPr marL="6468" marR="107371">
              <a:lnSpc>
                <a:spcPts val="2811"/>
              </a:lnSpc>
              <a:spcBef>
                <a:spcPts val="145"/>
              </a:spcBef>
            </a:pPr>
            <a:r>
              <a:rPr sz="1400" dirty="0">
                <a:latin typeface="Arial MT"/>
                <a:cs typeface="Arial MT"/>
              </a:rPr>
              <a:t>CourseName</a:t>
            </a:r>
            <a:r>
              <a:rPr sz="1400" spc="41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depends</a:t>
            </a:r>
            <a:r>
              <a:rPr sz="1400" spc="43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only</a:t>
            </a:r>
            <a:r>
              <a:rPr sz="1400" spc="43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on</a:t>
            </a:r>
            <a:r>
              <a:rPr sz="1400" spc="43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CourseID </a:t>
            </a:r>
            <a:r>
              <a:rPr sz="1400" dirty="0">
                <a:latin typeface="Arial MT"/>
                <a:cs typeface="Arial MT"/>
              </a:rPr>
              <a:t>Grade</a:t>
            </a:r>
            <a:r>
              <a:rPr sz="1400" spc="36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depends</a:t>
            </a:r>
            <a:r>
              <a:rPr sz="1400" spc="36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on</a:t>
            </a:r>
            <a:r>
              <a:rPr sz="1400" spc="38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full</a:t>
            </a:r>
            <a:r>
              <a:rPr sz="1400" spc="36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key</a:t>
            </a:r>
            <a:r>
              <a:rPr sz="1400" spc="38" dirty="0">
                <a:latin typeface="Arial MT"/>
                <a:cs typeface="Arial MT"/>
              </a:rPr>
              <a:t> </a:t>
            </a:r>
            <a:r>
              <a:rPr sz="1400" spc="-25" dirty="0">
                <a:latin typeface="Segoe UI Emoji"/>
                <a:cs typeface="Segoe UI Emoji"/>
              </a:rPr>
              <a:t>✓</a:t>
            </a:r>
            <a:endParaRPr sz="1400" dirty="0">
              <a:latin typeface="Segoe UI Emoji"/>
              <a:cs typeface="Segoe UI Emoj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50326" y="3533719"/>
            <a:ext cx="157162" cy="20953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844549" y="3500619"/>
            <a:ext cx="3595504" cy="1260365"/>
          </a:xfrm>
          <a:prstGeom prst="rect">
            <a:avLst/>
          </a:prstGeom>
        </p:spPr>
        <p:txBody>
          <a:bodyPr vert="horz" wrap="square" lIns="0" tIns="7762" rIns="0" bIns="0" rtlCol="0">
            <a:spAutoFit/>
          </a:bodyPr>
          <a:lstStyle/>
          <a:p>
            <a:pPr marL="231235">
              <a:spcBef>
                <a:spcPts val="61"/>
              </a:spcBef>
            </a:pPr>
            <a:r>
              <a:rPr sz="1400" dirty="0">
                <a:latin typeface="Courier New"/>
                <a:cs typeface="Courier New"/>
              </a:rPr>
              <a:t>Student(StudentID,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StudentName)</a:t>
            </a:r>
            <a:endParaRPr sz="1400">
              <a:latin typeface="Courier New"/>
              <a:cs typeface="Courier New"/>
            </a:endParaRPr>
          </a:p>
          <a:p>
            <a:pPr marL="6468" marR="2587">
              <a:lnSpc>
                <a:spcPct val="162900"/>
              </a:lnSpc>
              <a:spcBef>
                <a:spcPts val="53"/>
              </a:spcBef>
            </a:pPr>
            <a:r>
              <a:rPr sz="1400" dirty="0">
                <a:latin typeface="Courier New"/>
                <a:cs typeface="Courier New"/>
              </a:rPr>
              <a:t>Course(CourseID,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CourseName) </a:t>
            </a:r>
            <a:r>
              <a:rPr sz="1400" dirty="0">
                <a:latin typeface="Courier New"/>
                <a:cs typeface="Courier New"/>
              </a:rPr>
              <a:t>Enrollment(StudentID,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CourseID,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Grade)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44549" y="5571326"/>
            <a:ext cx="3535429" cy="441916"/>
          </a:xfrm>
          <a:prstGeom prst="rect">
            <a:avLst/>
          </a:prstGeom>
        </p:spPr>
        <p:txBody>
          <a:bodyPr vert="horz" wrap="square" lIns="0" tIns="3881" rIns="0" bIns="0" rtlCol="0">
            <a:spAutoFit/>
          </a:bodyPr>
          <a:lstStyle/>
          <a:p>
            <a:pPr marL="6468" marR="2587">
              <a:lnSpc>
                <a:spcPct val="101800"/>
              </a:lnSpc>
              <a:spcBef>
                <a:spcPts val="31"/>
              </a:spcBef>
            </a:pPr>
            <a:r>
              <a:rPr sz="1400" b="1" dirty="0">
                <a:solidFill>
                  <a:srgbClr val="0076BA"/>
                </a:solidFill>
                <a:latin typeface="Arial"/>
                <a:cs typeface="Arial"/>
              </a:rPr>
              <a:t>Key</a:t>
            </a:r>
            <a:r>
              <a:rPr sz="1400" b="1" spc="-10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76BA"/>
                </a:solidFill>
                <a:latin typeface="Arial"/>
                <a:cs typeface="Arial"/>
              </a:rPr>
              <a:t>Point:</a:t>
            </a:r>
            <a:r>
              <a:rPr sz="1400" b="1" spc="-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76BA"/>
                </a:solidFill>
                <a:latin typeface="Arial"/>
                <a:cs typeface="Arial"/>
              </a:rPr>
              <a:t>If</a:t>
            </a:r>
            <a:r>
              <a:rPr sz="1400" b="1" spc="-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76BA"/>
                </a:solidFill>
                <a:latin typeface="Arial"/>
                <a:cs typeface="Arial"/>
              </a:rPr>
              <a:t>primary</a:t>
            </a:r>
            <a:r>
              <a:rPr sz="1400" b="1" spc="-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76BA"/>
                </a:solidFill>
                <a:latin typeface="Arial"/>
                <a:cs typeface="Arial"/>
              </a:rPr>
              <a:t>key</a:t>
            </a:r>
            <a:r>
              <a:rPr sz="1400" b="1" spc="-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76BA"/>
                </a:solidFill>
                <a:latin typeface="Arial"/>
                <a:cs typeface="Arial"/>
              </a:rPr>
              <a:t>is</a:t>
            </a:r>
            <a:r>
              <a:rPr sz="1400" b="1" spc="-10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76BA"/>
                </a:solidFill>
                <a:latin typeface="Arial"/>
                <a:cs typeface="Arial"/>
              </a:rPr>
              <a:t>single</a:t>
            </a:r>
            <a:r>
              <a:rPr sz="1400" b="1" spc="-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76BA"/>
                </a:solidFill>
                <a:latin typeface="Arial"/>
                <a:cs typeface="Arial"/>
              </a:rPr>
              <a:t>attribute,</a:t>
            </a:r>
            <a:r>
              <a:rPr sz="1400" b="1" spc="-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400" b="1" spc="-13" dirty="0">
                <a:solidFill>
                  <a:srgbClr val="0076BA"/>
                </a:solidFill>
                <a:latin typeface="Arial"/>
                <a:cs typeface="Arial"/>
              </a:rPr>
              <a:t>you </a:t>
            </a:r>
            <a:r>
              <a:rPr sz="1400" b="1" dirty="0">
                <a:solidFill>
                  <a:srgbClr val="0076BA"/>
                </a:solidFill>
                <a:latin typeface="Arial"/>
                <a:cs typeface="Arial"/>
              </a:rPr>
              <a:t>automatically</a:t>
            </a:r>
            <a:r>
              <a:rPr sz="1400" b="1" spc="-4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76BA"/>
                </a:solidFill>
                <a:latin typeface="Arial"/>
                <a:cs typeface="Arial"/>
              </a:rPr>
              <a:t>satisfy</a:t>
            </a:r>
            <a:r>
              <a:rPr sz="1400" b="1" spc="-41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76BA"/>
                </a:solidFill>
                <a:latin typeface="Arial"/>
                <a:cs typeface="Arial"/>
              </a:rPr>
              <a:t>2NF!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0657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211649"/>
            <a:ext cx="8382000" cy="714417"/>
          </a:xfrm>
          <a:prstGeom prst="rect">
            <a:avLst/>
          </a:prstGeom>
        </p:spPr>
        <p:txBody>
          <a:bodyPr vert="horz" wrap="square" lIns="0" tIns="6468" rIns="0" bIns="0" rtlCol="0">
            <a:spAutoFit/>
          </a:bodyPr>
          <a:lstStyle/>
          <a:p>
            <a:pPr marL="6468">
              <a:spcBef>
                <a:spcPts val="51"/>
              </a:spcBef>
            </a:pPr>
            <a:r>
              <a:rPr spc="48" dirty="0"/>
              <a:t>Third</a:t>
            </a:r>
            <a:r>
              <a:rPr spc="5" dirty="0"/>
              <a:t> </a:t>
            </a:r>
            <a:r>
              <a:rPr spc="64" dirty="0"/>
              <a:t>Normal</a:t>
            </a:r>
            <a:r>
              <a:rPr spc="5" dirty="0"/>
              <a:t> </a:t>
            </a:r>
            <a:r>
              <a:rPr spc="69" dirty="0"/>
              <a:t>Form</a:t>
            </a:r>
            <a:r>
              <a:rPr spc="5" dirty="0"/>
              <a:t> </a:t>
            </a:r>
            <a:r>
              <a:rPr spc="-74" dirty="0"/>
              <a:t>(3NF)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0256" y="1355977"/>
            <a:ext cx="7725544" cy="915697"/>
          </a:xfrm>
          <a:prstGeom prst="rect">
            <a:avLst/>
          </a:prstGeom>
        </p:spPr>
        <p:txBody>
          <a:bodyPr vert="horz" wrap="square" lIns="0" tIns="6792" rIns="0" bIns="0" rtlCol="0">
            <a:spAutoFit/>
          </a:bodyPr>
          <a:lstStyle/>
          <a:p>
            <a:pPr marL="6468">
              <a:spcBef>
                <a:spcPts val="53"/>
              </a:spcBef>
            </a:pPr>
            <a:r>
              <a:rPr sz="2000" b="1" spc="-5" dirty="0">
                <a:solidFill>
                  <a:srgbClr val="0076BA"/>
                </a:solidFill>
                <a:latin typeface="Arial"/>
                <a:cs typeface="Arial"/>
              </a:rPr>
              <a:t>Rule:</a:t>
            </a:r>
            <a:r>
              <a:rPr sz="2000" b="1" spc="-1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Must</a:t>
            </a:r>
            <a:r>
              <a:rPr sz="2000" b="1" spc="-1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be</a:t>
            </a:r>
            <a:r>
              <a:rPr sz="2000" b="1" spc="-1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in</a:t>
            </a:r>
            <a:r>
              <a:rPr sz="2000" b="1" spc="-1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2NF</a:t>
            </a:r>
            <a:r>
              <a:rPr sz="2000" b="1" spc="-1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+</a:t>
            </a:r>
            <a:r>
              <a:rPr sz="2000" b="1" spc="-1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No</a:t>
            </a:r>
            <a:r>
              <a:rPr sz="2000" b="1" spc="-15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transitive</a:t>
            </a:r>
            <a:r>
              <a:rPr sz="2000" b="1" spc="-1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76BA"/>
                </a:solidFill>
                <a:latin typeface="Arial"/>
                <a:cs typeface="Arial"/>
              </a:rPr>
              <a:t>dependencies</a:t>
            </a:r>
            <a:endParaRPr sz="2000" dirty="0">
              <a:latin typeface="Arial"/>
              <a:cs typeface="Arial"/>
            </a:endParaRPr>
          </a:p>
          <a:p>
            <a:pPr>
              <a:spcBef>
                <a:spcPts val="247"/>
              </a:spcBef>
            </a:pPr>
            <a:endParaRPr sz="2000" dirty="0">
              <a:latin typeface="Arial"/>
              <a:cs typeface="Arial"/>
            </a:endParaRPr>
          </a:p>
          <a:p>
            <a:pPr marL="6468"/>
            <a:r>
              <a:rPr sz="1700" b="1" spc="-13" dirty="0">
                <a:solidFill>
                  <a:srgbClr val="0076BA"/>
                </a:solidFill>
                <a:latin typeface="Arial"/>
                <a:cs typeface="Arial"/>
              </a:rPr>
              <a:t>Transitive</a:t>
            </a:r>
            <a:r>
              <a:rPr sz="1700" b="1" spc="-31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076BA"/>
                </a:solidFill>
                <a:latin typeface="Arial"/>
                <a:cs typeface="Arial"/>
              </a:rPr>
              <a:t>Dependency:</a:t>
            </a:r>
            <a:r>
              <a:rPr sz="1700" b="1" spc="-2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076BA"/>
                </a:solidFill>
                <a:latin typeface="Arial"/>
                <a:cs typeface="Arial"/>
              </a:rPr>
              <a:t>A</a:t>
            </a:r>
            <a:r>
              <a:rPr sz="1700" b="1" spc="-31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076BA"/>
                </a:solidFill>
                <a:latin typeface="Arial"/>
                <a:cs typeface="Arial"/>
              </a:rPr>
              <a:t>→</a:t>
            </a:r>
            <a:r>
              <a:rPr sz="1700" b="1" spc="-2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076BA"/>
                </a:solidFill>
                <a:latin typeface="Arial"/>
                <a:cs typeface="Arial"/>
              </a:rPr>
              <a:t>B</a:t>
            </a:r>
            <a:r>
              <a:rPr sz="1700" b="1" spc="-31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076BA"/>
                </a:solidFill>
                <a:latin typeface="Arial"/>
                <a:cs typeface="Arial"/>
              </a:rPr>
              <a:t>→</a:t>
            </a:r>
            <a:r>
              <a:rPr sz="1700" b="1" spc="-2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00" b="1" spc="36" dirty="0">
                <a:solidFill>
                  <a:srgbClr val="0076BA"/>
                </a:solidFill>
                <a:latin typeface="Arial"/>
                <a:cs typeface="Arial"/>
              </a:rPr>
              <a:t>C</a:t>
            </a:r>
            <a:r>
              <a:rPr sz="1700" b="1" spc="-31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076BA"/>
                </a:solidFill>
                <a:latin typeface="Arial"/>
                <a:cs typeface="Arial"/>
              </a:rPr>
              <a:t>(where</a:t>
            </a:r>
            <a:r>
              <a:rPr sz="1700" b="1" spc="-2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076BA"/>
                </a:solidFill>
                <a:latin typeface="Arial"/>
                <a:cs typeface="Arial"/>
              </a:rPr>
              <a:t>A</a:t>
            </a:r>
            <a:r>
              <a:rPr sz="1700" b="1" spc="-31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076BA"/>
                </a:solidFill>
                <a:latin typeface="Arial"/>
                <a:cs typeface="Arial"/>
              </a:rPr>
              <a:t>is</a:t>
            </a:r>
            <a:r>
              <a:rPr sz="1700" b="1" spc="-2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076BA"/>
                </a:solidFill>
                <a:latin typeface="Arial"/>
                <a:cs typeface="Arial"/>
              </a:rPr>
              <a:t>key,</a:t>
            </a:r>
            <a:r>
              <a:rPr sz="1700" b="1" spc="-31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00" b="1" spc="36" dirty="0">
                <a:solidFill>
                  <a:srgbClr val="0076BA"/>
                </a:solidFill>
                <a:latin typeface="Arial"/>
                <a:cs typeface="Arial"/>
              </a:rPr>
              <a:t>C</a:t>
            </a:r>
            <a:r>
              <a:rPr sz="1700" b="1" spc="-2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076BA"/>
                </a:solidFill>
                <a:latin typeface="Arial"/>
                <a:cs typeface="Arial"/>
              </a:rPr>
              <a:t>is</a:t>
            </a:r>
            <a:r>
              <a:rPr sz="1700" b="1" spc="-31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076BA"/>
                </a:solidFill>
                <a:latin typeface="Arial"/>
                <a:cs typeface="Arial"/>
              </a:rPr>
              <a:t>non-</a:t>
            </a:r>
            <a:r>
              <a:rPr sz="1700" b="1" spc="-5" dirty="0">
                <a:solidFill>
                  <a:srgbClr val="0076BA"/>
                </a:solidFill>
                <a:latin typeface="Arial"/>
                <a:cs typeface="Arial"/>
              </a:rPr>
              <a:t>prime)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5448" y="2680127"/>
            <a:ext cx="1975352" cy="223281"/>
          </a:xfrm>
          <a:prstGeom prst="rect">
            <a:avLst/>
          </a:prstGeom>
        </p:spPr>
        <p:txBody>
          <a:bodyPr vert="horz" wrap="square" lIns="0" tIns="7762" rIns="0" bIns="0" rtlCol="0">
            <a:spAutoFit/>
          </a:bodyPr>
          <a:lstStyle/>
          <a:p>
            <a:pPr marL="6468">
              <a:spcBef>
                <a:spcPts val="61"/>
              </a:spcBef>
            </a:pPr>
            <a:r>
              <a:rPr sz="1400" dirty="0">
                <a:latin typeface="Arial MT"/>
                <a:cs typeface="Arial MT"/>
              </a:rPr>
              <a:t>Violation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Example: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224" y="3142712"/>
            <a:ext cx="157162" cy="20953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5334000"/>
            <a:ext cx="157162" cy="2095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33400" y="3072393"/>
            <a:ext cx="4572000" cy="2871207"/>
          </a:xfrm>
          <a:prstGeom prst="rect">
            <a:avLst/>
          </a:prstGeom>
        </p:spPr>
        <p:txBody>
          <a:bodyPr vert="horz" wrap="square" lIns="0" tIns="22962" rIns="0" bIns="0" rtlCol="0">
            <a:spAutoFit/>
          </a:bodyPr>
          <a:lstStyle/>
          <a:p>
            <a:pPr marL="6468" marR="143269" indent="281363">
              <a:lnSpc>
                <a:spcPts val="1569"/>
              </a:lnSpc>
              <a:spcBef>
                <a:spcPts val="181"/>
              </a:spcBef>
            </a:pPr>
            <a:r>
              <a:rPr sz="1400" dirty="0">
                <a:latin typeface="Courier New"/>
                <a:cs typeface="Courier New"/>
              </a:rPr>
              <a:t>Employee(EmpID, Name,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Department, </a:t>
            </a:r>
            <a:r>
              <a:rPr sz="1400" dirty="0">
                <a:latin typeface="Courier New"/>
                <a:cs typeface="Courier New"/>
              </a:rPr>
              <a:t>DeptHead,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DeptBudget)</a:t>
            </a:r>
            <a:endParaRPr sz="1400" dirty="0">
              <a:latin typeface="Courier New"/>
              <a:cs typeface="Courier New"/>
            </a:endParaRPr>
          </a:p>
          <a:p>
            <a:pPr marL="6468">
              <a:spcBef>
                <a:spcPts val="1166"/>
              </a:spcBef>
            </a:pPr>
            <a:r>
              <a:rPr sz="1400" spc="-5" dirty="0">
                <a:latin typeface="Arial MT"/>
                <a:cs typeface="Arial MT"/>
              </a:rPr>
              <a:t>Dependencies:</a:t>
            </a:r>
            <a:endParaRPr sz="1400" dirty="0">
              <a:latin typeface="Arial MT"/>
              <a:cs typeface="Arial MT"/>
            </a:endParaRPr>
          </a:p>
          <a:p>
            <a:pPr marL="6468">
              <a:spcBef>
                <a:spcPts val="955"/>
              </a:spcBef>
            </a:pPr>
            <a:r>
              <a:rPr sz="1400" dirty="0">
                <a:latin typeface="Courier New"/>
                <a:cs typeface="Courier New"/>
              </a:rPr>
              <a:t>EmpID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→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Department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(direct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dependency</a:t>
            </a:r>
            <a:endParaRPr sz="1400" dirty="0">
              <a:latin typeface="Courier New"/>
              <a:cs typeface="Courier New"/>
            </a:endParaRPr>
          </a:p>
          <a:p>
            <a:pPr marL="6468">
              <a:spcBef>
                <a:spcPts val="76"/>
              </a:spcBef>
            </a:pPr>
            <a:r>
              <a:rPr sz="1400" spc="-288" dirty="0">
                <a:latin typeface="SimSun-ExtB"/>
                <a:cs typeface="SimSun-ExtB"/>
              </a:rPr>
              <a:t>✓</a:t>
            </a:r>
            <a:r>
              <a:rPr sz="1400" spc="-288" dirty="0">
                <a:latin typeface="Courier New"/>
                <a:cs typeface="Courier New"/>
              </a:rPr>
              <a:t>)</a:t>
            </a:r>
            <a:endParaRPr sz="1400" dirty="0">
              <a:latin typeface="Courier New"/>
              <a:cs typeface="Courier New"/>
            </a:endParaRPr>
          </a:p>
          <a:p>
            <a:pPr marL="6468" marR="424955">
              <a:lnSpc>
                <a:spcPct val="108400"/>
              </a:lnSpc>
              <a:spcBef>
                <a:spcPts val="898"/>
              </a:spcBef>
              <a:tabLst>
                <a:tab pos="1344073" algn="l"/>
              </a:tabLst>
            </a:pPr>
            <a:r>
              <a:rPr sz="1400" dirty="0">
                <a:latin typeface="Courier New"/>
                <a:cs typeface="Courier New"/>
              </a:rPr>
              <a:t>Department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→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DeptHead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(transitive dependency</a:t>
            </a:r>
            <a:r>
              <a:rPr sz="1400" dirty="0">
                <a:latin typeface="Courier New"/>
                <a:cs typeface="Courier New"/>
              </a:rPr>
              <a:t>	</a:t>
            </a:r>
            <a:r>
              <a:rPr sz="1400" spc="-25" dirty="0">
                <a:latin typeface="Courier New"/>
                <a:cs typeface="Courier New"/>
              </a:rPr>
              <a:t>)</a:t>
            </a:r>
            <a:endParaRPr sz="1400" dirty="0">
              <a:latin typeface="Courier New"/>
              <a:cs typeface="Courier New"/>
            </a:endParaRPr>
          </a:p>
          <a:p>
            <a:pPr marL="6468" marR="213771">
              <a:lnSpc>
                <a:spcPct val="108400"/>
              </a:lnSpc>
              <a:spcBef>
                <a:spcPts val="917"/>
              </a:spcBef>
              <a:tabLst>
                <a:tab pos="1344073" algn="l"/>
              </a:tabLst>
            </a:pPr>
            <a:r>
              <a:rPr sz="1400" dirty="0">
                <a:latin typeface="Courier New"/>
                <a:cs typeface="Courier New"/>
              </a:rPr>
              <a:t>Department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dirty="0" smtClean="0">
                <a:latin typeface="Courier New"/>
                <a:cs typeface="Courier New"/>
              </a:rPr>
              <a:t>→</a:t>
            </a:r>
            <a:r>
              <a:rPr sz="1400" spc="5" dirty="0" smtClean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DeptBudget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(transitive dependency</a:t>
            </a:r>
            <a:r>
              <a:rPr sz="1400" dirty="0">
                <a:latin typeface="Courier New"/>
                <a:cs typeface="Courier New"/>
              </a:rPr>
              <a:t>	</a:t>
            </a:r>
            <a:r>
              <a:rPr sz="1400" spc="-25" dirty="0">
                <a:latin typeface="Courier New"/>
                <a:cs typeface="Courier New"/>
              </a:rPr>
              <a:t>)</a:t>
            </a:r>
            <a:endParaRPr sz="1400" dirty="0">
              <a:latin typeface="Courier New"/>
              <a:cs typeface="Courier New"/>
            </a:endParaRPr>
          </a:p>
          <a:p>
            <a:pPr marL="6468">
              <a:spcBef>
                <a:spcPts val="1054"/>
              </a:spcBef>
            </a:pPr>
            <a:r>
              <a:rPr sz="1400" b="1" dirty="0">
                <a:latin typeface="Courier New"/>
                <a:cs typeface="Courier New"/>
              </a:rPr>
              <a:t>Chain:</a:t>
            </a:r>
            <a:r>
              <a:rPr sz="1400" b="1" spc="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EmpID</a:t>
            </a:r>
            <a:r>
              <a:rPr sz="1400" b="1" spc="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→</a:t>
            </a:r>
            <a:r>
              <a:rPr sz="1400" b="1" spc="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Department</a:t>
            </a:r>
            <a:r>
              <a:rPr sz="1400" b="1" spc="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→</a:t>
            </a:r>
            <a:r>
              <a:rPr sz="1400" b="1" spc="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DeptHead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44549" y="2575762"/>
            <a:ext cx="1632451" cy="223281"/>
          </a:xfrm>
          <a:prstGeom prst="rect">
            <a:avLst/>
          </a:prstGeom>
        </p:spPr>
        <p:txBody>
          <a:bodyPr vert="horz" wrap="square" lIns="0" tIns="7762" rIns="0" bIns="0" rtlCol="0">
            <a:spAutoFit/>
          </a:bodyPr>
          <a:lstStyle/>
          <a:p>
            <a:pPr marL="6468">
              <a:spcBef>
                <a:spcPts val="61"/>
              </a:spcBef>
            </a:pPr>
            <a:r>
              <a:rPr sz="1400" dirty="0">
                <a:latin typeface="Arial MT"/>
                <a:cs typeface="Arial MT"/>
              </a:rPr>
              <a:t>3NF</a:t>
            </a:r>
            <a:r>
              <a:rPr sz="1400" spc="-51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Solution: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50326" y="3038348"/>
            <a:ext cx="157162" cy="20953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844548" y="3005249"/>
            <a:ext cx="3842251" cy="1000861"/>
          </a:xfrm>
          <a:prstGeom prst="rect">
            <a:avLst/>
          </a:prstGeom>
        </p:spPr>
        <p:txBody>
          <a:bodyPr vert="horz" wrap="square" lIns="0" tIns="18758" rIns="0" bIns="0" rtlCol="0">
            <a:spAutoFit/>
          </a:bodyPr>
          <a:lstStyle/>
          <a:p>
            <a:pPr marL="6468" marR="2587" indent="281363">
              <a:lnSpc>
                <a:spcPct val="94700"/>
              </a:lnSpc>
              <a:spcBef>
                <a:spcPts val="148"/>
              </a:spcBef>
            </a:pPr>
            <a:r>
              <a:rPr sz="1400" dirty="0">
                <a:latin typeface="Courier New"/>
                <a:cs typeface="Courier New"/>
              </a:rPr>
              <a:t>Employee(EmpID, Name,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Department) </a:t>
            </a:r>
            <a:r>
              <a:rPr sz="1400" dirty="0">
                <a:latin typeface="Courier New"/>
                <a:cs typeface="Courier New"/>
              </a:rPr>
              <a:t>Department(Department,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DeptHead, DeptBudget)</a:t>
            </a:r>
            <a:endParaRPr sz="1400" dirty="0">
              <a:latin typeface="Courier New"/>
              <a:cs typeface="Courier New"/>
            </a:endParaRPr>
          </a:p>
          <a:p>
            <a:pPr marL="6468">
              <a:spcBef>
                <a:spcPts val="1204"/>
              </a:spcBef>
            </a:pPr>
            <a:r>
              <a:rPr sz="1400" dirty="0">
                <a:latin typeface="Arial MT"/>
                <a:cs typeface="Arial MT"/>
              </a:rPr>
              <a:t>Another</a:t>
            </a:r>
            <a:r>
              <a:rPr sz="1400" spc="48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Example: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0326" y="4371754"/>
            <a:ext cx="157162" cy="20953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844548" y="4338655"/>
            <a:ext cx="3918451" cy="1109360"/>
          </a:xfrm>
          <a:prstGeom prst="rect">
            <a:avLst/>
          </a:prstGeom>
        </p:spPr>
        <p:txBody>
          <a:bodyPr vert="horz" wrap="square" lIns="0" tIns="22962" rIns="0" bIns="0" rtlCol="0">
            <a:spAutoFit/>
          </a:bodyPr>
          <a:lstStyle/>
          <a:p>
            <a:pPr marL="6468" marR="671390" indent="281363">
              <a:lnSpc>
                <a:spcPts val="1569"/>
              </a:lnSpc>
              <a:spcBef>
                <a:spcPts val="181"/>
              </a:spcBef>
            </a:pPr>
            <a:r>
              <a:rPr sz="1400" dirty="0">
                <a:latin typeface="Courier New"/>
                <a:cs typeface="Courier New"/>
              </a:rPr>
              <a:t>Order(OrderID,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CustomerID, </a:t>
            </a:r>
            <a:r>
              <a:rPr sz="1400" dirty="0">
                <a:latin typeface="Courier New"/>
                <a:cs typeface="Courier New"/>
              </a:rPr>
              <a:t>CustomerName,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CustomerCity)</a:t>
            </a:r>
            <a:endParaRPr sz="1400" dirty="0">
              <a:latin typeface="Courier New"/>
              <a:cs typeface="Courier New"/>
            </a:endParaRPr>
          </a:p>
          <a:p>
            <a:pPr marL="6468" marR="2587">
              <a:lnSpc>
                <a:spcPts val="2689"/>
              </a:lnSpc>
              <a:spcBef>
                <a:spcPts val="122"/>
              </a:spcBef>
            </a:pPr>
            <a:r>
              <a:rPr sz="1400" dirty="0">
                <a:latin typeface="Courier New"/>
                <a:cs typeface="Courier New"/>
              </a:rPr>
              <a:t>OrderID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→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CustomerID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→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CustomerName </a:t>
            </a:r>
            <a:r>
              <a:rPr sz="1400" dirty="0">
                <a:latin typeface="Courier New"/>
                <a:cs typeface="Courier New"/>
              </a:rPr>
              <a:t>OrderID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→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CustomerID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→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CustomerCity</a:t>
            </a:r>
            <a:endParaRPr sz="1400" dirty="0">
              <a:latin typeface="Courier New"/>
              <a:cs typeface="Courier New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50326" y="5863900"/>
            <a:ext cx="157162" cy="20953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844549" y="5830800"/>
            <a:ext cx="3218307" cy="632919"/>
          </a:xfrm>
          <a:prstGeom prst="rect">
            <a:avLst/>
          </a:prstGeom>
        </p:spPr>
        <p:txBody>
          <a:bodyPr vert="horz" wrap="square" lIns="0" tIns="18758" rIns="0" bIns="0" rtlCol="0">
            <a:spAutoFit/>
          </a:bodyPr>
          <a:lstStyle/>
          <a:p>
            <a:pPr marL="6468" marR="2587" indent="281363">
              <a:lnSpc>
                <a:spcPct val="94700"/>
              </a:lnSpc>
              <a:spcBef>
                <a:spcPts val="148"/>
              </a:spcBef>
            </a:pPr>
            <a:r>
              <a:rPr sz="1400" dirty="0">
                <a:latin typeface="Courier New"/>
                <a:cs typeface="Courier New"/>
              </a:rPr>
              <a:t>Order(OrderID,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CustomerID) </a:t>
            </a:r>
            <a:r>
              <a:rPr sz="1400" dirty="0">
                <a:latin typeface="Courier New"/>
                <a:cs typeface="Courier New"/>
              </a:rPr>
              <a:t>Customer(CustomerID,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CustomerName, CustomerCity)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16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4800600"/>
            <a:ext cx="157162" cy="20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0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344232" y="457200"/>
            <a:ext cx="9525000" cy="622084"/>
          </a:xfrm>
          <a:prstGeom prst="rect">
            <a:avLst/>
          </a:prstGeom>
        </p:spPr>
        <p:txBody>
          <a:bodyPr vert="horz" wrap="square" lIns="0" tIns="6468" rIns="0" bIns="0" rtlCol="0">
            <a:spAutoFit/>
          </a:bodyPr>
          <a:lstStyle/>
          <a:p>
            <a:pPr marL="395848">
              <a:spcBef>
                <a:spcPts val="51"/>
              </a:spcBef>
            </a:pPr>
            <a:r>
              <a:rPr sz="4000" spc="122" dirty="0"/>
              <a:t>Boyce-</a:t>
            </a:r>
            <a:r>
              <a:rPr sz="4000" spc="143" dirty="0"/>
              <a:t>Codd</a:t>
            </a:r>
            <a:r>
              <a:rPr sz="4000" spc="8" dirty="0"/>
              <a:t> </a:t>
            </a:r>
            <a:r>
              <a:rPr sz="4000" spc="64" dirty="0"/>
              <a:t>Normal</a:t>
            </a:r>
            <a:r>
              <a:rPr sz="4000" spc="8" dirty="0"/>
              <a:t> </a:t>
            </a:r>
            <a:r>
              <a:rPr sz="4000" spc="69" dirty="0"/>
              <a:t>Form</a:t>
            </a:r>
            <a:r>
              <a:rPr sz="4000" spc="8" dirty="0"/>
              <a:t> </a:t>
            </a:r>
            <a:r>
              <a:rPr sz="4000" spc="-33" dirty="0"/>
              <a:t>(BCNF)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9248" y="1354284"/>
            <a:ext cx="7453255" cy="2044596"/>
          </a:xfrm>
          <a:prstGeom prst="rect">
            <a:avLst/>
          </a:prstGeom>
        </p:spPr>
        <p:txBody>
          <a:bodyPr vert="horz" wrap="square" lIns="0" tIns="6792" rIns="0" bIns="0" rtlCol="0">
            <a:spAutoFit/>
          </a:bodyPr>
          <a:lstStyle/>
          <a:p>
            <a:pPr marL="52068">
              <a:spcBef>
                <a:spcPts val="53"/>
              </a:spcBef>
            </a:pPr>
            <a:r>
              <a:rPr sz="2000" b="1" spc="-5" dirty="0">
                <a:solidFill>
                  <a:srgbClr val="0076BA"/>
                </a:solidFill>
                <a:latin typeface="Arial"/>
                <a:cs typeface="Arial"/>
              </a:rPr>
              <a:t>Rule:</a:t>
            </a:r>
            <a:r>
              <a:rPr sz="2000" b="1" spc="-46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For</a:t>
            </a:r>
            <a:r>
              <a:rPr sz="2000" b="1" spc="-4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every</a:t>
            </a:r>
            <a:r>
              <a:rPr sz="2000" b="1" spc="-4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functional</a:t>
            </a:r>
            <a:r>
              <a:rPr sz="2000" b="1" spc="-4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dependency</a:t>
            </a:r>
            <a:r>
              <a:rPr sz="2000" b="1" spc="-4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A</a:t>
            </a:r>
            <a:r>
              <a:rPr sz="2000" b="1" spc="-4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→</a:t>
            </a:r>
            <a:r>
              <a:rPr sz="2000" b="1" spc="-4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B,</a:t>
            </a:r>
            <a:r>
              <a:rPr sz="2000" b="1" spc="-4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A</a:t>
            </a:r>
            <a:r>
              <a:rPr sz="2000" b="1" spc="-4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must</a:t>
            </a:r>
            <a:r>
              <a:rPr sz="2000" b="1" spc="-4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76BA"/>
                </a:solidFill>
                <a:latin typeface="Arial"/>
                <a:cs typeface="Arial"/>
              </a:rPr>
              <a:t>be</a:t>
            </a:r>
            <a:r>
              <a:rPr sz="2000" b="1" spc="-4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spc="33" dirty="0">
                <a:solidFill>
                  <a:srgbClr val="0076BA"/>
                </a:solidFill>
                <a:latin typeface="Arial"/>
                <a:cs typeface="Arial"/>
              </a:rPr>
              <a:t>a</a:t>
            </a:r>
            <a:r>
              <a:rPr sz="2000" b="1" spc="-43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0076BA"/>
                </a:solidFill>
                <a:latin typeface="Arial"/>
                <a:cs typeface="Arial"/>
              </a:rPr>
              <a:t>superkey</a:t>
            </a:r>
            <a:endParaRPr sz="2000">
              <a:latin typeface="Arial"/>
              <a:cs typeface="Arial"/>
            </a:endParaRPr>
          </a:p>
          <a:p>
            <a:pPr>
              <a:spcBef>
                <a:spcPts val="208"/>
              </a:spcBef>
            </a:pPr>
            <a:endParaRPr sz="2000">
              <a:latin typeface="Arial"/>
              <a:cs typeface="Arial"/>
            </a:endParaRPr>
          </a:p>
          <a:p>
            <a:pPr marL="52068"/>
            <a:r>
              <a:rPr b="1" dirty="0">
                <a:solidFill>
                  <a:srgbClr val="0076BA"/>
                </a:solidFill>
                <a:latin typeface="Arial"/>
                <a:cs typeface="Arial"/>
              </a:rPr>
              <a:t>When</a:t>
            </a:r>
            <a:r>
              <a:rPr b="1" spc="-31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76BA"/>
                </a:solidFill>
                <a:latin typeface="Arial"/>
                <a:cs typeface="Arial"/>
              </a:rPr>
              <a:t>3NF</a:t>
            </a:r>
            <a:r>
              <a:rPr b="1" spc="-2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b="1" spc="94" dirty="0">
                <a:solidFill>
                  <a:srgbClr val="0076BA"/>
                </a:solidFill>
                <a:latin typeface="Arial"/>
                <a:cs typeface="Arial"/>
              </a:rPr>
              <a:t>≠</a:t>
            </a:r>
            <a:r>
              <a:rPr b="1" spc="-31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76BA"/>
                </a:solidFill>
                <a:latin typeface="Arial"/>
                <a:cs typeface="Arial"/>
              </a:rPr>
              <a:t>BCNF:</a:t>
            </a:r>
            <a:r>
              <a:rPr b="1" spc="-31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76BA"/>
                </a:solidFill>
                <a:latin typeface="Arial"/>
                <a:cs typeface="Arial"/>
              </a:rPr>
              <a:t>Overlapping</a:t>
            </a:r>
            <a:r>
              <a:rPr b="1" spc="-28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76BA"/>
                </a:solidFill>
                <a:latin typeface="Arial"/>
                <a:cs typeface="Arial"/>
              </a:rPr>
              <a:t>candidate</a:t>
            </a:r>
            <a:r>
              <a:rPr b="1" spc="-31" dirty="0">
                <a:solidFill>
                  <a:srgbClr val="0076BA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0076BA"/>
                </a:solidFill>
                <a:latin typeface="Arial"/>
                <a:cs typeface="Arial"/>
              </a:rPr>
              <a:t>keys</a:t>
            </a:r>
            <a:endParaRPr>
              <a:latin typeface="Arial"/>
              <a:cs typeface="Arial"/>
            </a:endParaRPr>
          </a:p>
          <a:p>
            <a:pPr>
              <a:spcBef>
                <a:spcPts val="3"/>
              </a:spcBef>
            </a:pPr>
            <a:endParaRPr>
              <a:latin typeface="Arial"/>
              <a:cs typeface="Arial"/>
            </a:endParaRPr>
          </a:p>
          <a:p>
            <a:pPr marL="6468"/>
            <a:r>
              <a:rPr sz="1300" b="1" dirty="0">
                <a:latin typeface="Courier New"/>
                <a:cs typeface="Courier New"/>
              </a:rPr>
              <a:t>StudentAdvisor(StudentID, Major, </a:t>
            </a:r>
            <a:r>
              <a:rPr sz="1300" b="1" spc="-5" dirty="0">
                <a:latin typeface="Courier New"/>
                <a:cs typeface="Courier New"/>
              </a:rPr>
              <a:t>Advisor)</a:t>
            </a:r>
            <a:endParaRPr sz="1300">
              <a:latin typeface="Courier New"/>
              <a:cs typeface="Courier New"/>
            </a:endParaRPr>
          </a:p>
          <a:p>
            <a:pPr marL="6468">
              <a:spcBef>
                <a:spcPts val="1039"/>
              </a:spcBef>
            </a:pPr>
            <a:r>
              <a:rPr sz="1300" dirty="0">
                <a:latin typeface="Arial MT"/>
                <a:cs typeface="Arial MT"/>
              </a:rPr>
              <a:t>Business </a:t>
            </a:r>
            <a:r>
              <a:rPr sz="1300" spc="-5" dirty="0">
                <a:latin typeface="Arial MT"/>
                <a:cs typeface="Arial MT"/>
              </a:rPr>
              <a:t>Rules: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9248" y="3378388"/>
            <a:ext cx="83469" cy="962021"/>
          </a:xfrm>
          <a:prstGeom prst="rect">
            <a:avLst/>
          </a:prstGeom>
        </p:spPr>
        <p:txBody>
          <a:bodyPr vert="horz" wrap="square" lIns="0" tIns="77941" rIns="0" bIns="0" rtlCol="0">
            <a:spAutoFit/>
          </a:bodyPr>
          <a:lstStyle/>
          <a:p>
            <a:pPr marL="6468">
              <a:spcBef>
                <a:spcPts val="614"/>
              </a:spcBef>
            </a:pPr>
            <a:r>
              <a:rPr sz="1600" spc="61" dirty="0">
                <a:latin typeface="Arial MT"/>
                <a:cs typeface="Arial MT"/>
              </a:rPr>
              <a:t>-</a:t>
            </a:r>
            <a:endParaRPr sz="1600">
              <a:latin typeface="Arial MT"/>
              <a:cs typeface="Arial MT"/>
            </a:endParaRPr>
          </a:p>
          <a:p>
            <a:pPr marL="6468">
              <a:spcBef>
                <a:spcPts val="565"/>
              </a:spcBef>
            </a:pPr>
            <a:r>
              <a:rPr sz="1600" spc="61" dirty="0">
                <a:latin typeface="Arial MT"/>
                <a:cs typeface="Arial MT"/>
              </a:rPr>
              <a:t>-</a:t>
            </a:r>
            <a:endParaRPr sz="1600">
              <a:latin typeface="Arial MT"/>
              <a:cs typeface="Arial MT"/>
            </a:endParaRPr>
          </a:p>
          <a:p>
            <a:pPr marL="6468">
              <a:spcBef>
                <a:spcPts val="563"/>
              </a:spcBef>
            </a:pPr>
            <a:r>
              <a:rPr sz="1600" spc="61" dirty="0">
                <a:latin typeface="Arial MT"/>
                <a:cs typeface="Arial MT"/>
              </a:rPr>
              <a:t>-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0908" y="3499089"/>
            <a:ext cx="2545691" cy="206913"/>
          </a:xfrm>
          <a:prstGeom prst="rect">
            <a:avLst/>
          </a:prstGeom>
        </p:spPr>
        <p:txBody>
          <a:bodyPr vert="horz" wrap="square" lIns="0" tIns="6792" rIns="0" bIns="0" rtlCol="0">
            <a:spAutoFit/>
          </a:bodyPr>
          <a:lstStyle/>
          <a:p>
            <a:pPr marL="6468">
              <a:spcBef>
                <a:spcPts val="53"/>
              </a:spcBef>
            </a:pPr>
            <a:r>
              <a:rPr sz="1300" dirty="0">
                <a:latin typeface="Arial MT"/>
                <a:cs typeface="Arial MT"/>
              </a:rPr>
              <a:t>Each</a:t>
            </a:r>
            <a:r>
              <a:rPr sz="1300" spc="8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student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has</a:t>
            </a:r>
            <a:r>
              <a:rPr sz="1300" spc="13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one</a:t>
            </a:r>
            <a:r>
              <a:rPr sz="1300" spc="13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major</a:t>
            </a:r>
            <a:endParaRPr sz="13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0909" y="3813321"/>
            <a:ext cx="3917291" cy="530079"/>
          </a:xfrm>
          <a:prstGeom prst="rect">
            <a:avLst/>
          </a:prstGeom>
        </p:spPr>
        <p:txBody>
          <a:bodyPr vert="horz" wrap="square" lIns="0" tIns="6792" rIns="0" bIns="0" rtlCol="0">
            <a:spAutoFit/>
          </a:bodyPr>
          <a:lstStyle/>
          <a:p>
            <a:pPr marL="6468">
              <a:spcBef>
                <a:spcPts val="53"/>
              </a:spcBef>
            </a:pPr>
            <a:r>
              <a:rPr sz="1300" dirty="0">
                <a:latin typeface="Arial MT"/>
                <a:cs typeface="Arial MT"/>
              </a:rPr>
              <a:t>Each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advisor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works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in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only</a:t>
            </a:r>
            <a:r>
              <a:rPr sz="1300" spc="18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one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major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spc="43" dirty="0">
                <a:latin typeface="Arial MT"/>
                <a:cs typeface="Arial MT"/>
              </a:rPr>
              <a:t>-</a:t>
            </a:r>
            <a:endParaRPr sz="1300" dirty="0">
              <a:latin typeface="Arial MT"/>
              <a:cs typeface="Arial MT"/>
            </a:endParaRPr>
          </a:p>
          <a:p>
            <a:pPr marL="6468">
              <a:spcBef>
                <a:spcPts val="960"/>
              </a:spcBef>
            </a:pPr>
            <a:r>
              <a:rPr sz="1300" dirty="0">
                <a:latin typeface="Arial MT"/>
                <a:cs typeface="Arial MT"/>
              </a:rPr>
              <a:t>Students</a:t>
            </a:r>
            <a:r>
              <a:rPr sz="1300" spc="33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can</a:t>
            </a:r>
            <a:r>
              <a:rPr sz="1300" spc="33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have</a:t>
            </a:r>
            <a:r>
              <a:rPr sz="1300" spc="33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multiple</a:t>
            </a:r>
            <a:r>
              <a:rPr sz="1300" spc="33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advisors</a:t>
            </a:r>
            <a:r>
              <a:rPr sz="1300" spc="31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in</a:t>
            </a:r>
            <a:r>
              <a:rPr sz="1300" spc="33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their</a:t>
            </a:r>
            <a:r>
              <a:rPr sz="1300" spc="33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major</a:t>
            </a:r>
            <a:endParaRPr sz="13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9248" y="4642009"/>
            <a:ext cx="2280152" cy="206913"/>
          </a:xfrm>
          <a:prstGeom prst="rect">
            <a:avLst/>
          </a:prstGeom>
        </p:spPr>
        <p:txBody>
          <a:bodyPr vert="horz" wrap="square" lIns="0" tIns="6792" rIns="0" bIns="0" rtlCol="0">
            <a:spAutoFit/>
          </a:bodyPr>
          <a:lstStyle/>
          <a:p>
            <a:pPr marL="6468">
              <a:spcBef>
                <a:spcPts val="53"/>
              </a:spcBef>
            </a:pPr>
            <a:r>
              <a:rPr sz="1300" dirty="0">
                <a:latin typeface="Arial MT"/>
                <a:cs typeface="Arial MT"/>
              </a:rPr>
              <a:t>Functional</a:t>
            </a:r>
            <a:r>
              <a:rPr sz="1300" spc="58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Dependencies:</a:t>
            </a:r>
            <a:endParaRPr sz="13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9248" y="4902282"/>
            <a:ext cx="83469" cy="962021"/>
          </a:xfrm>
          <a:prstGeom prst="rect">
            <a:avLst/>
          </a:prstGeom>
        </p:spPr>
        <p:txBody>
          <a:bodyPr vert="horz" wrap="square" lIns="0" tIns="77941" rIns="0" bIns="0" rtlCol="0">
            <a:spAutoFit/>
          </a:bodyPr>
          <a:lstStyle/>
          <a:p>
            <a:pPr marL="6468">
              <a:spcBef>
                <a:spcPts val="614"/>
              </a:spcBef>
            </a:pPr>
            <a:r>
              <a:rPr sz="1600" spc="61" dirty="0">
                <a:latin typeface="Arial MT"/>
                <a:cs typeface="Arial MT"/>
              </a:rPr>
              <a:t>-</a:t>
            </a:r>
            <a:endParaRPr sz="1600">
              <a:latin typeface="Arial MT"/>
              <a:cs typeface="Arial MT"/>
            </a:endParaRPr>
          </a:p>
          <a:p>
            <a:pPr marL="6468">
              <a:spcBef>
                <a:spcPts val="565"/>
              </a:spcBef>
            </a:pPr>
            <a:r>
              <a:rPr sz="1600" spc="61" dirty="0">
                <a:latin typeface="Arial MT"/>
                <a:cs typeface="Arial MT"/>
              </a:rPr>
              <a:t>-</a:t>
            </a:r>
            <a:endParaRPr sz="1600">
              <a:latin typeface="Arial MT"/>
              <a:cs typeface="Arial MT"/>
            </a:endParaRPr>
          </a:p>
          <a:p>
            <a:pPr marL="6468">
              <a:spcBef>
                <a:spcPts val="563"/>
              </a:spcBef>
            </a:pPr>
            <a:r>
              <a:rPr sz="1600" spc="61" dirty="0">
                <a:latin typeface="Arial MT"/>
                <a:cs typeface="Arial MT"/>
              </a:rPr>
              <a:t>-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0910" y="5022982"/>
            <a:ext cx="2638936" cy="1053683"/>
          </a:xfrm>
          <a:prstGeom prst="rect">
            <a:avLst/>
          </a:prstGeom>
        </p:spPr>
        <p:txBody>
          <a:bodyPr vert="horz" wrap="square" lIns="0" tIns="6792" rIns="0" bIns="0" rtlCol="0">
            <a:spAutoFit/>
          </a:bodyPr>
          <a:lstStyle/>
          <a:p>
            <a:pPr marL="6468">
              <a:spcBef>
                <a:spcPts val="53"/>
              </a:spcBef>
            </a:pPr>
            <a:r>
              <a:rPr sz="1300" dirty="0">
                <a:latin typeface="Arial MT"/>
                <a:cs typeface="Arial MT"/>
              </a:rPr>
              <a:t>(StudentID,</a:t>
            </a:r>
            <a:r>
              <a:rPr sz="1300" spc="-38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Advisor)</a:t>
            </a:r>
            <a:r>
              <a:rPr sz="1300" spc="-38" dirty="0">
                <a:latin typeface="Arial MT"/>
                <a:cs typeface="Arial MT"/>
              </a:rPr>
              <a:t> </a:t>
            </a:r>
            <a:r>
              <a:rPr sz="1300" spc="178" dirty="0">
                <a:latin typeface="Segoe UI Emoji"/>
                <a:cs typeface="Segoe UI Emoji"/>
              </a:rPr>
              <a:t>→</a:t>
            </a:r>
            <a:r>
              <a:rPr sz="1300" spc="-33" dirty="0">
                <a:latin typeface="Segoe UI Emoji"/>
                <a:cs typeface="Segoe UI Emoji"/>
              </a:rPr>
              <a:t> </a:t>
            </a:r>
            <a:r>
              <a:rPr sz="1300" spc="-5" dirty="0">
                <a:latin typeface="Arial MT"/>
                <a:cs typeface="Arial MT"/>
              </a:rPr>
              <a:t>Major</a:t>
            </a:r>
            <a:endParaRPr sz="1300">
              <a:latin typeface="Arial MT"/>
              <a:cs typeface="Arial MT"/>
            </a:endParaRPr>
          </a:p>
          <a:p>
            <a:pPr marL="6468">
              <a:spcBef>
                <a:spcPts val="960"/>
              </a:spcBef>
            </a:pPr>
            <a:r>
              <a:rPr sz="1300" dirty="0">
                <a:latin typeface="Arial MT"/>
                <a:cs typeface="Arial MT"/>
              </a:rPr>
              <a:t>(StudentID,</a:t>
            </a:r>
            <a:r>
              <a:rPr sz="1300" spc="-36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Major)</a:t>
            </a:r>
            <a:r>
              <a:rPr sz="1300" spc="-33" dirty="0">
                <a:latin typeface="Arial MT"/>
                <a:cs typeface="Arial MT"/>
              </a:rPr>
              <a:t> </a:t>
            </a:r>
            <a:r>
              <a:rPr sz="1300" spc="178" dirty="0">
                <a:latin typeface="Segoe UI Emoji"/>
                <a:cs typeface="Segoe UI Emoji"/>
              </a:rPr>
              <a:t>→</a:t>
            </a:r>
            <a:r>
              <a:rPr sz="1300" spc="-28" dirty="0">
                <a:latin typeface="Segoe UI Emoji"/>
                <a:cs typeface="Segoe UI Emoji"/>
              </a:rPr>
              <a:t> </a:t>
            </a:r>
            <a:r>
              <a:rPr sz="1300" spc="-5" dirty="0">
                <a:latin typeface="Arial MT"/>
                <a:cs typeface="Arial MT"/>
              </a:rPr>
              <a:t>Advisor</a:t>
            </a:r>
            <a:endParaRPr sz="1300">
              <a:latin typeface="Arial MT"/>
              <a:cs typeface="Arial MT"/>
            </a:endParaRPr>
          </a:p>
          <a:p>
            <a:pPr marL="6468">
              <a:spcBef>
                <a:spcPts val="963"/>
              </a:spcBef>
            </a:pPr>
            <a:r>
              <a:rPr sz="1300" dirty="0">
                <a:latin typeface="Arial MT"/>
                <a:cs typeface="Arial MT"/>
              </a:rPr>
              <a:t>Advisor</a:t>
            </a:r>
            <a:r>
              <a:rPr sz="1300" spc="3" dirty="0">
                <a:latin typeface="Arial MT"/>
                <a:cs typeface="Arial MT"/>
              </a:rPr>
              <a:t> </a:t>
            </a:r>
            <a:r>
              <a:rPr sz="1300" spc="178" dirty="0">
                <a:latin typeface="Segoe UI Emoji"/>
                <a:cs typeface="Segoe UI Emoji"/>
              </a:rPr>
              <a:t>→</a:t>
            </a:r>
            <a:r>
              <a:rPr sz="1300" spc="10" dirty="0">
                <a:latin typeface="Segoe UI Emoji"/>
                <a:cs typeface="Segoe UI Emoji"/>
              </a:rPr>
              <a:t> </a:t>
            </a:r>
            <a:r>
              <a:rPr sz="1300" dirty="0">
                <a:latin typeface="Arial MT"/>
                <a:cs typeface="Arial MT"/>
              </a:rPr>
              <a:t>Major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178" dirty="0">
                <a:latin typeface="Segoe UI Emoji"/>
                <a:cs typeface="Segoe UI Emoji"/>
              </a:rPr>
              <a:t>←</a:t>
            </a:r>
            <a:r>
              <a:rPr sz="1300" spc="10" dirty="0">
                <a:latin typeface="Segoe UI Emoji"/>
                <a:cs typeface="Segoe UI Emoji"/>
              </a:rPr>
              <a:t> </a:t>
            </a:r>
            <a:r>
              <a:rPr sz="1300" dirty="0">
                <a:latin typeface="Arial MT"/>
                <a:cs typeface="Arial MT"/>
              </a:rPr>
              <a:t>This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violates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BCNF!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9248" y="6165901"/>
            <a:ext cx="4337552" cy="206913"/>
          </a:xfrm>
          <a:prstGeom prst="rect">
            <a:avLst/>
          </a:prstGeom>
        </p:spPr>
        <p:txBody>
          <a:bodyPr vert="horz" wrap="square" lIns="0" tIns="6792" rIns="0" bIns="0" rtlCol="0">
            <a:spAutoFit/>
          </a:bodyPr>
          <a:lstStyle/>
          <a:p>
            <a:pPr marL="6468">
              <a:spcBef>
                <a:spcPts val="53"/>
              </a:spcBef>
            </a:pPr>
            <a:r>
              <a:rPr sz="1300" dirty="0">
                <a:latin typeface="Arial MT"/>
                <a:cs typeface="Arial MT"/>
              </a:rPr>
              <a:t>Candidate</a:t>
            </a:r>
            <a:r>
              <a:rPr sz="1300" spc="41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Keys:</a:t>
            </a:r>
            <a:r>
              <a:rPr sz="1300" spc="43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{StudentID,</a:t>
            </a:r>
            <a:r>
              <a:rPr sz="1300" spc="41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Advisor},</a:t>
            </a:r>
            <a:r>
              <a:rPr sz="1300" spc="43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{StudentID,</a:t>
            </a:r>
            <a:r>
              <a:rPr sz="1300" spc="41" dirty="0">
                <a:latin typeface="Arial MT"/>
                <a:cs typeface="Arial MT"/>
              </a:rPr>
              <a:t> </a:t>
            </a:r>
            <a:r>
              <a:rPr sz="1300" spc="-5" dirty="0">
                <a:latin typeface="Arial MT"/>
                <a:cs typeface="Arial MT"/>
              </a:rPr>
              <a:t>Major}</a:t>
            </a:r>
            <a:endParaRPr sz="13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31637" y="3865082"/>
            <a:ext cx="3218307" cy="1273409"/>
          </a:xfrm>
          <a:prstGeom prst="rect">
            <a:avLst/>
          </a:prstGeom>
        </p:spPr>
        <p:txBody>
          <a:bodyPr vert="horz" wrap="square" lIns="0" tIns="127422" rIns="0" bIns="0" rtlCol="0">
            <a:spAutoFit/>
          </a:bodyPr>
          <a:lstStyle/>
          <a:p>
            <a:pPr marL="6468">
              <a:spcBef>
                <a:spcPts val="1003"/>
              </a:spcBef>
            </a:pPr>
            <a:r>
              <a:rPr sz="1400" dirty="0">
                <a:latin typeface="Arial MT"/>
                <a:cs typeface="Arial MT"/>
              </a:rPr>
              <a:t>BCNF</a:t>
            </a:r>
            <a:r>
              <a:rPr sz="1400" spc="3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Solution:</a:t>
            </a:r>
            <a:endParaRPr sz="1400">
              <a:latin typeface="Arial MT"/>
              <a:cs typeface="Arial MT"/>
            </a:endParaRPr>
          </a:p>
          <a:p>
            <a:pPr marL="6468" marR="2587">
              <a:lnSpc>
                <a:spcPts val="1553"/>
              </a:lnSpc>
              <a:spcBef>
                <a:spcPts val="1087"/>
              </a:spcBef>
            </a:pPr>
            <a:r>
              <a:rPr sz="1400" dirty="0">
                <a:latin typeface="Courier New"/>
                <a:cs typeface="Courier New"/>
              </a:rPr>
              <a:t>StudentMajor(StudentID,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Major) </a:t>
            </a:r>
            <a:r>
              <a:rPr sz="1400" dirty="0">
                <a:latin typeface="Courier New"/>
                <a:cs typeface="Courier New"/>
              </a:rPr>
              <a:t>AdvisorMajor(Advisor,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Major) </a:t>
            </a:r>
            <a:r>
              <a:rPr sz="1400" dirty="0">
                <a:latin typeface="Courier New"/>
                <a:cs typeface="Courier New"/>
              </a:rPr>
              <a:t>StudentAdvisor(StudentID,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Advisor)</a:t>
            </a:r>
            <a:endParaRPr sz="14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296228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9275" y="723181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0245">
              <a:lnSpc>
                <a:spcPct val="100000"/>
              </a:lnSpc>
              <a:spcBef>
                <a:spcPts val="105"/>
              </a:spcBef>
            </a:pPr>
            <a:r>
              <a:rPr spc="-575" dirty="0"/>
              <a:t>First</a:t>
            </a:r>
            <a:r>
              <a:rPr spc="-150" dirty="0"/>
              <a:t> </a:t>
            </a:r>
            <a:r>
              <a:rPr spc="-405" dirty="0"/>
              <a:t>Normal</a:t>
            </a:r>
            <a:r>
              <a:rPr spc="-145" dirty="0"/>
              <a:t> </a:t>
            </a:r>
            <a:r>
              <a:rPr spc="-755" dirty="0"/>
              <a:t>Form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1665" y="1486027"/>
            <a:ext cx="6910864" cy="8880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We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65" dirty="0">
                <a:latin typeface="Microsoft Sans Serif"/>
                <a:cs typeface="Microsoft Sans Serif"/>
              </a:rPr>
              <a:t>say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70" dirty="0">
                <a:latin typeface="Microsoft Sans Serif"/>
                <a:cs typeface="Microsoft Sans Serif"/>
              </a:rPr>
              <a:t>a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55" dirty="0">
                <a:latin typeface="Microsoft Sans Serif"/>
                <a:cs typeface="Microsoft Sans Serif"/>
              </a:rPr>
              <a:t>relation</a:t>
            </a:r>
            <a:r>
              <a:rPr sz="1400" spc="-50" dirty="0">
                <a:latin typeface="Microsoft Sans Serif"/>
                <a:cs typeface="Microsoft Sans Serif"/>
              </a:rPr>
              <a:t> </a:t>
            </a:r>
            <a:r>
              <a:rPr sz="1400" spc="-35" dirty="0">
                <a:latin typeface="Microsoft Sans Serif"/>
                <a:cs typeface="Microsoft Sans Serif"/>
              </a:rPr>
              <a:t>is</a:t>
            </a:r>
            <a:r>
              <a:rPr sz="1400" spc="-5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in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50" dirty="0">
                <a:latin typeface="Microsoft Sans Serif"/>
                <a:cs typeface="Microsoft Sans Serif"/>
              </a:rPr>
              <a:t>1NF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114" dirty="0">
                <a:latin typeface="Microsoft Sans Serif"/>
                <a:cs typeface="Microsoft Sans Serif"/>
              </a:rPr>
              <a:t>if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all</a:t>
            </a:r>
            <a:r>
              <a:rPr sz="1400" spc="-5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values</a:t>
            </a:r>
            <a:r>
              <a:rPr sz="1400" spc="-65" dirty="0">
                <a:latin typeface="Microsoft Sans Serif"/>
                <a:cs typeface="Microsoft Sans Serif"/>
              </a:rPr>
              <a:t> </a:t>
            </a:r>
            <a:r>
              <a:rPr sz="1400" spc="50" dirty="0">
                <a:latin typeface="Microsoft Sans Serif"/>
                <a:cs typeface="Microsoft Sans Serif"/>
              </a:rPr>
              <a:t>stored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in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80" dirty="0">
                <a:latin typeface="Microsoft Sans Serif"/>
                <a:cs typeface="Microsoft Sans Serif"/>
              </a:rPr>
              <a:t>the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50" dirty="0">
                <a:latin typeface="Microsoft Sans Serif"/>
                <a:cs typeface="Microsoft Sans Serif"/>
              </a:rPr>
              <a:t>relation</a:t>
            </a:r>
            <a:r>
              <a:rPr sz="1400" spc="-6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are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single-valued</a:t>
            </a:r>
            <a:r>
              <a:rPr sz="1400" spc="-6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and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atomic. </a:t>
            </a:r>
            <a:r>
              <a:rPr sz="1400" spc="-50" dirty="0">
                <a:latin typeface="Microsoft Sans Serif"/>
                <a:cs typeface="Microsoft Sans Serif"/>
              </a:rPr>
              <a:t>1NF</a:t>
            </a:r>
            <a:r>
              <a:rPr sz="1400" spc="2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places</a:t>
            </a:r>
            <a:r>
              <a:rPr sz="1400" spc="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restrictions</a:t>
            </a:r>
            <a:r>
              <a:rPr sz="1400" spc="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on</a:t>
            </a:r>
            <a:r>
              <a:rPr sz="1400" spc="70" dirty="0">
                <a:latin typeface="Microsoft Sans Serif"/>
                <a:cs typeface="Microsoft Sans Serif"/>
              </a:rPr>
              <a:t> </a:t>
            </a:r>
            <a:r>
              <a:rPr sz="1400" spc="80" dirty="0">
                <a:latin typeface="Microsoft Sans Serif"/>
                <a:cs typeface="Microsoft Sans Serif"/>
              </a:rPr>
              <a:t>the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spc="50" dirty="0">
                <a:latin typeface="Microsoft Sans Serif"/>
                <a:cs typeface="Microsoft Sans Serif"/>
              </a:rPr>
              <a:t>structure</a:t>
            </a:r>
            <a:r>
              <a:rPr sz="1400" spc="65" dirty="0">
                <a:latin typeface="Microsoft Sans Serif"/>
                <a:cs typeface="Microsoft Sans Serif"/>
              </a:rPr>
              <a:t> </a:t>
            </a:r>
            <a:r>
              <a:rPr sz="1400" spc="120" dirty="0">
                <a:latin typeface="Microsoft Sans Serif"/>
                <a:cs typeface="Microsoft Sans Serif"/>
              </a:rPr>
              <a:t>of</a:t>
            </a:r>
            <a:r>
              <a:rPr sz="1400" spc="5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relations.</a:t>
            </a:r>
            <a:r>
              <a:rPr sz="1400" spc="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Values </a:t>
            </a:r>
            <a:r>
              <a:rPr sz="1400" dirty="0">
                <a:latin typeface="Microsoft Sans Serif"/>
                <a:cs typeface="Microsoft Sans Serif"/>
              </a:rPr>
              <a:t>must</a:t>
            </a:r>
            <a:r>
              <a:rPr sz="1400" spc="5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be</a:t>
            </a:r>
            <a:r>
              <a:rPr sz="1400" spc="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simple</a:t>
            </a:r>
            <a:r>
              <a:rPr sz="1400" spc="-10" dirty="0" smtClean="0">
                <a:latin typeface="Microsoft Sans Serif"/>
                <a:cs typeface="Microsoft Sans Serif"/>
              </a:rPr>
              <a:t>.</a:t>
            </a:r>
            <a:endParaRPr lang="en-US" sz="140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sz="14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20" dirty="0">
                <a:latin typeface="Microsoft Sans Serif"/>
                <a:cs typeface="Microsoft Sans Serif"/>
              </a:rPr>
              <a:t>The</a:t>
            </a:r>
            <a:r>
              <a:rPr sz="1400" spc="-75" dirty="0">
                <a:latin typeface="Microsoft Sans Serif"/>
                <a:cs typeface="Microsoft Sans Serif"/>
              </a:rPr>
              <a:t> </a:t>
            </a:r>
            <a:r>
              <a:rPr sz="1400" spc="70" dirty="0">
                <a:latin typeface="Microsoft Sans Serif"/>
                <a:cs typeface="Microsoft Sans Serif"/>
              </a:rPr>
              <a:t>following</a:t>
            </a:r>
            <a:r>
              <a:rPr sz="1400" spc="-60" dirty="0">
                <a:latin typeface="Microsoft Sans Serif"/>
                <a:cs typeface="Microsoft Sans Serif"/>
              </a:rPr>
              <a:t> </a:t>
            </a:r>
            <a:r>
              <a:rPr sz="1400" spc="-35" dirty="0">
                <a:latin typeface="Microsoft Sans Serif"/>
                <a:cs typeface="Microsoft Sans Serif"/>
              </a:rPr>
              <a:t>is</a:t>
            </a:r>
            <a:r>
              <a:rPr sz="1400" spc="-65" dirty="0">
                <a:latin typeface="Microsoft Sans Serif"/>
                <a:cs typeface="Microsoft Sans Serif"/>
              </a:rPr>
              <a:t> </a:t>
            </a:r>
            <a:r>
              <a:rPr sz="1400" spc="95" dirty="0">
                <a:latin typeface="Microsoft Sans Serif"/>
                <a:cs typeface="Microsoft Sans Serif"/>
              </a:rPr>
              <a:t>not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in</a:t>
            </a:r>
            <a:r>
              <a:rPr sz="1400" spc="-5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1NF:</a:t>
            </a: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0" y="5105400"/>
            <a:ext cx="751855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To</a:t>
            </a:r>
            <a:r>
              <a:rPr sz="1400" spc="30" dirty="0">
                <a:latin typeface="Microsoft Sans Serif"/>
                <a:cs typeface="Microsoft Sans Serif"/>
              </a:rPr>
              <a:t> </a:t>
            </a:r>
            <a:r>
              <a:rPr sz="1400" spc="50" dirty="0">
                <a:latin typeface="Microsoft Sans Serif"/>
                <a:cs typeface="Microsoft Sans Serif"/>
              </a:rPr>
              <a:t>obtain</a:t>
            </a:r>
            <a:r>
              <a:rPr sz="1400" spc="55" dirty="0">
                <a:latin typeface="Microsoft Sans Serif"/>
                <a:cs typeface="Microsoft Sans Serif"/>
              </a:rPr>
              <a:t> </a:t>
            </a:r>
            <a:r>
              <a:rPr sz="1400" spc="-45" dirty="0">
                <a:latin typeface="Microsoft Sans Serif"/>
                <a:cs typeface="Microsoft Sans Serif"/>
              </a:rPr>
              <a:t>1NF</a:t>
            </a:r>
            <a:r>
              <a:rPr sz="1400" spc="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relations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we</a:t>
            </a:r>
            <a:r>
              <a:rPr sz="1400" spc="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must,</a:t>
            </a:r>
            <a:r>
              <a:rPr sz="1400" spc="45" dirty="0">
                <a:latin typeface="Microsoft Sans Serif"/>
                <a:cs typeface="Microsoft Sans Serif"/>
              </a:rPr>
              <a:t> </a:t>
            </a:r>
            <a:r>
              <a:rPr sz="1400" spc="90" dirty="0">
                <a:latin typeface="Microsoft Sans Serif"/>
                <a:cs typeface="Microsoft Sans Serif"/>
              </a:rPr>
              <a:t>without</a:t>
            </a:r>
            <a:r>
              <a:rPr sz="1400" spc="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loss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spc="120" dirty="0">
                <a:latin typeface="Microsoft Sans Serif"/>
                <a:cs typeface="Microsoft Sans Serif"/>
              </a:rPr>
              <a:t>of</a:t>
            </a:r>
            <a:r>
              <a:rPr sz="1400" spc="50" dirty="0">
                <a:latin typeface="Microsoft Sans Serif"/>
                <a:cs typeface="Microsoft Sans Serif"/>
              </a:rPr>
              <a:t> information,</a:t>
            </a:r>
            <a:r>
              <a:rPr sz="1400" spc="6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eliminate repeating</a:t>
            </a:r>
            <a:r>
              <a:rPr sz="1400" spc="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groups</a:t>
            </a:r>
            <a:r>
              <a:rPr sz="1400" spc="45" dirty="0">
                <a:latin typeface="Microsoft Sans Serif"/>
                <a:cs typeface="Microsoft Sans Serif"/>
              </a:rPr>
              <a:t> </a:t>
            </a:r>
            <a:r>
              <a:rPr sz="1400" spc="125" dirty="0">
                <a:latin typeface="Microsoft Sans Serif"/>
                <a:cs typeface="Microsoft Sans Serif"/>
              </a:rPr>
              <a:t>of</a:t>
            </a:r>
            <a:r>
              <a:rPr sz="1400" spc="45" dirty="0">
                <a:latin typeface="Microsoft Sans Serif"/>
                <a:cs typeface="Microsoft Sans Serif"/>
              </a:rPr>
              <a:t> </a:t>
            </a:r>
            <a:r>
              <a:rPr sz="1400" spc="-20" dirty="0" smtClean="0">
                <a:latin typeface="Microsoft Sans Serif"/>
                <a:cs typeface="Microsoft Sans Serif"/>
              </a:rPr>
              <a:t>data</a:t>
            </a:r>
            <a:r>
              <a:rPr lang="en-US" sz="1400" dirty="0">
                <a:latin typeface="Microsoft Sans Serif"/>
                <a:cs typeface="Microsoft Sans Serif"/>
              </a:rPr>
              <a:t> </a:t>
            </a:r>
            <a:r>
              <a:rPr sz="1400" spc="70" dirty="0" smtClean="0">
                <a:latin typeface="Microsoft Sans Serif"/>
                <a:cs typeface="Microsoft Sans Serif"/>
              </a:rPr>
              <a:t>or</a:t>
            </a:r>
            <a:r>
              <a:rPr sz="1400" spc="60" dirty="0" smtClean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repeating</a:t>
            </a:r>
            <a:r>
              <a:rPr sz="1400" spc="5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columns</a:t>
            </a:r>
            <a:r>
              <a:rPr sz="1400" spc="5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+</a:t>
            </a:r>
            <a:r>
              <a:rPr sz="1400" spc="6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primary</a:t>
            </a:r>
            <a:r>
              <a:rPr sz="1400" spc="7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key.</a:t>
            </a:r>
            <a:endParaRPr sz="1400" dirty="0">
              <a:latin typeface="Microsoft Sans Serif"/>
              <a:cs typeface="Microsoft Sans Serif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51045"/>
              </p:ext>
            </p:extLst>
          </p:nvPr>
        </p:nvGraphicFramePr>
        <p:xfrm>
          <a:off x="914400" y="2590800"/>
          <a:ext cx="7848600" cy="2121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423"/>
                <a:gridCol w="1211439"/>
                <a:gridCol w="1355138"/>
                <a:gridCol w="1447800"/>
                <a:gridCol w="1447800"/>
                <a:gridCol w="1524000"/>
              </a:tblGrid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Birth_date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3906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 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8542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 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 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John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1990/02/12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70" dirty="0">
                          <a:latin typeface="Microsoft Sans Serif"/>
                          <a:cs typeface="Microsoft Sans Serif"/>
                        </a:rPr>
                        <a:t>PBI,</a:t>
                      </a:r>
                      <a:r>
                        <a:rPr sz="14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90" dirty="0">
                          <a:latin typeface="Microsoft Sans Serif"/>
                          <a:cs typeface="Microsoft Sans Serif"/>
                        </a:rPr>
                        <a:t>MCSA,</a:t>
                      </a:r>
                      <a:r>
                        <a:rPr sz="14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MTA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PBI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MCSA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MTA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Kelly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1988/10/01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Excel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Excel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NULL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NULL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Bryan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1991/01/15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70" dirty="0">
                          <a:latin typeface="Microsoft Sans Serif"/>
                          <a:cs typeface="Microsoft Sans Serif"/>
                        </a:rPr>
                        <a:t>PBI,</a:t>
                      </a:r>
                      <a:r>
                        <a:rPr sz="14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Excel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PBI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Excel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NULL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Rob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1986/08/07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PBI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PBI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NULL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NULL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4626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953" cy="6858000"/>
            <a:chOff x="0" y="0"/>
            <a:chExt cx="12193270" cy="6858000"/>
          </a:xfrm>
        </p:grpSpPr>
        <p:sp>
          <p:nvSpPr>
            <p:cNvPr id="3" name="object 3"/>
            <p:cNvSpPr/>
            <p:nvPr/>
          </p:nvSpPr>
          <p:spPr>
            <a:xfrm>
              <a:off x="11205556" y="311739"/>
              <a:ext cx="664845" cy="675005"/>
            </a:xfrm>
            <a:custGeom>
              <a:avLst/>
              <a:gdLst/>
              <a:ahLst/>
              <a:cxnLst/>
              <a:rect l="l" t="t" r="r" b="b"/>
              <a:pathLst>
                <a:path w="664845" h="675005">
                  <a:moveTo>
                    <a:pt x="304936" y="0"/>
                  </a:moveTo>
                  <a:lnTo>
                    <a:pt x="231485" y="20668"/>
                  </a:lnTo>
                  <a:lnTo>
                    <a:pt x="193074" y="41320"/>
                  </a:lnTo>
                  <a:lnTo>
                    <a:pt x="132835" y="83326"/>
                  </a:lnTo>
                  <a:lnTo>
                    <a:pt x="103641" y="108541"/>
                  </a:lnTo>
                  <a:lnTo>
                    <a:pt x="76302" y="136569"/>
                  </a:lnTo>
                  <a:lnTo>
                    <a:pt x="51750" y="167415"/>
                  </a:lnTo>
                  <a:lnTo>
                    <a:pt x="30914" y="201083"/>
                  </a:lnTo>
                  <a:lnTo>
                    <a:pt x="14723" y="237579"/>
                  </a:lnTo>
                  <a:lnTo>
                    <a:pt x="4109" y="276906"/>
                  </a:lnTo>
                  <a:lnTo>
                    <a:pt x="0" y="319069"/>
                  </a:lnTo>
                  <a:lnTo>
                    <a:pt x="3326" y="364073"/>
                  </a:lnTo>
                  <a:lnTo>
                    <a:pt x="15018" y="411922"/>
                  </a:lnTo>
                  <a:lnTo>
                    <a:pt x="36005" y="462620"/>
                  </a:lnTo>
                  <a:lnTo>
                    <a:pt x="67217" y="516173"/>
                  </a:lnTo>
                  <a:lnTo>
                    <a:pt x="105132" y="565754"/>
                  </a:lnTo>
                  <a:lnTo>
                    <a:pt x="144935" y="604847"/>
                  </a:lnTo>
                  <a:lnTo>
                    <a:pt x="186059" y="634365"/>
                  </a:lnTo>
                  <a:lnTo>
                    <a:pt x="227933" y="655219"/>
                  </a:lnTo>
                  <a:lnTo>
                    <a:pt x="269989" y="668321"/>
                  </a:lnTo>
                  <a:lnTo>
                    <a:pt x="311659" y="674581"/>
                  </a:lnTo>
                  <a:lnTo>
                    <a:pt x="352373" y="674912"/>
                  </a:lnTo>
                  <a:lnTo>
                    <a:pt x="391562" y="670225"/>
                  </a:lnTo>
                  <a:lnTo>
                    <a:pt x="428659" y="661432"/>
                  </a:lnTo>
                  <a:lnTo>
                    <a:pt x="494297" y="635171"/>
                  </a:lnTo>
                  <a:lnTo>
                    <a:pt x="544737" y="603422"/>
                  </a:lnTo>
                  <a:lnTo>
                    <a:pt x="593902" y="560949"/>
                  </a:lnTo>
                  <a:lnTo>
                    <a:pt x="636322" y="507656"/>
                  </a:lnTo>
                  <a:lnTo>
                    <a:pt x="661721" y="441262"/>
                  </a:lnTo>
                  <a:lnTo>
                    <a:pt x="664829" y="402439"/>
                  </a:lnTo>
                  <a:lnTo>
                    <a:pt x="659829" y="359486"/>
                  </a:lnTo>
                  <a:lnTo>
                    <a:pt x="645438" y="312117"/>
                  </a:lnTo>
                  <a:lnTo>
                    <a:pt x="620371" y="260047"/>
                  </a:lnTo>
                  <a:lnTo>
                    <a:pt x="583345" y="202991"/>
                  </a:lnTo>
                  <a:lnTo>
                    <a:pt x="537219" y="143302"/>
                  </a:lnTo>
                  <a:lnTo>
                    <a:pt x="494111" y="94774"/>
                  </a:lnTo>
                  <a:lnTo>
                    <a:pt x="453481" y="56848"/>
                  </a:lnTo>
                  <a:lnTo>
                    <a:pt x="414788" y="28967"/>
                  </a:lnTo>
                  <a:lnTo>
                    <a:pt x="377494" y="10570"/>
                  </a:lnTo>
                  <a:lnTo>
                    <a:pt x="304936" y="0"/>
                  </a:lnTo>
                  <a:close/>
                </a:path>
              </a:pathLst>
            </a:custGeom>
            <a:solidFill>
              <a:srgbClr val="3493B9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288051" y="347511"/>
              <a:ext cx="626745" cy="674370"/>
            </a:xfrm>
            <a:custGeom>
              <a:avLst/>
              <a:gdLst/>
              <a:ahLst/>
              <a:cxnLst/>
              <a:rect l="l" t="t" r="r" b="b"/>
              <a:pathLst>
                <a:path w="626745" h="674369">
                  <a:moveTo>
                    <a:pt x="304054" y="0"/>
                  </a:moveTo>
                  <a:lnTo>
                    <a:pt x="264547" y="2370"/>
                  </a:lnTo>
                  <a:lnTo>
                    <a:pt x="225407" y="10183"/>
                  </a:lnTo>
                  <a:lnTo>
                    <a:pt x="187167" y="24204"/>
                  </a:lnTo>
                  <a:lnTo>
                    <a:pt x="150361" y="45198"/>
                  </a:lnTo>
                  <a:lnTo>
                    <a:pt x="115524" y="73931"/>
                  </a:lnTo>
                  <a:lnTo>
                    <a:pt x="83188" y="111167"/>
                  </a:lnTo>
                  <a:lnTo>
                    <a:pt x="53887" y="157671"/>
                  </a:lnTo>
                  <a:lnTo>
                    <a:pt x="28156" y="214209"/>
                  </a:lnTo>
                  <a:lnTo>
                    <a:pt x="9480" y="273612"/>
                  </a:lnTo>
                  <a:lnTo>
                    <a:pt x="451" y="328535"/>
                  </a:lnTo>
                  <a:lnTo>
                    <a:pt x="0" y="379039"/>
                  </a:lnTo>
                  <a:lnTo>
                    <a:pt x="7054" y="425183"/>
                  </a:lnTo>
                  <a:lnTo>
                    <a:pt x="20545" y="467028"/>
                  </a:lnTo>
                  <a:lnTo>
                    <a:pt x="39402" y="504634"/>
                  </a:lnTo>
                  <a:lnTo>
                    <a:pt x="62554" y="538062"/>
                  </a:lnTo>
                  <a:lnTo>
                    <a:pt x="88932" y="567372"/>
                  </a:lnTo>
                  <a:lnTo>
                    <a:pt x="117465" y="592624"/>
                  </a:lnTo>
                  <a:lnTo>
                    <a:pt x="176713" y="631197"/>
                  </a:lnTo>
                  <a:lnTo>
                    <a:pt x="231737" y="654264"/>
                  </a:lnTo>
                  <a:lnTo>
                    <a:pt x="294818" y="669895"/>
                  </a:lnTo>
                  <a:lnTo>
                    <a:pt x="328481" y="673905"/>
                  </a:lnTo>
                  <a:lnTo>
                    <a:pt x="362877" y="673767"/>
                  </a:lnTo>
                  <a:lnTo>
                    <a:pt x="431825" y="656212"/>
                  </a:lnTo>
                  <a:lnTo>
                    <a:pt x="465354" y="636377"/>
                  </a:lnTo>
                  <a:lnTo>
                    <a:pt x="497571" y="607560"/>
                  </a:lnTo>
                  <a:lnTo>
                    <a:pt x="527966" y="568552"/>
                  </a:lnTo>
                  <a:lnTo>
                    <a:pt x="556026" y="518144"/>
                  </a:lnTo>
                  <a:lnTo>
                    <a:pt x="581241" y="455128"/>
                  </a:lnTo>
                  <a:lnTo>
                    <a:pt x="603512" y="383142"/>
                  </a:lnTo>
                  <a:lnTo>
                    <a:pt x="618379" y="319999"/>
                  </a:lnTo>
                  <a:lnTo>
                    <a:pt x="625989" y="264947"/>
                  </a:lnTo>
                  <a:lnTo>
                    <a:pt x="626488" y="217234"/>
                  </a:lnTo>
                  <a:lnTo>
                    <a:pt x="620024" y="176109"/>
                  </a:lnTo>
                  <a:lnTo>
                    <a:pt x="586795" y="110619"/>
                  </a:lnTo>
                  <a:lnTo>
                    <a:pt x="527478" y="62466"/>
                  </a:lnTo>
                  <a:lnTo>
                    <a:pt x="488404" y="43013"/>
                  </a:lnTo>
                  <a:lnTo>
                    <a:pt x="419436" y="17895"/>
                  </a:lnTo>
                  <a:lnTo>
                    <a:pt x="382032" y="8527"/>
                  </a:lnTo>
                  <a:lnTo>
                    <a:pt x="343393" y="2307"/>
                  </a:lnTo>
                  <a:lnTo>
                    <a:pt x="304054" y="0"/>
                  </a:lnTo>
                  <a:close/>
                </a:path>
              </a:pathLst>
            </a:custGeom>
            <a:solidFill>
              <a:srgbClr val="3493B9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182665" y="400997"/>
              <a:ext cx="671195" cy="522605"/>
            </a:xfrm>
            <a:custGeom>
              <a:avLst/>
              <a:gdLst/>
              <a:ahLst/>
              <a:cxnLst/>
              <a:rect l="l" t="t" r="r" b="b"/>
              <a:pathLst>
                <a:path w="671195" h="522605">
                  <a:moveTo>
                    <a:pt x="383181" y="0"/>
                  </a:moveTo>
                  <a:lnTo>
                    <a:pt x="330700" y="7701"/>
                  </a:lnTo>
                  <a:lnTo>
                    <a:pt x="279878" y="22999"/>
                  </a:lnTo>
                  <a:lnTo>
                    <a:pt x="231342" y="44706"/>
                  </a:lnTo>
                  <a:lnTo>
                    <a:pt x="185719" y="71632"/>
                  </a:lnTo>
                  <a:lnTo>
                    <a:pt x="143639" y="102589"/>
                  </a:lnTo>
                  <a:lnTo>
                    <a:pt x="105728" y="136387"/>
                  </a:lnTo>
                  <a:lnTo>
                    <a:pt x="72615" y="171838"/>
                  </a:lnTo>
                  <a:lnTo>
                    <a:pt x="44928" y="207753"/>
                  </a:lnTo>
                  <a:lnTo>
                    <a:pt x="23294" y="242943"/>
                  </a:lnTo>
                  <a:lnTo>
                    <a:pt x="700" y="306392"/>
                  </a:lnTo>
                  <a:lnTo>
                    <a:pt x="0" y="334768"/>
                  </a:lnTo>
                  <a:lnTo>
                    <a:pt x="5847" y="363020"/>
                  </a:lnTo>
                  <a:lnTo>
                    <a:pt x="37643" y="416985"/>
                  </a:lnTo>
                  <a:lnTo>
                    <a:pt x="96998" y="463951"/>
                  </a:lnTo>
                  <a:lnTo>
                    <a:pt x="137294" y="483455"/>
                  </a:lnTo>
                  <a:lnTo>
                    <a:pt x="184822" y="499583"/>
                  </a:lnTo>
                  <a:lnTo>
                    <a:pt x="239694" y="511793"/>
                  </a:lnTo>
                  <a:lnTo>
                    <a:pt x="302025" y="519543"/>
                  </a:lnTo>
                  <a:lnTo>
                    <a:pt x="371929" y="522292"/>
                  </a:lnTo>
                  <a:lnTo>
                    <a:pt x="449518" y="519498"/>
                  </a:lnTo>
                  <a:lnTo>
                    <a:pt x="493467" y="513231"/>
                  </a:lnTo>
                  <a:lnTo>
                    <a:pt x="532276" y="501521"/>
                  </a:lnTo>
                  <a:lnTo>
                    <a:pt x="594907" y="464046"/>
                  </a:lnTo>
                  <a:lnTo>
                    <a:pt x="638275" y="411624"/>
                  </a:lnTo>
                  <a:lnTo>
                    <a:pt x="663243" y="348801"/>
                  </a:lnTo>
                  <a:lnTo>
                    <a:pt x="670676" y="280127"/>
                  </a:lnTo>
                  <a:lnTo>
                    <a:pt x="668086" y="245017"/>
                  </a:lnTo>
                  <a:lnTo>
                    <a:pt x="650833" y="176094"/>
                  </a:lnTo>
                  <a:lnTo>
                    <a:pt x="618204" y="112691"/>
                  </a:lnTo>
                  <a:lnTo>
                    <a:pt x="571062" y="59356"/>
                  </a:lnTo>
                  <a:lnTo>
                    <a:pt x="510269" y="20637"/>
                  </a:lnTo>
                  <a:lnTo>
                    <a:pt x="436691" y="1084"/>
                  </a:lnTo>
                  <a:lnTo>
                    <a:pt x="383181" y="0"/>
                  </a:lnTo>
                  <a:close/>
                </a:path>
              </a:pathLst>
            </a:custGeom>
            <a:solidFill>
              <a:srgbClr val="3493B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3143" cy="68580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33400" y="533400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0245">
              <a:lnSpc>
                <a:spcPct val="100000"/>
              </a:lnSpc>
              <a:spcBef>
                <a:spcPts val="105"/>
              </a:spcBef>
            </a:pPr>
            <a:r>
              <a:rPr spc="-575" dirty="0"/>
              <a:t>First</a:t>
            </a:r>
            <a:r>
              <a:rPr spc="-150" dirty="0"/>
              <a:t> </a:t>
            </a:r>
            <a:r>
              <a:rPr spc="-405" dirty="0"/>
              <a:t>Normal</a:t>
            </a:r>
            <a:r>
              <a:rPr spc="-145" dirty="0"/>
              <a:t> </a:t>
            </a:r>
            <a:r>
              <a:rPr spc="-755" dirty="0"/>
              <a:t>Form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31665" y="1486027"/>
            <a:ext cx="691086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Microsoft Sans Serif"/>
                <a:cs typeface="Microsoft Sans Serif"/>
              </a:rPr>
              <a:t>We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-65" dirty="0">
                <a:latin typeface="Microsoft Sans Serif"/>
                <a:cs typeface="Microsoft Sans Serif"/>
              </a:rPr>
              <a:t>say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70" dirty="0">
                <a:latin typeface="Microsoft Sans Serif"/>
                <a:cs typeface="Microsoft Sans Serif"/>
              </a:rPr>
              <a:t>a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spc="55" dirty="0">
                <a:latin typeface="Microsoft Sans Serif"/>
                <a:cs typeface="Microsoft Sans Serif"/>
              </a:rPr>
              <a:t>relation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spc="-35" dirty="0">
                <a:latin typeface="Microsoft Sans Serif"/>
                <a:cs typeface="Microsoft Sans Serif"/>
              </a:rPr>
              <a:t>is</a:t>
            </a:r>
            <a:r>
              <a:rPr sz="1600" spc="-5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in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50" dirty="0">
                <a:latin typeface="Microsoft Sans Serif"/>
                <a:cs typeface="Microsoft Sans Serif"/>
              </a:rPr>
              <a:t>1NF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114" dirty="0">
                <a:latin typeface="Microsoft Sans Serif"/>
                <a:cs typeface="Microsoft Sans Serif"/>
              </a:rPr>
              <a:t>if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all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values</a:t>
            </a:r>
            <a:r>
              <a:rPr sz="1600" spc="-65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stored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in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spc="80" dirty="0">
                <a:latin typeface="Microsoft Sans Serif"/>
                <a:cs typeface="Microsoft Sans Serif"/>
              </a:rPr>
              <a:t>the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relation</a:t>
            </a:r>
            <a:r>
              <a:rPr sz="1600" spc="-6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are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single-valued</a:t>
            </a:r>
            <a:r>
              <a:rPr sz="1600" spc="-6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and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atomic. </a:t>
            </a:r>
            <a:r>
              <a:rPr sz="1600" spc="-50" dirty="0">
                <a:latin typeface="Microsoft Sans Serif"/>
                <a:cs typeface="Microsoft Sans Serif"/>
              </a:rPr>
              <a:t>1NF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spc="-20" dirty="0">
                <a:latin typeface="Microsoft Sans Serif"/>
                <a:cs typeface="Microsoft Sans Serif"/>
              </a:rPr>
              <a:t>places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restrictions</a:t>
            </a:r>
            <a:r>
              <a:rPr sz="1600" spc="4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on</a:t>
            </a:r>
            <a:r>
              <a:rPr sz="1600" spc="70" dirty="0">
                <a:latin typeface="Microsoft Sans Serif"/>
                <a:cs typeface="Microsoft Sans Serif"/>
              </a:rPr>
              <a:t> </a:t>
            </a:r>
            <a:r>
              <a:rPr sz="1600" spc="80" dirty="0">
                <a:latin typeface="Microsoft Sans Serif"/>
                <a:cs typeface="Microsoft Sans Serif"/>
              </a:rPr>
              <a:t>the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structure</a:t>
            </a:r>
            <a:r>
              <a:rPr sz="1600" spc="65" dirty="0">
                <a:latin typeface="Microsoft Sans Serif"/>
                <a:cs typeface="Microsoft Sans Serif"/>
              </a:rPr>
              <a:t> </a:t>
            </a:r>
            <a:r>
              <a:rPr sz="1600" spc="120" dirty="0">
                <a:latin typeface="Microsoft Sans Serif"/>
                <a:cs typeface="Microsoft Sans Serif"/>
              </a:rPr>
              <a:t>of</a:t>
            </a:r>
            <a:r>
              <a:rPr sz="1600" spc="5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relations.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Values </a:t>
            </a:r>
            <a:r>
              <a:rPr sz="1600" dirty="0">
                <a:latin typeface="Microsoft Sans Serif"/>
                <a:cs typeface="Microsoft Sans Serif"/>
              </a:rPr>
              <a:t>must</a:t>
            </a:r>
            <a:r>
              <a:rPr sz="1600" spc="5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be</a:t>
            </a:r>
            <a:r>
              <a:rPr sz="1600" spc="4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simple.</a:t>
            </a:r>
            <a:endParaRPr sz="1600" dirty="0">
              <a:latin typeface="Microsoft Sans Serif"/>
              <a:cs typeface="Microsoft Sans Serif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359148"/>
              </p:ext>
            </p:extLst>
          </p:nvPr>
        </p:nvGraphicFramePr>
        <p:xfrm>
          <a:off x="1089183" y="2327529"/>
          <a:ext cx="7589996" cy="3223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3435"/>
                <a:gridCol w="764382"/>
                <a:gridCol w="1143000"/>
                <a:gridCol w="1295400"/>
                <a:gridCol w="1488280"/>
                <a:gridCol w="923449"/>
                <a:gridCol w="1162050"/>
              </a:tblGrid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Learner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Birth_date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_ID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_name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1018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Vendor_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2700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Date_acquir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John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1990/02/12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PBI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2017/01/08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John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1990/02/12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MCSA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2020/04/16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John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1990/02/12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MTA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2021/05/12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Kelly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1988/10/01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Excel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2018/06/03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Bryan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1991/01/15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PBI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2019/12/11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Bryan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1991/01/15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Excel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2020/04/07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Rob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1986/08/07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25" dirty="0">
                          <a:latin typeface="Microsoft Sans Serif"/>
                          <a:cs typeface="Microsoft Sans Serif"/>
                        </a:rPr>
                        <a:t>PBI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2022/01/15</a:t>
                      </a: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0013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95425">
              <a:lnSpc>
                <a:spcPct val="100000"/>
              </a:lnSpc>
              <a:spcBef>
                <a:spcPts val="105"/>
              </a:spcBef>
            </a:pPr>
            <a:r>
              <a:rPr spc="-325" dirty="0"/>
              <a:t>Second</a:t>
            </a:r>
            <a:r>
              <a:rPr spc="-145" dirty="0"/>
              <a:t> </a:t>
            </a:r>
            <a:r>
              <a:rPr spc="-405" dirty="0"/>
              <a:t>Normal</a:t>
            </a:r>
            <a:r>
              <a:rPr spc="-120" dirty="0"/>
              <a:t> </a:t>
            </a:r>
            <a:r>
              <a:rPr spc="-755" dirty="0"/>
              <a:t>Form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5800" y="990601"/>
            <a:ext cx="8305800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600" spc="55" dirty="0">
                <a:solidFill>
                  <a:srgbClr val="3493B9"/>
                </a:solidFill>
                <a:latin typeface="Microsoft Sans Serif"/>
                <a:cs typeface="Microsoft Sans Serif"/>
              </a:rPr>
              <a:t>Note:</a:t>
            </a:r>
            <a:r>
              <a:rPr sz="1600" spc="-80" dirty="0">
                <a:solidFill>
                  <a:srgbClr val="3493B9"/>
                </a:solidFill>
                <a:latin typeface="Microsoft Sans Serif"/>
                <a:cs typeface="Microsoft Sans Serif"/>
              </a:rPr>
              <a:t> </a:t>
            </a:r>
            <a:r>
              <a:rPr sz="1600" spc="95" dirty="0">
                <a:latin typeface="Microsoft Sans Serif"/>
                <a:cs typeface="Microsoft Sans Serif"/>
              </a:rPr>
              <a:t>If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114" dirty="0">
                <a:latin typeface="Microsoft Sans Serif"/>
                <a:cs typeface="Microsoft Sans Serif"/>
              </a:rPr>
              <a:t>PK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is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set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spc="-105" dirty="0">
                <a:latin typeface="Microsoft Sans Serif"/>
                <a:cs typeface="Microsoft Sans Serif"/>
              </a:rPr>
              <a:t>as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single</a:t>
            </a:r>
            <a:r>
              <a:rPr sz="1600" spc="-60" dirty="0">
                <a:latin typeface="Microsoft Sans Serif"/>
                <a:cs typeface="Microsoft Sans Serif"/>
              </a:rPr>
              <a:t> </a:t>
            </a:r>
            <a:r>
              <a:rPr sz="1600" spc="75" dirty="0">
                <a:latin typeface="Microsoft Sans Serif"/>
                <a:cs typeface="Microsoft Sans Serif"/>
              </a:rPr>
              <a:t>then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you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95" dirty="0">
                <a:latin typeface="Microsoft Sans Serif"/>
                <a:cs typeface="Microsoft Sans Serif"/>
              </a:rPr>
              <a:t>don't</a:t>
            </a:r>
            <a:r>
              <a:rPr sz="1600" spc="-5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need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155" dirty="0">
                <a:latin typeface="Microsoft Sans Serif"/>
                <a:cs typeface="Microsoft Sans Serif"/>
              </a:rPr>
              <a:t>to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spc="65" dirty="0">
                <a:latin typeface="Microsoft Sans Serif"/>
                <a:cs typeface="Microsoft Sans Serif"/>
              </a:rPr>
              <a:t>do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anything,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90" dirty="0">
                <a:latin typeface="Microsoft Sans Serif"/>
                <a:cs typeface="Microsoft Sans Serif"/>
              </a:rPr>
              <a:t>the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65" dirty="0">
                <a:latin typeface="Microsoft Sans Serif"/>
                <a:cs typeface="Microsoft Sans Serif"/>
              </a:rPr>
              <a:t>table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is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already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in 2NF</a:t>
            </a:r>
            <a:endParaRPr sz="1600" dirty="0">
              <a:latin typeface="Microsoft Sans Serif"/>
              <a:cs typeface="Microsoft Sans Serif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latin typeface="Microsoft Sans Serif"/>
                <a:cs typeface="Microsoft Sans Serif"/>
              </a:rPr>
              <a:t>A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60" dirty="0">
                <a:latin typeface="Microsoft Sans Serif"/>
                <a:cs typeface="Microsoft Sans Serif"/>
              </a:rPr>
              <a:t>relation</a:t>
            </a:r>
            <a:r>
              <a:rPr sz="1600" spc="-55" dirty="0">
                <a:latin typeface="Microsoft Sans Serif"/>
                <a:cs typeface="Microsoft Sans Serif"/>
              </a:rPr>
              <a:t> </a:t>
            </a:r>
            <a:r>
              <a:rPr sz="1600" spc="80" dirty="0">
                <a:latin typeface="Microsoft Sans Serif"/>
                <a:cs typeface="Microsoft Sans Serif"/>
              </a:rPr>
              <a:t>will</a:t>
            </a:r>
            <a:r>
              <a:rPr sz="1600" spc="-5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be</a:t>
            </a:r>
            <a:r>
              <a:rPr sz="1600" spc="-6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in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spc="-60" dirty="0">
                <a:latin typeface="Microsoft Sans Serif"/>
                <a:cs typeface="Microsoft Sans Serif"/>
              </a:rPr>
              <a:t>2NF </a:t>
            </a:r>
            <a:r>
              <a:rPr sz="1600" spc="140" dirty="0">
                <a:latin typeface="Microsoft Sans Serif"/>
                <a:cs typeface="Microsoft Sans Serif"/>
              </a:rPr>
              <a:t>if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spc="155" dirty="0">
                <a:latin typeface="Microsoft Sans Serif"/>
                <a:cs typeface="Microsoft Sans Serif"/>
              </a:rPr>
              <a:t>it</a:t>
            </a:r>
            <a:r>
              <a:rPr sz="1600" spc="-5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is</a:t>
            </a:r>
            <a:r>
              <a:rPr sz="1600" spc="-5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in</a:t>
            </a:r>
            <a:r>
              <a:rPr sz="1600" spc="-55" dirty="0">
                <a:latin typeface="Microsoft Sans Serif"/>
                <a:cs typeface="Microsoft Sans Serif"/>
              </a:rPr>
              <a:t> </a:t>
            </a:r>
            <a:r>
              <a:rPr sz="1600" spc="-20" dirty="0">
                <a:latin typeface="Microsoft Sans Serif"/>
                <a:cs typeface="Microsoft Sans Serif"/>
              </a:rPr>
              <a:t>1NF.</a:t>
            </a:r>
            <a:endParaRPr sz="1600" dirty="0">
              <a:latin typeface="Microsoft Sans Serif"/>
              <a:cs typeface="Microsoft Sans Serif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spc="55" dirty="0">
                <a:latin typeface="Microsoft Sans Serif"/>
                <a:cs typeface="Microsoft Sans Serif"/>
              </a:rPr>
              <a:t>All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non-key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80" dirty="0">
                <a:latin typeface="Microsoft Sans Serif"/>
                <a:cs typeface="Microsoft Sans Serif"/>
              </a:rPr>
              <a:t>attributes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are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spc="85" dirty="0">
                <a:latin typeface="Microsoft Sans Serif"/>
                <a:cs typeface="Microsoft Sans Serif"/>
              </a:rPr>
              <a:t>fully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65" dirty="0">
                <a:latin typeface="Microsoft Sans Serif"/>
                <a:cs typeface="Microsoft Sans Serif"/>
              </a:rPr>
              <a:t>functional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dependent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on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90" dirty="0">
                <a:latin typeface="Microsoft Sans Serif"/>
                <a:cs typeface="Microsoft Sans Serif"/>
              </a:rPr>
              <a:t>the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primary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spc="-20" dirty="0">
                <a:latin typeface="Microsoft Sans Serif"/>
                <a:cs typeface="Microsoft Sans Serif"/>
              </a:rPr>
              <a:t>key.</a:t>
            </a:r>
            <a:endParaRPr sz="1600" dirty="0">
              <a:latin typeface="Microsoft Sans Serif"/>
              <a:cs typeface="Microsoft Sans Serif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latin typeface="Microsoft Sans Serif"/>
                <a:cs typeface="Microsoft Sans Serif"/>
              </a:rPr>
              <a:t>Create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separate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tables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125" dirty="0">
                <a:latin typeface="Microsoft Sans Serif"/>
                <a:cs typeface="Microsoft Sans Serif"/>
              </a:rPr>
              <a:t>for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sets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140" dirty="0">
                <a:latin typeface="Microsoft Sans Serif"/>
                <a:cs typeface="Microsoft Sans Serif"/>
              </a:rPr>
              <a:t>of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values</a:t>
            </a:r>
            <a:r>
              <a:rPr sz="1600" spc="-35" dirty="0">
                <a:latin typeface="Microsoft Sans Serif"/>
                <a:cs typeface="Microsoft Sans Serif"/>
              </a:rPr>
              <a:t> </a:t>
            </a:r>
            <a:r>
              <a:rPr sz="1600" spc="110" dirty="0">
                <a:latin typeface="Microsoft Sans Serif"/>
                <a:cs typeface="Microsoft Sans Serif"/>
              </a:rPr>
              <a:t>that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apply </a:t>
            </a:r>
            <a:r>
              <a:rPr sz="1600" spc="155" dirty="0">
                <a:latin typeface="Microsoft Sans Serif"/>
                <a:cs typeface="Microsoft Sans Serif"/>
              </a:rPr>
              <a:t>to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spc="75" dirty="0">
                <a:latin typeface="Microsoft Sans Serif"/>
                <a:cs typeface="Microsoft Sans Serif"/>
              </a:rPr>
              <a:t>multiple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records.</a:t>
            </a:r>
            <a:endParaRPr sz="1600" dirty="0">
              <a:latin typeface="Microsoft Sans Serif"/>
              <a:cs typeface="Microsoft Sans Serif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latin typeface="Microsoft Sans Serif"/>
                <a:cs typeface="Microsoft Sans Serif"/>
              </a:rPr>
              <a:t>Relate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these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tables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105" dirty="0">
                <a:latin typeface="Microsoft Sans Serif"/>
                <a:cs typeface="Microsoft Sans Serif"/>
              </a:rPr>
              <a:t>with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-70" dirty="0">
                <a:latin typeface="Microsoft Sans Serif"/>
                <a:cs typeface="Microsoft Sans Serif"/>
              </a:rPr>
              <a:t>a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70" dirty="0">
                <a:latin typeface="Microsoft Sans Serif"/>
                <a:cs typeface="Microsoft Sans Serif"/>
              </a:rPr>
              <a:t>foreign</a:t>
            </a:r>
            <a:r>
              <a:rPr sz="1600" spc="-20" dirty="0">
                <a:latin typeface="Microsoft Sans Serif"/>
                <a:cs typeface="Microsoft Sans Serif"/>
              </a:rPr>
              <a:t> key.</a:t>
            </a:r>
            <a:endParaRPr sz="1600" dirty="0">
              <a:latin typeface="Microsoft Sans Serif"/>
              <a:cs typeface="Microsoft Sans Serif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242979"/>
              </p:ext>
            </p:extLst>
          </p:nvPr>
        </p:nvGraphicFramePr>
        <p:xfrm>
          <a:off x="609600" y="2362200"/>
          <a:ext cx="3346608" cy="1852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/>
                <a:gridCol w="825817"/>
                <a:gridCol w="1301591"/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Learner_ID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Birth_date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20" dirty="0">
                          <a:latin typeface="Microsoft Sans Serif"/>
                          <a:cs typeface="Microsoft Sans Serif"/>
                        </a:rPr>
                        <a:t>John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1990/02/12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Kelly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1988/10/01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Bryan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1991/01/15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Rob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1986/08/07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341998"/>
              </p:ext>
            </p:extLst>
          </p:nvPr>
        </p:nvGraphicFramePr>
        <p:xfrm>
          <a:off x="533400" y="4343400"/>
          <a:ext cx="4191000" cy="23622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3533"/>
                <a:gridCol w="1521884"/>
                <a:gridCol w="1155583"/>
              </a:tblGrid>
              <a:tr h="813293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_ID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_name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Vendor_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</a:tr>
              <a:tr h="38706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PBI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8706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20" dirty="0">
                          <a:latin typeface="Microsoft Sans Serif"/>
                          <a:cs typeface="Microsoft Sans Serif"/>
                        </a:rPr>
                        <a:t>MCSA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877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MTA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8706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Excel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752025"/>
              </p:ext>
            </p:extLst>
          </p:nvPr>
        </p:nvGraphicFramePr>
        <p:xfrm>
          <a:off x="4953000" y="2438400"/>
          <a:ext cx="3981450" cy="3126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9677"/>
                <a:gridCol w="1326357"/>
                <a:gridCol w="1425416"/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Learner_</a:t>
                      </a:r>
                      <a:r>
                        <a:rPr sz="1600" b="1" spc="-1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600" dirty="0">
                        <a:solidFill>
                          <a:srgbClr val="00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Date_acquired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2017/01/08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2020/04/16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2021/05/12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2018/06/03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2019/12/11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2020/04/07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2022/01/15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880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35150">
              <a:lnSpc>
                <a:spcPct val="100000"/>
              </a:lnSpc>
              <a:spcBef>
                <a:spcPts val="105"/>
              </a:spcBef>
            </a:pPr>
            <a:r>
              <a:rPr spc="-490" dirty="0"/>
              <a:t>Third</a:t>
            </a:r>
            <a:r>
              <a:rPr spc="-140" dirty="0"/>
              <a:t> </a:t>
            </a:r>
            <a:r>
              <a:rPr spc="-405" dirty="0"/>
              <a:t>Normal</a:t>
            </a:r>
            <a:r>
              <a:rPr spc="-145" dirty="0"/>
              <a:t> </a:t>
            </a:r>
            <a:r>
              <a:rPr spc="-755" dirty="0"/>
              <a:t>Form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8200" y="1219200"/>
            <a:ext cx="69946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600" spc="-50" dirty="0">
                <a:latin typeface="Microsoft Sans Serif"/>
                <a:cs typeface="Microsoft Sans Serif"/>
              </a:rPr>
              <a:t>3NF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satisfy</a:t>
            </a:r>
            <a:r>
              <a:rPr sz="1600" spc="5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all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conditions</a:t>
            </a:r>
            <a:r>
              <a:rPr sz="1600" spc="70" dirty="0">
                <a:latin typeface="Microsoft Sans Serif"/>
                <a:cs typeface="Microsoft Sans Serif"/>
              </a:rPr>
              <a:t> </a:t>
            </a:r>
            <a:r>
              <a:rPr sz="1600" spc="120" dirty="0">
                <a:latin typeface="Microsoft Sans Serif"/>
                <a:cs typeface="Microsoft Sans Serif"/>
              </a:rPr>
              <a:t>of</a:t>
            </a:r>
            <a:r>
              <a:rPr sz="1600" spc="6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2NF</a:t>
            </a:r>
            <a:endParaRPr sz="1600" dirty="0">
              <a:latin typeface="Microsoft Sans Serif"/>
              <a:cs typeface="Microsoft Sans Serif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600" dirty="0">
                <a:latin typeface="Microsoft Sans Serif"/>
                <a:cs typeface="Microsoft Sans Serif"/>
              </a:rPr>
              <a:t>A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50" dirty="0">
                <a:latin typeface="Microsoft Sans Serif"/>
                <a:cs typeface="Microsoft Sans Serif"/>
              </a:rPr>
              <a:t>relation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in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-45" dirty="0">
                <a:latin typeface="Microsoft Sans Serif"/>
                <a:cs typeface="Microsoft Sans Serif"/>
              </a:rPr>
              <a:t>3NF</a:t>
            </a:r>
            <a:r>
              <a:rPr sz="1600" spc="-5" dirty="0">
                <a:latin typeface="Microsoft Sans Serif"/>
                <a:cs typeface="Microsoft Sans Serif"/>
              </a:rPr>
              <a:t> </a:t>
            </a:r>
            <a:r>
              <a:rPr sz="1600" spc="75" dirty="0">
                <a:latin typeface="Microsoft Sans Serif"/>
                <a:cs typeface="Microsoft Sans Serif"/>
              </a:rPr>
              <a:t>will</a:t>
            </a:r>
            <a:r>
              <a:rPr sz="1600" spc="-40" dirty="0">
                <a:latin typeface="Microsoft Sans Serif"/>
                <a:cs typeface="Microsoft Sans Serif"/>
              </a:rPr>
              <a:t> </a:t>
            </a:r>
            <a:r>
              <a:rPr sz="1600" spc="95" dirty="0">
                <a:latin typeface="Microsoft Sans Serif"/>
                <a:cs typeface="Microsoft Sans Serif"/>
              </a:rPr>
              <a:t>not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have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any </a:t>
            </a:r>
            <a:r>
              <a:rPr sz="1600" dirty="0">
                <a:latin typeface="Microsoft Sans Serif"/>
                <a:cs typeface="Microsoft Sans Serif"/>
              </a:rPr>
              <a:t>transitive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dependencies</a:t>
            </a:r>
            <a:r>
              <a:rPr sz="1600" spc="-25" dirty="0">
                <a:latin typeface="Microsoft Sans Serif"/>
                <a:cs typeface="Microsoft Sans Serif"/>
              </a:rPr>
              <a:t> </a:t>
            </a:r>
            <a:r>
              <a:rPr sz="1600" spc="120" dirty="0">
                <a:latin typeface="Microsoft Sans Serif"/>
                <a:cs typeface="Microsoft Sans Serif"/>
              </a:rPr>
              <a:t>of</a:t>
            </a:r>
            <a:r>
              <a:rPr sz="1600" dirty="0">
                <a:latin typeface="Microsoft Sans Serif"/>
                <a:cs typeface="Microsoft Sans Serif"/>
              </a:rPr>
              <a:t> non-key </a:t>
            </a:r>
            <a:r>
              <a:rPr sz="1600" spc="65" dirty="0">
                <a:latin typeface="Microsoft Sans Serif"/>
                <a:cs typeface="Microsoft Sans Serif"/>
              </a:rPr>
              <a:t>attributes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on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-25" dirty="0" smtClean="0">
                <a:latin typeface="Microsoft Sans Serif"/>
                <a:cs typeface="Microsoft Sans Serif"/>
              </a:rPr>
              <a:t>key</a:t>
            </a:r>
            <a:r>
              <a:rPr lang="en-US" sz="1600" dirty="0">
                <a:latin typeface="Microsoft Sans Serif"/>
                <a:cs typeface="Microsoft Sans Serif"/>
              </a:rPr>
              <a:t> </a:t>
            </a:r>
            <a:r>
              <a:rPr sz="1600" dirty="0" smtClean="0">
                <a:latin typeface="Microsoft Sans Serif"/>
                <a:cs typeface="Microsoft Sans Serif"/>
              </a:rPr>
              <a:t>column</a:t>
            </a:r>
            <a:r>
              <a:rPr sz="1600" spc="60" dirty="0" smtClean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must</a:t>
            </a:r>
            <a:r>
              <a:rPr sz="1600" spc="7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be</a:t>
            </a:r>
            <a:r>
              <a:rPr sz="1600" spc="7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removed.</a:t>
            </a:r>
            <a:endParaRPr sz="1600" dirty="0">
              <a:latin typeface="Microsoft Sans Serif"/>
              <a:cs typeface="Microsoft Sans Serif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491298"/>
              </p:ext>
            </p:extLst>
          </p:nvPr>
        </p:nvGraphicFramePr>
        <p:xfrm>
          <a:off x="5410200" y="2514600"/>
          <a:ext cx="3581400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3383"/>
                <a:gridCol w="1300519"/>
                <a:gridCol w="987498"/>
              </a:tblGrid>
              <a:tr h="83929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_ID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_name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0955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Vendor_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</a:tr>
              <a:tr h="400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PBI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9943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20" dirty="0">
                          <a:latin typeface="Microsoft Sans Serif"/>
                          <a:cs typeface="Microsoft Sans Serif"/>
                        </a:rPr>
                        <a:t>MCSA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9943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MTA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400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Excel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001304"/>
              </p:ext>
            </p:extLst>
          </p:nvPr>
        </p:nvGraphicFramePr>
        <p:xfrm>
          <a:off x="1066800" y="4191000"/>
          <a:ext cx="4191000" cy="2362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3533"/>
                <a:gridCol w="1505778"/>
                <a:gridCol w="1171689"/>
              </a:tblGrid>
              <a:tr h="81304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_ID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_name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Vendor_I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</a:tr>
              <a:tr h="38728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PBI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8728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20" dirty="0">
                          <a:latin typeface="Microsoft Sans Serif"/>
                          <a:cs typeface="Microsoft Sans Serif"/>
                        </a:rPr>
                        <a:t>MCSA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8728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MTA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8728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Excel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776979"/>
              </p:ext>
            </p:extLst>
          </p:nvPr>
        </p:nvGraphicFramePr>
        <p:xfrm>
          <a:off x="1066800" y="2514600"/>
          <a:ext cx="2971800" cy="12954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8248"/>
                <a:gridCol w="1653552"/>
              </a:tblGrid>
              <a:tr h="54254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Vendor_ID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Vendor_name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</a:tr>
              <a:tr h="3761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67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Amazon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2648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1445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543181" cy="30063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6486" y="2426843"/>
            <a:ext cx="2798372" cy="443115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042276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35150">
              <a:lnSpc>
                <a:spcPct val="100000"/>
              </a:lnSpc>
              <a:spcBef>
                <a:spcPts val="105"/>
              </a:spcBef>
            </a:pPr>
            <a:r>
              <a:rPr spc="-490" dirty="0"/>
              <a:t>Third</a:t>
            </a:r>
            <a:r>
              <a:rPr spc="-140" dirty="0"/>
              <a:t> </a:t>
            </a:r>
            <a:r>
              <a:rPr spc="-405" dirty="0"/>
              <a:t>Normal</a:t>
            </a:r>
            <a:r>
              <a:rPr spc="-145" dirty="0"/>
              <a:t> </a:t>
            </a:r>
            <a:r>
              <a:rPr spc="-755" dirty="0"/>
              <a:t>Form</a:t>
            </a: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351170"/>
              </p:ext>
            </p:extLst>
          </p:nvPr>
        </p:nvGraphicFramePr>
        <p:xfrm>
          <a:off x="474897" y="3818509"/>
          <a:ext cx="3716103" cy="2122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2029"/>
                <a:gridCol w="1383474"/>
                <a:gridCol w="990600"/>
              </a:tblGrid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_ID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_name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549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Vendor_I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PBI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20" dirty="0">
                          <a:latin typeface="Microsoft Sans Serif"/>
                          <a:cs typeface="Microsoft Sans Serif"/>
                        </a:rPr>
                        <a:t>MCSA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MTA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Excel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059848"/>
              </p:ext>
            </p:extLst>
          </p:nvPr>
        </p:nvGraphicFramePr>
        <p:xfrm>
          <a:off x="4345684" y="4829429"/>
          <a:ext cx="2893315" cy="12665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3433"/>
                <a:gridCol w="1609882"/>
              </a:tblGrid>
              <a:tr h="530838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Vendor_ID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Vendor_name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</a:tr>
              <a:tr h="36818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45" dirty="0">
                          <a:latin typeface="Microsoft Sans Serif"/>
                          <a:cs typeface="Microsoft Sans Serif"/>
                        </a:rPr>
                        <a:t>Microsoft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6755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Amazon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90618"/>
              </p:ext>
            </p:extLst>
          </p:nvPr>
        </p:nvGraphicFramePr>
        <p:xfrm>
          <a:off x="474897" y="1456436"/>
          <a:ext cx="3346608" cy="2015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8236"/>
                <a:gridCol w="916781"/>
                <a:gridCol w="1301591"/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Learner_ID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Birth_date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20" dirty="0">
                          <a:latin typeface="Microsoft Sans Serif"/>
                          <a:cs typeface="Microsoft Sans Serif"/>
                        </a:rPr>
                        <a:t>John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1990/02/12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Kelly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1988/10/01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Bryan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1991/01/15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Rob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1986/08/07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678046"/>
              </p:ext>
            </p:extLst>
          </p:nvPr>
        </p:nvGraphicFramePr>
        <p:xfrm>
          <a:off x="4345686" y="1456436"/>
          <a:ext cx="3981450" cy="3126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6326"/>
                <a:gridCol w="1469708"/>
                <a:gridCol w="1425416"/>
              </a:tblGrid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Learner_ID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Certification_ID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Date_acquired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493B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2017/01/08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2020/04/16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2021/05/12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2018/06/03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2019/12/11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2020/04/07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2022/01/15</a:t>
                      </a:r>
                      <a:endParaRPr sz="16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2007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1295400" y="838200"/>
            <a:ext cx="6498158" cy="1724867"/>
          </a:xfrm>
        </p:spPr>
        <p:txBody>
          <a:bodyPr/>
          <a:lstStyle/>
          <a:p>
            <a:r>
              <a:rPr lang="en-US" dirty="0" smtClean="0"/>
              <a:t>SQL – Part 1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95400" y="2743200"/>
            <a:ext cx="6601879" cy="1882588"/>
          </a:xfrm>
        </p:spPr>
        <p:txBody>
          <a:bodyPr>
            <a:normAutofit/>
          </a:bodyPr>
          <a:lstStyle/>
          <a:p>
            <a:r>
              <a:rPr lang="en-US" sz="3200" dirty="0"/>
              <a:t>Data Definition Language foundation, overview of DDL basic principles </a:t>
            </a:r>
            <a:endParaRPr lang="en-US" sz="32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3433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7505">
              <a:lnSpc>
                <a:spcPct val="100000"/>
              </a:lnSpc>
            </a:pPr>
            <a:r>
              <a:rPr spc="-15" dirty="0"/>
              <a:t>Relations, </a:t>
            </a:r>
            <a:r>
              <a:rPr spc="-5" dirty="0"/>
              <a:t>Entities </a:t>
            </a:r>
            <a:r>
              <a:rPr dirty="0"/>
              <a:t>and</a:t>
            </a:r>
            <a:r>
              <a:rPr spc="-20" dirty="0"/>
              <a:t> </a:t>
            </a:r>
            <a:r>
              <a:rPr spc="-55" dirty="0"/>
              <a:t>Tables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805"/>
            <a:ext cx="7865745" cy="884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422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The terminology changes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Relational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Model</a:t>
            </a:r>
            <a:endParaRPr sz="2800">
              <a:latin typeface="Calibri"/>
              <a:cs typeface="Calibri"/>
            </a:endParaRPr>
          </a:p>
          <a:p>
            <a:pPr marL="41275" algn="ctr">
              <a:lnSpc>
                <a:spcPct val="100000"/>
              </a:lnSpc>
            </a:pPr>
            <a:r>
              <a:rPr sz="2800" spc="-15" dirty="0">
                <a:latin typeface="Calibri"/>
                <a:cs typeface="Calibri"/>
              </a:rPr>
              <a:t>through to </a:t>
            </a:r>
            <a:r>
              <a:rPr sz="2800" dirty="0">
                <a:latin typeface="Calibri"/>
                <a:cs typeface="Calibri"/>
              </a:rPr>
              <a:t>SQL, </a:t>
            </a:r>
            <a:r>
              <a:rPr sz="2800" spc="-10" dirty="0">
                <a:latin typeface="Calibri"/>
                <a:cs typeface="Calibri"/>
              </a:rPr>
              <a:t>but usually </a:t>
            </a:r>
            <a:r>
              <a:rPr sz="2800" spc="-5" dirty="0">
                <a:latin typeface="Calibri"/>
                <a:cs typeface="Calibri"/>
              </a:rPr>
              <a:t>means the same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thing</a:t>
            </a:r>
            <a:endParaRPr sz="2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1149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7505">
              <a:lnSpc>
                <a:spcPct val="100000"/>
              </a:lnSpc>
            </a:pPr>
            <a:r>
              <a:rPr spc="-15" dirty="0"/>
              <a:t>Relations, </a:t>
            </a:r>
            <a:r>
              <a:rPr spc="-5" dirty="0"/>
              <a:t>Entities </a:t>
            </a:r>
            <a:r>
              <a:rPr dirty="0"/>
              <a:t>and</a:t>
            </a:r>
            <a:r>
              <a:rPr spc="-20" dirty="0"/>
              <a:t> </a:t>
            </a:r>
            <a:r>
              <a:rPr spc="-55" dirty="0"/>
              <a:t>Tables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805"/>
            <a:ext cx="7865745" cy="884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422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The terminology changes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Relational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Model</a:t>
            </a:r>
            <a:endParaRPr sz="2800">
              <a:latin typeface="Calibri"/>
              <a:cs typeface="Calibri"/>
            </a:endParaRPr>
          </a:p>
          <a:p>
            <a:pPr marL="41275" algn="ctr">
              <a:lnSpc>
                <a:spcPct val="100000"/>
              </a:lnSpc>
            </a:pPr>
            <a:r>
              <a:rPr sz="2800" spc="-15" dirty="0">
                <a:latin typeface="Calibri"/>
                <a:cs typeface="Calibri"/>
              </a:rPr>
              <a:t>through to </a:t>
            </a:r>
            <a:r>
              <a:rPr sz="2800" dirty="0">
                <a:latin typeface="Calibri"/>
                <a:cs typeface="Calibri"/>
              </a:rPr>
              <a:t>SQL, </a:t>
            </a:r>
            <a:r>
              <a:rPr sz="2800" spc="-10" dirty="0">
                <a:latin typeface="Calibri"/>
                <a:cs typeface="Calibri"/>
              </a:rPr>
              <a:t>but usually </a:t>
            </a:r>
            <a:r>
              <a:rPr sz="2800" spc="-5" dirty="0">
                <a:latin typeface="Calibri"/>
                <a:cs typeface="Calibri"/>
              </a:rPr>
              <a:t>means the same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4612" y="3095497"/>
            <a:ext cx="1165225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Relations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99230" y="3095497"/>
            <a:ext cx="1682114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E/R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Diagrams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3772" y="3095497"/>
            <a:ext cx="499745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S</a:t>
            </a:r>
            <a:r>
              <a:rPr sz="2400" spc="5" dirty="0">
                <a:latin typeface="Calibri"/>
                <a:cs typeface="Calibri"/>
              </a:rPr>
              <a:t>Q</a:t>
            </a:r>
            <a:r>
              <a:rPr sz="2400" dirty="0">
                <a:latin typeface="Calibri"/>
                <a:cs typeface="Calibri"/>
              </a:rPr>
              <a:t>L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857243"/>
              </p:ext>
            </p:extLst>
          </p:nvPr>
        </p:nvGraphicFramePr>
        <p:xfrm>
          <a:off x="1106093" y="3516629"/>
          <a:ext cx="6912813" cy="22859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4237"/>
                <a:gridCol w="2304288"/>
                <a:gridCol w="2304288"/>
              </a:tblGrid>
              <a:tr h="483819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Relation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Entity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spc="-40" dirty="0">
                          <a:latin typeface="Calibri"/>
                          <a:cs typeface="Calibri"/>
                        </a:rPr>
                        <a:t>Table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457542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sz="2400" spc="-35" dirty="0">
                          <a:latin typeface="Calibri"/>
                          <a:cs typeface="Calibri"/>
                        </a:rPr>
                        <a:t>Tuple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Instance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Row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457161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sz="2400" spc="-15" dirty="0">
                          <a:latin typeface="Calibri"/>
                          <a:cs typeface="Calibri"/>
                        </a:rPr>
                        <a:t>Attribute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spc="-15" dirty="0">
                          <a:latin typeface="Calibri"/>
                          <a:cs typeface="Calibri"/>
                        </a:rPr>
                        <a:t>Attribute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Column or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Field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457187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sz="2400" spc="-15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Key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dirty="0" smtClean="0">
                          <a:latin typeface="Calibri"/>
                          <a:cs typeface="Calibri"/>
                        </a:rPr>
                        <a:t>1</a:t>
                      </a:r>
                      <a:r>
                        <a:rPr lang="en-US" sz="2400" dirty="0" smtClean="0">
                          <a:latin typeface="Calibri"/>
                          <a:cs typeface="Calibri"/>
                        </a:rPr>
                        <a:t>:N</a:t>
                      </a:r>
                      <a:r>
                        <a:rPr sz="2400" spc="-70" dirty="0" smtClean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Relationship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spc="-15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Key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430288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2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Key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u="heavy" spc="-15" dirty="0">
                          <a:latin typeface="Calibri"/>
                          <a:cs typeface="Calibri"/>
                        </a:rPr>
                        <a:t>Attribute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2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Key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5405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-457200"/>
            <a:ext cx="8042276" cy="13369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73075">
              <a:lnSpc>
                <a:spcPct val="100000"/>
              </a:lnSpc>
            </a:pPr>
            <a:r>
              <a:rPr spc="-5" dirty="0"/>
              <a:t>Implementing E/R</a:t>
            </a:r>
            <a:r>
              <a:rPr spc="-65" dirty="0"/>
              <a:t> </a:t>
            </a:r>
            <a:r>
              <a:rPr spc="-10" dirty="0"/>
              <a:t>Diagrams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85721"/>
            <a:ext cx="3033395" cy="4260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spc="-5" dirty="0">
                <a:latin typeface="Calibri"/>
                <a:cs typeface="Calibri"/>
              </a:rPr>
              <a:t>Given </a:t>
            </a:r>
            <a:r>
              <a:rPr sz="2600" dirty="0">
                <a:latin typeface="Calibri"/>
                <a:cs typeface="Calibri"/>
              </a:rPr>
              <a:t>an </a:t>
            </a:r>
            <a:r>
              <a:rPr sz="2600" spc="-5" dirty="0">
                <a:latin typeface="Calibri"/>
                <a:cs typeface="Calibri"/>
              </a:rPr>
              <a:t>E/R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design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67426" y="5238750"/>
            <a:ext cx="318135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4800" algn="l"/>
              </a:tabLst>
            </a:pPr>
            <a:r>
              <a:rPr sz="2200" u="heavy" spc="-5" dirty="0">
                <a:solidFill>
                  <a:srgbClr val="FF0000"/>
                </a:solidFill>
                <a:latin typeface="Times New Roman"/>
                <a:cs typeface="Times New Roman"/>
              </a:rPr>
              <a:t> 	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02653" y="5238750"/>
            <a:ext cx="31877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5435" algn="l"/>
              </a:tabLst>
            </a:pPr>
            <a:r>
              <a:rPr sz="2200" u="heavy" spc="-5" dirty="0">
                <a:solidFill>
                  <a:srgbClr val="FF0000"/>
                </a:solidFill>
                <a:latin typeface="Times New Roman"/>
                <a:cs typeface="Times New Roman"/>
              </a:rPr>
              <a:t> 	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444" y="2057019"/>
            <a:ext cx="3263900" cy="3845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marR="154305" indent="-286385">
              <a:lnSpc>
                <a:spcPts val="238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200" spc="-10" dirty="0">
                <a:latin typeface="Calibri"/>
                <a:cs typeface="Calibri"/>
              </a:rPr>
              <a:t>The entities become SQL  tables</a:t>
            </a:r>
            <a:endParaRPr sz="2200">
              <a:latin typeface="Calibri"/>
              <a:cs typeface="Calibri"/>
            </a:endParaRPr>
          </a:p>
          <a:p>
            <a:pPr marL="299085" marR="316865" indent="-286385">
              <a:lnSpc>
                <a:spcPts val="2380"/>
              </a:lnSpc>
              <a:spcBef>
                <a:spcPts val="52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200" spc="-20" dirty="0">
                <a:latin typeface="Calibri"/>
                <a:cs typeface="Calibri"/>
              </a:rPr>
              <a:t>Attributes </a:t>
            </a:r>
            <a:r>
              <a:rPr sz="2200" spc="-5" dirty="0">
                <a:latin typeface="Calibri"/>
                <a:cs typeface="Calibri"/>
              </a:rPr>
              <a:t>of an </a:t>
            </a:r>
            <a:r>
              <a:rPr sz="2200" spc="-10" dirty="0">
                <a:latin typeface="Calibri"/>
                <a:cs typeface="Calibri"/>
              </a:rPr>
              <a:t>entity  become columns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5" dirty="0">
                <a:latin typeface="Calibri"/>
                <a:cs typeface="Calibri"/>
              </a:rPr>
              <a:t>the  </a:t>
            </a:r>
            <a:r>
              <a:rPr sz="2200" spc="-10" dirty="0">
                <a:latin typeface="Calibri"/>
                <a:cs typeface="Calibri"/>
              </a:rPr>
              <a:t>corresponding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table</a:t>
            </a:r>
            <a:endParaRPr sz="2200">
              <a:latin typeface="Calibri"/>
              <a:cs typeface="Calibri"/>
            </a:endParaRPr>
          </a:p>
          <a:p>
            <a:pPr marL="299085" marR="5080" indent="-286385">
              <a:lnSpc>
                <a:spcPts val="2380"/>
              </a:lnSpc>
              <a:spcBef>
                <a:spcPts val="52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200" spc="-45" dirty="0">
                <a:latin typeface="Calibri"/>
                <a:cs typeface="Calibri"/>
              </a:rPr>
              <a:t>We </a:t>
            </a:r>
            <a:r>
              <a:rPr sz="2200" spc="-15" dirty="0">
                <a:latin typeface="Calibri"/>
                <a:cs typeface="Calibri"/>
              </a:rPr>
              <a:t>can </a:t>
            </a:r>
            <a:r>
              <a:rPr sz="2200" spc="-20" dirty="0">
                <a:latin typeface="Calibri"/>
                <a:cs typeface="Calibri"/>
              </a:rPr>
              <a:t>approximate </a:t>
            </a:r>
            <a:r>
              <a:rPr sz="2200" spc="-5" dirty="0">
                <a:latin typeface="Calibri"/>
                <a:cs typeface="Calibri"/>
              </a:rPr>
              <a:t>the  domains of the </a:t>
            </a:r>
            <a:r>
              <a:rPr sz="2200" spc="-15" dirty="0">
                <a:latin typeface="Calibri"/>
                <a:cs typeface="Calibri"/>
              </a:rPr>
              <a:t>attributes  </a:t>
            </a:r>
            <a:r>
              <a:rPr sz="2200" spc="-10" dirty="0">
                <a:latin typeface="Calibri"/>
                <a:cs typeface="Calibri"/>
              </a:rPr>
              <a:t>by </a:t>
            </a:r>
            <a:r>
              <a:rPr sz="2200" spc="-5" dirty="0">
                <a:latin typeface="Calibri"/>
                <a:cs typeface="Calibri"/>
              </a:rPr>
              <a:t>assigning types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each  </a:t>
            </a:r>
            <a:r>
              <a:rPr sz="2200" spc="-10" dirty="0">
                <a:latin typeface="Calibri"/>
                <a:cs typeface="Calibri"/>
              </a:rPr>
              <a:t>column</a:t>
            </a:r>
            <a:endParaRPr sz="2200">
              <a:latin typeface="Calibri"/>
              <a:cs typeface="Calibri"/>
            </a:endParaRPr>
          </a:p>
          <a:p>
            <a:pPr marL="299085" marR="356870" indent="-286385">
              <a:lnSpc>
                <a:spcPct val="90000"/>
              </a:lnSpc>
              <a:spcBef>
                <a:spcPts val="49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200" spc="-10" dirty="0">
                <a:latin typeface="Calibri"/>
                <a:cs typeface="Calibri"/>
              </a:rPr>
              <a:t>Relationships </a:t>
            </a:r>
            <a:r>
              <a:rPr sz="2200" spc="-20" dirty="0">
                <a:latin typeface="Calibri"/>
                <a:cs typeface="Calibri"/>
              </a:rPr>
              <a:t>may </a:t>
            </a:r>
            <a:r>
              <a:rPr sz="2200" spc="-10" dirty="0">
                <a:latin typeface="Calibri"/>
                <a:cs typeface="Calibri"/>
              </a:rPr>
              <a:t>be  </a:t>
            </a:r>
            <a:r>
              <a:rPr sz="2200" spc="-15" dirty="0">
                <a:latin typeface="Calibri"/>
                <a:cs typeface="Calibri"/>
              </a:rPr>
              <a:t>represented </a:t>
            </a:r>
            <a:r>
              <a:rPr sz="2200" spc="-10" dirty="0">
                <a:latin typeface="Calibri"/>
                <a:cs typeface="Calibri"/>
              </a:rPr>
              <a:t>by 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foreign  </a:t>
            </a:r>
            <a:r>
              <a:rPr sz="2200" b="1" spc="-30" dirty="0">
                <a:solidFill>
                  <a:srgbClr val="FF0000"/>
                </a:solidFill>
                <a:latin typeface="Calibri"/>
                <a:cs typeface="Calibri"/>
              </a:rPr>
              <a:t>keys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96153" y="3665220"/>
            <a:ext cx="1295400" cy="533400"/>
          </a:xfrm>
          <a:custGeom>
            <a:avLst/>
            <a:gdLst/>
            <a:ahLst/>
            <a:cxnLst/>
            <a:rect l="l" t="t" r="r" b="b"/>
            <a:pathLst>
              <a:path w="1295400" h="533400">
                <a:moveTo>
                  <a:pt x="0" y="88899"/>
                </a:moveTo>
                <a:lnTo>
                  <a:pt x="6979" y="54328"/>
                </a:lnTo>
                <a:lnTo>
                  <a:pt x="26019" y="26066"/>
                </a:lnTo>
                <a:lnTo>
                  <a:pt x="54274" y="6996"/>
                </a:lnTo>
                <a:lnTo>
                  <a:pt x="88900" y="0"/>
                </a:lnTo>
                <a:lnTo>
                  <a:pt x="1206500" y="0"/>
                </a:lnTo>
                <a:lnTo>
                  <a:pt x="1241071" y="6996"/>
                </a:lnTo>
                <a:lnTo>
                  <a:pt x="1269333" y="26066"/>
                </a:lnTo>
                <a:lnTo>
                  <a:pt x="1288403" y="54328"/>
                </a:lnTo>
                <a:lnTo>
                  <a:pt x="1295400" y="88899"/>
                </a:lnTo>
                <a:lnTo>
                  <a:pt x="1295400" y="444499"/>
                </a:lnTo>
                <a:lnTo>
                  <a:pt x="1288403" y="479125"/>
                </a:lnTo>
                <a:lnTo>
                  <a:pt x="1269333" y="507380"/>
                </a:lnTo>
                <a:lnTo>
                  <a:pt x="1241071" y="526420"/>
                </a:lnTo>
                <a:lnTo>
                  <a:pt x="1206500" y="533399"/>
                </a:lnTo>
                <a:lnTo>
                  <a:pt x="88900" y="533399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499"/>
                </a:lnTo>
                <a:lnTo>
                  <a:pt x="0" y="8889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91910" y="3764153"/>
            <a:ext cx="110553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Enrolment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72353" y="1988820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88900"/>
                </a:moveTo>
                <a:lnTo>
                  <a:pt x="6979" y="54328"/>
                </a:lnTo>
                <a:lnTo>
                  <a:pt x="26019" y="26066"/>
                </a:lnTo>
                <a:lnTo>
                  <a:pt x="54274" y="6996"/>
                </a:lnTo>
                <a:lnTo>
                  <a:pt x="88900" y="0"/>
                </a:lnTo>
                <a:lnTo>
                  <a:pt x="1054100" y="0"/>
                </a:lnTo>
                <a:lnTo>
                  <a:pt x="1088671" y="6996"/>
                </a:lnTo>
                <a:lnTo>
                  <a:pt x="1116933" y="26066"/>
                </a:lnTo>
                <a:lnTo>
                  <a:pt x="1136003" y="54328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03" y="479125"/>
                </a:lnTo>
                <a:lnTo>
                  <a:pt x="1116933" y="507380"/>
                </a:lnTo>
                <a:lnTo>
                  <a:pt x="1088671" y="526420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024498" y="2087498"/>
            <a:ext cx="83946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Stu</a:t>
            </a:r>
            <a:r>
              <a:rPr sz="2000" spc="5" dirty="0">
                <a:latin typeface="Calibri"/>
                <a:cs typeface="Calibri"/>
              </a:rPr>
              <a:t>d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2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872353" y="5341620"/>
            <a:ext cx="1143000" cy="534035"/>
          </a:xfrm>
          <a:custGeom>
            <a:avLst/>
            <a:gdLst/>
            <a:ahLst/>
            <a:cxnLst/>
            <a:rect l="l" t="t" r="r" b="b"/>
            <a:pathLst>
              <a:path w="1143000" h="534035">
                <a:moveTo>
                  <a:pt x="0" y="88899"/>
                </a:moveTo>
                <a:lnTo>
                  <a:pt x="6979" y="54328"/>
                </a:lnTo>
                <a:lnTo>
                  <a:pt x="26019" y="26066"/>
                </a:lnTo>
                <a:lnTo>
                  <a:pt x="54274" y="6996"/>
                </a:lnTo>
                <a:lnTo>
                  <a:pt x="88900" y="0"/>
                </a:lnTo>
                <a:lnTo>
                  <a:pt x="1054100" y="0"/>
                </a:lnTo>
                <a:lnTo>
                  <a:pt x="1088671" y="6996"/>
                </a:lnTo>
                <a:lnTo>
                  <a:pt x="1116933" y="26066"/>
                </a:lnTo>
                <a:lnTo>
                  <a:pt x="1136003" y="54328"/>
                </a:lnTo>
                <a:lnTo>
                  <a:pt x="1143000" y="88899"/>
                </a:lnTo>
                <a:lnTo>
                  <a:pt x="1143000" y="444512"/>
                </a:lnTo>
                <a:lnTo>
                  <a:pt x="1136003" y="479118"/>
                </a:lnTo>
                <a:lnTo>
                  <a:pt x="1116933" y="507380"/>
                </a:lnTo>
                <a:lnTo>
                  <a:pt x="1088671" y="526437"/>
                </a:lnTo>
                <a:lnTo>
                  <a:pt x="1054100" y="533425"/>
                </a:lnTo>
                <a:lnTo>
                  <a:pt x="88900" y="533425"/>
                </a:lnTo>
                <a:lnTo>
                  <a:pt x="54274" y="526437"/>
                </a:lnTo>
                <a:lnTo>
                  <a:pt x="26019" y="507380"/>
                </a:lnTo>
                <a:lnTo>
                  <a:pt x="6979" y="479118"/>
                </a:lnTo>
                <a:lnTo>
                  <a:pt x="0" y="444512"/>
                </a:lnTo>
                <a:lnTo>
                  <a:pt x="0" y="8889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029071" y="5440883"/>
            <a:ext cx="83058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Mod</a:t>
            </a:r>
            <a:r>
              <a:rPr sz="2000" spc="-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le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48553" y="4503420"/>
            <a:ext cx="990600" cy="533400"/>
          </a:xfrm>
          <a:custGeom>
            <a:avLst/>
            <a:gdLst/>
            <a:ahLst/>
            <a:cxnLst/>
            <a:rect l="l" t="t" r="r" b="b"/>
            <a:pathLst>
              <a:path w="990600" h="533400">
                <a:moveTo>
                  <a:pt x="0" y="266699"/>
                </a:moveTo>
                <a:lnTo>
                  <a:pt x="495300" y="0"/>
                </a:lnTo>
                <a:lnTo>
                  <a:pt x="990600" y="266699"/>
                </a:lnTo>
                <a:lnTo>
                  <a:pt x="495300" y="533399"/>
                </a:lnTo>
                <a:lnTo>
                  <a:pt x="0" y="26669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352794" y="4636389"/>
            <a:ext cx="18478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In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48553" y="2827020"/>
            <a:ext cx="990600" cy="533400"/>
          </a:xfrm>
          <a:custGeom>
            <a:avLst/>
            <a:gdLst/>
            <a:ahLst/>
            <a:cxnLst/>
            <a:rect l="l" t="t" r="r" b="b"/>
            <a:pathLst>
              <a:path w="990600" h="533400">
                <a:moveTo>
                  <a:pt x="0" y="266700"/>
                </a:moveTo>
                <a:lnTo>
                  <a:pt x="495300" y="0"/>
                </a:lnTo>
                <a:lnTo>
                  <a:pt x="990600" y="266700"/>
                </a:lnTo>
                <a:lnTo>
                  <a:pt x="495300" y="533400"/>
                </a:lnTo>
                <a:lnTo>
                  <a:pt x="0" y="2667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279641" y="2959734"/>
            <a:ext cx="32893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Has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43853" y="252222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43853" y="336042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443853" y="419862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443853" y="503682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29553" y="4198620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228600" y="0"/>
                </a:moveTo>
                <a:lnTo>
                  <a:pt x="222772" y="48182"/>
                </a:lnTo>
                <a:lnTo>
                  <a:pt x="206544" y="90019"/>
                </a:lnTo>
                <a:lnTo>
                  <a:pt x="181801" y="123005"/>
                </a:lnTo>
                <a:lnTo>
                  <a:pt x="150424" y="144633"/>
                </a:lnTo>
                <a:lnTo>
                  <a:pt x="114300" y="152399"/>
                </a:lnTo>
                <a:lnTo>
                  <a:pt x="78175" y="144647"/>
                </a:lnTo>
                <a:lnTo>
                  <a:pt x="46798" y="123057"/>
                </a:lnTo>
                <a:lnTo>
                  <a:pt x="22055" y="90129"/>
                </a:lnTo>
                <a:lnTo>
                  <a:pt x="5827" y="48361"/>
                </a:lnTo>
                <a:lnTo>
                  <a:pt x="0" y="25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329553" y="3512820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228600" y="152399"/>
                </a:moveTo>
                <a:lnTo>
                  <a:pt x="222772" y="104217"/>
                </a:lnTo>
                <a:lnTo>
                  <a:pt x="206544" y="62380"/>
                </a:lnTo>
                <a:lnTo>
                  <a:pt x="181801" y="29394"/>
                </a:lnTo>
                <a:lnTo>
                  <a:pt x="150424" y="7766"/>
                </a:lnTo>
                <a:lnTo>
                  <a:pt x="114300" y="0"/>
                </a:lnTo>
                <a:lnTo>
                  <a:pt x="78175" y="7765"/>
                </a:lnTo>
                <a:lnTo>
                  <a:pt x="46798" y="29386"/>
                </a:lnTo>
                <a:lnTo>
                  <a:pt x="22055" y="62352"/>
                </a:lnTo>
                <a:lnTo>
                  <a:pt x="5827" y="104152"/>
                </a:lnTo>
                <a:lnTo>
                  <a:pt x="0" y="15227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20080" y="1412747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53"/>
                </a:lnTo>
                <a:lnTo>
                  <a:pt x="59059" y="114496"/>
                </a:lnTo>
                <a:lnTo>
                  <a:pt x="90311" y="92630"/>
                </a:lnTo>
                <a:lnTo>
                  <a:pt x="127214" y="72577"/>
                </a:lnTo>
                <a:lnTo>
                  <a:pt x="169295" y="54539"/>
                </a:lnTo>
                <a:lnTo>
                  <a:pt x="216081" y="38719"/>
                </a:lnTo>
                <a:lnTo>
                  <a:pt x="267101" y="25321"/>
                </a:lnTo>
                <a:lnTo>
                  <a:pt x="321881" y="14547"/>
                </a:lnTo>
                <a:lnTo>
                  <a:pt x="379950" y="6600"/>
                </a:lnTo>
                <a:lnTo>
                  <a:pt x="440834" y="1684"/>
                </a:lnTo>
                <a:lnTo>
                  <a:pt x="504063" y="0"/>
                </a:lnTo>
                <a:lnTo>
                  <a:pt x="567291" y="1684"/>
                </a:lnTo>
                <a:lnTo>
                  <a:pt x="628175" y="6600"/>
                </a:lnTo>
                <a:lnTo>
                  <a:pt x="686244" y="14547"/>
                </a:lnTo>
                <a:lnTo>
                  <a:pt x="741024" y="25321"/>
                </a:lnTo>
                <a:lnTo>
                  <a:pt x="792044" y="38719"/>
                </a:lnTo>
                <a:lnTo>
                  <a:pt x="838830" y="54539"/>
                </a:lnTo>
                <a:lnTo>
                  <a:pt x="880911" y="72577"/>
                </a:lnTo>
                <a:lnTo>
                  <a:pt x="917814" y="92630"/>
                </a:lnTo>
                <a:lnTo>
                  <a:pt x="949066" y="114496"/>
                </a:lnTo>
                <a:lnTo>
                  <a:pt x="992731" y="162853"/>
                </a:lnTo>
                <a:lnTo>
                  <a:pt x="1008126" y="216026"/>
                </a:lnTo>
                <a:lnTo>
                  <a:pt x="1004198" y="243139"/>
                </a:lnTo>
                <a:lnTo>
                  <a:pt x="974196" y="294134"/>
                </a:lnTo>
                <a:lnTo>
                  <a:pt x="917814" y="339479"/>
                </a:lnTo>
                <a:lnTo>
                  <a:pt x="880911" y="359527"/>
                </a:lnTo>
                <a:lnTo>
                  <a:pt x="838830" y="377558"/>
                </a:lnTo>
                <a:lnTo>
                  <a:pt x="792044" y="393368"/>
                </a:lnTo>
                <a:lnTo>
                  <a:pt x="741024" y="406757"/>
                </a:lnTo>
                <a:lnTo>
                  <a:pt x="686244" y="417521"/>
                </a:lnTo>
                <a:lnTo>
                  <a:pt x="628175" y="425460"/>
                </a:lnTo>
                <a:lnTo>
                  <a:pt x="567291" y="430372"/>
                </a:lnTo>
                <a:lnTo>
                  <a:pt x="504063" y="432053"/>
                </a:lnTo>
                <a:lnTo>
                  <a:pt x="440834" y="430372"/>
                </a:lnTo>
                <a:lnTo>
                  <a:pt x="379950" y="425460"/>
                </a:lnTo>
                <a:lnTo>
                  <a:pt x="321881" y="417521"/>
                </a:lnTo>
                <a:lnTo>
                  <a:pt x="267101" y="406757"/>
                </a:lnTo>
                <a:lnTo>
                  <a:pt x="216081" y="393368"/>
                </a:lnTo>
                <a:lnTo>
                  <a:pt x="169295" y="377558"/>
                </a:lnTo>
                <a:lnTo>
                  <a:pt x="127214" y="359527"/>
                </a:lnTo>
                <a:lnTo>
                  <a:pt x="90311" y="339479"/>
                </a:lnTo>
                <a:lnTo>
                  <a:pt x="59059" y="317614"/>
                </a:lnTo>
                <a:lnTo>
                  <a:pt x="15394" y="269242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466079" y="1494535"/>
            <a:ext cx="51689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Name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572000" y="2038857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11"/>
                </a:lnTo>
                <a:lnTo>
                  <a:pt x="59059" y="114439"/>
                </a:lnTo>
                <a:lnTo>
                  <a:pt x="90311" y="92574"/>
                </a:lnTo>
                <a:lnTo>
                  <a:pt x="127214" y="72526"/>
                </a:lnTo>
                <a:lnTo>
                  <a:pt x="169295" y="54495"/>
                </a:lnTo>
                <a:lnTo>
                  <a:pt x="216081" y="38685"/>
                </a:lnTo>
                <a:lnTo>
                  <a:pt x="267101" y="25296"/>
                </a:lnTo>
                <a:lnTo>
                  <a:pt x="321881" y="14532"/>
                </a:lnTo>
                <a:lnTo>
                  <a:pt x="379950" y="6593"/>
                </a:lnTo>
                <a:lnTo>
                  <a:pt x="440834" y="1681"/>
                </a:lnTo>
                <a:lnTo>
                  <a:pt x="504063" y="0"/>
                </a:lnTo>
                <a:lnTo>
                  <a:pt x="567291" y="1681"/>
                </a:lnTo>
                <a:lnTo>
                  <a:pt x="628175" y="6593"/>
                </a:lnTo>
                <a:lnTo>
                  <a:pt x="686244" y="14532"/>
                </a:lnTo>
                <a:lnTo>
                  <a:pt x="741024" y="25296"/>
                </a:lnTo>
                <a:lnTo>
                  <a:pt x="792044" y="38685"/>
                </a:lnTo>
                <a:lnTo>
                  <a:pt x="838830" y="54495"/>
                </a:lnTo>
                <a:lnTo>
                  <a:pt x="880911" y="72526"/>
                </a:lnTo>
                <a:lnTo>
                  <a:pt x="917814" y="92574"/>
                </a:lnTo>
                <a:lnTo>
                  <a:pt x="949066" y="114439"/>
                </a:lnTo>
                <a:lnTo>
                  <a:pt x="992731" y="162811"/>
                </a:lnTo>
                <a:lnTo>
                  <a:pt x="1008126" y="216026"/>
                </a:lnTo>
                <a:lnTo>
                  <a:pt x="1004198" y="243114"/>
                </a:lnTo>
                <a:lnTo>
                  <a:pt x="974196" y="294082"/>
                </a:lnTo>
                <a:lnTo>
                  <a:pt x="917814" y="339423"/>
                </a:lnTo>
                <a:lnTo>
                  <a:pt x="880911" y="359476"/>
                </a:lnTo>
                <a:lnTo>
                  <a:pt x="838830" y="377514"/>
                </a:lnTo>
                <a:lnTo>
                  <a:pt x="792044" y="393334"/>
                </a:lnTo>
                <a:lnTo>
                  <a:pt x="741024" y="406732"/>
                </a:lnTo>
                <a:lnTo>
                  <a:pt x="686244" y="417506"/>
                </a:lnTo>
                <a:lnTo>
                  <a:pt x="628175" y="425453"/>
                </a:lnTo>
                <a:lnTo>
                  <a:pt x="567291" y="430369"/>
                </a:lnTo>
                <a:lnTo>
                  <a:pt x="504063" y="432053"/>
                </a:lnTo>
                <a:lnTo>
                  <a:pt x="440834" y="430369"/>
                </a:lnTo>
                <a:lnTo>
                  <a:pt x="379950" y="425453"/>
                </a:lnTo>
                <a:lnTo>
                  <a:pt x="321881" y="417506"/>
                </a:lnTo>
                <a:lnTo>
                  <a:pt x="267101" y="406732"/>
                </a:lnTo>
                <a:lnTo>
                  <a:pt x="216081" y="393334"/>
                </a:lnTo>
                <a:lnTo>
                  <a:pt x="169295" y="377514"/>
                </a:lnTo>
                <a:lnTo>
                  <a:pt x="127214" y="359476"/>
                </a:lnTo>
                <a:lnTo>
                  <a:pt x="90311" y="339423"/>
                </a:lnTo>
                <a:lnTo>
                  <a:pt x="59059" y="317557"/>
                </a:lnTo>
                <a:lnTo>
                  <a:pt x="15394" y="269200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975097" y="2120646"/>
            <a:ext cx="20320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dirty="0"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804279" y="1412747"/>
            <a:ext cx="1296670" cy="432434"/>
          </a:xfrm>
          <a:custGeom>
            <a:avLst/>
            <a:gdLst/>
            <a:ahLst/>
            <a:cxnLst/>
            <a:rect l="l" t="t" r="r" b="b"/>
            <a:pathLst>
              <a:path w="1296670" h="432435">
                <a:moveTo>
                  <a:pt x="0" y="216026"/>
                </a:moveTo>
                <a:lnTo>
                  <a:pt x="14943" y="169700"/>
                </a:lnTo>
                <a:lnTo>
                  <a:pt x="57669" y="126828"/>
                </a:lnTo>
                <a:lnTo>
                  <a:pt x="125016" y="88468"/>
                </a:lnTo>
                <a:lnTo>
                  <a:pt x="166936" y="71309"/>
                </a:lnTo>
                <a:lnTo>
                  <a:pt x="213827" y="55675"/>
                </a:lnTo>
                <a:lnTo>
                  <a:pt x="265294" y="41696"/>
                </a:lnTo>
                <a:lnTo>
                  <a:pt x="320943" y="29506"/>
                </a:lnTo>
                <a:lnTo>
                  <a:pt x="380377" y="19236"/>
                </a:lnTo>
                <a:lnTo>
                  <a:pt x="443203" y="11018"/>
                </a:lnTo>
                <a:lnTo>
                  <a:pt x="509026" y="4985"/>
                </a:lnTo>
                <a:lnTo>
                  <a:pt x="577450" y="1268"/>
                </a:lnTo>
                <a:lnTo>
                  <a:pt x="648080" y="0"/>
                </a:lnTo>
                <a:lnTo>
                  <a:pt x="718689" y="1268"/>
                </a:lnTo>
                <a:lnTo>
                  <a:pt x="787097" y="4985"/>
                </a:lnTo>
                <a:lnTo>
                  <a:pt x="852909" y="11018"/>
                </a:lnTo>
                <a:lnTo>
                  <a:pt x="915729" y="19236"/>
                </a:lnTo>
                <a:lnTo>
                  <a:pt x="975162" y="29506"/>
                </a:lnTo>
                <a:lnTo>
                  <a:pt x="1030812" y="41696"/>
                </a:lnTo>
                <a:lnTo>
                  <a:pt x="1082283" y="55675"/>
                </a:lnTo>
                <a:lnTo>
                  <a:pt x="1129180" y="71309"/>
                </a:lnTo>
                <a:lnTo>
                  <a:pt x="1171108" y="88468"/>
                </a:lnTo>
                <a:lnTo>
                  <a:pt x="1207671" y="107018"/>
                </a:lnTo>
                <a:lnTo>
                  <a:pt x="1263118" y="147767"/>
                </a:lnTo>
                <a:lnTo>
                  <a:pt x="1292358" y="192498"/>
                </a:lnTo>
                <a:lnTo>
                  <a:pt x="1296162" y="216026"/>
                </a:lnTo>
                <a:lnTo>
                  <a:pt x="1292358" y="239577"/>
                </a:lnTo>
                <a:lnTo>
                  <a:pt x="1263118" y="284335"/>
                </a:lnTo>
                <a:lnTo>
                  <a:pt x="1207671" y="325091"/>
                </a:lnTo>
                <a:lnTo>
                  <a:pt x="1171108" y="343640"/>
                </a:lnTo>
                <a:lnTo>
                  <a:pt x="1129180" y="360794"/>
                </a:lnTo>
                <a:lnTo>
                  <a:pt x="1082283" y="376423"/>
                </a:lnTo>
                <a:lnTo>
                  <a:pt x="1030812" y="390393"/>
                </a:lnTo>
                <a:lnTo>
                  <a:pt x="975162" y="402575"/>
                </a:lnTo>
                <a:lnTo>
                  <a:pt x="915729" y="412837"/>
                </a:lnTo>
                <a:lnTo>
                  <a:pt x="852909" y="421047"/>
                </a:lnTo>
                <a:lnTo>
                  <a:pt x="787097" y="427074"/>
                </a:lnTo>
                <a:lnTo>
                  <a:pt x="718689" y="430787"/>
                </a:lnTo>
                <a:lnTo>
                  <a:pt x="648080" y="432053"/>
                </a:lnTo>
                <a:lnTo>
                  <a:pt x="577450" y="430787"/>
                </a:lnTo>
                <a:lnTo>
                  <a:pt x="509026" y="427074"/>
                </a:lnTo>
                <a:lnTo>
                  <a:pt x="443203" y="421047"/>
                </a:lnTo>
                <a:lnTo>
                  <a:pt x="380377" y="412837"/>
                </a:lnTo>
                <a:lnTo>
                  <a:pt x="320943" y="402575"/>
                </a:lnTo>
                <a:lnTo>
                  <a:pt x="265294" y="390393"/>
                </a:lnTo>
                <a:lnTo>
                  <a:pt x="213827" y="376423"/>
                </a:lnTo>
                <a:lnTo>
                  <a:pt x="166936" y="360794"/>
                </a:lnTo>
                <a:lnTo>
                  <a:pt x="125016" y="343640"/>
                </a:lnTo>
                <a:lnTo>
                  <a:pt x="88462" y="325091"/>
                </a:lnTo>
                <a:lnTo>
                  <a:pt x="33031" y="284335"/>
                </a:lnTo>
                <a:lnTo>
                  <a:pt x="3801" y="239577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112254" y="1494535"/>
            <a:ext cx="68326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Address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308342" y="2039366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53"/>
                </a:lnTo>
                <a:lnTo>
                  <a:pt x="59059" y="114496"/>
                </a:lnTo>
                <a:lnTo>
                  <a:pt x="90311" y="92630"/>
                </a:lnTo>
                <a:lnTo>
                  <a:pt x="127214" y="72577"/>
                </a:lnTo>
                <a:lnTo>
                  <a:pt x="169295" y="54539"/>
                </a:lnTo>
                <a:lnTo>
                  <a:pt x="216081" y="38719"/>
                </a:lnTo>
                <a:lnTo>
                  <a:pt x="267101" y="25321"/>
                </a:lnTo>
                <a:lnTo>
                  <a:pt x="321881" y="14547"/>
                </a:lnTo>
                <a:lnTo>
                  <a:pt x="379950" y="6600"/>
                </a:lnTo>
                <a:lnTo>
                  <a:pt x="440834" y="1684"/>
                </a:lnTo>
                <a:lnTo>
                  <a:pt x="504062" y="0"/>
                </a:lnTo>
                <a:lnTo>
                  <a:pt x="567291" y="1684"/>
                </a:lnTo>
                <a:lnTo>
                  <a:pt x="628175" y="6600"/>
                </a:lnTo>
                <a:lnTo>
                  <a:pt x="686244" y="14547"/>
                </a:lnTo>
                <a:lnTo>
                  <a:pt x="741024" y="25321"/>
                </a:lnTo>
                <a:lnTo>
                  <a:pt x="792044" y="38719"/>
                </a:lnTo>
                <a:lnTo>
                  <a:pt x="838830" y="54539"/>
                </a:lnTo>
                <a:lnTo>
                  <a:pt x="880911" y="72577"/>
                </a:lnTo>
                <a:lnTo>
                  <a:pt x="917814" y="92630"/>
                </a:lnTo>
                <a:lnTo>
                  <a:pt x="949066" y="114496"/>
                </a:lnTo>
                <a:lnTo>
                  <a:pt x="992731" y="162853"/>
                </a:lnTo>
                <a:lnTo>
                  <a:pt x="1008126" y="216026"/>
                </a:lnTo>
                <a:lnTo>
                  <a:pt x="1004198" y="243139"/>
                </a:lnTo>
                <a:lnTo>
                  <a:pt x="974196" y="294134"/>
                </a:lnTo>
                <a:lnTo>
                  <a:pt x="917814" y="339479"/>
                </a:lnTo>
                <a:lnTo>
                  <a:pt x="880911" y="359527"/>
                </a:lnTo>
                <a:lnTo>
                  <a:pt x="838830" y="377558"/>
                </a:lnTo>
                <a:lnTo>
                  <a:pt x="792044" y="393368"/>
                </a:lnTo>
                <a:lnTo>
                  <a:pt x="741024" y="406757"/>
                </a:lnTo>
                <a:lnTo>
                  <a:pt x="686244" y="417521"/>
                </a:lnTo>
                <a:lnTo>
                  <a:pt x="628175" y="425460"/>
                </a:lnTo>
                <a:lnTo>
                  <a:pt x="567291" y="430372"/>
                </a:lnTo>
                <a:lnTo>
                  <a:pt x="504062" y="432054"/>
                </a:lnTo>
                <a:lnTo>
                  <a:pt x="440834" y="430372"/>
                </a:lnTo>
                <a:lnTo>
                  <a:pt x="379950" y="425460"/>
                </a:lnTo>
                <a:lnTo>
                  <a:pt x="321881" y="417521"/>
                </a:lnTo>
                <a:lnTo>
                  <a:pt x="267101" y="406757"/>
                </a:lnTo>
                <a:lnTo>
                  <a:pt x="216081" y="393368"/>
                </a:lnTo>
                <a:lnTo>
                  <a:pt x="169295" y="377558"/>
                </a:lnTo>
                <a:lnTo>
                  <a:pt x="127214" y="359527"/>
                </a:lnTo>
                <a:lnTo>
                  <a:pt x="90311" y="339479"/>
                </a:lnTo>
                <a:lnTo>
                  <a:pt x="59059" y="317614"/>
                </a:lnTo>
                <a:lnTo>
                  <a:pt x="15394" y="269242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624698" y="2121153"/>
            <a:ext cx="37846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25" dirty="0">
                <a:latin typeface="Calibri"/>
                <a:cs typeface="Calibri"/>
              </a:rPr>
              <a:t>Y</a:t>
            </a:r>
            <a:r>
              <a:rPr sz="1600" spc="-5" dirty="0">
                <a:latin typeface="Calibri"/>
                <a:cs typeface="Calibri"/>
              </a:rPr>
              <a:t>ear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572000" y="5392292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5988"/>
                </a:moveTo>
                <a:lnTo>
                  <a:pt x="15394" y="162788"/>
                </a:lnTo>
                <a:lnTo>
                  <a:pt x="59059" y="114427"/>
                </a:lnTo>
                <a:lnTo>
                  <a:pt x="90311" y="92565"/>
                </a:lnTo>
                <a:lnTo>
                  <a:pt x="127214" y="72520"/>
                </a:lnTo>
                <a:lnTo>
                  <a:pt x="169295" y="54491"/>
                </a:lnTo>
                <a:lnTo>
                  <a:pt x="216081" y="38683"/>
                </a:lnTo>
                <a:lnTo>
                  <a:pt x="267101" y="25295"/>
                </a:lnTo>
                <a:lnTo>
                  <a:pt x="321881" y="14531"/>
                </a:lnTo>
                <a:lnTo>
                  <a:pt x="379950" y="6593"/>
                </a:lnTo>
                <a:lnTo>
                  <a:pt x="440834" y="1681"/>
                </a:lnTo>
                <a:lnTo>
                  <a:pt x="504063" y="0"/>
                </a:lnTo>
                <a:lnTo>
                  <a:pt x="567291" y="1681"/>
                </a:lnTo>
                <a:lnTo>
                  <a:pt x="628175" y="6593"/>
                </a:lnTo>
                <a:lnTo>
                  <a:pt x="686244" y="14531"/>
                </a:lnTo>
                <a:lnTo>
                  <a:pt x="741024" y="25295"/>
                </a:lnTo>
                <a:lnTo>
                  <a:pt x="792044" y="38683"/>
                </a:lnTo>
                <a:lnTo>
                  <a:pt x="838830" y="54491"/>
                </a:lnTo>
                <a:lnTo>
                  <a:pt x="880911" y="72520"/>
                </a:lnTo>
                <a:lnTo>
                  <a:pt x="917814" y="92565"/>
                </a:lnTo>
                <a:lnTo>
                  <a:pt x="949066" y="114427"/>
                </a:lnTo>
                <a:lnTo>
                  <a:pt x="992731" y="162788"/>
                </a:lnTo>
                <a:lnTo>
                  <a:pt x="1008126" y="215988"/>
                </a:lnTo>
                <a:lnTo>
                  <a:pt x="1004198" y="243088"/>
                </a:lnTo>
                <a:lnTo>
                  <a:pt x="974196" y="294070"/>
                </a:lnTo>
                <a:lnTo>
                  <a:pt x="917814" y="339413"/>
                </a:lnTo>
                <a:lnTo>
                  <a:pt x="880911" y="359464"/>
                </a:lnTo>
                <a:lnTo>
                  <a:pt x="838830" y="377498"/>
                </a:lnTo>
                <a:lnTo>
                  <a:pt x="792044" y="393313"/>
                </a:lnTo>
                <a:lnTo>
                  <a:pt x="741024" y="406706"/>
                </a:lnTo>
                <a:lnTo>
                  <a:pt x="686244" y="417475"/>
                </a:lnTo>
                <a:lnTo>
                  <a:pt x="628175" y="425418"/>
                </a:lnTo>
                <a:lnTo>
                  <a:pt x="567291" y="430332"/>
                </a:lnTo>
                <a:lnTo>
                  <a:pt x="504063" y="432015"/>
                </a:lnTo>
                <a:lnTo>
                  <a:pt x="440834" y="430332"/>
                </a:lnTo>
                <a:lnTo>
                  <a:pt x="379950" y="425418"/>
                </a:lnTo>
                <a:lnTo>
                  <a:pt x="321881" y="417475"/>
                </a:lnTo>
                <a:lnTo>
                  <a:pt x="267101" y="406706"/>
                </a:lnTo>
                <a:lnTo>
                  <a:pt x="216081" y="393313"/>
                </a:lnTo>
                <a:lnTo>
                  <a:pt x="169295" y="377498"/>
                </a:lnTo>
                <a:lnTo>
                  <a:pt x="127214" y="359464"/>
                </a:lnTo>
                <a:lnTo>
                  <a:pt x="90311" y="339413"/>
                </a:lnTo>
                <a:lnTo>
                  <a:pt x="59059" y="317547"/>
                </a:lnTo>
                <a:lnTo>
                  <a:pt x="15394" y="269183"/>
                </a:lnTo>
                <a:lnTo>
                  <a:pt x="0" y="215988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853178" y="5474919"/>
            <a:ext cx="448309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0" dirty="0">
                <a:latin typeface="Calibri"/>
                <a:cs typeface="Calibri"/>
              </a:rPr>
              <a:t>Code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940171" y="6165303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4">
                <a:moveTo>
                  <a:pt x="0" y="216027"/>
                </a:moveTo>
                <a:lnTo>
                  <a:pt x="15394" y="162837"/>
                </a:lnTo>
                <a:lnTo>
                  <a:pt x="59059" y="114473"/>
                </a:lnTo>
                <a:lnTo>
                  <a:pt x="90311" y="92608"/>
                </a:lnTo>
                <a:lnTo>
                  <a:pt x="127214" y="72556"/>
                </a:lnTo>
                <a:lnTo>
                  <a:pt x="169295" y="54521"/>
                </a:lnTo>
                <a:lnTo>
                  <a:pt x="216081" y="38706"/>
                </a:lnTo>
                <a:lnTo>
                  <a:pt x="267101" y="25311"/>
                </a:lnTo>
                <a:lnTo>
                  <a:pt x="321881" y="14541"/>
                </a:lnTo>
                <a:lnTo>
                  <a:pt x="379950" y="6597"/>
                </a:lnTo>
                <a:lnTo>
                  <a:pt x="440834" y="1683"/>
                </a:lnTo>
                <a:lnTo>
                  <a:pt x="504063" y="0"/>
                </a:lnTo>
                <a:lnTo>
                  <a:pt x="567291" y="1683"/>
                </a:lnTo>
                <a:lnTo>
                  <a:pt x="628175" y="6597"/>
                </a:lnTo>
                <a:lnTo>
                  <a:pt x="686244" y="14541"/>
                </a:lnTo>
                <a:lnTo>
                  <a:pt x="741024" y="25311"/>
                </a:lnTo>
                <a:lnTo>
                  <a:pt x="792044" y="38706"/>
                </a:lnTo>
                <a:lnTo>
                  <a:pt x="838830" y="54521"/>
                </a:lnTo>
                <a:lnTo>
                  <a:pt x="880911" y="72556"/>
                </a:lnTo>
                <a:lnTo>
                  <a:pt x="917814" y="92608"/>
                </a:lnTo>
                <a:lnTo>
                  <a:pt x="949066" y="114473"/>
                </a:lnTo>
                <a:lnTo>
                  <a:pt x="992731" y="162837"/>
                </a:lnTo>
                <a:lnTo>
                  <a:pt x="1008126" y="216027"/>
                </a:lnTo>
                <a:lnTo>
                  <a:pt x="1004198" y="243124"/>
                </a:lnTo>
                <a:lnTo>
                  <a:pt x="974196" y="294103"/>
                </a:lnTo>
                <a:lnTo>
                  <a:pt x="917814" y="339445"/>
                </a:lnTo>
                <a:lnTo>
                  <a:pt x="880911" y="359497"/>
                </a:lnTo>
                <a:lnTo>
                  <a:pt x="838830" y="377532"/>
                </a:lnTo>
                <a:lnTo>
                  <a:pt x="792044" y="393347"/>
                </a:lnTo>
                <a:lnTo>
                  <a:pt x="741024" y="406742"/>
                </a:lnTo>
                <a:lnTo>
                  <a:pt x="686244" y="417512"/>
                </a:lnTo>
                <a:lnTo>
                  <a:pt x="628175" y="425456"/>
                </a:lnTo>
                <a:lnTo>
                  <a:pt x="567291" y="430370"/>
                </a:lnTo>
                <a:lnTo>
                  <a:pt x="504063" y="432054"/>
                </a:lnTo>
                <a:lnTo>
                  <a:pt x="440834" y="430370"/>
                </a:lnTo>
                <a:lnTo>
                  <a:pt x="379950" y="425456"/>
                </a:lnTo>
                <a:lnTo>
                  <a:pt x="321881" y="417512"/>
                </a:lnTo>
                <a:lnTo>
                  <a:pt x="267101" y="406742"/>
                </a:lnTo>
                <a:lnTo>
                  <a:pt x="216081" y="393347"/>
                </a:lnTo>
                <a:lnTo>
                  <a:pt x="169295" y="377532"/>
                </a:lnTo>
                <a:lnTo>
                  <a:pt x="127214" y="359497"/>
                </a:lnTo>
                <a:lnTo>
                  <a:pt x="90311" y="339445"/>
                </a:lnTo>
                <a:lnTo>
                  <a:pt x="59059" y="317580"/>
                </a:lnTo>
                <a:lnTo>
                  <a:pt x="15394" y="269216"/>
                </a:lnTo>
                <a:lnTo>
                  <a:pt x="0" y="21602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250304" y="6247891"/>
            <a:ext cx="38798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tle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308342" y="5392292"/>
            <a:ext cx="1080135" cy="432434"/>
          </a:xfrm>
          <a:custGeom>
            <a:avLst/>
            <a:gdLst/>
            <a:ahLst/>
            <a:cxnLst/>
            <a:rect l="l" t="t" r="r" b="b"/>
            <a:pathLst>
              <a:path w="1080134" h="432435">
                <a:moveTo>
                  <a:pt x="0" y="215988"/>
                </a:moveTo>
                <a:lnTo>
                  <a:pt x="16494" y="162788"/>
                </a:lnTo>
                <a:lnTo>
                  <a:pt x="63277" y="114427"/>
                </a:lnTo>
                <a:lnTo>
                  <a:pt x="96761" y="92565"/>
                </a:lnTo>
                <a:lnTo>
                  <a:pt x="136298" y="72520"/>
                </a:lnTo>
                <a:lnTo>
                  <a:pt x="181381" y="54491"/>
                </a:lnTo>
                <a:lnTo>
                  <a:pt x="231505" y="38683"/>
                </a:lnTo>
                <a:lnTo>
                  <a:pt x="286163" y="25295"/>
                </a:lnTo>
                <a:lnTo>
                  <a:pt x="344848" y="14531"/>
                </a:lnTo>
                <a:lnTo>
                  <a:pt x="407054" y="6593"/>
                </a:lnTo>
                <a:lnTo>
                  <a:pt x="472274" y="1681"/>
                </a:lnTo>
                <a:lnTo>
                  <a:pt x="540003" y="0"/>
                </a:lnTo>
                <a:lnTo>
                  <a:pt x="607760" y="1681"/>
                </a:lnTo>
                <a:lnTo>
                  <a:pt x="673003" y="6593"/>
                </a:lnTo>
                <a:lnTo>
                  <a:pt x="735229" y="14531"/>
                </a:lnTo>
                <a:lnTo>
                  <a:pt x="793929" y="25295"/>
                </a:lnTo>
                <a:lnTo>
                  <a:pt x="848599" y="38683"/>
                </a:lnTo>
                <a:lnTo>
                  <a:pt x="898733" y="54491"/>
                </a:lnTo>
                <a:lnTo>
                  <a:pt x="943824" y="72520"/>
                </a:lnTo>
                <a:lnTo>
                  <a:pt x="983366" y="92565"/>
                </a:lnTo>
                <a:lnTo>
                  <a:pt x="1016853" y="114427"/>
                </a:lnTo>
                <a:lnTo>
                  <a:pt x="1063639" y="162788"/>
                </a:lnTo>
                <a:lnTo>
                  <a:pt x="1080134" y="215988"/>
                </a:lnTo>
                <a:lnTo>
                  <a:pt x="1075926" y="243088"/>
                </a:lnTo>
                <a:lnTo>
                  <a:pt x="1043780" y="294070"/>
                </a:lnTo>
                <a:lnTo>
                  <a:pt x="983366" y="339413"/>
                </a:lnTo>
                <a:lnTo>
                  <a:pt x="943824" y="359464"/>
                </a:lnTo>
                <a:lnTo>
                  <a:pt x="898733" y="377498"/>
                </a:lnTo>
                <a:lnTo>
                  <a:pt x="848599" y="393313"/>
                </a:lnTo>
                <a:lnTo>
                  <a:pt x="793929" y="406706"/>
                </a:lnTo>
                <a:lnTo>
                  <a:pt x="735229" y="417475"/>
                </a:lnTo>
                <a:lnTo>
                  <a:pt x="673003" y="425418"/>
                </a:lnTo>
                <a:lnTo>
                  <a:pt x="607760" y="430332"/>
                </a:lnTo>
                <a:lnTo>
                  <a:pt x="540003" y="432015"/>
                </a:lnTo>
                <a:lnTo>
                  <a:pt x="472274" y="430332"/>
                </a:lnTo>
                <a:lnTo>
                  <a:pt x="407054" y="425418"/>
                </a:lnTo>
                <a:lnTo>
                  <a:pt x="344848" y="417475"/>
                </a:lnTo>
                <a:lnTo>
                  <a:pt x="286163" y="406706"/>
                </a:lnTo>
                <a:lnTo>
                  <a:pt x="231505" y="393313"/>
                </a:lnTo>
                <a:lnTo>
                  <a:pt x="181381" y="377498"/>
                </a:lnTo>
                <a:lnTo>
                  <a:pt x="136298" y="359464"/>
                </a:lnTo>
                <a:lnTo>
                  <a:pt x="96761" y="339413"/>
                </a:lnTo>
                <a:lnTo>
                  <a:pt x="63277" y="317547"/>
                </a:lnTo>
                <a:lnTo>
                  <a:pt x="16494" y="269183"/>
                </a:lnTo>
                <a:lnTo>
                  <a:pt x="0" y="215988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546975" y="5474919"/>
            <a:ext cx="60325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Credits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499990" y="3714622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53"/>
                </a:lnTo>
                <a:lnTo>
                  <a:pt x="59059" y="114496"/>
                </a:lnTo>
                <a:lnTo>
                  <a:pt x="90311" y="92630"/>
                </a:lnTo>
                <a:lnTo>
                  <a:pt x="127214" y="72577"/>
                </a:lnTo>
                <a:lnTo>
                  <a:pt x="169295" y="54539"/>
                </a:lnTo>
                <a:lnTo>
                  <a:pt x="216081" y="38719"/>
                </a:lnTo>
                <a:lnTo>
                  <a:pt x="267101" y="25321"/>
                </a:lnTo>
                <a:lnTo>
                  <a:pt x="321881" y="14547"/>
                </a:lnTo>
                <a:lnTo>
                  <a:pt x="379950" y="6600"/>
                </a:lnTo>
                <a:lnTo>
                  <a:pt x="440834" y="1684"/>
                </a:lnTo>
                <a:lnTo>
                  <a:pt x="504063" y="0"/>
                </a:lnTo>
                <a:lnTo>
                  <a:pt x="567291" y="1684"/>
                </a:lnTo>
                <a:lnTo>
                  <a:pt x="628175" y="6600"/>
                </a:lnTo>
                <a:lnTo>
                  <a:pt x="686244" y="14547"/>
                </a:lnTo>
                <a:lnTo>
                  <a:pt x="741024" y="25321"/>
                </a:lnTo>
                <a:lnTo>
                  <a:pt x="792044" y="38719"/>
                </a:lnTo>
                <a:lnTo>
                  <a:pt x="838830" y="54539"/>
                </a:lnTo>
                <a:lnTo>
                  <a:pt x="880911" y="72577"/>
                </a:lnTo>
                <a:lnTo>
                  <a:pt x="917814" y="92630"/>
                </a:lnTo>
                <a:lnTo>
                  <a:pt x="949066" y="114496"/>
                </a:lnTo>
                <a:lnTo>
                  <a:pt x="992731" y="162853"/>
                </a:lnTo>
                <a:lnTo>
                  <a:pt x="1008126" y="216026"/>
                </a:lnTo>
                <a:lnTo>
                  <a:pt x="1004198" y="243139"/>
                </a:lnTo>
                <a:lnTo>
                  <a:pt x="974196" y="294134"/>
                </a:lnTo>
                <a:lnTo>
                  <a:pt x="917814" y="339479"/>
                </a:lnTo>
                <a:lnTo>
                  <a:pt x="880911" y="359527"/>
                </a:lnTo>
                <a:lnTo>
                  <a:pt x="838830" y="377558"/>
                </a:lnTo>
                <a:lnTo>
                  <a:pt x="792044" y="393368"/>
                </a:lnTo>
                <a:lnTo>
                  <a:pt x="741024" y="406757"/>
                </a:lnTo>
                <a:lnTo>
                  <a:pt x="686244" y="417521"/>
                </a:lnTo>
                <a:lnTo>
                  <a:pt x="628175" y="425460"/>
                </a:lnTo>
                <a:lnTo>
                  <a:pt x="567291" y="430372"/>
                </a:lnTo>
                <a:lnTo>
                  <a:pt x="504063" y="432053"/>
                </a:lnTo>
                <a:lnTo>
                  <a:pt x="440834" y="430372"/>
                </a:lnTo>
                <a:lnTo>
                  <a:pt x="379950" y="425460"/>
                </a:lnTo>
                <a:lnTo>
                  <a:pt x="321881" y="417521"/>
                </a:lnTo>
                <a:lnTo>
                  <a:pt x="267101" y="406757"/>
                </a:lnTo>
                <a:lnTo>
                  <a:pt x="216081" y="393368"/>
                </a:lnTo>
                <a:lnTo>
                  <a:pt x="169295" y="377558"/>
                </a:lnTo>
                <a:lnTo>
                  <a:pt x="127214" y="359527"/>
                </a:lnTo>
                <a:lnTo>
                  <a:pt x="90311" y="339479"/>
                </a:lnTo>
                <a:lnTo>
                  <a:pt x="59059" y="317614"/>
                </a:lnTo>
                <a:lnTo>
                  <a:pt x="15394" y="269242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902834" y="3796665"/>
            <a:ext cx="20320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dirty="0"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380351" y="3714622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53"/>
                </a:lnTo>
                <a:lnTo>
                  <a:pt x="59059" y="114496"/>
                </a:lnTo>
                <a:lnTo>
                  <a:pt x="90311" y="92630"/>
                </a:lnTo>
                <a:lnTo>
                  <a:pt x="127214" y="72577"/>
                </a:lnTo>
                <a:lnTo>
                  <a:pt x="169295" y="54539"/>
                </a:lnTo>
                <a:lnTo>
                  <a:pt x="216081" y="38719"/>
                </a:lnTo>
                <a:lnTo>
                  <a:pt x="267101" y="25321"/>
                </a:lnTo>
                <a:lnTo>
                  <a:pt x="321881" y="14547"/>
                </a:lnTo>
                <a:lnTo>
                  <a:pt x="379950" y="6600"/>
                </a:lnTo>
                <a:lnTo>
                  <a:pt x="440834" y="1684"/>
                </a:lnTo>
                <a:lnTo>
                  <a:pt x="504063" y="0"/>
                </a:lnTo>
                <a:lnTo>
                  <a:pt x="567291" y="1684"/>
                </a:lnTo>
                <a:lnTo>
                  <a:pt x="628175" y="6600"/>
                </a:lnTo>
                <a:lnTo>
                  <a:pt x="686244" y="14547"/>
                </a:lnTo>
                <a:lnTo>
                  <a:pt x="741024" y="25321"/>
                </a:lnTo>
                <a:lnTo>
                  <a:pt x="792044" y="38719"/>
                </a:lnTo>
                <a:lnTo>
                  <a:pt x="838830" y="54539"/>
                </a:lnTo>
                <a:lnTo>
                  <a:pt x="880911" y="72577"/>
                </a:lnTo>
                <a:lnTo>
                  <a:pt x="917814" y="92630"/>
                </a:lnTo>
                <a:lnTo>
                  <a:pt x="949066" y="114496"/>
                </a:lnTo>
                <a:lnTo>
                  <a:pt x="992731" y="162853"/>
                </a:lnTo>
                <a:lnTo>
                  <a:pt x="1008126" y="216026"/>
                </a:lnTo>
                <a:lnTo>
                  <a:pt x="1004198" y="243139"/>
                </a:lnTo>
                <a:lnTo>
                  <a:pt x="974196" y="294134"/>
                </a:lnTo>
                <a:lnTo>
                  <a:pt x="917814" y="339479"/>
                </a:lnTo>
                <a:lnTo>
                  <a:pt x="880911" y="359527"/>
                </a:lnTo>
                <a:lnTo>
                  <a:pt x="838830" y="377558"/>
                </a:lnTo>
                <a:lnTo>
                  <a:pt x="792044" y="393368"/>
                </a:lnTo>
                <a:lnTo>
                  <a:pt x="741024" y="406757"/>
                </a:lnTo>
                <a:lnTo>
                  <a:pt x="686244" y="417521"/>
                </a:lnTo>
                <a:lnTo>
                  <a:pt x="628175" y="425460"/>
                </a:lnTo>
                <a:lnTo>
                  <a:pt x="567291" y="430372"/>
                </a:lnTo>
                <a:lnTo>
                  <a:pt x="504063" y="432053"/>
                </a:lnTo>
                <a:lnTo>
                  <a:pt x="440834" y="430372"/>
                </a:lnTo>
                <a:lnTo>
                  <a:pt x="379950" y="425460"/>
                </a:lnTo>
                <a:lnTo>
                  <a:pt x="321881" y="417521"/>
                </a:lnTo>
                <a:lnTo>
                  <a:pt x="267101" y="406757"/>
                </a:lnTo>
                <a:lnTo>
                  <a:pt x="216081" y="393368"/>
                </a:lnTo>
                <a:lnTo>
                  <a:pt x="169295" y="377558"/>
                </a:lnTo>
                <a:lnTo>
                  <a:pt x="127214" y="359527"/>
                </a:lnTo>
                <a:lnTo>
                  <a:pt x="90311" y="339479"/>
                </a:lnTo>
                <a:lnTo>
                  <a:pt x="59059" y="317614"/>
                </a:lnTo>
                <a:lnTo>
                  <a:pt x="15394" y="269242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661909" y="3796665"/>
            <a:ext cx="448309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0" dirty="0">
                <a:latin typeface="Calibri"/>
                <a:cs typeface="Calibri"/>
              </a:rPr>
              <a:t>Code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580126" y="2254885"/>
            <a:ext cx="292735" cy="635"/>
          </a:xfrm>
          <a:custGeom>
            <a:avLst/>
            <a:gdLst/>
            <a:ahLst/>
            <a:cxnLst/>
            <a:rect l="l" t="t" r="r" b="b"/>
            <a:pathLst>
              <a:path w="292735" h="635">
                <a:moveTo>
                  <a:pt x="292226" y="635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080505" y="1781555"/>
            <a:ext cx="147955" cy="207645"/>
          </a:xfrm>
          <a:custGeom>
            <a:avLst/>
            <a:gdLst/>
            <a:ahLst/>
            <a:cxnLst/>
            <a:rect l="l" t="t" r="r" b="b"/>
            <a:pathLst>
              <a:path w="147954" h="207644">
                <a:moveTo>
                  <a:pt x="0" y="0"/>
                </a:moveTo>
                <a:lnTo>
                  <a:pt x="147701" y="20726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732269" y="1781555"/>
            <a:ext cx="262255" cy="207645"/>
          </a:xfrm>
          <a:custGeom>
            <a:avLst/>
            <a:gdLst/>
            <a:ahLst/>
            <a:cxnLst/>
            <a:rect l="l" t="t" r="r" b="b"/>
            <a:pathLst>
              <a:path w="262254" h="207644">
                <a:moveTo>
                  <a:pt x="261747" y="0"/>
                </a:moveTo>
                <a:lnTo>
                  <a:pt x="0" y="20726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015353" y="2255392"/>
            <a:ext cx="293370" cy="635"/>
          </a:xfrm>
          <a:custGeom>
            <a:avLst/>
            <a:gdLst/>
            <a:ahLst/>
            <a:cxnLst/>
            <a:rect l="l" t="t" r="r" b="b"/>
            <a:pathLst>
              <a:path w="293370" h="635">
                <a:moveTo>
                  <a:pt x="0" y="127"/>
                </a:moveTo>
                <a:lnTo>
                  <a:pt x="29298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508116" y="3930650"/>
            <a:ext cx="288290" cy="1270"/>
          </a:xfrm>
          <a:custGeom>
            <a:avLst/>
            <a:gdLst/>
            <a:ahLst/>
            <a:cxnLst/>
            <a:rect l="l" t="t" r="r" b="b"/>
            <a:pathLst>
              <a:path w="288289" h="1270">
                <a:moveTo>
                  <a:pt x="0" y="0"/>
                </a:moveTo>
                <a:lnTo>
                  <a:pt x="288036" y="126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091553" y="3930650"/>
            <a:ext cx="288925" cy="1270"/>
          </a:xfrm>
          <a:custGeom>
            <a:avLst/>
            <a:gdLst/>
            <a:ahLst/>
            <a:cxnLst/>
            <a:rect l="l" t="t" r="r" b="b"/>
            <a:pathLst>
              <a:path w="288925" h="1270">
                <a:moveTo>
                  <a:pt x="0" y="1269"/>
                </a:moveTo>
                <a:lnTo>
                  <a:pt x="288798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443853" y="5875045"/>
            <a:ext cx="635" cy="290830"/>
          </a:xfrm>
          <a:custGeom>
            <a:avLst/>
            <a:gdLst/>
            <a:ahLst/>
            <a:cxnLst/>
            <a:rect l="l" t="t" r="r" b="b"/>
            <a:pathLst>
              <a:path w="635" h="290829">
                <a:moveTo>
                  <a:pt x="0" y="0"/>
                </a:moveTo>
                <a:lnTo>
                  <a:pt x="381" y="290258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914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0436"/>
            <a:ext cx="8042276" cy="13369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72260">
              <a:lnSpc>
                <a:spcPct val="100000"/>
              </a:lnSpc>
            </a:pPr>
            <a:r>
              <a:rPr spc="-70" dirty="0"/>
              <a:t>CREATE</a:t>
            </a:r>
            <a:r>
              <a:rPr spc="-75" dirty="0"/>
              <a:t> </a:t>
            </a:r>
            <a:r>
              <a:rPr spc="-100" dirty="0"/>
              <a:t>DATABASE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2005"/>
            <a:ext cx="7870190" cy="1718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libri"/>
                <a:cs typeface="Calibri"/>
              </a:rPr>
              <a:t>First, </a:t>
            </a:r>
            <a:r>
              <a:rPr sz="3200" spc="-10" dirty="0">
                <a:latin typeface="Calibri"/>
                <a:cs typeface="Calibri"/>
              </a:rPr>
              <a:t>we </a:t>
            </a:r>
            <a:r>
              <a:rPr sz="3200" spc="-5" dirty="0">
                <a:latin typeface="Calibri"/>
                <a:cs typeface="Calibri"/>
              </a:rPr>
              <a:t>need </a:t>
            </a:r>
            <a:r>
              <a:rPr sz="3200" spc="-20" dirty="0">
                <a:latin typeface="Calibri"/>
                <a:cs typeface="Calibri"/>
              </a:rPr>
              <a:t>to create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database</a:t>
            </a:r>
            <a:endParaRPr sz="32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2005"/>
              </a:spcBef>
            </a:pPr>
            <a:r>
              <a:rPr sz="2000" b="1" spc="-5" dirty="0">
                <a:latin typeface="Courier New"/>
                <a:cs typeface="Courier New"/>
              </a:rPr>
              <a:t>CREATE DATABASE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database-name;</a:t>
            </a:r>
            <a:endParaRPr sz="2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68957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679847"/>
            <a:ext cx="8042276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6270">
              <a:lnSpc>
                <a:spcPct val="100000"/>
              </a:lnSpc>
            </a:pPr>
            <a:r>
              <a:rPr spc="-70" dirty="0"/>
              <a:t>CREATE </a:t>
            </a:r>
            <a:r>
              <a:rPr spc="-70" dirty="0" smtClean="0"/>
              <a:t>TABLE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93341"/>
            <a:ext cx="1854835" cy="1310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CREATE</a:t>
            </a:r>
            <a:r>
              <a:rPr sz="2000" b="1" spc="-7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TABLE</a:t>
            </a:r>
            <a:endParaRPr sz="2000">
              <a:latin typeface="Courier New"/>
              <a:cs typeface="Courier New"/>
            </a:endParaRPr>
          </a:p>
          <a:p>
            <a:pPr marL="317500" marR="5080">
              <a:lnSpc>
                <a:spcPts val="3840"/>
              </a:lnSpc>
              <a:spcBef>
                <a:spcPts val="365"/>
              </a:spcBef>
            </a:pPr>
            <a:r>
              <a:rPr sz="2000" b="1" spc="-5" dirty="0">
                <a:latin typeface="Courier New"/>
                <a:cs typeface="Courier New"/>
              </a:rPr>
              <a:t>col-name-</a:t>
            </a:r>
            <a:r>
              <a:rPr sz="2000" b="1" dirty="0">
                <a:latin typeface="Courier New"/>
                <a:cs typeface="Courier New"/>
              </a:rPr>
              <a:t>1  </a:t>
            </a:r>
            <a:r>
              <a:rPr sz="2000" b="1" spc="-5" dirty="0">
                <a:latin typeface="Courier New"/>
                <a:cs typeface="Courier New"/>
              </a:rPr>
              <a:t>col-name-</a:t>
            </a:r>
            <a:r>
              <a:rPr sz="2000" b="1" dirty="0"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7132" y="1410157"/>
            <a:ext cx="3121668" cy="1447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ct val="160100"/>
              </a:lnSpc>
            </a:pPr>
            <a:r>
              <a:rPr sz="2000" b="1" spc="-5" dirty="0">
                <a:latin typeface="Courier New"/>
                <a:cs typeface="Courier New"/>
              </a:rPr>
              <a:t>table-</a:t>
            </a:r>
            <a:r>
              <a:rPr sz="2000" b="1" spc="-5" dirty="0" smtClean="0">
                <a:latin typeface="Courier New"/>
                <a:cs typeface="Courier New"/>
              </a:rPr>
              <a:t>name</a:t>
            </a:r>
            <a:r>
              <a:rPr lang="en-US" sz="2000" b="1" spc="-5" dirty="0" smtClean="0">
                <a:latin typeface="Courier New"/>
                <a:cs typeface="Courier New"/>
              </a:rPr>
              <a:t> (</a:t>
            </a:r>
            <a:r>
              <a:rPr sz="2000" b="1" spc="-70" dirty="0" smtClean="0">
                <a:latin typeface="Courier New"/>
                <a:cs typeface="Courier New"/>
              </a:rPr>
              <a:t> </a:t>
            </a:r>
            <a:r>
              <a:rPr lang="en-US" sz="2000" b="1" dirty="0" smtClean="0">
                <a:latin typeface="Courier New"/>
                <a:cs typeface="Courier New"/>
              </a:rPr>
              <a:t>     </a:t>
            </a:r>
          </a:p>
          <a:p>
            <a:pPr marL="12700" marR="5080" indent="-635">
              <a:lnSpc>
                <a:spcPct val="160100"/>
              </a:lnSpc>
            </a:pPr>
            <a:r>
              <a:rPr sz="2000" b="1" spc="-5" dirty="0" smtClean="0">
                <a:latin typeface="Courier New"/>
                <a:cs typeface="Courier New"/>
              </a:rPr>
              <a:t>col</a:t>
            </a:r>
            <a:r>
              <a:rPr sz="2000" b="1" spc="-5" dirty="0">
                <a:latin typeface="Courier New"/>
                <a:cs typeface="Courier New"/>
              </a:rPr>
              <a:t>-def-1,  </a:t>
            </a:r>
            <a:endParaRPr lang="en-US" sz="2000" b="1" spc="-5" dirty="0" smtClean="0">
              <a:latin typeface="Courier New"/>
              <a:cs typeface="Courier New"/>
            </a:endParaRPr>
          </a:p>
          <a:p>
            <a:pPr marL="12700" marR="5080" indent="-635">
              <a:lnSpc>
                <a:spcPct val="160100"/>
              </a:lnSpc>
            </a:pPr>
            <a:r>
              <a:rPr sz="2000" b="1" spc="-5" dirty="0" smtClean="0">
                <a:latin typeface="Courier New"/>
                <a:cs typeface="Courier New"/>
              </a:rPr>
              <a:t>col</a:t>
            </a:r>
            <a:r>
              <a:rPr sz="2000" b="1" spc="-5" dirty="0">
                <a:latin typeface="Courier New"/>
                <a:cs typeface="Courier New"/>
              </a:rPr>
              <a:t>-def-2,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980563"/>
            <a:ext cx="3531235" cy="2773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algn="ctr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317500" marR="5080">
              <a:lnSpc>
                <a:spcPts val="3840"/>
              </a:lnSpc>
              <a:spcBef>
                <a:spcPts val="365"/>
              </a:spcBef>
            </a:pPr>
            <a:r>
              <a:rPr sz="2000" b="1" spc="-5" dirty="0">
                <a:latin typeface="Courier New"/>
                <a:cs typeface="Courier New"/>
              </a:rPr>
              <a:t>col-name-n col-def-n,  constraint-1,</a:t>
            </a:r>
            <a:endParaRPr sz="2000">
              <a:latin typeface="Courier New"/>
              <a:cs typeface="Courier New"/>
            </a:endParaRPr>
          </a:p>
          <a:p>
            <a:pPr marL="304800" algn="ctr">
              <a:lnSpc>
                <a:spcPct val="100000"/>
              </a:lnSpc>
              <a:spcBef>
                <a:spcPts val="1070"/>
              </a:spcBef>
            </a:pPr>
            <a:r>
              <a:rPr sz="2000" dirty="0"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1440"/>
              </a:spcBef>
            </a:pPr>
            <a:r>
              <a:rPr sz="2000" b="1" spc="-5" dirty="0">
                <a:latin typeface="Courier New"/>
                <a:cs typeface="Courier New"/>
              </a:rPr>
              <a:t>constraint-k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000" b="1" spc="-5" dirty="0">
                <a:latin typeface="Courier New"/>
                <a:cs typeface="Courier New"/>
              </a:rPr>
              <a:t>);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27701" y="1622805"/>
            <a:ext cx="3315335" cy="287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75" dirty="0">
                <a:latin typeface="Calibri"/>
                <a:cs typeface="Calibri"/>
              </a:rPr>
              <a:t>You </a:t>
            </a:r>
            <a:r>
              <a:rPr sz="2800" spc="-10" dirty="0">
                <a:latin typeface="Calibri"/>
                <a:cs typeface="Calibri"/>
              </a:rPr>
              <a:t>supply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name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table</a:t>
            </a:r>
            <a:endParaRPr sz="2400" dirty="0">
              <a:latin typeface="Calibri"/>
              <a:cs typeface="Calibri"/>
            </a:endParaRPr>
          </a:p>
          <a:p>
            <a:pPr marL="756285" marR="125730" lvl="1" indent="-28638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name </a:t>
            </a:r>
            <a:r>
              <a:rPr sz="2400" dirty="0">
                <a:latin typeface="Calibri"/>
                <a:cs typeface="Calibri"/>
              </a:rPr>
              <a:t>and  </a:t>
            </a:r>
            <a:r>
              <a:rPr sz="2400" spc="-5" dirty="0">
                <a:latin typeface="Calibri"/>
                <a:cs typeface="Calibri"/>
              </a:rPr>
              <a:t>definition </a:t>
            </a:r>
            <a:r>
              <a:rPr sz="2400" dirty="0">
                <a:latin typeface="Calibri"/>
                <a:cs typeface="Calibri"/>
              </a:rPr>
              <a:t>/ type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 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column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list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constraints</a:t>
            </a:r>
            <a:endParaRPr sz="2400" dirty="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(e.g.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Keys)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1335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70025">
              <a:lnSpc>
                <a:spcPct val="100000"/>
              </a:lnSpc>
            </a:pPr>
            <a:r>
              <a:rPr dirty="0"/>
              <a:t>Column</a:t>
            </a:r>
            <a:r>
              <a:rPr spc="-45" dirty="0"/>
              <a:t> </a:t>
            </a:r>
            <a:r>
              <a:rPr spc="-10" dirty="0"/>
              <a:t>Definitions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9597"/>
            <a:ext cx="1487805" cy="914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4945" indent="-18288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co</a:t>
            </a:r>
            <a:r>
              <a:rPr sz="2400" b="1" dirty="0">
                <a:latin typeface="Courier New"/>
                <a:cs typeface="Courier New"/>
              </a:rPr>
              <a:t>l</a:t>
            </a:r>
            <a:r>
              <a:rPr sz="2400" b="1" spc="-5" dirty="0">
                <a:latin typeface="Courier New"/>
                <a:cs typeface="Courier New"/>
              </a:rPr>
              <a:t>-na</a:t>
            </a:r>
            <a:r>
              <a:rPr sz="2400" b="1" spc="-15" dirty="0">
                <a:latin typeface="Courier New"/>
                <a:cs typeface="Courier New"/>
              </a:rPr>
              <a:t>m</a:t>
            </a:r>
            <a:r>
              <a:rPr sz="2400" b="1" dirty="0">
                <a:latin typeface="Courier New"/>
                <a:cs typeface="Courier New"/>
              </a:rPr>
              <a:t>e</a:t>
            </a:r>
            <a:endParaRPr sz="2400">
              <a:latin typeface="Courier New"/>
              <a:cs typeface="Courier New"/>
            </a:endParaRPr>
          </a:p>
          <a:p>
            <a:pPr marL="194945">
              <a:lnSpc>
                <a:spcPct val="100000"/>
              </a:lnSpc>
              <a:spcBef>
                <a:spcPts val="1175"/>
              </a:spcBef>
            </a:pPr>
            <a:r>
              <a:rPr sz="2400" b="1" spc="-5" dirty="0">
                <a:latin typeface="Courier New"/>
                <a:cs typeface="Courier New"/>
              </a:rPr>
              <a:t>[NULL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|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9066" y="1609597"/>
            <a:ext cx="1669414" cy="914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col-def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b="1" spc="-5" dirty="0">
                <a:latin typeface="Courier New"/>
                <a:cs typeface="Courier New"/>
              </a:rPr>
              <a:t>NOT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NULL]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8819" y="2640203"/>
            <a:ext cx="14859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[DEFAULT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61945" y="2640203"/>
            <a:ext cx="258191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spc="-10" dirty="0">
                <a:latin typeface="Courier New"/>
                <a:cs typeface="Courier New"/>
              </a:rPr>
              <a:t>default_value</a:t>
            </a:r>
            <a:r>
              <a:rPr sz="2400" b="1" spc="-10" dirty="0">
                <a:latin typeface="Courier New"/>
                <a:cs typeface="Courier New"/>
              </a:rPr>
              <a:t>]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8819" y="3005719"/>
            <a:ext cx="4422775" cy="31690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299210">
              <a:lnSpc>
                <a:spcPct val="140900"/>
              </a:lnSpc>
            </a:pPr>
            <a:r>
              <a:rPr sz="2400" b="1" spc="-5" dirty="0">
                <a:latin typeface="Courier New"/>
                <a:cs typeface="Courier New"/>
              </a:rPr>
              <a:t>[NOT </a:t>
            </a:r>
            <a:r>
              <a:rPr sz="2400" b="1" spc="-10" dirty="0">
                <a:latin typeface="Courier New"/>
                <a:cs typeface="Courier New"/>
              </a:rPr>
              <a:t>NULL </a:t>
            </a:r>
            <a:r>
              <a:rPr sz="2400" b="1" dirty="0">
                <a:latin typeface="Courier New"/>
                <a:cs typeface="Courier New"/>
              </a:rPr>
              <a:t>|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NULL]  [AUTO_INCREMENT]  [UNIQUE </a:t>
            </a:r>
            <a:r>
              <a:rPr sz="2400" b="1" spc="-5" dirty="0">
                <a:latin typeface="Courier New"/>
                <a:cs typeface="Courier New"/>
              </a:rPr>
              <a:t>[KEY] </a:t>
            </a:r>
            <a:r>
              <a:rPr sz="2400" b="1" dirty="0">
                <a:latin typeface="Courier New"/>
                <a:cs typeface="Courier New"/>
              </a:rPr>
              <a:t>|  </a:t>
            </a:r>
            <a:r>
              <a:rPr sz="2400" b="1" spc="-10" dirty="0">
                <a:latin typeface="Courier New"/>
                <a:cs typeface="Courier New"/>
              </a:rPr>
              <a:t>[</a:t>
            </a:r>
            <a:r>
              <a:rPr sz="2400" b="1" spc="-10" dirty="0" smtClean="0">
                <a:latin typeface="Courier New"/>
                <a:cs typeface="Courier New"/>
              </a:rPr>
              <a:t>PRIMARY</a:t>
            </a:r>
            <a:r>
              <a:rPr sz="2400" b="1" spc="-75" dirty="0" smtClean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KEY]</a:t>
            </a:r>
            <a:endParaRPr sz="2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50" dirty="0">
              <a:latin typeface="Times New Roman"/>
              <a:cs typeface="Times New Roman"/>
            </a:endParaRPr>
          </a:p>
          <a:p>
            <a:pPr marL="232981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Calibri"/>
                <a:cs typeface="Calibri"/>
              </a:rPr>
              <a:t>([] </a:t>
            </a:r>
            <a:r>
              <a:rPr sz="2400" i="1" spc="-5" dirty="0">
                <a:latin typeface="Calibri"/>
                <a:cs typeface="Calibri"/>
              </a:rPr>
              <a:t>optional</a:t>
            </a:r>
            <a:r>
              <a:rPr sz="2400" spc="-5" dirty="0">
                <a:latin typeface="Calibri"/>
                <a:cs typeface="Calibri"/>
              </a:rPr>
              <a:t>, </a:t>
            </a:r>
            <a:r>
              <a:rPr sz="2400" dirty="0">
                <a:latin typeface="Calibri"/>
                <a:cs typeface="Calibri"/>
              </a:rPr>
              <a:t>|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or</a:t>
            </a:r>
            <a:r>
              <a:rPr sz="2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520054" y="1622805"/>
            <a:ext cx="3061970" cy="4469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Each </a:t>
            </a:r>
            <a:r>
              <a:rPr sz="2800" spc="-10" dirty="0">
                <a:latin typeface="Calibri"/>
                <a:cs typeface="Calibri"/>
              </a:rPr>
              <a:t>column has</a:t>
            </a:r>
            <a:r>
              <a:rPr sz="2800" spc="-5" dirty="0">
                <a:latin typeface="Calibri"/>
                <a:cs typeface="Calibri"/>
              </a:rPr>
              <a:t> a</a:t>
            </a:r>
            <a:endParaRPr sz="2800">
              <a:latin typeface="Calibri"/>
              <a:cs typeface="Calibri"/>
            </a:endParaRPr>
          </a:p>
          <a:p>
            <a:pPr marL="66675" algn="ctr">
              <a:lnSpc>
                <a:spcPct val="100000"/>
              </a:lnSpc>
            </a:pPr>
            <a:r>
              <a:rPr sz="2800" spc="-5" dirty="0">
                <a:latin typeface="Calibri"/>
                <a:cs typeface="Calibri"/>
              </a:rPr>
              <a:t>name and 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type</a:t>
            </a:r>
            <a:endParaRPr sz="28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Most </a:t>
            </a:r>
            <a:r>
              <a:rPr sz="2800" spc="-5" dirty="0">
                <a:latin typeface="Calibri"/>
                <a:cs typeface="Calibri"/>
              </a:rPr>
              <a:t>of the </a:t>
            </a:r>
            <a:r>
              <a:rPr sz="2800" spc="-25" dirty="0">
                <a:latin typeface="Calibri"/>
                <a:cs typeface="Calibri"/>
              </a:rPr>
              <a:t>rest </a:t>
            </a:r>
            <a:r>
              <a:rPr sz="2800" spc="-10" dirty="0">
                <a:latin typeface="Calibri"/>
                <a:cs typeface="Calibri"/>
              </a:rPr>
              <a:t>of 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column  definition </a:t>
            </a:r>
            <a:r>
              <a:rPr sz="2800" spc="-5" dirty="0">
                <a:latin typeface="Calibri"/>
                <a:cs typeface="Calibri"/>
              </a:rPr>
              <a:t>is  </a:t>
            </a:r>
            <a:r>
              <a:rPr sz="2800" spc="-10" dirty="0">
                <a:latin typeface="Calibri"/>
                <a:cs typeface="Calibri"/>
              </a:rPr>
              <a:t>optional</a:t>
            </a:r>
            <a:endParaRPr sz="2800">
              <a:latin typeface="Calibri"/>
              <a:cs typeface="Calibri"/>
            </a:endParaRPr>
          </a:p>
          <a:p>
            <a:pPr marL="355600" marR="151130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35" dirty="0">
                <a:latin typeface="Calibri"/>
                <a:cs typeface="Calibri"/>
              </a:rPr>
              <a:t>There’s </a:t>
            </a:r>
            <a:r>
              <a:rPr sz="2800" spc="-15" dirty="0">
                <a:latin typeface="Calibri"/>
                <a:cs typeface="Calibri"/>
              </a:rPr>
              <a:t>more </a:t>
            </a:r>
            <a:r>
              <a:rPr sz="2800" spc="-20" dirty="0">
                <a:latin typeface="Calibri"/>
                <a:cs typeface="Calibri"/>
              </a:rPr>
              <a:t>you 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5" dirty="0">
                <a:latin typeface="Calibri"/>
                <a:cs typeface="Calibri"/>
              </a:rPr>
              <a:t>add, </a:t>
            </a:r>
            <a:r>
              <a:rPr sz="2800" spc="-30" dirty="0">
                <a:latin typeface="Calibri"/>
                <a:cs typeface="Calibri"/>
              </a:rPr>
              <a:t>like  </a:t>
            </a:r>
            <a:r>
              <a:rPr sz="2800" spc="-25" dirty="0">
                <a:latin typeface="Calibri"/>
                <a:cs typeface="Calibri"/>
              </a:rPr>
              <a:t>storage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20" dirty="0">
                <a:latin typeface="Calibri"/>
                <a:cs typeface="Calibri"/>
              </a:rPr>
              <a:t>index  </a:t>
            </a:r>
            <a:r>
              <a:rPr sz="2800" spc="-10" dirty="0">
                <a:latin typeface="Calibri"/>
                <a:cs typeface="Calibri"/>
              </a:rPr>
              <a:t>instructions</a:t>
            </a:r>
            <a:endParaRPr sz="2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4602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7200">
              <a:lnSpc>
                <a:spcPct val="100000"/>
              </a:lnSpc>
            </a:pPr>
            <a:r>
              <a:rPr spc="-204" dirty="0"/>
              <a:t>T</a:t>
            </a:r>
            <a:r>
              <a:rPr dirty="0"/>
              <a:t>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9494"/>
            <a:ext cx="7418705" cy="4660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324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5" dirty="0">
                <a:latin typeface="Calibri"/>
                <a:cs typeface="Calibri"/>
              </a:rPr>
              <a:t>There are many </a:t>
            </a:r>
            <a:r>
              <a:rPr sz="3000" dirty="0">
                <a:latin typeface="Calibri"/>
                <a:cs typeface="Calibri"/>
              </a:rPr>
              <a:t>types in </a:t>
            </a:r>
            <a:r>
              <a:rPr lang="en-GB" sz="3000" dirty="0" smtClean="0">
                <a:latin typeface="Calibri"/>
                <a:cs typeface="Calibri"/>
              </a:rPr>
              <a:t>PostgreSQL</a:t>
            </a:r>
            <a:r>
              <a:rPr sz="3000" dirty="0" smtClean="0">
                <a:latin typeface="Calibri"/>
                <a:cs typeface="Calibri"/>
              </a:rPr>
              <a:t>, </a:t>
            </a:r>
            <a:r>
              <a:rPr sz="3000" spc="-5" dirty="0">
                <a:latin typeface="Calibri"/>
                <a:cs typeface="Calibri"/>
              </a:rPr>
              <a:t>but </a:t>
            </a:r>
            <a:r>
              <a:rPr sz="3000" spc="-10" dirty="0">
                <a:latin typeface="Calibri"/>
                <a:cs typeface="Calibri"/>
              </a:rPr>
              <a:t>most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5" dirty="0" smtClean="0">
                <a:latin typeface="Calibri"/>
                <a:cs typeface="Calibri"/>
              </a:rPr>
              <a:t>are</a:t>
            </a:r>
            <a:r>
              <a:rPr lang="en-GB" sz="3000" dirty="0">
                <a:latin typeface="Calibri"/>
                <a:cs typeface="Calibri"/>
              </a:rPr>
              <a:t> </a:t>
            </a:r>
            <a:r>
              <a:rPr sz="3000" spc="-10" dirty="0" smtClean="0">
                <a:latin typeface="Calibri"/>
                <a:cs typeface="Calibri"/>
              </a:rPr>
              <a:t>variations </a:t>
            </a:r>
            <a:r>
              <a:rPr sz="3000" spc="-5" dirty="0">
                <a:latin typeface="Calibri"/>
                <a:cs typeface="Calibri"/>
              </a:rPr>
              <a:t>of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15" dirty="0">
                <a:latin typeface="Calibri"/>
                <a:cs typeface="Calibri"/>
              </a:rPr>
              <a:t>standard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types</a:t>
            </a:r>
            <a:endParaRPr sz="3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Numeric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Types</a:t>
            </a:r>
            <a:endParaRPr sz="3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600" spc="-40" dirty="0">
                <a:latin typeface="Calibri"/>
                <a:cs typeface="Calibri"/>
              </a:rPr>
              <a:t>TINYINT, </a:t>
            </a:r>
            <a:r>
              <a:rPr sz="2600" spc="-35" dirty="0">
                <a:latin typeface="Calibri"/>
                <a:cs typeface="Calibri"/>
              </a:rPr>
              <a:t>SMALLINT, </a:t>
            </a:r>
            <a:r>
              <a:rPr sz="2600" spc="-65" dirty="0">
                <a:latin typeface="Calibri"/>
                <a:cs typeface="Calibri"/>
              </a:rPr>
              <a:t>INT, </a:t>
            </a:r>
            <a:r>
              <a:rPr sz="2600" spc="-30" dirty="0">
                <a:latin typeface="Calibri"/>
                <a:cs typeface="Calibri"/>
              </a:rPr>
              <a:t>MEDIUMINT,</a:t>
            </a:r>
            <a:r>
              <a:rPr sz="2600" spc="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BIGINT</a:t>
            </a:r>
          </a:p>
          <a:p>
            <a:pPr marL="756285" lvl="1" indent="-286385">
              <a:lnSpc>
                <a:spcPts val="3115"/>
              </a:lnSpc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600" spc="-95" dirty="0">
                <a:latin typeface="Calibri"/>
                <a:cs typeface="Calibri"/>
              </a:rPr>
              <a:t>FLOAT, </a:t>
            </a:r>
            <a:r>
              <a:rPr sz="2600" dirty="0">
                <a:latin typeface="Calibri"/>
                <a:cs typeface="Calibri"/>
              </a:rPr>
              <a:t>REAL, DOUBLE,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DECIMAL</a:t>
            </a:r>
            <a:endParaRPr sz="2600" dirty="0">
              <a:latin typeface="Calibri"/>
              <a:cs typeface="Calibri"/>
            </a:endParaRPr>
          </a:p>
          <a:p>
            <a:pPr marL="355600" indent="-342900">
              <a:lnSpc>
                <a:spcPts val="3595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5" dirty="0">
                <a:latin typeface="Calibri"/>
                <a:cs typeface="Calibri"/>
              </a:rPr>
              <a:t>Dates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Times</a:t>
            </a:r>
            <a:endParaRPr sz="3000" dirty="0">
              <a:latin typeface="Calibri"/>
              <a:cs typeface="Calibri"/>
            </a:endParaRPr>
          </a:p>
          <a:p>
            <a:pPr marL="756285" lvl="1" indent="-286385">
              <a:lnSpc>
                <a:spcPts val="3110"/>
              </a:lnSpc>
              <a:spcBef>
                <a:spcPts val="1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600" spc="-50" dirty="0">
                <a:latin typeface="Calibri"/>
                <a:cs typeface="Calibri"/>
              </a:rPr>
              <a:t>DATE, </a:t>
            </a:r>
            <a:r>
              <a:rPr sz="2600" dirty="0">
                <a:latin typeface="Calibri"/>
                <a:cs typeface="Calibri"/>
              </a:rPr>
              <a:t>TIME,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YEAR</a:t>
            </a:r>
            <a:endParaRPr sz="2600" dirty="0">
              <a:latin typeface="Calibri"/>
              <a:cs typeface="Calibri"/>
            </a:endParaRPr>
          </a:p>
          <a:p>
            <a:pPr marL="355600" indent="-342900">
              <a:lnSpc>
                <a:spcPts val="359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Strings</a:t>
            </a:r>
            <a:endParaRPr sz="3000" dirty="0">
              <a:latin typeface="Calibri"/>
              <a:cs typeface="Calibri"/>
            </a:endParaRPr>
          </a:p>
          <a:p>
            <a:pPr marL="756285" lvl="1" indent="-286385">
              <a:lnSpc>
                <a:spcPts val="3115"/>
              </a:lnSpc>
              <a:spcBef>
                <a:spcPts val="1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600" dirty="0">
                <a:latin typeface="Calibri"/>
                <a:cs typeface="Calibri"/>
              </a:rPr>
              <a:t>CHAR,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VARCHAR</a:t>
            </a:r>
            <a:endParaRPr sz="2600" dirty="0">
              <a:latin typeface="Calibri"/>
              <a:cs typeface="Calibri"/>
            </a:endParaRPr>
          </a:p>
          <a:p>
            <a:pPr marL="355600" indent="-342900">
              <a:lnSpc>
                <a:spcPts val="3595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15" dirty="0">
                <a:latin typeface="Calibri"/>
                <a:cs typeface="Calibri"/>
              </a:rPr>
              <a:t>Others</a:t>
            </a:r>
            <a:endParaRPr sz="3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600" spc="-5" dirty="0">
                <a:latin typeface="Calibri"/>
                <a:cs typeface="Calibri"/>
              </a:rPr>
              <a:t>ENUM,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BLOB</a:t>
            </a:r>
            <a:endParaRPr sz="2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03692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7200">
              <a:lnSpc>
                <a:spcPct val="100000"/>
              </a:lnSpc>
            </a:pPr>
            <a:r>
              <a:rPr spc="-204" dirty="0"/>
              <a:t>T</a:t>
            </a:r>
            <a:r>
              <a:rPr dirty="0"/>
              <a:t>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0773"/>
            <a:ext cx="7178675" cy="1619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5" dirty="0">
                <a:latin typeface="Calibri"/>
                <a:cs typeface="Calibri"/>
              </a:rPr>
              <a:t>We </a:t>
            </a:r>
            <a:r>
              <a:rPr sz="3200" dirty="0">
                <a:latin typeface="Calibri"/>
                <a:cs typeface="Calibri"/>
              </a:rPr>
              <a:t>will </a:t>
            </a:r>
            <a:r>
              <a:rPr sz="3200" spc="-5" dirty="0">
                <a:latin typeface="Calibri"/>
                <a:cs typeface="Calibri"/>
              </a:rPr>
              <a:t>use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5" dirty="0">
                <a:latin typeface="Calibri"/>
                <a:cs typeface="Calibri"/>
              </a:rPr>
              <a:t>small </a:t>
            </a:r>
            <a:r>
              <a:rPr sz="3200" spc="-10" dirty="0">
                <a:latin typeface="Calibri"/>
                <a:cs typeface="Calibri"/>
              </a:rPr>
              <a:t>subset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possible</a:t>
            </a:r>
            <a:endParaRPr sz="3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3200" dirty="0">
                <a:latin typeface="Calibri"/>
                <a:cs typeface="Calibri"/>
              </a:rPr>
              <a:t>types:</a:t>
            </a:r>
            <a:endParaRPr sz="3200">
              <a:latin typeface="Calibri"/>
              <a:cs typeface="Calibri"/>
            </a:endParaRPr>
          </a:p>
          <a:p>
            <a:pPr marL="382905">
              <a:lnSpc>
                <a:spcPct val="100000"/>
              </a:lnSpc>
              <a:spcBef>
                <a:spcPts val="2715"/>
              </a:spcBef>
              <a:tabLst>
                <a:tab pos="1895475" algn="l"/>
                <a:tab pos="4907915" algn="l"/>
              </a:tabLst>
            </a:pPr>
            <a:r>
              <a:rPr sz="1800" spc="-25" dirty="0">
                <a:latin typeface="Calibri"/>
                <a:cs typeface="Calibri"/>
              </a:rPr>
              <a:t>Type	</a:t>
            </a:r>
            <a:r>
              <a:rPr sz="1800" spc="-10" dirty="0">
                <a:latin typeface="Calibri"/>
                <a:cs typeface="Calibri"/>
              </a:rPr>
              <a:t>Description	Example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18057" y="3271901"/>
          <a:ext cx="7488885" cy="2595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2138"/>
                <a:gridCol w="3012313"/>
                <a:gridCol w="2964434"/>
              </a:tblGrid>
              <a:tr h="388048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TINYINT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bit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integer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-128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127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370966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32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bit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integer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-2147483648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2147483647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67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CHAR</a:t>
                      </a:r>
                      <a:r>
                        <a:rPr sz="18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(m)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String of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fixed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length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10"/>
                        </a:spcBef>
                        <a:tabLst>
                          <a:tab pos="243332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“Hello</a:t>
                      </a:r>
                      <a:r>
                        <a:rPr sz="18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World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03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VARCHAR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(m)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String of maximum length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“Hello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World”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789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double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precision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number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3.14159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67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ENUM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set of specific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strings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(‘Cat’,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‘Dog’,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‘Mouse’)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53199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DATE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Day,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Month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Year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‘1981-12-16’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‘81-12-16’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160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70025">
              <a:lnSpc>
                <a:spcPct val="100000"/>
              </a:lnSpc>
            </a:pPr>
            <a:r>
              <a:rPr dirty="0"/>
              <a:t>Column</a:t>
            </a:r>
            <a:r>
              <a:rPr spc="-45" dirty="0"/>
              <a:t> </a:t>
            </a:r>
            <a:r>
              <a:rPr spc="-10" dirty="0"/>
              <a:t>Definitions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805"/>
            <a:ext cx="3495040" cy="404304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55600" marR="128270" indent="-342900">
              <a:lnSpc>
                <a:spcPct val="97900"/>
              </a:lnSpc>
              <a:spcBef>
                <a:spcPts val="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Columns can be  </a:t>
            </a:r>
            <a:r>
              <a:rPr sz="2800" spc="-5" dirty="0">
                <a:latin typeface="Calibri"/>
                <a:cs typeface="Calibri"/>
              </a:rPr>
              <a:t>specified as </a:t>
            </a:r>
            <a:r>
              <a:rPr sz="2800" b="1" spc="-5" dirty="0">
                <a:latin typeface="Courier New"/>
                <a:cs typeface="Courier New"/>
              </a:rPr>
              <a:t>NULL</a:t>
            </a:r>
            <a:r>
              <a:rPr sz="2800" b="1" spc="-109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alibri"/>
                <a:cs typeface="Calibri"/>
              </a:rPr>
              <a:t>or  </a:t>
            </a:r>
            <a:r>
              <a:rPr sz="2800" b="1" spc="-10" dirty="0">
                <a:latin typeface="Courier New"/>
                <a:cs typeface="Courier New"/>
              </a:rPr>
              <a:t>NOT</a:t>
            </a:r>
            <a:r>
              <a:rPr sz="2800" b="1" spc="-95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NULL</a:t>
            </a:r>
            <a:endParaRPr sz="2800">
              <a:latin typeface="Courier New"/>
              <a:cs typeface="Courier New"/>
            </a:endParaRPr>
          </a:p>
          <a:p>
            <a:pPr marL="355600" marR="5080" indent="-342900">
              <a:lnSpc>
                <a:spcPct val="101600"/>
              </a:lnSpc>
              <a:spcBef>
                <a:spcPts val="65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10" dirty="0">
                <a:latin typeface="Courier New"/>
                <a:cs typeface="Courier New"/>
              </a:rPr>
              <a:t>NOT NULL</a:t>
            </a:r>
            <a:r>
              <a:rPr sz="2800" b="1" spc="-7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alibri"/>
                <a:cs typeface="Calibri"/>
              </a:rPr>
              <a:t>columns  cannot </a:t>
            </a:r>
            <a:r>
              <a:rPr sz="2800" spc="-25" dirty="0">
                <a:latin typeface="Calibri"/>
                <a:cs typeface="Calibri"/>
              </a:rPr>
              <a:t>have </a:t>
            </a:r>
            <a:r>
              <a:rPr sz="2800" spc="-10" dirty="0">
                <a:latin typeface="Calibri"/>
                <a:cs typeface="Calibri"/>
              </a:rPr>
              <a:t>missing  </a:t>
            </a:r>
            <a:r>
              <a:rPr sz="2800" spc="-15" dirty="0">
                <a:latin typeface="Calibri"/>
                <a:cs typeface="Calibri"/>
              </a:rPr>
              <a:t>values</a:t>
            </a:r>
            <a:endParaRPr sz="2800">
              <a:latin typeface="Calibri"/>
              <a:cs typeface="Calibri"/>
            </a:endParaRPr>
          </a:p>
          <a:p>
            <a:pPr marL="355600" marR="43815" indent="-342900">
              <a:lnSpc>
                <a:spcPct val="101699"/>
              </a:lnSpc>
              <a:spcBef>
                <a:spcPts val="5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Courier New"/>
                <a:cs typeface="Courier New"/>
              </a:rPr>
              <a:t>NULL</a:t>
            </a:r>
            <a:r>
              <a:rPr sz="2800" b="1" spc="-105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alibri"/>
                <a:cs typeface="Calibri"/>
              </a:rPr>
              <a:t>is the </a:t>
            </a:r>
            <a:r>
              <a:rPr sz="2800" spc="-20" dirty="0">
                <a:latin typeface="Calibri"/>
                <a:cs typeface="Calibri"/>
              </a:rPr>
              <a:t>default </a:t>
            </a:r>
            <a:r>
              <a:rPr sz="2800" spc="-5" dirty="0">
                <a:latin typeface="Calibri"/>
                <a:cs typeface="Calibri"/>
              </a:rPr>
              <a:t>if  </a:t>
            </a:r>
            <a:r>
              <a:rPr sz="2800" spc="-20" dirty="0">
                <a:latin typeface="Calibri"/>
                <a:cs typeface="Calibri"/>
              </a:rPr>
              <a:t>you </a:t>
            </a:r>
            <a:r>
              <a:rPr sz="2800" spc="-5" dirty="0">
                <a:latin typeface="Calibri"/>
                <a:cs typeface="Calibri"/>
              </a:rPr>
              <a:t>do </a:t>
            </a:r>
            <a:r>
              <a:rPr sz="2800" spc="-10" dirty="0">
                <a:latin typeface="Calibri"/>
                <a:cs typeface="Calibri"/>
              </a:rPr>
              <a:t>not specify  </a:t>
            </a:r>
            <a:r>
              <a:rPr sz="2800" spc="-5" dirty="0">
                <a:latin typeface="Calibri"/>
                <a:cs typeface="Calibri"/>
              </a:rPr>
              <a:t>either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7828" y="1622805"/>
            <a:ext cx="3753485" cy="2677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Columns can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default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value</a:t>
            </a:r>
            <a:endParaRPr sz="2800">
              <a:latin typeface="Calibri"/>
              <a:cs typeface="Calibri"/>
            </a:endParaRPr>
          </a:p>
          <a:p>
            <a:pPr marL="355600" marR="210820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75" dirty="0">
                <a:latin typeface="Calibri"/>
                <a:cs typeface="Calibri"/>
              </a:rPr>
              <a:t>You </a:t>
            </a:r>
            <a:r>
              <a:rPr sz="2800" spc="-15" dirty="0">
                <a:latin typeface="Calibri"/>
                <a:cs typeface="Calibri"/>
              </a:rPr>
              <a:t>just </a:t>
            </a:r>
            <a:r>
              <a:rPr sz="2800" spc="-10" dirty="0">
                <a:latin typeface="Calibri"/>
                <a:cs typeface="Calibri"/>
              </a:rPr>
              <a:t>use </a:t>
            </a:r>
            <a:r>
              <a:rPr sz="2800" spc="-5" dirty="0">
                <a:latin typeface="Calibri"/>
                <a:cs typeface="Calibri"/>
              </a:rPr>
              <a:t>the  </a:t>
            </a:r>
            <a:r>
              <a:rPr sz="2800" spc="-25" dirty="0">
                <a:latin typeface="Calibri"/>
                <a:cs typeface="Calibri"/>
              </a:rPr>
              <a:t>keyword </a:t>
            </a:r>
            <a:r>
              <a:rPr sz="2800" b="1" spc="-5" dirty="0">
                <a:latin typeface="Courier New"/>
                <a:cs typeface="Courier New"/>
              </a:rPr>
              <a:t>DEFAULT  </a:t>
            </a:r>
            <a:r>
              <a:rPr sz="2800" spc="-20" dirty="0">
                <a:latin typeface="Calibri"/>
                <a:cs typeface="Calibri"/>
              </a:rPr>
              <a:t>followed </a:t>
            </a:r>
            <a:r>
              <a:rPr sz="2800" spc="-15" dirty="0">
                <a:latin typeface="Calibri"/>
                <a:cs typeface="Calibri"/>
              </a:rPr>
              <a:t>by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value,  </a:t>
            </a:r>
            <a:r>
              <a:rPr sz="2800" dirty="0">
                <a:latin typeface="Calibri"/>
                <a:cs typeface="Calibri"/>
              </a:rPr>
              <a:t>e.g.: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01565" y="4689220"/>
            <a:ext cx="185420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col-name</a:t>
            </a:r>
            <a:r>
              <a:rPr sz="2000" b="1" spc="-7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INT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3145" y="4689220"/>
            <a:ext cx="154940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DEFAULT</a:t>
            </a:r>
            <a:r>
              <a:rPr sz="2000" b="1" spc="-8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0,</a:t>
            </a:r>
            <a:endParaRPr sz="20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179417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42900">
              <a:lnSpc>
                <a:spcPct val="100000"/>
              </a:lnSpc>
            </a:pPr>
            <a:r>
              <a:rPr spc="-30" dirty="0"/>
              <a:t>Write </a:t>
            </a:r>
            <a:r>
              <a:rPr spc="-5" dirty="0"/>
              <a:t>the </a:t>
            </a:r>
            <a:r>
              <a:rPr spc="-10" dirty="0"/>
              <a:t>SQL </a:t>
            </a:r>
            <a:r>
              <a:rPr spc="-20" dirty="0"/>
              <a:t>statement </a:t>
            </a:r>
            <a:r>
              <a:rPr spc="-15" dirty="0"/>
              <a:t>to </a:t>
            </a:r>
            <a:r>
              <a:rPr spc="-20" dirty="0"/>
              <a:t>create </a:t>
            </a:r>
            <a:r>
              <a:rPr spc="-5" dirty="0"/>
              <a:t>a </a:t>
            </a:r>
            <a:r>
              <a:rPr spc="-10" dirty="0"/>
              <a:t>table </a:t>
            </a:r>
            <a:r>
              <a:rPr spc="-25" dirty="0"/>
              <a:t>for </a:t>
            </a:r>
            <a:r>
              <a:rPr spc="-15" dirty="0"/>
              <a:t>Student  </a:t>
            </a:r>
            <a:r>
              <a:rPr spc="-5" dirty="0"/>
              <a:t>with the </a:t>
            </a:r>
            <a:r>
              <a:rPr spc="-15" dirty="0"/>
              <a:t>attributes listed </a:t>
            </a:r>
            <a:r>
              <a:rPr spc="-50" dirty="0"/>
              <a:t>below, </a:t>
            </a:r>
            <a:r>
              <a:rPr spc="-10" dirty="0"/>
              <a:t>where </a:t>
            </a:r>
            <a:r>
              <a:rPr spc="-5" dirty="0"/>
              <a:t>the </a:t>
            </a:r>
            <a:r>
              <a:rPr spc="-10" dirty="0"/>
              <a:t>sID  number </a:t>
            </a:r>
            <a:r>
              <a:rPr spc="-5" dirty="0"/>
              <a:t>and the </a:t>
            </a:r>
            <a:r>
              <a:rPr spc="-10" dirty="0"/>
              <a:t>Student name cannot </a:t>
            </a:r>
            <a:r>
              <a:rPr spc="-5" dirty="0"/>
              <a:t>be </a:t>
            </a:r>
            <a:r>
              <a:rPr spc="-10" dirty="0"/>
              <a:t>null </a:t>
            </a:r>
            <a:r>
              <a:rPr spc="-5" dirty="0"/>
              <a:t>and, if  </a:t>
            </a:r>
            <a:r>
              <a:rPr spc="-10" dirty="0"/>
              <a:t>not </a:t>
            </a:r>
            <a:r>
              <a:rPr spc="-5" dirty="0"/>
              <a:t>otherwise </a:t>
            </a:r>
            <a:r>
              <a:rPr spc="-10" dirty="0"/>
              <a:t>specified, </a:t>
            </a:r>
            <a:r>
              <a:rPr spc="-15" dirty="0"/>
              <a:t>students </a:t>
            </a:r>
            <a:r>
              <a:rPr spc="-20" dirty="0"/>
              <a:t>are </a:t>
            </a:r>
            <a:r>
              <a:rPr spc="-15" dirty="0"/>
              <a:t>in </a:t>
            </a:r>
            <a:r>
              <a:rPr spc="-55" dirty="0"/>
              <a:t>Year</a:t>
            </a:r>
            <a:r>
              <a:rPr spc="190" dirty="0"/>
              <a:t> </a:t>
            </a:r>
            <a:r>
              <a:rPr spc="-5" dirty="0"/>
              <a:t>1.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83510">
              <a:lnSpc>
                <a:spcPct val="100000"/>
              </a:lnSpc>
            </a:pPr>
            <a:r>
              <a:rPr spc="-5" dirty="0"/>
              <a:t>E</a:t>
            </a:r>
            <a:r>
              <a:rPr spc="-85" dirty="0"/>
              <a:t>x</a:t>
            </a:r>
            <a:r>
              <a:rPr dirty="0"/>
              <a:t>ample</a:t>
            </a:r>
          </a:p>
        </p:txBody>
      </p:sp>
      <p:sp>
        <p:nvSpPr>
          <p:cNvPr id="4" name="object 4"/>
          <p:cNvSpPr/>
          <p:nvPr/>
        </p:nvSpPr>
        <p:spPr>
          <a:xfrm>
            <a:off x="5471286" y="5424170"/>
            <a:ext cx="1297305" cy="741680"/>
          </a:xfrm>
          <a:custGeom>
            <a:avLst/>
            <a:gdLst/>
            <a:ahLst/>
            <a:cxnLst/>
            <a:rect l="l" t="t" r="r" b="b"/>
            <a:pathLst>
              <a:path w="1297304" h="741679">
                <a:moveTo>
                  <a:pt x="0" y="123570"/>
                </a:moveTo>
                <a:lnTo>
                  <a:pt x="9717" y="75491"/>
                </a:lnTo>
                <a:lnTo>
                  <a:pt x="36210" y="36210"/>
                </a:lnTo>
                <a:lnTo>
                  <a:pt x="75491" y="9717"/>
                </a:lnTo>
                <a:lnTo>
                  <a:pt x="123571" y="0"/>
                </a:lnTo>
                <a:lnTo>
                  <a:pt x="1173353" y="0"/>
                </a:lnTo>
                <a:lnTo>
                  <a:pt x="1221432" y="9717"/>
                </a:lnTo>
                <a:lnTo>
                  <a:pt x="1260713" y="36210"/>
                </a:lnTo>
                <a:lnTo>
                  <a:pt x="1287206" y="75491"/>
                </a:lnTo>
                <a:lnTo>
                  <a:pt x="1296923" y="123570"/>
                </a:lnTo>
                <a:lnTo>
                  <a:pt x="1296923" y="617613"/>
                </a:lnTo>
                <a:lnTo>
                  <a:pt x="1287206" y="665690"/>
                </a:lnTo>
                <a:lnTo>
                  <a:pt x="1260713" y="704953"/>
                </a:lnTo>
                <a:lnTo>
                  <a:pt x="1221432" y="731426"/>
                </a:lnTo>
                <a:lnTo>
                  <a:pt x="1173353" y="741133"/>
                </a:lnTo>
                <a:lnTo>
                  <a:pt x="123571" y="741133"/>
                </a:lnTo>
                <a:lnTo>
                  <a:pt x="75491" y="731426"/>
                </a:lnTo>
                <a:lnTo>
                  <a:pt x="36210" y="704953"/>
                </a:lnTo>
                <a:lnTo>
                  <a:pt x="9717" y="665690"/>
                </a:lnTo>
                <a:lnTo>
                  <a:pt x="0" y="617613"/>
                </a:lnTo>
                <a:lnTo>
                  <a:pt x="0" y="1235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00140" y="5627116"/>
            <a:ext cx="83883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St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-20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67809" y="4623815"/>
            <a:ext cx="1307465" cy="600710"/>
          </a:xfrm>
          <a:custGeom>
            <a:avLst/>
            <a:gdLst/>
            <a:ahLst/>
            <a:cxnLst/>
            <a:rect l="l" t="t" r="r" b="b"/>
            <a:pathLst>
              <a:path w="1307464" h="600710">
                <a:moveTo>
                  <a:pt x="0" y="300100"/>
                </a:moveTo>
                <a:lnTo>
                  <a:pt x="11784" y="243076"/>
                </a:lnTo>
                <a:lnTo>
                  <a:pt x="45679" y="189663"/>
                </a:lnTo>
                <a:lnTo>
                  <a:pt x="99493" y="140867"/>
                </a:lnTo>
                <a:lnTo>
                  <a:pt x="133185" y="118516"/>
                </a:lnTo>
                <a:lnTo>
                  <a:pt x="171037" y="97696"/>
                </a:lnTo>
                <a:lnTo>
                  <a:pt x="212773" y="78533"/>
                </a:lnTo>
                <a:lnTo>
                  <a:pt x="258120" y="61154"/>
                </a:lnTo>
                <a:lnTo>
                  <a:pt x="306805" y="45684"/>
                </a:lnTo>
                <a:lnTo>
                  <a:pt x="358553" y="32249"/>
                </a:lnTo>
                <a:lnTo>
                  <a:pt x="413091" y="20975"/>
                </a:lnTo>
                <a:lnTo>
                  <a:pt x="470146" y="11987"/>
                </a:lnTo>
                <a:lnTo>
                  <a:pt x="529443" y="5411"/>
                </a:lnTo>
                <a:lnTo>
                  <a:pt x="590708" y="1373"/>
                </a:lnTo>
                <a:lnTo>
                  <a:pt x="653668" y="0"/>
                </a:lnTo>
                <a:lnTo>
                  <a:pt x="716608" y="1373"/>
                </a:lnTo>
                <a:lnTo>
                  <a:pt x="777855" y="5411"/>
                </a:lnTo>
                <a:lnTo>
                  <a:pt x="837135" y="11987"/>
                </a:lnTo>
                <a:lnTo>
                  <a:pt x="894176" y="20975"/>
                </a:lnTo>
                <a:lnTo>
                  <a:pt x="948702" y="32249"/>
                </a:lnTo>
                <a:lnTo>
                  <a:pt x="1000440" y="45684"/>
                </a:lnTo>
                <a:lnTo>
                  <a:pt x="1049116" y="61154"/>
                </a:lnTo>
                <a:lnTo>
                  <a:pt x="1094456" y="78533"/>
                </a:lnTo>
                <a:lnTo>
                  <a:pt x="1136187" y="97696"/>
                </a:lnTo>
                <a:lnTo>
                  <a:pt x="1174033" y="118516"/>
                </a:lnTo>
                <a:lnTo>
                  <a:pt x="1207723" y="140867"/>
                </a:lnTo>
                <a:lnTo>
                  <a:pt x="1261533" y="189663"/>
                </a:lnTo>
                <a:lnTo>
                  <a:pt x="1295426" y="243076"/>
                </a:lnTo>
                <a:lnTo>
                  <a:pt x="1307211" y="300100"/>
                </a:lnTo>
                <a:lnTo>
                  <a:pt x="1304219" y="329003"/>
                </a:lnTo>
                <a:lnTo>
                  <a:pt x="1281106" y="384356"/>
                </a:lnTo>
                <a:lnTo>
                  <a:pt x="1236981" y="435602"/>
                </a:lnTo>
                <a:lnTo>
                  <a:pt x="1174033" y="481732"/>
                </a:lnTo>
                <a:lnTo>
                  <a:pt x="1136187" y="502563"/>
                </a:lnTo>
                <a:lnTo>
                  <a:pt x="1094456" y="521737"/>
                </a:lnTo>
                <a:lnTo>
                  <a:pt x="1049116" y="539127"/>
                </a:lnTo>
                <a:lnTo>
                  <a:pt x="1000440" y="554608"/>
                </a:lnTo>
                <a:lnTo>
                  <a:pt x="948702" y="568052"/>
                </a:lnTo>
                <a:lnTo>
                  <a:pt x="894176" y="579336"/>
                </a:lnTo>
                <a:lnTo>
                  <a:pt x="837135" y="588331"/>
                </a:lnTo>
                <a:lnTo>
                  <a:pt x="777855" y="594912"/>
                </a:lnTo>
                <a:lnTo>
                  <a:pt x="716608" y="598953"/>
                </a:lnTo>
                <a:lnTo>
                  <a:pt x="653668" y="600328"/>
                </a:lnTo>
                <a:lnTo>
                  <a:pt x="590708" y="598953"/>
                </a:lnTo>
                <a:lnTo>
                  <a:pt x="529443" y="594912"/>
                </a:lnTo>
                <a:lnTo>
                  <a:pt x="470146" y="588331"/>
                </a:lnTo>
                <a:lnTo>
                  <a:pt x="413091" y="579336"/>
                </a:lnTo>
                <a:lnTo>
                  <a:pt x="358553" y="568052"/>
                </a:lnTo>
                <a:lnTo>
                  <a:pt x="306805" y="554608"/>
                </a:lnTo>
                <a:lnTo>
                  <a:pt x="258120" y="539127"/>
                </a:lnTo>
                <a:lnTo>
                  <a:pt x="212773" y="521737"/>
                </a:lnTo>
                <a:lnTo>
                  <a:pt x="171037" y="502563"/>
                </a:lnTo>
                <a:lnTo>
                  <a:pt x="133185" y="481732"/>
                </a:lnTo>
                <a:lnTo>
                  <a:pt x="99493" y="459370"/>
                </a:lnTo>
                <a:lnTo>
                  <a:pt x="45679" y="410556"/>
                </a:lnTo>
                <a:lnTo>
                  <a:pt x="11784" y="357130"/>
                </a:lnTo>
                <a:lnTo>
                  <a:pt x="0" y="3001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52542" y="4756277"/>
            <a:ext cx="74041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sNa</a:t>
            </a:r>
            <a:r>
              <a:rPr sz="2000" spc="-10" dirty="0">
                <a:latin typeface="Calibri"/>
                <a:cs typeface="Calibri"/>
              </a:rPr>
              <a:t>m</a:t>
            </a:r>
            <a:r>
              <a:rPr sz="2000" dirty="0">
                <a:latin typeface="Calibri"/>
                <a:cs typeface="Calibri"/>
              </a:rPr>
              <a:t>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95928" y="5493639"/>
            <a:ext cx="1144270" cy="600710"/>
          </a:xfrm>
          <a:custGeom>
            <a:avLst/>
            <a:gdLst/>
            <a:ahLst/>
            <a:cxnLst/>
            <a:rect l="l" t="t" r="r" b="b"/>
            <a:pathLst>
              <a:path w="1144270" h="600710">
                <a:moveTo>
                  <a:pt x="0" y="300139"/>
                </a:moveTo>
                <a:lnTo>
                  <a:pt x="13189" y="235748"/>
                </a:lnTo>
                <a:lnTo>
                  <a:pt x="50899" y="176173"/>
                </a:lnTo>
                <a:lnTo>
                  <a:pt x="78076" y="148648"/>
                </a:lnTo>
                <a:lnTo>
                  <a:pt x="110337" y="122876"/>
                </a:lnTo>
                <a:lnTo>
                  <a:pt x="147332" y="99039"/>
                </a:lnTo>
                <a:lnTo>
                  <a:pt x="188714" y="77322"/>
                </a:lnTo>
                <a:lnTo>
                  <a:pt x="234132" y="57906"/>
                </a:lnTo>
                <a:lnTo>
                  <a:pt x="283238" y="40975"/>
                </a:lnTo>
                <a:lnTo>
                  <a:pt x="335683" y="26712"/>
                </a:lnTo>
                <a:lnTo>
                  <a:pt x="391119" y="15300"/>
                </a:lnTo>
                <a:lnTo>
                  <a:pt x="449196" y="6922"/>
                </a:lnTo>
                <a:lnTo>
                  <a:pt x="509566" y="1761"/>
                </a:lnTo>
                <a:lnTo>
                  <a:pt x="571881" y="0"/>
                </a:lnTo>
                <a:lnTo>
                  <a:pt x="634196" y="1761"/>
                </a:lnTo>
                <a:lnTo>
                  <a:pt x="694571" y="6922"/>
                </a:lnTo>
                <a:lnTo>
                  <a:pt x="752655" y="15300"/>
                </a:lnTo>
                <a:lnTo>
                  <a:pt x="808100" y="26712"/>
                </a:lnTo>
                <a:lnTo>
                  <a:pt x="860556" y="40975"/>
                </a:lnTo>
                <a:lnTo>
                  <a:pt x="909674" y="57906"/>
                </a:lnTo>
                <a:lnTo>
                  <a:pt x="955105" y="77322"/>
                </a:lnTo>
                <a:lnTo>
                  <a:pt x="996498" y="99039"/>
                </a:lnTo>
                <a:lnTo>
                  <a:pt x="1033506" y="122876"/>
                </a:lnTo>
                <a:lnTo>
                  <a:pt x="1065779" y="148648"/>
                </a:lnTo>
                <a:lnTo>
                  <a:pt x="1092967" y="176173"/>
                </a:lnTo>
                <a:lnTo>
                  <a:pt x="1130692" y="235748"/>
                </a:lnTo>
                <a:lnTo>
                  <a:pt x="1143889" y="300139"/>
                </a:lnTo>
                <a:lnTo>
                  <a:pt x="1140531" y="332842"/>
                </a:lnTo>
                <a:lnTo>
                  <a:pt x="1114721" y="395006"/>
                </a:lnTo>
                <a:lnTo>
                  <a:pt x="1065779" y="451627"/>
                </a:lnTo>
                <a:lnTo>
                  <a:pt x="1033506" y="477401"/>
                </a:lnTo>
                <a:lnTo>
                  <a:pt x="996498" y="501239"/>
                </a:lnTo>
                <a:lnTo>
                  <a:pt x="955105" y="522958"/>
                </a:lnTo>
                <a:lnTo>
                  <a:pt x="909674" y="542376"/>
                </a:lnTo>
                <a:lnTo>
                  <a:pt x="860556" y="559309"/>
                </a:lnTo>
                <a:lnTo>
                  <a:pt x="808100" y="573574"/>
                </a:lnTo>
                <a:lnTo>
                  <a:pt x="752655" y="584988"/>
                </a:lnTo>
                <a:lnTo>
                  <a:pt x="694571" y="593367"/>
                </a:lnTo>
                <a:lnTo>
                  <a:pt x="634196" y="598529"/>
                </a:lnTo>
                <a:lnTo>
                  <a:pt x="571881" y="600290"/>
                </a:lnTo>
                <a:lnTo>
                  <a:pt x="509566" y="598529"/>
                </a:lnTo>
                <a:lnTo>
                  <a:pt x="449196" y="593367"/>
                </a:lnTo>
                <a:lnTo>
                  <a:pt x="391119" y="584988"/>
                </a:lnTo>
                <a:lnTo>
                  <a:pt x="335683" y="573574"/>
                </a:lnTo>
                <a:lnTo>
                  <a:pt x="283238" y="559309"/>
                </a:lnTo>
                <a:lnTo>
                  <a:pt x="234132" y="542376"/>
                </a:lnTo>
                <a:lnTo>
                  <a:pt x="188714" y="522958"/>
                </a:lnTo>
                <a:lnTo>
                  <a:pt x="147332" y="501239"/>
                </a:lnTo>
                <a:lnTo>
                  <a:pt x="110337" y="477401"/>
                </a:lnTo>
                <a:lnTo>
                  <a:pt x="78076" y="451627"/>
                </a:lnTo>
                <a:lnTo>
                  <a:pt x="50899" y="424101"/>
                </a:lnTo>
                <a:lnTo>
                  <a:pt x="13189" y="364526"/>
                </a:lnTo>
                <a:lnTo>
                  <a:pt x="0" y="30013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95596" y="5626201"/>
            <a:ext cx="34607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spc="-5" dirty="0">
                <a:latin typeface="Calibri"/>
                <a:cs typeface="Calibri"/>
              </a:rPr>
              <a:t>sID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72225" y="4623815"/>
            <a:ext cx="1627505" cy="600710"/>
          </a:xfrm>
          <a:custGeom>
            <a:avLst/>
            <a:gdLst/>
            <a:ahLst/>
            <a:cxnLst/>
            <a:rect l="l" t="t" r="r" b="b"/>
            <a:pathLst>
              <a:path w="1627504" h="600710">
                <a:moveTo>
                  <a:pt x="0" y="300100"/>
                </a:moveTo>
                <a:lnTo>
                  <a:pt x="10647" y="251424"/>
                </a:lnTo>
                <a:lnTo>
                  <a:pt x="41475" y="205248"/>
                </a:lnTo>
                <a:lnTo>
                  <a:pt x="90806" y="162190"/>
                </a:lnTo>
                <a:lnTo>
                  <a:pt x="156967" y="122867"/>
                </a:lnTo>
                <a:lnTo>
                  <a:pt x="195836" y="104801"/>
                </a:lnTo>
                <a:lnTo>
                  <a:pt x="238283" y="87899"/>
                </a:lnTo>
                <a:lnTo>
                  <a:pt x="284101" y="72241"/>
                </a:lnTo>
                <a:lnTo>
                  <a:pt x="333079" y="57903"/>
                </a:lnTo>
                <a:lnTo>
                  <a:pt x="385008" y="44963"/>
                </a:lnTo>
                <a:lnTo>
                  <a:pt x="439679" y="33497"/>
                </a:lnTo>
                <a:lnTo>
                  <a:pt x="496883" y="23584"/>
                </a:lnTo>
                <a:lnTo>
                  <a:pt x="556410" y="15299"/>
                </a:lnTo>
                <a:lnTo>
                  <a:pt x="618050" y="8722"/>
                </a:lnTo>
                <a:lnTo>
                  <a:pt x="681596" y="3927"/>
                </a:lnTo>
                <a:lnTo>
                  <a:pt x="746836" y="994"/>
                </a:lnTo>
                <a:lnTo>
                  <a:pt x="813561" y="0"/>
                </a:lnTo>
                <a:lnTo>
                  <a:pt x="880287" y="994"/>
                </a:lnTo>
                <a:lnTo>
                  <a:pt x="945527" y="3927"/>
                </a:lnTo>
                <a:lnTo>
                  <a:pt x="1009073" y="8722"/>
                </a:lnTo>
                <a:lnTo>
                  <a:pt x="1070713" y="15299"/>
                </a:lnTo>
                <a:lnTo>
                  <a:pt x="1130240" y="23584"/>
                </a:lnTo>
                <a:lnTo>
                  <a:pt x="1187444" y="33497"/>
                </a:lnTo>
                <a:lnTo>
                  <a:pt x="1242115" y="44963"/>
                </a:lnTo>
                <a:lnTo>
                  <a:pt x="1294044" y="57903"/>
                </a:lnTo>
                <a:lnTo>
                  <a:pt x="1343022" y="72241"/>
                </a:lnTo>
                <a:lnTo>
                  <a:pt x="1388840" y="87899"/>
                </a:lnTo>
                <a:lnTo>
                  <a:pt x="1431287" y="104801"/>
                </a:lnTo>
                <a:lnTo>
                  <a:pt x="1470156" y="122867"/>
                </a:lnTo>
                <a:lnTo>
                  <a:pt x="1505235" y="142023"/>
                </a:lnTo>
                <a:lnTo>
                  <a:pt x="1563191" y="183290"/>
                </a:lnTo>
                <a:lnTo>
                  <a:pt x="1603480" y="227985"/>
                </a:lnTo>
                <a:lnTo>
                  <a:pt x="1624427" y="275488"/>
                </a:lnTo>
                <a:lnTo>
                  <a:pt x="1627124" y="300100"/>
                </a:lnTo>
                <a:lnTo>
                  <a:pt x="1624427" y="324714"/>
                </a:lnTo>
                <a:lnTo>
                  <a:pt x="1603480" y="372224"/>
                </a:lnTo>
                <a:lnTo>
                  <a:pt x="1563191" y="416931"/>
                </a:lnTo>
                <a:lnTo>
                  <a:pt x="1505235" y="458214"/>
                </a:lnTo>
                <a:lnTo>
                  <a:pt x="1470156" y="477378"/>
                </a:lnTo>
                <a:lnTo>
                  <a:pt x="1431287" y="495454"/>
                </a:lnTo>
                <a:lnTo>
                  <a:pt x="1388840" y="512365"/>
                </a:lnTo>
                <a:lnTo>
                  <a:pt x="1343022" y="528033"/>
                </a:lnTo>
                <a:lnTo>
                  <a:pt x="1294044" y="542380"/>
                </a:lnTo>
                <a:lnTo>
                  <a:pt x="1242115" y="555329"/>
                </a:lnTo>
                <a:lnTo>
                  <a:pt x="1187444" y="566803"/>
                </a:lnTo>
                <a:lnTo>
                  <a:pt x="1130240" y="576724"/>
                </a:lnTo>
                <a:lnTo>
                  <a:pt x="1070713" y="585015"/>
                </a:lnTo>
                <a:lnTo>
                  <a:pt x="1009073" y="591599"/>
                </a:lnTo>
                <a:lnTo>
                  <a:pt x="945527" y="596397"/>
                </a:lnTo>
                <a:lnTo>
                  <a:pt x="880287" y="599333"/>
                </a:lnTo>
                <a:lnTo>
                  <a:pt x="813561" y="600328"/>
                </a:lnTo>
                <a:lnTo>
                  <a:pt x="746836" y="599333"/>
                </a:lnTo>
                <a:lnTo>
                  <a:pt x="681596" y="596397"/>
                </a:lnTo>
                <a:lnTo>
                  <a:pt x="618050" y="591599"/>
                </a:lnTo>
                <a:lnTo>
                  <a:pt x="556410" y="585015"/>
                </a:lnTo>
                <a:lnTo>
                  <a:pt x="496883" y="576724"/>
                </a:lnTo>
                <a:lnTo>
                  <a:pt x="439679" y="566803"/>
                </a:lnTo>
                <a:lnTo>
                  <a:pt x="385008" y="555329"/>
                </a:lnTo>
                <a:lnTo>
                  <a:pt x="333079" y="542380"/>
                </a:lnTo>
                <a:lnTo>
                  <a:pt x="284101" y="528033"/>
                </a:lnTo>
                <a:lnTo>
                  <a:pt x="238283" y="512365"/>
                </a:lnTo>
                <a:lnTo>
                  <a:pt x="195836" y="495454"/>
                </a:lnTo>
                <a:lnTo>
                  <a:pt x="156967" y="477378"/>
                </a:lnTo>
                <a:lnTo>
                  <a:pt x="121888" y="458214"/>
                </a:lnTo>
                <a:lnTo>
                  <a:pt x="63932" y="416931"/>
                </a:lnTo>
                <a:lnTo>
                  <a:pt x="23643" y="372224"/>
                </a:lnTo>
                <a:lnTo>
                  <a:pt x="2696" y="324714"/>
                </a:lnTo>
                <a:lnTo>
                  <a:pt x="0" y="3001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712077" y="4756277"/>
            <a:ext cx="95186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sAd</a:t>
            </a:r>
            <a:r>
              <a:rPr sz="2000" spc="5" dirty="0">
                <a:latin typeface="Calibri"/>
                <a:cs typeface="Calibri"/>
              </a:rPr>
              <a:t>d</a:t>
            </a:r>
            <a:r>
              <a:rPr sz="2000" spc="-3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ess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00569" y="5494401"/>
            <a:ext cx="1144270" cy="600710"/>
          </a:xfrm>
          <a:custGeom>
            <a:avLst/>
            <a:gdLst/>
            <a:ahLst/>
            <a:cxnLst/>
            <a:rect l="l" t="t" r="r" b="b"/>
            <a:pathLst>
              <a:path w="1144270" h="600710">
                <a:moveTo>
                  <a:pt x="0" y="300215"/>
                </a:moveTo>
                <a:lnTo>
                  <a:pt x="13189" y="235821"/>
                </a:lnTo>
                <a:lnTo>
                  <a:pt x="50899" y="176236"/>
                </a:lnTo>
                <a:lnTo>
                  <a:pt x="78076" y="148704"/>
                </a:lnTo>
                <a:lnTo>
                  <a:pt x="110337" y="122925"/>
                </a:lnTo>
                <a:lnTo>
                  <a:pt x="147332" y="99081"/>
                </a:lnTo>
                <a:lnTo>
                  <a:pt x="188714" y="77356"/>
                </a:lnTo>
                <a:lnTo>
                  <a:pt x="234132" y="57933"/>
                </a:lnTo>
                <a:lnTo>
                  <a:pt x="283238" y="40995"/>
                </a:lnTo>
                <a:lnTo>
                  <a:pt x="335683" y="26725"/>
                </a:lnTo>
                <a:lnTo>
                  <a:pt x="391119" y="15308"/>
                </a:lnTo>
                <a:lnTo>
                  <a:pt x="449196" y="6925"/>
                </a:lnTo>
                <a:lnTo>
                  <a:pt x="509566" y="1762"/>
                </a:lnTo>
                <a:lnTo>
                  <a:pt x="571880" y="0"/>
                </a:lnTo>
                <a:lnTo>
                  <a:pt x="634196" y="1762"/>
                </a:lnTo>
                <a:lnTo>
                  <a:pt x="694571" y="6925"/>
                </a:lnTo>
                <a:lnTo>
                  <a:pt x="752655" y="15308"/>
                </a:lnTo>
                <a:lnTo>
                  <a:pt x="808100" y="26725"/>
                </a:lnTo>
                <a:lnTo>
                  <a:pt x="860556" y="40995"/>
                </a:lnTo>
                <a:lnTo>
                  <a:pt x="909674" y="57933"/>
                </a:lnTo>
                <a:lnTo>
                  <a:pt x="955105" y="77356"/>
                </a:lnTo>
                <a:lnTo>
                  <a:pt x="996498" y="99081"/>
                </a:lnTo>
                <a:lnTo>
                  <a:pt x="1033506" y="122925"/>
                </a:lnTo>
                <a:lnTo>
                  <a:pt x="1065779" y="148704"/>
                </a:lnTo>
                <a:lnTo>
                  <a:pt x="1092967" y="176236"/>
                </a:lnTo>
                <a:lnTo>
                  <a:pt x="1130692" y="235821"/>
                </a:lnTo>
                <a:lnTo>
                  <a:pt x="1143888" y="300215"/>
                </a:lnTo>
                <a:lnTo>
                  <a:pt x="1140531" y="332918"/>
                </a:lnTo>
                <a:lnTo>
                  <a:pt x="1114721" y="395081"/>
                </a:lnTo>
                <a:lnTo>
                  <a:pt x="1065779" y="451700"/>
                </a:lnTo>
                <a:lnTo>
                  <a:pt x="1033506" y="477472"/>
                </a:lnTo>
                <a:lnTo>
                  <a:pt x="996498" y="501309"/>
                </a:lnTo>
                <a:lnTo>
                  <a:pt x="955105" y="523027"/>
                </a:lnTo>
                <a:lnTo>
                  <a:pt x="909674" y="542444"/>
                </a:lnTo>
                <a:lnTo>
                  <a:pt x="860556" y="559376"/>
                </a:lnTo>
                <a:lnTo>
                  <a:pt x="808100" y="573640"/>
                </a:lnTo>
                <a:lnTo>
                  <a:pt x="752655" y="585052"/>
                </a:lnTo>
                <a:lnTo>
                  <a:pt x="694571" y="593431"/>
                </a:lnTo>
                <a:lnTo>
                  <a:pt x="634196" y="598593"/>
                </a:lnTo>
                <a:lnTo>
                  <a:pt x="571880" y="600354"/>
                </a:lnTo>
                <a:lnTo>
                  <a:pt x="509566" y="598593"/>
                </a:lnTo>
                <a:lnTo>
                  <a:pt x="449196" y="593431"/>
                </a:lnTo>
                <a:lnTo>
                  <a:pt x="391119" y="585052"/>
                </a:lnTo>
                <a:lnTo>
                  <a:pt x="335683" y="573640"/>
                </a:lnTo>
                <a:lnTo>
                  <a:pt x="283238" y="559376"/>
                </a:lnTo>
                <a:lnTo>
                  <a:pt x="234132" y="542444"/>
                </a:lnTo>
                <a:lnTo>
                  <a:pt x="188714" y="523027"/>
                </a:lnTo>
                <a:lnTo>
                  <a:pt x="147332" y="501309"/>
                </a:lnTo>
                <a:lnTo>
                  <a:pt x="110337" y="477472"/>
                </a:lnTo>
                <a:lnTo>
                  <a:pt x="78076" y="451700"/>
                </a:lnTo>
                <a:lnTo>
                  <a:pt x="50899" y="424175"/>
                </a:lnTo>
                <a:lnTo>
                  <a:pt x="13189" y="364601"/>
                </a:lnTo>
                <a:lnTo>
                  <a:pt x="0" y="300215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389368" y="5627116"/>
            <a:ext cx="56769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-155" dirty="0">
                <a:latin typeface="Calibri"/>
                <a:cs typeface="Calibri"/>
              </a:rPr>
              <a:t>Y</a:t>
            </a:r>
            <a:r>
              <a:rPr sz="2000" dirty="0">
                <a:latin typeface="Calibri"/>
                <a:cs typeface="Calibri"/>
              </a:rPr>
              <a:t>ear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139816" y="5793778"/>
            <a:ext cx="331470" cy="1270"/>
          </a:xfrm>
          <a:custGeom>
            <a:avLst/>
            <a:gdLst/>
            <a:ahLst/>
            <a:cxnLst/>
            <a:rect l="l" t="t" r="r" b="b"/>
            <a:pathLst>
              <a:path w="331470" h="1270">
                <a:moveTo>
                  <a:pt x="331470" y="965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83630" y="5136134"/>
            <a:ext cx="191770" cy="288290"/>
          </a:xfrm>
          <a:custGeom>
            <a:avLst/>
            <a:gdLst/>
            <a:ahLst/>
            <a:cxnLst/>
            <a:rect l="l" t="t" r="r" b="b"/>
            <a:pathLst>
              <a:path w="191770" h="288289">
                <a:moveTo>
                  <a:pt x="0" y="0"/>
                </a:moveTo>
                <a:lnTo>
                  <a:pt x="191389" y="288036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47028" y="5136134"/>
            <a:ext cx="163830" cy="288290"/>
          </a:xfrm>
          <a:custGeom>
            <a:avLst/>
            <a:gdLst/>
            <a:ahLst/>
            <a:cxnLst/>
            <a:rect l="l" t="t" r="r" b="b"/>
            <a:pathLst>
              <a:path w="163829" h="288289">
                <a:moveTo>
                  <a:pt x="163449" y="0"/>
                </a:moveTo>
                <a:lnTo>
                  <a:pt x="0" y="288036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768210" y="5794616"/>
            <a:ext cx="332740" cy="635"/>
          </a:xfrm>
          <a:custGeom>
            <a:avLst/>
            <a:gdLst/>
            <a:ahLst/>
            <a:cxnLst/>
            <a:rect l="l" t="t" r="r" b="b"/>
            <a:pathLst>
              <a:path w="332740" h="635">
                <a:moveTo>
                  <a:pt x="0" y="126"/>
                </a:moveTo>
                <a:lnTo>
                  <a:pt x="33235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6804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83510">
              <a:lnSpc>
                <a:spcPct val="100000"/>
              </a:lnSpc>
            </a:pPr>
            <a:r>
              <a:rPr spc="-5" dirty="0"/>
              <a:t>E</a:t>
            </a:r>
            <a:r>
              <a:rPr spc="-85" dirty="0"/>
              <a:t>x</a:t>
            </a:r>
            <a:r>
              <a:rPr dirty="0"/>
              <a:t>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25906" y="1604517"/>
            <a:ext cx="1089660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latin typeface="Courier New"/>
                <a:cs typeface="Courier New"/>
              </a:rPr>
              <a:t>TA</a:t>
            </a:r>
            <a:r>
              <a:rPr sz="2800" b="1" spc="-20" dirty="0">
                <a:latin typeface="Courier New"/>
                <a:cs typeface="Courier New"/>
              </a:rPr>
              <a:t>B</a:t>
            </a:r>
            <a:r>
              <a:rPr sz="2800" b="1" spc="-10" dirty="0">
                <a:latin typeface="Courier New"/>
                <a:cs typeface="Courier New"/>
              </a:rPr>
              <a:t>LE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604517"/>
            <a:ext cx="1302385" cy="975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latin typeface="Courier New"/>
                <a:cs typeface="Courier New"/>
              </a:rPr>
              <a:t>CREA</a:t>
            </a:r>
            <a:r>
              <a:rPr sz="2800" b="1" spc="-20" dirty="0">
                <a:latin typeface="Courier New"/>
                <a:cs typeface="Courier New"/>
              </a:rPr>
              <a:t>T</a:t>
            </a:r>
            <a:r>
              <a:rPr sz="2800" b="1" spc="-5" dirty="0">
                <a:latin typeface="Courier New"/>
                <a:cs typeface="Courier New"/>
              </a:rPr>
              <a:t>E</a:t>
            </a:r>
            <a:endParaRPr sz="2800">
              <a:latin typeface="Courier New"/>
              <a:cs typeface="Courier New"/>
            </a:endParaRPr>
          </a:p>
          <a:p>
            <a:pPr marL="439420">
              <a:lnSpc>
                <a:spcPct val="100000"/>
              </a:lnSpc>
              <a:spcBef>
                <a:spcPts val="675"/>
              </a:spcBef>
            </a:pPr>
            <a:r>
              <a:rPr sz="2800" b="1" spc="-10" dirty="0">
                <a:latin typeface="Courier New"/>
                <a:cs typeface="Courier New"/>
              </a:rPr>
              <a:t>sID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13305" y="2116963"/>
            <a:ext cx="151447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latin typeface="Courier New"/>
                <a:cs typeface="Courier New"/>
              </a:rPr>
              <a:t>INT</a:t>
            </a:r>
            <a:r>
              <a:rPr sz="2800" b="1" spc="-100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NOT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02817" y="1604517"/>
            <a:ext cx="1939925" cy="975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latin typeface="Courier New"/>
                <a:cs typeface="Courier New"/>
              </a:rPr>
              <a:t>Student</a:t>
            </a:r>
            <a:r>
              <a:rPr sz="2800" b="1" spc="-100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(</a:t>
            </a:r>
            <a:endParaRPr sz="2800">
              <a:latin typeface="Courier New"/>
              <a:cs typeface="Courier New"/>
            </a:endParaRPr>
          </a:p>
          <a:p>
            <a:pPr marL="223520">
              <a:lnSpc>
                <a:spcPct val="100000"/>
              </a:lnSpc>
              <a:spcBef>
                <a:spcPts val="675"/>
              </a:spcBef>
            </a:pPr>
            <a:r>
              <a:rPr sz="2800" b="1" spc="-10" dirty="0">
                <a:latin typeface="Courier New"/>
                <a:cs typeface="Courier New"/>
              </a:rPr>
              <a:t>NULL,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2964" y="2629027"/>
            <a:ext cx="1089660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5" dirty="0">
                <a:latin typeface="Courier New"/>
                <a:cs typeface="Courier New"/>
              </a:rPr>
              <a:t>s</a:t>
            </a:r>
            <a:r>
              <a:rPr sz="2800" b="1" spc="-10" dirty="0">
                <a:latin typeface="Courier New"/>
                <a:cs typeface="Courier New"/>
              </a:rPr>
              <a:t>Name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38501" y="2629027"/>
            <a:ext cx="321627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latin typeface="Courier New"/>
                <a:cs typeface="Courier New"/>
              </a:rPr>
              <a:t>VARCHAR(50)</a:t>
            </a:r>
            <a:r>
              <a:rPr sz="2800" b="1" spc="-80" dirty="0">
                <a:latin typeface="Courier New"/>
                <a:cs typeface="Courier New"/>
              </a:rPr>
              <a:t> </a:t>
            </a:r>
            <a:r>
              <a:rPr sz="2800" b="1" spc="-15" dirty="0">
                <a:latin typeface="Courier New"/>
                <a:cs typeface="Courier New"/>
              </a:rPr>
              <a:t>NOT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2414" y="2629027"/>
            <a:ext cx="1089660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latin typeface="Courier New"/>
                <a:cs typeface="Courier New"/>
              </a:rPr>
              <a:t>N</a:t>
            </a:r>
            <a:r>
              <a:rPr sz="2800" b="1" spc="-20" dirty="0">
                <a:latin typeface="Courier New"/>
                <a:cs typeface="Courier New"/>
              </a:rPr>
              <a:t>U</a:t>
            </a:r>
            <a:r>
              <a:rPr sz="2800" b="1" spc="-10" dirty="0">
                <a:latin typeface="Courier New"/>
                <a:cs typeface="Courier New"/>
              </a:rPr>
              <a:t>LL,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2964" y="3141090"/>
            <a:ext cx="1727200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5" dirty="0">
                <a:latin typeface="Courier New"/>
                <a:cs typeface="Courier New"/>
              </a:rPr>
              <a:t>s</a:t>
            </a:r>
            <a:r>
              <a:rPr sz="2800" b="1" spc="-10" dirty="0">
                <a:latin typeface="Courier New"/>
                <a:cs typeface="Courier New"/>
              </a:rPr>
              <a:t>Add</a:t>
            </a:r>
            <a:r>
              <a:rPr sz="2800" b="1" spc="-20" dirty="0">
                <a:latin typeface="Courier New"/>
                <a:cs typeface="Courier New"/>
              </a:rPr>
              <a:t>r</a:t>
            </a:r>
            <a:r>
              <a:rPr sz="2800" b="1" spc="-10" dirty="0">
                <a:latin typeface="Courier New"/>
                <a:cs typeface="Courier New"/>
              </a:rPr>
              <a:t>ess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2964" y="3653408"/>
            <a:ext cx="1939289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latin typeface="Courier New"/>
                <a:cs typeface="Courier New"/>
              </a:rPr>
              <a:t>sYear</a:t>
            </a:r>
            <a:r>
              <a:rPr sz="2800" b="1" spc="-100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INT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77439" y="3141090"/>
            <a:ext cx="2791460" cy="975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latin typeface="Courier New"/>
                <a:cs typeface="Courier New"/>
              </a:rPr>
              <a:t>VARCHAR(255),</a:t>
            </a:r>
            <a:endParaRPr sz="2800">
              <a:latin typeface="Courier New"/>
              <a:cs typeface="Courier New"/>
            </a:endParaRPr>
          </a:p>
          <a:p>
            <a:pPr marL="223520">
              <a:lnSpc>
                <a:spcPct val="100000"/>
              </a:lnSpc>
              <a:spcBef>
                <a:spcPts val="675"/>
              </a:spcBef>
            </a:pPr>
            <a:r>
              <a:rPr sz="2800" b="1" spc="-10" dirty="0">
                <a:latin typeface="Courier New"/>
                <a:cs typeface="Courier New"/>
              </a:rPr>
              <a:t>DEFAULT</a:t>
            </a:r>
            <a:r>
              <a:rPr sz="2800" b="1" spc="-9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1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5940" y="4165472"/>
            <a:ext cx="45275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);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71286" y="5424170"/>
            <a:ext cx="1297305" cy="741680"/>
          </a:xfrm>
          <a:custGeom>
            <a:avLst/>
            <a:gdLst/>
            <a:ahLst/>
            <a:cxnLst/>
            <a:rect l="l" t="t" r="r" b="b"/>
            <a:pathLst>
              <a:path w="1297304" h="741679">
                <a:moveTo>
                  <a:pt x="0" y="123570"/>
                </a:moveTo>
                <a:lnTo>
                  <a:pt x="9717" y="75491"/>
                </a:lnTo>
                <a:lnTo>
                  <a:pt x="36210" y="36210"/>
                </a:lnTo>
                <a:lnTo>
                  <a:pt x="75491" y="9717"/>
                </a:lnTo>
                <a:lnTo>
                  <a:pt x="123571" y="0"/>
                </a:lnTo>
                <a:lnTo>
                  <a:pt x="1173353" y="0"/>
                </a:lnTo>
                <a:lnTo>
                  <a:pt x="1221432" y="9717"/>
                </a:lnTo>
                <a:lnTo>
                  <a:pt x="1260713" y="36210"/>
                </a:lnTo>
                <a:lnTo>
                  <a:pt x="1287206" y="75491"/>
                </a:lnTo>
                <a:lnTo>
                  <a:pt x="1296923" y="123570"/>
                </a:lnTo>
                <a:lnTo>
                  <a:pt x="1296923" y="617613"/>
                </a:lnTo>
                <a:lnTo>
                  <a:pt x="1287206" y="665690"/>
                </a:lnTo>
                <a:lnTo>
                  <a:pt x="1260713" y="704953"/>
                </a:lnTo>
                <a:lnTo>
                  <a:pt x="1221432" y="731426"/>
                </a:lnTo>
                <a:lnTo>
                  <a:pt x="1173353" y="741133"/>
                </a:lnTo>
                <a:lnTo>
                  <a:pt x="123571" y="741133"/>
                </a:lnTo>
                <a:lnTo>
                  <a:pt x="75491" y="731426"/>
                </a:lnTo>
                <a:lnTo>
                  <a:pt x="36210" y="704953"/>
                </a:lnTo>
                <a:lnTo>
                  <a:pt x="9717" y="665690"/>
                </a:lnTo>
                <a:lnTo>
                  <a:pt x="0" y="617613"/>
                </a:lnTo>
                <a:lnTo>
                  <a:pt x="0" y="1235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700140" y="5627116"/>
            <a:ext cx="83883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St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-20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67809" y="4623815"/>
            <a:ext cx="1307465" cy="600710"/>
          </a:xfrm>
          <a:custGeom>
            <a:avLst/>
            <a:gdLst/>
            <a:ahLst/>
            <a:cxnLst/>
            <a:rect l="l" t="t" r="r" b="b"/>
            <a:pathLst>
              <a:path w="1307464" h="600710">
                <a:moveTo>
                  <a:pt x="0" y="300100"/>
                </a:moveTo>
                <a:lnTo>
                  <a:pt x="11784" y="243076"/>
                </a:lnTo>
                <a:lnTo>
                  <a:pt x="45679" y="189663"/>
                </a:lnTo>
                <a:lnTo>
                  <a:pt x="99493" y="140867"/>
                </a:lnTo>
                <a:lnTo>
                  <a:pt x="133185" y="118516"/>
                </a:lnTo>
                <a:lnTo>
                  <a:pt x="171037" y="97696"/>
                </a:lnTo>
                <a:lnTo>
                  <a:pt x="212773" y="78533"/>
                </a:lnTo>
                <a:lnTo>
                  <a:pt x="258120" y="61154"/>
                </a:lnTo>
                <a:lnTo>
                  <a:pt x="306805" y="45684"/>
                </a:lnTo>
                <a:lnTo>
                  <a:pt x="358553" y="32249"/>
                </a:lnTo>
                <a:lnTo>
                  <a:pt x="413091" y="20975"/>
                </a:lnTo>
                <a:lnTo>
                  <a:pt x="470146" y="11987"/>
                </a:lnTo>
                <a:lnTo>
                  <a:pt x="529443" y="5411"/>
                </a:lnTo>
                <a:lnTo>
                  <a:pt x="590708" y="1373"/>
                </a:lnTo>
                <a:lnTo>
                  <a:pt x="653668" y="0"/>
                </a:lnTo>
                <a:lnTo>
                  <a:pt x="716608" y="1373"/>
                </a:lnTo>
                <a:lnTo>
                  <a:pt x="777855" y="5411"/>
                </a:lnTo>
                <a:lnTo>
                  <a:pt x="837135" y="11987"/>
                </a:lnTo>
                <a:lnTo>
                  <a:pt x="894176" y="20975"/>
                </a:lnTo>
                <a:lnTo>
                  <a:pt x="948702" y="32249"/>
                </a:lnTo>
                <a:lnTo>
                  <a:pt x="1000440" y="45684"/>
                </a:lnTo>
                <a:lnTo>
                  <a:pt x="1049116" y="61154"/>
                </a:lnTo>
                <a:lnTo>
                  <a:pt x="1094456" y="78533"/>
                </a:lnTo>
                <a:lnTo>
                  <a:pt x="1136187" y="97696"/>
                </a:lnTo>
                <a:lnTo>
                  <a:pt x="1174033" y="118516"/>
                </a:lnTo>
                <a:lnTo>
                  <a:pt x="1207723" y="140867"/>
                </a:lnTo>
                <a:lnTo>
                  <a:pt x="1261533" y="189663"/>
                </a:lnTo>
                <a:lnTo>
                  <a:pt x="1295426" y="243076"/>
                </a:lnTo>
                <a:lnTo>
                  <a:pt x="1307211" y="300100"/>
                </a:lnTo>
                <a:lnTo>
                  <a:pt x="1304219" y="329003"/>
                </a:lnTo>
                <a:lnTo>
                  <a:pt x="1281106" y="384356"/>
                </a:lnTo>
                <a:lnTo>
                  <a:pt x="1236981" y="435602"/>
                </a:lnTo>
                <a:lnTo>
                  <a:pt x="1174033" y="481732"/>
                </a:lnTo>
                <a:lnTo>
                  <a:pt x="1136187" y="502563"/>
                </a:lnTo>
                <a:lnTo>
                  <a:pt x="1094456" y="521737"/>
                </a:lnTo>
                <a:lnTo>
                  <a:pt x="1049116" y="539127"/>
                </a:lnTo>
                <a:lnTo>
                  <a:pt x="1000440" y="554608"/>
                </a:lnTo>
                <a:lnTo>
                  <a:pt x="948702" y="568052"/>
                </a:lnTo>
                <a:lnTo>
                  <a:pt x="894176" y="579336"/>
                </a:lnTo>
                <a:lnTo>
                  <a:pt x="837135" y="588331"/>
                </a:lnTo>
                <a:lnTo>
                  <a:pt x="777855" y="594912"/>
                </a:lnTo>
                <a:lnTo>
                  <a:pt x="716608" y="598953"/>
                </a:lnTo>
                <a:lnTo>
                  <a:pt x="653668" y="600328"/>
                </a:lnTo>
                <a:lnTo>
                  <a:pt x="590708" y="598953"/>
                </a:lnTo>
                <a:lnTo>
                  <a:pt x="529443" y="594912"/>
                </a:lnTo>
                <a:lnTo>
                  <a:pt x="470146" y="588331"/>
                </a:lnTo>
                <a:lnTo>
                  <a:pt x="413091" y="579336"/>
                </a:lnTo>
                <a:lnTo>
                  <a:pt x="358553" y="568052"/>
                </a:lnTo>
                <a:lnTo>
                  <a:pt x="306805" y="554608"/>
                </a:lnTo>
                <a:lnTo>
                  <a:pt x="258120" y="539127"/>
                </a:lnTo>
                <a:lnTo>
                  <a:pt x="212773" y="521737"/>
                </a:lnTo>
                <a:lnTo>
                  <a:pt x="171037" y="502563"/>
                </a:lnTo>
                <a:lnTo>
                  <a:pt x="133185" y="481732"/>
                </a:lnTo>
                <a:lnTo>
                  <a:pt x="99493" y="459370"/>
                </a:lnTo>
                <a:lnTo>
                  <a:pt x="45679" y="410556"/>
                </a:lnTo>
                <a:lnTo>
                  <a:pt x="11784" y="357130"/>
                </a:lnTo>
                <a:lnTo>
                  <a:pt x="0" y="3001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852542" y="4756277"/>
            <a:ext cx="74041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sNa</a:t>
            </a:r>
            <a:r>
              <a:rPr sz="2000" spc="-10" dirty="0">
                <a:latin typeface="Calibri"/>
                <a:cs typeface="Calibri"/>
              </a:rPr>
              <a:t>m</a:t>
            </a:r>
            <a:r>
              <a:rPr sz="2000" dirty="0">
                <a:latin typeface="Calibri"/>
                <a:cs typeface="Calibri"/>
              </a:rPr>
              <a:t>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95928" y="5493639"/>
            <a:ext cx="1144270" cy="600710"/>
          </a:xfrm>
          <a:custGeom>
            <a:avLst/>
            <a:gdLst/>
            <a:ahLst/>
            <a:cxnLst/>
            <a:rect l="l" t="t" r="r" b="b"/>
            <a:pathLst>
              <a:path w="1144270" h="600710">
                <a:moveTo>
                  <a:pt x="0" y="300139"/>
                </a:moveTo>
                <a:lnTo>
                  <a:pt x="13189" y="235748"/>
                </a:lnTo>
                <a:lnTo>
                  <a:pt x="50899" y="176173"/>
                </a:lnTo>
                <a:lnTo>
                  <a:pt x="78076" y="148648"/>
                </a:lnTo>
                <a:lnTo>
                  <a:pt x="110337" y="122876"/>
                </a:lnTo>
                <a:lnTo>
                  <a:pt x="147332" y="99039"/>
                </a:lnTo>
                <a:lnTo>
                  <a:pt x="188714" y="77322"/>
                </a:lnTo>
                <a:lnTo>
                  <a:pt x="234132" y="57906"/>
                </a:lnTo>
                <a:lnTo>
                  <a:pt x="283238" y="40975"/>
                </a:lnTo>
                <a:lnTo>
                  <a:pt x="335683" y="26712"/>
                </a:lnTo>
                <a:lnTo>
                  <a:pt x="391119" y="15300"/>
                </a:lnTo>
                <a:lnTo>
                  <a:pt x="449196" y="6922"/>
                </a:lnTo>
                <a:lnTo>
                  <a:pt x="509566" y="1761"/>
                </a:lnTo>
                <a:lnTo>
                  <a:pt x="571881" y="0"/>
                </a:lnTo>
                <a:lnTo>
                  <a:pt x="634196" y="1761"/>
                </a:lnTo>
                <a:lnTo>
                  <a:pt x="694571" y="6922"/>
                </a:lnTo>
                <a:lnTo>
                  <a:pt x="752655" y="15300"/>
                </a:lnTo>
                <a:lnTo>
                  <a:pt x="808100" y="26712"/>
                </a:lnTo>
                <a:lnTo>
                  <a:pt x="860556" y="40975"/>
                </a:lnTo>
                <a:lnTo>
                  <a:pt x="909674" y="57906"/>
                </a:lnTo>
                <a:lnTo>
                  <a:pt x="955105" y="77322"/>
                </a:lnTo>
                <a:lnTo>
                  <a:pt x="996498" y="99039"/>
                </a:lnTo>
                <a:lnTo>
                  <a:pt x="1033506" y="122876"/>
                </a:lnTo>
                <a:lnTo>
                  <a:pt x="1065779" y="148648"/>
                </a:lnTo>
                <a:lnTo>
                  <a:pt x="1092967" y="176173"/>
                </a:lnTo>
                <a:lnTo>
                  <a:pt x="1130692" y="235748"/>
                </a:lnTo>
                <a:lnTo>
                  <a:pt x="1143889" y="300139"/>
                </a:lnTo>
                <a:lnTo>
                  <a:pt x="1140531" y="332842"/>
                </a:lnTo>
                <a:lnTo>
                  <a:pt x="1114721" y="395006"/>
                </a:lnTo>
                <a:lnTo>
                  <a:pt x="1065779" y="451627"/>
                </a:lnTo>
                <a:lnTo>
                  <a:pt x="1033506" y="477401"/>
                </a:lnTo>
                <a:lnTo>
                  <a:pt x="996498" y="501239"/>
                </a:lnTo>
                <a:lnTo>
                  <a:pt x="955105" y="522958"/>
                </a:lnTo>
                <a:lnTo>
                  <a:pt x="909674" y="542376"/>
                </a:lnTo>
                <a:lnTo>
                  <a:pt x="860556" y="559309"/>
                </a:lnTo>
                <a:lnTo>
                  <a:pt x="808100" y="573574"/>
                </a:lnTo>
                <a:lnTo>
                  <a:pt x="752655" y="584988"/>
                </a:lnTo>
                <a:lnTo>
                  <a:pt x="694571" y="593367"/>
                </a:lnTo>
                <a:lnTo>
                  <a:pt x="634196" y="598529"/>
                </a:lnTo>
                <a:lnTo>
                  <a:pt x="571881" y="600290"/>
                </a:lnTo>
                <a:lnTo>
                  <a:pt x="509566" y="598529"/>
                </a:lnTo>
                <a:lnTo>
                  <a:pt x="449196" y="593367"/>
                </a:lnTo>
                <a:lnTo>
                  <a:pt x="391119" y="584988"/>
                </a:lnTo>
                <a:lnTo>
                  <a:pt x="335683" y="573574"/>
                </a:lnTo>
                <a:lnTo>
                  <a:pt x="283238" y="559309"/>
                </a:lnTo>
                <a:lnTo>
                  <a:pt x="234132" y="542376"/>
                </a:lnTo>
                <a:lnTo>
                  <a:pt x="188714" y="522958"/>
                </a:lnTo>
                <a:lnTo>
                  <a:pt x="147332" y="501239"/>
                </a:lnTo>
                <a:lnTo>
                  <a:pt x="110337" y="477401"/>
                </a:lnTo>
                <a:lnTo>
                  <a:pt x="78076" y="451627"/>
                </a:lnTo>
                <a:lnTo>
                  <a:pt x="50899" y="424101"/>
                </a:lnTo>
                <a:lnTo>
                  <a:pt x="13189" y="364526"/>
                </a:lnTo>
                <a:lnTo>
                  <a:pt x="0" y="30013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395596" y="5626201"/>
            <a:ext cx="34607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u="heavy" spc="-5" dirty="0">
                <a:latin typeface="Calibri"/>
                <a:cs typeface="Calibri"/>
              </a:rPr>
              <a:t>sID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372225" y="4623815"/>
            <a:ext cx="1627505" cy="600710"/>
          </a:xfrm>
          <a:custGeom>
            <a:avLst/>
            <a:gdLst/>
            <a:ahLst/>
            <a:cxnLst/>
            <a:rect l="l" t="t" r="r" b="b"/>
            <a:pathLst>
              <a:path w="1627504" h="600710">
                <a:moveTo>
                  <a:pt x="0" y="300100"/>
                </a:moveTo>
                <a:lnTo>
                  <a:pt x="10647" y="251424"/>
                </a:lnTo>
                <a:lnTo>
                  <a:pt x="41475" y="205248"/>
                </a:lnTo>
                <a:lnTo>
                  <a:pt x="90806" y="162190"/>
                </a:lnTo>
                <a:lnTo>
                  <a:pt x="156967" y="122867"/>
                </a:lnTo>
                <a:lnTo>
                  <a:pt x="195836" y="104801"/>
                </a:lnTo>
                <a:lnTo>
                  <a:pt x="238283" y="87899"/>
                </a:lnTo>
                <a:lnTo>
                  <a:pt x="284101" y="72241"/>
                </a:lnTo>
                <a:lnTo>
                  <a:pt x="333079" y="57903"/>
                </a:lnTo>
                <a:lnTo>
                  <a:pt x="385008" y="44963"/>
                </a:lnTo>
                <a:lnTo>
                  <a:pt x="439679" y="33497"/>
                </a:lnTo>
                <a:lnTo>
                  <a:pt x="496883" y="23584"/>
                </a:lnTo>
                <a:lnTo>
                  <a:pt x="556410" y="15299"/>
                </a:lnTo>
                <a:lnTo>
                  <a:pt x="618050" y="8722"/>
                </a:lnTo>
                <a:lnTo>
                  <a:pt x="681596" y="3927"/>
                </a:lnTo>
                <a:lnTo>
                  <a:pt x="746836" y="994"/>
                </a:lnTo>
                <a:lnTo>
                  <a:pt x="813561" y="0"/>
                </a:lnTo>
                <a:lnTo>
                  <a:pt x="880287" y="994"/>
                </a:lnTo>
                <a:lnTo>
                  <a:pt x="945527" y="3927"/>
                </a:lnTo>
                <a:lnTo>
                  <a:pt x="1009073" y="8722"/>
                </a:lnTo>
                <a:lnTo>
                  <a:pt x="1070713" y="15299"/>
                </a:lnTo>
                <a:lnTo>
                  <a:pt x="1130240" y="23584"/>
                </a:lnTo>
                <a:lnTo>
                  <a:pt x="1187444" y="33497"/>
                </a:lnTo>
                <a:lnTo>
                  <a:pt x="1242115" y="44963"/>
                </a:lnTo>
                <a:lnTo>
                  <a:pt x="1294044" y="57903"/>
                </a:lnTo>
                <a:lnTo>
                  <a:pt x="1343022" y="72241"/>
                </a:lnTo>
                <a:lnTo>
                  <a:pt x="1388840" y="87899"/>
                </a:lnTo>
                <a:lnTo>
                  <a:pt x="1431287" y="104801"/>
                </a:lnTo>
                <a:lnTo>
                  <a:pt x="1470156" y="122867"/>
                </a:lnTo>
                <a:lnTo>
                  <a:pt x="1505235" y="142023"/>
                </a:lnTo>
                <a:lnTo>
                  <a:pt x="1563191" y="183290"/>
                </a:lnTo>
                <a:lnTo>
                  <a:pt x="1603480" y="227985"/>
                </a:lnTo>
                <a:lnTo>
                  <a:pt x="1624427" y="275488"/>
                </a:lnTo>
                <a:lnTo>
                  <a:pt x="1627124" y="300100"/>
                </a:lnTo>
                <a:lnTo>
                  <a:pt x="1624427" y="324714"/>
                </a:lnTo>
                <a:lnTo>
                  <a:pt x="1603480" y="372224"/>
                </a:lnTo>
                <a:lnTo>
                  <a:pt x="1563191" y="416931"/>
                </a:lnTo>
                <a:lnTo>
                  <a:pt x="1505235" y="458214"/>
                </a:lnTo>
                <a:lnTo>
                  <a:pt x="1470156" y="477378"/>
                </a:lnTo>
                <a:lnTo>
                  <a:pt x="1431287" y="495454"/>
                </a:lnTo>
                <a:lnTo>
                  <a:pt x="1388840" y="512365"/>
                </a:lnTo>
                <a:lnTo>
                  <a:pt x="1343022" y="528033"/>
                </a:lnTo>
                <a:lnTo>
                  <a:pt x="1294044" y="542380"/>
                </a:lnTo>
                <a:lnTo>
                  <a:pt x="1242115" y="555329"/>
                </a:lnTo>
                <a:lnTo>
                  <a:pt x="1187444" y="566803"/>
                </a:lnTo>
                <a:lnTo>
                  <a:pt x="1130240" y="576724"/>
                </a:lnTo>
                <a:lnTo>
                  <a:pt x="1070713" y="585015"/>
                </a:lnTo>
                <a:lnTo>
                  <a:pt x="1009073" y="591599"/>
                </a:lnTo>
                <a:lnTo>
                  <a:pt x="945527" y="596397"/>
                </a:lnTo>
                <a:lnTo>
                  <a:pt x="880287" y="599333"/>
                </a:lnTo>
                <a:lnTo>
                  <a:pt x="813561" y="600328"/>
                </a:lnTo>
                <a:lnTo>
                  <a:pt x="746836" y="599333"/>
                </a:lnTo>
                <a:lnTo>
                  <a:pt x="681596" y="596397"/>
                </a:lnTo>
                <a:lnTo>
                  <a:pt x="618050" y="591599"/>
                </a:lnTo>
                <a:lnTo>
                  <a:pt x="556410" y="585015"/>
                </a:lnTo>
                <a:lnTo>
                  <a:pt x="496883" y="576724"/>
                </a:lnTo>
                <a:lnTo>
                  <a:pt x="439679" y="566803"/>
                </a:lnTo>
                <a:lnTo>
                  <a:pt x="385008" y="555329"/>
                </a:lnTo>
                <a:lnTo>
                  <a:pt x="333079" y="542380"/>
                </a:lnTo>
                <a:lnTo>
                  <a:pt x="284101" y="528033"/>
                </a:lnTo>
                <a:lnTo>
                  <a:pt x="238283" y="512365"/>
                </a:lnTo>
                <a:lnTo>
                  <a:pt x="195836" y="495454"/>
                </a:lnTo>
                <a:lnTo>
                  <a:pt x="156967" y="477378"/>
                </a:lnTo>
                <a:lnTo>
                  <a:pt x="121888" y="458214"/>
                </a:lnTo>
                <a:lnTo>
                  <a:pt x="63932" y="416931"/>
                </a:lnTo>
                <a:lnTo>
                  <a:pt x="23643" y="372224"/>
                </a:lnTo>
                <a:lnTo>
                  <a:pt x="2696" y="324714"/>
                </a:lnTo>
                <a:lnTo>
                  <a:pt x="0" y="3001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712077" y="4756277"/>
            <a:ext cx="95186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sAd</a:t>
            </a:r>
            <a:r>
              <a:rPr sz="2000" spc="5" dirty="0">
                <a:latin typeface="Calibri"/>
                <a:cs typeface="Calibri"/>
              </a:rPr>
              <a:t>d</a:t>
            </a:r>
            <a:r>
              <a:rPr sz="2000" spc="-3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ess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100569" y="5494401"/>
            <a:ext cx="1144270" cy="600710"/>
          </a:xfrm>
          <a:custGeom>
            <a:avLst/>
            <a:gdLst/>
            <a:ahLst/>
            <a:cxnLst/>
            <a:rect l="l" t="t" r="r" b="b"/>
            <a:pathLst>
              <a:path w="1144270" h="600710">
                <a:moveTo>
                  <a:pt x="0" y="300215"/>
                </a:moveTo>
                <a:lnTo>
                  <a:pt x="13189" y="235821"/>
                </a:lnTo>
                <a:lnTo>
                  <a:pt x="50899" y="176236"/>
                </a:lnTo>
                <a:lnTo>
                  <a:pt x="78076" y="148704"/>
                </a:lnTo>
                <a:lnTo>
                  <a:pt x="110337" y="122925"/>
                </a:lnTo>
                <a:lnTo>
                  <a:pt x="147332" y="99081"/>
                </a:lnTo>
                <a:lnTo>
                  <a:pt x="188714" y="77356"/>
                </a:lnTo>
                <a:lnTo>
                  <a:pt x="234132" y="57933"/>
                </a:lnTo>
                <a:lnTo>
                  <a:pt x="283238" y="40995"/>
                </a:lnTo>
                <a:lnTo>
                  <a:pt x="335683" y="26725"/>
                </a:lnTo>
                <a:lnTo>
                  <a:pt x="391119" y="15308"/>
                </a:lnTo>
                <a:lnTo>
                  <a:pt x="449196" y="6925"/>
                </a:lnTo>
                <a:lnTo>
                  <a:pt x="509566" y="1762"/>
                </a:lnTo>
                <a:lnTo>
                  <a:pt x="571880" y="0"/>
                </a:lnTo>
                <a:lnTo>
                  <a:pt x="634196" y="1762"/>
                </a:lnTo>
                <a:lnTo>
                  <a:pt x="694571" y="6925"/>
                </a:lnTo>
                <a:lnTo>
                  <a:pt x="752655" y="15308"/>
                </a:lnTo>
                <a:lnTo>
                  <a:pt x="808100" y="26725"/>
                </a:lnTo>
                <a:lnTo>
                  <a:pt x="860556" y="40995"/>
                </a:lnTo>
                <a:lnTo>
                  <a:pt x="909674" y="57933"/>
                </a:lnTo>
                <a:lnTo>
                  <a:pt x="955105" y="77356"/>
                </a:lnTo>
                <a:lnTo>
                  <a:pt x="996498" y="99081"/>
                </a:lnTo>
                <a:lnTo>
                  <a:pt x="1033506" y="122925"/>
                </a:lnTo>
                <a:lnTo>
                  <a:pt x="1065779" y="148704"/>
                </a:lnTo>
                <a:lnTo>
                  <a:pt x="1092967" y="176236"/>
                </a:lnTo>
                <a:lnTo>
                  <a:pt x="1130692" y="235821"/>
                </a:lnTo>
                <a:lnTo>
                  <a:pt x="1143888" y="300215"/>
                </a:lnTo>
                <a:lnTo>
                  <a:pt x="1140531" y="332918"/>
                </a:lnTo>
                <a:lnTo>
                  <a:pt x="1114721" y="395081"/>
                </a:lnTo>
                <a:lnTo>
                  <a:pt x="1065779" y="451700"/>
                </a:lnTo>
                <a:lnTo>
                  <a:pt x="1033506" y="477472"/>
                </a:lnTo>
                <a:lnTo>
                  <a:pt x="996498" y="501309"/>
                </a:lnTo>
                <a:lnTo>
                  <a:pt x="955105" y="523027"/>
                </a:lnTo>
                <a:lnTo>
                  <a:pt x="909674" y="542444"/>
                </a:lnTo>
                <a:lnTo>
                  <a:pt x="860556" y="559376"/>
                </a:lnTo>
                <a:lnTo>
                  <a:pt x="808100" y="573640"/>
                </a:lnTo>
                <a:lnTo>
                  <a:pt x="752655" y="585052"/>
                </a:lnTo>
                <a:lnTo>
                  <a:pt x="694571" y="593431"/>
                </a:lnTo>
                <a:lnTo>
                  <a:pt x="634196" y="598593"/>
                </a:lnTo>
                <a:lnTo>
                  <a:pt x="571880" y="600354"/>
                </a:lnTo>
                <a:lnTo>
                  <a:pt x="509566" y="598593"/>
                </a:lnTo>
                <a:lnTo>
                  <a:pt x="449196" y="593431"/>
                </a:lnTo>
                <a:lnTo>
                  <a:pt x="391119" y="585052"/>
                </a:lnTo>
                <a:lnTo>
                  <a:pt x="335683" y="573640"/>
                </a:lnTo>
                <a:lnTo>
                  <a:pt x="283238" y="559376"/>
                </a:lnTo>
                <a:lnTo>
                  <a:pt x="234132" y="542444"/>
                </a:lnTo>
                <a:lnTo>
                  <a:pt x="188714" y="523027"/>
                </a:lnTo>
                <a:lnTo>
                  <a:pt x="147332" y="501309"/>
                </a:lnTo>
                <a:lnTo>
                  <a:pt x="110337" y="477472"/>
                </a:lnTo>
                <a:lnTo>
                  <a:pt x="78076" y="451700"/>
                </a:lnTo>
                <a:lnTo>
                  <a:pt x="50899" y="424175"/>
                </a:lnTo>
                <a:lnTo>
                  <a:pt x="13189" y="364601"/>
                </a:lnTo>
                <a:lnTo>
                  <a:pt x="0" y="300215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389368" y="5627116"/>
            <a:ext cx="56769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-155" dirty="0">
                <a:latin typeface="Calibri"/>
                <a:cs typeface="Calibri"/>
              </a:rPr>
              <a:t>Y</a:t>
            </a:r>
            <a:r>
              <a:rPr sz="2000" dirty="0">
                <a:latin typeface="Calibri"/>
                <a:cs typeface="Calibri"/>
              </a:rPr>
              <a:t>ear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139816" y="5793778"/>
            <a:ext cx="331470" cy="1270"/>
          </a:xfrm>
          <a:custGeom>
            <a:avLst/>
            <a:gdLst/>
            <a:ahLst/>
            <a:cxnLst/>
            <a:rect l="l" t="t" r="r" b="b"/>
            <a:pathLst>
              <a:path w="331470" h="1270">
                <a:moveTo>
                  <a:pt x="331470" y="965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683630" y="5136134"/>
            <a:ext cx="191770" cy="288290"/>
          </a:xfrm>
          <a:custGeom>
            <a:avLst/>
            <a:gdLst/>
            <a:ahLst/>
            <a:cxnLst/>
            <a:rect l="l" t="t" r="r" b="b"/>
            <a:pathLst>
              <a:path w="191770" h="288289">
                <a:moveTo>
                  <a:pt x="0" y="0"/>
                </a:moveTo>
                <a:lnTo>
                  <a:pt x="191389" y="288036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447028" y="5136134"/>
            <a:ext cx="163830" cy="288290"/>
          </a:xfrm>
          <a:custGeom>
            <a:avLst/>
            <a:gdLst/>
            <a:ahLst/>
            <a:cxnLst/>
            <a:rect l="l" t="t" r="r" b="b"/>
            <a:pathLst>
              <a:path w="163829" h="288289">
                <a:moveTo>
                  <a:pt x="163449" y="0"/>
                </a:moveTo>
                <a:lnTo>
                  <a:pt x="0" y="288036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768210" y="5794616"/>
            <a:ext cx="332740" cy="635"/>
          </a:xfrm>
          <a:custGeom>
            <a:avLst/>
            <a:gdLst/>
            <a:ahLst/>
            <a:cxnLst/>
            <a:rect l="l" t="t" r="r" b="b"/>
            <a:pathLst>
              <a:path w="332740" h="635">
                <a:moveTo>
                  <a:pt x="0" y="126"/>
                </a:moveTo>
                <a:lnTo>
                  <a:pt x="33235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46092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72565">
              <a:lnSpc>
                <a:spcPct val="100000"/>
              </a:lnSpc>
            </a:pPr>
            <a:r>
              <a:rPr spc="-15" dirty="0"/>
              <a:t>AUTO_INCREMENT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3029"/>
            <a:ext cx="8047355" cy="465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902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dirty="0">
                <a:latin typeface="Calibri"/>
                <a:cs typeface="Calibri"/>
              </a:rPr>
              <a:t>If </a:t>
            </a:r>
            <a:r>
              <a:rPr sz="2600" spc="-15" dirty="0">
                <a:latin typeface="Calibri"/>
                <a:cs typeface="Calibri"/>
              </a:rPr>
              <a:t>you </a:t>
            </a:r>
            <a:r>
              <a:rPr sz="2600" spc="-5" dirty="0">
                <a:latin typeface="Calibri"/>
                <a:cs typeface="Calibri"/>
              </a:rPr>
              <a:t>specify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column </a:t>
            </a:r>
            <a:r>
              <a:rPr sz="2600" dirty="0">
                <a:latin typeface="Calibri"/>
                <a:cs typeface="Calibri"/>
              </a:rPr>
              <a:t>as </a:t>
            </a:r>
            <a:r>
              <a:rPr sz="2200" b="1" spc="-5" dirty="0">
                <a:latin typeface="Courier New"/>
                <a:cs typeface="Courier New"/>
              </a:rPr>
              <a:t>AUTO_INCREMENT</a:t>
            </a:r>
            <a:r>
              <a:rPr sz="2600" spc="-5" dirty="0">
                <a:latin typeface="Calibri"/>
                <a:cs typeface="Calibri"/>
              </a:rPr>
              <a:t>,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value  </a:t>
            </a:r>
            <a:r>
              <a:rPr sz="2600" spc="-5" dirty="0">
                <a:latin typeface="Calibri"/>
                <a:cs typeface="Calibri"/>
              </a:rPr>
              <a:t>(usually </a:t>
            </a:r>
            <a:r>
              <a:rPr sz="2600" spc="-10" dirty="0">
                <a:latin typeface="Calibri"/>
                <a:cs typeface="Calibri"/>
              </a:rPr>
              <a:t>max(col) </a:t>
            </a:r>
            <a:r>
              <a:rPr sz="2600" dirty="0">
                <a:latin typeface="Calibri"/>
                <a:cs typeface="Calibri"/>
              </a:rPr>
              <a:t>+ 1) is </a:t>
            </a:r>
            <a:r>
              <a:rPr sz="2600" spc="-5" dirty="0">
                <a:latin typeface="Calibri"/>
                <a:cs typeface="Calibri"/>
              </a:rPr>
              <a:t>automatically inserted </a:t>
            </a:r>
            <a:r>
              <a:rPr sz="2600" dirty="0">
                <a:latin typeface="Calibri"/>
                <a:cs typeface="Calibri"/>
              </a:rPr>
              <a:t>when </a:t>
            </a:r>
            <a:r>
              <a:rPr sz="2600" spc="-15" dirty="0">
                <a:latin typeface="Calibri"/>
                <a:cs typeface="Calibri"/>
              </a:rPr>
              <a:t>data  </a:t>
            </a:r>
            <a:r>
              <a:rPr sz="2600" dirty="0">
                <a:latin typeface="Calibri"/>
                <a:cs typeface="Calibri"/>
              </a:rPr>
              <a:t>is added. </a:t>
            </a:r>
            <a:r>
              <a:rPr sz="2600" spc="-5" dirty="0">
                <a:latin typeface="Calibri"/>
                <a:cs typeface="Calibri"/>
              </a:rPr>
              <a:t>This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5" dirty="0">
                <a:latin typeface="Calibri"/>
                <a:cs typeface="Calibri"/>
              </a:rPr>
              <a:t>useful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dirty="0">
                <a:latin typeface="Calibri"/>
                <a:cs typeface="Calibri"/>
              </a:rPr>
              <a:t>Primary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Keys</a:t>
            </a:r>
            <a:endParaRPr sz="2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spc="-15" dirty="0">
                <a:latin typeface="Calibri"/>
                <a:cs typeface="Calibri"/>
              </a:rPr>
              <a:t>For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example:</a:t>
            </a:r>
            <a:endParaRPr sz="2600">
              <a:latin typeface="Calibri"/>
              <a:cs typeface="Calibri"/>
            </a:endParaRPr>
          </a:p>
          <a:p>
            <a:pPr marL="20320" algn="ctr">
              <a:lnSpc>
                <a:spcPct val="100000"/>
              </a:lnSpc>
              <a:spcBef>
                <a:spcPts val="229"/>
              </a:spcBef>
            </a:pPr>
            <a:r>
              <a:rPr sz="2200" b="1" dirty="0">
                <a:latin typeface="Courier New"/>
                <a:cs typeface="Courier New"/>
              </a:rPr>
              <a:t>col-name </a:t>
            </a:r>
            <a:r>
              <a:rPr sz="2200" b="1" spc="-10" dirty="0">
                <a:latin typeface="Courier New"/>
                <a:cs typeface="Courier New"/>
              </a:rPr>
              <a:t>INT</a:t>
            </a:r>
            <a:r>
              <a:rPr sz="2200" b="1" spc="-3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AUTO_INCREMENT,</a:t>
            </a:r>
            <a:endParaRPr sz="2200">
              <a:latin typeface="Courier New"/>
              <a:cs typeface="Courier New"/>
            </a:endParaRPr>
          </a:p>
          <a:p>
            <a:pPr marL="355600" marR="128270" indent="-342900" algn="just">
              <a:lnSpc>
                <a:spcPct val="90000"/>
              </a:lnSpc>
              <a:spcBef>
                <a:spcPts val="655"/>
              </a:spcBef>
              <a:buFont typeface="Arial"/>
              <a:buChar char="•"/>
              <a:tabLst>
                <a:tab pos="355600" algn="l"/>
              </a:tabLst>
            </a:pPr>
            <a:r>
              <a:rPr sz="2600" dirty="0">
                <a:latin typeface="Calibri"/>
                <a:cs typeface="Calibri"/>
              </a:rPr>
              <a:t>When it </a:t>
            </a:r>
            <a:r>
              <a:rPr sz="2600" spc="-5" dirty="0">
                <a:latin typeface="Calibri"/>
                <a:cs typeface="Calibri"/>
              </a:rPr>
              <a:t>comes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inserting </a:t>
            </a:r>
            <a:r>
              <a:rPr sz="2600" spc="-10" dirty="0">
                <a:latin typeface="Calibri"/>
                <a:cs typeface="Calibri"/>
              </a:rPr>
              <a:t>values, </a:t>
            </a:r>
            <a:r>
              <a:rPr sz="2600" spc="-15" dirty="0">
                <a:latin typeface="Calibri"/>
                <a:cs typeface="Calibri"/>
              </a:rPr>
              <a:t>you </a:t>
            </a:r>
            <a:r>
              <a:rPr sz="2600" spc="-5" dirty="0">
                <a:latin typeface="Calibri"/>
                <a:cs typeface="Calibri"/>
              </a:rPr>
              <a:t>should use </a:t>
            </a:r>
            <a:r>
              <a:rPr sz="2600" dirty="0">
                <a:latin typeface="Calibri"/>
                <a:cs typeface="Calibri"/>
              </a:rPr>
              <a:t>NULL,  0 or nothing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ensure </a:t>
            </a:r>
            <a:r>
              <a:rPr sz="2600" spc="-15" dirty="0">
                <a:latin typeface="Calibri"/>
                <a:cs typeface="Calibri"/>
              </a:rPr>
              <a:t>you </a:t>
            </a:r>
            <a:r>
              <a:rPr sz="2600" spc="-5" dirty="0">
                <a:latin typeface="Calibri"/>
                <a:cs typeface="Calibri"/>
              </a:rPr>
              <a:t>don’t override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automatic  </a:t>
            </a:r>
            <a:r>
              <a:rPr sz="2600" spc="-10" dirty="0">
                <a:latin typeface="Calibri"/>
                <a:cs typeface="Calibri"/>
              </a:rPr>
              <a:t>value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250">
              <a:latin typeface="Times New Roman"/>
              <a:cs typeface="Times New Roman"/>
            </a:endParaRPr>
          </a:p>
          <a:p>
            <a:pPr marL="12700">
              <a:lnSpc>
                <a:spcPts val="2965"/>
              </a:lnSpc>
              <a:spcBef>
                <a:spcPts val="5"/>
              </a:spcBef>
            </a:pPr>
            <a:r>
              <a:rPr sz="2600" spc="-5" dirty="0">
                <a:latin typeface="Calibri"/>
                <a:cs typeface="Calibri"/>
              </a:rPr>
              <a:t>Note: </a:t>
            </a:r>
            <a:r>
              <a:rPr sz="2600" dirty="0">
                <a:latin typeface="Calibri"/>
                <a:cs typeface="Calibri"/>
              </a:rPr>
              <a:t>If the </a:t>
            </a:r>
            <a:r>
              <a:rPr sz="2600" spc="-5" dirty="0">
                <a:latin typeface="Calibri"/>
                <a:cs typeface="Calibri"/>
              </a:rPr>
              <a:t>table </a:t>
            </a:r>
            <a:r>
              <a:rPr sz="2600" spc="-10" dirty="0">
                <a:latin typeface="Calibri"/>
                <a:cs typeface="Calibri"/>
              </a:rPr>
              <a:t>auto_increment value </a:t>
            </a:r>
            <a:r>
              <a:rPr sz="2600" dirty="0">
                <a:latin typeface="Calibri"/>
                <a:cs typeface="Calibri"/>
              </a:rPr>
              <a:t>isn’t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recalculated</a:t>
            </a:r>
            <a:endParaRPr sz="2600">
              <a:latin typeface="Calibri"/>
              <a:cs typeface="Calibri"/>
            </a:endParaRPr>
          </a:p>
          <a:p>
            <a:pPr marL="355600">
              <a:lnSpc>
                <a:spcPts val="2965"/>
              </a:lnSpc>
            </a:pPr>
            <a:r>
              <a:rPr sz="2600" spc="-5" dirty="0">
                <a:latin typeface="Calibri"/>
                <a:cs typeface="Calibri"/>
              </a:rPr>
              <a:t>during </a:t>
            </a:r>
            <a:r>
              <a:rPr sz="2600" spc="-10" dirty="0">
                <a:latin typeface="Calibri"/>
                <a:cs typeface="Calibri"/>
              </a:rPr>
              <a:t>deletes, </a:t>
            </a:r>
            <a:r>
              <a:rPr sz="2600" spc="-15" dirty="0">
                <a:latin typeface="Calibri"/>
                <a:cs typeface="Calibri"/>
              </a:rPr>
              <a:t>you </a:t>
            </a:r>
            <a:r>
              <a:rPr sz="2600" spc="-5" dirty="0">
                <a:latin typeface="Calibri"/>
                <a:cs typeface="Calibri"/>
              </a:rPr>
              <a:t>might </a:t>
            </a:r>
            <a:r>
              <a:rPr sz="2600" spc="-15" dirty="0">
                <a:latin typeface="Calibri"/>
                <a:cs typeface="Calibri"/>
              </a:rPr>
              <a:t>want to </a:t>
            </a:r>
            <a:r>
              <a:rPr sz="2600" spc="-10" dirty="0">
                <a:latin typeface="Calibri"/>
                <a:cs typeface="Calibri"/>
              </a:rPr>
              <a:t>reset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5" dirty="0">
                <a:latin typeface="Calibri"/>
                <a:cs typeface="Calibri"/>
              </a:rPr>
              <a:t> using:</a:t>
            </a:r>
            <a:endParaRPr sz="2600">
              <a:latin typeface="Calibri"/>
              <a:cs typeface="Calibri"/>
            </a:endParaRPr>
          </a:p>
          <a:p>
            <a:pPr marL="19050" algn="ctr">
              <a:lnSpc>
                <a:spcPct val="100000"/>
              </a:lnSpc>
              <a:spcBef>
                <a:spcPts val="229"/>
              </a:spcBef>
            </a:pPr>
            <a:r>
              <a:rPr sz="2200" b="1" spc="-5" dirty="0">
                <a:latin typeface="Courier New"/>
                <a:cs typeface="Courier New"/>
              </a:rPr>
              <a:t>ALTER </a:t>
            </a:r>
            <a:r>
              <a:rPr sz="2200" b="1" dirty="0">
                <a:latin typeface="Courier New"/>
                <a:cs typeface="Courier New"/>
              </a:rPr>
              <a:t>TABLE table-name</a:t>
            </a:r>
            <a:r>
              <a:rPr sz="2200" b="1" spc="-10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AUTO_INCREMENT=1;</a:t>
            </a:r>
            <a:endParaRPr sz="22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332624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83510">
              <a:lnSpc>
                <a:spcPct val="100000"/>
              </a:lnSpc>
            </a:pPr>
            <a:r>
              <a:rPr spc="-5" dirty="0"/>
              <a:t>E</a:t>
            </a:r>
            <a:r>
              <a:rPr spc="-85" dirty="0"/>
              <a:t>x</a:t>
            </a:r>
            <a:r>
              <a:rPr dirty="0"/>
              <a:t>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4038"/>
            <a:ext cx="5560060" cy="1772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 marR="860425" indent="-243840">
              <a:lnSpc>
                <a:spcPct val="120000"/>
              </a:lnSpc>
            </a:pPr>
            <a:r>
              <a:rPr sz="1600" b="1" spc="-5" dirty="0">
                <a:latin typeface="Courier New"/>
                <a:cs typeface="Courier New"/>
              </a:rPr>
              <a:t>CREATE TABLE Student (  </a:t>
            </a:r>
            <a:endParaRPr lang="en-US" sz="1600" b="1" spc="-5" dirty="0" smtClean="0">
              <a:latin typeface="Courier New"/>
              <a:cs typeface="Courier New"/>
            </a:endParaRPr>
          </a:p>
          <a:p>
            <a:pPr marL="255904" marR="860425" indent="-243840">
              <a:lnSpc>
                <a:spcPct val="120000"/>
              </a:lnSpc>
            </a:pPr>
            <a:r>
              <a:rPr lang="en-US" sz="1600" b="1" spc="-5" dirty="0">
                <a:latin typeface="Courier New"/>
                <a:cs typeface="Courier New"/>
              </a:rPr>
              <a:t> </a:t>
            </a:r>
            <a:r>
              <a:rPr lang="en-US" sz="1600" b="1" spc="-5" dirty="0" smtClean="0">
                <a:latin typeface="Courier New"/>
                <a:cs typeface="Courier New"/>
              </a:rPr>
              <a:t> </a:t>
            </a:r>
            <a:r>
              <a:rPr sz="1600" b="1" spc="-5" dirty="0" err="1" smtClean="0">
                <a:latin typeface="Courier New"/>
                <a:cs typeface="Courier New"/>
              </a:rPr>
              <a:t>sID</a:t>
            </a:r>
            <a:r>
              <a:rPr sz="1600" b="1" spc="-5" dirty="0" smtClean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INT </a:t>
            </a:r>
            <a:r>
              <a:rPr sz="1600" b="1" dirty="0">
                <a:latin typeface="Courier New"/>
                <a:cs typeface="Courier New"/>
              </a:rPr>
              <a:t>NOT</a:t>
            </a:r>
            <a:r>
              <a:rPr sz="1600" b="1" spc="-55" dirty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NULL</a:t>
            </a:r>
            <a:r>
              <a:rPr lang="en-US" sz="1600" dirty="0">
                <a:latin typeface="Courier New"/>
                <a:cs typeface="Courier New"/>
              </a:rPr>
              <a:t> </a:t>
            </a:r>
            <a:r>
              <a:rPr sz="1600" b="1" spc="-5" dirty="0" smtClean="0">
                <a:latin typeface="Courier New"/>
                <a:cs typeface="Courier New"/>
              </a:rPr>
              <a:t>AUTO_INCREMENT</a:t>
            </a:r>
            <a:r>
              <a:rPr sz="1600" b="1" spc="-5" dirty="0">
                <a:latin typeface="Courier New"/>
                <a:cs typeface="Courier New"/>
              </a:rPr>
              <a:t>,</a:t>
            </a:r>
            <a:endParaRPr sz="1600" dirty="0">
              <a:latin typeface="Courier New"/>
              <a:cs typeface="Courier New"/>
            </a:endParaRPr>
          </a:p>
          <a:p>
            <a:pPr marL="255904">
              <a:lnSpc>
                <a:spcPct val="100000"/>
              </a:lnSpc>
              <a:spcBef>
                <a:spcPts val="385"/>
              </a:spcBef>
            </a:pPr>
            <a:r>
              <a:rPr sz="1600" b="1" spc="-5" dirty="0">
                <a:latin typeface="Courier New"/>
                <a:cs typeface="Courier New"/>
              </a:rPr>
              <a:t>sName VARCHAR(50) NOT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NULL,</a:t>
            </a:r>
            <a:endParaRPr sz="1600" dirty="0">
              <a:latin typeface="Courier New"/>
              <a:cs typeface="Courier New"/>
            </a:endParaRPr>
          </a:p>
          <a:p>
            <a:pPr marL="255904" marR="615315">
              <a:lnSpc>
                <a:spcPct val="120000"/>
              </a:lnSpc>
            </a:pPr>
            <a:r>
              <a:rPr sz="1600" b="1" spc="-5" dirty="0">
                <a:latin typeface="Courier New"/>
                <a:cs typeface="Courier New"/>
              </a:rPr>
              <a:t>sAddress VARCHAR(255),  </a:t>
            </a:r>
            <a:endParaRPr lang="en-US" sz="1600" b="1" spc="-5" dirty="0" smtClean="0">
              <a:latin typeface="Courier New"/>
              <a:cs typeface="Courier New"/>
            </a:endParaRPr>
          </a:p>
          <a:p>
            <a:pPr marL="255904" marR="615315">
              <a:lnSpc>
                <a:spcPct val="120000"/>
              </a:lnSpc>
            </a:pPr>
            <a:r>
              <a:rPr sz="1600" b="1" spc="-5" dirty="0" smtClean="0">
                <a:latin typeface="Courier New"/>
                <a:cs typeface="Courier New"/>
              </a:rPr>
              <a:t>sYear </a:t>
            </a:r>
            <a:r>
              <a:rPr sz="1600" b="1" spc="-5" dirty="0">
                <a:latin typeface="Courier New"/>
                <a:cs typeface="Courier New"/>
              </a:rPr>
              <a:t>INT DEFAULT</a:t>
            </a:r>
            <a:r>
              <a:rPr sz="1600" b="1" spc="-3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1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22207" y="3915536"/>
            <a:ext cx="1001394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Module</a:t>
            </a:r>
            <a:r>
              <a:rPr sz="1600" b="1" spc="-8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(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915536"/>
            <a:ext cx="1488440" cy="855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CREATE</a:t>
            </a:r>
            <a:r>
              <a:rPr sz="1600" b="1" spc="-9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TABLE</a:t>
            </a:r>
            <a:endParaRPr sz="1600">
              <a:latin typeface="Courier New"/>
              <a:cs typeface="Courier New"/>
            </a:endParaRPr>
          </a:p>
          <a:p>
            <a:pPr marL="255904">
              <a:lnSpc>
                <a:spcPct val="100000"/>
              </a:lnSpc>
              <a:spcBef>
                <a:spcPts val="384"/>
              </a:spcBef>
            </a:pPr>
            <a:r>
              <a:rPr sz="1600" b="1" spc="-5" dirty="0">
                <a:latin typeface="Courier New"/>
                <a:cs typeface="Courier New"/>
              </a:rPr>
              <a:t>...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812665"/>
            <a:ext cx="3578860" cy="167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Tips:</a:t>
            </a:r>
            <a:endParaRPr sz="2000">
              <a:latin typeface="Calibri"/>
              <a:cs typeface="Calibri"/>
            </a:endParaRPr>
          </a:p>
          <a:p>
            <a:pPr marL="355600" marR="111760">
              <a:lnSpc>
                <a:spcPct val="100000"/>
              </a:lnSpc>
              <a:spcBef>
                <a:spcPts val="480"/>
              </a:spcBef>
              <a:buChar char="-"/>
              <a:tabLst>
                <a:tab pos="492125" algn="l"/>
              </a:tabLst>
            </a:pPr>
            <a:r>
              <a:rPr sz="2000" spc="-15" dirty="0">
                <a:latin typeface="Calibri"/>
                <a:cs typeface="Calibri"/>
              </a:rPr>
              <a:t>Every </a:t>
            </a:r>
            <a:r>
              <a:rPr sz="2000" dirty="0">
                <a:latin typeface="Calibri"/>
                <a:cs typeface="Calibri"/>
              </a:rPr>
              <a:t>module </a:t>
            </a:r>
            <a:r>
              <a:rPr sz="2000" spc="-5" dirty="0">
                <a:latin typeface="Calibri"/>
                <a:cs typeface="Calibri"/>
              </a:rPr>
              <a:t>has </a:t>
            </a:r>
            <a:r>
              <a:rPr sz="2000" dirty="0">
                <a:latin typeface="Calibri"/>
                <a:cs typeface="Calibri"/>
              </a:rPr>
              <a:t>a 6  </a:t>
            </a:r>
            <a:r>
              <a:rPr sz="2000" spc="-10" dirty="0">
                <a:latin typeface="Calibri"/>
                <a:cs typeface="Calibri"/>
              </a:rPr>
              <a:t>characters </a:t>
            </a:r>
            <a:r>
              <a:rPr sz="2000" spc="-5" dirty="0">
                <a:latin typeface="Calibri"/>
                <a:cs typeface="Calibri"/>
              </a:rPr>
              <a:t>code </a:t>
            </a:r>
            <a:r>
              <a:rPr sz="2000" dirty="0">
                <a:latin typeface="Calibri"/>
                <a:cs typeface="Calibri"/>
              </a:rPr>
              <a:t>(e.g.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G64DBS)</a:t>
            </a:r>
            <a:endParaRPr sz="2000">
              <a:latin typeface="Calibri"/>
              <a:cs typeface="Calibri"/>
            </a:endParaRPr>
          </a:p>
          <a:p>
            <a:pPr marL="355600" marR="5080">
              <a:lnSpc>
                <a:spcPct val="100000"/>
              </a:lnSpc>
              <a:spcBef>
                <a:spcPts val="480"/>
              </a:spcBef>
              <a:buChar char="-"/>
              <a:tabLst>
                <a:tab pos="492125" algn="l"/>
              </a:tabLst>
            </a:pPr>
            <a:r>
              <a:rPr sz="2000" spc="-15" dirty="0">
                <a:latin typeface="Calibri"/>
                <a:cs typeface="Calibri"/>
              </a:rPr>
              <a:t>Every </a:t>
            </a:r>
            <a:r>
              <a:rPr sz="2000" dirty="0">
                <a:latin typeface="Calibri"/>
                <a:cs typeface="Calibri"/>
              </a:rPr>
              <a:t>module </a:t>
            </a:r>
            <a:r>
              <a:rPr sz="2000" spc="-5" dirty="0">
                <a:latin typeface="Calibri"/>
                <a:cs typeface="Calibri"/>
              </a:rPr>
              <a:t>usually gives </a:t>
            </a:r>
            <a:r>
              <a:rPr sz="2000" dirty="0">
                <a:latin typeface="Calibri"/>
                <a:cs typeface="Calibri"/>
              </a:rPr>
              <a:t>10  </a:t>
            </a:r>
            <a:r>
              <a:rPr sz="2000" spc="-5" dirty="0">
                <a:latin typeface="Calibri"/>
                <a:cs typeface="Calibri"/>
              </a:rPr>
              <a:t>credits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72353" y="2679573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054100" y="0"/>
                </a:lnTo>
                <a:lnTo>
                  <a:pt x="1088671" y="6979"/>
                </a:lnTo>
                <a:lnTo>
                  <a:pt x="1116933" y="26019"/>
                </a:lnTo>
                <a:lnTo>
                  <a:pt x="1136003" y="54274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03" y="479125"/>
                </a:lnTo>
                <a:lnTo>
                  <a:pt x="1116933" y="507380"/>
                </a:lnTo>
                <a:lnTo>
                  <a:pt x="1088671" y="526420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24498" y="2778125"/>
            <a:ext cx="83883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St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-20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76063" y="2103501"/>
            <a:ext cx="1152525" cy="432434"/>
          </a:xfrm>
          <a:custGeom>
            <a:avLst/>
            <a:gdLst/>
            <a:ahLst/>
            <a:cxnLst/>
            <a:rect l="l" t="t" r="r" b="b"/>
            <a:pathLst>
              <a:path w="1152525" h="432435">
                <a:moveTo>
                  <a:pt x="0" y="216026"/>
                </a:moveTo>
                <a:lnTo>
                  <a:pt x="15215" y="166511"/>
                </a:lnTo>
                <a:lnTo>
                  <a:pt x="58556" y="121048"/>
                </a:lnTo>
                <a:lnTo>
                  <a:pt x="126563" y="80936"/>
                </a:lnTo>
                <a:lnTo>
                  <a:pt x="168735" y="63293"/>
                </a:lnTo>
                <a:lnTo>
                  <a:pt x="215777" y="47476"/>
                </a:lnTo>
                <a:lnTo>
                  <a:pt x="267255" y="33646"/>
                </a:lnTo>
                <a:lnTo>
                  <a:pt x="322739" y="21966"/>
                </a:lnTo>
                <a:lnTo>
                  <a:pt x="381794" y="12600"/>
                </a:lnTo>
                <a:lnTo>
                  <a:pt x="443990" y="5708"/>
                </a:lnTo>
                <a:lnTo>
                  <a:pt x="508893" y="1454"/>
                </a:lnTo>
                <a:lnTo>
                  <a:pt x="576072" y="0"/>
                </a:lnTo>
                <a:lnTo>
                  <a:pt x="643250" y="1454"/>
                </a:lnTo>
                <a:lnTo>
                  <a:pt x="708153" y="5708"/>
                </a:lnTo>
                <a:lnTo>
                  <a:pt x="770349" y="12600"/>
                </a:lnTo>
                <a:lnTo>
                  <a:pt x="829404" y="21966"/>
                </a:lnTo>
                <a:lnTo>
                  <a:pt x="884888" y="33646"/>
                </a:lnTo>
                <a:lnTo>
                  <a:pt x="936366" y="47476"/>
                </a:lnTo>
                <a:lnTo>
                  <a:pt x="983408" y="63293"/>
                </a:lnTo>
                <a:lnTo>
                  <a:pt x="1025580" y="80936"/>
                </a:lnTo>
                <a:lnTo>
                  <a:pt x="1062451" y="100242"/>
                </a:lnTo>
                <a:lnTo>
                  <a:pt x="1118557" y="143191"/>
                </a:lnTo>
                <a:lnTo>
                  <a:pt x="1148268" y="190843"/>
                </a:lnTo>
                <a:lnTo>
                  <a:pt x="1152144" y="216026"/>
                </a:lnTo>
                <a:lnTo>
                  <a:pt x="1148268" y="241210"/>
                </a:lnTo>
                <a:lnTo>
                  <a:pt x="1118557" y="288862"/>
                </a:lnTo>
                <a:lnTo>
                  <a:pt x="1062451" y="331811"/>
                </a:lnTo>
                <a:lnTo>
                  <a:pt x="1025580" y="351117"/>
                </a:lnTo>
                <a:lnTo>
                  <a:pt x="983408" y="368760"/>
                </a:lnTo>
                <a:lnTo>
                  <a:pt x="936366" y="384577"/>
                </a:lnTo>
                <a:lnTo>
                  <a:pt x="884888" y="398407"/>
                </a:lnTo>
                <a:lnTo>
                  <a:pt x="829404" y="410087"/>
                </a:lnTo>
                <a:lnTo>
                  <a:pt x="770349" y="419453"/>
                </a:lnTo>
                <a:lnTo>
                  <a:pt x="708153" y="426345"/>
                </a:lnTo>
                <a:lnTo>
                  <a:pt x="643250" y="430599"/>
                </a:lnTo>
                <a:lnTo>
                  <a:pt x="576072" y="432053"/>
                </a:lnTo>
                <a:lnTo>
                  <a:pt x="508893" y="430599"/>
                </a:lnTo>
                <a:lnTo>
                  <a:pt x="443990" y="426345"/>
                </a:lnTo>
                <a:lnTo>
                  <a:pt x="381794" y="419453"/>
                </a:lnTo>
                <a:lnTo>
                  <a:pt x="322739" y="410087"/>
                </a:lnTo>
                <a:lnTo>
                  <a:pt x="267255" y="398407"/>
                </a:lnTo>
                <a:lnTo>
                  <a:pt x="215777" y="384577"/>
                </a:lnTo>
                <a:lnTo>
                  <a:pt x="168735" y="368760"/>
                </a:lnTo>
                <a:lnTo>
                  <a:pt x="126563" y="351117"/>
                </a:lnTo>
                <a:lnTo>
                  <a:pt x="89692" y="331811"/>
                </a:lnTo>
                <a:lnTo>
                  <a:pt x="33586" y="288862"/>
                </a:lnTo>
                <a:lnTo>
                  <a:pt x="3875" y="241210"/>
                </a:lnTo>
                <a:lnTo>
                  <a:pt x="0" y="216026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55463" y="2185542"/>
            <a:ext cx="59626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sName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72000" y="2729610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11"/>
                </a:lnTo>
                <a:lnTo>
                  <a:pt x="59059" y="114439"/>
                </a:lnTo>
                <a:lnTo>
                  <a:pt x="90311" y="92574"/>
                </a:lnTo>
                <a:lnTo>
                  <a:pt x="127214" y="72526"/>
                </a:lnTo>
                <a:lnTo>
                  <a:pt x="169295" y="54495"/>
                </a:lnTo>
                <a:lnTo>
                  <a:pt x="216081" y="38685"/>
                </a:lnTo>
                <a:lnTo>
                  <a:pt x="267101" y="25296"/>
                </a:lnTo>
                <a:lnTo>
                  <a:pt x="321881" y="14532"/>
                </a:lnTo>
                <a:lnTo>
                  <a:pt x="379950" y="6593"/>
                </a:lnTo>
                <a:lnTo>
                  <a:pt x="440834" y="1681"/>
                </a:lnTo>
                <a:lnTo>
                  <a:pt x="504063" y="0"/>
                </a:lnTo>
                <a:lnTo>
                  <a:pt x="567291" y="1681"/>
                </a:lnTo>
                <a:lnTo>
                  <a:pt x="628175" y="6593"/>
                </a:lnTo>
                <a:lnTo>
                  <a:pt x="686244" y="14532"/>
                </a:lnTo>
                <a:lnTo>
                  <a:pt x="741024" y="25296"/>
                </a:lnTo>
                <a:lnTo>
                  <a:pt x="792044" y="38685"/>
                </a:lnTo>
                <a:lnTo>
                  <a:pt x="838830" y="54495"/>
                </a:lnTo>
                <a:lnTo>
                  <a:pt x="880911" y="72526"/>
                </a:lnTo>
                <a:lnTo>
                  <a:pt x="917814" y="92574"/>
                </a:lnTo>
                <a:lnTo>
                  <a:pt x="949066" y="114439"/>
                </a:lnTo>
                <a:lnTo>
                  <a:pt x="992731" y="162811"/>
                </a:lnTo>
                <a:lnTo>
                  <a:pt x="1008126" y="216026"/>
                </a:lnTo>
                <a:lnTo>
                  <a:pt x="1004198" y="243114"/>
                </a:lnTo>
                <a:lnTo>
                  <a:pt x="974196" y="294082"/>
                </a:lnTo>
                <a:lnTo>
                  <a:pt x="917814" y="339423"/>
                </a:lnTo>
                <a:lnTo>
                  <a:pt x="880911" y="359476"/>
                </a:lnTo>
                <a:lnTo>
                  <a:pt x="838830" y="377514"/>
                </a:lnTo>
                <a:lnTo>
                  <a:pt x="792044" y="393334"/>
                </a:lnTo>
                <a:lnTo>
                  <a:pt x="741024" y="406732"/>
                </a:lnTo>
                <a:lnTo>
                  <a:pt x="686244" y="417506"/>
                </a:lnTo>
                <a:lnTo>
                  <a:pt x="628175" y="425453"/>
                </a:lnTo>
                <a:lnTo>
                  <a:pt x="567291" y="430369"/>
                </a:lnTo>
                <a:lnTo>
                  <a:pt x="504063" y="432053"/>
                </a:lnTo>
                <a:lnTo>
                  <a:pt x="440834" y="430369"/>
                </a:lnTo>
                <a:lnTo>
                  <a:pt x="379950" y="425453"/>
                </a:lnTo>
                <a:lnTo>
                  <a:pt x="321881" y="417506"/>
                </a:lnTo>
                <a:lnTo>
                  <a:pt x="267101" y="406732"/>
                </a:lnTo>
                <a:lnTo>
                  <a:pt x="216081" y="393334"/>
                </a:lnTo>
                <a:lnTo>
                  <a:pt x="169295" y="377514"/>
                </a:lnTo>
                <a:lnTo>
                  <a:pt x="127214" y="359476"/>
                </a:lnTo>
                <a:lnTo>
                  <a:pt x="90311" y="339423"/>
                </a:lnTo>
                <a:lnTo>
                  <a:pt x="59059" y="317557"/>
                </a:lnTo>
                <a:lnTo>
                  <a:pt x="15394" y="269200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35473" y="2811526"/>
            <a:ext cx="28130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0" dirty="0">
                <a:latin typeface="Calibri"/>
                <a:cs typeface="Calibri"/>
              </a:rPr>
              <a:t>s</a:t>
            </a:r>
            <a:r>
              <a:rPr sz="1600" u="heavy" spc="-5" dirty="0"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32269" y="2103501"/>
            <a:ext cx="1368425" cy="432434"/>
          </a:xfrm>
          <a:custGeom>
            <a:avLst/>
            <a:gdLst/>
            <a:ahLst/>
            <a:cxnLst/>
            <a:rect l="l" t="t" r="r" b="b"/>
            <a:pathLst>
              <a:path w="1368425" h="432435">
                <a:moveTo>
                  <a:pt x="0" y="216026"/>
                </a:moveTo>
                <a:lnTo>
                  <a:pt x="13894" y="172505"/>
                </a:lnTo>
                <a:lnTo>
                  <a:pt x="53746" y="131962"/>
                </a:lnTo>
                <a:lnTo>
                  <a:pt x="116807" y="95268"/>
                </a:lnTo>
                <a:lnTo>
                  <a:pt x="156181" y="78636"/>
                </a:lnTo>
                <a:lnTo>
                  <a:pt x="200326" y="63293"/>
                </a:lnTo>
                <a:lnTo>
                  <a:pt x="248899" y="49347"/>
                </a:lnTo>
                <a:lnTo>
                  <a:pt x="301556" y="36908"/>
                </a:lnTo>
                <a:lnTo>
                  <a:pt x="357954" y="26084"/>
                </a:lnTo>
                <a:lnTo>
                  <a:pt x="417748" y="16984"/>
                </a:lnTo>
                <a:lnTo>
                  <a:pt x="480596" y="9716"/>
                </a:lnTo>
                <a:lnTo>
                  <a:pt x="546153" y="4391"/>
                </a:lnTo>
                <a:lnTo>
                  <a:pt x="614076" y="1115"/>
                </a:lnTo>
                <a:lnTo>
                  <a:pt x="684022" y="0"/>
                </a:lnTo>
                <a:lnTo>
                  <a:pt x="753968" y="1115"/>
                </a:lnTo>
                <a:lnTo>
                  <a:pt x="821896" y="4391"/>
                </a:lnTo>
                <a:lnTo>
                  <a:pt x="887459" y="9716"/>
                </a:lnTo>
                <a:lnTo>
                  <a:pt x="950315" y="16984"/>
                </a:lnTo>
                <a:lnTo>
                  <a:pt x="1010119" y="26084"/>
                </a:lnTo>
                <a:lnTo>
                  <a:pt x="1066527" y="36908"/>
                </a:lnTo>
                <a:lnTo>
                  <a:pt x="1119195" y="49347"/>
                </a:lnTo>
                <a:lnTo>
                  <a:pt x="1167780" y="63293"/>
                </a:lnTo>
                <a:lnTo>
                  <a:pt x="1211938" y="78636"/>
                </a:lnTo>
                <a:lnTo>
                  <a:pt x="1251323" y="95268"/>
                </a:lnTo>
                <a:lnTo>
                  <a:pt x="1285593" y="113080"/>
                </a:lnTo>
                <a:lnTo>
                  <a:pt x="1337411" y="151807"/>
                </a:lnTo>
                <a:lnTo>
                  <a:pt x="1364638" y="193948"/>
                </a:lnTo>
                <a:lnTo>
                  <a:pt x="1368171" y="216026"/>
                </a:lnTo>
                <a:lnTo>
                  <a:pt x="1364638" y="238105"/>
                </a:lnTo>
                <a:lnTo>
                  <a:pt x="1337411" y="280246"/>
                </a:lnTo>
                <a:lnTo>
                  <a:pt x="1285593" y="318973"/>
                </a:lnTo>
                <a:lnTo>
                  <a:pt x="1251323" y="336785"/>
                </a:lnTo>
                <a:lnTo>
                  <a:pt x="1211938" y="353417"/>
                </a:lnTo>
                <a:lnTo>
                  <a:pt x="1167780" y="368760"/>
                </a:lnTo>
                <a:lnTo>
                  <a:pt x="1119195" y="382706"/>
                </a:lnTo>
                <a:lnTo>
                  <a:pt x="1066527" y="395145"/>
                </a:lnTo>
                <a:lnTo>
                  <a:pt x="1010119" y="405969"/>
                </a:lnTo>
                <a:lnTo>
                  <a:pt x="950315" y="415069"/>
                </a:lnTo>
                <a:lnTo>
                  <a:pt x="887459" y="422337"/>
                </a:lnTo>
                <a:lnTo>
                  <a:pt x="821896" y="427662"/>
                </a:lnTo>
                <a:lnTo>
                  <a:pt x="753968" y="430938"/>
                </a:lnTo>
                <a:lnTo>
                  <a:pt x="684022" y="432053"/>
                </a:lnTo>
                <a:lnTo>
                  <a:pt x="614076" y="430938"/>
                </a:lnTo>
                <a:lnTo>
                  <a:pt x="546153" y="427662"/>
                </a:lnTo>
                <a:lnTo>
                  <a:pt x="480596" y="422337"/>
                </a:lnTo>
                <a:lnTo>
                  <a:pt x="417748" y="415069"/>
                </a:lnTo>
                <a:lnTo>
                  <a:pt x="357954" y="405969"/>
                </a:lnTo>
                <a:lnTo>
                  <a:pt x="301556" y="395145"/>
                </a:lnTo>
                <a:lnTo>
                  <a:pt x="248899" y="382706"/>
                </a:lnTo>
                <a:lnTo>
                  <a:pt x="200326" y="368760"/>
                </a:lnTo>
                <a:lnTo>
                  <a:pt x="156181" y="353417"/>
                </a:lnTo>
                <a:lnTo>
                  <a:pt x="116807" y="336785"/>
                </a:lnTo>
                <a:lnTo>
                  <a:pt x="82547" y="318973"/>
                </a:lnTo>
                <a:lnTo>
                  <a:pt x="30747" y="280246"/>
                </a:lnTo>
                <a:lnTo>
                  <a:pt x="3530" y="238105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037069" y="2185542"/>
            <a:ext cx="76200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sAddress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08342" y="2730119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53"/>
                </a:lnTo>
                <a:lnTo>
                  <a:pt x="59059" y="114496"/>
                </a:lnTo>
                <a:lnTo>
                  <a:pt x="90311" y="92630"/>
                </a:lnTo>
                <a:lnTo>
                  <a:pt x="127214" y="72577"/>
                </a:lnTo>
                <a:lnTo>
                  <a:pt x="169295" y="54539"/>
                </a:lnTo>
                <a:lnTo>
                  <a:pt x="216081" y="38719"/>
                </a:lnTo>
                <a:lnTo>
                  <a:pt x="267101" y="25321"/>
                </a:lnTo>
                <a:lnTo>
                  <a:pt x="321881" y="14547"/>
                </a:lnTo>
                <a:lnTo>
                  <a:pt x="379950" y="6600"/>
                </a:lnTo>
                <a:lnTo>
                  <a:pt x="440834" y="1684"/>
                </a:lnTo>
                <a:lnTo>
                  <a:pt x="504062" y="0"/>
                </a:lnTo>
                <a:lnTo>
                  <a:pt x="567291" y="1684"/>
                </a:lnTo>
                <a:lnTo>
                  <a:pt x="628175" y="6600"/>
                </a:lnTo>
                <a:lnTo>
                  <a:pt x="686244" y="14547"/>
                </a:lnTo>
                <a:lnTo>
                  <a:pt x="741024" y="25321"/>
                </a:lnTo>
                <a:lnTo>
                  <a:pt x="792044" y="38719"/>
                </a:lnTo>
                <a:lnTo>
                  <a:pt x="838830" y="54539"/>
                </a:lnTo>
                <a:lnTo>
                  <a:pt x="880911" y="72577"/>
                </a:lnTo>
                <a:lnTo>
                  <a:pt x="917814" y="92630"/>
                </a:lnTo>
                <a:lnTo>
                  <a:pt x="949066" y="114496"/>
                </a:lnTo>
                <a:lnTo>
                  <a:pt x="992731" y="162853"/>
                </a:lnTo>
                <a:lnTo>
                  <a:pt x="1008126" y="216026"/>
                </a:lnTo>
                <a:lnTo>
                  <a:pt x="1004198" y="243139"/>
                </a:lnTo>
                <a:lnTo>
                  <a:pt x="974196" y="294134"/>
                </a:lnTo>
                <a:lnTo>
                  <a:pt x="917814" y="339479"/>
                </a:lnTo>
                <a:lnTo>
                  <a:pt x="880911" y="359527"/>
                </a:lnTo>
                <a:lnTo>
                  <a:pt x="838830" y="377558"/>
                </a:lnTo>
                <a:lnTo>
                  <a:pt x="792044" y="393368"/>
                </a:lnTo>
                <a:lnTo>
                  <a:pt x="741024" y="406757"/>
                </a:lnTo>
                <a:lnTo>
                  <a:pt x="686244" y="417521"/>
                </a:lnTo>
                <a:lnTo>
                  <a:pt x="628175" y="425460"/>
                </a:lnTo>
                <a:lnTo>
                  <a:pt x="567291" y="430372"/>
                </a:lnTo>
                <a:lnTo>
                  <a:pt x="504062" y="432053"/>
                </a:lnTo>
                <a:lnTo>
                  <a:pt x="440834" y="430372"/>
                </a:lnTo>
                <a:lnTo>
                  <a:pt x="379950" y="425460"/>
                </a:lnTo>
                <a:lnTo>
                  <a:pt x="321881" y="417521"/>
                </a:lnTo>
                <a:lnTo>
                  <a:pt x="267101" y="406757"/>
                </a:lnTo>
                <a:lnTo>
                  <a:pt x="216081" y="393368"/>
                </a:lnTo>
                <a:lnTo>
                  <a:pt x="169295" y="377558"/>
                </a:lnTo>
                <a:lnTo>
                  <a:pt x="127214" y="359527"/>
                </a:lnTo>
                <a:lnTo>
                  <a:pt x="90311" y="339479"/>
                </a:lnTo>
                <a:lnTo>
                  <a:pt x="59059" y="317614"/>
                </a:lnTo>
                <a:lnTo>
                  <a:pt x="15394" y="269242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585075" y="2812160"/>
            <a:ext cx="45783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</a:t>
            </a:r>
            <a:r>
              <a:rPr sz="1600" spc="-125" dirty="0">
                <a:latin typeface="Calibri"/>
                <a:cs typeface="Calibri"/>
              </a:rPr>
              <a:t>Y</a:t>
            </a:r>
            <a:r>
              <a:rPr sz="1600" spc="-5" dirty="0">
                <a:latin typeface="Calibri"/>
                <a:cs typeface="Calibri"/>
              </a:rPr>
              <a:t>ear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80126" y="2945638"/>
            <a:ext cx="292735" cy="635"/>
          </a:xfrm>
          <a:custGeom>
            <a:avLst/>
            <a:gdLst/>
            <a:ahLst/>
            <a:cxnLst/>
            <a:rect l="l" t="t" r="r" b="b"/>
            <a:pathLst>
              <a:path w="292735" h="635">
                <a:moveTo>
                  <a:pt x="292226" y="635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59423" y="2472308"/>
            <a:ext cx="168910" cy="207645"/>
          </a:xfrm>
          <a:custGeom>
            <a:avLst/>
            <a:gdLst/>
            <a:ahLst/>
            <a:cxnLst/>
            <a:rect l="l" t="t" r="r" b="b"/>
            <a:pathLst>
              <a:path w="168910" h="207644">
                <a:moveTo>
                  <a:pt x="0" y="0"/>
                </a:moveTo>
                <a:lnTo>
                  <a:pt x="168783" y="20726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732269" y="2472308"/>
            <a:ext cx="200660" cy="207645"/>
          </a:xfrm>
          <a:custGeom>
            <a:avLst/>
            <a:gdLst/>
            <a:ahLst/>
            <a:cxnLst/>
            <a:rect l="l" t="t" r="r" b="b"/>
            <a:pathLst>
              <a:path w="200659" h="207644">
                <a:moveTo>
                  <a:pt x="200278" y="0"/>
                </a:moveTo>
                <a:lnTo>
                  <a:pt x="0" y="20726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15353" y="2946145"/>
            <a:ext cx="293370" cy="635"/>
          </a:xfrm>
          <a:custGeom>
            <a:avLst/>
            <a:gdLst/>
            <a:ahLst/>
            <a:cxnLst/>
            <a:rect l="l" t="t" r="r" b="b"/>
            <a:pathLst>
              <a:path w="293370" h="635">
                <a:moveTo>
                  <a:pt x="0" y="126"/>
                </a:moveTo>
                <a:lnTo>
                  <a:pt x="29298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872353" y="4189476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88900"/>
                </a:moveTo>
                <a:lnTo>
                  <a:pt x="6979" y="54328"/>
                </a:lnTo>
                <a:lnTo>
                  <a:pt x="26019" y="26066"/>
                </a:lnTo>
                <a:lnTo>
                  <a:pt x="54274" y="6996"/>
                </a:lnTo>
                <a:lnTo>
                  <a:pt x="88900" y="0"/>
                </a:lnTo>
                <a:lnTo>
                  <a:pt x="1054100" y="0"/>
                </a:lnTo>
                <a:lnTo>
                  <a:pt x="1088671" y="6996"/>
                </a:lnTo>
                <a:lnTo>
                  <a:pt x="1116933" y="26066"/>
                </a:lnTo>
                <a:lnTo>
                  <a:pt x="1136003" y="54328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03" y="479125"/>
                </a:lnTo>
                <a:lnTo>
                  <a:pt x="1116933" y="507380"/>
                </a:lnTo>
                <a:lnTo>
                  <a:pt x="1088671" y="526420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029071" y="4288408"/>
            <a:ext cx="83058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Mod</a:t>
            </a:r>
            <a:r>
              <a:rPr sz="2000" spc="-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le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427982" y="4240148"/>
            <a:ext cx="1152525" cy="432434"/>
          </a:xfrm>
          <a:custGeom>
            <a:avLst/>
            <a:gdLst/>
            <a:ahLst/>
            <a:cxnLst/>
            <a:rect l="l" t="t" r="r" b="b"/>
            <a:pathLst>
              <a:path w="1152525" h="432435">
                <a:moveTo>
                  <a:pt x="0" y="216026"/>
                </a:moveTo>
                <a:lnTo>
                  <a:pt x="15215" y="166471"/>
                </a:lnTo>
                <a:lnTo>
                  <a:pt x="58556" y="120992"/>
                </a:lnTo>
                <a:lnTo>
                  <a:pt x="126563" y="80883"/>
                </a:lnTo>
                <a:lnTo>
                  <a:pt x="168735" y="63245"/>
                </a:lnTo>
                <a:lnTo>
                  <a:pt x="215777" y="47436"/>
                </a:lnTo>
                <a:lnTo>
                  <a:pt x="267255" y="33615"/>
                </a:lnTo>
                <a:lnTo>
                  <a:pt x="322739" y="21944"/>
                </a:lnTo>
                <a:lnTo>
                  <a:pt x="381794" y="12586"/>
                </a:lnTo>
                <a:lnTo>
                  <a:pt x="443990" y="5701"/>
                </a:lnTo>
                <a:lnTo>
                  <a:pt x="508893" y="1452"/>
                </a:lnTo>
                <a:lnTo>
                  <a:pt x="576071" y="0"/>
                </a:lnTo>
                <a:lnTo>
                  <a:pt x="643250" y="1452"/>
                </a:lnTo>
                <a:lnTo>
                  <a:pt x="708153" y="5701"/>
                </a:lnTo>
                <a:lnTo>
                  <a:pt x="770349" y="12586"/>
                </a:lnTo>
                <a:lnTo>
                  <a:pt x="829404" y="21944"/>
                </a:lnTo>
                <a:lnTo>
                  <a:pt x="884888" y="33615"/>
                </a:lnTo>
                <a:lnTo>
                  <a:pt x="936366" y="47436"/>
                </a:lnTo>
                <a:lnTo>
                  <a:pt x="983408" y="63246"/>
                </a:lnTo>
                <a:lnTo>
                  <a:pt x="1025580" y="80883"/>
                </a:lnTo>
                <a:lnTo>
                  <a:pt x="1062451" y="100185"/>
                </a:lnTo>
                <a:lnTo>
                  <a:pt x="1118557" y="143141"/>
                </a:lnTo>
                <a:lnTo>
                  <a:pt x="1148268" y="190820"/>
                </a:lnTo>
                <a:lnTo>
                  <a:pt x="1152143" y="216026"/>
                </a:lnTo>
                <a:lnTo>
                  <a:pt x="1148268" y="241210"/>
                </a:lnTo>
                <a:lnTo>
                  <a:pt x="1118557" y="288862"/>
                </a:lnTo>
                <a:lnTo>
                  <a:pt x="1062451" y="331811"/>
                </a:lnTo>
                <a:lnTo>
                  <a:pt x="1025580" y="351117"/>
                </a:lnTo>
                <a:lnTo>
                  <a:pt x="983408" y="368760"/>
                </a:lnTo>
                <a:lnTo>
                  <a:pt x="936366" y="384577"/>
                </a:lnTo>
                <a:lnTo>
                  <a:pt x="884888" y="398407"/>
                </a:lnTo>
                <a:lnTo>
                  <a:pt x="829404" y="410087"/>
                </a:lnTo>
                <a:lnTo>
                  <a:pt x="770349" y="419453"/>
                </a:lnTo>
                <a:lnTo>
                  <a:pt x="708153" y="426345"/>
                </a:lnTo>
                <a:lnTo>
                  <a:pt x="643250" y="430599"/>
                </a:lnTo>
                <a:lnTo>
                  <a:pt x="576071" y="432053"/>
                </a:lnTo>
                <a:lnTo>
                  <a:pt x="508893" y="430599"/>
                </a:lnTo>
                <a:lnTo>
                  <a:pt x="443990" y="426345"/>
                </a:lnTo>
                <a:lnTo>
                  <a:pt x="381794" y="419453"/>
                </a:lnTo>
                <a:lnTo>
                  <a:pt x="322739" y="410087"/>
                </a:lnTo>
                <a:lnTo>
                  <a:pt x="267255" y="398407"/>
                </a:lnTo>
                <a:lnTo>
                  <a:pt x="215777" y="384577"/>
                </a:lnTo>
                <a:lnTo>
                  <a:pt x="168735" y="368760"/>
                </a:lnTo>
                <a:lnTo>
                  <a:pt x="126563" y="351117"/>
                </a:lnTo>
                <a:lnTo>
                  <a:pt x="89692" y="331811"/>
                </a:lnTo>
                <a:lnTo>
                  <a:pt x="33586" y="288862"/>
                </a:lnTo>
                <a:lnTo>
                  <a:pt x="3875" y="241210"/>
                </a:lnTo>
                <a:lnTo>
                  <a:pt x="0" y="216026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699761" y="4322445"/>
            <a:ext cx="6102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5" dirty="0">
                <a:latin typeface="Calibri"/>
                <a:cs typeface="Calibri"/>
              </a:rPr>
              <a:t>mCode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940171" y="5013197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11"/>
                </a:lnTo>
                <a:lnTo>
                  <a:pt x="59059" y="114439"/>
                </a:lnTo>
                <a:lnTo>
                  <a:pt x="90311" y="92574"/>
                </a:lnTo>
                <a:lnTo>
                  <a:pt x="127214" y="72526"/>
                </a:lnTo>
                <a:lnTo>
                  <a:pt x="169295" y="54495"/>
                </a:lnTo>
                <a:lnTo>
                  <a:pt x="216081" y="38685"/>
                </a:lnTo>
                <a:lnTo>
                  <a:pt x="267101" y="25296"/>
                </a:lnTo>
                <a:lnTo>
                  <a:pt x="321881" y="14532"/>
                </a:lnTo>
                <a:lnTo>
                  <a:pt x="379950" y="6593"/>
                </a:lnTo>
                <a:lnTo>
                  <a:pt x="440834" y="1681"/>
                </a:lnTo>
                <a:lnTo>
                  <a:pt x="504063" y="0"/>
                </a:lnTo>
                <a:lnTo>
                  <a:pt x="567291" y="1681"/>
                </a:lnTo>
                <a:lnTo>
                  <a:pt x="628175" y="6593"/>
                </a:lnTo>
                <a:lnTo>
                  <a:pt x="686244" y="14532"/>
                </a:lnTo>
                <a:lnTo>
                  <a:pt x="741024" y="25296"/>
                </a:lnTo>
                <a:lnTo>
                  <a:pt x="792044" y="38685"/>
                </a:lnTo>
                <a:lnTo>
                  <a:pt x="838830" y="54495"/>
                </a:lnTo>
                <a:lnTo>
                  <a:pt x="880911" y="72526"/>
                </a:lnTo>
                <a:lnTo>
                  <a:pt x="917814" y="92574"/>
                </a:lnTo>
                <a:lnTo>
                  <a:pt x="949066" y="114439"/>
                </a:lnTo>
                <a:lnTo>
                  <a:pt x="992731" y="162811"/>
                </a:lnTo>
                <a:lnTo>
                  <a:pt x="1008126" y="216026"/>
                </a:lnTo>
                <a:lnTo>
                  <a:pt x="1004198" y="243114"/>
                </a:lnTo>
                <a:lnTo>
                  <a:pt x="974196" y="294082"/>
                </a:lnTo>
                <a:lnTo>
                  <a:pt x="917814" y="339423"/>
                </a:lnTo>
                <a:lnTo>
                  <a:pt x="880911" y="359476"/>
                </a:lnTo>
                <a:lnTo>
                  <a:pt x="838830" y="377514"/>
                </a:lnTo>
                <a:lnTo>
                  <a:pt x="792044" y="393334"/>
                </a:lnTo>
                <a:lnTo>
                  <a:pt x="741024" y="406732"/>
                </a:lnTo>
                <a:lnTo>
                  <a:pt x="686244" y="417506"/>
                </a:lnTo>
                <a:lnTo>
                  <a:pt x="628175" y="425453"/>
                </a:lnTo>
                <a:lnTo>
                  <a:pt x="567291" y="430369"/>
                </a:lnTo>
                <a:lnTo>
                  <a:pt x="504063" y="432053"/>
                </a:lnTo>
                <a:lnTo>
                  <a:pt x="440834" y="430369"/>
                </a:lnTo>
                <a:lnTo>
                  <a:pt x="379950" y="425453"/>
                </a:lnTo>
                <a:lnTo>
                  <a:pt x="321881" y="417506"/>
                </a:lnTo>
                <a:lnTo>
                  <a:pt x="267101" y="406732"/>
                </a:lnTo>
                <a:lnTo>
                  <a:pt x="216081" y="393334"/>
                </a:lnTo>
                <a:lnTo>
                  <a:pt x="169295" y="377514"/>
                </a:lnTo>
                <a:lnTo>
                  <a:pt x="127214" y="359476"/>
                </a:lnTo>
                <a:lnTo>
                  <a:pt x="90311" y="339423"/>
                </a:lnTo>
                <a:lnTo>
                  <a:pt x="59059" y="317557"/>
                </a:lnTo>
                <a:lnTo>
                  <a:pt x="15394" y="269200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169533" y="5095747"/>
            <a:ext cx="54991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mT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l</a:t>
            </a:r>
            <a:r>
              <a:rPr sz="1600" spc="-5" dirty="0">
                <a:latin typeface="Calibri"/>
                <a:cs typeface="Calibri"/>
              </a:rPr>
              <a:t>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308342" y="4240148"/>
            <a:ext cx="1368425" cy="432434"/>
          </a:xfrm>
          <a:custGeom>
            <a:avLst/>
            <a:gdLst/>
            <a:ahLst/>
            <a:cxnLst/>
            <a:rect l="l" t="t" r="r" b="b"/>
            <a:pathLst>
              <a:path w="1368425" h="432435">
                <a:moveTo>
                  <a:pt x="0" y="216026"/>
                </a:moveTo>
                <a:lnTo>
                  <a:pt x="13894" y="172469"/>
                </a:lnTo>
                <a:lnTo>
                  <a:pt x="53746" y="131909"/>
                </a:lnTo>
                <a:lnTo>
                  <a:pt x="116807" y="95212"/>
                </a:lnTo>
                <a:lnTo>
                  <a:pt x="156181" y="78584"/>
                </a:lnTo>
                <a:lnTo>
                  <a:pt x="200326" y="63246"/>
                </a:lnTo>
                <a:lnTo>
                  <a:pt x="248899" y="49306"/>
                </a:lnTo>
                <a:lnTo>
                  <a:pt x="301556" y="36875"/>
                </a:lnTo>
                <a:lnTo>
                  <a:pt x="357954" y="26058"/>
                </a:lnTo>
                <a:lnTo>
                  <a:pt x="417748" y="16966"/>
                </a:lnTo>
                <a:lnTo>
                  <a:pt x="480596" y="9706"/>
                </a:lnTo>
                <a:lnTo>
                  <a:pt x="546153" y="4385"/>
                </a:lnTo>
                <a:lnTo>
                  <a:pt x="614076" y="1114"/>
                </a:lnTo>
                <a:lnTo>
                  <a:pt x="684022" y="0"/>
                </a:lnTo>
                <a:lnTo>
                  <a:pt x="753968" y="1114"/>
                </a:lnTo>
                <a:lnTo>
                  <a:pt x="821896" y="4385"/>
                </a:lnTo>
                <a:lnTo>
                  <a:pt x="887459" y="9706"/>
                </a:lnTo>
                <a:lnTo>
                  <a:pt x="950315" y="16966"/>
                </a:lnTo>
                <a:lnTo>
                  <a:pt x="1010119" y="26058"/>
                </a:lnTo>
                <a:lnTo>
                  <a:pt x="1066527" y="36875"/>
                </a:lnTo>
                <a:lnTo>
                  <a:pt x="1119195" y="49306"/>
                </a:lnTo>
                <a:lnTo>
                  <a:pt x="1167780" y="63245"/>
                </a:lnTo>
                <a:lnTo>
                  <a:pt x="1211938" y="78584"/>
                </a:lnTo>
                <a:lnTo>
                  <a:pt x="1251323" y="95212"/>
                </a:lnTo>
                <a:lnTo>
                  <a:pt x="1285593" y="113023"/>
                </a:lnTo>
                <a:lnTo>
                  <a:pt x="1337411" y="151760"/>
                </a:lnTo>
                <a:lnTo>
                  <a:pt x="1364638" y="193927"/>
                </a:lnTo>
                <a:lnTo>
                  <a:pt x="1368171" y="216026"/>
                </a:lnTo>
                <a:lnTo>
                  <a:pt x="1364638" y="238105"/>
                </a:lnTo>
                <a:lnTo>
                  <a:pt x="1337411" y="280246"/>
                </a:lnTo>
                <a:lnTo>
                  <a:pt x="1285593" y="318973"/>
                </a:lnTo>
                <a:lnTo>
                  <a:pt x="1251323" y="336785"/>
                </a:lnTo>
                <a:lnTo>
                  <a:pt x="1211938" y="353417"/>
                </a:lnTo>
                <a:lnTo>
                  <a:pt x="1167780" y="368760"/>
                </a:lnTo>
                <a:lnTo>
                  <a:pt x="1119195" y="382706"/>
                </a:lnTo>
                <a:lnTo>
                  <a:pt x="1066527" y="395145"/>
                </a:lnTo>
                <a:lnTo>
                  <a:pt x="1010119" y="405969"/>
                </a:lnTo>
                <a:lnTo>
                  <a:pt x="950315" y="415069"/>
                </a:lnTo>
                <a:lnTo>
                  <a:pt x="887459" y="422337"/>
                </a:lnTo>
                <a:lnTo>
                  <a:pt x="821896" y="427662"/>
                </a:lnTo>
                <a:lnTo>
                  <a:pt x="753968" y="430938"/>
                </a:lnTo>
                <a:lnTo>
                  <a:pt x="684022" y="432053"/>
                </a:lnTo>
                <a:lnTo>
                  <a:pt x="614076" y="430938"/>
                </a:lnTo>
                <a:lnTo>
                  <a:pt x="546153" y="427662"/>
                </a:lnTo>
                <a:lnTo>
                  <a:pt x="480596" y="422337"/>
                </a:lnTo>
                <a:lnTo>
                  <a:pt x="417748" y="415069"/>
                </a:lnTo>
                <a:lnTo>
                  <a:pt x="357954" y="405969"/>
                </a:lnTo>
                <a:lnTo>
                  <a:pt x="301556" y="395145"/>
                </a:lnTo>
                <a:lnTo>
                  <a:pt x="248899" y="382706"/>
                </a:lnTo>
                <a:lnTo>
                  <a:pt x="200326" y="368760"/>
                </a:lnTo>
                <a:lnTo>
                  <a:pt x="156181" y="353417"/>
                </a:lnTo>
                <a:lnTo>
                  <a:pt x="116807" y="336785"/>
                </a:lnTo>
                <a:lnTo>
                  <a:pt x="82547" y="318973"/>
                </a:lnTo>
                <a:lnTo>
                  <a:pt x="30747" y="280246"/>
                </a:lnTo>
                <a:lnTo>
                  <a:pt x="3530" y="238105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611618" y="4322445"/>
            <a:ext cx="76454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mCredits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580126" y="4456176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0" y="0"/>
                </a:moveTo>
                <a:lnTo>
                  <a:pt x="292226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015353" y="4456176"/>
            <a:ext cx="293370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298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443853" y="4722876"/>
            <a:ext cx="635" cy="290830"/>
          </a:xfrm>
          <a:custGeom>
            <a:avLst/>
            <a:gdLst/>
            <a:ahLst/>
            <a:cxnLst/>
            <a:rect l="l" t="t" r="r" b="b"/>
            <a:pathLst>
              <a:path w="635" h="290829">
                <a:moveTo>
                  <a:pt x="0" y="0"/>
                </a:moveTo>
                <a:lnTo>
                  <a:pt x="381" y="29032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71804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83510">
              <a:lnSpc>
                <a:spcPct val="100000"/>
              </a:lnSpc>
            </a:pPr>
            <a:r>
              <a:rPr spc="-5" dirty="0"/>
              <a:t>E</a:t>
            </a:r>
            <a:r>
              <a:rPr spc="-85" dirty="0"/>
              <a:t>x</a:t>
            </a:r>
            <a:r>
              <a:rPr dirty="0"/>
              <a:t>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4038"/>
            <a:ext cx="5331460" cy="1772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 marR="860425" indent="-243840">
              <a:lnSpc>
                <a:spcPct val="120000"/>
              </a:lnSpc>
            </a:pPr>
            <a:r>
              <a:rPr sz="1600" b="1" spc="-5" dirty="0">
                <a:latin typeface="Courier New"/>
                <a:cs typeface="Courier New"/>
              </a:rPr>
              <a:t>CREATE TABLE Student (  </a:t>
            </a:r>
            <a:endParaRPr lang="en-US" sz="1600" b="1" spc="-5" dirty="0" smtClean="0">
              <a:latin typeface="Courier New"/>
              <a:cs typeface="Courier New"/>
            </a:endParaRPr>
          </a:p>
          <a:p>
            <a:pPr marL="255904" marR="860425" indent="-243840">
              <a:lnSpc>
                <a:spcPct val="120000"/>
              </a:lnSpc>
            </a:pPr>
            <a:r>
              <a:rPr lang="en-US" sz="1600" b="1" spc="-5" dirty="0">
                <a:latin typeface="Courier New"/>
                <a:cs typeface="Courier New"/>
              </a:rPr>
              <a:t> </a:t>
            </a:r>
            <a:r>
              <a:rPr lang="en-US" sz="1600" b="1" spc="-5" dirty="0" smtClean="0">
                <a:latin typeface="Courier New"/>
                <a:cs typeface="Courier New"/>
              </a:rPr>
              <a:t> </a:t>
            </a:r>
            <a:r>
              <a:rPr sz="1600" b="1" spc="-5" dirty="0" err="1" smtClean="0">
                <a:latin typeface="Courier New"/>
                <a:cs typeface="Courier New"/>
              </a:rPr>
              <a:t>sID</a:t>
            </a:r>
            <a:r>
              <a:rPr sz="1600" b="1" spc="-5" dirty="0" smtClean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INT </a:t>
            </a:r>
            <a:r>
              <a:rPr sz="1600" b="1" dirty="0">
                <a:latin typeface="Courier New"/>
                <a:cs typeface="Courier New"/>
              </a:rPr>
              <a:t>NOT</a:t>
            </a:r>
            <a:r>
              <a:rPr sz="1600" b="1" spc="-55" dirty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NULL</a:t>
            </a:r>
            <a:r>
              <a:rPr lang="en-US" sz="1600" dirty="0">
                <a:latin typeface="Courier New"/>
                <a:cs typeface="Courier New"/>
              </a:rPr>
              <a:t> </a:t>
            </a:r>
            <a:r>
              <a:rPr sz="1600" b="1" spc="-5" dirty="0" smtClean="0">
                <a:latin typeface="Courier New"/>
                <a:cs typeface="Courier New"/>
              </a:rPr>
              <a:t>AUTO_INCREMENT</a:t>
            </a:r>
            <a:r>
              <a:rPr sz="1600" b="1" spc="-5" dirty="0">
                <a:latin typeface="Courier New"/>
                <a:cs typeface="Courier New"/>
              </a:rPr>
              <a:t>,</a:t>
            </a:r>
            <a:endParaRPr sz="1600" dirty="0">
              <a:latin typeface="Courier New"/>
              <a:cs typeface="Courier New"/>
            </a:endParaRPr>
          </a:p>
          <a:p>
            <a:pPr marL="255904">
              <a:lnSpc>
                <a:spcPct val="100000"/>
              </a:lnSpc>
              <a:spcBef>
                <a:spcPts val="385"/>
              </a:spcBef>
            </a:pPr>
            <a:r>
              <a:rPr sz="1600" b="1" spc="-5" dirty="0">
                <a:latin typeface="Courier New"/>
                <a:cs typeface="Courier New"/>
              </a:rPr>
              <a:t>sName VARCHAR(50) NOT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NULL,</a:t>
            </a:r>
            <a:endParaRPr sz="1600" dirty="0">
              <a:latin typeface="Courier New"/>
              <a:cs typeface="Courier New"/>
            </a:endParaRPr>
          </a:p>
          <a:p>
            <a:pPr marL="255904" marR="615315">
              <a:lnSpc>
                <a:spcPct val="120000"/>
              </a:lnSpc>
            </a:pPr>
            <a:r>
              <a:rPr sz="1600" b="1" spc="-5" dirty="0">
                <a:latin typeface="Courier New"/>
                <a:cs typeface="Courier New"/>
              </a:rPr>
              <a:t>sAddress VARCHAR(255),  </a:t>
            </a:r>
            <a:endParaRPr lang="en-US" sz="1600" b="1" spc="-5" dirty="0" smtClean="0">
              <a:latin typeface="Courier New"/>
              <a:cs typeface="Courier New"/>
            </a:endParaRPr>
          </a:p>
          <a:p>
            <a:pPr marL="255904" marR="615315">
              <a:lnSpc>
                <a:spcPct val="120000"/>
              </a:lnSpc>
            </a:pPr>
            <a:r>
              <a:rPr sz="1600" b="1" spc="-5" dirty="0" smtClean="0">
                <a:latin typeface="Courier New"/>
                <a:cs typeface="Courier New"/>
              </a:rPr>
              <a:t>sYear </a:t>
            </a:r>
            <a:r>
              <a:rPr sz="1600" b="1" spc="-5" dirty="0">
                <a:latin typeface="Courier New"/>
                <a:cs typeface="Courier New"/>
              </a:rPr>
              <a:t>INT DEFAULT</a:t>
            </a:r>
            <a:r>
              <a:rPr sz="1600" b="1" spc="-3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1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217876"/>
            <a:ext cx="3426460" cy="5827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 marR="5080" indent="-243840">
              <a:lnSpc>
                <a:spcPct val="120000"/>
              </a:lnSpc>
            </a:pPr>
            <a:r>
              <a:rPr sz="1600" b="1" spc="-5" dirty="0">
                <a:latin typeface="Courier New"/>
                <a:cs typeface="Courier New"/>
              </a:rPr>
              <a:t>CREATE TABLE Module ( </a:t>
            </a:r>
            <a:endParaRPr lang="en-US" sz="1600" b="1" spc="-5" dirty="0" smtClean="0">
              <a:latin typeface="Courier New"/>
              <a:cs typeface="Courier New"/>
            </a:endParaRPr>
          </a:p>
          <a:p>
            <a:pPr marL="255904" marR="5080" indent="-243840">
              <a:lnSpc>
                <a:spcPct val="120000"/>
              </a:lnSpc>
            </a:pPr>
            <a:r>
              <a:rPr lang="en-US" sz="1600" b="1" spc="-5" dirty="0">
                <a:latin typeface="Courier New"/>
                <a:cs typeface="Courier New"/>
              </a:rPr>
              <a:t> </a:t>
            </a:r>
            <a:r>
              <a:rPr sz="1600" b="1" spc="-5" dirty="0" smtClean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mCode CHAR(6) NOT</a:t>
            </a:r>
            <a:r>
              <a:rPr sz="1600" b="1" spc="-1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NULL,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2000" y="4850892"/>
            <a:ext cx="4648200" cy="541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1760" marR="5080" indent="-9906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mCredits TINYINT NOT NULL </a:t>
            </a:r>
            <a:r>
              <a:rPr sz="1600" b="1" spc="-5" dirty="0" smtClean="0">
                <a:latin typeface="Courier New"/>
                <a:cs typeface="Courier New"/>
              </a:rPr>
              <a:t>DEFAULT</a:t>
            </a:r>
            <a:r>
              <a:rPr sz="1600" b="1" spc="-75" dirty="0" smtClean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10,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b="1" spc="-5" dirty="0">
                <a:latin typeface="Courier New"/>
                <a:cs typeface="Courier New"/>
              </a:rPr>
              <a:t>mTitle VARCHAR(100)</a:t>
            </a:r>
            <a:r>
              <a:rPr sz="1600" b="1" spc="-50" dirty="0">
                <a:latin typeface="Courier New"/>
                <a:cs typeface="Courier New"/>
              </a:rPr>
              <a:t> </a:t>
            </a:r>
            <a:r>
              <a:rPr sz="1600" b="1" dirty="0" smtClean="0">
                <a:latin typeface="Courier New"/>
                <a:cs typeface="Courier New"/>
              </a:rPr>
              <a:t>NOT</a:t>
            </a:r>
            <a:r>
              <a:rPr lang="en-US" sz="1600" dirty="0">
                <a:latin typeface="Courier New"/>
                <a:cs typeface="Courier New"/>
              </a:rPr>
              <a:t> </a:t>
            </a:r>
            <a:r>
              <a:rPr sz="1600" b="1" spc="-5" dirty="0" smtClean="0">
                <a:latin typeface="Courier New"/>
                <a:cs typeface="Courier New"/>
              </a:rPr>
              <a:t>NULL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3400" y="5943600"/>
            <a:ext cx="26924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72353" y="2679573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054100" y="0"/>
                </a:lnTo>
                <a:lnTo>
                  <a:pt x="1088671" y="6979"/>
                </a:lnTo>
                <a:lnTo>
                  <a:pt x="1116933" y="26019"/>
                </a:lnTo>
                <a:lnTo>
                  <a:pt x="1136003" y="54274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03" y="479125"/>
                </a:lnTo>
                <a:lnTo>
                  <a:pt x="1116933" y="507380"/>
                </a:lnTo>
                <a:lnTo>
                  <a:pt x="1088671" y="526420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24498" y="2778125"/>
            <a:ext cx="83883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St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-20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76063" y="2103501"/>
            <a:ext cx="1152525" cy="432434"/>
          </a:xfrm>
          <a:custGeom>
            <a:avLst/>
            <a:gdLst/>
            <a:ahLst/>
            <a:cxnLst/>
            <a:rect l="l" t="t" r="r" b="b"/>
            <a:pathLst>
              <a:path w="1152525" h="432435">
                <a:moveTo>
                  <a:pt x="0" y="216026"/>
                </a:moveTo>
                <a:lnTo>
                  <a:pt x="15215" y="166511"/>
                </a:lnTo>
                <a:lnTo>
                  <a:pt x="58556" y="121048"/>
                </a:lnTo>
                <a:lnTo>
                  <a:pt x="126563" y="80936"/>
                </a:lnTo>
                <a:lnTo>
                  <a:pt x="168735" y="63293"/>
                </a:lnTo>
                <a:lnTo>
                  <a:pt x="215777" y="47476"/>
                </a:lnTo>
                <a:lnTo>
                  <a:pt x="267255" y="33646"/>
                </a:lnTo>
                <a:lnTo>
                  <a:pt x="322739" y="21966"/>
                </a:lnTo>
                <a:lnTo>
                  <a:pt x="381794" y="12600"/>
                </a:lnTo>
                <a:lnTo>
                  <a:pt x="443990" y="5708"/>
                </a:lnTo>
                <a:lnTo>
                  <a:pt x="508893" y="1454"/>
                </a:lnTo>
                <a:lnTo>
                  <a:pt x="576072" y="0"/>
                </a:lnTo>
                <a:lnTo>
                  <a:pt x="643250" y="1454"/>
                </a:lnTo>
                <a:lnTo>
                  <a:pt x="708153" y="5708"/>
                </a:lnTo>
                <a:lnTo>
                  <a:pt x="770349" y="12600"/>
                </a:lnTo>
                <a:lnTo>
                  <a:pt x="829404" y="21966"/>
                </a:lnTo>
                <a:lnTo>
                  <a:pt x="884888" y="33646"/>
                </a:lnTo>
                <a:lnTo>
                  <a:pt x="936366" y="47476"/>
                </a:lnTo>
                <a:lnTo>
                  <a:pt x="983408" y="63293"/>
                </a:lnTo>
                <a:lnTo>
                  <a:pt x="1025580" y="80936"/>
                </a:lnTo>
                <a:lnTo>
                  <a:pt x="1062451" y="100242"/>
                </a:lnTo>
                <a:lnTo>
                  <a:pt x="1118557" y="143191"/>
                </a:lnTo>
                <a:lnTo>
                  <a:pt x="1148268" y="190843"/>
                </a:lnTo>
                <a:lnTo>
                  <a:pt x="1152144" y="216026"/>
                </a:lnTo>
                <a:lnTo>
                  <a:pt x="1148268" y="241210"/>
                </a:lnTo>
                <a:lnTo>
                  <a:pt x="1118557" y="288862"/>
                </a:lnTo>
                <a:lnTo>
                  <a:pt x="1062451" y="331811"/>
                </a:lnTo>
                <a:lnTo>
                  <a:pt x="1025580" y="351117"/>
                </a:lnTo>
                <a:lnTo>
                  <a:pt x="983408" y="368760"/>
                </a:lnTo>
                <a:lnTo>
                  <a:pt x="936366" y="384577"/>
                </a:lnTo>
                <a:lnTo>
                  <a:pt x="884888" y="398407"/>
                </a:lnTo>
                <a:lnTo>
                  <a:pt x="829404" y="410087"/>
                </a:lnTo>
                <a:lnTo>
                  <a:pt x="770349" y="419453"/>
                </a:lnTo>
                <a:lnTo>
                  <a:pt x="708153" y="426345"/>
                </a:lnTo>
                <a:lnTo>
                  <a:pt x="643250" y="430599"/>
                </a:lnTo>
                <a:lnTo>
                  <a:pt x="576072" y="432053"/>
                </a:lnTo>
                <a:lnTo>
                  <a:pt x="508893" y="430599"/>
                </a:lnTo>
                <a:lnTo>
                  <a:pt x="443990" y="426345"/>
                </a:lnTo>
                <a:lnTo>
                  <a:pt x="381794" y="419453"/>
                </a:lnTo>
                <a:lnTo>
                  <a:pt x="322739" y="410087"/>
                </a:lnTo>
                <a:lnTo>
                  <a:pt x="267255" y="398407"/>
                </a:lnTo>
                <a:lnTo>
                  <a:pt x="215777" y="384577"/>
                </a:lnTo>
                <a:lnTo>
                  <a:pt x="168735" y="368760"/>
                </a:lnTo>
                <a:lnTo>
                  <a:pt x="126563" y="351117"/>
                </a:lnTo>
                <a:lnTo>
                  <a:pt x="89692" y="331811"/>
                </a:lnTo>
                <a:lnTo>
                  <a:pt x="33586" y="288862"/>
                </a:lnTo>
                <a:lnTo>
                  <a:pt x="3875" y="241210"/>
                </a:lnTo>
                <a:lnTo>
                  <a:pt x="0" y="216026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55463" y="2185542"/>
            <a:ext cx="59626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sName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72000" y="2729610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11"/>
                </a:lnTo>
                <a:lnTo>
                  <a:pt x="59059" y="114439"/>
                </a:lnTo>
                <a:lnTo>
                  <a:pt x="90311" y="92574"/>
                </a:lnTo>
                <a:lnTo>
                  <a:pt x="127214" y="72526"/>
                </a:lnTo>
                <a:lnTo>
                  <a:pt x="169295" y="54495"/>
                </a:lnTo>
                <a:lnTo>
                  <a:pt x="216081" y="38685"/>
                </a:lnTo>
                <a:lnTo>
                  <a:pt x="267101" y="25296"/>
                </a:lnTo>
                <a:lnTo>
                  <a:pt x="321881" y="14532"/>
                </a:lnTo>
                <a:lnTo>
                  <a:pt x="379950" y="6593"/>
                </a:lnTo>
                <a:lnTo>
                  <a:pt x="440834" y="1681"/>
                </a:lnTo>
                <a:lnTo>
                  <a:pt x="504063" y="0"/>
                </a:lnTo>
                <a:lnTo>
                  <a:pt x="567291" y="1681"/>
                </a:lnTo>
                <a:lnTo>
                  <a:pt x="628175" y="6593"/>
                </a:lnTo>
                <a:lnTo>
                  <a:pt x="686244" y="14532"/>
                </a:lnTo>
                <a:lnTo>
                  <a:pt x="741024" y="25296"/>
                </a:lnTo>
                <a:lnTo>
                  <a:pt x="792044" y="38685"/>
                </a:lnTo>
                <a:lnTo>
                  <a:pt x="838830" y="54495"/>
                </a:lnTo>
                <a:lnTo>
                  <a:pt x="880911" y="72526"/>
                </a:lnTo>
                <a:lnTo>
                  <a:pt x="917814" y="92574"/>
                </a:lnTo>
                <a:lnTo>
                  <a:pt x="949066" y="114439"/>
                </a:lnTo>
                <a:lnTo>
                  <a:pt x="992731" y="162811"/>
                </a:lnTo>
                <a:lnTo>
                  <a:pt x="1008126" y="216026"/>
                </a:lnTo>
                <a:lnTo>
                  <a:pt x="1004198" y="243114"/>
                </a:lnTo>
                <a:lnTo>
                  <a:pt x="974196" y="294082"/>
                </a:lnTo>
                <a:lnTo>
                  <a:pt x="917814" y="339423"/>
                </a:lnTo>
                <a:lnTo>
                  <a:pt x="880911" y="359476"/>
                </a:lnTo>
                <a:lnTo>
                  <a:pt x="838830" y="377514"/>
                </a:lnTo>
                <a:lnTo>
                  <a:pt x="792044" y="393334"/>
                </a:lnTo>
                <a:lnTo>
                  <a:pt x="741024" y="406732"/>
                </a:lnTo>
                <a:lnTo>
                  <a:pt x="686244" y="417506"/>
                </a:lnTo>
                <a:lnTo>
                  <a:pt x="628175" y="425453"/>
                </a:lnTo>
                <a:lnTo>
                  <a:pt x="567291" y="430369"/>
                </a:lnTo>
                <a:lnTo>
                  <a:pt x="504063" y="432053"/>
                </a:lnTo>
                <a:lnTo>
                  <a:pt x="440834" y="430369"/>
                </a:lnTo>
                <a:lnTo>
                  <a:pt x="379950" y="425453"/>
                </a:lnTo>
                <a:lnTo>
                  <a:pt x="321881" y="417506"/>
                </a:lnTo>
                <a:lnTo>
                  <a:pt x="267101" y="406732"/>
                </a:lnTo>
                <a:lnTo>
                  <a:pt x="216081" y="393334"/>
                </a:lnTo>
                <a:lnTo>
                  <a:pt x="169295" y="377514"/>
                </a:lnTo>
                <a:lnTo>
                  <a:pt x="127214" y="359476"/>
                </a:lnTo>
                <a:lnTo>
                  <a:pt x="90311" y="339423"/>
                </a:lnTo>
                <a:lnTo>
                  <a:pt x="59059" y="317557"/>
                </a:lnTo>
                <a:lnTo>
                  <a:pt x="15394" y="269200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35473" y="2811526"/>
            <a:ext cx="28130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0" dirty="0">
                <a:latin typeface="Calibri"/>
                <a:cs typeface="Calibri"/>
              </a:rPr>
              <a:t>s</a:t>
            </a:r>
            <a:r>
              <a:rPr sz="1600" u="heavy" spc="-5" dirty="0"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32269" y="2103501"/>
            <a:ext cx="1368425" cy="432434"/>
          </a:xfrm>
          <a:custGeom>
            <a:avLst/>
            <a:gdLst/>
            <a:ahLst/>
            <a:cxnLst/>
            <a:rect l="l" t="t" r="r" b="b"/>
            <a:pathLst>
              <a:path w="1368425" h="432435">
                <a:moveTo>
                  <a:pt x="0" y="216026"/>
                </a:moveTo>
                <a:lnTo>
                  <a:pt x="13894" y="172505"/>
                </a:lnTo>
                <a:lnTo>
                  <a:pt x="53746" y="131962"/>
                </a:lnTo>
                <a:lnTo>
                  <a:pt x="116807" y="95268"/>
                </a:lnTo>
                <a:lnTo>
                  <a:pt x="156181" y="78636"/>
                </a:lnTo>
                <a:lnTo>
                  <a:pt x="200326" y="63293"/>
                </a:lnTo>
                <a:lnTo>
                  <a:pt x="248899" y="49347"/>
                </a:lnTo>
                <a:lnTo>
                  <a:pt x="301556" y="36908"/>
                </a:lnTo>
                <a:lnTo>
                  <a:pt x="357954" y="26084"/>
                </a:lnTo>
                <a:lnTo>
                  <a:pt x="417748" y="16984"/>
                </a:lnTo>
                <a:lnTo>
                  <a:pt x="480596" y="9716"/>
                </a:lnTo>
                <a:lnTo>
                  <a:pt x="546153" y="4391"/>
                </a:lnTo>
                <a:lnTo>
                  <a:pt x="614076" y="1115"/>
                </a:lnTo>
                <a:lnTo>
                  <a:pt x="684022" y="0"/>
                </a:lnTo>
                <a:lnTo>
                  <a:pt x="753968" y="1115"/>
                </a:lnTo>
                <a:lnTo>
                  <a:pt x="821896" y="4391"/>
                </a:lnTo>
                <a:lnTo>
                  <a:pt x="887459" y="9716"/>
                </a:lnTo>
                <a:lnTo>
                  <a:pt x="950315" y="16984"/>
                </a:lnTo>
                <a:lnTo>
                  <a:pt x="1010119" y="26084"/>
                </a:lnTo>
                <a:lnTo>
                  <a:pt x="1066527" y="36908"/>
                </a:lnTo>
                <a:lnTo>
                  <a:pt x="1119195" y="49347"/>
                </a:lnTo>
                <a:lnTo>
                  <a:pt x="1167780" y="63293"/>
                </a:lnTo>
                <a:lnTo>
                  <a:pt x="1211938" y="78636"/>
                </a:lnTo>
                <a:lnTo>
                  <a:pt x="1251323" y="95268"/>
                </a:lnTo>
                <a:lnTo>
                  <a:pt x="1285593" y="113080"/>
                </a:lnTo>
                <a:lnTo>
                  <a:pt x="1337411" y="151807"/>
                </a:lnTo>
                <a:lnTo>
                  <a:pt x="1364638" y="193948"/>
                </a:lnTo>
                <a:lnTo>
                  <a:pt x="1368171" y="216026"/>
                </a:lnTo>
                <a:lnTo>
                  <a:pt x="1364638" y="238105"/>
                </a:lnTo>
                <a:lnTo>
                  <a:pt x="1337411" y="280246"/>
                </a:lnTo>
                <a:lnTo>
                  <a:pt x="1285593" y="318973"/>
                </a:lnTo>
                <a:lnTo>
                  <a:pt x="1251323" y="336785"/>
                </a:lnTo>
                <a:lnTo>
                  <a:pt x="1211938" y="353417"/>
                </a:lnTo>
                <a:lnTo>
                  <a:pt x="1167780" y="368760"/>
                </a:lnTo>
                <a:lnTo>
                  <a:pt x="1119195" y="382706"/>
                </a:lnTo>
                <a:lnTo>
                  <a:pt x="1066527" y="395145"/>
                </a:lnTo>
                <a:lnTo>
                  <a:pt x="1010119" y="405969"/>
                </a:lnTo>
                <a:lnTo>
                  <a:pt x="950315" y="415069"/>
                </a:lnTo>
                <a:lnTo>
                  <a:pt x="887459" y="422337"/>
                </a:lnTo>
                <a:lnTo>
                  <a:pt x="821896" y="427662"/>
                </a:lnTo>
                <a:lnTo>
                  <a:pt x="753968" y="430938"/>
                </a:lnTo>
                <a:lnTo>
                  <a:pt x="684022" y="432053"/>
                </a:lnTo>
                <a:lnTo>
                  <a:pt x="614076" y="430938"/>
                </a:lnTo>
                <a:lnTo>
                  <a:pt x="546153" y="427662"/>
                </a:lnTo>
                <a:lnTo>
                  <a:pt x="480596" y="422337"/>
                </a:lnTo>
                <a:lnTo>
                  <a:pt x="417748" y="415069"/>
                </a:lnTo>
                <a:lnTo>
                  <a:pt x="357954" y="405969"/>
                </a:lnTo>
                <a:lnTo>
                  <a:pt x="301556" y="395145"/>
                </a:lnTo>
                <a:lnTo>
                  <a:pt x="248899" y="382706"/>
                </a:lnTo>
                <a:lnTo>
                  <a:pt x="200326" y="368760"/>
                </a:lnTo>
                <a:lnTo>
                  <a:pt x="156181" y="353417"/>
                </a:lnTo>
                <a:lnTo>
                  <a:pt x="116807" y="336785"/>
                </a:lnTo>
                <a:lnTo>
                  <a:pt x="82547" y="318973"/>
                </a:lnTo>
                <a:lnTo>
                  <a:pt x="30747" y="280246"/>
                </a:lnTo>
                <a:lnTo>
                  <a:pt x="3530" y="238105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037069" y="2185542"/>
            <a:ext cx="76200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sAddress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08342" y="2730119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53"/>
                </a:lnTo>
                <a:lnTo>
                  <a:pt x="59059" y="114496"/>
                </a:lnTo>
                <a:lnTo>
                  <a:pt x="90311" y="92630"/>
                </a:lnTo>
                <a:lnTo>
                  <a:pt x="127214" y="72577"/>
                </a:lnTo>
                <a:lnTo>
                  <a:pt x="169295" y="54539"/>
                </a:lnTo>
                <a:lnTo>
                  <a:pt x="216081" y="38719"/>
                </a:lnTo>
                <a:lnTo>
                  <a:pt x="267101" y="25321"/>
                </a:lnTo>
                <a:lnTo>
                  <a:pt x="321881" y="14547"/>
                </a:lnTo>
                <a:lnTo>
                  <a:pt x="379950" y="6600"/>
                </a:lnTo>
                <a:lnTo>
                  <a:pt x="440834" y="1684"/>
                </a:lnTo>
                <a:lnTo>
                  <a:pt x="504062" y="0"/>
                </a:lnTo>
                <a:lnTo>
                  <a:pt x="567291" y="1684"/>
                </a:lnTo>
                <a:lnTo>
                  <a:pt x="628175" y="6600"/>
                </a:lnTo>
                <a:lnTo>
                  <a:pt x="686244" y="14547"/>
                </a:lnTo>
                <a:lnTo>
                  <a:pt x="741024" y="25321"/>
                </a:lnTo>
                <a:lnTo>
                  <a:pt x="792044" y="38719"/>
                </a:lnTo>
                <a:lnTo>
                  <a:pt x="838830" y="54539"/>
                </a:lnTo>
                <a:lnTo>
                  <a:pt x="880911" y="72577"/>
                </a:lnTo>
                <a:lnTo>
                  <a:pt x="917814" y="92630"/>
                </a:lnTo>
                <a:lnTo>
                  <a:pt x="949066" y="114496"/>
                </a:lnTo>
                <a:lnTo>
                  <a:pt x="992731" y="162853"/>
                </a:lnTo>
                <a:lnTo>
                  <a:pt x="1008126" y="216026"/>
                </a:lnTo>
                <a:lnTo>
                  <a:pt x="1004198" y="243139"/>
                </a:lnTo>
                <a:lnTo>
                  <a:pt x="974196" y="294134"/>
                </a:lnTo>
                <a:lnTo>
                  <a:pt x="917814" y="339479"/>
                </a:lnTo>
                <a:lnTo>
                  <a:pt x="880911" y="359527"/>
                </a:lnTo>
                <a:lnTo>
                  <a:pt x="838830" y="377558"/>
                </a:lnTo>
                <a:lnTo>
                  <a:pt x="792044" y="393368"/>
                </a:lnTo>
                <a:lnTo>
                  <a:pt x="741024" y="406757"/>
                </a:lnTo>
                <a:lnTo>
                  <a:pt x="686244" y="417521"/>
                </a:lnTo>
                <a:lnTo>
                  <a:pt x="628175" y="425460"/>
                </a:lnTo>
                <a:lnTo>
                  <a:pt x="567291" y="430372"/>
                </a:lnTo>
                <a:lnTo>
                  <a:pt x="504062" y="432053"/>
                </a:lnTo>
                <a:lnTo>
                  <a:pt x="440834" y="430372"/>
                </a:lnTo>
                <a:lnTo>
                  <a:pt x="379950" y="425460"/>
                </a:lnTo>
                <a:lnTo>
                  <a:pt x="321881" y="417521"/>
                </a:lnTo>
                <a:lnTo>
                  <a:pt x="267101" y="406757"/>
                </a:lnTo>
                <a:lnTo>
                  <a:pt x="216081" y="393368"/>
                </a:lnTo>
                <a:lnTo>
                  <a:pt x="169295" y="377558"/>
                </a:lnTo>
                <a:lnTo>
                  <a:pt x="127214" y="359527"/>
                </a:lnTo>
                <a:lnTo>
                  <a:pt x="90311" y="339479"/>
                </a:lnTo>
                <a:lnTo>
                  <a:pt x="59059" y="317614"/>
                </a:lnTo>
                <a:lnTo>
                  <a:pt x="15394" y="269242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585075" y="2812160"/>
            <a:ext cx="45783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</a:t>
            </a:r>
            <a:r>
              <a:rPr sz="1600" spc="-125" dirty="0">
                <a:latin typeface="Calibri"/>
                <a:cs typeface="Calibri"/>
              </a:rPr>
              <a:t>Y</a:t>
            </a:r>
            <a:r>
              <a:rPr sz="1600" spc="-5" dirty="0">
                <a:latin typeface="Calibri"/>
                <a:cs typeface="Calibri"/>
              </a:rPr>
              <a:t>ear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80126" y="2945638"/>
            <a:ext cx="292735" cy="635"/>
          </a:xfrm>
          <a:custGeom>
            <a:avLst/>
            <a:gdLst/>
            <a:ahLst/>
            <a:cxnLst/>
            <a:rect l="l" t="t" r="r" b="b"/>
            <a:pathLst>
              <a:path w="292735" h="635">
                <a:moveTo>
                  <a:pt x="292226" y="635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59423" y="2472308"/>
            <a:ext cx="168910" cy="207645"/>
          </a:xfrm>
          <a:custGeom>
            <a:avLst/>
            <a:gdLst/>
            <a:ahLst/>
            <a:cxnLst/>
            <a:rect l="l" t="t" r="r" b="b"/>
            <a:pathLst>
              <a:path w="168910" h="207644">
                <a:moveTo>
                  <a:pt x="0" y="0"/>
                </a:moveTo>
                <a:lnTo>
                  <a:pt x="168783" y="20726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732269" y="2472308"/>
            <a:ext cx="200660" cy="207645"/>
          </a:xfrm>
          <a:custGeom>
            <a:avLst/>
            <a:gdLst/>
            <a:ahLst/>
            <a:cxnLst/>
            <a:rect l="l" t="t" r="r" b="b"/>
            <a:pathLst>
              <a:path w="200659" h="207644">
                <a:moveTo>
                  <a:pt x="200278" y="0"/>
                </a:moveTo>
                <a:lnTo>
                  <a:pt x="0" y="20726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15353" y="2946145"/>
            <a:ext cx="293370" cy="635"/>
          </a:xfrm>
          <a:custGeom>
            <a:avLst/>
            <a:gdLst/>
            <a:ahLst/>
            <a:cxnLst/>
            <a:rect l="l" t="t" r="r" b="b"/>
            <a:pathLst>
              <a:path w="293370" h="635">
                <a:moveTo>
                  <a:pt x="0" y="126"/>
                </a:moveTo>
                <a:lnTo>
                  <a:pt x="29298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872353" y="4189476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88900"/>
                </a:moveTo>
                <a:lnTo>
                  <a:pt x="6979" y="54328"/>
                </a:lnTo>
                <a:lnTo>
                  <a:pt x="26019" y="26066"/>
                </a:lnTo>
                <a:lnTo>
                  <a:pt x="54274" y="6996"/>
                </a:lnTo>
                <a:lnTo>
                  <a:pt x="88900" y="0"/>
                </a:lnTo>
                <a:lnTo>
                  <a:pt x="1054100" y="0"/>
                </a:lnTo>
                <a:lnTo>
                  <a:pt x="1088671" y="6996"/>
                </a:lnTo>
                <a:lnTo>
                  <a:pt x="1116933" y="26066"/>
                </a:lnTo>
                <a:lnTo>
                  <a:pt x="1136003" y="54328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03" y="479125"/>
                </a:lnTo>
                <a:lnTo>
                  <a:pt x="1116933" y="507380"/>
                </a:lnTo>
                <a:lnTo>
                  <a:pt x="1088671" y="526420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029071" y="4288408"/>
            <a:ext cx="83058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Mod</a:t>
            </a:r>
            <a:r>
              <a:rPr sz="2000" spc="-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le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427982" y="4240148"/>
            <a:ext cx="1152525" cy="432434"/>
          </a:xfrm>
          <a:custGeom>
            <a:avLst/>
            <a:gdLst/>
            <a:ahLst/>
            <a:cxnLst/>
            <a:rect l="l" t="t" r="r" b="b"/>
            <a:pathLst>
              <a:path w="1152525" h="432435">
                <a:moveTo>
                  <a:pt x="0" y="216026"/>
                </a:moveTo>
                <a:lnTo>
                  <a:pt x="15215" y="166471"/>
                </a:lnTo>
                <a:lnTo>
                  <a:pt x="58556" y="120992"/>
                </a:lnTo>
                <a:lnTo>
                  <a:pt x="126563" y="80883"/>
                </a:lnTo>
                <a:lnTo>
                  <a:pt x="168735" y="63245"/>
                </a:lnTo>
                <a:lnTo>
                  <a:pt x="215777" y="47436"/>
                </a:lnTo>
                <a:lnTo>
                  <a:pt x="267255" y="33615"/>
                </a:lnTo>
                <a:lnTo>
                  <a:pt x="322739" y="21944"/>
                </a:lnTo>
                <a:lnTo>
                  <a:pt x="381794" y="12586"/>
                </a:lnTo>
                <a:lnTo>
                  <a:pt x="443990" y="5701"/>
                </a:lnTo>
                <a:lnTo>
                  <a:pt x="508893" y="1452"/>
                </a:lnTo>
                <a:lnTo>
                  <a:pt x="576071" y="0"/>
                </a:lnTo>
                <a:lnTo>
                  <a:pt x="643250" y="1452"/>
                </a:lnTo>
                <a:lnTo>
                  <a:pt x="708153" y="5701"/>
                </a:lnTo>
                <a:lnTo>
                  <a:pt x="770349" y="12586"/>
                </a:lnTo>
                <a:lnTo>
                  <a:pt x="829404" y="21944"/>
                </a:lnTo>
                <a:lnTo>
                  <a:pt x="884888" y="33615"/>
                </a:lnTo>
                <a:lnTo>
                  <a:pt x="936366" y="47436"/>
                </a:lnTo>
                <a:lnTo>
                  <a:pt x="983408" y="63246"/>
                </a:lnTo>
                <a:lnTo>
                  <a:pt x="1025580" y="80883"/>
                </a:lnTo>
                <a:lnTo>
                  <a:pt x="1062451" y="100185"/>
                </a:lnTo>
                <a:lnTo>
                  <a:pt x="1118557" y="143141"/>
                </a:lnTo>
                <a:lnTo>
                  <a:pt x="1148268" y="190820"/>
                </a:lnTo>
                <a:lnTo>
                  <a:pt x="1152143" y="216026"/>
                </a:lnTo>
                <a:lnTo>
                  <a:pt x="1148268" y="241210"/>
                </a:lnTo>
                <a:lnTo>
                  <a:pt x="1118557" y="288862"/>
                </a:lnTo>
                <a:lnTo>
                  <a:pt x="1062451" y="331811"/>
                </a:lnTo>
                <a:lnTo>
                  <a:pt x="1025580" y="351117"/>
                </a:lnTo>
                <a:lnTo>
                  <a:pt x="983408" y="368760"/>
                </a:lnTo>
                <a:lnTo>
                  <a:pt x="936366" y="384577"/>
                </a:lnTo>
                <a:lnTo>
                  <a:pt x="884888" y="398407"/>
                </a:lnTo>
                <a:lnTo>
                  <a:pt x="829404" y="410087"/>
                </a:lnTo>
                <a:lnTo>
                  <a:pt x="770349" y="419453"/>
                </a:lnTo>
                <a:lnTo>
                  <a:pt x="708153" y="426345"/>
                </a:lnTo>
                <a:lnTo>
                  <a:pt x="643250" y="430599"/>
                </a:lnTo>
                <a:lnTo>
                  <a:pt x="576071" y="432053"/>
                </a:lnTo>
                <a:lnTo>
                  <a:pt x="508893" y="430599"/>
                </a:lnTo>
                <a:lnTo>
                  <a:pt x="443990" y="426345"/>
                </a:lnTo>
                <a:lnTo>
                  <a:pt x="381794" y="419453"/>
                </a:lnTo>
                <a:lnTo>
                  <a:pt x="322739" y="410087"/>
                </a:lnTo>
                <a:lnTo>
                  <a:pt x="267255" y="398407"/>
                </a:lnTo>
                <a:lnTo>
                  <a:pt x="215777" y="384577"/>
                </a:lnTo>
                <a:lnTo>
                  <a:pt x="168735" y="368760"/>
                </a:lnTo>
                <a:lnTo>
                  <a:pt x="126563" y="351117"/>
                </a:lnTo>
                <a:lnTo>
                  <a:pt x="89692" y="331811"/>
                </a:lnTo>
                <a:lnTo>
                  <a:pt x="33586" y="288862"/>
                </a:lnTo>
                <a:lnTo>
                  <a:pt x="3875" y="241210"/>
                </a:lnTo>
                <a:lnTo>
                  <a:pt x="0" y="216026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699761" y="4322445"/>
            <a:ext cx="6102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5" dirty="0">
                <a:latin typeface="Calibri"/>
                <a:cs typeface="Calibri"/>
              </a:rPr>
              <a:t>mCode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940171" y="5013197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11"/>
                </a:lnTo>
                <a:lnTo>
                  <a:pt x="59059" y="114439"/>
                </a:lnTo>
                <a:lnTo>
                  <a:pt x="90311" y="92574"/>
                </a:lnTo>
                <a:lnTo>
                  <a:pt x="127214" y="72526"/>
                </a:lnTo>
                <a:lnTo>
                  <a:pt x="169295" y="54495"/>
                </a:lnTo>
                <a:lnTo>
                  <a:pt x="216081" y="38685"/>
                </a:lnTo>
                <a:lnTo>
                  <a:pt x="267101" y="25296"/>
                </a:lnTo>
                <a:lnTo>
                  <a:pt x="321881" y="14532"/>
                </a:lnTo>
                <a:lnTo>
                  <a:pt x="379950" y="6593"/>
                </a:lnTo>
                <a:lnTo>
                  <a:pt x="440834" y="1681"/>
                </a:lnTo>
                <a:lnTo>
                  <a:pt x="504063" y="0"/>
                </a:lnTo>
                <a:lnTo>
                  <a:pt x="567291" y="1681"/>
                </a:lnTo>
                <a:lnTo>
                  <a:pt x="628175" y="6593"/>
                </a:lnTo>
                <a:lnTo>
                  <a:pt x="686244" y="14532"/>
                </a:lnTo>
                <a:lnTo>
                  <a:pt x="741024" y="25296"/>
                </a:lnTo>
                <a:lnTo>
                  <a:pt x="792044" y="38685"/>
                </a:lnTo>
                <a:lnTo>
                  <a:pt x="838830" y="54495"/>
                </a:lnTo>
                <a:lnTo>
                  <a:pt x="880911" y="72526"/>
                </a:lnTo>
                <a:lnTo>
                  <a:pt x="917814" y="92574"/>
                </a:lnTo>
                <a:lnTo>
                  <a:pt x="949066" y="114439"/>
                </a:lnTo>
                <a:lnTo>
                  <a:pt x="992731" y="162811"/>
                </a:lnTo>
                <a:lnTo>
                  <a:pt x="1008126" y="216026"/>
                </a:lnTo>
                <a:lnTo>
                  <a:pt x="1004198" y="243114"/>
                </a:lnTo>
                <a:lnTo>
                  <a:pt x="974196" y="294082"/>
                </a:lnTo>
                <a:lnTo>
                  <a:pt x="917814" y="339423"/>
                </a:lnTo>
                <a:lnTo>
                  <a:pt x="880911" y="359476"/>
                </a:lnTo>
                <a:lnTo>
                  <a:pt x="838830" y="377514"/>
                </a:lnTo>
                <a:lnTo>
                  <a:pt x="792044" y="393334"/>
                </a:lnTo>
                <a:lnTo>
                  <a:pt x="741024" y="406732"/>
                </a:lnTo>
                <a:lnTo>
                  <a:pt x="686244" y="417506"/>
                </a:lnTo>
                <a:lnTo>
                  <a:pt x="628175" y="425453"/>
                </a:lnTo>
                <a:lnTo>
                  <a:pt x="567291" y="430369"/>
                </a:lnTo>
                <a:lnTo>
                  <a:pt x="504063" y="432053"/>
                </a:lnTo>
                <a:lnTo>
                  <a:pt x="440834" y="430369"/>
                </a:lnTo>
                <a:lnTo>
                  <a:pt x="379950" y="425453"/>
                </a:lnTo>
                <a:lnTo>
                  <a:pt x="321881" y="417506"/>
                </a:lnTo>
                <a:lnTo>
                  <a:pt x="267101" y="406732"/>
                </a:lnTo>
                <a:lnTo>
                  <a:pt x="216081" y="393334"/>
                </a:lnTo>
                <a:lnTo>
                  <a:pt x="169295" y="377514"/>
                </a:lnTo>
                <a:lnTo>
                  <a:pt x="127214" y="359476"/>
                </a:lnTo>
                <a:lnTo>
                  <a:pt x="90311" y="339423"/>
                </a:lnTo>
                <a:lnTo>
                  <a:pt x="59059" y="317557"/>
                </a:lnTo>
                <a:lnTo>
                  <a:pt x="15394" y="269200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169533" y="5095747"/>
            <a:ext cx="54991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mT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l</a:t>
            </a:r>
            <a:r>
              <a:rPr sz="1600" spc="-5" dirty="0">
                <a:latin typeface="Calibri"/>
                <a:cs typeface="Calibri"/>
              </a:rPr>
              <a:t>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308342" y="4240148"/>
            <a:ext cx="1368425" cy="432434"/>
          </a:xfrm>
          <a:custGeom>
            <a:avLst/>
            <a:gdLst/>
            <a:ahLst/>
            <a:cxnLst/>
            <a:rect l="l" t="t" r="r" b="b"/>
            <a:pathLst>
              <a:path w="1368425" h="432435">
                <a:moveTo>
                  <a:pt x="0" y="216026"/>
                </a:moveTo>
                <a:lnTo>
                  <a:pt x="13894" y="172469"/>
                </a:lnTo>
                <a:lnTo>
                  <a:pt x="53746" y="131909"/>
                </a:lnTo>
                <a:lnTo>
                  <a:pt x="116807" y="95212"/>
                </a:lnTo>
                <a:lnTo>
                  <a:pt x="156181" y="78584"/>
                </a:lnTo>
                <a:lnTo>
                  <a:pt x="200326" y="63246"/>
                </a:lnTo>
                <a:lnTo>
                  <a:pt x="248899" y="49306"/>
                </a:lnTo>
                <a:lnTo>
                  <a:pt x="301556" y="36875"/>
                </a:lnTo>
                <a:lnTo>
                  <a:pt x="357954" y="26058"/>
                </a:lnTo>
                <a:lnTo>
                  <a:pt x="417748" y="16966"/>
                </a:lnTo>
                <a:lnTo>
                  <a:pt x="480596" y="9706"/>
                </a:lnTo>
                <a:lnTo>
                  <a:pt x="546153" y="4385"/>
                </a:lnTo>
                <a:lnTo>
                  <a:pt x="614076" y="1114"/>
                </a:lnTo>
                <a:lnTo>
                  <a:pt x="684022" y="0"/>
                </a:lnTo>
                <a:lnTo>
                  <a:pt x="753968" y="1114"/>
                </a:lnTo>
                <a:lnTo>
                  <a:pt x="821896" y="4385"/>
                </a:lnTo>
                <a:lnTo>
                  <a:pt x="887459" y="9706"/>
                </a:lnTo>
                <a:lnTo>
                  <a:pt x="950315" y="16966"/>
                </a:lnTo>
                <a:lnTo>
                  <a:pt x="1010119" y="26058"/>
                </a:lnTo>
                <a:lnTo>
                  <a:pt x="1066527" y="36875"/>
                </a:lnTo>
                <a:lnTo>
                  <a:pt x="1119195" y="49306"/>
                </a:lnTo>
                <a:lnTo>
                  <a:pt x="1167780" y="63245"/>
                </a:lnTo>
                <a:lnTo>
                  <a:pt x="1211938" y="78584"/>
                </a:lnTo>
                <a:lnTo>
                  <a:pt x="1251323" y="95212"/>
                </a:lnTo>
                <a:lnTo>
                  <a:pt x="1285593" y="113023"/>
                </a:lnTo>
                <a:lnTo>
                  <a:pt x="1337411" y="151760"/>
                </a:lnTo>
                <a:lnTo>
                  <a:pt x="1364638" y="193927"/>
                </a:lnTo>
                <a:lnTo>
                  <a:pt x="1368171" y="216026"/>
                </a:lnTo>
                <a:lnTo>
                  <a:pt x="1364638" y="238105"/>
                </a:lnTo>
                <a:lnTo>
                  <a:pt x="1337411" y="280246"/>
                </a:lnTo>
                <a:lnTo>
                  <a:pt x="1285593" y="318973"/>
                </a:lnTo>
                <a:lnTo>
                  <a:pt x="1251323" y="336785"/>
                </a:lnTo>
                <a:lnTo>
                  <a:pt x="1211938" y="353417"/>
                </a:lnTo>
                <a:lnTo>
                  <a:pt x="1167780" y="368760"/>
                </a:lnTo>
                <a:lnTo>
                  <a:pt x="1119195" y="382706"/>
                </a:lnTo>
                <a:lnTo>
                  <a:pt x="1066527" y="395145"/>
                </a:lnTo>
                <a:lnTo>
                  <a:pt x="1010119" y="405969"/>
                </a:lnTo>
                <a:lnTo>
                  <a:pt x="950315" y="415069"/>
                </a:lnTo>
                <a:lnTo>
                  <a:pt x="887459" y="422337"/>
                </a:lnTo>
                <a:lnTo>
                  <a:pt x="821896" y="427662"/>
                </a:lnTo>
                <a:lnTo>
                  <a:pt x="753968" y="430938"/>
                </a:lnTo>
                <a:lnTo>
                  <a:pt x="684022" y="432053"/>
                </a:lnTo>
                <a:lnTo>
                  <a:pt x="614076" y="430938"/>
                </a:lnTo>
                <a:lnTo>
                  <a:pt x="546153" y="427662"/>
                </a:lnTo>
                <a:lnTo>
                  <a:pt x="480596" y="422337"/>
                </a:lnTo>
                <a:lnTo>
                  <a:pt x="417748" y="415069"/>
                </a:lnTo>
                <a:lnTo>
                  <a:pt x="357954" y="405969"/>
                </a:lnTo>
                <a:lnTo>
                  <a:pt x="301556" y="395145"/>
                </a:lnTo>
                <a:lnTo>
                  <a:pt x="248899" y="382706"/>
                </a:lnTo>
                <a:lnTo>
                  <a:pt x="200326" y="368760"/>
                </a:lnTo>
                <a:lnTo>
                  <a:pt x="156181" y="353417"/>
                </a:lnTo>
                <a:lnTo>
                  <a:pt x="116807" y="336785"/>
                </a:lnTo>
                <a:lnTo>
                  <a:pt x="82547" y="318973"/>
                </a:lnTo>
                <a:lnTo>
                  <a:pt x="30747" y="280246"/>
                </a:lnTo>
                <a:lnTo>
                  <a:pt x="3530" y="238105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611618" y="4322445"/>
            <a:ext cx="76454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mCredits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580126" y="4456176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0" y="0"/>
                </a:moveTo>
                <a:lnTo>
                  <a:pt x="292226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015353" y="4456176"/>
            <a:ext cx="293370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298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443853" y="4722876"/>
            <a:ext cx="635" cy="290830"/>
          </a:xfrm>
          <a:custGeom>
            <a:avLst/>
            <a:gdLst/>
            <a:ahLst/>
            <a:cxnLst/>
            <a:rect l="l" t="t" r="r" b="b"/>
            <a:pathLst>
              <a:path w="635" h="290829">
                <a:moveTo>
                  <a:pt x="0" y="0"/>
                </a:moveTo>
                <a:lnTo>
                  <a:pt x="381" y="29032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80453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60295">
              <a:lnSpc>
                <a:spcPct val="100000"/>
              </a:lnSpc>
            </a:pPr>
            <a:r>
              <a:rPr spc="-15" dirty="0"/>
              <a:t>Constraints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82165"/>
            <a:ext cx="3807460" cy="4187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CONSTRAINT</a:t>
            </a:r>
            <a:endParaRPr sz="2400" dirty="0">
              <a:latin typeface="Courier New"/>
              <a:cs typeface="Courier New"/>
            </a:endParaRPr>
          </a:p>
          <a:p>
            <a:pPr marL="194945">
              <a:lnSpc>
                <a:spcPct val="100000"/>
              </a:lnSpc>
              <a:spcBef>
                <a:spcPts val="285"/>
              </a:spcBef>
            </a:pPr>
            <a:r>
              <a:rPr sz="2400" b="1" spc="-5" dirty="0">
                <a:latin typeface="Courier New"/>
                <a:cs typeface="Courier New"/>
              </a:rPr>
              <a:t>name</a:t>
            </a:r>
            <a:endParaRPr sz="2400" dirty="0">
              <a:latin typeface="Courier New"/>
              <a:cs typeface="Courier New"/>
            </a:endParaRPr>
          </a:p>
          <a:p>
            <a:pPr marL="194945" marR="1608455">
              <a:lnSpc>
                <a:spcPct val="110000"/>
              </a:lnSpc>
            </a:pPr>
            <a:r>
              <a:rPr sz="2400" b="1" spc="-5" dirty="0">
                <a:latin typeface="Courier New"/>
                <a:cs typeface="Courier New"/>
              </a:rPr>
              <a:t>type  detai</a:t>
            </a:r>
            <a:r>
              <a:rPr sz="2400" b="1" spc="-15" dirty="0">
                <a:latin typeface="Courier New"/>
                <a:cs typeface="Courier New"/>
              </a:rPr>
              <a:t>l</a:t>
            </a:r>
            <a:r>
              <a:rPr sz="2400" b="1" dirty="0">
                <a:latin typeface="Courier New"/>
                <a:cs typeface="Courier New"/>
              </a:rPr>
              <a:t>s</a:t>
            </a:r>
            <a:endParaRPr sz="2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5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GB" sz="2800" spc="-10" dirty="0" smtClean="0">
                <a:latin typeface="Calibri"/>
                <a:cs typeface="Calibri"/>
              </a:rPr>
              <a:t>PostgreSQL</a:t>
            </a:r>
            <a:r>
              <a:rPr sz="2800" spc="-20" dirty="0" smtClean="0">
                <a:latin typeface="Calibri"/>
                <a:cs typeface="Calibri"/>
              </a:rPr>
              <a:t>Constraints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b="1" spc="-5" dirty="0">
                <a:latin typeface="Courier New"/>
                <a:cs typeface="Courier New"/>
              </a:rPr>
              <a:t>PRIMARY</a:t>
            </a:r>
            <a:r>
              <a:rPr sz="2400" b="1" spc="-12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KEY</a:t>
            </a:r>
            <a:endParaRPr sz="2400" dirty="0">
              <a:latin typeface="Courier New"/>
              <a:cs typeface="Courier New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b="1" spc="-5" dirty="0">
                <a:latin typeface="Courier New"/>
                <a:cs typeface="Courier New"/>
              </a:rPr>
              <a:t>UNIQUE</a:t>
            </a:r>
            <a:endParaRPr sz="2400" dirty="0">
              <a:latin typeface="Courier New"/>
              <a:cs typeface="Courier New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b="1" spc="-5" dirty="0">
                <a:latin typeface="Courier New"/>
                <a:cs typeface="Courier New"/>
              </a:rPr>
              <a:t>FOREIGN</a:t>
            </a:r>
            <a:r>
              <a:rPr sz="2400" b="1" spc="-12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KEY</a:t>
            </a:r>
            <a:endParaRPr sz="2400" dirty="0">
              <a:latin typeface="Courier New"/>
              <a:cs typeface="Courier New"/>
            </a:endParaRPr>
          </a:p>
          <a:p>
            <a:pPr marL="756285" lvl="1" indent="-28638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b="1" spc="-5" dirty="0">
                <a:latin typeface="Courier New"/>
                <a:cs typeface="Courier New"/>
              </a:rPr>
              <a:t>INDEX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7828" y="1622805"/>
            <a:ext cx="3821429" cy="3530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Each </a:t>
            </a:r>
            <a:r>
              <a:rPr sz="2800" spc="-20" dirty="0">
                <a:latin typeface="Calibri"/>
                <a:cs typeface="Calibri"/>
              </a:rPr>
              <a:t>constraint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given  </a:t>
            </a:r>
            <a:r>
              <a:rPr sz="2800" spc="-5" dirty="0">
                <a:latin typeface="Calibri"/>
                <a:cs typeface="Calibri"/>
              </a:rPr>
              <a:t>a name. If </a:t>
            </a:r>
            <a:r>
              <a:rPr sz="2800" spc="-20" dirty="0">
                <a:latin typeface="Calibri"/>
                <a:cs typeface="Calibri"/>
              </a:rPr>
              <a:t>you </a:t>
            </a:r>
            <a:r>
              <a:rPr sz="2800" spc="-5" dirty="0">
                <a:latin typeface="Calibri"/>
                <a:cs typeface="Calibri"/>
              </a:rPr>
              <a:t>don’t  </a:t>
            </a:r>
            <a:r>
              <a:rPr sz="2800" spc="-10" dirty="0">
                <a:latin typeface="Calibri"/>
                <a:cs typeface="Calibri"/>
              </a:rPr>
              <a:t>specify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name, </a:t>
            </a:r>
            <a:r>
              <a:rPr sz="2800" spc="-5" dirty="0">
                <a:latin typeface="Calibri"/>
                <a:cs typeface="Calibri"/>
              </a:rPr>
              <a:t>one will  be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generated</a:t>
            </a:r>
            <a:endParaRPr sz="2800">
              <a:latin typeface="Calibri"/>
              <a:cs typeface="Calibri"/>
            </a:endParaRPr>
          </a:p>
          <a:p>
            <a:pPr marL="355600" marR="115570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20" dirty="0">
                <a:latin typeface="Calibri"/>
                <a:cs typeface="Calibri"/>
              </a:rPr>
              <a:t>Constraints </a:t>
            </a:r>
            <a:r>
              <a:rPr sz="2800" spc="-5" dirty="0">
                <a:latin typeface="Calibri"/>
                <a:cs typeface="Calibri"/>
              </a:rPr>
              <a:t>which </a:t>
            </a:r>
            <a:r>
              <a:rPr sz="2800" spc="-30" dirty="0">
                <a:latin typeface="Calibri"/>
                <a:cs typeface="Calibri"/>
              </a:rPr>
              <a:t>refer 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single </a:t>
            </a:r>
            <a:r>
              <a:rPr sz="2800" spc="-10" dirty="0">
                <a:latin typeface="Calibri"/>
                <a:cs typeface="Calibri"/>
              </a:rPr>
              <a:t>columns can 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10" dirty="0">
                <a:latin typeface="Calibri"/>
                <a:cs typeface="Calibri"/>
              </a:rPr>
              <a:t>included </a:t>
            </a:r>
            <a:r>
              <a:rPr sz="2800" spc="-5" dirty="0">
                <a:latin typeface="Calibri"/>
                <a:cs typeface="Calibri"/>
              </a:rPr>
              <a:t>in their  </a:t>
            </a:r>
            <a:r>
              <a:rPr sz="2800" spc="-10" dirty="0">
                <a:latin typeface="Calibri"/>
                <a:cs typeface="Calibri"/>
              </a:rPr>
              <a:t>definition</a:t>
            </a:r>
            <a:endParaRPr sz="2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24797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78685">
              <a:lnSpc>
                <a:spcPct val="100000"/>
              </a:lnSpc>
            </a:pPr>
            <a:r>
              <a:rPr dirty="0"/>
              <a:t>Primary</a:t>
            </a:r>
            <a:r>
              <a:rPr spc="-75" dirty="0"/>
              <a:t> </a:t>
            </a:r>
            <a:r>
              <a:rPr spc="-35" dirty="0"/>
              <a:t>Keys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805"/>
            <a:ext cx="3811270" cy="3530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A primary </a:t>
            </a:r>
            <a:r>
              <a:rPr sz="2800" spc="-35" dirty="0">
                <a:latin typeface="Calibri"/>
                <a:cs typeface="Calibri"/>
              </a:rPr>
              <a:t>key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5" dirty="0">
                <a:latin typeface="Calibri"/>
                <a:cs typeface="Calibri"/>
              </a:rPr>
              <a:t>each  </a:t>
            </a:r>
            <a:r>
              <a:rPr sz="2800" spc="-15" dirty="0">
                <a:latin typeface="Calibri"/>
                <a:cs typeface="Calibri"/>
              </a:rPr>
              <a:t>table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defined </a:t>
            </a:r>
            <a:r>
              <a:rPr sz="2800" spc="-15" dirty="0">
                <a:latin typeface="Calibri"/>
                <a:cs typeface="Calibri"/>
              </a:rPr>
              <a:t>through 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constraint</a:t>
            </a:r>
            <a:endParaRPr sz="2800">
              <a:latin typeface="Calibri"/>
              <a:cs typeface="Calibri"/>
            </a:endParaRPr>
          </a:p>
          <a:p>
            <a:pPr marL="355600" marR="388620" indent="-342900">
              <a:lnSpc>
                <a:spcPct val="100800"/>
              </a:lnSpc>
              <a:spcBef>
                <a:spcPts val="5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Courier New"/>
                <a:cs typeface="Courier New"/>
              </a:rPr>
              <a:t>PRIMARY KEY</a:t>
            </a:r>
            <a:r>
              <a:rPr sz="2800" b="1" spc="-114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alibri"/>
                <a:cs typeface="Calibri"/>
              </a:rPr>
              <a:t>also  </a:t>
            </a:r>
            <a:r>
              <a:rPr sz="2800" spc="-10" dirty="0">
                <a:latin typeface="Calibri"/>
                <a:cs typeface="Calibri"/>
              </a:rPr>
              <a:t>automatically </a:t>
            </a:r>
            <a:r>
              <a:rPr sz="2800" spc="-5" dirty="0">
                <a:latin typeface="Calibri"/>
                <a:cs typeface="Calibri"/>
              </a:rPr>
              <a:t>adds  </a:t>
            </a:r>
            <a:r>
              <a:rPr sz="2800" b="1" spc="-5" dirty="0">
                <a:latin typeface="Courier New"/>
                <a:cs typeface="Courier New"/>
              </a:rPr>
              <a:t>UNIQUE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b="1" spc="-5" dirty="0">
                <a:latin typeface="Courier New"/>
                <a:cs typeface="Courier New"/>
              </a:rPr>
              <a:t>NOT  NULL</a:t>
            </a:r>
            <a:r>
              <a:rPr sz="2800" b="1" spc="-1100" dirty="0">
                <a:latin typeface="Courier New"/>
                <a:cs typeface="Courier New"/>
              </a:rPr>
              <a:t>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relevant  </a:t>
            </a:r>
            <a:r>
              <a:rPr sz="2800" spc="-10" dirty="0">
                <a:latin typeface="Calibri"/>
                <a:cs typeface="Calibri"/>
              </a:rPr>
              <a:t>column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definition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7828" y="1622805"/>
            <a:ext cx="3613785" cy="1737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details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5" dirty="0">
                <a:latin typeface="Calibri"/>
                <a:cs typeface="Calibri"/>
              </a:rPr>
              <a:t>the  Primary </a:t>
            </a:r>
            <a:r>
              <a:rPr sz="2800" spc="-25" dirty="0">
                <a:latin typeface="Calibri"/>
                <a:cs typeface="Calibri"/>
              </a:rPr>
              <a:t>Key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constraint  are </a:t>
            </a:r>
            <a:r>
              <a:rPr sz="2800" spc="-10" dirty="0">
                <a:latin typeface="Calibri"/>
                <a:cs typeface="Calibri"/>
              </a:rPr>
              <a:t>the set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20" dirty="0">
                <a:latin typeface="Calibri"/>
                <a:cs typeface="Calibri"/>
              </a:rPr>
              <a:t>relevant  </a:t>
            </a:r>
            <a:r>
              <a:rPr sz="2800" spc="-10" dirty="0">
                <a:latin typeface="Calibri"/>
                <a:cs typeface="Calibri"/>
              </a:rPr>
              <a:t>columns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7828" y="3909441"/>
            <a:ext cx="215455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latin typeface="Courier New"/>
                <a:cs typeface="Courier New"/>
              </a:rPr>
              <a:t>CONSTRAINT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68595" y="3909441"/>
            <a:ext cx="876300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latin typeface="Courier New"/>
                <a:cs typeface="Courier New"/>
              </a:rPr>
              <a:t>na</a:t>
            </a:r>
            <a:r>
              <a:rPr sz="2800" b="1" spc="-20" dirty="0">
                <a:latin typeface="Courier New"/>
                <a:cs typeface="Courier New"/>
              </a:rPr>
              <a:t>m</a:t>
            </a:r>
            <a:r>
              <a:rPr sz="2800" b="1" spc="-5" dirty="0">
                <a:latin typeface="Courier New"/>
                <a:cs typeface="Courier New"/>
              </a:rPr>
              <a:t>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54548" y="4421504"/>
            <a:ext cx="2365375" cy="974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latin typeface="Courier New"/>
                <a:cs typeface="Courier New"/>
              </a:rPr>
              <a:t>PRIMARY</a:t>
            </a:r>
            <a:r>
              <a:rPr sz="2800" b="1" spc="-95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KEY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b="1" spc="-10" dirty="0">
                <a:latin typeface="Courier New"/>
                <a:cs typeface="Courier New"/>
              </a:rPr>
              <a:t>(col1,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43094" y="4933569"/>
            <a:ext cx="1728470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latin typeface="Courier New"/>
                <a:cs typeface="Courier New"/>
              </a:rPr>
              <a:t>col2,</a:t>
            </a:r>
            <a:r>
              <a:rPr sz="2800" b="1" spc="-80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…)</a:t>
            </a:r>
            <a:endParaRPr sz="28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3732652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7565">
              <a:lnSpc>
                <a:spcPct val="100000"/>
              </a:lnSpc>
            </a:pPr>
            <a:r>
              <a:rPr dirty="0"/>
              <a:t>Unique </a:t>
            </a:r>
            <a:r>
              <a:rPr spc="-15" dirty="0"/>
              <a:t>Constraints </a:t>
            </a:r>
            <a:r>
              <a:rPr dirty="0"/>
              <a:t>/</a:t>
            </a:r>
            <a:r>
              <a:rPr spc="-85" dirty="0"/>
              <a:t> </a:t>
            </a:r>
            <a:r>
              <a:rPr spc="-10" dirty="0"/>
              <a:t>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7073"/>
            <a:ext cx="3622040" cy="309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3325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As </a:t>
            </a:r>
            <a:r>
              <a:rPr sz="2800" spc="-10" dirty="0">
                <a:latin typeface="Calibri"/>
                <a:cs typeface="Calibri"/>
              </a:rPr>
              <a:t>well </a:t>
            </a:r>
            <a:r>
              <a:rPr sz="2800" dirty="0">
                <a:latin typeface="Calibri"/>
                <a:cs typeface="Calibri"/>
              </a:rPr>
              <a:t>as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single</a:t>
            </a:r>
            <a:endParaRPr sz="2800">
              <a:latin typeface="Calibri"/>
              <a:cs typeface="Calibri"/>
            </a:endParaRPr>
          </a:p>
          <a:p>
            <a:pPr marL="355600" marR="15240">
              <a:lnSpc>
                <a:spcPct val="98400"/>
              </a:lnSpc>
              <a:spcBef>
                <a:spcPts val="55"/>
              </a:spcBef>
            </a:pPr>
            <a:r>
              <a:rPr sz="2800" spc="-5" dirty="0">
                <a:latin typeface="Calibri"/>
                <a:cs typeface="Calibri"/>
              </a:rPr>
              <a:t>primary </a:t>
            </a:r>
            <a:r>
              <a:rPr sz="2800" spc="-80" dirty="0">
                <a:latin typeface="Calibri"/>
                <a:cs typeface="Calibri"/>
              </a:rPr>
              <a:t>key, </a:t>
            </a:r>
            <a:r>
              <a:rPr sz="2800" spc="-20" dirty="0">
                <a:latin typeface="Calibri"/>
                <a:cs typeface="Calibri"/>
              </a:rPr>
              <a:t>any </a:t>
            </a:r>
            <a:r>
              <a:rPr sz="2800" spc="-10" dirty="0">
                <a:latin typeface="Calibri"/>
                <a:cs typeface="Calibri"/>
              </a:rPr>
              <a:t>set of  columns can be  specified </a:t>
            </a:r>
            <a:r>
              <a:rPr sz="2800" spc="-5" dirty="0">
                <a:latin typeface="Calibri"/>
                <a:cs typeface="Calibri"/>
              </a:rPr>
              <a:t>as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UNIQUE</a:t>
            </a:r>
            <a:endParaRPr sz="2800">
              <a:latin typeface="Courier New"/>
              <a:cs typeface="Courier New"/>
            </a:endParaRPr>
          </a:p>
          <a:p>
            <a:pPr marL="355600" marR="5080" indent="-342900">
              <a:lnSpc>
                <a:spcPct val="100000"/>
              </a:lnSpc>
              <a:spcBef>
                <a:spcPts val="7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This </a:t>
            </a:r>
            <a:r>
              <a:rPr sz="2800" spc="-10" dirty="0">
                <a:latin typeface="Calibri"/>
                <a:cs typeface="Calibri"/>
              </a:rPr>
              <a:t>has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5" dirty="0">
                <a:latin typeface="Calibri"/>
                <a:cs typeface="Calibri"/>
              </a:rPr>
              <a:t>effect </a:t>
            </a:r>
            <a:r>
              <a:rPr sz="2800" spc="-10" dirty="0">
                <a:latin typeface="Calibri"/>
                <a:cs typeface="Calibri"/>
              </a:rPr>
              <a:t>of  </a:t>
            </a:r>
            <a:r>
              <a:rPr sz="2800" spc="-5" dirty="0">
                <a:latin typeface="Calibri"/>
                <a:cs typeface="Calibri"/>
              </a:rPr>
              <a:t>making </a:t>
            </a:r>
            <a:r>
              <a:rPr sz="2800" spc="-15" dirty="0">
                <a:latin typeface="Calibri"/>
                <a:cs typeface="Calibri"/>
              </a:rPr>
              <a:t>candidate </a:t>
            </a:r>
            <a:r>
              <a:rPr sz="2800" spc="-35" dirty="0">
                <a:latin typeface="Calibri"/>
                <a:cs typeface="Calibri"/>
              </a:rPr>
              <a:t>keys  </a:t>
            </a:r>
            <a:r>
              <a:rPr sz="2800" spc="-5" dirty="0">
                <a:latin typeface="Calibri"/>
                <a:cs typeface="Calibri"/>
              </a:rPr>
              <a:t>in 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7828" y="1622805"/>
            <a:ext cx="3838575" cy="1737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details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unique  </a:t>
            </a:r>
            <a:r>
              <a:rPr sz="2800" spc="-20" dirty="0">
                <a:latin typeface="Calibri"/>
                <a:cs typeface="Calibri"/>
              </a:rPr>
              <a:t>constraint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list </a:t>
            </a:r>
            <a:r>
              <a:rPr sz="2800" spc="-10" dirty="0">
                <a:latin typeface="Calibri"/>
                <a:cs typeface="Calibri"/>
              </a:rPr>
              <a:t>of  columns </a:t>
            </a:r>
            <a:r>
              <a:rPr sz="2800" spc="-5" dirty="0">
                <a:latin typeface="Calibri"/>
                <a:cs typeface="Calibri"/>
              </a:rPr>
              <a:t>which </a:t>
            </a:r>
            <a:r>
              <a:rPr sz="2800" spc="-25" dirty="0">
                <a:latin typeface="Calibri"/>
                <a:cs typeface="Calibri"/>
              </a:rPr>
              <a:t>make </a:t>
            </a:r>
            <a:r>
              <a:rPr sz="2800" spc="-10" dirty="0">
                <a:latin typeface="Calibri"/>
                <a:cs typeface="Calibri"/>
              </a:rPr>
              <a:t>up 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candidate </a:t>
            </a:r>
            <a:r>
              <a:rPr sz="2800" spc="-35" dirty="0">
                <a:latin typeface="Calibri"/>
                <a:cs typeface="Calibri"/>
              </a:rPr>
              <a:t>key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(CK)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69073" y="3909441"/>
            <a:ext cx="87693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5" dirty="0">
                <a:latin typeface="Courier New"/>
                <a:cs typeface="Courier New"/>
              </a:rPr>
              <a:t>n</a:t>
            </a:r>
            <a:r>
              <a:rPr sz="2800" b="1" spc="-10" dirty="0">
                <a:latin typeface="Courier New"/>
                <a:cs typeface="Courier New"/>
              </a:rPr>
              <a:t>ame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27828" y="3824097"/>
            <a:ext cx="2154555" cy="1060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9420" marR="5080" indent="-426720">
              <a:lnSpc>
                <a:spcPct val="120000"/>
              </a:lnSpc>
            </a:pPr>
            <a:r>
              <a:rPr sz="2800" b="1" spc="-10" dirty="0">
                <a:latin typeface="Courier New"/>
                <a:cs typeface="Courier New"/>
              </a:rPr>
              <a:t>CONS</a:t>
            </a:r>
            <a:r>
              <a:rPr sz="2800" b="1" spc="-20" dirty="0">
                <a:latin typeface="Courier New"/>
                <a:cs typeface="Courier New"/>
              </a:rPr>
              <a:t>T</a:t>
            </a:r>
            <a:r>
              <a:rPr sz="2800" b="1" spc="-10" dirty="0">
                <a:latin typeface="Courier New"/>
                <a:cs typeface="Courier New"/>
              </a:rPr>
              <a:t>RAINT  UNIQUE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54548" y="4933569"/>
            <a:ext cx="321754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latin typeface="Courier New"/>
                <a:cs typeface="Courier New"/>
              </a:rPr>
              <a:t>(col1, col2,</a:t>
            </a:r>
            <a:r>
              <a:rPr sz="2800" b="1" spc="-55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…)</a:t>
            </a:r>
            <a:endParaRPr sz="28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305449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83510">
              <a:lnSpc>
                <a:spcPct val="100000"/>
              </a:lnSpc>
            </a:pPr>
            <a:r>
              <a:rPr spc="-5" dirty="0"/>
              <a:t>E</a:t>
            </a:r>
            <a:r>
              <a:rPr spc="-85" dirty="0"/>
              <a:t>x</a:t>
            </a:r>
            <a:r>
              <a:rPr dirty="0"/>
              <a:t>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4038"/>
            <a:ext cx="6931660" cy="1772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 marR="615950" indent="-243840">
              <a:lnSpc>
                <a:spcPct val="120000"/>
              </a:lnSpc>
            </a:pPr>
            <a:r>
              <a:rPr sz="1600" b="1" spc="-5" dirty="0">
                <a:latin typeface="Courier New"/>
                <a:cs typeface="Courier New"/>
              </a:rPr>
              <a:t>CREATE TABLE </a:t>
            </a:r>
            <a:r>
              <a:rPr sz="1600" b="1" spc="-5" dirty="0" smtClean="0">
                <a:latin typeface="Courier New"/>
                <a:cs typeface="Courier New"/>
              </a:rPr>
              <a:t>Student</a:t>
            </a:r>
            <a:r>
              <a:rPr lang="en-US" sz="1600" b="1" spc="-5" dirty="0">
                <a:latin typeface="Courier New"/>
                <a:cs typeface="Courier New"/>
              </a:rPr>
              <a:t> </a:t>
            </a:r>
            <a:r>
              <a:rPr sz="1600" b="1" spc="-5" dirty="0" smtClean="0">
                <a:latin typeface="Courier New"/>
                <a:cs typeface="Courier New"/>
              </a:rPr>
              <a:t>(  </a:t>
            </a:r>
            <a:endParaRPr lang="en-US" sz="1600" b="1" spc="-5" dirty="0" smtClean="0">
              <a:latin typeface="Courier New"/>
              <a:cs typeface="Courier New"/>
            </a:endParaRPr>
          </a:p>
          <a:p>
            <a:pPr marL="255904" marR="615950" indent="-243840">
              <a:lnSpc>
                <a:spcPct val="120000"/>
              </a:lnSpc>
            </a:pPr>
            <a:r>
              <a:rPr lang="en-US" sz="1600" b="1" spc="-5" dirty="0">
                <a:latin typeface="Courier New"/>
                <a:cs typeface="Courier New"/>
              </a:rPr>
              <a:t> </a:t>
            </a:r>
            <a:r>
              <a:rPr lang="en-US" sz="1600" b="1" spc="-5" dirty="0" smtClean="0">
                <a:latin typeface="Courier New"/>
                <a:cs typeface="Courier New"/>
              </a:rPr>
              <a:t> </a:t>
            </a:r>
            <a:r>
              <a:rPr sz="1600" b="1" spc="-5" dirty="0" err="1" smtClean="0">
                <a:latin typeface="Courier New"/>
                <a:cs typeface="Courier New"/>
              </a:rPr>
              <a:t>sID</a:t>
            </a:r>
            <a:r>
              <a:rPr sz="1600" b="1" spc="-5" dirty="0" smtClean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INT</a:t>
            </a:r>
            <a:r>
              <a:rPr sz="1600" b="1" spc="-45" dirty="0">
                <a:latin typeface="Courier New"/>
                <a:cs typeface="Courier New"/>
              </a:rPr>
              <a:t> </a:t>
            </a:r>
            <a:r>
              <a:rPr sz="1600" b="1" spc="-5" dirty="0" smtClean="0">
                <a:latin typeface="Courier New"/>
                <a:cs typeface="Courier New"/>
              </a:rPr>
              <a:t>AUTO_INCREMENT</a:t>
            </a:r>
            <a:r>
              <a:rPr lang="en-US" sz="1600" dirty="0">
                <a:latin typeface="Courier New"/>
                <a:cs typeface="Courier New"/>
              </a:rPr>
              <a:t> </a:t>
            </a:r>
            <a:r>
              <a:rPr sz="1600" b="1" spc="-5" dirty="0" smtClean="0">
                <a:latin typeface="Courier New"/>
                <a:cs typeface="Courier New"/>
              </a:rPr>
              <a:t>PRIMARY</a:t>
            </a:r>
            <a:r>
              <a:rPr sz="1600" b="1" spc="-75" dirty="0" smtClean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KEY,</a:t>
            </a:r>
            <a:endParaRPr sz="1600" dirty="0">
              <a:latin typeface="Courier New"/>
              <a:cs typeface="Courier New"/>
            </a:endParaRPr>
          </a:p>
          <a:p>
            <a:pPr marL="255904">
              <a:lnSpc>
                <a:spcPct val="100000"/>
              </a:lnSpc>
              <a:spcBef>
                <a:spcPts val="385"/>
              </a:spcBef>
            </a:pPr>
            <a:r>
              <a:rPr sz="1600" b="1" spc="-5" dirty="0">
                <a:latin typeface="Courier New"/>
                <a:cs typeface="Courier New"/>
              </a:rPr>
              <a:t>sName VARCHAR(50) NOT</a:t>
            </a:r>
            <a:r>
              <a:rPr sz="1600" b="1" spc="-2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NULL,</a:t>
            </a:r>
            <a:endParaRPr sz="1600" dirty="0">
              <a:latin typeface="Courier New"/>
              <a:cs typeface="Courier New"/>
            </a:endParaRPr>
          </a:p>
          <a:p>
            <a:pPr marL="255904" marR="615315">
              <a:lnSpc>
                <a:spcPct val="120000"/>
              </a:lnSpc>
            </a:pPr>
            <a:r>
              <a:rPr sz="1600" b="1" spc="-5" dirty="0">
                <a:latin typeface="Courier New"/>
                <a:cs typeface="Courier New"/>
              </a:rPr>
              <a:t>sAddress VARCHAR(255),  </a:t>
            </a:r>
            <a:endParaRPr lang="en-US" sz="1600" b="1" spc="-5" dirty="0" smtClean="0">
              <a:latin typeface="Courier New"/>
              <a:cs typeface="Courier New"/>
            </a:endParaRPr>
          </a:p>
          <a:p>
            <a:pPr marL="255904" marR="615315">
              <a:lnSpc>
                <a:spcPct val="120000"/>
              </a:lnSpc>
            </a:pPr>
            <a:r>
              <a:rPr sz="1600" b="1" spc="-5" dirty="0" smtClean="0">
                <a:latin typeface="Courier New"/>
                <a:cs typeface="Courier New"/>
              </a:rPr>
              <a:t>sYear </a:t>
            </a:r>
            <a:r>
              <a:rPr sz="1600" b="1" spc="-5" dirty="0">
                <a:latin typeface="Courier New"/>
                <a:cs typeface="Courier New"/>
              </a:rPr>
              <a:t>INT DEFAULT</a:t>
            </a:r>
            <a:r>
              <a:rPr sz="1600" b="1" spc="-3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1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294076"/>
            <a:ext cx="3655060" cy="5827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 marR="5080" indent="-243840">
              <a:lnSpc>
                <a:spcPct val="120000"/>
              </a:lnSpc>
            </a:pPr>
            <a:r>
              <a:rPr sz="1600" b="1" spc="-5" dirty="0">
                <a:latin typeface="Courier New"/>
                <a:cs typeface="Courier New"/>
              </a:rPr>
              <a:t>CREATE TABLE Module (  </a:t>
            </a:r>
            <a:endParaRPr lang="en-US" sz="1600" b="1" spc="-5" dirty="0" smtClean="0">
              <a:latin typeface="Courier New"/>
              <a:cs typeface="Courier New"/>
            </a:endParaRPr>
          </a:p>
          <a:p>
            <a:pPr marL="255904" marR="5080" indent="-243840">
              <a:lnSpc>
                <a:spcPct val="120000"/>
              </a:lnSpc>
            </a:pPr>
            <a:r>
              <a:rPr lang="en-US" sz="1600" b="1" spc="-5" dirty="0">
                <a:latin typeface="Courier New"/>
                <a:cs typeface="Courier New"/>
              </a:rPr>
              <a:t> </a:t>
            </a:r>
            <a:r>
              <a:rPr lang="en-US" sz="1600" b="1" spc="-5" dirty="0" smtClean="0">
                <a:latin typeface="Courier New"/>
                <a:cs typeface="Courier New"/>
              </a:rPr>
              <a:t> </a:t>
            </a:r>
            <a:r>
              <a:rPr sz="1600" b="1" spc="-5" dirty="0" err="1" smtClean="0">
                <a:latin typeface="Courier New"/>
                <a:cs typeface="Courier New"/>
              </a:rPr>
              <a:t>mCode</a:t>
            </a:r>
            <a:r>
              <a:rPr sz="1600" b="1" spc="-5" dirty="0" smtClean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CHAR(6) NOT</a:t>
            </a:r>
            <a:r>
              <a:rPr sz="1600" b="1" spc="-1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NULL,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9780" y="4954561"/>
            <a:ext cx="4706620" cy="836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1760" marR="5080" indent="-9906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mCredits TINYINT NOT NULL  DEFAULT</a:t>
            </a:r>
            <a:r>
              <a:rPr sz="1600" b="1" spc="-75" dirty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10,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b="1" spc="-5" dirty="0">
                <a:latin typeface="Courier New"/>
                <a:cs typeface="Courier New"/>
              </a:rPr>
              <a:t>mTitle VARCHAR(100)</a:t>
            </a:r>
            <a:r>
              <a:rPr sz="1600" b="1" spc="-50" dirty="0">
                <a:latin typeface="Courier New"/>
                <a:cs typeface="Courier New"/>
              </a:rPr>
              <a:t> </a:t>
            </a:r>
            <a:r>
              <a:rPr sz="1600" b="1" dirty="0" smtClean="0">
                <a:latin typeface="Courier New"/>
                <a:cs typeface="Courier New"/>
              </a:rPr>
              <a:t>NOT</a:t>
            </a:r>
            <a:r>
              <a:rPr lang="en-US" sz="1600" dirty="0">
                <a:latin typeface="Courier New"/>
                <a:cs typeface="Courier New"/>
              </a:rPr>
              <a:t> </a:t>
            </a:r>
            <a:r>
              <a:rPr sz="1600" b="1" spc="-5" dirty="0" smtClean="0">
                <a:latin typeface="Courier New"/>
                <a:cs typeface="Courier New"/>
              </a:rPr>
              <a:t>NULL</a:t>
            </a:r>
            <a:r>
              <a:rPr sz="1600" b="1" spc="-5" dirty="0">
                <a:latin typeface="Courier New"/>
                <a:cs typeface="Courier New"/>
              </a:rPr>
              <a:t>,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b="1" spc="-5" dirty="0">
                <a:latin typeface="Courier New"/>
                <a:cs typeface="Courier New"/>
              </a:rPr>
              <a:t>... ADD PRIMARY</a:t>
            </a:r>
            <a:r>
              <a:rPr sz="1600" b="1" spc="-5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KEY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5866587"/>
            <a:ext cx="26924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72353" y="2679573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054100" y="0"/>
                </a:lnTo>
                <a:lnTo>
                  <a:pt x="1088671" y="6979"/>
                </a:lnTo>
                <a:lnTo>
                  <a:pt x="1116933" y="26019"/>
                </a:lnTo>
                <a:lnTo>
                  <a:pt x="1136003" y="54274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03" y="479125"/>
                </a:lnTo>
                <a:lnTo>
                  <a:pt x="1116933" y="507380"/>
                </a:lnTo>
                <a:lnTo>
                  <a:pt x="1088671" y="526420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24498" y="2778125"/>
            <a:ext cx="83883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St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-20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76063" y="2103501"/>
            <a:ext cx="1152525" cy="432434"/>
          </a:xfrm>
          <a:custGeom>
            <a:avLst/>
            <a:gdLst/>
            <a:ahLst/>
            <a:cxnLst/>
            <a:rect l="l" t="t" r="r" b="b"/>
            <a:pathLst>
              <a:path w="1152525" h="432435">
                <a:moveTo>
                  <a:pt x="0" y="216026"/>
                </a:moveTo>
                <a:lnTo>
                  <a:pt x="15215" y="166511"/>
                </a:lnTo>
                <a:lnTo>
                  <a:pt x="58556" y="121048"/>
                </a:lnTo>
                <a:lnTo>
                  <a:pt x="126563" y="80936"/>
                </a:lnTo>
                <a:lnTo>
                  <a:pt x="168735" y="63293"/>
                </a:lnTo>
                <a:lnTo>
                  <a:pt x="215777" y="47476"/>
                </a:lnTo>
                <a:lnTo>
                  <a:pt x="267255" y="33646"/>
                </a:lnTo>
                <a:lnTo>
                  <a:pt x="322739" y="21966"/>
                </a:lnTo>
                <a:lnTo>
                  <a:pt x="381794" y="12600"/>
                </a:lnTo>
                <a:lnTo>
                  <a:pt x="443990" y="5708"/>
                </a:lnTo>
                <a:lnTo>
                  <a:pt x="508893" y="1454"/>
                </a:lnTo>
                <a:lnTo>
                  <a:pt x="576072" y="0"/>
                </a:lnTo>
                <a:lnTo>
                  <a:pt x="643250" y="1454"/>
                </a:lnTo>
                <a:lnTo>
                  <a:pt x="708153" y="5708"/>
                </a:lnTo>
                <a:lnTo>
                  <a:pt x="770349" y="12600"/>
                </a:lnTo>
                <a:lnTo>
                  <a:pt x="829404" y="21966"/>
                </a:lnTo>
                <a:lnTo>
                  <a:pt x="884888" y="33646"/>
                </a:lnTo>
                <a:lnTo>
                  <a:pt x="936366" y="47476"/>
                </a:lnTo>
                <a:lnTo>
                  <a:pt x="983408" y="63293"/>
                </a:lnTo>
                <a:lnTo>
                  <a:pt x="1025580" y="80936"/>
                </a:lnTo>
                <a:lnTo>
                  <a:pt x="1062451" y="100242"/>
                </a:lnTo>
                <a:lnTo>
                  <a:pt x="1118557" y="143191"/>
                </a:lnTo>
                <a:lnTo>
                  <a:pt x="1148268" y="190843"/>
                </a:lnTo>
                <a:lnTo>
                  <a:pt x="1152144" y="216026"/>
                </a:lnTo>
                <a:lnTo>
                  <a:pt x="1148268" y="241210"/>
                </a:lnTo>
                <a:lnTo>
                  <a:pt x="1118557" y="288862"/>
                </a:lnTo>
                <a:lnTo>
                  <a:pt x="1062451" y="331811"/>
                </a:lnTo>
                <a:lnTo>
                  <a:pt x="1025580" y="351117"/>
                </a:lnTo>
                <a:lnTo>
                  <a:pt x="983408" y="368760"/>
                </a:lnTo>
                <a:lnTo>
                  <a:pt x="936366" y="384577"/>
                </a:lnTo>
                <a:lnTo>
                  <a:pt x="884888" y="398407"/>
                </a:lnTo>
                <a:lnTo>
                  <a:pt x="829404" y="410087"/>
                </a:lnTo>
                <a:lnTo>
                  <a:pt x="770349" y="419453"/>
                </a:lnTo>
                <a:lnTo>
                  <a:pt x="708153" y="426345"/>
                </a:lnTo>
                <a:lnTo>
                  <a:pt x="643250" y="430599"/>
                </a:lnTo>
                <a:lnTo>
                  <a:pt x="576072" y="432053"/>
                </a:lnTo>
                <a:lnTo>
                  <a:pt x="508893" y="430599"/>
                </a:lnTo>
                <a:lnTo>
                  <a:pt x="443990" y="426345"/>
                </a:lnTo>
                <a:lnTo>
                  <a:pt x="381794" y="419453"/>
                </a:lnTo>
                <a:lnTo>
                  <a:pt x="322739" y="410087"/>
                </a:lnTo>
                <a:lnTo>
                  <a:pt x="267255" y="398407"/>
                </a:lnTo>
                <a:lnTo>
                  <a:pt x="215777" y="384577"/>
                </a:lnTo>
                <a:lnTo>
                  <a:pt x="168735" y="368760"/>
                </a:lnTo>
                <a:lnTo>
                  <a:pt x="126563" y="351117"/>
                </a:lnTo>
                <a:lnTo>
                  <a:pt x="89692" y="331811"/>
                </a:lnTo>
                <a:lnTo>
                  <a:pt x="33586" y="288862"/>
                </a:lnTo>
                <a:lnTo>
                  <a:pt x="3875" y="241210"/>
                </a:lnTo>
                <a:lnTo>
                  <a:pt x="0" y="216026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55463" y="2185542"/>
            <a:ext cx="59626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sName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72000" y="2729610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11"/>
                </a:lnTo>
                <a:lnTo>
                  <a:pt x="59059" y="114439"/>
                </a:lnTo>
                <a:lnTo>
                  <a:pt x="90311" y="92574"/>
                </a:lnTo>
                <a:lnTo>
                  <a:pt x="127214" y="72526"/>
                </a:lnTo>
                <a:lnTo>
                  <a:pt x="169295" y="54495"/>
                </a:lnTo>
                <a:lnTo>
                  <a:pt x="216081" y="38685"/>
                </a:lnTo>
                <a:lnTo>
                  <a:pt x="267101" y="25296"/>
                </a:lnTo>
                <a:lnTo>
                  <a:pt x="321881" y="14532"/>
                </a:lnTo>
                <a:lnTo>
                  <a:pt x="379950" y="6593"/>
                </a:lnTo>
                <a:lnTo>
                  <a:pt x="440834" y="1681"/>
                </a:lnTo>
                <a:lnTo>
                  <a:pt x="504063" y="0"/>
                </a:lnTo>
                <a:lnTo>
                  <a:pt x="567291" y="1681"/>
                </a:lnTo>
                <a:lnTo>
                  <a:pt x="628175" y="6593"/>
                </a:lnTo>
                <a:lnTo>
                  <a:pt x="686244" y="14532"/>
                </a:lnTo>
                <a:lnTo>
                  <a:pt x="741024" y="25296"/>
                </a:lnTo>
                <a:lnTo>
                  <a:pt x="792044" y="38685"/>
                </a:lnTo>
                <a:lnTo>
                  <a:pt x="838830" y="54495"/>
                </a:lnTo>
                <a:lnTo>
                  <a:pt x="880911" y="72526"/>
                </a:lnTo>
                <a:lnTo>
                  <a:pt x="917814" y="92574"/>
                </a:lnTo>
                <a:lnTo>
                  <a:pt x="949066" y="114439"/>
                </a:lnTo>
                <a:lnTo>
                  <a:pt x="992731" y="162811"/>
                </a:lnTo>
                <a:lnTo>
                  <a:pt x="1008126" y="216026"/>
                </a:lnTo>
                <a:lnTo>
                  <a:pt x="1004198" y="243114"/>
                </a:lnTo>
                <a:lnTo>
                  <a:pt x="974196" y="294082"/>
                </a:lnTo>
                <a:lnTo>
                  <a:pt x="917814" y="339423"/>
                </a:lnTo>
                <a:lnTo>
                  <a:pt x="880911" y="359476"/>
                </a:lnTo>
                <a:lnTo>
                  <a:pt x="838830" y="377514"/>
                </a:lnTo>
                <a:lnTo>
                  <a:pt x="792044" y="393334"/>
                </a:lnTo>
                <a:lnTo>
                  <a:pt x="741024" y="406732"/>
                </a:lnTo>
                <a:lnTo>
                  <a:pt x="686244" y="417506"/>
                </a:lnTo>
                <a:lnTo>
                  <a:pt x="628175" y="425453"/>
                </a:lnTo>
                <a:lnTo>
                  <a:pt x="567291" y="430369"/>
                </a:lnTo>
                <a:lnTo>
                  <a:pt x="504063" y="432053"/>
                </a:lnTo>
                <a:lnTo>
                  <a:pt x="440834" y="430369"/>
                </a:lnTo>
                <a:lnTo>
                  <a:pt x="379950" y="425453"/>
                </a:lnTo>
                <a:lnTo>
                  <a:pt x="321881" y="417506"/>
                </a:lnTo>
                <a:lnTo>
                  <a:pt x="267101" y="406732"/>
                </a:lnTo>
                <a:lnTo>
                  <a:pt x="216081" y="393334"/>
                </a:lnTo>
                <a:lnTo>
                  <a:pt x="169295" y="377514"/>
                </a:lnTo>
                <a:lnTo>
                  <a:pt x="127214" y="359476"/>
                </a:lnTo>
                <a:lnTo>
                  <a:pt x="90311" y="339423"/>
                </a:lnTo>
                <a:lnTo>
                  <a:pt x="59059" y="317557"/>
                </a:lnTo>
                <a:lnTo>
                  <a:pt x="15394" y="269200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35473" y="2811526"/>
            <a:ext cx="28130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0" dirty="0">
                <a:latin typeface="Calibri"/>
                <a:cs typeface="Calibri"/>
              </a:rPr>
              <a:t>s</a:t>
            </a:r>
            <a:r>
              <a:rPr sz="1600" u="heavy" spc="-5" dirty="0"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32269" y="2103501"/>
            <a:ext cx="1368425" cy="432434"/>
          </a:xfrm>
          <a:custGeom>
            <a:avLst/>
            <a:gdLst/>
            <a:ahLst/>
            <a:cxnLst/>
            <a:rect l="l" t="t" r="r" b="b"/>
            <a:pathLst>
              <a:path w="1368425" h="432435">
                <a:moveTo>
                  <a:pt x="0" y="216026"/>
                </a:moveTo>
                <a:lnTo>
                  <a:pt x="13894" y="172505"/>
                </a:lnTo>
                <a:lnTo>
                  <a:pt x="53746" y="131962"/>
                </a:lnTo>
                <a:lnTo>
                  <a:pt x="116807" y="95268"/>
                </a:lnTo>
                <a:lnTo>
                  <a:pt x="156181" y="78636"/>
                </a:lnTo>
                <a:lnTo>
                  <a:pt x="200326" y="63293"/>
                </a:lnTo>
                <a:lnTo>
                  <a:pt x="248899" y="49347"/>
                </a:lnTo>
                <a:lnTo>
                  <a:pt x="301556" y="36908"/>
                </a:lnTo>
                <a:lnTo>
                  <a:pt x="357954" y="26084"/>
                </a:lnTo>
                <a:lnTo>
                  <a:pt x="417748" y="16984"/>
                </a:lnTo>
                <a:lnTo>
                  <a:pt x="480596" y="9716"/>
                </a:lnTo>
                <a:lnTo>
                  <a:pt x="546153" y="4391"/>
                </a:lnTo>
                <a:lnTo>
                  <a:pt x="614076" y="1115"/>
                </a:lnTo>
                <a:lnTo>
                  <a:pt x="684022" y="0"/>
                </a:lnTo>
                <a:lnTo>
                  <a:pt x="753968" y="1115"/>
                </a:lnTo>
                <a:lnTo>
                  <a:pt x="821896" y="4391"/>
                </a:lnTo>
                <a:lnTo>
                  <a:pt x="887459" y="9716"/>
                </a:lnTo>
                <a:lnTo>
                  <a:pt x="950315" y="16984"/>
                </a:lnTo>
                <a:lnTo>
                  <a:pt x="1010119" y="26084"/>
                </a:lnTo>
                <a:lnTo>
                  <a:pt x="1066527" y="36908"/>
                </a:lnTo>
                <a:lnTo>
                  <a:pt x="1119195" y="49347"/>
                </a:lnTo>
                <a:lnTo>
                  <a:pt x="1167780" y="63293"/>
                </a:lnTo>
                <a:lnTo>
                  <a:pt x="1211938" y="78636"/>
                </a:lnTo>
                <a:lnTo>
                  <a:pt x="1251323" y="95268"/>
                </a:lnTo>
                <a:lnTo>
                  <a:pt x="1285593" y="113080"/>
                </a:lnTo>
                <a:lnTo>
                  <a:pt x="1337411" y="151807"/>
                </a:lnTo>
                <a:lnTo>
                  <a:pt x="1364638" y="193948"/>
                </a:lnTo>
                <a:lnTo>
                  <a:pt x="1368171" y="216026"/>
                </a:lnTo>
                <a:lnTo>
                  <a:pt x="1364638" y="238105"/>
                </a:lnTo>
                <a:lnTo>
                  <a:pt x="1337411" y="280246"/>
                </a:lnTo>
                <a:lnTo>
                  <a:pt x="1285593" y="318973"/>
                </a:lnTo>
                <a:lnTo>
                  <a:pt x="1251323" y="336785"/>
                </a:lnTo>
                <a:lnTo>
                  <a:pt x="1211938" y="353417"/>
                </a:lnTo>
                <a:lnTo>
                  <a:pt x="1167780" y="368760"/>
                </a:lnTo>
                <a:lnTo>
                  <a:pt x="1119195" y="382706"/>
                </a:lnTo>
                <a:lnTo>
                  <a:pt x="1066527" y="395145"/>
                </a:lnTo>
                <a:lnTo>
                  <a:pt x="1010119" y="405969"/>
                </a:lnTo>
                <a:lnTo>
                  <a:pt x="950315" y="415069"/>
                </a:lnTo>
                <a:lnTo>
                  <a:pt x="887459" y="422337"/>
                </a:lnTo>
                <a:lnTo>
                  <a:pt x="821896" y="427662"/>
                </a:lnTo>
                <a:lnTo>
                  <a:pt x="753968" y="430938"/>
                </a:lnTo>
                <a:lnTo>
                  <a:pt x="684022" y="432053"/>
                </a:lnTo>
                <a:lnTo>
                  <a:pt x="614076" y="430938"/>
                </a:lnTo>
                <a:lnTo>
                  <a:pt x="546153" y="427662"/>
                </a:lnTo>
                <a:lnTo>
                  <a:pt x="480596" y="422337"/>
                </a:lnTo>
                <a:lnTo>
                  <a:pt x="417748" y="415069"/>
                </a:lnTo>
                <a:lnTo>
                  <a:pt x="357954" y="405969"/>
                </a:lnTo>
                <a:lnTo>
                  <a:pt x="301556" y="395145"/>
                </a:lnTo>
                <a:lnTo>
                  <a:pt x="248899" y="382706"/>
                </a:lnTo>
                <a:lnTo>
                  <a:pt x="200326" y="368760"/>
                </a:lnTo>
                <a:lnTo>
                  <a:pt x="156181" y="353417"/>
                </a:lnTo>
                <a:lnTo>
                  <a:pt x="116807" y="336785"/>
                </a:lnTo>
                <a:lnTo>
                  <a:pt x="82547" y="318973"/>
                </a:lnTo>
                <a:lnTo>
                  <a:pt x="30747" y="280246"/>
                </a:lnTo>
                <a:lnTo>
                  <a:pt x="3530" y="238105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037069" y="2185542"/>
            <a:ext cx="76200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sAddress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08342" y="2730119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53"/>
                </a:lnTo>
                <a:lnTo>
                  <a:pt x="59059" y="114496"/>
                </a:lnTo>
                <a:lnTo>
                  <a:pt x="90311" y="92630"/>
                </a:lnTo>
                <a:lnTo>
                  <a:pt x="127214" y="72577"/>
                </a:lnTo>
                <a:lnTo>
                  <a:pt x="169295" y="54539"/>
                </a:lnTo>
                <a:lnTo>
                  <a:pt x="216081" y="38719"/>
                </a:lnTo>
                <a:lnTo>
                  <a:pt x="267101" y="25321"/>
                </a:lnTo>
                <a:lnTo>
                  <a:pt x="321881" y="14547"/>
                </a:lnTo>
                <a:lnTo>
                  <a:pt x="379950" y="6600"/>
                </a:lnTo>
                <a:lnTo>
                  <a:pt x="440834" y="1684"/>
                </a:lnTo>
                <a:lnTo>
                  <a:pt x="504062" y="0"/>
                </a:lnTo>
                <a:lnTo>
                  <a:pt x="567291" y="1684"/>
                </a:lnTo>
                <a:lnTo>
                  <a:pt x="628175" y="6600"/>
                </a:lnTo>
                <a:lnTo>
                  <a:pt x="686244" y="14547"/>
                </a:lnTo>
                <a:lnTo>
                  <a:pt x="741024" y="25321"/>
                </a:lnTo>
                <a:lnTo>
                  <a:pt x="792044" y="38719"/>
                </a:lnTo>
                <a:lnTo>
                  <a:pt x="838830" y="54539"/>
                </a:lnTo>
                <a:lnTo>
                  <a:pt x="880911" y="72577"/>
                </a:lnTo>
                <a:lnTo>
                  <a:pt x="917814" y="92630"/>
                </a:lnTo>
                <a:lnTo>
                  <a:pt x="949066" y="114496"/>
                </a:lnTo>
                <a:lnTo>
                  <a:pt x="992731" y="162853"/>
                </a:lnTo>
                <a:lnTo>
                  <a:pt x="1008126" y="216026"/>
                </a:lnTo>
                <a:lnTo>
                  <a:pt x="1004198" y="243139"/>
                </a:lnTo>
                <a:lnTo>
                  <a:pt x="974196" y="294134"/>
                </a:lnTo>
                <a:lnTo>
                  <a:pt x="917814" y="339479"/>
                </a:lnTo>
                <a:lnTo>
                  <a:pt x="880911" y="359527"/>
                </a:lnTo>
                <a:lnTo>
                  <a:pt x="838830" y="377558"/>
                </a:lnTo>
                <a:lnTo>
                  <a:pt x="792044" y="393368"/>
                </a:lnTo>
                <a:lnTo>
                  <a:pt x="741024" y="406757"/>
                </a:lnTo>
                <a:lnTo>
                  <a:pt x="686244" y="417521"/>
                </a:lnTo>
                <a:lnTo>
                  <a:pt x="628175" y="425460"/>
                </a:lnTo>
                <a:lnTo>
                  <a:pt x="567291" y="430372"/>
                </a:lnTo>
                <a:lnTo>
                  <a:pt x="504062" y="432053"/>
                </a:lnTo>
                <a:lnTo>
                  <a:pt x="440834" y="430372"/>
                </a:lnTo>
                <a:lnTo>
                  <a:pt x="379950" y="425460"/>
                </a:lnTo>
                <a:lnTo>
                  <a:pt x="321881" y="417521"/>
                </a:lnTo>
                <a:lnTo>
                  <a:pt x="267101" y="406757"/>
                </a:lnTo>
                <a:lnTo>
                  <a:pt x="216081" y="393368"/>
                </a:lnTo>
                <a:lnTo>
                  <a:pt x="169295" y="377558"/>
                </a:lnTo>
                <a:lnTo>
                  <a:pt x="127214" y="359527"/>
                </a:lnTo>
                <a:lnTo>
                  <a:pt x="90311" y="339479"/>
                </a:lnTo>
                <a:lnTo>
                  <a:pt x="59059" y="317614"/>
                </a:lnTo>
                <a:lnTo>
                  <a:pt x="15394" y="269242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585075" y="2812160"/>
            <a:ext cx="45783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</a:t>
            </a:r>
            <a:r>
              <a:rPr sz="1600" spc="-125" dirty="0">
                <a:latin typeface="Calibri"/>
                <a:cs typeface="Calibri"/>
              </a:rPr>
              <a:t>Y</a:t>
            </a:r>
            <a:r>
              <a:rPr sz="1600" spc="-5" dirty="0">
                <a:latin typeface="Calibri"/>
                <a:cs typeface="Calibri"/>
              </a:rPr>
              <a:t>ear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80126" y="2945638"/>
            <a:ext cx="292735" cy="635"/>
          </a:xfrm>
          <a:custGeom>
            <a:avLst/>
            <a:gdLst/>
            <a:ahLst/>
            <a:cxnLst/>
            <a:rect l="l" t="t" r="r" b="b"/>
            <a:pathLst>
              <a:path w="292735" h="635">
                <a:moveTo>
                  <a:pt x="292226" y="635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59423" y="2472308"/>
            <a:ext cx="168910" cy="207645"/>
          </a:xfrm>
          <a:custGeom>
            <a:avLst/>
            <a:gdLst/>
            <a:ahLst/>
            <a:cxnLst/>
            <a:rect l="l" t="t" r="r" b="b"/>
            <a:pathLst>
              <a:path w="168910" h="207644">
                <a:moveTo>
                  <a:pt x="0" y="0"/>
                </a:moveTo>
                <a:lnTo>
                  <a:pt x="168783" y="20726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732269" y="2472308"/>
            <a:ext cx="200660" cy="207645"/>
          </a:xfrm>
          <a:custGeom>
            <a:avLst/>
            <a:gdLst/>
            <a:ahLst/>
            <a:cxnLst/>
            <a:rect l="l" t="t" r="r" b="b"/>
            <a:pathLst>
              <a:path w="200659" h="207644">
                <a:moveTo>
                  <a:pt x="200278" y="0"/>
                </a:moveTo>
                <a:lnTo>
                  <a:pt x="0" y="20726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15353" y="2946145"/>
            <a:ext cx="293370" cy="635"/>
          </a:xfrm>
          <a:custGeom>
            <a:avLst/>
            <a:gdLst/>
            <a:ahLst/>
            <a:cxnLst/>
            <a:rect l="l" t="t" r="r" b="b"/>
            <a:pathLst>
              <a:path w="293370" h="635">
                <a:moveTo>
                  <a:pt x="0" y="126"/>
                </a:moveTo>
                <a:lnTo>
                  <a:pt x="29298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872353" y="4189476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88900"/>
                </a:moveTo>
                <a:lnTo>
                  <a:pt x="6979" y="54328"/>
                </a:lnTo>
                <a:lnTo>
                  <a:pt x="26019" y="26066"/>
                </a:lnTo>
                <a:lnTo>
                  <a:pt x="54274" y="6996"/>
                </a:lnTo>
                <a:lnTo>
                  <a:pt x="88900" y="0"/>
                </a:lnTo>
                <a:lnTo>
                  <a:pt x="1054100" y="0"/>
                </a:lnTo>
                <a:lnTo>
                  <a:pt x="1088671" y="6996"/>
                </a:lnTo>
                <a:lnTo>
                  <a:pt x="1116933" y="26066"/>
                </a:lnTo>
                <a:lnTo>
                  <a:pt x="1136003" y="54328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03" y="479125"/>
                </a:lnTo>
                <a:lnTo>
                  <a:pt x="1116933" y="507380"/>
                </a:lnTo>
                <a:lnTo>
                  <a:pt x="1088671" y="526420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029071" y="4288408"/>
            <a:ext cx="83058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Mod</a:t>
            </a:r>
            <a:r>
              <a:rPr sz="2000" spc="-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le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427982" y="4240148"/>
            <a:ext cx="1152525" cy="432434"/>
          </a:xfrm>
          <a:custGeom>
            <a:avLst/>
            <a:gdLst/>
            <a:ahLst/>
            <a:cxnLst/>
            <a:rect l="l" t="t" r="r" b="b"/>
            <a:pathLst>
              <a:path w="1152525" h="432435">
                <a:moveTo>
                  <a:pt x="0" y="216026"/>
                </a:moveTo>
                <a:lnTo>
                  <a:pt x="15215" y="166471"/>
                </a:lnTo>
                <a:lnTo>
                  <a:pt x="58556" y="120992"/>
                </a:lnTo>
                <a:lnTo>
                  <a:pt x="126563" y="80883"/>
                </a:lnTo>
                <a:lnTo>
                  <a:pt x="168735" y="63245"/>
                </a:lnTo>
                <a:lnTo>
                  <a:pt x="215777" y="47436"/>
                </a:lnTo>
                <a:lnTo>
                  <a:pt x="267255" y="33615"/>
                </a:lnTo>
                <a:lnTo>
                  <a:pt x="322739" y="21944"/>
                </a:lnTo>
                <a:lnTo>
                  <a:pt x="381794" y="12586"/>
                </a:lnTo>
                <a:lnTo>
                  <a:pt x="443990" y="5701"/>
                </a:lnTo>
                <a:lnTo>
                  <a:pt x="508893" y="1452"/>
                </a:lnTo>
                <a:lnTo>
                  <a:pt x="576071" y="0"/>
                </a:lnTo>
                <a:lnTo>
                  <a:pt x="643250" y="1452"/>
                </a:lnTo>
                <a:lnTo>
                  <a:pt x="708153" y="5701"/>
                </a:lnTo>
                <a:lnTo>
                  <a:pt x="770349" y="12586"/>
                </a:lnTo>
                <a:lnTo>
                  <a:pt x="829404" y="21944"/>
                </a:lnTo>
                <a:lnTo>
                  <a:pt x="884888" y="33615"/>
                </a:lnTo>
                <a:lnTo>
                  <a:pt x="936366" y="47436"/>
                </a:lnTo>
                <a:lnTo>
                  <a:pt x="983408" y="63246"/>
                </a:lnTo>
                <a:lnTo>
                  <a:pt x="1025580" y="80883"/>
                </a:lnTo>
                <a:lnTo>
                  <a:pt x="1062451" y="100185"/>
                </a:lnTo>
                <a:lnTo>
                  <a:pt x="1118557" y="143141"/>
                </a:lnTo>
                <a:lnTo>
                  <a:pt x="1148268" y="190820"/>
                </a:lnTo>
                <a:lnTo>
                  <a:pt x="1152143" y="216026"/>
                </a:lnTo>
                <a:lnTo>
                  <a:pt x="1148268" y="241210"/>
                </a:lnTo>
                <a:lnTo>
                  <a:pt x="1118557" y="288862"/>
                </a:lnTo>
                <a:lnTo>
                  <a:pt x="1062451" y="331811"/>
                </a:lnTo>
                <a:lnTo>
                  <a:pt x="1025580" y="351117"/>
                </a:lnTo>
                <a:lnTo>
                  <a:pt x="983408" y="368760"/>
                </a:lnTo>
                <a:lnTo>
                  <a:pt x="936366" y="384577"/>
                </a:lnTo>
                <a:lnTo>
                  <a:pt x="884888" y="398407"/>
                </a:lnTo>
                <a:lnTo>
                  <a:pt x="829404" y="410087"/>
                </a:lnTo>
                <a:lnTo>
                  <a:pt x="770349" y="419453"/>
                </a:lnTo>
                <a:lnTo>
                  <a:pt x="708153" y="426345"/>
                </a:lnTo>
                <a:lnTo>
                  <a:pt x="643250" y="430599"/>
                </a:lnTo>
                <a:lnTo>
                  <a:pt x="576071" y="432053"/>
                </a:lnTo>
                <a:lnTo>
                  <a:pt x="508893" y="430599"/>
                </a:lnTo>
                <a:lnTo>
                  <a:pt x="443990" y="426345"/>
                </a:lnTo>
                <a:lnTo>
                  <a:pt x="381794" y="419453"/>
                </a:lnTo>
                <a:lnTo>
                  <a:pt x="322739" y="410087"/>
                </a:lnTo>
                <a:lnTo>
                  <a:pt x="267255" y="398407"/>
                </a:lnTo>
                <a:lnTo>
                  <a:pt x="215777" y="384577"/>
                </a:lnTo>
                <a:lnTo>
                  <a:pt x="168735" y="368760"/>
                </a:lnTo>
                <a:lnTo>
                  <a:pt x="126563" y="351117"/>
                </a:lnTo>
                <a:lnTo>
                  <a:pt x="89692" y="331811"/>
                </a:lnTo>
                <a:lnTo>
                  <a:pt x="33586" y="288862"/>
                </a:lnTo>
                <a:lnTo>
                  <a:pt x="3875" y="241210"/>
                </a:lnTo>
                <a:lnTo>
                  <a:pt x="0" y="216026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699761" y="4322445"/>
            <a:ext cx="6102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5" dirty="0">
                <a:latin typeface="Calibri"/>
                <a:cs typeface="Calibri"/>
              </a:rPr>
              <a:t>mCode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940171" y="5013197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11"/>
                </a:lnTo>
                <a:lnTo>
                  <a:pt x="59059" y="114439"/>
                </a:lnTo>
                <a:lnTo>
                  <a:pt x="90311" y="92574"/>
                </a:lnTo>
                <a:lnTo>
                  <a:pt x="127214" y="72526"/>
                </a:lnTo>
                <a:lnTo>
                  <a:pt x="169295" y="54495"/>
                </a:lnTo>
                <a:lnTo>
                  <a:pt x="216081" y="38685"/>
                </a:lnTo>
                <a:lnTo>
                  <a:pt x="267101" y="25296"/>
                </a:lnTo>
                <a:lnTo>
                  <a:pt x="321881" y="14532"/>
                </a:lnTo>
                <a:lnTo>
                  <a:pt x="379950" y="6593"/>
                </a:lnTo>
                <a:lnTo>
                  <a:pt x="440834" y="1681"/>
                </a:lnTo>
                <a:lnTo>
                  <a:pt x="504063" y="0"/>
                </a:lnTo>
                <a:lnTo>
                  <a:pt x="567291" y="1681"/>
                </a:lnTo>
                <a:lnTo>
                  <a:pt x="628175" y="6593"/>
                </a:lnTo>
                <a:lnTo>
                  <a:pt x="686244" y="14532"/>
                </a:lnTo>
                <a:lnTo>
                  <a:pt x="741024" y="25296"/>
                </a:lnTo>
                <a:lnTo>
                  <a:pt x="792044" y="38685"/>
                </a:lnTo>
                <a:lnTo>
                  <a:pt x="838830" y="54495"/>
                </a:lnTo>
                <a:lnTo>
                  <a:pt x="880911" y="72526"/>
                </a:lnTo>
                <a:lnTo>
                  <a:pt x="917814" y="92574"/>
                </a:lnTo>
                <a:lnTo>
                  <a:pt x="949066" y="114439"/>
                </a:lnTo>
                <a:lnTo>
                  <a:pt x="992731" y="162811"/>
                </a:lnTo>
                <a:lnTo>
                  <a:pt x="1008126" y="216026"/>
                </a:lnTo>
                <a:lnTo>
                  <a:pt x="1004198" y="243114"/>
                </a:lnTo>
                <a:lnTo>
                  <a:pt x="974196" y="294082"/>
                </a:lnTo>
                <a:lnTo>
                  <a:pt x="917814" y="339423"/>
                </a:lnTo>
                <a:lnTo>
                  <a:pt x="880911" y="359476"/>
                </a:lnTo>
                <a:lnTo>
                  <a:pt x="838830" y="377514"/>
                </a:lnTo>
                <a:lnTo>
                  <a:pt x="792044" y="393334"/>
                </a:lnTo>
                <a:lnTo>
                  <a:pt x="741024" y="406732"/>
                </a:lnTo>
                <a:lnTo>
                  <a:pt x="686244" y="417506"/>
                </a:lnTo>
                <a:lnTo>
                  <a:pt x="628175" y="425453"/>
                </a:lnTo>
                <a:lnTo>
                  <a:pt x="567291" y="430369"/>
                </a:lnTo>
                <a:lnTo>
                  <a:pt x="504063" y="432053"/>
                </a:lnTo>
                <a:lnTo>
                  <a:pt x="440834" y="430369"/>
                </a:lnTo>
                <a:lnTo>
                  <a:pt x="379950" y="425453"/>
                </a:lnTo>
                <a:lnTo>
                  <a:pt x="321881" y="417506"/>
                </a:lnTo>
                <a:lnTo>
                  <a:pt x="267101" y="406732"/>
                </a:lnTo>
                <a:lnTo>
                  <a:pt x="216081" y="393334"/>
                </a:lnTo>
                <a:lnTo>
                  <a:pt x="169295" y="377514"/>
                </a:lnTo>
                <a:lnTo>
                  <a:pt x="127214" y="359476"/>
                </a:lnTo>
                <a:lnTo>
                  <a:pt x="90311" y="339423"/>
                </a:lnTo>
                <a:lnTo>
                  <a:pt x="59059" y="317557"/>
                </a:lnTo>
                <a:lnTo>
                  <a:pt x="15394" y="269200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169533" y="5095747"/>
            <a:ext cx="54991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mT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l</a:t>
            </a:r>
            <a:r>
              <a:rPr sz="1600" spc="-5" dirty="0">
                <a:latin typeface="Calibri"/>
                <a:cs typeface="Calibri"/>
              </a:rPr>
              <a:t>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308342" y="4240148"/>
            <a:ext cx="1368425" cy="432434"/>
          </a:xfrm>
          <a:custGeom>
            <a:avLst/>
            <a:gdLst/>
            <a:ahLst/>
            <a:cxnLst/>
            <a:rect l="l" t="t" r="r" b="b"/>
            <a:pathLst>
              <a:path w="1368425" h="432435">
                <a:moveTo>
                  <a:pt x="0" y="216026"/>
                </a:moveTo>
                <a:lnTo>
                  <a:pt x="13894" y="172469"/>
                </a:lnTo>
                <a:lnTo>
                  <a:pt x="53746" y="131909"/>
                </a:lnTo>
                <a:lnTo>
                  <a:pt x="116807" y="95212"/>
                </a:lnTo>
                <a:lnTo>
                  <a:pt x="156181" y="78584"/>
                </a:lnTo>
                <a:lnTo>
                  <a:pt x="200326" y="63246"/>
                </a:lnTo>
                <a:lnTo>
                  <a:pt x="248899" y="49306"/>
                </a:lnTo>
                <a:lnTo>
                  <a:pt x="301556" y="36875"/>
                </a:lnTo>
                <a:lnTo>
                  <a:pt x="357954" y="26058"/>
                </a:lnTo>
                <a:lnTo>
                  <a:pt x="417748" y="16966"/>
                </a:lnTo>
                <a:lnTo>
                  <a:pt x="480596" y="9706"/>
                </a:lnTo>
                <a:lnTo>
                  <a:pt x="546153" y="4385"/>
                </a:lnTo>
                <a:lnTo>
                  <a:pt x="614076" y="1114"/>
                </a:lnTo>
                <a:lnTo>
                  <a:pt x="684022" y="0"/>
                </a:lnTo>
                <a:lnTo>
                  <a:pt x="753968" y="1114"/>
                </a:lnTo>
                <a:lnTo>
                  <a:pt x="821896" y="4385"/>
                </a:lnTo>
                <a:lnTo>
                  <a:pt x="887459" y="9706"/>
                </a:lnTo>
                <a:lnTo>
                  <a:pt x="950315" y="16966"/>
                </a:lnTo>
                <a:lnTo>
                  <a:pt x="1010119" y="26058"/>
                </a:lnTo>
                <a:lnTo>
                  <a:pt x="1066527" y="36875"/>
                </a:lnTo>
                <a:lnTo>
                  <a:pt x="1119195" y="49306"/>
                </a:lnTo>
                <a:lnTo>
                  <a:pt x="1167780" y="63245"/>
                </a:lnTo>
                <a:lnTo>
                  <a:pt x="1211938" y="78584"/>
                </a:lnTo>
                <a:lnTo>
                  <a:pt x="1251323" y="95212"/>
                </a:lnTo>
                <a:lnTo>
                  <a:pt x="1285593" y="113023"/>
                </a:lnTo>
                <a:lnTo>
                  <a:pt x="1337411" y="151760"/>
                </a:lnTo>
                <a:lnTo>
                  <a:pt x="1364638" y="193927"/>
                </a:lnTo>
                <a:lnTo>
                  <a:pt x="1368171" y="216026"/>
                </a:lnTo>
                <a:lnTo>
                  <a:pt x="1364638" y="238105"/>
                </a:lnTo>
                <a:lnTo>
                  <a:pt x="1337411" y="280246"/>
                </a:lnTo>
                <a:lnTo>
                  <a:pt x="1285593" y="318973"/>
                </a:lnTo>
                <a:lnTo>
                  <a:pt x="1251323" y="336785"/>
                </a:lnTo>
                <a:lnTo>
                  <a:pt x="1211938" y="353417"/>
                </a:lnTo>
                <a:lnTo>
                  <a:pt x="1167780" y="368760"/>
                </a:lnTo>
                <a:lnTo>
                  <a:pt x="1119195" y="382706"/>
                </a:lnTo>
                <a:lnTo>
                  <a:pt x="1066527" y="395145"/>
                </a:lnTo>
                <a:lnTo>
                  <a:pt x="1010119" y="405969"/>
                </a:lnTo>
                <a:lnTo>
                  <a:pt x="950315" y="415069"/>
                </a:lnTo>
                <a:lnTo>
                  <a:pt x="887459" y="422337"/>
                </a:lnTo>
                <a:lnTo>
                  <a:pt x="821896" y="427662"/>
                </a:lnTo>
                <a:lnTo>
                  <a:pt x="753968" y="430938"/>
                </a:lnTo>
                <a:lnTo>
                  <a:pt x="684022" y="432053"/>
                </a:lnTo>
                <a:lnTo>
                  <a:pt x="614076" y="430938"/>
                </a:lnTo>
                <a:lnTo>
                  <a:pt x="546153" y="427662"/>
                </a:lnTo>
                <a:lnTo>
                  <a:pt x="480596" y="422337"/>
                </a:lnTo>
                <a:lnTo>
                  <a:pt x="417748" y="415069"/>
                </a:lnTo>
                <a:lnTo>
                  <a:pt x="357954" y="405969"/>
                </a:lnTo>
                <a:lnTo>
                  <a:pt x="301556" y="395145"/>
                </a:lnTo>
                <a:lnTo>
                  <a:pt x="248899" y="382706"/>
                </a:lnTo>
                <a:lnTo>
                  <a:pt x="200326" y="368760"/>
                </a:lnTo>
                <a:lnTo>
                  <a:pt x="156181" y="353417"/>
                </a:lnTo>
                <a:lnTo>
                  <a:pt x="116807" y="336785"/>
                </a:lnTo>
                <a:lnTo>
                  <a:pt x="82547" y="318973"/>
                </a:lnTo>
                <a:lnTo>
                  <a:pt x="30747" y="280246"/>
                </a:lnTo>
                <a:lnTo>
                  <a:pt x="3530" y="238105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611618" y="4322445"/>
            <a:ext cx="76454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mCredits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580126" y="4456176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0" y="0"/>
                </a:moveTo>
                <a:lnTo>
                  <a:pt x="292226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015353" y="4456176"/>
            <a:ext cx="293370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298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443853" y="4722876"/>
            <a:ext cx="635" cy="290830"/>
          </a:xfrm>
          <a:custGeom>
            <a:avLst/>
            <a:gdLst/>
            <a:ahLst/>
            <a:cxnLst/>
            <a:rect l="l" t="t" r="r" b="b"/>
            <a:pathLst>
              <a:path w="635" h="290829">
                <a:moveTo>
                  <a:pt x="0" y="0"/>
                </a:moveTo>
                <a:lnTo>
                  <a:pt x="381" y="29032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92930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83510">
              <a:lnSpc>
                <a:spcPct val="100000"/>
              </a:lnSpc>
            </a:pPr>
            <a:r>
              <a:rPr spc="-5" dirty="0"/>
              <a:t>E</a:t>
            </a:r>
            <a:r>
              <a:rPr spc="-85" dirty="0"/>
              <a:t>x</a:t>
            </a:r>
            <a:r>
              <a:rPr dirty="0"/>
              <a:t>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4038"/>
            <a:ext cx="5560060" cy="1772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 marR="615950" indent="-243840">
              <a:lnSpc>
                <a:spcPct val="120000"/>
              </a:lnSpc>
            </a:pPr>
            <a:r>
              <a:rPr sz="1600" b="1" spc="-5" dirty="0">
                <a:latin typeface="Courier New"/>
                <a:cs typeface="Courier New"/>
              </a:rPr>
              <a:t>CREATE TABLE Student (  </a:t>
            </a:r>
            <a:endParaRPr lang="en-US" sz="1600" b="1" spc="-5" dirty="0" smtClean="0">
              <a:latin typeface="Courier New"/>
              <a:cs typeface="Courier New"/>
            </a:endParaRPr>
          </a:p>
          <a:p>
            <a:pPr marL="255904" marR="615950" indent="-243840">
              <a:lnSpc>
                <a:spcPct val="120000"/>
              </a:lnSpc>
            </a:pPr>
            <a:r>
              <a:rPr lang="en-US" sz="1600" b="1" spc="-5" dirty="0">
                <a:latin typeface="Courier New"/>
                <a:cs typeface="Courier New"/>
              </a:rPr>
              <a:t> </a:t>
            </a:r>
            <a:r>
              <a:rPr lang="en-US" sz="1600" b="1" spc="-5" dirty="0" smtClean="0">
                <a:latin typeface="Courier New"/>
                <a:cs typeface="Courier New"/>
              </a:rPr>
              <a:t> </a:t>
            </a:r>
            <a:r>
              <a:rPr sz="1600" b="1" spc="-5" dirty="0" err="1" smtClean="0">
                <a:latin typeface="Courier New"/>
                <a:cs typeface="Courier New"/>
              </a:rPr>
              <a:t>sID</a:t>
            </a:r>
            <a:r>
              <a:rPr sz="1600" b="1" spc="-5" dirty="0" smtClean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INT</a:t>
            </a:r>
            <a:r>
              <a:rPr sz="1600" b="1" spc="-45" dirty="0">
                <a:latin typeface="Courier New"/>
                <a:cs typeface="Courier New"/>
              </a:rPr>
              <a:t> </a:t>
            </a:r>
            <a:r>
              <a:rPr sz="1600" b="1" spc="-5" dirty="0" smtClean="0">
                <a:latin typeface="Courier New"/>
                <a:cs typeface="Courier New"/>
              </a:rPr>
              <a:t>AUTO_INCREMENT</a:t>
            </a:r>
            <a:r>
              <a:rPr lang="en-US" sz="1600" dirty="0">
                <a:latin typeface="Courier New"/>
                <a:cs typeface="Courier New"/>
              </a:rPr>
              <a:t> </a:t>
            </a:r>
            <a:r>
              <a:rPr sz="1600" b="1" spc="-5" dirty="0" smtClean="0">
                <a:latin typeface="Courier New"/>
                <a:cs typeface="Courier New"/>
              </a:rPr>
              <a:t>PRIMARY</a:t>
            </a:r>
            <a:r>
              <a:rPr sz="1600" b="1" spc="-75" dirty="0" smtClean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KEY,</a:t>
            </a:r>
            <a:endParaRPr sz="1600" dirty="0">
              <a:latin typeface="Courier New"/>
              <a:cs typeface="Courier New"/>
            </a:endParaRPr>
          </a:p>
          <a:p>
            <a:pPr marL="255904">
              <a:lnSpc>
                <a:spcPct val="100000"/>
              </a:lnSpc>
              <a:spcBef>
                <a:spcPts val="385"/>
              </a:spcBef>
            </a:pPr>
            <a:r>
              <a:rPr sz="1600" b="1" spc="-5" dirty="0">
                <a:latin typeface="Courier New"/>
                <a:cs typeface="Courier New"/>
              </a:rPr>
              <a:t>sName VARCHAR(50</a:t>
            </a:r>
            <a:r>
              <a:rPr sz="1600" b="1" spc="-5" dirty="0" smtClean="0">
                <a:latin typeface="Courier New"/>
                <a:cs typeface="Courier New"/>
              </a:rPr>
              <a:t>)</a:t>
            </a:r>
            <a:r>
              <a:rPr lang="en-US" sz="1600" b="1" spc="-5" dirty="0" smtClean="0">
                <a:latin typeface="Courier New"/>
                <a:cs typeface="Courier New"/>
              </a:rPr>
              <a:t> </a:t>
            </a:r>
            <a:r>
              <a:rPr sz="1600" b="1" spc="-5" dirty="0" smtClean="0">
                <a:latin typeface="Courier New"/>
                <a:cs typeface="Courier New"/>
              </a:rPr>
              <a:t>NOT</a:t>
            </a:r>
            <a:r>
              <a:rPr sz="1600" b="1" spc="-20" dirty="0" smtClean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NULL,</a:t>
            </a:r>
            <a:endParaRPr sz="1600" dirty="0">
              <a:latin typeface="Courier New"/>
              <a:cs typeface="Courier New"/>
            </a:endParaRPr>
          </a:p>
          <a:p>
            <a:pPr marL="255904" marR="615315">
              <a:lnSpc>
                <a:spcPct val="120000"/>
              </a:lnSpc>
            </a:pPr>
            <a:r>
              <a:rPr sz="1600" b="1" spc="-5" dirty="0">
                <a:latin typeface="Courier New"/>
                <a:cs typeface="Courier New"/>
              </a:rPr>
              <a:t>sAddress VARCHAR(255),  </a:t>
            </a:r>
            <a:endParaRPr lang="en-US" sz="1600" b="1" spc="-5" dirty="0" smtClean="0">
              <a:latin typeface="Courier New"/>
              <a:cs typeface="Courier New"/>
            </a:endParaRPr>
          </a:p>
          <a:p>
            <a:pPr marL="255904" marR="615315">
              <a:lnSpc>
                <a:spcPct val="120000"/>
              </a:lnSpc>
            </a:pPr>
            <a:r>
              <a:rPr sz="1600" b="1" spc="-5" dirty="0" smtClean="0">
                <a:latin typeface="Courier New"/>
                <a:cs typeface="Courier New"/>
              </a:rPr>
              <a:t>sYear </a:t>
            </a:r>
            <a:r>
              <a:rPr sz="1600" b="1" spc="-5" dirty="0">
                <a:latin typeface="Courier New"/>
                <a:cs typeface="Courier New"/>
              </a:rPr>
              <a:t>INT DEFAULT</a:t>
            </a:r>
            <a:r>
              <a:rPr sz="1600" b="1" spc="-3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1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294076"/>
            <a:ext cx="3077845" cy="5827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 marR="5080" indent="-243840">
              <a:lnSpc>
                <a:spcPct val="120000"/>
              </a:lnSpc>
            </a:pPr>
            <a:r>
              <a:rPr sz="1600" b="1" spc="-5" dirty="0">
                <a:latin typeface="Courier New"/>
                <a:cs typeface="Courier New"/>
              </a:rPr>
              <a:t>CREATE TABLE Module (  </a:t>
            </a:r>
            <a:endParaRPr lang="en-US" sz="1600" b="1" spc="-5" dirty="0" smtClean="0">
              <a:latin typeface="Courier New"/>
              <a:cs typeface="Courier New"/>
            </a:endParaRPr>
          </a:p>
          <a:p>
            <a:pPr marL="255904" marR="5080" indent="-243840">
              <a:lnSpc>
                <a:spcPct val="120000"/>
              </a:lnSpc>
            </a:pPr>
            <a:r>
              <a:rPr lang="en-US" sz="1600" b="1" spc="-5" dirty="0">
                <a:latin typeface="Courier New"/>
                <a:cs typeface="Courier New"/>
              </a:rPr>
              <a:t> </a:t>
            </a:r>
            <a:r>
              <a:rPr lang="en-US" sz="1600" b="1" spc="-5" dirty="0" smtClean="0">
                <a:latin typeface="Courier New"/>
                <a:cs typeface="Courier New"/>
              </a:rPr>
              <a:t> </a:t>
            </a:r>
            <a:r>
              <a:rPr sz="1600" b="1" spc="-5" dirty="0" err="1" smtClean="0">
                <a:latin typeface="Courier New"/>
                <a:cs typeface="Courier New"/>
              </a:rPr>
              <a:t>mCode</a:t>
            </a:r>
            <a:r>
              <a:rPr sz="1600" b="1" spc="-5" dirty="0" smtClean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CHAR(6) NOT</a:t>
            </a:r>
            <a:r>
              <a:rPr sz="1600" b="1" spc="-1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NULL,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9780" y="4886055"/>
            <a:ext cx="5240020" cy="828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1760" marR="5080" indent="-9906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mCredits TINYINT NOT NULL  DEFAULT</a:t>
            </a:r>
            <a:r>
              <a:rPr sz="1600" b="1" spc="-75" dirty="0">
                <a:latin typeface="Courier New"/>
                <a:cs typeface="Courier New"/>
              </a:rPr>
              <a:t> </a:t>
            </a:r>
            <a:r>
              <a:rPr sz="1600" b="1" spc="-10" dirty="0">
                <a:latin typeface="Courier New"/>
                <a:cs typeface="Courier New"/>
              </a:rPr>
              <a:t>10,</a:t>
            </a:r>
            <a:endParaRPr sz="1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b="1" spc="-5" dirty="0">
                <a:latin typeface="Courier New"/>
                <a:cs typeface="Courier New"/>
              </a:rPr>
              <a:t>mTitle VARCHAR(100)</a:t>
            </a:r>
            <a:r>
              <a:rPr sz="1600" b="1" spc="-50" dirty="0">
                <a:latin typeface="Courier New"/>
                <a:cs typeface="Courier New"/>
              </a:rPr>
              <a:t> </a:t>
            </a:r>
            <a:r>
              <a:rPr sz="1600" b="1" dirty="0" smtClean="0">
                <a:latin typeface="Courier New"/>
                <a:cs typeface="Courier New"/>
              </a:rPr>
              <a:t>NOT</a:t>
            </a:r>
            <a:r>
              <a:rPr lang="en-US" sz="1600" dirty="0">
                <a:latin typeface="Courier New"/>
                <a:cs typeface="Courier New"/>
              </a:rPr>
              <a:t> </a:t>
            </a:r>
            <a:r>
              <a:rPr sz="1600" b="1" spc="-5" dirty="0" smtClean="0">
                <a:latin typeface="Courier New"/>
                <a:cs typeface="Courier New"/>
              </a:rPr>
              <a:t>NULL</a:t>
            </a:r>
            <a:r>
              <a:rPr sz="1600" b="1" spc="-5" dirty="0">
                <a:latin typeface="Courier New"/>
                <a:cs typeface="Courier New"/>
              </a:rPr>
              <a:t>,</a:t>
            </a:r>
            <a:endParaRPr sz="1600" dirty="0">
              <a:latin typeface="Courier New"/>
              <a:cs typeface="Courier New"/>
            </a:endParaRPr>
          </a:p>
          <a:p>
            <a:pPr marL="134620" marR="613410" indent="-122555">
              <a:lnSpc>
                <a:spcPct val="120000"/>
              </a:lnSpc>
            </a:pPr>
            <a:r>
              <a:rPr sz="1600" b="1" spc="-5" dirty="0">
                <a:latin typeface="Courier New"/>
                <a:cs typeface="Courier New"/>
              </a:rPr>
              <a:t>CONSTRAINT mod_pk </a:t>
            </a:r>
            <a:r>
              <a:rPr sz="1600" b="1" spc="-5" dirty="0" smtClean="0">
                <a:latin typeface="Courier New"/>
                <a:cs typeface="Courier New"/>
              </a:rPr>
              <a:t>PRIMARY KEY</a:t>
            </a:r>
            <a:r>
              <a:rPr lang="en-US" sz="1600" b="1" spc="-65" dirty="0">
                <a:latin typeface="Courier New"/>
                <a:cs typeface="Courier New"/>
              </a:rPr>
              <a:t> </a:t>
            </a:r>
            <a:r>
              <a:rPr sz="1600" b="1" dirty="0" smtClean="0">
                <a:latin typeface="Courier New"/>
                <a:cs typeface="Courier New"/>
              </a:rPr>
              <a:t>(</a:t>
            </a:r>
            <a:r>
              <a:rPr sz="1600" b="1" dirty="0">
                <a:latin typeface="Courier New"/>
                <a:cs typeface="Courier New"/>
              </a:rPr>
              <a:t>mCode)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6159195"/>
            <a:ext cx="26924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72353" y="2679573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054100" y="0"/>
                </a:lnTo>
                <a:lnTo>
                  <a:pt x="1088671" y="6979"/>
                </a:lnTo>
                <a:lnTo>
                  <a:pt x="1116933" y="26019"/>
                </a:lnTo>
                <a:lnTo>
                  <a:pt x="1136003" y="54274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03" y="479125"/>
                </a:lnTo>
                <a:lnTo>
                  <a:pt x="1116933" y="507380"/>
                </a:lnTo>
                <a:lnTo>
                  <a:pt x="1088671" y="526420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24498" y="2778125"/>
            <a:ext cx="83883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St</a:t>
            </a:r>
            <a:r>
              <a:rPr sz="2000" spc="5" dirty="0">
                <a:latin typeface="Calibri"/>
                <a:cs typeface="Calibri"/>
              </a:rPr>
              <a:t>u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-20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76063" y="2103501"/>
            <a:ext cx="1152525" cy="432434"/>
          </a:xfrm>
          <a:custGeom>
            <a:avLst/>
            <a:gdLst/>
            <a:ahLst/>
            <a:cxnLst/>
            <a:rect l="l" t="t" r="r" b="b"/>
            <a:pathLst>
              <a:path w="1152525" h="432435">
                <a:moveTo>
                  <a:pt x="0" y="216026"/>
                </a:moveTo>
                <a:lnTo>
                  <a:pt x="15215" y="166511"/>
                </a:lnTo>
                <a:lnTo>
                  <a:pt x="58556" y="121048"/>
                </a:lnTo>
                <a:lnTo>
                  <a:pt x="126563" y="80936"/>
                </a:lnTo>
                <a:lnTo>
                  <a:pt x="168735" y="63293"/>
                </a:lnTo>
                <a:lnTo>
                  <a:pt x="215777" y="47476"/>
                </a:lnTo>
                <a:lnTo>
                  <a:pt x="267255" y="33646"/>
                </a:lnTo>
                <a:lnTo>
                  <a:pt x="322739" y="21966"/>
                </a:lnTo>
                <a:lnTo>
                  <a:pt x="381794" y="12600"/>
                </a:lnTo>
                <a:lnTo>
                  <a:pt x="443990" y="5708"/>
                </a:lnTo>
                <a:lnTo>
                  <a:pt x="508893" y="1454"/>
                </a:lnTo>
                <a:lnTo>
                  <a:pt x="576072" y="0"/>
                </a:lnTo>
                <a:lnTo>
                  <a:pt x="643250" y="1454"/>
                </a:lnTo>
                <a:lnTo>
                  <a:pt x="708153" y="5708"/>
                </a:lnTo>
                <a:lnTo>
                  <a:pt x="770349" y="12600"/>
                </a:lnTo>
                <a:lnTo>
                  <a:pt x="829404" y="21966"/>
                </a:lnTo>
                <a:lnTo>
                  <a:pt x="884888" y="33646"/>
                </a:lnTo>
                <a:lnTo>
                  <a:pt x="936366" y="47476"/>
                </a:lnTo>
                <a:lnTo>
                  <a:pt x="983408" y="63293"/>
                </a:lnTo>
                <a:lnTo>
                  <a:pt x="1025580" y="80936"/>
                </a:lnTo>
                <a:lnTo>
                  <a:pt x="1062451" y="100242"/>
                </a:lnTo>
                <a:lnTo>
                  <a:pt x="1118557" y="143191"/>
                </a:lnTo>
                <a:lnTo>
                  <a:pt x="1148268" y="190843"/>
                </a:lnTo>
                <a:lnTo>
                  <a:pt x="1152144" y="216026"/>
                </a:lnTo>
                <a:lnTo>
                  <a:pt x="1148268" y="241210"/>
                </a:lnTo>
                <a:lnTo>
                  <a:pt x="1118557" y="288862"/>
                </a:lnTo>
                <a:lnTo>
                  <a:pt x="1062451" y="331811"/>
                </a:lnTo>
                <a:lnTo>
                  <a:pt x="1025580" y="351117"/>
                </a:lnTo>
                <a:lnTo>
                  <a:pt x="983408" y="368760"/>
                </a:lnTo>
                <a:lnTo>
                  <a:pt x="936366" y="384577"/>
                </a:lnTo>
                <a:lnTo>
                  <a:pt x="884888" y="398407"/>
                </a:lnTo>
                <a:lnTo>
                  <a:pt x="829404" y="410087"/>
                </a:lnTo>
                <a:lnTo>
                  <a:pt x="770349" y="419453"/>
                </a:lnTo>
                <a:lnTo>
                  <a:pt x="708153" y="426345"/>
                </a:lnTo>
                <a:lnTo>
                  <a:pt x="643250" y="430599"/>
                </a:lnTo>
                <a:lnTo>
                  <a:pt x="576072" y="432053"/>
                </a:lnTo>
                <a:lnTo>
                  <a:pt x="508893" y="430599"/>
                </a:lnTo>
                <a:lnTo>
                  <a:pt x="443990" y="426345"/>
                </a:lnTo>
                <a:lnTo>
                  <a:pt x="381794" y="419453"/>
                </a:lnTo>
                <a:lnTo>
                  <a:pt x="322739" y="410087"/>
                </a:lnTo>
                <a:lnTo>
                  <a:pt x="267255" y="398407"/>
                </a:lnTo>
                <a:lnTo>
                  <a:pt x="215777" y="384577"/>
                </a:lnTo>
                <a:lnTo>
                  <a:pt x="168735" y="368760"/>
                </a:lnTo>
                <a:lnTo>
                  <a:pt x="126563" y="351117"/>
                </a:lnTo>
                <a:lnTo>
                  <a:pt x="89692" y="331811"/>
                </a:lnTo>
                <a:lnTo>
                  <a:pt x="33586" y="288862"/>
                </a:lnTo>
                <a:lnTo>
                  <a:pt x="3875" y="241210"/>
                </a:lnTo>
                <a:lnTo>
                  <a:pt x="0" y="216026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355463" y="2185542"/>
            <a:ext cx="59626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sName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72000" y="2729610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11"/>
                </a:lnTo>
                <a:lnTo>
                  <a:pt x="59059" y="114439"/>
                </a:lnTo>
                <a:lnTo>
                  <a:pt x="90311" y="92574"/>
                </a:lnTo>
                <a:lnTo>
                  <a:pt x="127214" y="72526"/>
                </a:lnTo>
                <a:lnTo>
                  <a:pt x="169295" y="54495"/>
                </a:lnTo>
                <a:lnTo>
                  <a:pt x="216081" y="38685"/>
                </a:lnTo>
                <a:lnTo>
                  <a:pt x="267101" y="25296"/>
                </a:lnTo>
                <a:lnTo>
                  <a:pt x="321881" y="14532"/>
                </a:lnTo>
                <a:lnTo>
                  <a:pt x="379950" y="6593"/>
                </a:lnTo>
                <a:lnTo>
                  <a:pt x="440834" y="1681"/>
                </a:lnTo>
                <a:lnTo>
                  <a:pt x="504063" y="0"/>
                </a:lnTo>
                <a:lnTo>
                  <a:pt x="567291" y="1681"/>
                </a:lnTo>
                <a:lnTo>
                  <a:pt x="628175" y="6593"/>
                </a:lnTo>
                <a:lnTo>
                  <a:pt x="686244" y="14532"/>
                </a:lnTo>
                <a:lnTo>
                  <a:pt x="741024" y="25296"/>
                </a:lnTo>
                <a:lnTo>
                  <a:pt x="792044" y="38685"/>
                </a:lnTo>
                <a:lnTo>
                  <a:pt x="838830" y="54495"/>
                </a:lnTo>
                <a:lnTo>
                  <a:pt x="880911" y="72526"/>
                </a:lnTo>
                <a:lnTo>
                  <a:pt x="917814" y="92574"/>
                </a:lnTo>
                <a:lnTo>
                  <a:pt x="949066" y="114439"/>
                </a:lnTo>
                <a:lnTo>
                  <a:pt x="992731" y="162811"/>
                </a:lnTo>
                <a:lnTo>
                  <a:pt x="1008126" y="216026"/>
                </a:lnTo>
                <a:lnTo>
                  <a:pt x="1004198" y="243114"/>
                </a:lnTo>
                <a:lnTo>
                  <a:pt x="974196" y="294082"/>
                </a:lnTo>
                <a:lnTo>
                  <a:pt x="917814" y="339423"/>
                </a:lnTo>
                <a:lnTo>
                  <a:pt x="880911" y="359476"/>
                </a:lnTo>
                <a:lnTo>
                  <a:pt x="838830" y="377514"/>
                </a:lnTo>
                <a:lnTo>
                  <a:pt x="792044" y="393334"/>
                </a:lnTo>
                <a:lnTo>
                  <a:pt x="741024" y="406732"/>
                </a:lnTo>
                <a:lnTo>
                  <a:pt x="686244" y="417506"/>
                </a:lnTo>
                <a:lnTo>
                  <a:pt x="628175" y="425453"/>
                </a:lnTo>
                <a:lnTo>
                  <a:pt x="567291" y="430369"/>
                </a:lnTo>
                <a:lnTo>
                  <a:pt x="504063" y="432053"/>
                </a:lnTo>
                <a:lnTo>
                  <a:pt x="440834" y="430369"/>
                </a:lnTo>
                <a:lnTo>
                  <a:pt x="379950" y="425453"/>
                </a:lnTo>
                <a:lnTo>
                  <a:pt x="321881" y="417506"/>
                </a:lnTo>
                <a:lnTo>
                  <a:pt x="267101" y="406732"/>
                </a:lnTo>
                <a:lnTo>
                  <a:pt x="216081" y="393334"/>
                </a:lnTo>
                <a:lnTo>
                  <a:pt x="169295" y="377514"/>
                </a:lnTo>
                <a:lnTo>
                  <a:pt x="127214" y="359476"/>
                </a:lnTo>
                <a:lnTo>
                  <a:pt x="90311" y="339423"/>
                </a:lnTo>
                <a:lnTo>
                  <a:pt x="59059" y="317557"/>
                </a:lnTo>
                <a:lnTo>
                  <a:pt x="15394" y="269200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35473" y="2811526"/>
            <a:ext cx="28130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0" dirty="0">
                <a:latin typeface="Calibri"/>
                <a:cs typeface="Calibri"/>
              </a:rPr>
              <a:t>s</a:t>
            </a:r>
            <a:r>
              <a:rPr sz="1600" u="heavy" spc="-5" dirty="0"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32269" y="2103501"/>
            <a:ext cx="1368425" cy="432434"/>
          </a:xfrm>
          <a:custGeom>
            <a:avLst/>
            <a:gdLst/>
            <a:ahLst/>
            <a:cxnLst/>
            <a:rect l="l" t="t" r="r" b="b"/>
            <a:pathLst>
              <a:path w="1368425" h="432435">
                <a:moveTo>
                  <a:pt x="0" y="216026"/>
                </a:moveTo>
                <a:lnTo>
                  <a:pt x="13894" y="172505"/>
                </a:lnTo>
                <a:lnTo>
                  <a:pt x="53746" y="131962"/>
                </a:lnTo>
                <a:lnTo>
                  <a:pt x="116807" y="95268"/>
                </a:lnTo>
                <a:lnTo>
                  <a:pt x="156181" y="78636"/>
                </a:lnTo>
                <a:lnTo>
                  <a:pt x="200326" y="63293"/>
                </a:lnTo>
                <a:lnTo>
                  <a:pt x="248899" y="49347"/>
                </a:lnTo>
                <a:lnTo>
                  <a:pt x="301556" y="36908"/>
                </a:lnTo>
                <a:lnTo>
                  <a:pt x="357954" y="26084"/>
                </a:lnTo>
                <a:lnTo>
                  <a:pt x="417748" y="16984"/>
                </a:lnTo>
                <a:lnTo>
                  <a:pt x="480596" y="9716"/>
                </a:lnTo>
                <a:lnTo>
                  <a:pt x="546153" y="4391"/>
                </a:lnTo>
                <a:lnTo>
                  <a:pt x="614076" y="1115"/>
                </a:lnTo>
                <a:lnTo>
                  <a:pt x="684022" y="0"/>
                </a:lnTo>
                <a:lnTo>
                  <a:pt x="753968" y="1115"/>
                </a:lnTo>
                <a:lnTo>
                  <a:pt x="821896" y="4391"/>
                </a:lnTo>
                <a:lnTo>
                  <a:pt x="887459" y="9716"/>
                </a:lnTo>
                <a:lnTo>
                  <a:pt x="950315" y="16984"/>
                </a:lnTo>
                <a:lnTo>
                  <a:pt x="1010119" y="26084"/>
                </a:lnTo>
                <a:lnTo>
                  <a:pt x="1066527" y="36908"/>
                </a:lnTo>
                <a:lnTo>
                  <a:pt x="1119195" y="49347"/>
                </a:lnTo>
                <a:lnTo>
                  <a:pt x="1167780" y="63293"/>
                </a:lnTo>
                <a:lnTo>
                  <a:pt x="1211938" y="78636"/>
                </a:lnTo>
                <a:lnTo>
                  <a:pt x="1251323" y="95268"/>
                </a:lnTo>
                <a:lnTo>
                  <a:pt x="1285593" y="113080"/>
                </a:lnTo>
                <a:lnTo>
                  <a:pt x="1337411" y="151807"/>
                </a:lnTo>
                <a:lnTo>
                  <a:pt x="1364638" y="193948"/>
                </a:lnTo>
                <a:lnTo>
                  <a:pt x="1368171" y="216026"/>
                </a:lnTo>
                <a:lnTo>
                  <a:pt x="1364638" y="238105"/>
                </a:lnTo>
                <a:lnTo>
                  <a:pt x="1337411" y="280246"/>
                </a:lnTo>
                <a:lnTo>
                  <a:pt x="1285593" y="318973"/>
                </a:lnTo>
                <a:lnTo>
                  <a:pt x="1251323" y="336785"/>
                </a:lnTo>
                <a:lnTo>
                  <a:pt x="1211938" y="353417"/>
                </a:lnTo>
                <a:lnTo>
                  <a:pt x="1167780" y="368760"/>
                </a:lnTo>
                <a:lnTo>
                  <a:pt x="1119195" y="382706"/>
                </a:lnTo>
                <a:lnTo>
                  <a:pt x="1066527" y="395145"/>
                </a:lnTo>
                <a:lnTo>
                  <a:pt x="1010119" y="405969"/>
                </a:lnTo>
                <a:lnTo>
                  <a:pt x="950315" y="415069"/>
                </a:lnTo>
                <a:lnTo>
                  <a:pt x="887459" y="422337"/>
                </a:lnTo>
                <a:lnTo>
                  <a:pt x="821896" y="427662"/>
                </a:lnTo>
                <a:lnTo>
                  <a:pt x="753968" y="430938"/>
                </a:lnTo>
                <a:lnTo>
                  <a:pt x="684022" y="432053"/>
                </a:lnTo>
                <a:lnTo>
                  <a:pt x="614076" y="430938"/>
                </a:lnTo>
                <a:lnTo>
                  <a:pt x="546153" y="427662"/>
                </a:lnTo>
                <a:lnTo>
                  <a:pt x="480596" y="422337"/>
                </a:lnTo>
                <a:lnTo>
                  <a:pt x="417748" y="415069"/>
                </a:lnTo>
                <a:lnTo>
                  <a:pt x="357954" y="405969"/>
                </a:lnTo>
                <a:lnTo>
                  <a:pt x="301556" y="395145"/>
                </a:lnTo>
                <a:lnTo>
                  <a:pt x="248899" y="382706"/>
                </a:lnTo>
                <a:lnTo>
                  <a:pt x="200326" y="368760"/>
                </a:lnTo>
                <a:lnTo>
                  <a:pt x="156181" y="353417"/>
                </a:lnTo>
                <a:lnTo>
                  <a:pt x="116807" y="336785"/>
                </a:lnTo>
                <a:lnTo>
                  <a:pt x="82547" y="318973"/>
                </a:lnTo>
                <a:lnTo>
                  <a:pt x="30747" y="280246"/>
                </a:lnTo>
                <a:lnTo>
                  <a:pt x="3530" y="238105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037069" y="2185542"/>
            <a:ext cx="76200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sAddress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08342" y="2730119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53"/>
                </a:lnTo>
                <a:lnTo>
                  <a:pt x="59059" y="114496"/>
                </a:lnTo>
                <a:lnTo>
                  <a:pt x="90311" y="92630"/>
                </a:lnTo>
                <a:lnTo>
                  <a:pt x="127214" y="72577"/>
                </a:lnTo>
                <a:lnTo>
                  <a:pt x="169295" y="54539"/>
                </a:lnTo>
                <a:lnTo>
                  <a:pt x="216081" y="38719"/>
                </a:lnTo>
                <a:lnTo>
                  <a:pt x="267101" y="25321"/>
                </a:lnTo>
                <a:lnTo>
                  <a:pt x="321881" y="14547"/>
                </a:lnTo>
                <a:lnTo>
                  <a:pt x="379950" y="6600"/>
                </a:lnTo>
                <a:lnTo>
                  <a:pt x="440834" y="1684"/>
                </a:lnTo>
                <a:lnTo>
                  <a:pt x="504062" y="0"/>
                </a:lnTo>
                <a:lnTo>
                  <a:pt x="567291" y="1684"/>
                </a:lnTo>
                <a:lnTo>
                  <a:pt x="628175" y="6600"/>
                </a:lnTo>
                <a:lnTo>
                  <a:pt x="686244" y="14547"/>
                </a:lnTo>
                <a:lnTo>
                  <a:pt x="741024" y="25321"/>
                </a:lnTo>
                <a:lnTo>
                  <a:pt x="792044" y="38719"/>
                </a:lnTo>
                <a:lnTo>
                  <a:pt x="838830" y="54539"/>
                </a:lnTo>
                <a:lnTo>
                  <a:pt x="880911" y="72577"/>
                </a:lnTo>
                <a:lnTo>
                  <a:pt x="917814" y="92630"/>
                </a:lnTo>
                <a:lnTo>
                  <a:pt x="949066" y="114496"/>
                </a:lnTo>
                <a:lnTo>
                  <a:pt x="992731" y="162853"/>
                </a:lnTo>
                <a:lnTo>
                  <a:pt x="1008126" y="216026"/>
                </a:lnTo>
                <a:lnTo>
                  <a:pt x="1004198" y="243139"/>
                </a:lnTo>
                <a:lnTo>
                  <a:pt x="974196" y="294134"/>
                </a:lnTo>
                <a:lnTo>
                  <a:pt x="917814" y="339479"/>
                </a:lnTo>
                <a:lnTo>
                  <a:pt x="880911" y="359527"/>
                </a:lnTo>
                <a:lnTo>
                  <a:pt x="838830" y="377558"/>
                </a:lnTo>
                <a:lnTo>
                  <a:pt x="792044" y="393368"/>
                </a:lnTo>
                <a:lnTo>
                  <a:pt x="741024" y="406757"/>
                </a:lnTo>
                <a:lnTo>
                  <a:pt x="686244" y="417521"/>
                </a:lnTo>
                <a:lnTo>
                  <a:pt x="628175" y="425460"/>
                </a:lnTo>
                <a:lnTo>
                  <a:pt x="567291" y="430372"/>
                </a:lnTo>
                <a:lnTo>
                  <a:pt x="504062" y="432053"/>
                </a:lnTo>
                <a:lnTo>
                  <a:pt x="440834" y="430372"/>
                </a:lnTo>
                <a:lnTo>
                  <a:pt x="379950" y="425460"/>
                </a:lnTo>
                <a:lnTo>
                  <a:pt x="321881" y="417521"/>
                </a:lnTo>
                <a:lnTo>
                  <a:pt x="267101" y="406757"/>
                </a:lnTo>
                <a:lnTo>
                  <a:pt x="216081" y="393368"/>
                </a:lnTo>
                <a:lnTo>
                  <a:pt x="169295" y="377558"/>
                </a:lnTo>
                <a:lnTo>
                  <a:pt x="127214" y="359527"/>
                </a:lnTo>
                <a:lnTo>
                  <a:pt x="90311" y="339479"/>
                </a:lnTo>
                <a:lnTo>
                  <a:pt x="59059" y="317614"/>
                </a:lnTo>
                <a:lnTo>
                  <a:pt x="15394" y="269242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585075" y="2812160"/>
            <a:ext cx="45783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</a:t>
            </a:r>
            <a:r>
              <a:rPr sz="1600" spc="-125" dirty="0">
                <a:latin typeface="Calibri"/>
                <a:cs typeface="Calibri"/>
              </a:rPr>
              <a:t>Y</a:t>
            </a:r>
            <a:r>
              <a:rPr sz="1600" spc="-5" dirty="0">
                <a:latin typeface="Calibri"/>
                <a:cs typeface="Calibri"/>
              </a:rPr>
              <a:t>ear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80126" y="2945638"/>
            <a:ext cx="292735" cy="635"/>
          </a:xfrm>
          <a:custGeom>
            <a:avLst/>
            <a:gdLst/>
            <a:ahLst/>
            <a:cxnLst/>
            <a:rect l="l" t="t" r="r" b="b"/>
            <a:pathLst>
              <a:path w="292735" h="635">
                <a:moveTo>
                  <a:pt x="292226" y="635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59423" y="2472308"/>
            <a:ext cx="168910" cy="207645"/>
          </a:xfrm>
          <a:custGeom>
            <a:avLst/>
            <a:gdLst/>
            <a:ahLst/>
            <a:cxnLst/>
            <a:rect l="l" t="t" r="r" b="b"/>
            <a:pathLst>
              <a:path w="168910" h="207644">
                <a:moveTo>
                  <a:pt x="0" y="0"/>
                </a:moveTo>
                <a:lnTo>
                  <a:pt x="168783" y="20726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732269" y="2472308"/>
            <a:ext cx="200660" cy="207645"/>
          </a:xfrm>
          <a:custGeom>
            <a:avLst/>
            <a:gdLst/>
            <a:ahLst/>
            <a:cxnLst/>
            <a:rect l="l" t="t" r="r" b="b"/>
            <a:pathLst>
              <a:path w="200659" h="207644">
                <a:moveTo>
                  <a:pt x="200278" y="0"/>
                </a:moveTo>
                <a:lnTo>
                  <a:pt x="0" y="20726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15353" y="2946145"/>
            <a:ext cx="293370" cy="635"/>
          </a:xfrm>
          <a:custGeom>
            <a:avLst/>
            <a:gdLst/>
            <a:ahLst/>
            <a:cxnLst/>
            <a:rect l="l" t="t" r="r" b="b"/>
            <a:pathLst>
              <a:path w="293370" h="635">
                <a:moveTo>
                  <a:pt x="0" y="126"/>
                </a:moveTo>
                <a:lnTo>
                  <a:pt x="29298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872353" y="4189476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88900"/>
                </a:moveTo>
                <a:lnTo>
                  <a:pt x="6979" y="54328"/>
                </a:lnTo>
                <a:lnTo>
                  <a:pt x="26019" y="26066"/>
                </a:lnTo>
                <a:lnTo>
                  <a:pt x="54274" y="6996"/>
                </a:lnTo>
                <a:lnTo>
                  <a:pt x="88900" y="0"/>
                </a:lnTo>
                <a:lnTo>
                  <a:pt x="1054100" y="0"/>
                </a:lnTo>
                <a:lnTo>
                  <a:pt x="1088671" y="6996"/>
                </a:lnTo>
                <a:lnTo>
                  <a:pt x="1116933" y="26066"/>
                </a:lnTo>
                <a:lnTo>
                  <a:pt x="1136003" y="54328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03" y="479125"/>
                </a:lnTo>
                <a:lnTo>
                  <a:pt x="1116933" y="507380"/>
                </a:lnTo>
                <a:lnTo>
                  <a:pt x="1088671" y="526420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029071" y="4288408"/>
            <a:ext cx="83058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Mod</a:t>
            </a:r>
            <a:r>
              <a:rPr sz="2000" spc="-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le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427982" y="4240148"/>
            <a:ext cx="1152525" cy="432434"/>
          </a:xfrm>
          <a:custGeom>
            <a:avLst/>
            <a:gdLst/>
            <a:ahLst/>
            <a:cxnLst/>
            <a:rect l="l" t="t" r="r" b="b"/>
            <a:pathLst>
              <a:path w="1152525" h="432435">
                <a:moveTo>
                  <a:pt x="0" y="216026"/>
                </a:moveTo>
                <a:lnTo>
                  <a:pt x="15215" y="166471"/>
                </a:lnTo>
                <a:lnTo>
                  <a:pt x="58556" y="120992"/>
                </a:lnTo>
                <a:lnTo>
                  <a:pt x="126563" y="80883"/>
                </a:lnTo>
                <a:lnTo>
                  <a:pt x="168735" y="63245"/>
                </a:lnTo>
                <a:lnTo>
                  <a:pt x="215777" y="47436"/>
                </a:lnTo>
                <a:lnTo>
                  <a:pt x="267255" y="33615"/>
                </a:lnTo>
                <a:lnTo>
                  <a:pt x="322739" y="21944"/>
                </a:lnTo>
                <a:lnTo>
                  <a:pt x="381794" y="12586"/>
                </a:lnTo>
                <a:lnTo>
                  <a:pt x="443990" y="5701"/>
                </a:lnTo>
                <a:lnTo>
                  <a:pt x="508893" y="1452"/>
                </a:lnTo>
                <a:lnTo>
                  <a:pt x="576071" y="0"/>
                </a:lnTo>
                <a:lnTo>
                  <a:pt x="643250" y="1452"/>
                </a:lnTo>
                <a:lnTo>
                  <a:pt x="708153" y="5701"/>
                </a:lnTo>
                <a:lnTo>
                  <a:pt x="770349" y="12586"/>
                </a:lnTo>
                <a:lnTo>
                  <a:pt x="829404" y="21944"/>
                </a:lnTo>
                <a:lnTo>
                  <a:pt x="884888" y="33615"/>
                </a:lnTo>
                <a:lnTo>
                  <a:pt x="936366" y="47436"/>
                </a:lnTo>
                <a:lnTo>
                  <a:pt x="983408" y="63246"/>
                </a:lnTo>
                <a:lnTo>
                  <a:pt x="1025580" y="80883"/>
                </a:lnTo>
                <a:lnTo>
                  <a:pt x="1062451" y="100185"/>
                </a:lnTo>
                <a:lnTo>
                  <a:pt x="1118557" y="143141"/>
                </a:lnTo>
                <a:lnTo>
                  <a:pt x="1148268" y="190820"/>
                </a:lnTo>
                <a:lnTo>
                  <a:pt x="1152143" y="216026"/>
                </a:lnTo>
                <a:lnTo>
                  <a:pt x="1148268" y="241210"/>
                </a:lnTo>
                <a:lnTo>
                  <a:pt x="1118557" y="288862"/>
                </a:lnTo>
                <a:lnTo>
                  <a:pt x="1062451" y="331811"/>
                </a:lnTo>
                <a:lnTo>
                  <a:pt x="1025580" y="351117"/>
                </a:lnTo>
                <a:lnTo>
                  <a:pt x="983408" y="368760"/>
                </a:lnTo>
                <a:lnTo>
                  <a:pt x="936366" y="384577"/>
                </a:lnTo>
                <a:lnTo>
                  <a:pt x="884888" y="398407"/>
                </a:lnTo>
                <a:lnTo>
                  <a:pt x="829404" y="410087"/>
                </a:lnTo>
                <a:lnTo>
                  <a:pt x="770349" y="419453"/>
                </a:lnTo>
                <a:lnTo>
                  <a:pt x="708153" y="426345"/>
                </a:lnTo>
                <a:lnTo>
                  <a:pt x="643250" y="430599"/>
                </a:lnTo>
                <a:lnTo>
                  <a:pt x="576071" y="432053"/>
                </a:lnTo>
                <a:lnTo>
                  <a:pt x="508893" y="430599"/>
                </a:lnTo>
                <a:lnTo>
                  <a:pt x="443990" y="426345"/>
                </a:lnTo>
                <a:lnTo>
                  <a:pt x="381794" y="419453"/>
                </a:lnTo>
                <a:lnTo>
                  <a:pt x="322739" y="410087"/>
                </a:lnTo>
                <a:lnTo>
                  <a:pt x="267255" y="398407"/>
                </a:lnTo>
                <a:lnTo>
                  <a:pt x="215777" y="384577"/>
                </a:lnTo>
                <a:lnTo>
                  <a:pt x="168735" y="368760"/>
                </a:lnTo>
                <a:lnTo>
                  <a:pt x="126563" y="351117"/>
                </a:lnTo>
                <a:lnTo>
                  <a:pt x="89692" y="331811"/>
                </a:lnTo>
                <a:lnTo>
                  <a:pt x="33586" y="288862"/>
                </a:lnTo>
                <a:lnTo>
                  <a:pt x="3875" y="241210"/>
                </a:lnTo>
                <a:lnTo>
                  <a:pt x="0" y="216026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699761" y="4322445"/>
            <a:ext cx="6102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5" dirty="0">
                <a:latin typeface="Calibri"/>
                <a:cs typeface="Calibri"/>
              </a:rPr>
              <a:t>mCode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940171" y="5013197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11"/>
                </a:lnTo>
                <a:lnTo>
                  <a:pt x="59059" y="114439"/>
                </a:lnTo>
                <a:lnTo>
                  <a:pt x="90311" y="92574"/>
                </a:lnTo>
                <a:lnTo>
                  <a:pt x="127214" y="72526"/>
                </a:lnTo>
                <a:lnTo>
                  <a:pt x="169295" y="54495"/>
                </a:lnTo>
                <a:lnTo>
                  <a:pt x="216081" y="38685"/>
                </a:lnTo>
                <a:lnTo>
                  <a:pt x="267101" y="25296"/>
                </a:lnTo>
                <a:lnTo>
                  <a:pt x="321881" y="14532"/>
                </a:lnTo>
                <a:lnTo>
                  <a:pt x="379950" y="6593"/>
                </a:lnTo>
                <a:lnTo>
                  <a:pt x="440834" y="1681"/>
                </a:lnTo>
                <a:lnTo>
                  <a:pt x="504063" y="0"/>
                </a:lnTo>
                <a:lnTo>
                  <a:pt x="567291" y="1681"/>
                </a:lnTo>
                <a:lnTo>
                  <a:pt x="628175" y="6593"/>
                </a:lnTo>
                <a:lnTo>
                  <a:pt x="686244" y="14532"/>
                </a:lnTo>
                <a:lnTo>
                  <a:pt x="741024" y="25296"/>
                </a:lnTo>
                <a:lnTo>
                  <a:pt x="792044" y="38685"/>
                </a:lnTo>
                <a:lnTo>
                  <a:pt x="838830" y="54495"/>
                </a:lnTo>
                <a:lnTo>
                  <a:pt x="880911" y="72526"/>
                </a:lnTo>
                <a:lnTo>
                  <a:pt x="917814" y="92574"/>
                </a:lnTo>
                <a:lnTo>
                  <a:pt x="949066" y="114439"/>
                </a:lnTo>
                <a:lnTo>
                  <a:pt x="992731" y="162811"/>
                </a:lnTo>
                <a:lnTo>
                  <a:pt x="1008126" y="216026"/>
                </a:lnTo>
                <a:lnTo>
                  <a:pt x="1004198" y="243114"/>
                </a:lnTo>
                <a:lnTo>
                  <a:pt x="974196" y="294082"/>
                </a:lnTo>
                <a:lnTo>
                  <a:pt x="917814" y="339423"/>
                </a:lnTo>
                <a:lnTo>
                  <a:pt x="880911" y="359476"/>
                </a:lnTo>
                <a:lnTo>
                  <a:pt x="838830" y="377514"/>
                </a:lnTo>
                <a:lnTo>
                  <a:pt x="792044" y="393334"/>
                </a:lnTo>
                <a:lnTo>
                  <a:pt x="741024" y="406732"/>
                </a:lnTo>
                <a:lnTo>
                  <a:pt x="686244" y="417506"/>
                </a:lnTo>
                <a:lnTo>
                  <a:pt x="628175" y="425453"/>
                </a:lnTo>
                <a:lnTo>
                  <a:pt x="567291" y="430369"/>
                </a:lnTo>
                <a:lnTo>
                  <a:pt x="504063" y="432053"/>
                </a:lnTo>
                <a:lnTo>
                  <a:pt x="440834" y="430369"/>
                </a:lnTo>
                <a:lnTo>
                  <a:pt x="379950" y="425453"/>
                </a:lnTo>
                <a:lnTo>
                  <a:pt x="321881" y="417506"/>
                </a:lnTo>
                <a:lnTo>
                  <a:pt x="267101" y="406732"/>
                </a:lnTo>
                <a:lnTo>
                  <a:pt x="216081" y="393334"/>
                </a:lnTo>
                <a:lnTo>
                  <a:pt x="169295" y="377514"/>
                </a:lnTo>
                <a:lnTo>
                  <a:pt x="127214" y="359476"/>
                </a:lnTo>
                <a:lnTo>
                  <a:pt x="90311" y="339423"/>
                </a:lnTo>
                <a:lnTo>
                  <a:pt x="59059" y="317557"/>
                </a:lnTo>
                <a:lnTo>
                  <a:pt x="15394" y="269200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169533" y="5095747"/>
            <a:ext cx="54991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mT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5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l</a:t>
            </a:r>
            <a:r>
              <a:rPr sz="1600" spc="-5" dirty="0">
                <a:latin typeface="Calibri"/>
                <a:cs typeface="Calibri"/>
              </a:rPr>
              <a:t>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308342" y="4240148"/>
            <a:ext cx="1368425" cy="432434"/>
          </a:xfrm>
          <a:custGeom>
            <a:avLst/>
            <a:gdLst/>
            <a:ahLst/>
            <a:cxnLst/>
            <a:rect l="l" t="t" r="r" b="b"/>
            <a:pathLst>
              <a:path w="1368425" h="432435">
                <a:moveTo>
                  <a:pt x="0" y="216026"/>
                </a:moveTo>
                <a:lnTo>
                  <a:pt x="13894" y="172469"/>
                </a:lnTo>
                <a:lnTo>
                  <a:pt x="53746" y="131909"/>
                </a:lnTo>
                <a:lnTo>
                  <a:pt x="116807" y="95212"/>
                </a:lnTo>
                <a:lnTo>
                  <a:pt x="156181" y="78584"/>
                </a:lnTo>
                <a:lnTo>
                  <a:pt x="200326" y="63246"/>
                </a:lnTo>
                <a:lnTo>
                  <a:pt x="248899" y="49306"/>
                </a:lnTo>
                <a:lnTo>
                  <a:pt x="301556" y="36875"/>
                </a:lnTo>
                <a:lnTo>
                  <a:pt x="357954" y="26058"/>
                </a:lnTo>
                <a:lnTo>
                  <a:pt x="417748" y="16966"/>
                </a:lnTo>
                <a:lnTo>
                  <a:pt x="480596" y="9706"/>
                </a:lnTo>
                <a:lnTo>
                  <a:pt x="546153" y="4385"/>
                </a:lnTo>
                <a:lnTo>
                  <a:pt x="614076" y="1114"/>
                </a:lnTo>
                <a:lnTo>
                  <a:pt x="684022" y="0"/>
                </a:lnTo>
                <a:lnTo>
                  <a:pt x="753968" y="1114"/>
                </a:lnTo>
                <a:lnTo>
                  <a:pt x="821896" y="4385"/>
                </a:lnTo>
                <a:lnTo>
                  <a:pt x="887459" y="9706"/>
                </a:lnTo>
                <a:lnTo>
                  <a:pt x="950315" y="16966"/>
                </a:lnTo>
                <a:lnTo>
                  <a:pt x="1010119" y="26058"/>
                </a:lnTo>
                <a:lnTo>
                  <a:pt x="1066527" y="36875"/>
                </a:lnTo>
                <a:lnTo>
                  <a:pt x="1119195" y="49306"/>
                </a:lnTo>
                <a:lnTo>
                  <a:pt x="1167780" y="63245"/>
                </a:lnTo>
                <a:lnTo>
                  <a:pt x="1211938" y="78584"/>
                </a:lnTo>
                <a:lnTo>
                  <a:pt x="1251323" y="95212"/>
                </a:lnTo>
                <a:lnTo>
                  <a:pt x="1285593" y="113023"/>
                </a:lnTo>
                <a:lnTo>
                  <a:pt x="1337411" y="151760"/>
                </a:lnTo>
                <a:lnTo>
                  <a:pt x="1364638" y="193927"/>
                </a:lnTo>
                <a:lnTo>
                  <a:pt x="1368171" y="216026"/>
                </a:lnTo>
                <a:lnTo>
                  <a:pt x="1364638" y="238105"/>
                </a:lnTo>
                <a:lnTo>
                  <a:pt x="1337411" y="280246"/>
                </a:lnTo>
                <a:lnTo>
                  <a:pt x="1285593" y="318973"/>
                </a:lnTo>
                <a:lnTo>
                  <a:pt x="1251323" y="336785"/>
                </a:lnTo>
                <a:lnTo>
                  <a:pt x="1211938" y="353417"/>
                </a:lnTo>
                <a:lnTo>
                  <a:pt x="1167780" y="368760"/>
                </a:lnTo>
                <a:lnTo>
                  <a:pt x="1119195" y="382706"/>
                </a:lnTo>
                <a:lnTo>
                  <a:pt x="1066527" y="395145"/>
                </a:lnTo>
                <a:lnTo>
                  <a:pt x="1010119" y="405969"/>
                </a:lnTo>
                <a:lnTo>
                  <a:pt x="950315" y="415069"/>
                </a:lnTo>
                <a:lnTo>
                  <a:pt x="887459" y="422337"/>
                </a:lnTo>
                <a:lnTo>
                  <a:pt x="821896" y="427662"/>
                </a:lnTo>
                <a:lnTo>
                  <a:pt x="753968" y="430938"/>
                </a:lnTo>
                <a:lnTo>
                  <a:pt x="684022" y="432053"/>
                </a:lnTo>
                <a:lnTo>
                  <a:pt x="614076" y="430938"/>
                </a:lnTo>
                <a:lnTo>
                  <a:pt x="546153" y="427662"/>
                </a:lnTo>
                <a:lnTo>
                  <a:pt x="480596" y="422337"/>
                </a:lnTo>
                <a:lnTo>
                  <a:pt x="417748" y="415069"/>
                </a:lnTo>
                <a:lnTo>
                  <a:pt x="357954" y="405969"/>
                </a:lnTo>
                <a:lnTo>
                  <a:pt x="301556" y="395145"/>
                </a:lnTo>
                <a:lnTo>
                  <a:pt x="248899" y="382706"/>
                </a:lnTo>
                <a:lnTo>
                  <a:pt x="200326" y="368760"/>
                </a:lnTo>
                <a:lnTo>
                  <a:pt x="156181" y="353417"/>
                </a:lnTo>
                <a:lnTo>
                  <a:pt x="116807" y="336785"/>
                </a:lnTo>
                <a:lnTo>
                  <a:pt x="82547" y="318973"/>
                </a:lnTo>
                <a:lnTo>
                  <a:pt x="30747" y="280246"/>
                </a:lnTo>
                <a:lnTo>
                  <a:pt x="3530" y="238105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611618" y="4322445"/>
            <a:ext cx="76454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mCredits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580126" y="4456176"/>
            <a:ext cx="292735" cy="0"/>
          </a:xfrm>
          <a:custGeom>
            <a:avLst/>
            <a:gdLst/>
            <a:ahLst/>
            <a:cxnLst/>
            <a:rect l="l" t="t" r="r" b="b"/>
            <a:pathLst>
              <a:path w="292735">
                <a:moveTo>
                  <a:pt x="0" y="0"/>
                </a:moveTo>
                <a:lnTo>
                  <a:pt x="292226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015353" y="4456176"/>
            <a:ext cx="293370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298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443853" y="4722876"/>
            <a:ext cx="635" cy="290830"/>
          </a:xfrm>
          <a:custGeom>
            <a:avLst/>
            <a:gdLst/>
            <a:ahLst/>
            <a:cxnLst/>
            <a:rect l="l" t="t" r="r" b="b"/>
            <a:pathLst>
              <a:path w="635" h="290829">
                <a:moveTo>
                  <a:pt x="0" y="0"/>
                </a:moveTo>
                <a:lnTo>
                  <a:pt x="381" y="29032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83560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2965">
              <a:lnSpc>
                <a:spcPct val="100000"/>
              </a:lnSpc>
            </a:pPr>
            <a:r>
              <a:rPr spc="-75" dirty="0"/>
              <a:t>R</a:t>
            </a:r>
            <a:r>
              <a:rPr dirty="0"/>
              <a:t>el</a:t>
            </a:r>
            <a:r>
              <a:rPr spc="-40" dirty="0"/>
              <a:t>a</a:t>
            </a:r>
            <a:r>
              <a:rPr dirty="0"/>
              <a:t>ti</a:t>
            </a:r>
            <a:r>
              <a:rPr spc="-5" dirty="0"/>
              <a:t>onsh</a:t>
            </a:r>
            <a:r>
              <a:rPr dirty="0"/>
              <a:t>i</a:t>
            </a:r>
            <a:r>
              <a:rPr spc="-20" dirty="0"/>
              <a:t>p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805"/>
            <a:ext cx="3859529" cy="4458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758825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Relationships </a:t>
            </a:r>
            <a:r>
              <a:rPr sz="2800" spc="-20" dirty="0">
                <a:latin typeface="Calibri"/>
                <a:cs typeface="Calibri"/>
              </a:rPr>
              <a:t>are  represented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spc="-10" dirty="0">
                <a:latin typeface="Calibri"/>
                <a:cs typeface="Calibri"/>
              </a:rPr>
              <a:t>SQL  using </a:t>
            </a:r>
            <a:r>
              <a:rPr sz="2800" spc="-15" dirty="0">
                <a:latin typeface="Calibri"/>
                <a:cs typeface="Calibri"/>
              </a:rPr>
              <a:t>Foreign</a:t>
            </a:r>
            <a:r>
              <a:rPr sz="2800" spc="-30" dirty="0">
                <a:latin typeface="Calibri"/>
                <a:cs typeface="Calibri"/>
              </a:rPr>
              <a:t> Keys</a:t>
            </a:r>
            <a:endParaRPr sz="2800" dirty="0">
              <a:latin typeface="Calibri"/>
              <a:cs typeface="Calibri"/>
            </a:endParaRPr>
          </a:p>
          <a:p>
            <a:pPr marL="756285" marR="78740" lvl="1" indent="-28638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1:1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usually not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used,  or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15" dirty="0">
                <a:latin typeface="Calibri"/>
                <a:cs typeface="Calibri"/>
              </a:rPr>
              <a:t>treated </a:t>
            </a:r>
            <a:r>
              <a:rPr sz="2400" dirty="0">
                <a:latin typeface="Calibri"/>
                <a:cs typeface="Calibri"/>
              </a:rPr>
              <a:t>as a  </a:t>
            </a:r>
            <a:r>
              <a:rPr sz="2400" spc="-5" dirty="0">
                <a:latin typeface="Calibri"/>
                <a:cs typeface="Calibri"/>
              </a:rPr>
              <a:t>special case </a:t>
            </a:r>
            <a:r>
              <a:rPr sz="2400" spc="-5" dirty="0" smtClean="0">
                <a:latin typeface="Calibri"/>
                <a:cs typeface="Calibri"/>
              </a:rPr>
              <a:t>of</a:t>
            </a:r>
            <a:r>
              <a:rPr lang="en-US" sz="2400" spc="-85" dirty="0">
                <a:latin typeface="Calibri"/>
                <a:cs typeface="Calibri"/>
              </a:rPr>
              <a:t> </a:t>
            </a:r>
            <a:r>
              <a:rPr sz="2400" dirty="0" smtClean="0">
                <a:latin typeface="Calibri"/>
                <a:cs typeface="Calibri"/>
              </a:rPr>
              <a:t>1</a:t>
            </a:r>
            <a:r>
              <a:rPr lang="en-US" sz="2400" dirty="0" smtClean="0">
                <a:latin typeface="Calibri"/>
                <a:cs typeface="Calibri"/>
              </a:rPr>
              <a:t>:N</a:t>
            </a:r>
            <a:endParaRPr sz="2400" dirty="0">
              <a:latin typeface="Calibri"/>
              <a:cs typeface="Calibri"/>
            </a:endParaRPr>
          </a:p>
          <a:p>
            <a:pPr marL="756285" marR="5080" lvl="1" indent="-28638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dirty="0" smtClean="0">
                <a:latin typeface="Calibri"/>
                <a:cs typeface="Calibri"/>
              </a:rPr>
              <a:t>1</a:t>
            </a:r>
            <a:r>
              <a:rPr lang="en-US" sz="2400" dirty="0" smtClean="0">
                <a:latin typeface="Calibri"/>
                <a:cs typeface="Calibri"/>
              </a:rPr>
              <a:t>:N</a:t>
            </a:r>
            <a:r>
              <a:rPr sz="2400" dirty="0" smtClean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 represented </a:t>
            </a:r>
            <a:r>
              <a:rPr sz="2400" dirty="0">
                <a:latin typeface="Calibri"/>
                <a:cs typeface="Calibri"/>
              </a:rPr>
              <a:t>as a  </a:t>
            </a:r>
            <a:r>
              <a:rPr sz="2400" spc="-15" dirty="0">
                <a:latin typeface="Calibri"/>
                <a:cs typeface="Calibri"/>
              </a:rPr>
              <a:t>foreign </a:t>
            </a:r>
            <a:r>
              <a:rPr sz="2400" spc="-25" dirty="0">
                <a:latin typeface="Calibri"/>
                <a:cs typeface="Calibri"/>
              </a:rPr>
              <a:t>key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lang="en-US" sz="2400" dirty="0" smtClean="0">
                <a:latin typeface="Calibri"/>
                <a:cs typeface="Calibri"/>
              </a:rPr>
              <a:t>N</a:t>
            </a:r>
            <a:r>
              <a:rPr sz="2400" dirty="0" smtClean="0">
                <a:latin typeface="Calibri"/>
                <a:cs typeface="Calibri"/>
              </a:rPr>
              <a:t>-  </a:t>
            </a:r>
            <a:r>
              <a:rPr sz="2400" spc="-5" dirty="0">
                <a:latin typeface="Calibri"/>
                <a:cs typeface="Calibri"/>
              </a:rPr>
              <a:t>side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dirty="0" smtClean="0">
                <a:latin typeface="Calibri"/>
                <a:cs typeface="Calibri"/>
              </a:rPr>
              <a:t>M:</a:t>
            </a:r>
            <a:r>
              <a:rPr lang="en-US" sz="2400" dirty="0" smtClean="0">
                <a:latin typeface="Calibri"/>
                <a:cs typeface="Calibri"/>
              </a:rPr>
              <a:t>N</a:t>
            </a:r>
            <a:r>
              <a:rPr sz="2400" dirty="0" smtClean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split </a:t>
            </a:r>
            <a:r>
              <a:rPr sz="2400" spc="-15" dirty="0">
                <a:latin typeface="Calibri"/>
                <a:cs typeface="Calibri"/>
              </a:rPr>
              <a:t>into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two</a:t>
            </a:r>
            <a:endParaRPr sz="2400" dirty="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</a:pPr>
            <a:r>
              <a:rPr sz="2400" dirty="0" smtClean="0">
                <a:latin typeface="Calibri"/>
                <a:cs typeface="Calibri"/>
              </a:rPr>
              <a:t>1</a:t>
            </a:r>
            <a:r>
              <a:rPr lang="en-US" sz="2400" dirty="0" smtClean="0">
                <a:latin typeface="Calibri"/>
                <a:cs typeface="Calibri"/>
              </a:rPr>
              <a:t>:N</a:t>
            </a:r>
            <a:r>
              <a:rPr sz="2400" spc="-85" dirty="0" smtClean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96153" y="3665220"/>
            <a:ext cx="1295400" cy="533400"/>
          </a:xfrm>
          <a:custGeom>
            <a:avLst/>
            <a:gdLst/>
            <a:ahLst/>
            <a:cxnLst/>
            <a:rect l="l" t="t" r="r" b="b"/>
            <a:pathLst>
              <a:path w="1295400" h="533400">
                <a:moveTo>
                  <a:pt x="0" y="88899"/>
                </a:moveTo>
                <a:lnTo>
                  <a:pt x="6979" y="54328"/>
                </a:lnTo>
                <a:lnTo>
                  <a:pt x="26019" y="26066"/>
                </a:lnTo>
                <a:lnTo>
                  <a:pt x="54274" y="6996"/>
                </a:lnTo>
                <a:lnTo>
                  <a:pt x="88900" y="0"/>
                </a:lnTo>
                <a:lnTo>
                  <a:pt x="1206500" y="0"/>
                </a:lnTo>
                <a:lnTo>
                  <a:pt x="1241071" y="6996"/>
                </a:lnTo>
                <a:lnTo>
                  <a:pt x="1269333" y="26066"/>
                </a:lnTo>
                <a:lnTo>
                  <a:pt x="1288403" y="54328"/>
                </a:lnTo>
                <a:lnTo>
                  <a:pt x="1295400" y="88899"/>
                </a:lnTo>
                <a:lnTo>
                  <a:pt x="1295400" y="444499"/>
                </a:lnTo>
                <a:lnTo>
                  <a:pt x="1288403" y="479125"/>
                </a:lnTo>
                <a:lnTo>
                  <a:pt x="1269333" y="507380"/>
                </a:lnTo>
                <a:lnTo>
                  <a:pt x="1241071" y="526420"/>
                </a:lnTo>
                <a:lnTo>
                  <a:pt x="1206500" y="533399"/>
                </a:lnTo>
                <a:lnTo>
                  <a:pt x="88900" y="533399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499"/>
                </a:lnTo>
                <a:lnTo>
                  <a:pt x="0" y="8889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91910" y="3764153"/>
            <a:ext cx="110553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Enrolment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72353" y="1988820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88900"/>
                </a:moveTo>
                <a:lnTo>
                  <a:pt x="6979" y="54328"/>
                </a:lnTo>
                <a:lnTo>
                  <a:pt x="26019" y="26066"/>
                </a:lnTo>
                <a:lnTo>
                  <a:pt x="54274" y="6996"/>
                </a:lnTo>
                <a:lnTo>
                  <a:pt x="88900" y="0"/>
                </a:lnTo>
                <a:lnTo>
                  <a:pt x="1054100" y="0"/>
                </a:lnTo>
                <a:lnTo>
                  <a:pt x="1088671" y="6996"/>
                </a:lnTo>
                <a:lnTo>
                  <a:pt x="1116933" y="26066"/>
                </a:lnTo>
                <a:lnTo>
                  <a:pt x="1136003" y="54328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03" y="479125"/>
                </a:lnTo>
                <a:lnTo>
                  <a:pt x="1116933" y="507380"/>
                </a:lnTo>
                <a:lnTo>
                  <a:pt x="1088671" y="526420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24498" y="2087498"/>
            <a:ext cx="83946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Stu</a:t>
            </a:r>
            <a:r>
              <a:rPr sz="2000" spc="5" dirty="0">
                <a:latin typeface="Calibri"/>
                <a:cs typeface="Calibri"/>
              </a:rPr>
              <a:t>d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2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72353" y="5341620"/>
            <a:ext cx="1143000" cy="534035"/>
          </a:xfrm>
          <a:custGeom>
            <a:avLst/>
            <a:gdLst/>
            <a:ahLst/>
            <a:cxnLst/>
            <a:rect l="l" t="t" r="r" b="b"/>
            <a:pathLst>
              <a:path w="1143000" h="534035">
                <a:moveTo>
                  <a:pt x="0" y="88899"/>
                </a:moveTo>
                <a:lnTo>
                  <a:pt x="6979" y="54328"/>
                </a:lnTo>
                <a:lnTo>
                  <a:pt x="26019" y="26066"/>
                </a:lnTo>
                <a:lnTo>
                  <a:pt x="54274" y="6996"/>
                </a:lnTo>
                <a:lnTo>
                  <a:pt x="88900" y="0"/>
                </a:lnTo>
                <a:lnTo>
                  <a:pt x="1054100" y="0"/>
                </a:lnTo>
                <a:lnTo>
                  <a:pt x="1088671" y="6996"/>
                </a:lnTo>
                <a:lnTo>
                  <a:pt x="1116933" y="26066"/>
                </a:lnTo>
                <a:lnTo>
                  <a:pt x="1136003" y="54328"/>
                </a:lnTo>
                <a:lnTo>
                  <a:pt x="1143000" y="88899"/>
                </a:lnTo>
                <a:lnTo>
                  <a:pt x="1143000" y="444512"/>
                </a:lnTo>
                <a:lnTo>
                  <a:pt x="1136003" y="479118"/>
                </a:lnTo>
                <a:lnTo>
                  <a:pt x="1116933" y="507380"/>
                </a:lnTo>
                <a:lnTo>
                  <a:pt x="1088671" y="526437"/>
                </a:lnTo>
                <a:lnTo>
                  <a:pt x="1054100" y="533425"/>
                </a:lnTo>
                <a:lnTo>
                  <a:pt x="88900" y="533425"/>
                </a:lnTo>
                <a:lnTo>
                  <a:pt x="54274" y="526437"/>
                </a:lnTo>
                <a:lnTo>
                  <a:pt x="26019" y="507380"/>
                </a:lnTo>
                <a:lnTo>
                  <a:pt x="6979" y="479118"/>
                </a:lnTo>
                <a:lnTo>
                  <a:pt x="0" y="444512"/>
                </a:lnTo>
                <a:lnTo>
                  <a:pt x="0" y="8889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029071" y="5440883"/>
            <a:ext cx="83058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Mod</a:t>
            </a:r>
            <a:r>
              <a:rPr sz="2000" spc="-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le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48553" y="4503420"/>
            <a:ext cx="990600" cy="533400"/>
          </a:xfrm>
          <a:custGeom>
            <a:avLst/>
            <a:gdLst/>
            <a:ahLst/>
            <a:cxnLst/>
            <a:rect l="l" t="t" r="r" b="b"/>
            <a:pathLst>
              <a:path w="990600" h="533400">
                <a:moveTo>
                  <a:pt x="0" y="266699"/>
                </a:moveTo>
                <a:lnTo>
                  <a:pt x="495300" y="0"/>
                </a:lnTo>
                <a:lnTo>
                  <a:pt x="990600" y="266699"/>
                </a:lnTo>
                <a:lnTo>
                  <a:pt x="495300" y="533399"/>
                </a:lnTo>
                <a:lnTo>
                  <a:pt x="0" y="26669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52794" y="4636389"/>
            <a:ext cx="18478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In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48553" y="2827020"/>
            <a:ext cx="990600" cy="533400"/>
          </a:xfrm>
          <a:custGeom>
            <a:avLst/>
            <a:gdLst/>
            <a:ahLst/>
            <a:cxnLst/>
            <a:rect l="l" t="t" r="r" b="b"/>
            <a:pathLst>
              <a:path w="990600" h="533400">
                <a:moveTo>
                  <a:pt x="0" y="266700"/>
                </a:moveTo>
                <a:lnTo>
                  <a:pt x="495300" y="0"/>
                </a:lnTo>
                <a:lnTo>
                  <a:pt x="990600" y="266700"/>
                </a:lnTo>
                <a:lnTo>
                  <a:pt x="495300" y="533400"/>
                </a:lnTo>
                <a:lnTo>
                  <a:pt x="0" y="2667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279641" y="2959734"/>
            <a:ext cx="32893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Has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43853" y="252222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43853" y="336042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43853" y="419862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443853" y="503682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29553" y="4198620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228600" y="0"/>
                </a:moveTo>
                <a:lnTo>
                  <a:pt x="222772" y="48182"/>
                </a:lnTo>
                <a:lnTo>
                  <a:pt x="206544" y="90019"/>
                </a:lnTo>
                <a:lnTo>
                  <a:pt x="181801" y="123005"/>
                </a:lnTo>
                <a:lnTo>
                  <a:pt x="150424" y="144633"/>
                </a:lnTo>
                <a:lnTo>
                  <a:pt x="114300" y="152399"/>
                </a:lnTo>
                <a:lnTo>
                  <a:pt x="78175" y="144647"/>
                </a:lnTo>
                <a:lnTo>
                  <a:pt x="46798" y="123057"/>
                </a:lnTo>
                <a:lnTo>
                  <a:pt x="22055" y="90129"/>
                </a:lnTo>
                <a:lnTo>
                  <a:pt x="5827" y="48361"/>
                </a:lnTo>
                <a:lnTo>
                  <a:pt x="0" y="25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329553" y="3512820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228600" y="152399"/>
                </a:moveTo>
                <a:lnTo>
                  <a:pt x="222772" y="104217"/>
                </a:lnTo>
                <a:lnTo>
                  <a:pt x="206544" y="62380"/>
                </a:lnTo>
                <a:lnTo>
                  <a:pt x="181801" y="29394"/>
                </a:lnTo>
                <a:lnTo>
                  <a:pt x="150424" y="7766"/>
                </a:lnTo>
                <a:lnTo>
                  <a:pt x="114300" y="0"/>
                </a:lnTo>
                <a:lnTo>
                  <a:pt x="78175" y="7765"/>
                </a:lnTo>
                <a:lnTo>
                  <a:pt x="46798" y="29386"/>
                </a:lnTo>
                <a:lnTo>
                  <a:pt x="22055" y="62352"/>
                </a:lnTo>
                <a:lnTo>
                  <a:pt x="5827" y="104152"/>
                </a:lnTo>
                <a:lnTo>
                  <a:pt x="0" y="15227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076063" y="1412747"/>
            <a:ext cx="1152525" cy="432434"/>
          </a:xfrm>
          <a:custGeom>
            <a:avLst/>
            <a:gdLst/>
            <a:ahLst/>
            <a:cxnLst/>
            <a:rect l="l" t="t" r="r" b="b"/>
            <a:pathLst>
              <a:path w="1152525" h="432435">
                <a:moveTo>
                  <a:pt x="0" y="216026"/>
                </a:moveTo>
                <a:lnTo>
                  <a:pt x="15215" y="166511"/>
                </a:lnTo>
                <a:lnTo>
                  <a:pt x="58556" y="121048"/>
                </a:lnTo>
                <a:lnTo>
                  <a:pt x="126563" y="80936"/>
                </a:lnTo>
                <a:lnTo>
                  <a:pt x="168735" y="63293"/>
                </a:lnTo>
                <a:lnTo>
                  <a:pt x="215777" y="47476"/>
                </a:lnTo>
                <a:lnTo>
                  <a:pt x="267255" y="33646"/>
                </a:lnTo>
                <a:lnTo>
                  <a:pt x="322739" y="21966"/>
                </a:lnTo>
                <a:lnTo>
                  <a:pt x="381794" y="12600"/>
                </a:lnTo>
                <a:lnTo>
                  <a:pt x="443990" y="5708"/>
                </a:lnTo>
                <a:lnTo>
                  <a:pt x="508893" y="1454"/>
                </a:lnTo>
                <a:lnTo>
                  <a:pt x="576072" y="0"/>
                </a:lnTo>
                <a:lnTo>
                  <a:pt x="643250" y="1454"/>
                </a:lnTo>
                <a:lnTo>
                  <a:pt x="708153" y="5708"/>
                </a:lnTo>
                <a:lnTo>
                  <a:pt x="770349" y="12600"/>
                </a:lnTo>
                <a:lnTo>
                  <a:pt x="829404" y="21966"/>
                </a:lnTo>
                <a:lnTo>
                  <a:pt x="884888" y="33646"/>
                </a:lnTo>
                <a:lnTo>
                  <a:pt x="936366" y="47476"/>
                </a:lnTo>
                <a:lnTo>
                  <a:pt x="983408" y="63293"/>
                </a:lnTo>
                <a:lnTo>
                  <a:pt x="1025580" y="80936"/>
                </a:lnTo>
                <a:lnTo>
                  <a:pt x="1062451" y="100242"/>
                </a:lnTo>
                <a:lnTo>
                  <a:pt x="1118557" y="143191"/>
                </a:lnTo>
                <a:lnTo>
                  <a:pt x="1148268" y="190843"/>
                </a:lnTo>
                <a:lnTo>
                  <a:pt x="1152144" y="216026"/>
                </a:lnTo>
                <a:lnTo>
                  <a:pt x="1148268" y="241233"/>
                </a:lnTo>
                <a:lnTo>
                  <a:pt x="1118557" y="288912"/>
                </a:lnTo>
                <a:lnTo>
                  <a:pt x="1062451" y="331868"/>
                </a:lnTo>
                <a:lnTo>
                  <a:pt x="1025580" y="351170"/>
                </a:lnTo>
                <a:lnTo>
                  <a:pt x="983408" y="368807"/>
                </a:lnTo>
                <a:lnTo>
                  <a:pt x="936366" y="384617"/>
                </a:lnTo>
                <a:lnTo>
                  <a:pt x="884888" y="398438"/>
                </a:lnTo>
                <a:lnTo>
                  <a:pt x="829404" y="410109"/>
                </a:lnTo>
                <a:lnTo>
                  <a:pt x="770349" y="419467"/>
                </a:lnTo>
                <a:lnTo>
                  <a:pt x="708153" y="426352"/>
                </a:lnTo>
                <a:lnTo>
                  <a:pt x="643250" y="430601"/>
                </a:lnTo>
                <a:lnTo>
                  <a:pt x="576072" y="432053"/>
                </a:lnTo>
                <a:lnTo>
                  <a:pt x="508893" y="430601"/>
                </a:lnTo>
                <a:lnTo>
                  <a:pt x="443990" y="426352"/>
                </a:lnTo>
                <a:lnTo>
                  <a:pt x="381794" y="419467"/>
                </a:lnTo>
                <a:lnTo>
                  <a:pt x="322739" y="410109"/>
                </a:lnTo>
                <a:lnTo>
                  <a:pt x="267255" y="398438"/>
                </a:lnTo>
                <a:lnTo>
                  <a:pt x="215777" y="384617"/>
                </a:lnTo>
                <a:lnTo>
                  <a:pt x="168735" y="368807"/>
                </a:lnTo>
                <a:lnTo>
                  <a:pt x="126563" y="351170"/>
                </a:lnTo>
                <a:lnTo>
                  <a:pt x="89692" y="331868"/>
                </a:lnTo>
                <a:lnTo>
                  <a:pt x="33586" y="288912"/>
                </a:lnTo>
                <a:lnTo>
                  <a:pt x="3875" y="241233"/>
                </a:lnTo>
                <a:lnTo>
                  <a:pt x="0" y="216026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355463" y="1494535"/>
            <a:ext cx="59563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sName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72000" y="2038857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11"/>
                </a:lnTo>
                <a:lnTo>
                  <a:pt x="59059" y="114439"/>
                </a:lnTo>
                <a:lnTo>
                  <a:pt x="90311" y="92574"/>
                </a:lnTo>
                <a:lnTo>
                  <a:pt x="127214" y="72526"/>
                </a:lnTo>
                <a:lnTo>
                  <a:pt x="169295" y="54495"/>
                </a:lnTo>
                <a:lnTo>
                  <a:pt x="216081" y="38685"/>
                </a:lnTo>
                <a:lnTo>
                  <a:pt x="267101" y="25296"/>
                </a:lnTo>
                <a:lnTo>
                  <a:pt x="321881" y="14532"/>
                </a:lnTo>
                <a:lnTo>
                  <a:pt x="379950" y="6593"/>
                </a:lnTo>
                <a:lnTo>
                  <a:pt x="440834" y="1681"/>
                </a:lnTo>
                <a:lnTo>
                  <a:pt x="504063" y="0"/>
                </a:lnTo>
                <a:lnTo>
                  <a:pt x="567291" y="1681"/>
                </a:lnTo>
                <a:lnTo>
                  <a:pt x="628175" y="6593"/>
                </a:lnTo>
                <a:lnTo>
                  <a:pt x="686244" y="14532"/>
                </a:lnTo>
                <a:lnTo>
                  <a:pt x="741024" y="25296"/>
                </a:lnTo>
                <a:lnTo>
                  <a:pt x="792044" y="38685"/>
                </a:lnTo>
                <a:lnTo>
                  <a:pt x="838830" y="54495"/>
                </a:lnTo>
                <a:lnTo>
                  <a:pt x="880911" y="72526"/>
                </a:lnTo>
                <a:lnTo>
                  <a:pt x="917814" y="92574"/>
                </a:lnTo>
                <a:lnTo>
                  <a:pt x="949066" y="114439"/>
                </a:lnTo>
                <a:lnTo>
                  <a:pt x="992731" y="162811"/>
                </a:lnTo>
                <a:lnTo>
                  <a:pt x="1008126" y="216026"/>
                </a:lnTo>
                <a:lnTo>
                  <a:pt x="1004198" y="243114"/>
                </a:lnTo>
                <a:lnTo>
                  <a:pt x="974196" y="294082"/>
                </a:lnTo>
                <a:lnTo>
                  <a:pt x="917814" y="339423"/>
                </a:lnTo>
                <a:lnTo>
                  <a:pt x="880911" y="359476"/>
                </a:lnTo>
                <a:lnTo>
                  <a:pt x="838830" y="377514"/>
                </a:lnTo>
                <a:lnTo>
                  <a:pt x="792044" y="393334"/>
                </a:lnTo>
                <a:lnTo>
                  <a:pt x="741024" y="406732"/>
                </a:lnTo>
                <a:lnTo>
                  <a:pt x="686244" y="417506"/>
                </a:lnTo>
                <a:lnTo>
                  <a:pt x="628175" y="425453"/>
                </a:lnTo>
                <a:lnTo>
                  <a:pt x="567291" y="430369"/>
                </a:lnTo>
                <a:lnTo>
                  <a:pt x="504063" y="432053"/>
                </a:lnTo>
                <a:lnTo>
                  <a:pt x="440834" y="430369"/>
                </a:lnTo>
                <a:lnTo>
                  <a:pt x="379950" y="425453"/>
                </a:lnTo>
                <a:lnTo>
                  <a:pt x="321881" y="417506"/>
                </a:lnTo>
                <a:lnTo>
                  <a:pt x="267101" y="406732"/>
                </a:lnTo>
                <a:lnTo>
                  <a:pt x="216081" y="393334"/>
                </a:lnTo>
                <a:lnTo>
                  <a:pt x="169295" y="377514"/>
                </a:lnTo>
                <a:lnTo>
                  <a:pt x="127214" y="359476"/>
                </a:lnTo>
                <a:lnTo>
                  <a:pt x="90311" y="339423"/>
                </a:lnTo>
                <a:lnTo>
                  <a:pt x="59059" y="317557"/>
                </a:lnTo>
                <a:lnTo>
                  <a:pt x="15394" y="269200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935473" y="2120646"/>
            <a:ext cx="28130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0" dirty="0">
                <a:latin typeface="Calibri"/>
                <a:cs typeface="Calibri"/>
              </a:rPr>
              <a:t>s</a:t>
            </a:r>
            <a:r>
              <a:rPr sz="1600" u="heavy" spc="-5" dirty="0"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660260" y="1412747"/>
            <a:ext cx="1440180" cy="432434"/>
          </a:xfrm>
          <a:custGeom>
            <a:avLst/>
            <a:gdLst/>
            <a:ahLst/>
            <a:cxnLst/>
            <a:rect l="l" t="t" r="r" b="b"/>
            <a:pathLst>
              <a:path w="1440179" h="432435">
                <a:moveTo>
                  <a:pt x="0" y="216026"/>
                </a:moveTo>
                <a:lnTo>
                  <a:pt x="12981" y="174992"/>
                </a:lnTo>
                <a:lnTo>
                  <a:pt x="50318" y="136549"/>
                </a:lnTo>
                <a:lnTo>
                  <a:pt x="109599" y="101425"/>
                </a:lnTo>
                <a:lnTo>
                  <a:pt x="146714" y="85335"/>
                </a:lnTo>
                <a:lnTo>
                  <a:pt x="188411" y="70346"/>
                </a:lnTo>
                <a:lnTo>
                  <a:pt x="234387" y="56550"/>
                </a:lnTo>
                <a:lnTo>
                  <a:pt x="284342" y="44037"/>
                </a:lnTo>
                <a:lnTo>
                  <a:pt x="337973" y="32898"/>
                </a:lnTo>
                <a:lnTo>
                  <a:pt x="394980" y="23224"/>
                </a:lnTo>
                <a:lnTo>
                  <a:pt x="455061" y="15105"/>
                </a:lnTo>
                <a:lnTo>
                  <a:pt x="517913" y="8632"/>
                </a:lnTo>
                <a:lnTo>
                  <a:pt x="583237" y="3897"/>
                </a:lnTo>
                <a:lnTo>
                  <a:pt x="650729" y="989"/>
                </a:lnTo>
                <a:lnTo>
                  <a:pt x="720090" y="0"/>
                </a:lnTo>
                <a:lnTo>
                  <a:pt x="789430" y="989"/>
                </a:lnTo>
                <a:lnTo>
                  <a:pt x="856908" y="3897"/>
                </a:lnTo>
                <a:lnTo>
                  <a:pt x="922220" y="8632"/>
                </a:lnTo>
                <a:lnTo>
                  <a:pt x="985066" y="15105"/>
                </a:lnTo>
                <a:lnTo>
                  <a:pt x="1045143" y="23224"/>
                </a:lnTo>
                <a:lnTo>
                  <a:pt x="1102149" y="32898"/>
                </a:lnTo>
                <a:lnTo>
                  <a:pt x="1155783" y="44037"/>
                </a:lnTo>
                <a:lnTo>
                  <a:pt x="1205741" y="56550"/>
                </a:lnTo>
                <a:lnTo>
                  <a:pt x="1251723" y="70346"/>
                </a:lnTo>
                <a:lnTo>
                  <a:pt x="1293427" y="85335"/>
                </a:lnTo>
                <a:lnTo>
                  <a:pt x="1330549" y="101425"/>
                </a:lnTo>
                <a:lnTo>
                  <a:pt x="1389844" y="136549"/>
                </a:lnTo>
                <a:lnTo>
                  <a:pt x="1427193" y="174992"/>
                </a:lnTo>
                <a:lnTo>
                  <a:pt x="1440180" y="216026"/>
                </a:lnTo>
                <a:lnTo>
                  <a:pt x="1436883" y="236843"/>
                </a:lnTo>
                <a:lnTo>
                  <a:pt x="1411413" y="276698"/>
                </a:lnTo>
                <a:lnTo>
                  <a:pt x="1362789" y="313582"/>
                </a:lnTo>
                <a:lnTo>
                  <a:pt x="1293427" y="346772"/>
                </a:lnTo>
                <a:lnTo>
                  <a:pt x="1251723" y="361757"/>
                </a:lnTo>
                <a:lnTo>
                  <a:pt x="1205741" y="375548"/>
                </a:lnTo>
                <a:lnTo>
                  <a:pt x="1155783" y="388054"/>
                </a:lnTo>
                <a:lnTo>
                  <a:pt x="1102149" y="399186"/>
                </a:lnTo>
                <a:lnTo>
                  <a:pt x="1045143" y="408853"/>
                </a:lnTo>
                <a:lnTo>
                  <a:pt x="985066" y="416964"/>
                </a:lnTo>
                <a:lnTo>
                  <a:pt x="922220" y="423430"/>
                </a:lnTo>
                <a:lnTo>
                  <a:pt x="856908" y="428161"/>
                </a:lnTo>
                <a:lnTo>
                  <a:pt x="789430" y="431065"/>
                </a:lnTo>
                <a:lnTo>
                  <a:pt x="720090" y="432053"/>
                </a:lnTo>
                <a:lnTo>
                  <a:pt x="650729" y="431065"/>
                </a:lnTo>
                <a:lnTo>
                  <a:pt x="583237" y="428161"/>
                </a:lnTo>
                <a:lnTo>
                  <a:pt x="517913" y="423430"/>
                </a:lnTo>
                <a:lnTo>
                  <a:pt x="455061" y="416964"/>
                </a:lnTo>
                <a:lnTo>
                  <a:pt x="394980" y="408853"/>
                </a:lnTo>
                <a:lnTo>
                  <a:pt x="337973" y="399186"/>
                </a:lnTo>
                <a:lnTo>
                  <a:pt x="284342" y="388054"/>
                </a:lnTo>
                <a:lnTo>
                  <a:pt x="234387" y="375548"/>
                </a:lnTo>
                <a:lnTo>
                  <a:pt x="188411" y="361757"/>
                </a:lnTo>
                <a:lnTo>
                  <a:pt x="146714" y="346772"/>
                </a:lnTo>
                <a:lnTo>
                  <a:pt x="109599" y="330684"/>
                </a:lnTo>
                <a:lnTo>
                  <a:pt x="50318" y="295556"/>
                </a:lnTo>
                <a:lnTo>
                  <a:pt x="12981" y="257096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000113" y="1494535"/>
            <a:ext cx="76200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sAddress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308342" y="2039366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53"/>
                </a:lnTo>
                <a:lnTo>
                  <a:pt x="59059" y="114496"/>
                </a:lnTo>
                <a:lnTo>
                  <a:pt x="90311" y="92630"/>
                </a:lnTo>
                <a:lnTo>
                  <a:pt x="127214" y="72577"/>
                </a:lnTo>
                <a:lnTo>
                  <a:pt x="169295" y="54539"/>
                </a:lnTo>
                <a:lnTo>
                  <a:pt x="216081" y="38719"/>
                </a:lnTo>
                <a:lnTo>
                  <a:pt x="267101" y="25321"/>
                </a:lnTo>
                <a:lnTo>
                  <a:pt x="321881" y="14547"/>
                </a:lnTo>
                <a:lnTo>
                  <a:pt x="379950" y="6600"/>
                </a:lnTo>
                <a:lnTo>
                  <a:pt x="440834" y="1684"/>
                </a:lnTo>
                <a:lnTo>
                  <a:pt x="504062" y="0"/>
                </a:lnTo>
                <a:lnTo>
                  <a:pt x="567291" y="1684"/>
                </a:lnTo>
                <a:lnTo>
                  <a:pt x="628175" y="6600"/>
                </a:lnTo>
                <a:lnTo>
                  <a:pt x="686244" y="14547"/>
                </a:lnTo>
                <a:lnTo>
                  <a:pt x="741024" y="25321"/>
                </a:lnTo>
                <a:lnTo>
                  <a:pt x="792044" y="38719"/>
                </a:lnTo>
                <a:lnTo>
                  <a:pt x="838830" y="54539"/>
                </a:lnTo>
                <a:lnTo>
                  <a:pt x="880911" y="72577"/>
                </a:lnTo>
                <a:lnTo>
                  <a:pt x="917814" y="92630"/>
                </a:lnTo>
                <a:lnTo>
                  <a:pt x="949066" y="114496"/>
                </a:lnTo>
                <a:lnTo>
                  <a:pt x="992731" y="162853"/>
                </a:lnTo>
                <a:lnTo>
                  <a:pt x="1008126" y="216026"/>
                </a:lnTo>
                <a:lnTo>
                  <a:pt x="1004198" y="243139"/>
                </a:lnTo>
                <a:lnTo>
                  <a:pt x="974196" y="294134"/>
                </a:lnTo>
                <a:lnTo>
                  <a:pt x="917814" y="339479"/>
                </a:lnTo>
                <a:lnTo>
                  <a:pt x="880911" y="359527"/>
                </a:lnTo>
                <a:lnTo>
                  <a:pt x="838830" y="377558"/>
                </a:lnTo>
                <a:lnTo>
                  <a:pt x="792044" y="393368"/>
                </a:lnTo>
                <a:lnTo>
                  <a:pt x="741024" y="406757"/>
                </a:lnTo>
                <a:lnTo>
                  <a:pt x="686244" y="417521"/>
                </a:lnTo>
                <a:lnTo>
                  <a:pt x="628175" y="425460"/>
                </a:lnTo>
                <a:lnTo>
                  <a:pt x="567291" y="430372"/>
                </a:lnTo>
                <a:lnTo>
                  <a:pt x="504062" y="432054"/>
                </a:lnTo>
                <a:lnTo>
                  <a:pt x="440834" y="430372"/>
                </a:lnTo>
                <a:lnTo>
                  <a:pt x="379950" y="425460"/>
                </a:lnTo>
                <a:lnTo>
                  <a:pt x="321881" y="417521"/>
                </a:lnTo>
                <a:lnTo>
                  <a:pt x="267101" y="406757"/>
                </a:lnTo>
                <a:lnTo>
                  <a:pt x="216081" y="393368"/>
                </a:lnTo>
                <a:lnTo>
                  <a:pt x="169295" y="377558"/>
                </a:lnTo>
                <a:lnTo>
                  <a:pt x="127214" y="359527"/>
                </a:lnTo>
                <a:lnTo>
                  <a:pt x="90311" y="339479"/>
                </a:lnTo>
                <a:lnTo>
                  <a:pt x="59059" y="317614"/>
                </a:lnTo>
                <a:lnTo>
                  <a:pt x="15394" y="269242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585075" y="2121153"/>
            <a:ext cx="45783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</a:t>
            </a:r>
            <a:r>
              <a:rPr sz="1600" spc="-125" dirty="0">
                <a:latin typeface="Calibri"/>
                <a:cs typeface="Calibri"/>
              </a:rPr>
              <a:t>Y</a:t>
            </a:r>
            <a:r>
              <a:rPr sz="1600" spc="-5" dirty="0">
                <a:latin typeface="Calibri"/>
                <a:cs typeface="Calibri"/>
              </a:rPr>
              <a:t>ear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427982" y="5392292"/>
            <a:ext cx="1152525" cy="432434"/>
          </a:xfrm>
          <a:custGeom>
            <a:avLst/>
            <a:gdLst/>
            <a:ahLst/>
            <a:cxnLst/>
            <a:rect l="l" t="t" r="r" b="b"/>
            <a:pathLst>
              <a:path w="1152525" h="432435">
                <a:moveTo>
                  <a:pt x="0" y="215988"/>
                </a:moveTo>
                <a:lnTo>
                  <a:pt x="15215" y="166447"/>
                </a:lnTo>
                <a:lnTo>
                  <a:pt x="58556" y="120978"/>
                </a:lnTo>
                <a:lnTo>
                  <a:pt x="126563" y="80875"/>
                </a:lnTo>
                <a:lnTo>
                  <a:pt x="168735" y="63241"/>
                </a:lnTo>
                <a:lnTo>
                  <a:pt x="215777" y="47433"/>
                </a:lnTo>
                <a:lnTo>
                  <a:pt x="267255" y="33613"/>
                </a:lnTo>
                <a:lnTo>
                  <a:pt x="322739" y="21943"/>
                </a:lnTo>
                <a:lnTo>
                  <a:pt x="381794" y="12585"/>
                </a:lnTo>
                <a:lnTo>
                  <a:pt x="443990" y="5701"/>
                </a:lnTo>
                <a:lnTo>
                  <a:pt x="508893" y="1452"/>
                </a:lnTo>
                <a:lnTo>
                  <a:pt x="576071" y="0"/>
                </a:lnTo>
                <a:lnTo>
                  <a:pt x="643250" y="1452"/>
                </a:lnTo>
                <a:lnTo>
                  <a:pt x="708153" y="5701"/>
                </a:lnTo>
                <a:lnTo>
                  <a:pt x="770349" y="12585"/>
                </a:lnTo>
                <a:lnTo>
                  <a:pt x="829404" y="21943"/>
                </a:lnTo>
                <a:lnTo>
                  <a:pt x="884888" y="33613"/>
                </a:lnTo>
                <a:lnTo>
                  <a:pt x="936366" y="47433"/>
                </a:lnTo>
                <a:lnTo>
                  <a:pt x="983408" y="63241"/>
                </a:lnTo>
                <a:lnTo>
                  <a:pt x="1025580" y="80875"/>
                </a:lnTo>
                <a:lnTo>
                  <a:pt x="1062451" y="100175"/>
                </a:lnTo>
                <a:lnTo>
                  <a:pt x="1118557" y="143123"/>
                </a:lnTo>
                <a:lnTo>
                  <a:pt x="1148268" y="190789"/>
                </a:lnTo>
                <a:lnTo>
                  <a:pt x="1152143" y="215988"/>
                </a:lnTo>
                <a:lnTo>
                  <a:pt x="1148268" y="241183"/>
                </a:lnTo>
                <a:lnTo>
                  <a:pt x="1118557" y="288849"/>
                </a:lnTo>
                <a:lnTo>
                  <a:pt x="1062451" y="331802"/>
                </a:lnTo>
                <a:lnTo>
                  <a:pt x="1025580" y="351106"/>
                </a:lnTo>
                <a:lnTo>
                  <a:pt x="983408" y="368746"/>
                </a:lnTo>
                <a:lnTo>
                  <a:pt x="936366" y="384559"/>
                </a:lnTo>
                <a:lnTo>
                  <a:pt x="884888" y="398385"/>
                </a:lnTo>
                <a:lnTo>
                  <a:pt x="829404" y="410060"/>
                </a:lnTo>
                <a:lnTo>
                  <a:pt x="770349" y="419422"/>
                </a:lnTo>
                <a:lnTo>
                  <a:pt x="708153" y="426310"/>
                </a:lnTo>
                <a:lnTo>
                  <a:pt x="643250" y="430562"/>
                </a:lnTo>
                <a:lnTo>
                  <a:pt x="576071" y="432015"/>
                </a:lnTo>
                <a:lnTo>
                  <a:pt x="508893" y="430562"/>
                </a:lnTo>
                <a:lnTo>
                  <a:pt x="443990" y="426310"/>
                </a:lnTo>
                <a:lnTo>
                  <a:pt x="381794" y="419422"/>
                </a:lnTo>
                <a:lnTo>
                  <a:pt x="322739" y="410060"/>
                </a:lnTo>
                <a:lnTo>
                  <a:pt x="267255" y="398385"/>
                </a:lnTo>
                <a:lnTo>
                  <a:pt x="215777" y="384559"/>
                </a:lnTo>
                <a:lnTo>
                  <a:pt x="168735" y="368746"/>
                </a:lnTo>
                <a:lnTo>
                  <a:pt x="126563" y="351106"/>
                </a:lnTo>
                <a:lnTo>
                  <a:pt x="89692" y="331802"/>
                </a:lnTo>
                <a:lnTo>
                  <a:pt x="33586" y="288849"/>
                </a:lnTo>
                <a:lnTo>
                  <a:pt x="3875" y="241183"/>
                </a:lnTo>
                <a:lnTo>
                  <a:pt x="0" y="215988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699761" y="5474919"/>
            <a:ext cx="6102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0" dirty="0">
                <a:latin typeface="Calibri"/>
                <a:cs typeface="Calibri"/>
              </a:rPr>
              <a:t>mCode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940171" y="6165303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4">
                <a:moveTo>
                  <a:pt x="0" y="216027"/>
                </a:moveTo>
                <a:lnTo>
                  <a:pt x="15394" y="162837"/>
                </a:lnTo>
                <a:lnTo>
                  <a:pt x="59059" y="114473"/>
                </a:lnTo>
                <a:lnTo>
                  <a:pt x="90311" y="92608"/>
                </a:lnTo>
                <a:lnTo>
                  <a:pt x="127214" y="72556"/>
                </a:lnTo>
                <a:lnTo>
                  <a:pt x="169295" y="54521"/>
                </a:lnTo>
                <a:lnTo>
                  <a:pt x="216081" y="38706"/>
                </a:lnTo>
                <a:lnTo>
                  <a:pt x="267101" y="25311"/>
                </a:lnTo>
                <a:lnTo>
                  <a:pt x="321881" y="14541"/>
                </a:lnTo>
                <a:lnTo>
                  <a:pt x="379950" y="6597"/>
                </a:lnTo>
                <a:lnTo>
                  <a:pt x="440834" y="1683"/>
                </a:lnTo>
                <a:lnTo>
                  <a:pt x="504063" y="0"/>
                </a:lnTo>
                <a:lnTo>
                  <a:pt x="567291" y="1683"/>
                </a:lnTo>
                <a:lnTo>
                  <a:pt x="628175" y="6597"/>
                </a:lnTo>
                <a:lnTo>
                  <a:pt x="686244" y="14541"/>
                </a:lnTo>
                <a:lnTo>
                  <a:pt x="741024" y="25311"/>
                </a:lnTo>
                <a:lnTo>
                  <a:pt x="792044" y="38706"/>
                </a:lnTo>
                <a:lnTo>
                  <a:pt x="838830" y="54521"/>
                </a:lnTo>
                <a:lnTo>
                  <a:pt x="880911" y="72556"/>
                </a:lnTo>
                <a:lnTo>
                  <a:pt x="917814" y="92608"/>
                </a:lnTo>
                <a:lnTo>
                  <a:pt x="949066" y="114473"/>
                </a:lnTo>
                <a:lnTo>
                  <a:pt x="992731" y="162837"/>
                </a:lnTo>
                <a:lnTo>
                  <a:pt x="1008126" y="216027"/>
                </a:lnTo>
                <a:lnTo>
                  <a:pt x="1004198" y="243124"/>
                </a:lnTo>
                <a:lnTo>
                  <a:pt x="974196" y="294103"/>
                </a:lnTo>
                <a:lnTo>
                  <a:pt x="917814" y="339445"/>
                </a:lnTo>
                <a:lnTo>
                  <a:pt x="880911" y="359497"/>
                </a:lnTo>
                <a:lnTo>
                  <a:pt x="838830" y="377532"/>
                </a:lnTo>
                <a:lnTo>
                  <a:pt x="792044" y="393347"/>
                </a:lnTo>
                <a:lnTo>
                  <a:pt x="741024" y="406742"/>
                </a:lnTo>
                <a:lnTo>
                  <a:pt x="686244" y="417512"/>
                </a:lnTo>
                <a:lnTo>
                  <a:pt x="628175" y="425456"/>
                </a:lnTo>
                <a:lnTo>
                  <a:pt x="567291" y="430370"/>
                </a:lnTo>
                <a:lnTo>
                  <a:pt x="504063" y="432054"/>
                </a:lnTo>
                <a:lnTo>
                  <a:pt x="440834" y="430370"/>
                </a:lnTo>
                <a:lnTo>
                  <a:pt x="379950" y="425456"/>
                </a:lnTo>
                <a:lnTo>
                  <a:pt x="321881" y="417512"/>
                </a:lnTo>
                <a:lnTo>
                  <a:pt x="267101" y="406742"/>
                </a:lnTo>
                <a:lnTo>
                  <a:pt x="216081" y="393347"/>
                </a:lnTo>
                <a:lnTo>
                  <a:pt x="169295" y="377532"/>
                </a:lnTo>
                <a:lnTo>
                  <a:pt x="127214" y="359497"/>
                </a:lnTo>
                <a:lnTo>
                  <a:pt x="90311" y="339445"/>
                </a:lnTo>
                <a:lnTo>
                  <a:pt x="59059" y="317580"/>
                </a:lnTo>
                <a:lnTo>
                  <a:pt x="15394" y="269216"/>
                </a:lnTo>
                <a:lnTo>
                  <a:pt x="0" y="21602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308342" y="5392292"/>
            <a:ext cx="1368425" cy="432434"/>
          </a:xfrm>
          <a:custGeom>
            <a:avLst/>
            <a:gdLst/>
            <a:ahLst/>
            <a:cxnLst/>
            <a:rect l="l" t="t" r="r" b="b"/>
            <a:pathLst>
              <a:path w="1368425" h="432435">
                <a:moveTo>
                  <a:pt x="0" y="215988"/>
                </a:moveTo>
                <a:lnTo>
                  <a:pt x="13894" y="172443"/>
                </a:lnTo>
                <a:lnTo>
                  <a:pt x="53746" y="131893"/>
                </a:lnTo>
                <a:lnTo>
                  <a:pt x="116807" y="95203"/>
                </a:lnTo>
                <a:lnTo>
                  <a:pt x="156181" y="78577"/>
                </a:lnTo>
                <a:lnTo>
                  <a:pt x="200326" y="63241"/>
                </a:lnTo>
                <a:lnTo>
                  <a:pt x="248899" y="49303"/>
                </a:lnTo>
                <a:lnTo>
                  <a:pt x="301556" y="36873"/>
                </a:lnTo>
                <a:lnTo>
                  <a:pt x="357954" y="26057"/>
                </a:lnTo>
                <a:lnTo>
                  <a:pt x="417748" y="16965"/>
                </a:lnTo>
                <a:lnTo>
                  <a:pt x="480596" y="9705"/>
                </a:lnTo>
                <a:lnTo>
                  <a:pt x="546153" y="4385"/>
                </a:lnTo>
                <a:lnTo>
                  <a:pt x="614076" y="1114"/>
                </a:lnTo>
                <a:lnTo>
                  <a:pt x="684022" y="0"/>
                </a:lnTo>
                <a:lnTo>
                  <a:pt x="753968" y="1114"/>
                </a:lnTo>
                <a:lnTo>
                  <a:pt x="821896" y="4385"/>
                </a:lnTo>
                <a:lnTo>
                  <a:pt x="887459" y="9705"/>
                </a:lnTo>
                <a:lnTo>
                  <a:pt x="950315" y="16965"/>
                </a:lnTo>
                <a:lnTo>
                  <a:pt x="1010119" y="26057"/>
                </a:lnTo>
                <a:lnTo>
                  <a:pt x="1066527" y="36873"/>
                </a:lnTo>
                <a:lnTo>
                  <a:pt x="1119195" y="49303"/>
                </a:lnTo>
                <a:lnTo>
                  <a:pt x="1167780" y="63241"/>
                </a:lnTo>
                <a:lnTo>
                  <a:pt x="1211938" y="78577"/>
                </a:lnTo>
                <a:lnTo>
                  <a:pt x="1251323" y="95203"/>
                </a:lnTo>
                <a:lnTo>
                  <a:pt x="1285593" y="113011"/>
                </a:lnTo>
                <a:lnTo>
                  <a:pt x="1337411" y="151740"/>
                </a:lnTo>
                <a:lnTo>
                  <a:pt x="1364638" y="193896"/>
                </a:lnTo>
                <a:lnTo>
                  <a:pt x="1368171" y="215988"/>
                </a:lnTo>
                <a:lnTo>
                  <a:pt x="1364638" y="238077"/>
                </a:lnTo>
                <a:lnTo>
                  <a:pt x="1337411" y="280231"/>
                </a:lnTo>
                <a:lnTo>
                  <a:pt x="1285593" y="318963"/>
                </a:lnTo>
                <a:lnTo>
                  <a:pt x="1251323" y="336775"/>
                </a:lnTo>
                <a:lnTo>
                  <a:pt x="1211938" y="353405"/>
                </a:lnTo>
                <a:lnTo>
                  <a:pt x="1167780" y="368746"/>
                </a:lnTo>
                <a:lnTo>
                  <a:pt x="1119195" y="382688"/>
                </a:lnTo>
                <a:lnTo>
                  <a:pt x="1066527" y="395124"/>
                </a:lnTo>
                <a:lnTo>
                  <a:pt x="1010119" y="405944"/>
                </a:lnTo>
                <a:lnTo>
                  <a:pt x="950315" y="415040"/>
                </a:lnTo>
                <a:lnTo>
                  <a:pt x="887459" y="422304"/>
                </a:lnTo>
                <a:lnTo>
                  <a:pt x="821896" y="427627"/>
                </a:lnTo>
                <a:lnTo>
                  <a:pt x="753968" y="430900"/>
                </a:lnTo>
                <a:lnTo>
                  <a:pt x="684022" y="432015"/>
                </a:lnTo>
                <a:lnTo>
                  <a:pt x="614076" y="430900"/>
                </a:lnTo>
                <a:lnTo>
                  <a:pt x="546153" y="427627"/>
                </a:lnTo>
                <a:lnTo>
                  <a:pt x="480596" y="422304"/>
                </a:lnTo>
                <a:lnTo>
                  <a:pt x="417748" y="415040"/>
                </a:lnTo>
                <a:lnTo>
                  <a:pt x="357954" y="405944"/>
                </a:lnTo>
                <a:lnTo>
                  <a:pt x="301556" y="395124"/>
                </a:lnTo>
                <a:lnTo>
                  <a:pt x="248899" y="382688"/>
                </a:lnTo>
                <a:lnTo>
                  <a:pt x="200326" y="368746"/>
                </a:lnTo>
                <a:lnTo>
                  <a:pt x="156181" y="353405"/>
                </a:lnTo>
                <a:lnTo>
                  <a:pt x="116807" y="336775"/>
                </a:lnTo>
                <a:lnTo>
                  <a:pt x="82547" y="318963"/>
                </a:lnTo>
                <a:lnTo>
                  <a:pt x="30747" y="280231"/>
                </a:lnTo>
                <a:lnTo>
                  <a:pt x="3530" y="238077"/>
                </a:lnTo>
                <a:lnTo>
                  <a:pt x="0" y="215988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611618" y="5474919"/>
            <a:ext cx="76454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mCredits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499990" y="3714622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53"/>
                </a:lnTo>
                <a:lnTo>
                  <a:pt x="59059" y="114496"/>
                </a:lnTo>
                <a:lnTo>
                  <a:pt x="90311" y="92630"/>
                </a:lnTo>
                <a:lnTo>
                  <a:pt x="127214" y="72577"/>
                </a:lnTo>
                <a:lnTo>
                  <a:pt x="169295" y="54539"/>
                </a:lnTo>
                <a:lnTo>
                  <a:pt x="216081" y="38719"/>
                </a:lnTo>
                <a:lnTo>
                  <a:pt x="267101" y="25321"/>
                </a:lnTo>
                <a:lnTo>
                  <a:pt x="321881" y="14547"/>
                </a:lnTo>
                <a:lnTo>
                  <a:pt x="379950" y="6600"/>
                </a:lnTo>
                <a:lnTo>
                  <a:pt x="440834" y="1684"/>
                </a:lnTo>
                <a:lnTo>
                  <a:pt x="504063" y="0"/>
                </a:lnTo>
                <a:lnTo>
                  <a:pt x="567291" y="1684"/>
                </a:lnTo>
                <a:lnTo>
                  <a:pt x="628175" y="6600"/>
                </a:lnTo>
                <a:lnTo>
                  <a:pt x="686244" y="14547"/>
                </a:lnTo>
                <a:lnTo>
                  <a:pt x="741024" y="25321"/>
                </a:lnTo>
                <a:lnTo>
                  <a:pt x="792044" y="38719"/>
                </a:lnTo>
                <a:lnTo>
                  <a:pt x="838830" y="54539"/>
                </a:lnTo>
                <a:lnTo>
                  <a:pt x="880911" y="72577"/>
                </a:lnTo>
                <a:lnTo>
                  <a:pt x="917814" y="92630"/>
                </a:lnTo>
                <a:lnTo>
                  <a:pt x="949066" y="114496"/>
                </a:lnTo>
                <a:lnTo>
                  <a:pt x="992731" y="162853"/>
                </a:lnTo>
                <a:lnTo>
                  <a:pt x="1008126" y="216026"/>
                </a:lnTo>
                <a:lnTo>
                  <a:pt x="1004198" y="243139"/>
                </a:lnTo>
                <a:lnTo>
                  <a:pt x="974196" y="294134"/>
                </a:lnTo>
                <a:lnTo>
                  <a:pt x="917814" y="339479"/>
                </a:lnTo>
                <a:lnTo>
                  <a:pt x="880911" y="359527"/>
                </a:lnTo>
                <a:lnTo>
                  <a:pt x="838830" y="377558"/>
                </a:lnTo>
                <a:lnTo>
                  <a:pt x="792044" y="393368"/>
                </a:lnTo>
                <a:lnTo>
                  <a:pt x="741024" y="406757"/>
                </a:lnTo>
                <a:lnTo>
                  <a:pt x="686244" y="417521"/>
                </a:lnTo>
                <a:lnTo>
                  <a:pt x="628175" y="425460"/>
                </a:lnTo>
                <a:lnTo>
                  <a:pt x="567291" y="430372"/>
                </a:lnTo>
                <a:lnTo>
                  <a:pt x="504063" y="432053"/>
                </a:lnTo>
                <a:lnTo>
                  <a:pt x="440834" y="430372"/>
                </a:lnTo>
                <a:lnTo>
                  <a:pt x="379950" y="425460"/>
                </a:lnTo>
                <a:lnTo>
                  <a:pt x="321881" y="417521"/>
                </a:lnTo>
                <a:lnTo>
                  <a:pt x="267101" y="406757"/>
                </a:lnTo>
                <a:lnTo>
                  <a:pt x="216081" y="393368"/>
                </a:lnTo>
                <a:lnTo>
                  <a:pt x="169295" y="377558"/>
                </a:lnTo>
                <a:lnTo>
                  <a:pt x="127214" y="359527"/>
                </a:lnTo>
                <a:lnTo>
                  <a:pt x="90311" y="339479"/>
                </a:lnTo>
                <a:lnTo>
                  <a:pt x="59059" y="317614"/>
                </a:lnTo>
                <a:lnTo>
                  <a:pt x="15394" y="269242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863210" y="3796665"/>
            <a:ext cx="28130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0" dirty="0">
                <a:latin typeface="Calibri"/>
                <a:cs typeface="Calibri"/>
              </a:rPr>
              <a:t>sID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380351" y="3714622"/>
            <a:ext cx="1152525" cy="432434"/>
          </a:xfrm>
          <a:custGeom>
            <a:avLst/>
            <a:gdLst/>
            <a:ahLst/>
            <a:cxnLst/>
            <a:rect l="l" t="t" r="r" b="b"/>
            <a:pathLst>
              <a:path w="1152525" h="432435">
                <a:moveTo>
                  <a:pt x="0" y="216026"/>
                </a:moveTo>
                <a:lnTo>
                  <a:pt x="15215" y="166511"/>
                </a:lnTo>
                <a:lnTo>
                  <a:pt x="58556" y="121048"/>
                </a:lnTo>
                <a:lnTo>
                  <a:pt x="126563" y="80936"/>
                </a:lnTo>
                <a:lnTo>
                  <a:pt x="168735" y="63293"/>
                </a:lnTo>
                <a:lnTo>
                  <a:pt x="215777" y="47476"/>
                </a:lnTo>
                <a:lnTo>
                  <a:pt x="267255" y="33646"/>
                </a:lnTo>
                <a:lnTo>
                  <a:pt x="322739" y="21966"/>
                </a:lnTo>
                <a:lnTo>
                  <a:pt x="381794" y="12600"/>
                </a:lnTo>
                <a:lnTo>
                  <a:pt x="443990" y="5708"/>
                </a:lnTo>
                <a:lnTo>
                  <a:pt x="508893" y="1454"/>
                </a:lnTo>
                <a:lnTo>
                  <a:pt x="576072" y="0"/>
                </a:lnTo>
                <a:lnTo>
                  <a:pt x="643250" y="1454"/>
                </a:lnTo>
                <a:lnTo>
                  <a:pt x="708153" y="5708"/>
                </a:lnTo>
                <a:lnTo>
                  <a:pt x="770349" y="12600"/>
                </a:lnTo>
                <a:lnTo>
                  <a:pt x="829404" y="21966"/>
                </a:lnTo>
                <a:lnTo>
                  <a:pt x="884888" y="33646"/>
                </a:lnTo>
                <a:lnTo>
                  <a:pt x="936366" y="47476"/>
                </a:lnTo>
                <a:lnTo>
                  <a:pt x="983408" y="63293"/>
                </a:lnTo>
                <a:lnTo>
                  <a:pt x="1025580" y="80936"/>
                </a:lnTo>
                <a:lnTo>
                  <a:pt x="1062451" y="100242"/>
                </a:lnTo>
                <a:lnTo>
                  <a:pt x="1118557" y="143191"/>
                </a:lnTo>
                <a:lnTo>
                  <a:pt x="1148268" y="190843"/>
                </a:lnTo>
                <a:lnTo>
                  <a:pt x="1152144" y="216026"/>
                </a:lnTo>
                <a:lnTo>
                  <a:pt x="1148268" y="241233"/>
                </a:lnTo>
                <a:lnTo>
                  <a:pt x="1118557" y="288912"/>
                </a:lnTo>
                <a:lnTo>
                  <a:pt x="1062451" y="331868"/>
                </a:lnTo>
                <a:lnTo>
                  <a:pt x="1025580" y="351170"/>
                </a:lnTo>
                <a:lnTo>
                  <a:pt x="983408" y="368807"/>
                </a:lnTo>
                <a:lnTo>
                  <a:pt x="936366" y="384617"/>
                </a:lnTo>
                <a:lnTo>
                  <a:pt x="884888" y="398438"/>
                </a:lnTo>
                <a:lnTo>
                  <a:pt x="829404" y="410109"/>
                </a:lnTo>
                <a:lnTo>
                  <a:pt x="770349" y="419467"/>
                </a:lnTo>
                <a:lnTo>
                  <a:pt x="708153" y="426352"/>
                </a:lnTo>
                <a:lnTo>
                  <a:pt x="643250" y="430601"/>
                </a:lnTo>
                <a:lnTo>
                  <a:pt x="576072" y="432053"/>
                </a:lnTo>
                <a:lnTo>
                  <a:pt x="508893" y="430601"/>
                </a:lnTo>
                <a:lnTo>
                  <a:pt x="443990" y="426352"/>
                </a:lnTo>
                <a:lnTo>
                  <a:pt x="381794" y="419467"/>
                </a:lnTo>
                <a:lnTo>
                  <a:pt x="322739" y="410109"/>
                </a:lnTo>
                <a:lnTo>
                  <a:pt x="267255" y="398438"/>
                </a:lnTo>
                <a:lnTo>
                  <a:pt x="215777" y="384617"/>
                </a:lnTo>
                <a:lnTo>
                  <a:pt x="168735" y="368807"/>
                </a:lnTo>
                <a:lnTo>
                  <a:pt x="126563" y="351170"/>
                </a:lnTo>
                <a:lnTo>
                  <a:pt x="89692" y="331868"/>
                </a:lnTo>
                <a:lnTo>
                  <a:pt x="33586" y="288912"/>
                </a:lnTo>
                <a:lnTo>
                  <a:pt x="3875" y="241233"/>
                </a:lnTo>
                <a:lnTo>
                  <a:pt x="0" y="216026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652384" y="3796665"/>
            <a:ext cx="6102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0" dirty="0">
                <a:latin typeface="Calibri"/>
                <a:cs typeface="Calibri"/>
              </a:rPr>
              <a:t>mCode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580126" y="2254885"/>
            <a:ext cx="292735" cy="635"/>
          </a:xfrm>
          <a:custGeom>
            <a:avLst/>
            <a:gdLst/>
            <a:ahLst/>
            <a:cxnLst/>
            <a:rect l="l" t="t" r="r" b="b"/>
            <a:pathLst>
              <a:path w="292735" h="635">
                <a:moveTo>
                  <a:pt x="292226" y="635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059423" y="1781555"/>
            <a:ext cx="168910" cy="207645"/>
          </a:xfrm>
          <a:custGeom>
            <a:avLst/>
            <a:gdLst/>
            <a:ahLst/>
            <a:cxnLst/>
            <a:rect l="l" t="t" r="r" b="b"/>
            <a:pathLst>
              <a:path w="168910" h="207644">
                <a:moveTo>
                  <a:pt x="0" y="0"/>
                </a:moveTo>
                <a:lnTo>
                  <a:pt x="168783" y="20726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732269" y="1781555"/>
            <a:ext cx="139065" cy="207645"/>
          </a:xfrm>
          <a:custGeom>
            <a:avLst/>
            <a:gdLst/>
            <a:ahLst/>
            <a:cxnLst/>
            <a:rect l="l" t="t" r="r" b="b"/>
            <a:pathLst>
              <a:path w="139065" h="207644">
                <a:moveTo>
                  <a:pt x="138810" y="0"/>
                </a:moveTo>
                <a:lnTo>
                  <a:pt x="0" y="20726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015353" y="2255392"/>
            <a:ext cx="293370" cy="635"/>
          </a:xfrm>
          <a:custGeom>
            <a:avLst/>
            <a:gdLst/>
            <a:ahLst/>
            <a:cxnLst/>
            <a:rect l="l" t="t" r="r" b="b"/>
            <a:pathLst>
              <a:path w="293370" h="635">
                <a:moveTo>
                  <a:pt x="0" y="127"/>
                </a:moveTo>
                <a:lnTo>
                  <a:pt x="29298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508116" y="3930650"/>
            <a:ext cx="288290" cy="1270"/>
          </a:xfrm>
          <a:custGeom>
            <a:avLst/>
            <a:gdLst/>
            <a:ahLst/>
            <a:cxnLst/>
            <a:rect l="l" t="t" r="r" b="b"/>
            <a:pathLst>
              <a:path w="288289" h="1270">
                <a:moveTo>
                  <a:pt x="0" y="0"/>
                </a:moveTo>
                <a:lnTo>
                  <a:pt x="288036" y="126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091553" y="3930650"/>
            <a:ext cx="288925" cy="1270"/>
          </a:xfrm>
          <a:custGeom>
            <a:avLst/>
            <a:gdLst/>
            <a:ahLst/>
            <a:cxnLst/>
            <a:rect l="l" t="t" r="r" b="b"/>
            <a:pathLst>
              <a:path w="288925" h="1270">
                <a:moveTo>
                  <a:pt x="0" y="1269"/>
                </a:moveTo>
                <a:lnTo>
                  <a:pt x="288798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580126" y="5608281"/>
            <a:ext cx="292735" cy="635"/>
          </a:xfrm>
          <a:custGeom>
            <a:avLst/>
            <a:gdLst/>
            <a:ahLst/>
            <a:cxnLst/>
            <a:rect l="l" t="t" r="r" b="b"/>
            <a:pathLst>
              <a:path w="292735" h="635">
                <a:moveTo>
                  <a:pt x="0" y="0"/>
                </a:moveTo>
                <a:lnTo>
                  <a:pt x="292226" y="6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015353" y="5608281"/>
            <a:ext cx="293370" cy="635"/>
          </a:xfrm>
          <a:custGeom>
            <a:avLst/>
            <a:gdLst/>
            <a:ahLst/>
            <a:cxnLst/>
            <a:rect l="l" t="t" r="r" b="b"/>
            <a:pathLst>
              <a:path w="293370" h="635">
                <a:moveTo>
                  <a:pt x="0" y="63"/>
                </a:moveTo>
                <a:lnTo>
                  <a:pt x="29298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443853" y="5875045"/>
            <a:ext cx="635" cy="290830"/>
          </a:xfrm>
          <a:custGeom>
            <a:avLst/>
            <a:gdLst/>
            <a:ahLst/>
            <a:cxnLst/>
            <a:rect l="l" t="t" r="r" b="b"/>
            <a:pathLst>
              <a:path w="635" h="290829">
                <a:moveTo>
                  <a:pt x="0" y="0"/>
                </a:moveTo>
                <a:lnTo>
                  <a:pt x="381" y="290258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169533" y="6286372"/>
            <a:ext cx="54991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r>
              <a:rPr sz="1600" spc="-5" dirty="0">
                <a:latin typeface="Calibri"/>
                <a:cs typeface="Calibri"/>
              </a:rPr>
              <a:t>mTi</a:t>
            </a:r>
            <a:r>
              <a:rPr sz="1600" dirty="0">
                <a:latin typeface="Calibri"/>
                <a:cs typeface="Calibri"/>
              </a:rPr>
              <a:t>t</a:t>
            </a:r>
            <a:r>
              <a:rPr sz="1600" spc="-5" dirty="0">
                <a:latin typeface="Calibri"/>
                <a:cs typeface="Calibri"/>
              </a:rPr>
              <a:t>le</a:t>
            </a:r>
            <a:endParaRPr sz="16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50048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32965">
              <a:lnSpc>
                <a:spcPct val="100000"/>
              </a:lnSpc>
            </a:pPr>
            <a:r>
              <a:rPr spc="-75" dirty="0"/>
              <a:t>R</a:t>
            </a:r>
            <a:r>
              <a:rPr dirty="0"/>
              <a:t>el</a:t>
            </a:r>
            <a:r>
              <a:rPr spc="-40" dirty="0"/>
              <a:t>a</a:t>
            </a:r>
            <a:r>
              <a:rPr dirty="0"/>
              <a:t>ti</a:t>
            </a:r>
            <a:r>
              <a:rPr spc="-5" dirty="0"/>
              <a:t>onsh</a:t>
            </a:r>
            <a:r>
              <a:rPr dirty="0"/>
              <a:t>i</a:t>
            </a:r>
            <a:r>
              <a:rPr spc="-20" dirty="0"/>
              <a:t>p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805"/>
            <a:ext cx="3879215" cy="39706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Enrolment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</a:t>
            </a:r>
            <a:endParaRPr sz="2800">
              <a:latin typeface="Calibri"/>
              <a:cs typeface="Calibri"/>
            </a:endParaRPr>
          </a:p>
          <a:p>
            <a:pPr marL="756285" marR="221615" lvl="1" indent="-286385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Will </a:t>
            </a:r>
            <a:r>
              <a:rPr sz="2400" spc="-20" dirty="0">
                <a:latin typeface="Calibri"/>
                <a:cs typeface="Calibri"/>
              </a:rPr>
              <a:t>have </a:t>
            </a:r>
            <a:r>
              <a:rPr sz="2400" spc="-5" dirty="0">
                <a:latin typeface="Calibri"/>
                <a:cs typeface="Calibri"/>
              </a:rPr>
              <a:t>columns </a:t>
            </a:r>
            <a:r>
              <a:rPr sz="2400" spc="-20" dirty="0">
                <a:latin typeface="Calibri"/>
                <a:cs typeface="Calibri"/>
              </a:rPr>
              <a:t>for 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student </a:t>
            </a:r>
            <a:r>
              <a:rPr sz="2400" dirty="0">
                <a:latin typeface="Calibri"/>
                <a:cs typeface="Calibri"/>
              </a:rPr>
              <a:t>ID and  </a:t>
            </a:r>
            <a:r>
              <a:rPr sz="2400" spc="-5" dirty="0">
                <a:latin typeface="Calibri"/>
                <a:cs typeface="Calibri"/>
              </a:rPr>
              <a:t>module </a:t>
            </a:r>
            <a:r>
              <a:rPr sz="2400" spc="-10" dirty="0">
                <a:latin typeface="Calibri"/>
                <a:cs typeface="Calibri"/>
              </a:rPr>
              <a:t>code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endParaRPr sz="2400">
              <a:latin typeface="Calibri"/>
              <a:cs typeface="Calibri"/>
            </a:endParaRPr>
          </a:p>
          <a:p>
            <a:pPr marL="756285" marR="5080" lvl="1" indent="-28638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Will </a:t>
            </a:r>
            <a:r>
              <a:rPr sz="2400" spc="-20" dirty="0">
                <a:latin typeface="Calibri"/>
                <a:cs typeface="Calibri"/>
              </a:rPr>
              <a:t>have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5" dirty="0">
                <a:latin typeface="Calibri"/>
                <a:cs typeface="Calibri"/>
              </a:rPr>
              <a:t>foreign </a:t>
            </a:r>
            <a:r>
              <a:rPr sz="2400" spc="-25" dirty="0">
                <a:latin typeface="Calibri"/>
                <a:cs typeface="Calibri"/>
              </a:rPr>
              <a:t>key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 </a:t>
            </a:r>
            <a:r>
              <a:rPr sz="2400" spc="-5" dirty="0">
                <a:latin typeface="Calibri"/>
                <a:cs typeface="Calibri"/>
              </a:rPr>
              <a:t>Student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the ‘has’ 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endParaRPr sz="2400">
              <a:latin typeface="Calibri"/>
              <a:cs typeface="Calibri"/>
            </a:endParaRPr>
          </a:p>
          <a:p>
            <a:pPr marL="756285" marR="5080" lvl="1" indent="-28638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Will </a:t>
            </a:r>
            <a:r>
              <a:rPr sz="2400" spc="-20" dirty="0">
                <a:latin typeface="Calibri"/>
                <a:cs typeface="Calibri"/>
              </a:rPr>
              <a:t>have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5" dirty="0">
                <a:latin typeface="Calibri"/>
                <a:cs typeface="Calibri"/>
              </a:rPr>
              <a:t>foreign </a:t>
            </a:r>
            <a:r>
              <a:rPr sz="2400" spc="-25" dirty="0">
                <a:latin typeface="Calibri"/>
                <a:cs typeface="Calibri"/>
              </a:rPr>
              <a:t>key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  </a:t>
            </a:r>
            <a:r>
              <a:rPr sz="2400" spc="-5" dirty="0">
                <a:latin typeface="Calibri"/>
                <a:cs typeface="Calibri"/>
              </a:rPr>
              <a:t>Module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the ‘in’ 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67426" y="5199633"/>
            <a:ext cx="318135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4800" algn="l"/>
              </a:tabLst>
            </a:pPr>
            <a:r>
              <a:rPr sz="2400" u="heavy" dirty="0">
                <a:latin typeface="Times New Roman"/>
                <a:cs typeface="Times New Roman"/>
              </a:rPr>
              <a:t> 	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02653" y="5199633"/>
            <a:ext cx="31877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05435" algn="l"/>
              </a:tabLst>
            </a:pPr>
            <a:r>
              <a:rPr sz="2400" u="heavy" dirty="0">
                <a:latin typeface="Times New Roman"/>
                <a:cs typeface="Times New Roman"/>
              </a:rPr>
              <a:t> 	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96153" y="3665220"/>
            <a:ext cx="1295400" cy="533400"/>
          </a:xfrm>
          <a:custGeom>
            <a:avLst/>
            <a:gdLst/>
            <a:ahLst/>
            <a:cxnLst/>
            <a:rect l="l" t="t" r="r" b="b"/>
            <a:pathLst>
              <a:path w="1295400" h="533400">
                <a:moveTo>
                  <a:pt x="0" y="88899"/>
                </a:moveTo>
                <a:lnTo>
                  <a:pt x="6979" y="54328"/>
                </a:lnTo>
                <a:lnTo>
                  <a:pt x="26019" y="26066"/>
                </a:lnTo>
                <a:lnTo>
                  <a:pt x="54274" y="6996"/>
                </a:lnTo>
                <a:lnTo>
                  <a:pt x="88900" y="0"/>
                </a:lnTo>
                <a:lnTo>
                  <a:pt x="1206500" y="0"/>
                </a:lnTo>
                <a:lnTo>
                  <a:pt x="1241071" y="6996"/>
                </a:lnTo>
                <a:lnTo>
                  <a:pt x="1269333" y="26066"/>
                </a:lnTo>
                <a:lnTo>
                  <a:pt x="1288403" y="54328"/>
                </a:lnTo>
                <a:lnTo>
                  <a:pt x="1295400" y="88899"/>
                </a:lnTo>
                <a:lnTo>
                  <a:pt x="1295400" y="444499"/>
                </a:lnTo>
                <a:lnTo>
                  <a:pt x="1288403" y="479125"/>
                </a:lnTo>
                <a:lnTo>
                  <a:pt x="1269333" y="507380"/>
                </a:lnTo>
                <a:lnTo>
                  <a:pt x="1241071" y="526420"/>
                </a:lnTo>
                <a:lnTo>
                  <a:pt x="1206500" y="533399"/>
                </a:lnTo>
                <a:lnTo>
                  <a:pt x="88900" y="533399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499"/>
                </a:lnTo>
                <a:lnTo>
                  <a:pt x="0" y="8889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891910" y="3764153"/>
            <a:ext cx="110553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Enrolment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72353" y="1988820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88900"/>
                </a:moveTo>
                <a:lnTo>
                  <a:pt x="6979" y="54328"/>
                </a:lnTo>
                <a:lnTo>
                  <a:pt x="26019" y="26066"/>
                </a:lnTo>
                <a:lnTo>
                  <a:pt x="54274" y="6996"/>
                </a:lnTo>
                <a:lnTo>
                  <a:pt x="88900" y="0"/>
                </a:lnTo>
                <a:lnTo>
                  <a:pt x="1054100" y="0"/>
                </a:lnTo>
                <a:lnTo>
                  <a:pt x="1088671" y="6996"/>
                </a:lnTo>
                <a:lnTo>
                  <a:pt x="1116933" y="26066"/>
                </a:lnTo>
                <a:lnTo>
                  <a:pt x="1136003" y="54328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03" y="479125"/>
                </a:lnTo>
                <a:lnTo>
                  <a:pt x="1116933" y="507380"/>
                </a:lnTo>
                <a:lnTo>
                  <a:pt x="1088671" y="526420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024498" y="2087498"/>
            <a:ext cx="83946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Stu</a:t>
            </a:r>
            <a:r>
              <a:rPr sz="2000" spc="5" dirty="0">
                <a:latin typeface="Calibri"/>
                <a:cs typeface="Calibri"/>
              </a:rPr>
              <a:t>d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2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72353" y="5341620"/>
            <a:ext cx="1143000" cy="534035"/>
          </a:xfrm>
          <a:custGeom>
            <a:avLst/>
            <a:gdLst/>
            <a:ahLst/>
            <a:cxnLst/>
            <a:rect l="l" t="t" r="r" b="b"/>
            <a:pathLst>
              <a:path w="1143000" h="534035">
                <a:moveTo>
                  <a:pt x="0" y="88899"/>
                </a:moveTo>
                <a:lnTo>
                  <a:pt x="6979" y="54328"/>
                </a:lnTo>
                <a:lnTo>
                  <a:pt x="26019" y="26066"/>
                </a:lnTo>
                <a:lnTo>
                  <a:pt x="54274" y="6996"/>
                </a:lnTo>
                <a:lnTo>
                  <a:pt x="88900" y="0"/>
                </a:lnTo>
                <a:lnTo>
                  <a:pt x="1054100" y="0"/>
                </a:lnTo>
                <a:lnTo>
                  <a:pt x="1088671" y="6996"/>
                </a:lnTo>
                <a:lnTo>
                  <a:pt x="1116933" y="26066"/>
                </a:lnTo>
                <a:lnTo>
                  <a:pt x="1136003" y="54328"/>
                </a:lnTo>
                <a:lnTo>
                  <a:pt x="1143000" y="88899"/>
                </a:lnTo>
                <a:lnTo>
                  <a:pt x="1143000" y="444512"/>
                </a:lnTo>
                <a:lnTo>
                  <a:pt x="1136003" y="479118"/>
                </a:lnTo>
                <a:lnTo>
                  <a:pt x="1116933" y="507380"/>
                </a:lnTo>
                <a:lnTo>
                  <a:pt x="1088671" y="526437"/>
                </a:lnTo>
                <a:lnTo>
                  <a:pt x="1054100" y="533425"/>
                </a:lnTo>
                <a:lnTo>
                  <a:pt x="88900" y="533425"/>
                </a:lnTo>
                <a:lnTo>
                  <a:pt x="54274" y="526437"/>
                </a:lnTo>
                <a:lnTo>
                  <a:pt x="26019" y="507380"/>
                </a:lnTo>
                <a:lnTo>
                  <a:pt x="6979" y="479118"/>
                </a:lnTo>
                <a:lnTo>
                  <a:pt x="0" y="444512"/>
                </a:lnTo>
                <a:lnTo>
                  <a:pt x="0" y="8889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029071" y="5440883"/>
            <a:ext cx="83058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Mod</a:t>
            </a:r>
            <a:r>
              <a:rPr sz="2000" spc="-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le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48553" y="4503420"/>
            <a:ext cx="990600" cy="533400"/>
          </a:xfrm>
          <a:custGeom>
            <a:avLst/>
            <a:gdLst/>
            <a:ahLst/>
            <a:cxnLst/>
            <a:rect l="l" t="t" r="r" b="b"/>
            <a:pathLst>
              <a:path w="990600" h="533400">
                <a:moveTo>
                  <a:pt x="0" y="266699"/>
                </a:moveTo>
                <a:lnTo>
                  <a:pt x="495300" y="0"/>
                </a:lnTo>
                <a:lnTo>
                  <a:pt x="990600" y="266699"/>
                </a:lnTo>
                <a:lnTo>
                  <a:pt x="495300" y="533399"/>
                </a:lnTo>
                <a:lnTo>
                  <a:pt x="0" y="26669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352794" y="4636389"/>
            <a:ext cx="18478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In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48553" y="2827020"/>
            <a:ext cx="990600" cy="533400"/>
          </a:xfrm>
          <a:custGeom>
            <a:avLst/>
            <a:gdLst/>
            <a:ahLst/>
            <a:cxnLst/>
            <a:rect l="l" t="t" r="r" b="b"/>
            <a:pathLst>
              <a:path w="990600" h="533400">
                <a:moveTo>
                  <a:pt x="0" y="266700"/>
                </a:moveTo>
                <a:lnTo>
                  <a:pt x="495300" y="0"/>
                </a:lnTo>
                <a:lnTo>
                  <a:pt x="990600" y="266700"/>
                </a:lnTo>
                <a:lnTo>
                  <a:pt x="495300" y="533400"/>
                </a:lnTo>
                <a:lnTo>
                  <a:pt x="0" y="2667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279641" y="2959734"/>
            <a:ext cx="32893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Has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443853" y="252222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443853" y="336042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43853" y="419862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443853" y="503682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329553" y="4198620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228600" y="0"/>
                </a:moveTo>
                <a:lnTo>
                  <a:pt x="222772" y="48182"/>
                </a:lnTo>
                <a:lnTo>
                  <a:pt x="206544" y="90019"/>
                </a:lnTo>
                <a:lnTo>
                  <a:pt x="181801" y="123005"/>
                </a:lnTo>
                <a:lnTo>
                  <a:pt x="150424" y="144633"/>
                </a:lnTo>
                <a:lnTo>
                  <a:pt x="114300" y="152399"/>
                </a:lnTo>
                <a:lnTo>
                  <a:pt x="78175" y="144647"/>
                </a:lnTo>
                <a:lnTo>
                  <a:pt x="46798" y="123057"/>
                </a:lnTo>
                <a:lnTo>
                  <a:pt x="22055" y="90129"/>
                </a:lnTo>
                <a:lnTo>
                  <a:pt x="5827" y="48361"/>
                </a:lnTo>
                <a:lnTo>
                  <a:pt x="0" y="25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29553" y="3512820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228600" y="152399"/>
                </a:moveTo>
                <a:lnTo>
                  <a:pt x="222772" y="104217"/>
                </a:lnTo>
                <a:lnTo>
                  <a:pt x="206544" y="62380"/>
                </a:lnTo>
                <a:lnTo>
                  <a:pt x="181801" y="29394"/>
                </a:lnTo>
                <a:lnTo>
                  <a:pt x="150424" y="7766"/>
                </a:lnTo>
                <a:lnTo>
                  <a:pt x="114300" y="0"/>
                </a:lnTo>
                <a:lnTo>
                  <a:pt x="78175" y="7765"/>
                </a:lnTo>
                <a:lnTo>
                  <a:pt x="46798" y="29386"/>
                </a:lnTo>
                <a:lnTo>
                  <a:pt x="22055" y="62352"/>
                </a:lnTo>
                <a:lnTo>
                  <a:pt x="5827" y="104152"/>
                </a:lnTo>
                <a:lnTo>
                  <a:pt x="0" y="15227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076063" y="1412747"/>
            <a:ext cx="1152525" cy="432434"/>
          </a:xfrm>
          <a:custGeom>
            <a:avLst/>
            <a:gdLst/>
            <a:ahLst/>
            <a:cxnLst/>
            <a:rect l="l" t="t" r="r" b="b"/>
            <a:pathLst>
              <a:path w="1152525" h="432435">
                <a:moveTo>
                  <a:pt x="0" y="216026"/>
                </a:moveTo>
                <a:lnTo>
                  <a:pt x="15215" y="166511"/>
                </a:lnTo>
                <a:lnTo>
                  <a:pt x="58556" y="121048"/>
                </a:lnTo>
                <a:lnTo>
                  <a:pt x="126563" y="80936"/>
                </a:lnTo>
                <a:lnTo>
                  <a:pt x="168735" y="63293"/>
                </a:lnTo>
                <a:lnTo>
                  <a:pt x="215777" y="47476"/>
                </a:lnTo>
                <a:lnTo>
                  <a:pt x="267255" y="33646"/>
                </a:lnTo>
                <a:lnTo>
                  <a:pt x="322739" y="21966"/>
                </a:lnTo>
                <a:lnTo>
                  <a:pt x="381794" y="12600"/>
                </a:lnTo>
                <a:lnTo>
                  <a:pt x="443990" y="5708"/>
                </a:lnTo>
                <a:lnTo>
                  <a:pt x="508893" y="1454"/>
                </a:lnTo>
                <a:lnTo>
                  <a:pt x="576072" y="0"/>
                </a:lnTo>
                <a:lnTo>
                  <a:pt x="643250" y="1454"/>
                </a:lnTo>
                <a:lnTo>
                  <a:pt x="708153" y="5708"/>
                </a:lnTo>
                <a:lnTo>
                  <a:pt x="770349" y="12600"/>
                </a:lnTo>
                <a:lnTo>
                  <a:pt x="829404" y="21966"/>
                </a:lnTo>
                <a:lnTo>
                  <a:pt x="884888" y="33646"/>
                </a:lnTo>
                <a:lnTo>
                  <a:pt x="936366" y="47476"/>
                </a:lnTo>
                <a:lnTo>
                  <a:pt x="983408" y="63293"/>
                </a:lnTo>
                <a:lnTo>
                  <a:pt x="1025580" y="80936"/>
                </a:lnTo>
                <a:lnTo>
                  <a:pt x="1062451" y="100242"/>
                </a:lnTo>
                <a:lnTo>
                  <a:pt x="1118557" y="143191"/>
                </a:lnTo>
                <a:lnTo>
                  <a:pt x="1148268" y="190843"/>
                </a:lnTo>
                <a:lnTo>
                  <a:pt x="1152144" y="216026"/>
                </a:lnTo>
                <a:lnTo>
                  <a:pt x="1148268" y="241233"/>
                </a:lnTo>
                <a:lnTo>
                  <a:pt x="1118557" y="288912"/>
                </a:lnTo>
                <a:lnTo>
                  <a:pt x="1062451" y="331868"/>
                </a:lnTo>
                <a:lnTo>
                  <a:pt x="1025580" y="351170"/>
                </a:lnTo>
                <a:lnTo>
                  <a:pt x="983408" y="368807"/>
                </a:lnTo>
                <a:lnTo>
                  <a:pt x="936366" y="384617"/>
                </a:lnTo>
                <a:lnTo>
                  <a:pt x="884888" y="398438"/>
                </a:lnTo>
                <a:lnTo>
                  <a:pt x="829404" y="410109"/>
                </a:lnTo>
                <a:lnTo>
                  <a:pt x="770349" y="419467"/>
                </a:lnTo>
                <a:lnTo>
                  <a:pt x="708153" y="426352"/>
                </a:lnTo>
                <a:lnTo>
                  <a:pt x="643250" y="430601"/>
                </a:lnTo>
                <a:lnTo>
                  <a:pt x="576072" y="432053"/>
                </a:lnTo>
                <a:lnTo>
                  <a:pt x="508893" y="430601"/>
                </a:lnTo>
                <a:lnTo>
                  <a:pt x="443990" y="426352"/>
                </a:lnTo>
                <a:lnTo>
                  <a:pt x="381794" y="419467"/>
                </a:lnTo>
                <a:lnTo>
                  <a:pt x="322739" y="410109"/>
                </a:lnTo>
                <a:lnTo>
                  <a:pt x="267255" y="398438"/>
                </a:lnTo>
                <a:lnTo>
                  <a:pt x="215777" y="384617"/>
                </a:lnTo>
                <a:lnTo>
                  <a:pt x="168735" y="368807"/>
                </a:lnTo>
                <a:lnTo>
                  <a:pt x="126563" y="351170"/>
                </a:lnTo>
                <a:lnTo>
                  <a:pt x="89692" y="331868"/>
                </a:lnTo>
                <a:lnTo>
                  <a:pt x="33586" y="288912"/>
                </a:lnTo>
                <a:lnTo>
                  <a:pt x="3875" y="241233"/>
                </a:lnTo>
                <a:lnTo>
                  <a:pt x="0" y="216026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355463" y="1494535"/>
            <a:ext cx="59563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sName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72000" y="2038857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11"/>
                </a:lnTo>
                <a:lnTo>
                  <a:pt x="59059" y="114439"/>
                </a:lnTo>
                <a:lnTo>
                  <a:pt x="90311" y="92574"/>
                </a:lnTo>
                <a:lnTo>
                  <a:pt x="127214" y="72526"/>
                </a:lnTo>
                <a:lnTo>
                  <a:pt x="169295" y="54495"/>
                </a:lnTo>
                <a:lnTo>
                  <a:pt x="216081" y="38685"/>
                </a:lnTo>
                <a:lnTo>
                  <a:pt x="267101" y="25296"/>
                </a:lnTo>
                <a:lnTo>
                  <a:pt x="321881" y="14532"/>
                </a:lnTo>
                <a:lnTo>
                  <a:pt x="379950" y="6593"/>
                </a:lnTo>
                <a:lnTo>
                  <a:pt x="440834" y="1681"/>
                </a:lnTo>
                <a:lnTo>
                  <a:pt x="504063" y="0"/>
                </a:lnTo>
                <a:lnTo>
                  <a:pt x="567291" y="1681"/>
                </a:lnTo>
                <a:lnTo>
                  <a:pt x="628175" y="6593"/>
                </a:lnTo>
                <a:lnTo>
                  <a:pt x="686244" y="14532"/>
                </a:lnTo>
                <a:lnTo>
                  <a:pt x="741024" y="25296"/>
                </a:lnTo>
                <a:lnTo>
                  <a:pt x="792044" y="38685"/>
                </a:lnTo>
                <a:lnTo>
                  <a:pt x="838830" y="54495"/>
                </a:lnTo>
                <a:lnTo>
                  <a:pt x="880911" y="72526"/>
                </a:lnTo>
                <a:lnTo>
                  <a:pt x="917814" y="92574"/>
                </a:lnTo>
                <a:lnTo>
                  <a:pt x="949066" y="114439"/>
                </a:lnTo>
                <a:lnTo>
                  <a:pt x="992731" y="162811"/>
                </a:lnTo>
                <a:lnTo>
                  <a:pt x="1008126" y="216026"/>
                </a:lnTo>
                <a:lnTo>
                  <a:pt x="1004198" y="243114"/>
                </a:lnTo>
                <a:lnTo>
                  <a:pt x="974196" y="294082"/>
                </a:lnTo>
                <a:lnTo>
                  <a:pt x="917814" y="339423"/>
                </a:lnTo>
                <a:lnTo>
                  <a:pt x="880911" y="359476"/>
                </a:lnTo>
                <a:lnTo>
                  <a:pt x="838830" y="377514"/>
                </a:lnTo>
                <a:lnTo>
                  <a:pt x="792044" y="393334"/>
                </a:lnTo>
                <a:lnTo>
                  <a:pt x="741024" y="406732"/>
                </a:lnTo>
                <a:lnTo>
                  <a:pt x="686244" y="417506"/>
                </a:lnTo>
                <a:lnTo>
                  <a:pt x="628175" y="425453"/>
                </a:lnTo>
                <a:lnTo>
                  <a:pt x="567291" y="430369"/>
                </a:lnTo>
                <a:lnTo>
                  <a:pt x="504063" y="432053"/>
                </a:lnTo>
                <a:lnTo>
                  <a:pt x="440834" y="430369"/>
                </a:lnTo>
                <a:lnTo>
                  <a:pt x="379950" y="425453"/>
                </a:lnTo>
                <a:lnTo>
                  <a:pt x="321881" y="417506"/>
                </a:lnTo>
                <a:lnTo>
                  <a:pt x="267101" y="406732"/>
                </a:lnTo>
                <a:lnTo>
                  <a:pt x="216081" y="393334"/>
                </a:lnTo>
                <a:lnTo>
                  <a:pt x="169295" y="377514"/>
                </a:lnTo>
                <a:lnTo>
                  <a:pt x="127214" y="359476"/>
                </a:lnTo>
                <a:lnTo>
                  <a:pt x="90311" y="339423"/>
                </a:lnTo>
                <a:lnTo>
                  <a:pt x="59059" y="317557"/>
                </a:lnTo>
                <a:lnTo>
                  <a:pt x="15394" y="269200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935473" y="2120646"/>
            <a:ext cx="28130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0" dirty="0">
                <a:latin typeface="Calibri"/>
                <a:cs typeface="Calibri"/>
              </a:rPr>
              <a:t>s</a:t>
            </a:r>
            <a:r>
              <a:rPr sz="1600" u="heavy" spc="-5" dirty="0"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660260" y="1412747"/>
            <a:ext cx="1440180" cy="432434"/>
          </a:xfrm>
          <a:custGeom>
            <a:avLst/>
            <a:gdLst/>
            <a:ahLst/>
            <a:cxnLst/>
            <a:rect l="l" t="t" r="r" b="b"/>
            <a:pathLst>
              <a:path w="1440179" h="432435">
                <a:moveTo>
                  <a:pt x="0" y="216026"/>
                </a:moveTo>
                <a:lnTo>
                  <a:pt x="12981" y="174992"/>
                </a:lnTo>
                <a:lnTo>
                  <a:pt x="50318" y="136549"/>
                </a:lnTo>
                <a:lnTo>
                  <a:pt x="109599" y="101425"/>
                </a:lnTo>
                <a:lnTo>
                  <a:pt x="146714" y="85335"/>
                </a:lnTo>
                <a:lnTo>
                  <a:pt x="188411" y="70346"/>
                </a:lnTo>
                <a:lnTo>
                  <a:pt x="234387" y="56550"/>
                </a:lnTo>
                <a:lnTo>
                  <a:pt x="284342" y="44037"/>
                </a:lnTo>
                <a:lnTo>
                  <a:pt x="337973" y="32898"/>
                </a:lnTo>
                <a:lnTo>
                  <a:pt x="394980" y="23224"/>
                </a:lnTo>
                <a:lnTo>
                  <a:pt x="455061" y="15105"/>
                </a:lnTo>
                <a:lnTo>
                  <a:pt x="517913" y="8632"/>
                </a:lnTo>
                <a:lnTo>
                  <a:pt x="583237" y="3897"/>
                </a:lnTo>
                <a:lnTo>
                  <a:pt x="650729" y="989"/>
                </a:lnTo>
                <a:lnTo>
                  <a:pt x="720090" y="0"/>
                </a:lnTo>
                <a:lnTo>
                  <a:pt x="789430" y="989"/>
                </a:lnTo>
                <a:lnTo>
                  <a:pt x="856908" y="3897"/>
                </a:lnTo>
                <a:lnTo>
                  <a:pt x="922220" y="8632"/>
                </a:lnTo>
                <a:lnTo>
                  <a:pt x="985066" y="15105"/>
                </a:lnTo>
                <a:lnTo>
                  <a:pt x="1045143" y="23224"/>
                </a:lnTo>
                <a:lnTo>
                  <a:pt x="1102149" y="32898"/>
                </a:lnTo>
                <a:lnTo>
                  <a:pt x="1155783" y="44037"/>
                </a:lnTo>
                <a:lnTo>
                  <a:pt x="1205741" y="56550"/>
                </a:lnTo>
                <a:lnTo>
                  <a:pt x="1251723" y="70346"/>
                </a:lnTo>
                <a:lnTo>
                  <a:pt x="1293427" y="85335"/>
                </a:lnTo>
                <a:lnTo>
                  <a:pt x="1330549" y="101425"/>
                </a:lnTo>
                <a:lnTo>
                  <a:pt x="1389844" y="136549"/>
                </a:lnTo>
                <a:lnTo>
                  <a:pt x="1427193" y="174992"/>
                </a:lnTo>
                <a:lnTo>
                  <a:pt x="1440180" y="216026"/>
                </a:lnTo>
                <a:lnTo>
                  <a:pt x="1436883" y="236843"/>
                </a:lnTo>
                <a:lnTo>
                  <a:pt x="1411413" y="276698"/>
                </a:lnTo>
                <a:lnTo>
                  <a:pt x="1362789" y="313582"/>
                </a:lnTo>
                <a:lnTo>
                  <a:pt x="1293427" y="346772"/>
                </a:lnTo>
                <a:lnTo>
                  <a:pt x="1251723" y="361757"/>
                </a:lnTo>
                <a:lnTo>
                  <a:pt x="1205741" y="375548"/>
                </a:lnTo>
                <a:lnTo>
                  <a:pt x="1155783" y="388054"/>
                </a:lnTo>
                <a:lnTo>
                  <a:pt x="1102149" y="399186"/>
                </a:lnTo>
                <a:lnTo>
                  <a:pt x="1045143" y="408853"/>
                </a:lnTo>
                <a:lnTo>
                  <a:pt x="985066" y="416964"/>
                </a:lnTo>
                <a:lnTo>
                  <a:pt x="922220" y="423430"/>
                </a:lnTo>
                <a:lnTo>
                  <a:pt x="856908" y="428161"/>
                </a:lnTo>
                <a:lnTo>
                  <a:pt x="789430" y="431065"/>
                </a:lnTo>
                <a:lnTo>
                  <a:pt x="720090" y="432053"/>
                </a:lnTo>
                <a:lnTo>
                  <a:pt x="650729" y="431065"/>
                </a:lnTo>
                <a:lnTo>
                  <a:pt x="583237" y="428161"/>
                </a:lnTo>
                <a:lnTo>
                  <a:pt x="517913" y="423430"/>
                </a:lnTo>
                <a:lnTo>
                  <a:pt x="455061" y="416964"/>
                </a:lnTo>
                <a:lnTo>
                  <a:pt x="394980" y="408853"/>
                </a:lnTo>
                <a:lnTo>
                  <a:pt x="337973" y="399186"/>
                </a:lnTo>
                <a:lnTo>
                  <a:pt x="284342" y="388054"/>
                </a:lnTo>
                <a:lnTo>
                  <a:pt x="234387" y="375548"/>
                </a:lnTo>
                <a:lnTo>
                  <a:pt x="188411" y="361757"/>
                </a:lnTo>
                <a:lnTo>
                  <a:pt x="146714" y="346772"/>
                </a:lnTo>
                <a:lnTo>
                  <a:pt x="109599" y="330684"/>
                </a:lnTo>
                <a:lnTo>
                  <a:pt x="50318" y="295556"/>
                </a:lnTo>
                <a:lnTo>
                  <a:pt x="12981" y="257096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000113" y="1494535"/>
            <a:ext cx="76200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sAddress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308342" y="2039366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53"/>
                </a:lnTo>
                <a:lnTo>
                  <a:pt x="59059" y="114496"/>
                </a:lnTo>
                <a:lnTo>
                  <a:pt x="90311" y="92630"/>
                </a:lnTo>
                <a:lnTo>
                  <a:pt x="127214" y="72577"/>
                </a:lnTo>
                <a:lnTo>
                  <a:pt x="169295" y="54539"/>
                </a:lnTo>
                <a:lnTo>
                  <a:pt x="216081" y="38719"/>
                </a:lnTo>
                <a:lnTo>
                  <a:pt x="267101" y="25321"/>
                </a:lnTo>
                <a:lnTo>
                  <a:pt x="321881" y="14547"/>
                </a:lnTo>
                <a:lnTo>
                  <a:pt x="379950" y="6600"/>
                </a:lnTo>
                <a:lnTo>
                  <a:pt x="440834" y="1684"/>
                </a:lnTo>
                <a:lnTo>
                  <a:pt x="504062" y="0"/>
                </a:lnTo>
                <a:lnTo>
                  <a:pt x="567291" y="1684"/>
                </a:lnTo>
                <a:lnTo>
                  <a:pt x="628175" y="6600"/>
                </a:lnTo>
                <a:lnTo>
                  <a:pt x="686244" y="14547"/>
                </a:lnTo>
                <a:lnTo>
                  <a:pt x="741024" y="25321"/>
                </a:lnTo>
                <a:lnTo>
                  <a:pt x="792044" y="38719"/>
                </a:lnTo>
                <a:lnTo>
                  <a:pt x="838830" y="54539"/>
                </a:lnTo>
                <a:lnTo>
                  <a:pt x="880911" y="72577"/>
                </a:lnTo>
                <a:lnTo>
                  <a:pt x="917814" y="92630"/>
                </a:lnTo>
                <a:lnTo>
                  <a:pt x="949066" y="114496"/>
                </a:lnTo>
                <a:lnTo>
                  <a:pt x="992731" y="162853"/>
                </a:lnTo>
                <a:lnTo>
                  <a:pt x="1008126" y="216026"/>
                </a:lnTo>
                <a:lnTo>
                  <a:pt x="1004198" y="243139"/>
                </a:lnTo>
                <a:lnTo>
                  <a:pt x="974196" y="294134"/>
                </a:lnTo>
                <a:lnTo>
                  <a:pt x="917814" y="339479"/>
                </a:lnTo>
                <a:lnTo>
                  <a:pt x="880911" y="359527"/>
                </a:lnTo>
                <a:lnTo>
                  <a:pt x="838830" y="377558"/>
                </a:lnTo>
                <a:lnTo>
                  <a:pt x="792044" y="393368"/>
                </a:lnTo>
                <a:lnTo>
                  <a:pt x="741024" y="406757"/>
                </a:lnTo>
                <a:lnTo>
                  <a:pt x="686244" y="417521"/>
                </a:lnTo>
                <a:lnTo>
                  <a:pt x="628175" y="425460"/>
                </a:lnTo>
                <a:lnTo>
                  <a:pt x="567291" y="430372"/>
                </a:lnTo>
                <a:lnTo>
                  <a:pt x="504062" y="432054"/>
                </a:lnTo>
                <a:lnTo>
                  <a:pt x="440834" y="430372"/>
                </a:lnTo>
                <a:lnTo>
                  <a:pt x="379950" y="425460"/>
                </a:lnTo>
                <a:lnTo>
                  <a:pt x="321881" y="417521"/>
                </a:lnTo>
                <a:lnTo>
                  <a:pt x="267101" y="406757"/>
                </a:lnTo>
                <a:lnTo>
                  <a:pt x="216081" y="393368"/>
                </a:lnTo>
                <a:lnTo>
                  <a:pt x="169295" y="377558"/>
                </a:lnTo>
                <a:lnTo>
                  <a:pt x="127214" y="359527"/>
                </a:lnTo>
                <a:lnTo>
                  <a:pt x="90311" y="339479"/>
                </a:lnTo>
                <a:lnTo>
                  <a:pt x="59059" y="317614"/>
                </a:lnTo>
                <a:lnTo>
                  <a:pt x="15394" y="269242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585075" y="2121153"/>
            <a:ext cx="45783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</a:t>
            </a:r>
            <a:r>
              <a:rPr sz="1600" spc="-125" dirty="0">
                <a:latin typeface="Calibri"/>
                <a:cs typeface="Calibri"/>
              </a:rPr>
              <a:t>Y</a:t>
            </a:r>
            <a:r>
              <a:rPr sz="1600" spc="-5" dirty="0">
                <a:latin typeface="Calibri"/>
                <a:cs typeface="Calibri"/>
              </a:rPr>
              <a:t>ear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427982" y="5392292"/>
            <a:ext cx="1152525" cy="432434"/>
          </a:xfrm>
          <a:custGeom>
            <a:avLst/>
            <a:gdLst/>
            <a:ahLst/>
            <a:cxnLst/>
            <a:rect l="l" t="t" r="r" b="b"/>
            <a:pathLst>
              <a:path w="1152525" h="432435">
                <a:moveTo>
                  <a:pt x="0" y="215988"/>
                </a:moveTo>
                <a:lnTo>
                  <a:pt x="15215" y="166447"/>
                </a:lnTo>
                <a:lnTo>
                  <a:pt x="58556" y="120978"/>
                </a:lnTo>
                <a:lnTo>
                  <a:pt x="126563" y="80875"/>
                </a:lnTo>
                <a:lnTo>
                  <a:pt x="168735" y="63241"/>
                </a:lnTo>
                <a:lnTo>
                  <a:pt x="215777" y="47433"/>
                </a:lnTo>
                <a:lnTo>
                  <a:pt x="267255" y="33613"/>
                </a:lnTo>
                <a:lnTo>
                  <a:pt x="322739" y="21943"/>
                </a:lnTo>
                <a:lnTo>
                  <a:pt x="381794" y="12585"/>
                </a:lnTo>
                <a:lnTo>
                  <a:pt x="443990" y="5701"/>
                </a:lnTo>
                <a:lnTo>
                  <a:pt x="508893" y="1452"/>
                </a:lnTo>
                <a:lnTo>
                  <a:pt x="576071" y="0"/>
                </a:lnTo>
                <a:lnTo>
                  <a:pt x="643250" y="1452"/>
                </a:lnTo>
                <a:lnTo>
                  <a:pt x="708153" y="5701"/>
                </a:lnTo>
                <a:lnTo>
                  <a:pt x="770349" y="12585"/>
                </a:lnTo>
                <a:lnTo>
                  <a:pt x="829404" y="21943"/>
                </a:lnTo>
                <a:lnTo>
                  <a:pt x="884888" y="33613"/>
                </a:lnTo>
                <a:lnTo>
                  <a:pt x="936366" y="47433"/>
                </a:lnTo>
                <a:lnTo>
                  <a:pt x="983408" y="63241"/>
                </a:lnTo>
                <a:lnTo>
                  <a:pt x="1025580" y="80875"/>
                </a:lnTo>
                <a:lnTo>
                  <a:pt x="1062451" y="100175"/>
                </a:lnTo>
                <a:lnTo>
                  <a:pt x="1118557" y="143123"/>
                </a:lnTo>
                <a:lnTo>
                  <a:pt x="1148268" y="190789"/>
                </a:lnTo>
                <a:lnTo>
                  <a:pt x="1152143" y="215988"/>
                </a:lnTo>
                <a:lnTo>
                  <a:pt x="1148268" y="241183"/>
                </a:lnTo>
                <a:lnTo>
                  <a:pt x="1118557" y="288849"/>
                </a:lnTo>
                <a:lnTo>
                  <a:pt x="1062451" y="331802"/>
                </a:lnTo>
                <a:lnTo>
                  <a:pt x="1025580" y="351106"/>
                </a:lnTo>
                <a:lnTo>
                  <a:pt x="983408" y="368746"/>
                </a:lnTo>
                <a:lnTo>
                  <a:pt x="936366" y="384559"/>
                </a:lnTo>
                <a:lnTo>
                  <a:pt x="884888" y="398385"/>
                </a:lnTo>
                <a:lnTo>
                  <a:pt x="829404" y="410060"/>
                </a:lnTo>
                <a:lnTo>
                  <a:pt x="770349" y="419422"/>
                </a:lnTo>
                <a:lnTo>
                  <a:pt x="708153" y="426310"/>
                </a:lnTo>
                <a:lnTo>
                  <a:pt x="643250" y="430562"/>
                </a:lnTo>
                <a:lnTo>
                  <a:pt x="576071" y="432015"/>
                </a:lnTo>
                <a:lnTo>
                  <a:pt x="508893" y="430562"/>
                </a:lnTo>
                <a:lnTo>
                  <a:pt x="443990" y="426310"/>
                </a:lnTo>
                <a:lnTo>
                  <a:pt x="381794" y="419422"/>
                </a:lnTo>
                <a:lnTo>
                  <a:pt x="322739" y="410060"/>
                </a:lnTo>
                <a:lnTo>
                  <a:pt x="267255" y="398385"/>
                </a:lnTo>
                <a:lnTo>
                  <a:pt x="215777" y="384559"/>
                </a:lnTo>
                <a:lnTo>
                  <a:pt x="168735" y="368746"/>
                </a:lnTo>
                <a:lnTo>
                  <a:pt x="126563" y="351106"/>
                </a:lnTo>
                <a:lnTo>
                  <a:pt x="89692" y="331802"/>
                </a:lnTo>
                <a:lnTo>
                  <a:pt x="33586" y="288849"/>
                </a:lnTo>
                <a:lnTo>
                  <a:pt x="3875" y="241183"/>
                </a:lnTo>
                <a:lnTo>
                  <a:pt x="0" y="215988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699761" y="5474919"/>
            <a:ext cx="6102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0" dirty="0">
                <a:latin typeface="Calibri"/>
                <a:cs typeface="Calibri"/>
              </a:rPr>
              <a:t>mCode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940171" y="6165303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4">
                <a:moveTo>
                  <a:pt x="0" y="216027"/>
                </a:moveTo>
                <a:lnTo>
                  <a:pt x="15394" y="162837"/>
                </a:lnTo>
                <a:lnTo>
                  <a:pt x="59059" y="114473"/>
                </a:lnTo>
                <a:lnTo>
                  <a:pt x="90311" y="92608"/>
                </a:lnTo>
                <a:lnTo>
                  <a:pt x="127214" y="72556"/>
                </a:lnTo>
                <a:lnTo>
                  <a:pt x="169295" y="54521"/>
                </a:lnTo>
                <a:lnTo>
                  <a:pt x="216081" y="38706"/>
                </a:lnTo>
                <a:lnTo>
                  <a:pt x="267101" y="25311"/>
                </a:lnTo>
                <a:lnTo>
                  <a:pt x="321881" y="14541"/>
                </a:lnTo>
                <a:lnTo>
                  <a:pt x="379950" y="6597"/>
                </a:lnTo>
                <a:lnTo>
                  <a:pt x="440834" y="1683"/>
                </a:lnTo>
                <a:lnTo>
                  <a:pt x="504063" y="0"/>
                </a:lnTo>
                <a:lnTo>
                  <a:pt x="567291" y="1683"/>
                </a:lnTo>
                <a:lnTo>
                  <a:pt x="628175" y="6597"/>
                </a:lnTo>
                <a:lnTo>
                  <a:pt x="686244" y="14541"/>
                </a:lnTo>
                <a:lnTo>
                  <a:pt x="741024" y="25311"/>
                </a:lnTo>
                <a:lnTo>
                  <a:pt x="792044" y="38706"/>
                </a:lnTo>
                <a:lnTo>
                  <a:pt x="838830" y="54521"/>
                </a:lnTo>
                <a:lnTo>
                  <a:pt x="880911" y="72556"/>
                </a:lnTo>
                <a:lnTo>
                  <a:pt x="917814" y="92608"/>
                </a:lnTo>
                <a:lnTo>
                  <a:pt x="949066" y="114473"/>
                </a:lnTo>
                <a:lnTo>
                  <a:pt x="992731" y="162837"/>
                </a:lnTo>
                <a:lnTo>
                  <a:pt x="1008126" y="216027"/>
                </a:lnTo>
                <a:lnTo>
                  <a:pt x="1004198" y="243124"/>
                </a:lnTo>
                <a:lnTo>
                  <a:pt x="974196" y="294103"/>
                </a:lnTo>
                <a:lnTo>
                  <a:pt x="917814" y="339445"/>
                </a:lnTo>
                <a:lnTo>
                  <a:pt x="880911" y="359497"/>
                </a:lnTo>
                <a:lnTo>
                  <a:pt x="838830" y="377532"/>
                </a:lnTo>
                <a:lnTo>
                  <a:pt x="792044" y="393347"/>
                </a:lnTo>
                <a:lnTo>
                  <a:pt x="741024" y="406742"/>
                </a:lnTo>
                <a:lnTo>
                  <a:pt x="686244" y="417512"/>
                </a:lnTo>
                <a:lnTo>
                  <a:pt x="628175" y="425456"/>
                </a:lnTo>
                <a:lnTo>
                  <a:pt x="567291" y="430370"/>
                </a:lnTo>
                <a:lnTo>
                  <a:pt x="504063" y="432054"/>
                </a:lnTo>
                <a:lnTo>
                  <a:pt x="440834" y="430370"/>
                </a:lnTo>
                <a:lnTo>
                  <a:pt x="379950" y="425456"/>
                </a:lnTo>
                <a:lnTo>
                  <a:pt x="321881" y="417512"/>
                </a:lnTo>
                <a:lnTo>
                  <a:pt x="267101" y="406742"/>
                </a:lnTo>
                <a:lnTo>
                  <a:pt x="216081" y="393347"/>
                </a:lnTo>
                <a:lnTo>
                  <a:pt x="169295" y="377532"/>
                </a:lnTo>
                <a:lnTo>
                  <a:pt x="127214" y="359497"/>
                </a:lnTo>
                <a:lnTo>
                  <a:pt x="90311" y="339445"/>
                </a:lnTo>
                <a:lnTo>
                  <a:pt x="59059" y="317580"/>
                </a:lnTo>
                <a:lnTo>
                  <a:pt x="15394" y="269216"/>
                </a:lnTo>
                <a:lnTo>
                  <a:pt x="0" y="21602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308342" y="5392292"/>
            <a:ext cx="1368425" cy="432434"/>
          </a:xfrm>
          <a:custGeom>
            <a:avLst/>
            <a:gdLst/>
            <a:ahLst/>
            <a:cxnLst/>
            <a:rect l="l" t="t" r="r" b="b"/>
            <a:pathLst>
              <a:path w="1368425" h="432435">
                <a:moveTo>
                  <a:pt x="0" y="215988"/>
                </a:moveTo>
                <a:lnTo>
                  <a:pt x="13894" y="172443"/>
                </a:lnTo>
                <a:lnTo>
                  <a:pt x="53746" y="131893"/>
                </a:lnTo>
                <a:lnTo>
                  <a:pt x="116807" y="95203"/>
                </a:lnTo>
                <a:lnTo>
                  <a:pt x="156181" y="78577"/>
                </a:lnTo>
                <a:lnTo>
                  <a:pt x="200326" y="63241"/>
                </a:lnTo>
                <a:lnTo>
                  <a:pt x="248899" y="49303"/>
                </a:lnTo>
                <a:lnTo>
                  <a:pt x="301556" y="36873"/>
                </a:lnTo>
                <a:lnTo>
                  <a:pt x="357954" y="26057"/>
                </a:lnTo>
                <a:lnTo>
                  <a:pt x="417748" y="16965"/>
                </a:lnTo>
                <a:lnTo>
                  <a:pt x="480596" y="9705"/>
                </a:lnTo>
                <a:lnTo>
                  <a:pt x="546153" y="4385"/>
                </a:lnTo>
                <a:lnTo>
                  <a:pt x="614076" y="1114"/>
                </a:lnTo>
                <a:lnTo>
                  <a:pt x="684022" y="0"/>
                </a:lnTo>
                <a:lnTo>
                  <a:pt x="753968" y="1114"/>
                </a:lnTo>
                <a:lnTo>
                  <a:pt x="821896" y="4385"/>
                </a:lnTo>
                <a:lnTo>
                  <a:pt x="887459" y="9705"/>
                </a:lnTo>
                <a:lnTo>
                  <a:pt x="950315" y="16965"/>
                </a:lnTo>
                <a:lnTo>
                  <a:pt x="1010119" y="26057"/>
                </a:lnTo>
                <a:lnTo>
                  <a:pt x="1066527" y="36873"/>
                </a:lnTo>
                <a:lnTo>
                  <a:pt x="1119195" y="49303"/>
                </a:lnTo>
                <a:lnTo>
                  <a:pt x="1167780" y="63241"/>
                </a:lnTo>
                <a:lnTo>
                  <a:pt x="1211938" y="78577"/>
                </a:lnTo>
                <a:lnTo>
                  <a:pt x="1251323" y="95203"/>
                </a:lnTo>
                <a:lnTo>
                  <a:pt x="1285593" y="113011"/>
                </a:lnTo>
                <a:lnTo>
                  <a:pt x="1337411" y="151740"/>
                </a:lnTo>
                <a:lnTo>
                  <a:pt x="1364638" y="193896"/>
                </a:lnTo>
                <a:lnTo>
                  <a:pt x="1368171" y="215988"/>
                </a:lnTo>
                <a:lnTo>
                  <a:pt x="1364638" y="238077"/>
                </a:lnTo>
                <a:lnTo>
                  <a:pt x="1337411" y="280231"/>
                </a:lnTo>
                <a:lnTo>
                  <a:pt x="1285593" y="318963"/>
                </a:lnTo>
                <a:lnTo>
                  <a:pt x="1251323" y="336775"/>
                </a:lnTo>
                <a:lnTo>
                  <a:pt x="1211938" y="353405"/>
                </a:lnTo>
                <a:lnTo>
                  <a:pt x="1167780" y="368746"/>
                </a:lnTo>
                <a:lnTo>
                  <a:pt x="1119195" y="382688"/>
                </a:lnTo>
                <a:lnTo>
                  <a:pt x="1066527" y="395124"/>
                </a:lnTo>
                <a:lnTo>
                  <a:pt x="1010119" y="405944"/>
                </a:lnTo>
                <a:lnTo>
                  <a:pt x="950315" y="415040"/>
                </a:lnTo>
                <a:lnTo>
                  <a:pt x="887459" y="422304"/>
                </a:lnTo>
                <a:lnTo>
                  <a:pt x="821896" y="427627"/>
                </a:lnTo>
                <a:lnTo>
                  <a:pt x="753968" y="430900"/>
                </a:lnTo>
                <a:lnTo>
                  <a:pt x="684022" y="432015"/>
                </a:lnTo>
                <a:lnTo>
                  <a:pt x="614076" y="430900"/>
                </a:lnTo>
                <a:lnTo>
                  <a:pt x="546153" y="427627"/>
                </a:lnTo>
                <a:lnTo>
                  <a:pt x="480596" y="422304"/>
                </a:lnTo>
                <a:lnTo>
                  <a:pt x="417748" y="415040"/>
                </a:lnTo>
                <a:lnTo>
                  <a:pt x="357954" y="405944"/>
                </a:lnTo>
                <a:lnTo>
                  <a:pt x="301556" y="395124"/>
                </a:lnTo>
                <a:lnTo>
                  <a:pt x="248899" y="382688"/>
                </a:lnTo>
                <a:lnTo>
                  <a:pt x="200326" y="368746"/>
                </a:lnTo>
                <a:lnTo>
                  <a:pt x="156181" y="353405"/>
                </a:lnTo>
                <a:lnTo>
                  <a:pt x="116807" y="336775"/>
                </a:lnTo>
                <a:lnTo>
                  <a:pt x="82547" y="318963"/>
                </a:lnTo>
                <a:lnTo>
                  <a:pt x="30747" y="280231"/>
                </a:lnTo>
                <a:lnTo>
                  <a:pt x="3530" y="238077"/>
                </a:lnTo>
                <a:lnTo>
                  <a:pt x="0" y="215988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611618" y="5474919"/>
            <a:ext cx="76454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mCredits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499990" y="3714622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53"/>
                </a:lnTo>
                <a:lnTo>
                  <a:pt x="59059" y="114496"/>
                </a:lnTo>
                <a:lnTo>
                  <a:pt x="90311" y="92630"/>
                </a:lnTo>
                <a:lnTo>
                  <a:pt x="127214" y="72577"/>
                </a:lnTo>
                <a:lnTo>
                  <a:pt x="169295" y="54539"/>
                </a:lnTo>
                <a:lnTo>
                  <a:pt x="216081" y="38719"/>
                </a:lnTo>
                <a:lnTo>
                  <a:pt x="267101" y="25321"/>
                </a:lnTo>
                <a:lnTo>
                  <a:pt x="321881" y="14547"/>
                </a:lnTo>
                <a:lnTo>
                  <a:pt x="379950" y="6600"/>
                </a:lnTo>
                <a:lnTo>
                  <a:pt x="440834" y="1684"/>
                </a:lnTo>
                <a:lnTo>
                  <a:pt x="504063" y="0"/>
                </a:lnTo>
                <a:lnTo>
                  <a:pt x="567291" y="1684"/>
                </a:lnTo>
                <a:lnTo>
                  <a:pt x="628175" y="6600"/>
                </a:lnTo>
                <a:lnTo>
                  <a:pt x="686244" y="14547"/>
                </a:lnTo>
                <a:lnTo>
                  <a:pt x="741024" y="25321"/>
                </a:lnTo>
                <a:lnTo>
                  <a:pt x="792044" y="38719"/>
                </a:lnTo>
                <a:lnTo>
                  <a:pt x="838830" y="54539"/>
                </a:lnTo>
                <a:lnTo>
                  <a:pt x="880911" y="72577"/>
                </a:lnTo>
                <a:lnTo>
                  <a:pt x="917814" y="92630"/>
                </a:lnTo>
                <a:lnTo>
                  <a:pt x="949066" y="114496"/>
                </a:lnTo>
                <a:lnTo>
                  <a:pt x="992731" y="162853"/>
                </a:lnTo>
                <a:lnTo>
                  <a:pt x="1008126" y="216026"/>
                </a:lnTo>
                <a:lnTo>
                  <a:pt x="1004198" y="243139"/>
                </a:lnTo>
                <a:lnTo>
                  <a:pt x="974196" y="294134"/>
                </a:lnTo>
                <a:lnTo>
                  <a:pt x="917814" y="339479"/>
                </a:lnTo>
                <a:lnTo>
                  <a:pt x="880911" y="359527"/>
                </a:lnTo>
                <a:lnTo>
                  <a:pt x="838830" y="377558"/>
                </a:lnTo>
                <a:lnTo>
                  <a:pt x="792044" y="393368"/>
                </a:lnTo>
                <a:lnTo>
                  <a:pt x="741024" y="406757"/>
                </a:lnTo>
                <a:lnTo>
                  <a:pt x="686244" y="417521"/>
                </a:lnTo>
                <a:lnTo>
                  <a:pt x="628175" y="425460"/>
                </a:lnTo>
                <a:lnTo>
                  <a:pt x="567291" y="430372"/>
                </a:lnTo>
                <a:lnTo>
                  <a:pt x="504063" y="432053"/>
                </a:lnTo>
                <a:lnTo>
                  <a:pt x="440834" y="430372"/>
                </a:lnTo>
                <a:lnTo>
                  <a:pt x="379950" y="425460"/>
                </a:lnTo>
                <a:lnTo>
                  <a:pt x="321881" y="417521"/>
                </a:lnTo>
                <a:lnTo>
                  <a:pt x="267101" y="406757"/>
                </a:lnTo>
                <a:lnTo>
                  <a:pt x="216081" y="393368"/>
                </a:lnTo>
                <a:lnTo>
                  <a:pt x="169295" y="377558"/>
                </a:lnTo>
                <a:lnTo>
                  <a:pt x="127214" y="359527"/>
                </a:lnTo>
                <a:lnTo>
                  <a:pt x="90311" y="339479"/>
                </a:lnTo>
                <a:lnTo>
                  <a:pt x="59059" y="317614"/>
                </a:lnTo>
                <a:lnTo>
                  <a:pt x="15394" y="269242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863210" y="3796665"/>
            <a:ext cx="28130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0" dirty="0">
                <a:latin typeface="Calibri"/>
                <a:cs typeface="Calibri"/>
              </a:rPr>
              <a:t>sID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380351" y="3714622"/>
            <a:ext cx="1152525" cy="432434"/>
          </a:xfrm>
          <a:custGeom>
            <a:avLst/>
            <a:gdLst/>
            <a:ahLst/>
            <a:cxnLst/>
            <a:rect l="l" t="t" r="r" b="b"/>
            <a:pathLst>
              <a:path w="1152525" h="432435">
                <a:moveTo>
                  <a:pt x="0" y="216026"/>
                </a:moveTo>
                <a:lnTo>
                  <a:pt x="15215" y="166511"/>
                </a:lnTo>
                <a:lnTo>
                  <a:pt x="58556" y="121048"/>
                </a:lnTo>
                <a:lnTo>
                  <a:pt x="126563" y="80936"/>
                </a:lnTo>
                <a:lnTo>
                  <a:pt x="168735" y="63293"/>
                </a:lnTo>
                <a:lnTo>
                  <a:pt x="215777" y="47476"/>
                </a:lnTo>
                <a:lnTo>
                  <a:pt x="267255" y="33646"/>
                </a:lnTo>
                <a:lnTo>
                  <a:pt x="322739" y="21966"/>
                </a:lnTo>
                <a:lnTo>
                  <a:pt x="381794" y="12600"/>
                </a:lnTo>
                <a:lnTo>
                  <a:pt x="443990" y="5708"/>
                </a:lnTo>
                <a:lnTo>
                  <a:pt x="508893" y="1454"/>
                </a:lnTo>
                <a:lnTo>
                  <a:pt x="576072" y="0"/>
                </a:lnTo>
                <a:lnTo>
                  <a:pt x="643250" y="1454"/>
                </a:lnTo>
                <a:lnTo>
                  <a:pt x="708153" y="5708"/>
                </a:lnTo>
                <a:lnTo>
                  <a:pt x="770349" y="12600"/>
                </a:lnTo>
                <a:lnTo>
                  <a:pt x="829404" y="21966"/>
                </a:lnTo>
                <a:lnTo>
                  <a:pt x="884888" y="33646"/>
                </a:lnTo>
                <a:lnTo>
                  <a:pt x="936366" y="47476"/>
                </a:lnTo>
                <a:lnTo>
                  <a:pt x="983408" y="63293"/>
                </a:lnTo>
                <a:lnTo>
                  <a:pt x="1025580" y="80936"/>
                </a:lnTo>
                <a:lnTo>
                  <a:pt x="1062451" y="100242"/>
                </a:lnTo>
                <a:lnTo>
                  <a:pt x="1118557" y="143191"/>
                </a:lnTo>
                <a:lnTo>
                  <a:pt x="1148268" y="190843"/>
                </a:lnTo>
                <a:lnTo>
                  <a:pt x="1152144" y="216026"/>
                </a:lnTo>
                <a:lnTo>
                  <a:pt x="1148268" y="241233"/>
                </a:lnTo>
                <a:lnTo>
                  <a:pt x="1118557" y="288912"/>
                </a:lnTo>
                <a:lnTo>
                  <a:pt x="1062451" y="331868"/>
                </a:lnTo>
                <a:lnTo>
                  <a:pt x="1025580" y="351170"/>
                </a:lnTo>
                <a:lnTo>
                  <a:pt x="983408" y="368807"/>
                </a:lnTo>
                <a:lnTo>
                  <a:pt x="936366" y="384617"/>
                </a:lnTo>
                <a:lnTo>
                  <a:pt x="884888" y="398438"/>
                </a:lnTo>
                <a:lnTo>
                  <a:pt x="829404" y="410109"/>
                </a:lnTo>
                <a:lnTo>
                  <a:pt x="770349" y="419467"/>
                </a:lnTo>
                <a:lnTo>
                  <a:pt x="708153" y="426352"/>
                </a:lnTo>
                <a:lnTo>
                  <a:pt x="643250" y="430601"/>
                </a:lnTo>
                <a:lnTo>
                  <a:pt x="576072" y="432053"/>
                </a:lnTo>
                <a:lnTo>
                  <a:pt x="508893" y="430601"/>
                </a:lnTo>
                <a:lnTo>
                  <a:pt x="443990" y="426352"/>
                </a:lnTo>
                <a:lnTo>
                  <a:pt x="381794" y="419467"/>
                </a:lnTo>
                <a:lnTo>
                  <a:pt x="322739" y="410109"/>
                </a:lnTo>
                <a:lnTo>
                  <a:pt x="267255" y="398438"/>
                </a:lnTo>
                <a:lnTo>
                  <a:pt x="215777" y="384617"/>
                </a:lnTo>
                <a:lnTo>
                  <a:pt x="168735" y="368807"/>
                </a:lnTo>
                <a:lnTo>
                  <a:pt x="126563" y="351170"/>
                </a:lnTo>
                <a:lnTo>
                  <a:pt x="89692" y="331868"/>
                </a:lnTo>
                <a:lnTo>
                  <a:pt x="33586" y="288912"/>
                </a:lnTo>
                <a:lnTo>
                  <a:pt x="3875" y="241233"/>
                </a:lnTo>
                <a:lnTo>
                  <a:pt x="0" y="216026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652384" y="3796665"/>
            <a:ext cx="6102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0" dirty="0">
                <a:latin typeface="Calibri"/>
                <a:cs typeface="Calibri"/>
              </a:rPr>
              <a:t>mCode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580126" y="2254885"/>
            <a:ext cx="292735" cy="635"/>
          </a:xfrm>
          <a:custGeom>
            <a:avLst/>
            <a:gdLst/>
            <a:ahLst/>
            <a:cxnLst/>
            <a:rect l="l" t="t" r="r" b="b"/>
            <a:pathLst>
              <a:path w="292735" h="635">
                <a:moveTo>
                  <a:pt x="292226" y="635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059423" y="1781555"/>
            <a:ext cx="168910" cy="207645"/>
          </a:xfrm>
          <a:custGeom>
            <a:avLst/>
            <a:gdLst/>
            <a:ahLst/>
            <a:cxnLst/>
            <a:rect l="l" t="t" r="r" b="b"/>
            <a:pathLst>
              <a:path w="168910" h="207644">
                <a:moveTo>
                  <a:pt x="0" y="0"/>
                </a:moveTo>
                <a:lnTo>
                  <a:pt x="168783" y="20726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732269" y="1781555"/>
            <a:ext cx="139065" cy="207645"/>
          </a:xfrm>
          <a:custGeom>
            <a:avLst/>
            <a:gdLst/>
            <a:ahLst/>
            <a:cxnLst/>
            <a:rect l="l" t="t" r="r" b="b"/>
            <a:pathLst>
              <a:path w="139065" h="207644">
                <a:moveTo>
                  <a:pt x="138810" y="0"/>
                </a:moveTo>
                <a:lnTo>
                  <a:pt x="0" y="20726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015353" y="2255392"/>
            <a:ext cx="293370" cy="635"/>
          </a:xfrm>
          <a:custGeom>
            <a:avLst/>
            <a:gdLst/>
            <a:ahLst/>
            <a:cxnLst/>
            <a:rect l="l" t="t" r="r" b="b"/>
            <a:pathLst>
              <a:path w="293370" h="635">
                <a:moveTo>
                  <a:pt x="0" y="127"/>
                </a:moveTo>
                <a:lnTo>
                  <a:pt x="29298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508116" y="3930650"/>
            <a:ext cx="288290" cy="1270"/>
          </a:xfrm>
          <a:custGeom>
            <a:avLst/>
            <a:gdLst/>
            <a:ahLst/>
            <a:cxnLst/>
            <a:rect l="l" t="t" r="r" b="b"/>
            <a:pathLst>
              <a:path w="288289" h="1270">
                <a:moveTo>
                  <a:pt x="0" y="0"/>
                </a:moveTo>
                <a:lnTo>
                  <a:pt x="288036" y="126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091553" y="3930650"/>
            <a:ext cx="288925" cy="1270"/>
          </a:xfrm>
          <a:custGeom>
            <a:avLst/>
            <a:gdLst/>
            <a:ahLst/>
            <a:cxnLst/>
            <a:rect l="l" t="t" r="r" b="b"/>
            <a:pathLst>
              <a:path w="288925" h="1270">
                <a:moveTo>
                  <a:pt x="0" y="1269"/>
                </a:moveTo>
                <a:lnTo>
                  <a:pt x="288798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443853" y="5875045"/>
            <a:ext cx="635" cy="290830"/>
          </a:xfrm>
          <a:custGeom>
            <a:avLst/>
            <a:gdLst/>
            <a:ahLst/>
            <a:cxnLst/>
            <a:rect l="l" t="t" r="r" b="b"/>
            <a:pathLst>
              <a:path w="635" h="290829">
                <a:moveTo>
                  <a:pt x="0" y="0"/>
                </a:moveTo>
                <a:lnTo>
                  <a:pt x="381" y="290258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169533" y="6286372"/>
            <a:ext cx="54991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r>
              <a:rPr sz="1600" spc="-5" dirty="0">
                <a:latin typeface="Calibri"/>
                <a:cs typeface="Calibri"/>
              </a:rPr>
              <a:t>mTi</a:t>
            </a:r>
            <a:r>
              <a:rPr sz="1600" dirty="0">
                <a:latin typeface="Calibri"/>
                <a:cs typeface="Calibri"/>
              </a:rPr>
              <a:t>t</a:t>
            </a:r>
            <a:r>
              <a:rPr sz="1600" spc="-5" dirty="0">
                <a:latin typeface="Calibri"/>
                <a:cs typeface="Calibri"/>
              </a:rPr>
              <a:t>le</a:t>
            </a:r>
            <a:endParaRPr sz="16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68026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19960">
              <a:lnSpc>
                <a:spcPct val="100000"/>
              </a:lnSpc>
            </a:pPr>
            <a:r>
              <a:rPr spc="-15" dirty="0"/>
              <a:t>Foreign</a:t>
            </a:r>
            <a:r>
              <a:rPr spc="-95" dirty="0"/>
              <a:t> </a:t>
            </a:r>
            <a:r>
              <a:rPr spc="-35" dirty="0"/>
              <a:t>Keys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80134"/>
            <a:ext cx="3742054" cy="4744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319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Foreign </a:t>
            </a:r>
            <a:r>
              <a:rPr sz="2800" spc="-30" dirty="0">
                <a:latin typeface="Calibri"/>
                <a:cs typeface="Calibri"/>
              </a:rPr>
              <a:t>Keys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also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ts val="3190"/>
              </a:lnSpc>
            </a:pPr>
            <a:r>
              <a:rPr sz="2800" spc="-10" dirty="0">
                <a:latin typeface="Calibri"/>
                <a:cs typeface="Calibri"/>
              </a:rPr>
              <a:t>defined </a:t>
            </a:r>
            <a:r>
              <a:rPr sz="2800" spc="-5" dirty="0">
                <a:latin typeface="Calibri"/>
                <a:cs typeface="Calibri"/>
              </a:rPr>
              <a:t>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constraints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75" dirty="0">
                <a:latin typeface="Calibri"/>
                <a:cs typeface="Calibri"/>
              </a:rPr>
              <a:t>You </a:t>
            </a:r>
            <a:r>
              <a:rPr sz="2800" spc="-10" dirty="0">
                <a:latin typeface="Calibri"/>
                <a:cs typeface="Calibri"/>
              </a:rPr>
              <a:t>need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provide</a:t>
            </a:r>
            <a:endParaRPr sz="2800">
              <a:latin typeface="Calibri"/>
              <a:cs typeface="Calibri"/>
            </a:endParaRPr>
          </a:p>
          <a:p>
            <a:pPr marL="756285" marR="5080" lvl="1" indent="-286385">
              <a:lnSpc>
                <a:spcPts val="2590"/>
              </a:lnSpc>
              <a:spcBef>
                <a:spcPts val="64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columns </a:t>
            </a:r>
            <a:r>
              <a:rPr sz="2400" dirty="0">
                <a:latin typeface="Calibri"/>
                <a:cs typeface="Calibri"/>
              </a:rPr>
              <a:t>which  </a:t>
            </a:r>
            <a:r>
              <a:rPr sz="2400" spc="-20" dirty="0">
                <a:latin typeface="Calibri"/>
                <a:cs typeface="Calibri"/>
              </a:rPr>
              <a:t>make </a:t>
            </a:r>
            <a:r>
              <a:rPr sz="2400" spc="-5" dirty="0">
                <a:latin typeface="Calibri"/>
                <a:cs typeface="Calibri"/>
              </a:rPr>
              <a:t>up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foreign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key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referenced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table</a:t>
            </a:r>
            <a:endParaRPr sz="2400">
              <a:latin typeface="Calibri"/>
              <a:cs typeface="Calibri"/>
            </a:endParaRPr>
          </a:p>
          <a:p>
            <a:pPr marL="756285" marR="133985" lvl="1" indent="-286385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columns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  </a:t>
            </a:r>
            <a:r>
              <a:rPr sz="2400" spc="-15" dirty="0">
                <a:latin typeface="Calibri"/>
                <a:cs typeface="Calibri"/>
              </a:rPr>
              <a:t>referenced </a:t>
            </a:r>
            <a:r>
              <a:rPr sz="2400" spc="-10" dirty="0">
                <a:latin typeface="Calibri"/>
                <a:cs typeface="Calibri"/>
              </a:rPr>
              <a:t>by </a:t>
            </a:r>
            <a:r>
              <a:rPr sz="2400" dirty="0">
                <a:latin typeface="Calibri"/>
                <a:cs typeface="Calibri"/>
              </a:rPr>
              <a:t>the  </a:t>
            </a:r>
            <a:r>
              <a:rPr sz="2400" spc="-15" dirty="0">
                <a:latin typeface="Calibri"/>
                <a:cs typeface="Calibri"/>
              </a:rPr>
              <a:t>foreign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key</a:t>
            </a:r>
            <a:endParaRPr sz="2400">
              <a:latin typeface="Calibri"/>
              <a:cs typeface="Calibri"/>
            </a:endParaRPr>
          </a:p>
          <a:p>
            <a:pPr marL="355600" marR="751840" indent="-342900" algn="just">
              <a:lnSpc>
                <a:spcPct val="90000"/>
              </a:lnSpc>
              <a:spcBef>
                <a:spcPts val="605"/>
              </a:spcBef>
              <a:buFont typeface="Arial"/>
              <a:buChar char="•"/>
              <a:tabLst>
                <a:tab pos="355600" algn="l"/>
              </a:tabLst>
            </a:pPr>
            <a:r>
              <a:rPr sz="2800" spc="-75" dirty="0">
                <a:latin typeface="Calibri"/>
                <a:cs typeface="Calibri"/>
              </a:rPr>
              <a:t>You </a:t>
            </a:r>
            <a:r>
              <a:rPr sz="2800" spc="-10" dirty="0">
                <a:latin typeface="Calibri"/>
                <a:cs typeface="Calibri"/>
              </a:rPr>
              <a:t>can optionally  </a:t>
            </a:r>
            <a:r>
              <a:rPr sz="2800" spc="-15" dirty="0">
                <a:latin typeface="Calibri"/>
                <a:cs typeface="Calibri"/>
              </a:rPr>
              <a:t>provide </a:t>
            </a:r>
            <a:r>
              <a:rPr sz="2800" spc="-25" dirty="0">
                <a:latin typeface="Calibri"/>
                <a:cs typeface="Calibri"/>
              </a:rPr>
              <a:t>reference  </a:t>
            </a:r>
            <a:r>
              <a:rPr sz="2800" spc="-10" dirty="0">
                <a:latin typeface="Calibri"/>
                <a:cs typeface="Calibri"/>
              </a:rPr>
              <a:t>options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7828" y="1582165"/>
            <a:ext cx="18516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CONSTRAINT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6460" y="1582165"/>
            <a:ext cx="7569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name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10709" y="1984502"/>
            <a:ext cx="1304290" cy="801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FOREIGN</a:t>
            </a:r>
            <a:endParaRPr sz="2400">
              <a:latin typeface="Courier New"/>
              <a:cs typeface="Courier New"/>
            </a:endParaRPr>
          </a:p>
          <a:p>
            <a:pPr marL="194945">
              <a:lnSpc>
                <a:spcPct val="100000"/>
              </a:lnSpc>
              <a:spcBef>
                <a:spcPts val="290"/>
              </a:spcBef>
            </a:pPr>
            <a:r>
              <a:rPr sz="2400" b="1" spc="-10" dirty="0">
                <a:latin typeface="Courier New"/>
                <a:cs typeface="Courier New"/>
              </a:rPr>
              <a:t>(col1,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0701" y="1984502"/>
            <a:ext cx="939800" cy="801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KEY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400" b="1" spc="-5" dirty="0">
                <a:latin typeface="Courier New"/>
                <a:cs typeface="Courier New"/>
              </a:rPr>
              <a:t>col2,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6457" y="2387219"/>
            <a:ext cx="75565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latin typeface="Courier New"/>
                <a:cs typeface="Courier New"/>
              </a:rPr>
              <a:t>.</a:t>
            </a:r>
            <a:r>
              <a:rPr sz="2400" b="1" spc="-5" dirty="0">
                <a:latin typeface="Courier New"/>
                <a:cs typeface="Courier New"/>
              </a:rPr>
              <a:t>..)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10709" y="2789554"/>
            <a:ext cx="2400935" cy="1203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REFERENCES</a:t>
            </a:r>
            <a:endParaRPr sz="2400">
              <a:latin typeface="Courier New"/>
              <a:cs typeface="Courier New"/>
            </a:endParaRPr>
          </a:p>
          <a:p>
            <a:pPr marL="194945">
              <a:lnSpc>
                <a:spcPct val="100000"/>
              </a:lnSpc>
              <a:spcBef>
                <a:spcPts val="285"/>
              </a:spcBef>
            </a:pPr>
            <a:r>
              <a:rPr sz="2400" b="1" spc="-10" dirty="0">
                <a:latin typeface="Courier New"/>
                <a:cs typeface="Courier New"/>
              </a:rPr>
              <a:t>table-name</a:t>
            </a:r>
            <a:endParaRPr sz="2400">
              <a:latin typeface="Courier New"/>
              <a:cs typeface="Courier New"/>
            </a:endParaRPr>
          </a:p>
          <a:p>
            <a:pPr marL="194945">
              <a:lnSpc>
                <a:spcPct val="100000"/>
              </a:lnSpc>
              <a:spcBef>
                <a:spcPts val="290"/>
              </a:spcBef>
            </a:pPr>
            <a:r>
              <a:rPr sz="2400" b="1" spc="-10" dirty="0">
                <a:latin typeface="Courier New"/>
                <a:cs typeface="Courier New"/>
              </a:rPr>
              <a:t>(col1,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col2,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66083" y="3594480"/>
            <a:ext cx="75628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latin typeface="Courier New"/>
                <a:cs typeface="Courier New"/>
              </a:rPr>
              <a:t>.</a:t>
            </a:r>
            <a:r>
              <a:rPr sz="2400" b="1" spc="-5" dirty="0">
                <a:latin typeface="Courier New"/>
                <a:cs typeface="Courier New"/>
              </a:rPr>
              <a:t>..)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10709" y="3960241"/>
            <a:ext cx="1668780" cy="837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0000"/>
              </a:lnSpc>
            </a:pPr>
            <a:r>
              <a:rPr sz="2400" b="1" spc="-5" dirty="0">
                <a:latin typeface="Courier New"/>
                <a:cs typeface="Courier New"/>
              </a:rPr>
              <a:t>ON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UPDATE  </a:t>
            </a:r>
            <a:r>
              <a:rPr sz="2400" b="1" spc="-5" dirty="0">
                <a:latin typeface="Courier New"/>
                <a:cs typeface="Courier New"/>
              </a:rPr>
              <a:t>ON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DELETE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36842" y="3960241"/>
            <a:ext cx="1303020" cy="837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0000"/>
              </a:lnSpc>
            </a:pPr>
            <a:r>
              <a:rPr sz="2400" b="1" spc="-5" dirty="0">
                <a:latin typeface="Courier New"/>
                <a:cs typeface="Courier New"/>
              </a:rPr>
              <a:t>ref</a:t>
            </a:r>
            <a:r>
              <a:rPr sz="2400" b="1" spc="-15" dirty="0">
                <a:latin typeface="Courier New"/>
                <a:cs typeface="Courier New"/>
              </a:rPr>
              <a:t>_o</a:t>
            </a:r>
            <a:r>
              <a:rPr sz="2400" b="1" spc="-5" dirty="0">
                <a:latin typeface="Courier New"/>
                <a:cs typeface="Courier New"/>
              </a:rPr>
              <a:t>pt  ref</a:t>
            </a:r>
            <a:r>
              <a:rPr sz="2400" b="1" spc="-15" dirty="0">
                <a:latin typeface="Courier New"/>
                <a:cs typeface="Courier New"/>
              </a:rPr>
              <a:t>_o</a:t>
            </a:r>
            <a:r>
              <a:rPr sz="2400" b="1" spc="-5" dirty="0">
                <a:latin typeface="Courier New"/>
                <a:cs typeface="Courier New"/>
              </a:rPr>
              <a:t>pt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70759" y="5204205"/>
            <a:ext cx="18516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RESTRICT</a:t>
            </a:r>
            <a:r>
              <a:rPr sz="2400" b="1" spc="-7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|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27828" y="5204205"/>
            <a:ext cx="1648460" cy="727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35"/>
              </a:lnSpc>
            </a:pPr>
            <a:r>
              <a:rPr sz="2400" b="1" spc="-5" dirty="0">
                <a:latin typeface="Courier New"/>
                <a:cs typeface="Courier New"/>
              </a:rPr>
              <a:t>ref_opt:</a:t>
            </a:r>
            <a:endParaRPr sz="2400">
              <a:latin typeface="Courier New"/>
              <a:cs typeface="Courier New"/>
            </a:endParaRPr>
          </a:p>
          <a:p>
            <a:pPr marL="355600">
              <a:lnSpc>
                <a:spcPts val="2735"/>
              </a:lnSpc>
            </a:pPr>
            <a:r>
              <a:rPr sz="2400" b="1" spc="-5" dirty="0">
                <a:latin typeface="Courier New"/>
                <a:cs typeface="Courier New"/>
              </a:rPr>
              <a:t>CASCADE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30720" y="5533338"/>
            <a:ext cx="9398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|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SET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28001" y="5533338"/>
            <a:ext cx="7543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latin typeface="Courier New"/>
                <a:cs typeface="Courier New"/>
              </a:rPr>
              <a:t>NU</a:t>
            </a:r>
            <a:r>
              <a:rPr sz="2400" b="1" spc="-5" dirty="0">
                <a:latin typeface="Courier New"/>
                <a:cs typeface="Courier New"/>
              </a:rPr>
              <a:t>LL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70728" y="5862523"/>
            <a:ext cx="9398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|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SET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68009" y="5862523"/>
            <a:ext cx="13030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DEFAULT</a:t>
            </a:r>
            <a:endParaRPr sz="24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657215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6520">
              <a:lnSpc>
                <a:spcPct val="100000"/>
              </a:lnSpc>
            </a:pPr>
            <a:r>
              <a:rPr spc="-5" dirty="0"/>
              <a:t>Set </a:t>
            </a:r>
            <a:r>
              <a:rPr spc="-15" dirty="0"/>
              <a:t>Default </a:t>
            </a:r>
            <a:r>
              <a:rPr spc="-5" dirty="0"/>
              <a:t>(Column</a:t>
            </a:r>
            <a:r>
              <a:rPr spc="-30" dirty="0"/>
              <a:t> </a:t>
            </a:r>
            <a:r>
              <a:rPr spc="-5" dirty="0"/>
              <a:t>Definition)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5345"/>
            <a:ext cx="3681095" cy="411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24765" indent="-342900">
              <a:lnSpc>
                <a:spcPct val="9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dirty="0">
                <a:latin typeface="Calibri"/>
                <a:cs typeface="Calibri"/>
              </a:rPr>
              <a:t>If </a:t>
            </a:r>
            <a:r>
              <a:rPr sz="2600" spc="-15" dirty="0">
                <a:latin typeface="Calibri"/>
                <a:cs typeface="Calibri"/>
              </a:rPr>
              <a:t>you </a:t>
            </a:r>
            <a:r>
              <a:rPr sz="2600" spc="-20" dirty="0">
                <a:latin typeface="Calibri"/>
                <a:cs typeface="Calibri"/>
              </a:rPr>
              <a:t>have </a:t>
            </a:r>
            <a:r>
              <a:rPr sz="2600" spc="-5" dirty="0">
                <a:latin typeface="Calibri"/>
                <a:cs typeface="Calibri"/>
              </a:rPr>
              <a:t>defined </a:t>
            </a:r>
            <a:r>
              <a:rPr sz="2600" dirty="0">
                <a:latin typeface="Calibri"/>
                <a:cs typeface="Calibri"/>
              </a:rPr>
              <a:t>a  </a:t>
            </a:r>
            <a:r>
              <a:rPr sz="2600" b="1" spc="-5" dirty="0">
                <a:latin typeface="Courier New"/>
                <a:cs typeface="Courier New"/>
              </a:rPr>
              <a:t>DEFAULT</a:t>
            </a:r>
            <a:r>
              <a:rPr sz="2600" b="1" spc="-994" dirty="0">
                <a:latin typeface="Courier New"/>
                <a:cs typeface="Courier New"/>
              </a:rPr>
              <a:t> </a:t>
            </a:r>
            <a:r>
              <a:rPr sz="2600" spc="-10" dirty="0">
                <a:latin typeface="Calibri"/>
                <a:cs typeface="Calibri"/>
              </a:rPr>
              <a:t>value </a:t>
            </a:r>
            <a:r>
              <a:rPr sz="2600" spc="-15" dirty="0">
                <a:latin typeface="Calibri"/>
                <a:cs typeface="Calibri"/>
              </a:rPr>
              <a:t>you </a:t>
            </a:r>
            <a:r>
              <a:rPr sz="2600" spc="-5" dirty="0">
                <a:latin typeface="Calibri"/>
                <a:cs typeface="Calibri"/>
              </a:rPr>
              <a:t>can  use </a:t>
            </a:r>
            <a:r>
              <a:rPr sz="2600" dirty="0">
                <a:latin typeface="Calibri"/>
                <a:cs typeface="Calibri"/>
              </a:rPr>
              <a:t>it with </a:t>
            </a:r>
            <a:r>
              <a:rPr sz="2600" spc="-20" dirty="0">
                <a:latin typeface="Calibri"/>
                <a:cs typeface="Calibri"/>
              </a:rPr>
              <a:t>referential  </a:t>
            </a:r>
            <a:r>
              <a:rPr sz="2600" spc="-5" dirty="0">
                <a:latin typeface="Calibri"/>
                <a:cs typeface="Calibri"/>
              </a:rPr>
              <a:t>integrity</a:t>
            </a:r>
            <a:endParaRPr sz="2600">
              <a:latin typeface="Calibri"/>
              <a:cs typeface="Calibri"/>
            </a:endParaRPr>
          </a:p>
          <a:p>
            <a:pPr marL="355600" marR="643890" indent="-342900">
              <a:lnSpc>
                <a:spcPct val="90000"/>
              </a:lnSpc>
              <a:spcBef>
                <a:spcPts val="6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dirty="0">
                <a:latin typeface="Calibri"/>
                <a:cs typeface="Calibri"/>
              </a:rPr>
              <a:t>When </a:t>
            </a:r>
            <a:r>
              <a:rPr sz="2600" spc="-10" dirty="0">
                <a:latin typeface="Calibri"/>
                <a:cs typeface="Calibri"/>
              </a:rPr>
              <a:t>relations are  updated,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referential  </a:t>
            </a:r>
            <a:r>
              <a:rPr sz="2600" spc="-5" dirty="0">
                <a:latin typeface="Calibri"/>
                <a:cs typeface="Calibri"/>
              </a:rPr>
              <a:t>integrity might be  </a:t>
            </a:r>
            <a:r>
              <a:rPr sz="2600" spc="-10" dirty="0">
                <a:latin typeface="Calibri"/>
                <a:cs typeface="Calibri"/>
              </a:rPr>
              <a:t>violated</a:t>
            </a:r>
            <a:endParaRPr sz="2600">
              <a:latin typeface="Calibri"/>
              <a:cs typeface="Calibri"/>
            </a:endParaRPr>
          </a:p>
          <a:p>
            <a:pPr marL="355600" marR="5080" indent="-342900">
              <a:lnSpc>
                <a:spcPct val="90000"/>
              </a:lnSpc>
              <a:spcBef>
                <a:spcPts val="6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spc="-5" dirty="0">
                <a:latin typeface="Calibri"/>
                <a:cs typeface="Calibri"/>
              </a:rPr>
              <a:t>This usually </a:t>
            </a:r>
            <a:r>
              <a:rPr sz="2600" spc="-10" dirty="0">
                <a:latin typeface="Calibri"/>
                <a:cs typeface="Calibri"/>
              </a:rPr>
              <a:t>occurs </a:t>
            </a:r>
            <a:r>
              <a:rPr sz="2600" dirty="0">
                <a:latin typeface="Calibri"/>
                <a:cs typeface="Calibri"/>
              </a:rPr>
              <a:t>when  a </a:t>
            </a:r>
            <a:r>
              <a:rPr sz="2600" spc="-20" dirty="0">
                <a:latin typeface="Calibri"/>
                <a:cs typeface="Calibri"/>
              </a:rPr>
              <a:t>referenced </a:t>
            </a:r>
            <a:r>
              <a:rPr sz="2600" dirty="0">
                <a:latin typeface="Calibri"/>
                <a:cs typeface="Calibri"/>
              </a:rPr>
              <a:t>tuple is  </a:t>
            </a:r>
            <a:r>
              <a:rPr sz="2600" spc="-10" dirty="0">
                <a:latin typeface="Calibri"/>
                <a:cs typeface="Calibri"/>
              </a:rPr>
              <a:t>updated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deleted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7828" y="1585721"/>
            <a:ext cx="3817620" cy="3768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2965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spc="-10" dirty="0">
                <a:latin typeface="Calibri"/>
                <a:cs typeface="Calibri"/>
              </a:rPr>
              <a:t>There are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number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</a:t>
            </a:r>
            <a:endParaRPr sz="2600">
              <a:latin typeface="Calibri"/>
              <a:cs typeface="Calibri"/>
            </a:endParaRPr>
          </a:p>
          <a:p>
            <a:pPr marL="318135" algn="ctr">
              <a:lnSpc>
                <a:spcPts val="2965"/>
              </a:lnSpc>
            </a:pPr>
            <a:r>
              <a:rPr sz="2600" spc="-5" dirty="0">
                <a:latin typeface="Calibri"/>
                <a:cs typeface="Calibri"/>
              </a:rPr>
              <a:t>options </a:t>
            </a:r>
            <a:r>
              <a:rPr sz="2600" dirty="0">
                <a:latin typeface="Calibri"/>
                <a:cs typeface="Calibri"/>
              </a:rPr>
              <a:t>when this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occurs:</a:t>
            </a:r>
            <a:endParaRPr sz="2600">
              <a:latin typeface="Calibri"/>
              <a:cs typeface="Calibri"/>
            </a:endParaRPr>
          </a:p>
          <a:p>
            <a:pPr marL="756285" marR="240029" lvl="1" indent="-286385">
              <a:lnSpc>
                <a:spcPts val="2380"/>
              </a:lnSpc>
              <a:spcBef>
                <a:spcPts val="590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RESTRICT </a:t>
            </a:r>
            <a:r>
              <a:rPr sz="2200" spc="-5" dirty="0">
                <a:latin typeface="Calibri"/>
                <a:cs typeface="Calibri"/>
              </a:rPr>
              <a:t>– </a:t>
            </a:r>
            <a:r>
              <a:rPr sz="2200" spc="-15" dirty="0">
                <a:latin typeface="Calibri"/>
                <a:cs typeface="Calibri"/>
              </a:rPr>
              <a:t>stop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user  </a:t>
            </a:r>
            <a:r>
              <a:rPr sz="2200" spc="-15" dirty="0">
                <a:latin typeface="Calibri"/>
                <a:cs typeface="Calibri"/>
              </a:rPr>
              <a:t>from </a:t>
            </a:r>
            <a:r>
              <a:rPr sz="2200" spc="-5" dirty="0">
                <a:latin typeface="Calibri"/>
                <a:cs typeface="Calibri"/>
              </a:rPr>
              <a:t>doing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it</a:t>
            </a:r>
            <a:endParaRPr sz="2200">
              <a:latin typeface="Calibri"/>
              <a:cs typeface="Calibri"/>
            </a:endParaRPr>
          </a:p>
          <a:p>
            <a:pPr marL="756285" marR="5080" lvl="1" indent="-286385">
              <a:lnSpc>
                <a:spcPts val="2380"/>
              </a:lnSpc>
              <a:spcBef>
                <a:spcPts val="52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latin typeface="Calibri"/>
                <a:cs typeface="Calibri"/>
              </a:rPr>
              <a:t>CASCADE – </a:t>
            </a:r>
            <a:r>
              <a:rPr sz="2200" spc="-10" dirty="0">
                <a:latin typeface="Calibri"/>
                <a:cs typeface="Calibri"/>
              </a:rPr>
              <a:t>let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changes  </a:t>
            </a:r>
            <a:r>
              <a:rPr sz="2200" spc="-5" dirty="0">
                <a:latin typeface="Calibri"/>
                <a:cs typeface="Calibri"/>
              </a:rPr>
              <a:t>flow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endParaRPr sz="2200">
              <a:latin typeface="Calibri"/>
              <a:cs typeface="Calibri"/>
            </a:endParaRPr>
          </a:p>
          <a:p>
            <a:pPr marL="756285" lvl="1" indent="-286385">
              <a:lnSpc>
                <a:spcPts val="2510"/>
              </a:lnSpc>
              <a:spcBef>
                <a:spcPts val="229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200" spc="-5" dirty="0">
                <a:latin typeface="Calibri"/>
                <a:cs typeface="Calibri"/>
              </a:rPr>
              <a:t>SET </a:t>
            </a:r>
            <a:r>
              <a:rPr sz="2200" spc="-10" dirty="0">
                <a:latin typeface="Calibri"/>
                <a:cs typeface="Calibri"/>
              </a:rPr>
              <a:t>NULL </a:t>
            </a:r>
            <a:r>
              <a:rPr sz="2200" spc="-5" dirty="0">
                <a:latin typeface="Calibri"/>
                <a:cs typeface="Calibri"/>
              </a:rPr>
              <a:t>–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make</a:t>
            </a:r>
            <a:endParaRPr sz="2200">
              <a:latin typeface="Calibri"/>
              <a:cs typeface="Calibri"/>
            </a:endParaRPr>
          </a:p>
          <a:p>
            <a:pPr marL="243204" algn="ctr">
              <a:lnSpc>
                <a:spcPts val="2510"/>
              </a:lnSpc>
            </a:pPr>
            <a:r>
              <a:rPr sz="2200" spc="-20" dirty="0">
                <a:latin typeface="Calibri"/>
                <a:cs typeface="Calibri"/>
              </a:rPr>
              <a:t>referencing </a:t>
            </a:r>
            <a:r>
              <a:rPr sz="2200" spc="-10" dirty="0">
                <a:latin typeface="Calibri"/>
                <a:cs typeface="Calibri"/>
              </a:rPr>
              <a:t>values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null</a:t>
            </a:r>
            <a:endParaRPr sz="2200">
              <a:latin typeface="Calibri"/>
              <a:cs typeface="Calibri"/>
            </a:endParaRPr>
          </a:p>
          <a:p>
            <a:pPr marL="756285" marR="357505" lvl="1" indent="-286385">
              <a:lnSpc>
                <a:spcPts val="2380"/>
              </a:lnSpc>
              <a:spcBef>
                <a:spcPts val="560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SET </a:t>
            </a:r>
            <a:r>
              <a:rPr sz="2200" spc="-50" dirty="0">
                <a:latin typeface="Calibri"/>
                <a:cs typeface="Calibri"/>
              </a:rPr>
              <a:t>DEFAULT </a:t>
            </a:r>
            <a:r>
              <a:rPr sz="2200" spc="-5" dirty="0">
                <a:latin typeface="Calibri"/>
                <a:cs typeface="Calibri"/>
              </a:rPr>
              <a:t>– </a:t>
            </a:r>
            <a:r>
              <a:rPr sz="2200" spc="-25" dirty="0">
                <a:latin typeface="Calibri"/>
                <a:cs typeface="Calibri"/>
              </a:rPr>
              <a:t>make  </a:t>
            </a:r>
            <a:r>
              <a:rPr sz="2200" spc="-20" dirty="0">
                <a:latin typeface="Calibri"/>
                <a:cs typeface="Calibri"/>
              </a:rPr>
              <a:t>referencing </a:t>
            </a:r>
            <a:r>
              <a:rPr sz="2200" spc="-10" dirty="0">
                <a:latin typeface="Calibri"/>
                <a:cs typeface="Calibri"/>
              </a:rPr>
              <a:t>values </a:t>
            </a:r>
            <a:r>
              <a:rPr sz="2200" spc="-5" dirty="0">
                <a:latin typeface="Calibri"/>
                <a:cs typeface="Calibri"/>
              </a:rPr>
              <a:t>the  </a:t>
            </a:r>
            <a:r>
              <a:rPr sz="2200" spc="-15" dirty="0">
                <a:latin typeface="Calibri"/>
                <a:cs typeface="Calibri"/>
              </a:rPr>
              <a:t>default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5" dirty="0">
                <a:latin typeface="Calibri"/>
                <a:cs typeface="Calibri"/>
              </a:rPr>
              <a:t>their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column</a:t>
            </a:r>
            <a:endParaRPr sz="2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40840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4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Referential Integrity Example 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30" name="Google Shape;430;p44"/>
          <p:cNvSpPr txBox="1">
            <a:spLocks noGrp="1"/>
          </p:cNvSpPr>
          <p:nvPr>
            <p:ph type="body" idx="4294967295"/>
          </p:nvPr>
        </p:nvSpPr>
        <p:spPr>
          <a:xfrm>
            <a:off x="685800" y="2362200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What happens if </a:t>
            </a:r>
            <a:endParaRPr sz="2400" b="0" i="0" u="none" strike="noStrike" cap="none" dirty="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• Marketing’s DID is changed to 16 in Department? 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• The entry for Accounts is deleted from Department </a:t>
            </a:r>
            <a:endParaRPr sz="2400" b="0" i="0" u="none" strike="noStrike" cap="none" dirty="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Using RESTRICT, CASCADE and SET NULL </a:t>
            </a:r>
            <a:endParaRPr dirty="0"/>
          </a:p>
          <a:p>
            <a:pPr marL="274320" marR="0" lvl="0" indent="-12192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274320" marR="0" lvl="0" indent="-12192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431" name="Google Shape;431;p44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410200" y="2209800"/>
            <a:ext cx="2060575" cy="1686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4496" y="4402836"/>
            <a:ext cx="3271982" cy="1981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81671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5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RESTRICT 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38" name="Google Shape;438;p45"/>
          <p:cNvSpPr txBox="1">
            <a:spLocks noGrp="1"/>
          </p:cNvSpPr>
          <p:nvPr>
            <p:ph type="body" idx="4294967295"/>
          </p:nvPr>
        </p:nvSpPr>
        <p:spPr>
          <a:xfrm>
            <a:off x="685800" y="2362200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What happens if </a:t>
            </a:r>
            <a:endParaRPr dirty="0"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• Marketing’s DID is changed to 16 in Department? </a:t>
            </a:r>
            <a:endParaRPr dirty="0"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• The entry for Accounts is deleted from Department </a:t>
            </a:r>
            <a:endParaRPr sz="2400" b="0" i="0" u="none" strike="noStrike" cap="none" dirty="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152400" indent="0">
              <a:spcBef>
                <a:spcPts val="480"/>
              </a:spcBef>
              <a:buClr>
                <a:schemeClr val="accent1"/>
              </a:buClr>
              <a:buSzPts val="2400"/>
              <a:buNone/>
            </a:pPr>
            <a:endParaRPr sz="2400" b="0" i="0" u="none" strike="noStrike" cap="none" dirty="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440" name="Google Shape;440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10200" y="2209800"/>
            <a:ext cx="2060575" cy="1686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4496" y="4145280"/>
            <a:ext cx="3271982" cy="1981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29185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6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RESTRICT 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47" name="Google Shape;447;p46"/>
          <p:cNvSpPr txBox="1">
            <a:spLocks noGrp="1"/>
          </p:cNvSpPr>
          <p:nvPr>
            <p:ph type="body" idx="4294967295"/>
          </p:nvPr>
        </p:nvSpPr>
        <p:spPr>
          <a:xfrm>
            <a:off x="676655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• RESTRICT stops any action that violates integrity 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You cannot update or delete Marketing or Accounts 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You can change Personnel as it is not referenced </a:t>
            </a:r>
            <a:endParaRPr dirty="0"/>
          </a:p>
          <a:p>
            <a:pPr marL="152400" indent="0">
              <a:lnSpc>
                <a:spcPct val="90000"/>
              </a:lnSpc>
              <a:spcBef>
                <a:spcPts val="480"/>
              </a:spcBef>
              <a:buClr>
                <a:schemeClr val="accent1"/>
              </a:buClr>
              <a:buSzPts val="2400"/>
              <a:buNone/>
            </a:pPr>
            <a:endParaRPr sz="2400" b="0" i="0" u="none" strike="noStrike" cap="none" dirty="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448" name="Google Shape;448;p46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156811" y="2679700"/>
            <a:ext cx="2799127" cy="34464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86065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7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CASCADE 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54" name="Google Shape;454;p47"/>
          <p:cNvSpPr txBox="1">
            <a:spLocks noGrp="1"/>
          </p:cNvSpPr>
          <p:nvPr>
            <p:ph type="body" idx="4294967295"/>
          </p:nvPr>
        </p:nvSpPr>
        <p:spPr>
          <a:xfrm>
            <a:off x="676655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What happens if </a:t>
            </a:r>
            <a:endParaRPr dirty="0"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• Marketing’s DID is changed to 16 in Department? </a:t>
            </a:r>
            <a:endParaRPr dirty="0"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• The entry for Accounts is deleted from Department </a:t>
            </a:r>
            <a:endParaRPr sz="2400" b="0" i="0" u="none" strike="noStrike" cap="none" dirty="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152400" indent="0">
              <a:spcBef>
                <a:spcPts val="480"/>
              </a:spcBef>
              <a:buClr>
                <a:schemeClr val="accent1"/>
              </a:buClr>
              <a:buSzPts val="2400"/>
              <a:buNone/>
            </a:pPr>
            <a:endParaRPr sz="2400" b="0" i="0" u="none" strike="noStrike" cap="none" dirty="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456" name="Google Shape;456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10200" y="2209800"/>
            <a:ext cx="2060575" cy="1686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4496" y="4145280"/>
            <a:ext cx="3271982" cy="1981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45196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8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CASCADE</a:t>
            </a:r>
            <a:endParaRPr sz="4400" b="0" i="0" u="none" strike="noStrike" cap="none" dirty="0">
              <a:solidFill>
                <a:srgbClr val="000000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63" name="Google Shape;463;p48"/>
          <p:cNvSpPr txBox="1">
            <a:spLocks noGrp="1"/>
          </p:cNvSpPr>
          <p:nvPr>
            <p:ph type="body" idx="4294967295"/>
          </p:nvPr>
        </p:nvSpPr>
        <p:spPr>
          <a:xfrm>
            <a:off x="676655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20"/>
              <a:buNone/>
            </a:pPr>
            <a:r>
              <a:rPr lang="en-US" sz="222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CASCADE allows the changes made to flow through 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accent1"/>
              </a:buClr>
              <a:buSzPts val="2220"/>
              <a:buNone/>
            </a:pPr>
            <a:r>
              <a:rPr lang="en-US" sz="2220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r>
              <a:rPr lang="en-US" sz="2220" dirty="0" smtClean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    </a:t>
            </a:r>
            <a:r>
              <a:rPr lang="en-US" sz="2220" b="0" i="0" u="none" strike="noStrike" cap="none" dirty="0" smtClean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If </a:t>
            </a:r>
            <a:r>
              <a:rPr lang="en-US" sz="222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Marketing’s DID is changed to 16 in Department, then the DIDs for John Smith and Mark Jones also change 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accent1"/>
              </a:buClr>
              <a:buSzPts val="2220"/>
              <a:buNone/>
            </a:pPr>
            <a:r>
              <a:rPr lang="en-US" sz="2220" b="0" i="0" u="none" strike="noStrike" cap="none" dirty="0" smtClean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     If </a:t>
            </a:r>
            <a:r>
              <a:rPr lang="en-US" sz="222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Accounts is deleted then so is Mary Brown </a:t>
            </a:r>
            <a:endParaRPr dirty="0"/>
          </a:p>
          <a:p>
            <a:pPr marL="140970" indent="0">
              <a:lnSpc>
                <a:spcPct val="90000"/>
              </a:lnSpc>
              <a:spcBef>
                <a:spcPts val="444"/>
              </a:spcBef>
              <a:buClr>
                <a:schemeClr val="accent1"/>
              </a:buClr>
              <a:buSzPts val="2220"/>
              <a:buNone/>
            </a:pPr>
            <a:endParaRPr sz="2220" b="0" i="0" u="none" strike="noStrike" cap="none" dirty="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464" name="Google Shape;464;p48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131168" y="2679700"/>
            <a:ext cx="2850413" cy="34464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1070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9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SET NULL </a:t>
            </a:r>
            <a:endParaRPr sz="4400" b="0" i="0" u="none" strike="noStrike" cap="none" dirty="0">
              <a:solidFill>
                <a:srgbClr val="000000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70" name="Google Shape;470;p49"/>
          <p:cNvSpPr txBox="1">
            <a:spLocks noGrp="1"/>
          </p:cNvSpPr>
          <p:nvPr>
            <p:ph type="body" idx="4294967295"/>
          </p:nvPr>
        </p:nvSpPr>
        <p:spPr>
          <a:xfrm>
            <a:off x="676655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What happens if </a:t>
            </a:r>
            <a:endParaRPr dirty="0"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• Marketing’s DID is changed to 16 in Department? </a:t>
            </a:r>
            <a:endParaRPr dirty="0"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• The entry for Accounts is deleted from Department </a:t>
            </a:r>
            <a:endParaRPr sz="2400" b="0" i="0" u="none" strike="noStrike" cap="none" dirty="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152400" indent="0">
              <a:spcBef>
                <a:spcPts val="480"/>
              </a:spcBef>
              <a:buClr>
                <a:schemeClr val="accent1"/>
              </a:buClr>
              <a:buSzPts val="2400"/>
              <a:buNone/>
            </a:pPr>
            <a:endParaRPr sz="2400" b="0" i="0" u="none" strike="noStrike" cap="none" dirty="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152400" indent="0">
              <a:spcBef>
                <a:spcPts val="480"/>
              </a:spcBef>
              <a:buClr>
                <a:schemeClr val="accent1"/>
              </a:buClr>
              <a:buSzPts val="2400"/>
              <a:buNone/>
            </a:pPr>
            <a:endParaRPr sz="2400" b="0" i="0" u="none" strike="noStrike" cap="none" dirty="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71" name="Google Shape;471;p49"/>
          <p:cNvSpPr txBox="1">
            <a:spLocks noGrp="1"/>
          </p:cNvSpPr>
          <p:nvPr>
            <p:ph type="body" idx="4294967295"/>
          </p:nvPr>
        </p:nvSpPr>
        <p:spPr>
          <a:xfrm>
            <a:off x="4645152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1219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472" name="Google Shape;47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10200" y="2209800"/>
            <a:ext cx="2060575" cy="1686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4496" y="4145280"/>
            <a:ext cx="3271982" cy="1981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16680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0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SET NULL 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79" name="Google Shape;479;p50"/>
          <p:cNvSpPr txBox="1">
            <a:spLocks noGrp="1"/>
          </p:cNvSpPr>
          <p:nvPr>
            <p:ph type="body" idx="4294967295"/>
          </p:nvPr>
        </p:nvSpPr>
        <p:spPr>
          <a:xfrm>
            <a:off x="676655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20"/>
              <a:buNone/>
            </a:pPr>
            <a:r>
              <a:rPr lang="en-US" sz="222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SET NULL allows the changes to happen but 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accent1"/>
              </a:buClr>
              <a:buSzPts val="2220"/>
              <a:buNone/>
            </a:pPr>
            <a:r>
              <a:rPr lang="en-US" sz="2220" b="0" i="0" u="none" strike="noStrike" cap="none" dirty="0" smtClean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    If </a:t>
            </a:r>
            <a:r>
              <a:rPr lang="en-US" sz="222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Marketing’s DID is changed to 16 in Department, then the DIDs for John Smith and Mark Jones is set to NULL 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accent1"/>
              </a:buClr>
              <a:buSzPts val="2220"/>
              <a:buNone/>
            </a:pPr>
            <a:r>
              <a:rPr lang="en-US" sz="2220" b="0" i="0" u="none" strike="noStrike" cap="none" dirty="0" smtClean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      If </a:t>
            </a:r>
            <a:r>
              <a:rPr lang="en-US" sz="222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Accounts is deleted then Mary Brown’s DID is set to NULL </a:t>
            </a:r>
            <a:endParaRPr dirty="0"/>
          </a:p>
          <a:p>
            <a:pPr marL="140970" indent="0">
              <a:lnSpc>
                <a:spcPct val="90000"/>
              </a:lnSpc>
              <a:spcBef>
                <a:spcPts val="444"/>
              </a:spcBef>
              <a:buClr>
                <a:schemeClr val="accent1"/>
              </a:buClr>
              <a:buSzPts val="2220"/>
              <a:buNone/>
            </a:pPr>
            <a:endParaRPr sz="2220" b="0" i="0" u="none" strike="noStrike" cap="none" dirty="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480" name="Google Shape;480;p50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039931" y="2679700"/>
            <a:ext cx="3032887" cy="34464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00397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83510">
              <a:lnSpc>
                <a:spcPct val="100000"/>
              </a:lnSpc>
            </a:pPr>
            <a:r>
              <a:rPr spc="-5" dirty="0"/>
              <a:t>E</a:t>
            </a:r>
            <a:r>
              <a:rPr spc="-85" dirty="0"/>
              <a:t>x</a:t>
            </a:r>
            <a:r>
              <a:rPr dirty="0"/>
              <a:t>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915414"/>
            <a:ext cx="3077845" cy="855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CREATE TABLE Enrolment</a:t>
            </a:r>
            <a:r>
              <a:rPr sz="1600" b="1" spc="-5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(</a:t>
            </a:r>
            <a:endParaRPr sz="1600">
              <a:latin typeface="Courier New"/>
              <a:cs typeface="Courier New"/>
            </a:endParaRPr>
          </a:p>
          <a:p>
            <a:pPr marL="255904">
              <a:lnSpc>
                <a:spcPct val="100000"/>
              </a:lnSpc>
              <a:spcBef>
                <a:spcPts val="385"/>
              </a:spcBef>
            </a:pPr>
            <a:r>
              <a:rPr sz="1600" b="1" spc="-5" dirty="0">
                <a:latin typeface="Courier New"/>
                <a:cs typeface="Courier New"/>
              </a:rPr>
              <a:t>sID </a:t>
            </a:r>
            <a:r>
              <a:rPr sz="1600" b="1" dirty="0">
                <a:latin typeface="Courier New"/>
                <a:cs typeface="Courier New"/>
              </a:rPr>
              <a:t>INT NOT</a:t>
            </a:r>
            <a:r>
              <a:rPr sz="1600" b="1" spc="-8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NULL,</a:t>
            </a:r>
            <a:endParaRPr sz="1600">
              <a:latin typeface="Courier New"/>
              <a:cs typeface="Courier New"/>
            </a:endParaRPr>
          </a:p>
          <a:p>
            <a:pPr marL="255904">
              <a:lnSpc>
                <a:spcPct val="100000"/>
              </a:lnSpc>
              <a:spcBef>
                <a:spcPts val="380"/>
              </a:spcBef>
            </a:pPr>
            <a:r>
              <a:rPr sz="1600" b="1" spc="-5" dirty="0">
                <a:latin typeface="Courier New"/>
                <a:cs typeface="Courier New"/>
              </a:rPr>
              <a:t>mCode CHAR(6) NOT</a:t>
            </a:r>
            <a:r>
              <a:rPr sz="1600" b="1" spc="-1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NULL,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9780" y="2793619"/>
            <a:ext cx="2709545" cy="562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... ADD PRIMARY</a:t>
            </a:r>
            <a:r>
              <a:rPr sz="1600" b="1" spc="-5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KEY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b="1" spc="-5" dirty="0">
                <a:latin typeface="Courier New"/>
                <a:cs typeface="Courier New"/>
              </a:rPr>
              <a:t>... AND 2 FOREIGN</a:t>
            </a:r>
            <a:r>
              <a:rPr sz="1600" b="1" spc="-4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KEYS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378834"/>
            <a:ext cx="26924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96153" y="3665220"/>
            <a:ext cx="1295400" cy="533400"/>
          </a:xfrm>
          <a:custGeom>
            <a:avLst/>
            <a:gdLst/>
            <a:ahLst/>
            <a:cxnLst/>
            <a:rect l="l" t="t" r="r" b="b"/>
            <a:pathLst>
              <a:path w="1295400" h="533400">
                <a:moveTo>
                  <a:pt x="0" y="88899"/>
                </a:moveTo>
                <a:lnTo>
                  <a:pt x="6979" y="54328"/>
                </a:lnTo>
                <a:lnTo>
                  <a:pt x="26019" y="26066"/>
                </a:lnTo>
                <a:lnTo>
                  <a:pt x="54274" y="6996"/>
                </a:lnTo>
                <a:lnTo>
                  <a:pt x="88900" y="0"/>
                </a:lnTo>
                <a:lnTo>
                  <a:pt x="1206500" y="0"/>
                </a:lnTo>
                <a:lnTo>
                  <a:pt x="1241071" y="6996"/>
                </a:lnTo>
                <a:lnTo>
                  <a:pt x="1269333" y="26066"/>
                </a:lnTo>
                <a:lnTo>
                  <a:pt x="1288403" y="54328"/>
                </a:lnTo>
                <a:lnTo>
                  <a:pt x="1295400" y="88899"/>
                </a:lnTo>
                <a:lnTo>
                  <a:pt x="1295400" y="444499"/>
                </a:lnTo>
                <a:lnTo>
                  <a:pt x="1288403" y="479125"/>
                </a:lnTo>
                <a:lnTo>
                  <a:pt x="1269333" y="507380"/>
                </a:lnTo>
                <a:lnTo>
                  <a:pt x="1241071" y="526420"/>
                </a:lnTo>
                <a:lnTo>
                  <a:pt x="1206500" y="533399"/>
                </a:lnTo>
                <a:lnTo>
                  <a:pt x="88900" y="533399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499"/>
                </a:lnTo>
                <a:lnTo>
                  <a:pt x="0" y="8889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891910" y="3764153"/>
            <a:ext cx="110553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Enrolment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72353" y="1988820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88900"/>
                </a:moveTo>
                <a:lnTo>
                  <a:pt x="6979" y="54328"/>
                </a:lnTo>
                <a:lnTo>
                  <a:pt x="26019" y="26066"/>
                </a:lnTo>
                <a:lnTo>
                  <a:pt x="54274" y="6996"/>
                </a:lnTo>
                <a:lnTo>
                  <a:pt x="88900" y="0"/>
                </a:lnTo>
                <a:lnTo>
                  <a:pt x="1054100" y="0"/>
                </a:lnTo>
                <a:lnTo>
                  <a:pt x="1088671" y="6996"/>
                </a:lnTo>
                <a:lnTo>
                  <a:pt x="1116933" y="26066"/>
                </a:lnTo>
                <a:lnTo>
                  <a:pt x="1136003" y="54328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03" y="479125"/>
                </a:lnTo>
                <a:lnTo>
                  <a:pt x="1116933" y="507380"/>
                </a:lnTo>
                <a:lnTo>
                  <a:pt x="1088671" y="526420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024498" y="2087498"/>
            <a:ext cx="83946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Stu</a:t>
            </a:r>
            <a:r>
              <a:rPr sz="2000" spc="5" dirty="0">
                <a:latin typeface="Calibri"/>
                <a:cs typeface="Calibri"/>
              </a:rPr>
              <a:t>d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2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72353" y="5341620"/>
            <a:ext cx="1143000" cy="534035"/>
          </a:xfrm>
          <a:custGeom>
            <a:avLst/>
            <a:gdLst/>
            <a:ahLst/>
            <a:cxnLst/>
            <a:rect l="l" t="t" r="r" b="b"/>
            <a:pathLst>
              <a:path w="1143000" h="534035">
                <a:moveTo>
                  <a:pt x="0" y="88899"/>
                </a:moveTo>
                <a:lnTo>
                  <a:pt x="6979" y="54328"/>
                </a:lnTo>
                <a:lnTo>
                  <a:pt x="26019" y="26066"/>
                </a:lnTo>
                <a:lnTo>
                  <a:pt x="54274" y="6996"/>
                </a:lnTo>
                <a:lnTo>
                  <a:pt x="88900" y="0"/>
                </a:lnTo>
                <a:lnTo>
                  <a:pt x="1054100" y="0"/>
                </a:lnTo>
                <a:lnTo>
                  <a:pt x="1088671" y="6996"/>
                </a:lnTo>
                <a:lnTo>
                  <a:pt x="1116933" y="26066"/>
                </a:lnTo>
                <a:lnTo>
                  <a:pt x="1136003" y="54328"/>
                </a:lnTo>
                <a:lnTo>
                  <a:pt x="1143000" y="88899"/>
                </a:lnTo>
                <a:lnTo>
                  <a:pt x="1143000" y="444512"/>
                </a:lnTo>
                <a:lnTo>
                  <a:pt x="1136003" y="479118"/>
                </a:lnTo>
                <a:lnTo>
                  <a:pt x="1116933" y="507380"/>
                </a:lnTo>
                <a:lnTo>
                  <a:pt x="1088671" y="526437"/>
                </a:lnTo>
                <a:lnTo>
                  <a:pt x="1054100" y="533425"/>
                </a:lnTo>
                <a:lnTo>
                  <a:pt x="88900" y="533425"/>
                </a:lnTo>
                <a:lnTo>
                  <a:pt x="54274" y="526437"/>
                </a:lnTo>
                <a:lnTo>
                  <a:pt x="26019" y="507380"/>
                </a:lnTo>
                <a:lnTo>
                  <a:pt x="6979" y="479118"/>
                </a:lnTo>
                <a:lnTo>
                  <a:pt x="0" y="444512"/>
                </a:lnTo>
                <a:lnTo>
                  <a:pt x="0" y="8889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029071" y="5440883"/>
            <a:ext cx="83058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Mod</a:t>
            </a:r>
            <a:r>
              <a:rPr sz="2000" spc="-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le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48553" y="4503420"/>
            <a:ext cx="990600" cy="533400"/>
          </a:xfrm>
          <a:custGeom>
            <a:avLst/>
            <a:gdLst/>
            <a:ahLst/>
            <a:cxnLst/>
            <a:rect l="l" t="t" r="r" b="b"/>
            <a:pathLst>
              <a:path w="990600" h="533400">
                <a:moveTo>
                  <a:pt x="0" y="266699"/>
                </a:moveTo>
                <a:lnTo>
                  <a:pt x="495300" y="0"/>
                </a:lnTo>
                <a:lnTo>
                  <a:pt x="990600" y="266699"/>
                </a:lnTo>
                <a:lnTo>
                  <a:pt x="495300" y="533399"/>
                </a:lnTo>
                <a:lnTo>
                  <a:pt x="0" y="26669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352794" y="4636389"/>
            <a:ext cx="18478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In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48553" y="2827020"/>
            <a:ext cx="990600" cy="533400"/>
          </a:xfrm>
          <a:custGeom>
            <a:avLst/>
            <a:gdLst/>
            <a:ahLst/>
            <a:cxnLst/>
            <a:rect l="l" t="t" r="r" b="b"/>
            <a:pathLst>
              <a:path w="990600" h="533400">
                <a:moveTo>
                  <a:pt x="0" y="266700"/>
                </a:moveTo>
                <a:lnTo>
                  <a:pt x="495300" y="0"/>
                </a:lnTo>
                <a:lnTo>
                  <a:pt x="990600" y="266700"/>
                </a:lnTo>
                <a:lnTo>
                  <a:pt x="495300" y="533400"/>
                </a:lnTo>
                <a:lnTo>
                  <a:pt x="0" y="2667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279641" y="2959734"/>
            <a:ext cx="32893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Has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443853" y="252222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443853" y="336042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43853" y="419862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443853" y="503682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329553" y="4198620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228600" y="0"/>
                </a:moveTo>
                <a:lnTo>
                  <a:pt x="222772" y="48182"/>
                </a:lnTo>
                <a:lnTo>
                  <a:pt x="206544" y="90019"/>
                </a:lnTo>
                <a:lnTo>
                  <a:pt x="181801" y="123005"/>
                </a:lnTo>
                <a:lnTo>
                  <a:pt x="150424" y="144633"/>
                </a:lnTo>
                <a:lnTo>
                  <a:pt x="114300" y="152399"/>
                </a:lnTo>
                <a:lnTo>
                  <a:pt x="78175" y="144647"/>
                </a:lnTo>
                <a:lnTo>
                  <a:pt x="46798" y="123057"/>
                </a:lnTo>
                <a:lnTo>
                  <a:pt x="22055" y="90129"/>
                </a:lnTo>
                <a:lnTo>
                  <a:pt x="5827" y="48361"/>
                </a:lnTo>
                <a:lnTo>
                  <a:pt x="0" y="25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29553" y="3512820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228600" y="152399"/>
                </a:moveTo>
                <a:lnTo>
                  <a:pt x="222772" y="104217"/>
                </a:lnTo>
                <a:lnTo>
                  <a:pt x="206544" y="62380"/>
                </a:lnTo>
                <a:lnTo>
                  <a:pt x="181801" y="29394"/>
                </a:lnTo>
                <a:lnTo>
                  <a:pt x="150424" y="7766"/>
                </a:lnTo>
                <a:lnTo>
                  <a:pt x="114300" y="0"/>
                </a:lnTo>
                <a:lnTo>
                  <a:pt x="78175" y="7765"/>
                </a:lnTo>
                <a:lnTo>
                  <a:pt x="46798" y="29386"/>
                </a:lnTo>
                <a:lnTo>
                  <a:pt x="22055" y="62352"/>
                </a:lnTo>
                <a:lnTo>
                  <a:pt x="5827" y="104152"/>
                </a:lnTo>
                <a:lnTo>
                  <a:pt x="0" y="15227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076063" y="1412747"/>
            <a:ext cx="1152525" cy="432434"/>
          </a:xfrm>
          <a:custGeom>
            <a:avLst/>
            <a:gdLst/>
            <a:ahLst/>
            <a:cxnLst/>
            <a:rect l="l" t="t" r="r" b="b"/>
            <a:pathLst>
              <a:path w="1152525" h="432435">
                <a:moveTo>
                  <a:pt x="0" y="216026"/>
                </a:moveTo>
                <a:lnTo>
                  <a:pt x="15215" y="166511"/>
                </a:lnTo>
                <a:lnTo>
                  <a:pt x="58556" y="121048"/>
                </a:lnTo>
                <a:lnTo>
                  <a:pt x="126563" y="80936"/>
                </a:lnTo>
                <a:lnTo>
                  <a:pt x="168735" y="63293"/>
                </a:lnTo>
                <a:lnTo>
                  <a:pt x="215777" y="47476"/>
                </a:lnTo>
                <a:lnTo>
                  <a:pt x="267255" y="33646"/>
                </a:lnTo>
                <a:lnTo>
                  <a:pt x="322739" y="21966"/>
                </a:lnTo>
                <a:lnTo>
                  <a:pt x="381794" y="12600"/>
                </a:lnTo>
                <a:lnTo>
                  <a:pt x="443990" y="5708"/>
                </a:lnTo>
                <a:lnTo>
                  <a:pt x="508893" y="1454"/>
                </a:lnTo>
                <a:lnTo>
                  <a:pt x="576072" y="0"/>
                </a:lnTo>
                <a:lnTo>
                  <a:pt x="643250" y="1454"/>
                </a:lnTo>
                <a:lnTo>
                  <a:pt x="708153" y="5708"/>
                </a:lnTo>
                <a:lnTo>
                  <a:pt x="770349" y="12600"/>
                </a:lnTo>
                <a:lnTo>
                  <a:pt x="829404" y="21966"/>
                </a:lnTo>
                <a:lnTo>
                  <a:pt x="884888" y="33646"/>
                </a:lnTo>
                <a:lnTo>
                  <a:pt x="936366" y="47476"/>
                </a:lnTo>
                <a:lnTo>
                  <a:pt x="983408" y="63293"/>
                </a:lnTo>
                <a:lnTo>
                  <a:pt x="1025580" y="80936"/>
                </a:lnTo>
                <a:lnTo>
                  <a:pt x="1062451" y="100242"/>
                </a:lnTo>
                <a:lnTo>
                  <a:pt x="1118557" y="143191"/>
                </a:lnTo>
                <a:lnTo>
                  <a:pt x="1148268" y="190843"/>
                </a:lnTo>
                <a:lnTo>
                  <a:pt x="1152144" y="216026"/>
                </a:lnTo>
                <a:lnTo>
                  <a:pt x="1148268" y="241233"/>
                </a:lnTo>
                <a:lnTo>
                  <a:pt x="1118557" y="288912"/>
                </a:lnTo>
                <a:lnTo>
                  <a:pt x="1062451" y="331868"/>
                </a:lnTo>
                <a:lnTo>
                  <a:pt x="1025580" y="351170"/>
                </a:lnTo>
                <a:lnTo>
                  <a:pt x="983408" y="368807"/>
                </a:lnTo>
                <a:lnTo>
                  <a:pt x="936366" y="384617"/>
                </a:lnTo>
                <a:lnTo>
                  <a:pt x="884888" y="398438"/>
                </a:lnTo>
                <a:lnTo>
                  <a:pt x="829404" y="410109"/>
                </a:lnTo>
                <a:lnTo>
                  <a:pt x="770349" y="419467"/>
                </a:lnTo>
                <a:lnTo>
                  <a:pt x="708153" y="426352"/>
                </a:lnTo>
                <a:lnTo>
                  <a:pt x="643250" y="430601"/>
                </a:lnTo>
                <a:lnTo>
                  <a:pt x="576072" y="432053"/>
                </a:lnTo>
                <a:lnTo>
                  <a:pt x="508893" y="430601"/>
                </a:lnTo>
                <a:lnTo>
                  <a:pt x="443990" y="426352"/>
                </a:lnTo>
                <a:lnTo>
                  <a:pt x="381794" y="419467"/>
                </a:lnTo>
                <a:lnTo>
                  <a:pt x="322739" y="410109"/>
                </a:lnTo>
                <a:lnTo>
                  <a:pt x="267255" y="398438"/>
                </a:lnTo>
                <a:lnTo>
                  <a:pt x="215777" y="384617"/>
                </a:lnTo>
                <a:lnTo>
                  <a:pt x="168735" y="368807"/>
                </a:lnTo>
                <a:lnTo>
                  <a:pt x="126563" y="351170"/>
                </a:lnTo>
                <a:lnTo>
                  <a:pt x="89692" y="331868"/>
                </a:lnTo>
                <a:lnTo>
                  <a:pt x="33586" y="288912"/>
                </a:lnTo>
                <a:lnTo>
                  <a:pt x="3875" y="241233"/>
                </a:lnTo>
                <a:lnTo>
                  <a:pt x="0" y="216026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355463" y="1494535"/>
            <a:ext cx="59563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sName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72000" y="2038857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11"/>
                </a:lnTo>
                <a:lnTo>
                  <a:pt x="59059" y="114439"/>
                </a:lnTo>
                <a:lnTo>
                  <a:pt x="90311" y="92574"/>
                </a:lnTo>
                <a:lnTo>
                  <a:pt x="127214" y="72526"/>
                </a:lnTo>
                <a:lnTo>
                  <a:pt x="169295" y="54495"/>
                </a:lnTo>
                <a:lnTo>
                  <a:pt x="216081" y="38685"/>
                </a:lnTo>
                <a:lnTo>
                  <a:pt x="267101" y="25296"/>
                </a:lnTo>
                <a:lnTo>
                  <a:pt x="321881" y="14532"/>
                </a:lnTo>
                <a:lnTo>
                  <a:pt x="379950" y="6593"/>
                </a:lnTo>
                <a:lnTo>
                  <a:pt x="440834" y="1681"/>
                </a:lnTo>
                <a:lnTo>
                  <a:pt x="504063" y="0"/>
                </a:lnTo>
                <a:lnTo>
                  <a:pt x="567291" y="1681"/>
                </a:lnTo>
                <a:lnTo>
                  <a:pt x="628175" y="6593"/>
                </a:lnTo>
                <a:lnTo>
                  <a:pt x="686244" y="14532"/>
                </a:lnTo>
                <a:lnTo>
                  <a:pt x="741024" y="25296"/>
                </a:lnTo>
                <a:lnTo>
                  <a:pt x="792044" y="38685"/>
                </a:lnTo>
                <a:lnTo>
                  <a:pt x="838830" y="54495"/>
                </a:lnTo>
                <a:lnTo>
                  <a:pt x="880911" y="72526"/>
                </a:lnTo>
                <a:lnTo>
                  <a:pt x="917814" y="92574"/>
                </a:lnTo>
                <a:lnTo>
                  <a:pt x="949066" y="114439"/>
                </a:lnTo>
                <a:lnTo>
                  <a:pt x="992731" y="162811"/>
                </a:lnTo>
                <a:lnTo>
                  <a:pt x="1008126" y="216026"/>
                </a:lnTo>
                <a:lnTo>
                  <a:pt x="1004198" y="243114"/>
                </a:lnTo>
                <a:lnTo>
                  <a:pt x="974196" y="294082"/>
                </a:lnTo>
                <a:lnTo>
                  <a:pt x="917814" y="339423"/>
                </a:lnTo>
                <a:lnTo>
                  <a:pt x="880911" y="359476"/>
                </a:lnTo>
                <a:lnTo>
                  <a:pt x="838830" y="377514"/>
                </a:lnTo>
                <a:lnTo>
                  <a:pt x="792044" y="393334"/>
                </a:lnTo>
                <a:lnTo>
                  <a:pt x="741024" y="406732"/>
                </a:lnTo>
                <a:lnTo>
                  <a:pt x="686244" y="417506"/>
                </a:lnTo>
                <a:lnTo>
                  <a:pt x="628175" y="425453"/>
                </a:lnTo>
                <a:lnTo>
                  <a:pt x="567291" y="430369"/>
                </a:lnTo>
                <a:lnTo>
                  <a:pt x="504063" y="432053"/>
                </a:lnTo>
                <a:lnTo>
                  <a:pt x="440834" y="430369"/>
                </a:lnTo>
                <a:lnTo>
                  <a:pt x="379950" y="425453"/>
                </a:lnTo>
                <a:lnTo>
                  <a:pt x="321881" y="417506"/>
                </a:lnTo>
                <a:lnTo>
                  <a:pt x="267101" y="406732"/>
                </a:lnTo>
                <a:lnTo>
                  <a:pt x="216081" y="393334"/>
                </a:lnTo>
                <a:lnTo>
                  <a:pt x="169295" y="377514"/>
                </a:lnTo>
                <a:lnTo>
                  <a:pt x="127214" y="359476"/>
                </a:lnTo>
                <a:lnTo>
                  <a:pt x="90311" y="339423"/>
                </a:lnTo>
                <a:lnTo>
                  <a:pt x="59059" y="317557"/>
                </a:lnTo>
                <a:lnTo>
                  <a:pt x="15394" y="269200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935473" y="2120646"/>
            <a:ext cx="28130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0" dirty="0">
                <a:latin typeface="Calibri"/>
                <a:cs typeface="Calibri"/>
              </a:rPr>
              <a:t>s</a:t>
            </a:r>
            <a:r>
              <a:rPr sz="1600" u="heavy" spc="-5" dirty="0"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660260" y="1412747"/>
            <a:ext cx="1440180" cy="432434"/>
          </a:xfrm>
          <a:custGeom>
            <a:avLst/>
            <a:gdLst/>
            <a:ahLst/>
            <a:cxnLst/>
            <a:rect l="l" t="t" r="r" b="b"/>
            <a:pathLst>
              <a:path w="1440179" h="432435">
                <a:moveTo>
                  <a:pt x="0" y="216026"/>
                </a:moveTo>
                <a:lnTo>
                  <a:pt x="12981" y="174992"/>
                </a:lnTo>
                <a:lnTo>
                  <a:pt x="50318" y="136549"/>
                </a:lnTo>
                <a:lnTo>
                  <a:pt x="109599" y="101425"/>
                </a:lnTo>
                <a:lnTo>
                  <a:pt x="146714" y="85335"/>
                </a:lnTo>
                <a:lnTo>
                  <a:pt x="188411" y="70346"/>
                </a:lnTo>
                <a:lnTo>
                  <a:pt x="234387" y="56550"/>
                </a:lnTo>
                <a:lnTo>
                  <a:pt x="284342" y="44037"/>
                </a:lnTo>
                <a:lnTo>
                  <a:pt x="337973" y="32898"/>
                </a:lnTo>
                <a:lnTo>
                  <a:pt x="394980" y="23224"/>
                </a:lnTo>
                <a:lnTo>
                  <a:pt x="455061" y="15105"/>
                </a:lnTo>
                <a:lnTo>
                  <a:pt x="517913" y="8632"/>
                </a:lnTo>
                <a:lnTo>
                  <a:pt x="583237" y="3897"/>
                </a:lnTo>
                <a:lnTo>
                  <a:pt x="650729" y="989"/>
                </a:lnTo>
                <a:lnTo>
                  <a:pt x="720090" y="0"/>
                </a:lnTo>
                <a:lnTo>
                  <a:pt x="789430" y="989"/>
                </a:lnTo>
                <a:lnTo>
                  <a:pt x="856908" y="3897"/>
                </a:lnTo>
                <a:lnTo>
                  <a:pt x="922220" y="8632"/>
                </a:lnTo>
                <a:lnTo>
                  <a:pt x="985066" y="15105"/>
                </a:lnTo>
                <a:lnTo>
                  <a:pt x="1045143" y="23224"/>
                </a:lnTo>
                <a:lnTo>
                  <a:pt x="1102149" y="32898"/>
                </a:lnTo>
                <a:lnTo>
                  <a:pt x="1155783" y="44037"/>
                </a:lnTo>
                <a:lnTo>
                  <a:pt x="1205741" y="56550"/>
                </a:lnTo>
                <a:lnTo>
                  <a:pt x="1251723" y="70346"/>
                </a:lnTo>
                <a:lnTo>
                  <a:pt x="1293427" y="85335"/>
                </a:lnTo>
                <a:lnTo>
                  <a:pt x="1330549" y="101425"/>
                </a:lnTo>
                <a:lnTo>
                  <a:pt x="1389844" y="136549"/>
                </a:lnTo>
                <a:lnTo>
                  <a:pt x="1427193" y="174992"/>
                </a:lnTo>
                <a:lnTo>
                  <a:pt x="1440180" y="216026"/>
                </a:lnTo>
                <a:lnTo>
                  <a:pt x="1436883" y="236843"/>
                </a:lnTo>
                <a:lnTo>
                  <a:pt x="1411413" y="276698"/>
                </a:lnTo>
                <a:lnTo>
                  <a:pt x="1362789" y="313582"/>
                </a:lnTo>
                <a:lnTo>
                  <a:pt x="1293427" y="346772"/>
                </a:lnTo>
                <a:lnTo>
                  <a:pt x="1251723" y="361757"/>
                </a:lnTo>
                <a:lnTo>
                  <a:pt x="1205741" y="375548"/>
                </a:lnTo>
                <a:lnTo>
                  <a:pt x="1155783" y="388054"/>
                </a:lnTo>
                <a:lnTo>
                  <a:pt x="1102149" y="399186"/>
                </a:lnTo>
                <a:lnTo>
                  <a:pt x="1045143" y="408853"/>
                </a:lnTo>
                <a:lnTo>
                  <a:pt x="985066" y="416964"/>
                </a:lnTo>
                <a:lnTo>
                  <a:pt x="922220" y="423430"/>
                </a:lnTo>
                <a:lnTo>
                  <a:pt x="856908" y="428161"/>
                </a:lnTo>
                <a:lnTo>
                  <a:pt x="789430" y="431065"/>
                </a:lnTo>
                <a:lnTo>
                  <a:pt x="720090" y="432053"/>
                </a:lnTo>
                <a:lnTo>
                  <a:pt x="650729" y="431065"/>
                </a:lnTo>
                <a:lnTo>
                  <a:pt x="583237" y="428161"/>
                </a:lnTo>
                <a:lnTo>
                  <a:pt x="517913" y="423430"/>
                </a:lnTo>
                <a:lnTo>
                  <a:pt x="455061" y="416964"/>
                </a:lnTo>
                <a:lnTo>
                  <a:pt x="394980" y="408853"/>
                </a:lnTo>
                <a:lnTo>
                  <a:pt x="337973" y="399186"/>
                </a:lnTo>
                <a:lnTo>
                  <a:pt x="284342" y="388054"/>
                </a:lnTo>
                <a:lnTo>
                  <a:pt x="234387" y="375548"/>
                </a:lnTo>
                <a:lnTo>
                  <a:pt x="188411" y="361757"/>
                </a:lnTo>
                <a:lnTo>
                  <a:pt x="146714" y="346772"/>
                </a:lnTo>
                <a:lnTo>
                  <a:pt x="109599" y="330684"/>
                </a:lnTo>
                <a:lnTo>
                  <a:pt x="50318" y="295556"/>
                </a:lnTo>
                <a:lnTo>
                  <a:pt x="12981" y="257096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000113" y="1494535"/>
            <a:ext cx="76200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sAddress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308342" y="2039366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53"/>
                </a:lnTo>
                <a:lnTo>
                  <a:pt x="59059" y="114496"/>
                </a:lnTo>
                <a:lnTo>
                  <a:pt x="90311" y="92630"/>
                </a:lnTo>
                <a:lnTo>
                  <a:pt x="127214" y="72577"/>
                </a:lnTo>
                <a:lnTo>
                  <a:pt x="169295" y="54539"/>
                </a:lnTo>
                <a:lnTo>
                  <a:pt x="216081" y="38719"/>
                </a:lnTo>
                <a:lnTo>
                  <a:pt x="267101" y="25321"/>
                </a:lnTo>
                <a:lnTo>
                  <a:pt x="321881" y="14547"/>
                </a:lnTo>
                <a:lnTo>
                  <a:pt x="379950" y="6600"/>
                </a:lnTo>
                <a:lnTo>
                  <a:pt x="440834" y="1684"/>
                </a:lnTo>
                <a:lnTo>
                  <a:pt x="504062" y="0"/>
                </a:lnTo>
                <a:lnTo>
                  <a:pt x="567291" y="1684"/>
                </a:lnTo>
                <a:lnTo>
                  <a:pt x="628175" y="6600"/>
                </a:lnTo>
                <a:lnTo>
                  <a:pt x="686244" y="14547"/>
                </a:lnTo>
                <a:lnTo>
                  <a:pt x="741024" y="25321"/>
                </a:lnTo>
                <a:lnTo>
                  <a:pt x="792044" y="38719"/>
                </a:lnTo>
                <a:lnTo>
                  <a:pt x="838830" y="54539"/>
                </a:lnTo>
                <a:lnTo>
                  <a:pt x="880911" y="72577"/>
                </a:lnTo>
                <a:lnTo>
                  <a:pt x="917814" y="92630"/>
                </a:lnTo>
                <a:lnTo>
                  <a:pt x="949066" y="114496"/>
                </a:lnTo>
                <a:lnTo>
                  <a:pt x="992731" y="162853"/>
                </a:lnTo>
                <a:lnTo>
                  <a:pt x="1008126" y="216026"/>
                </a:lnTo>
                <a:lnTo>
                  <a:pt x="1004198" y="243139"/>
                </a:lnTo>
                <a:lnTo>
                  <a:pt x="974196" y="294134"/>
                </a:lnTo>
                <a:lnTo>
                  <a:pt x="917814" y="339479"/>
                </a:lnTo>
                <a:lnTo>
                  <a:pt x="880911" y="359527"/>
                </a:lnTo>
                <a:lnTo>
                  <a:pt x="838830" y="377558"/>
                </a:lnTo>
                <a:lnTo>
                  <a:pt x="792044" y="393368"/>
                </a:lnTo>
                <a:lnTo>
                  <a:pt x="741024" y="406757"/>
                </a:lnTo>
                <a:lnTo>
                  <a:pt x="686244" y="417521"/>
                </a:lnTo>
                <a:lnTo>
                  <a:pt x="628175" y="425460"/>
                </a:lnTo>
                <a:lnTo>
                  <a:pt x="567291" y="430372"/>
                </a:lnTo>
                <a:lnTo>
                  <a:pt x="504062" y="432054"/>
                </a:lnTo>
                <a:lnTo>
                  <a:pt x="440834" y="430372"/>
                </a:lnTo>
                <a:lnTo>
                  <a:pt x="379950" y="425460"/>
                </a:lnTo>
                <a:lnTo>
                  <a:pt x="321881" y="417521"/>
                </a:lnTo>
                <a:lnTo>
                  <a:pt x="267101" y="406757"/>
                </a:lnTo>
                <a:lnTo>
                  <a:pt x="216081" y="393368"/>
                </a:lnTo>
                <a:lnTo>
                  <a:pt x="169295" y="377558"/>
                </a:lnTo>
                <a:lnTo>
                  <a:pt x="127214" y="359527"/>
                </a:lnTo>
                <a:lnTo>
                  <a:pt x="90311" y="339479"/>
                </a:lnTo>
                <a:lnTo>
                  <a:pt x="59059" y="317614"/>
                </a:lnTo>
                <a:lnTo>
                  <a:pt x="15394" y="269242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585075" y="2121153"/>
            <a:ext cx="45783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</a:t>
            </a:r>
            <a:r>
              <a:rPr sz="1600" spc="-125" dirty="0">
                <a:latin typeface="Calibri"/>
                <a:cs typeface="Calibri"/>
              </a:rPr>
              <a:t>Y</a:t>
            </a:r>
            <a:r>
              <a:rPr sz="1600" spc="-5" dirty="0">
                <a:latin typeface="Calibri"/>
                <a:cs typeface="Calibri"/>
              </a:rPr>
              <a:t>ear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427982" y="5392292"/>
            <a:ext cx="1152525" cy="432434"/>
          </a:xfrm>
          <a:custGeom>
            <a:avLst/>
            <a:gdLst/>
            <a:ahLst/>
            <a:cxnLst/>
            <a:rect l="l" t="t" r="r" b="b"/>
            <a:pathLst>
              <a:path w="1152525" h="432435">
                <a:moveTo>
                  <a:pt x="0" y="215988"/>
                </a:moveTo>
                <a:lnTo>
                  <a:pt x="15215" y="166447"/>
                </a:lnTo>
                <a:lnTo>
                  <a:pt x="58556" y="120978"/>
                </a:lnTo>
                <a:lnTo>
                  <a:pt x="126563" y="80875"/>
                </a:lnTo>
                <a:lnTo>
                  <a:pt x="168735" y="63241"/>
                </a:lnTo>
                <a:lnTo>
                  <a:pt x="215777" y="47433"/>
                </a:lnTo>
                <a:lnTo>
                  <a:pt x="267255" y="33613"/>
                </a:lnTo>
                <a:lnTo>
                  <a:pt x="322739" y="21943"/>
                </a:lnTo>
                <a:lnTo>
                  <a:pt x="381794" y="12585"/>
                </a:lnTo>
                <a:lnTo>
                  <a:pt x="443990" y="5701"/>
                </a:lnTo>
                <a:lnTo>
                  <a:pt x="508893" y="1452"/>
                </a:lnTo>
                <a:lnTo>
                  <a:pt x="576071" y="0"/>
                </a:lnTo>
                <a:lnTo>
                  <a:pt x="643250" y="1452"/>
                </a:lnTo>
                <a:lnTo>
                  <a:pt x="708153" y="5701"/>
                </a:lnTo>
                <a:lnTo>
                  <a:pt x="770349" y="12585"/>
                </a:lnTo>
                <a:lnTo>
                  <a:pt x="829404" y="21943"/>
                </a:lnTo>
                <a:lnTo>
                  <a:pt x="884888" y="33613"/>
                </a:lnTo>
                <a:lnTo>
                  <a:pt x="936366" y="47433"/>
                </a:lnTo>
                <a:lnTo>
                  <a:pt x="983408" y="63241"/>
                </a:lnTo>
                <a:lnTo>
                  <a:pt x="1025580" y="80875"/>
                </a:lnTo>
                <a:lnTo>
                  <a:pt x="1062451" y="100175"/>
                </a:lnTo>
                <a:lnTo>
                  <a:pt x="1118557" y="143123"/>
                </a:lnTo>
                <a:lnTo>
                  <a:pt x="1148268" y="190789"/>
                </a:lnTo>
                <a:lnTo>
                  <a:pt x="1152143" y="215988"/>
                </a:lnTo>
                <a:lnTo>
                  <a:pt x="1148268" y="241183"/>
                </a:lnTo>
                <a:lnTo>
                  <a:pt x="1118557" y="288849"/>
                </a:lnTo>
                <a:lnTo>
                  <a:pt x="1062451" y="331802"/>
                </a:lnTo>
                <a:lnTo>
                  <a:pt x="1025580" y="351106"/>
                </a:lnTo>
                <a:lnTo>
                  <a:pt x="983408" y="368746"/>
                </a:lnTo>
                <a:lnTo>
                  <a:pt x="936366" y="384559"/>
                </a:lnTo>
                <a:lnTo>
                  <a:pt x="884888" y="398385"/>
                </a:lnTo>
                <a:lnTo>
                  <a:pt x="829404" y="410060"/>
                </a:lnTo>
                <a:lnTo>
                  <a:pt x="770349" y="419422"/>
                </a:lnTo>
                <a:lnTo>
                  <a:pt x="708153" y="426310"/>
                </a:lnTo>
                <a:lnTo>
                  <a:pt x="643250" y="430562"/>
                </a:lnTo>
                <a:lnTo>
                  <a:pt x="576071" y="432015"/>
                </a:lnTo>
                <a:lnTo>
                  <a:pt x="508893" y="430562"/>
                </a:lnTo>
                <a:lnTo>
                  <a:pt x="443990" y="426310"/>
                </a:lnTo>
                <a:lnTo>
                  <a:pt x="381794" y="419422"/>
                </a:lnTo>
                <a:lnTo>
                  <a:pt x="322739" y="410060"/>
                </a:lnTo>
                <a:lnTo>
                  <a:pt x="267255" y="398385"/>
                </a:lnTo>
                <a:lnTo>
                  <a:pt x="215777" y="384559"/>
                </a:lnTo>
                <a:lnTo>
                  <a:pt x="168735" y="368746"/>
                </a:lnTo>
                <a:lnTo>
                  <a:pt x="126563" y="351106"/>
                </a:lnTo>
                <a:lnTo>
                  <a:pt x="89692" y="331802"/>
                </a:lnTo>
                <a:lnTo>
                  <a:pt x="33586" y="288849"/>
                </a:lnTo>
                <a:lnTo>
                  <a:pt x="3875" y="241183"/>
                </a:lnTo>
                <a:lnTo>
                  <a:pt x="0" y="215988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699761" y="5474919"/>
            <a:ext cx="6102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0" dirty="0">
                <a:latin typeface="Calibri"/>
                <a:cs typeface="Calibri"/>
              </a:rPr>
              <a:t>mCode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940171" y="6165303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4">
                <a:moveTo>
                  <a:pt x="0" y="216027"/>
                </a:moveTo>
                <a:lnTo>
                  <a:pt x="15394" y="162837"/>
                </a:lnTo>
                <a:lnTo>
                  <a:pt x="59059" y="114473"/>
                </a:lnTo>
                <a:lnTo>
                  <a:pt x="90311" y="92608"/>
                </a:lnTo>
                <a:lnTo>
                  <a:pt x="127214" y="72556"/>
                </a:lnTo>
                <a:lnTo>
                  <a:pt x="169295" y="54521"/>
                </a:lnTo>
                <a:lnTo>
                  <a:pt x="216081" y="38706"/>
                </a:lnTo>
                <a:lnTo>
                  <a:pt x="267101" y="25311"/>
                </a:lnTo>
                <a:lnTo>
                  <a:pt x="321881" y="14541"/>
                </a:lnTo>
                <a:lnTo>
                  <a:pt x="379950" y="6597"/>
                </a:lnTo>
                <a:lnTo>
                  <a:pt x="440834" y="1683"/>
                </a:lnTo>
                <a:lnTo>
                  <a:pt x="504063" y="0"/>
                </a:lnTo>
                <a:lnTo>
                  <a:pt x="567291" y="1683"/>
                </a:lnTo>
                <a:lnTo>
                  <a:pt x="628175" y="6597"/>
                </a:lnTo>
                <a:lnTo>
                  <a:pt x="686244" y="14541"/>
                </a:lnTo>
                <a:lnTo>
                  <a:pt x="741024" y="25311"/>
                </a:lnTo>
                <a:lnTo>
                  <a:pt x="792044" y="38706"/>
                </a:lnTo>
                <a:lnTo>
                  <a:pt x="838830" y="54521"/>
                </a:lnTo>
                <a:lnTo>
                  <a:pt x="880911" y="72556"/>
                </a:lnTo>
                <a:lnTo>
                  <a:pt x="917814" y="92608"/>
                </a:lnTo>
                <a:lnTo>
                  <a:pt x="949066" y="114473"/>
                </a:lnTo>
                <a:lnTo>
                  <a:pt x="992731" y="162837"/>
                </a:lnTo>
                <a:lnTo>
                  <a:pt x="1008126" y="216027"/>
                </a:lnTo>
                <a:lnTo>
                  <a:pt x="1004198" y="243124"/>
                </a:lnTo>
                <a:lnTo>
                  <a:pt x="974196" y="294103"/>
                </a:lnTo>
                <a:lnTo>
                  <a:pt x="917814" y="339445"/>
                </a:lnTo>
                <a:lnTo>
                  <a:pt x="880911" y="359497"/>
                </a:lnTo>
                <a:lnTo>
                  <a:pt x="838830" y="377532"/>
                </a:lnTo>
                <a:lnTo>
                  <a:pt x="792044" y="393347"/>
                </a:lnTo>
                <a:lnTo>
                  <a:pt x="741024" y="406742"/>
                </a:lnTo>
                <a:lnTo>
                  <a:pt x="686244" y="417512"/>
                </a:lnTo>
                <a:lnTo>
                  <a:pt x="628175" y="425456"/>
                </a:lnTo>
                <a:lnTo>
                  <a:pt x="567291" y="430370"/>
                </a:lnTo>
                <a:lnTo>
                  <a:pt x="504063" y="432054"/>
                </a:lnTo>
                <a:lnTo>
                  <a:pt x="440834" y="430370"/>
                </a:lnTo>
                <a:lnTo>
                  <a:pt x="379950" y="425456"/>
                </a:lnTo>
                <a:lnTo>
                  <a:pt x="321881" y="417512"/>
                </a:lnTo>
                <a:lnTo>
                  <a:pt x="267101" y="406742"/>
                </a:lnTo>
                <a:lnTo>
                  <a:pt x="216081" y="393347"/>
                </a:lnTo>
                <a:lnTo>
                  <a:pt x="169295" y="377532"/>
                </a:lnTo>
                <a:lnTo>
                  <a:pt x="127214" y="359497"/>
                </a:lnTo>
                <a:lnTo>
                  <a:pt x="90311" y="339445"/>
                </a:lnTo>
                <a:lnTo>
                  <a:pt x="59059" y="317580"/>
                </a:lnTo>
                <a:lnTo>
                  <a:pt x="15394" y="269216"/>
                </a:lnTo>
                <a:lnTo>
                  <a:pt x="0" y="21602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308342" y="5392292"/>
            <a:ext cx="1368425" cy="432434"/>
          </a:xfrm>
          <a:custGeom>
            <a:avLst/>
            <a:gdLst/>
            <a:ahLst/>
            <a:cxnLst/>
            <a:rect l="l" t="t" r="r" b="b"/>
            <a:pathLst>
              <a:path w="1368425" h="432435">
                <a:moveTo>
                  <a:pt x="0" y="215988"/>
                </a:moveTo>
                <a:lnTo>
                  <a:pt x="13894" y="172443"/>
                </a:lnTo>
                <a:lnTo>
                  <a:pt x="53746" y="131893"/>
                </a:lnTo>
                <a:lnTo>
                  <a:pt x="116807" y="95203"/>
                </a:lnTo>
                <a:lnTo>
                  <a:pt x="156181" y="78577"/>
                </a:lnTo>
                <a:lnTo>
                  <a:pt x="200326" y="63241"/>
                </a:lnTo>
                <a:lnTo>
                  <a:pt x="248899" y="49303"/>
                </a:lnTo>
                <a:lnTo>
                  <a:pt x="301556" y="36873"/>
                </a:lnTo>
                <a:lnTo>
                  <a:pt x="357954" y="26057"/>
                </a:lnTo>
                <a:lnTo>
                  <a:pt x="417748" y="16965"/>
                </a:lnTo>
                <a:lnTo>
                  <a:pt x="480596" y="9705"/>
                </a:lnTo>
                <a:lnTo>
                  <a:pt x="546153" y="4385"/>
                </a:lnTo>
                <a:lnTo>
                  <a:pt x="614076" y="1114"/>
                </a:lnTo>
                <a:lnTo>
                  <a:pt x="684022" y="0"/>
                </a:lnTo>
                <a:lnTo>
                  <a:pt x="753968" y="1114"/>
                </a:lnTo>
                <a:lnTo>
                  <a:pt x="821896" y="4385"/>
                </a:lnTo>
                <a:lnTo>
                  <a:pt x="887459" y="9705"/>
                </a:lnTo>
                <a:lnTo>
                  <a:pt x="950315" y="16965"/>
                </a:lnTo>
                <a:lnTo>
                  <a:pt x="1010119" y="26057"/>
                </a:lnTo>
                <a:lnTo>
                  <a:pt x="1066527" y="36873"/>
                </a:lnTo>
                <a:lnTo>
                  <a:pt x="1119195" y="49303"/>
                </a:lnTo>
                <a:lnTo>
                  <a:pt x="1167780" y="63241"/>
                </a:lnTo>
                <a:lnTo>
                  <a:pt x="1211938" y="78577"/>
                </a:lnTo>
                <a:lnTo>
                  <a:pt x="1251323" y="95203"/>
                </a:lnTo>
                <a:lnTo>
                  <a:pt x="1285593" y="113011"/>
                </a:lnTo>
                <a:lnTo>
                  <a:pt x="1337411" y="151740"/>
                </a:lnTo>
                <a:lnTo>
                  <a:pt x="1364638" y="193896"/>
                </a:lnTo>
                <a:lnTo>
                  <a:pt x="1368171" y="215988"/>
                </a:lnTo>
                <a:lnTo>
                  <a:pt x="1364638" y="238077"/>
                </a:lnTo>
                <a:lnTo>
                  <a:pt x="1337411" y="280231"/>
                </a:lnTo>
                <a:lnTo>
                  <a:pt x="1285593" y="318963"/>
                </a:lnTo>
                <a:lnTo>
                  <a:pt x="1251323" y="336775"/>
                </a:lnTo>
                <a:lnTo>
                  <a:pt x="1211938" y="353405"/>
                </a:lnTo>
                <a:lnTo>
                  <a:pt x="1167780" y="368746"/>
                </a:lnTo>
                <a:lnTo>
                  <a:pt x="1119195" y="382688"/>
                </a:lnTo>
                <a:lnTo>
                  <a:pt x="1066527" y="395124"/>
                </a:lnTo>
                <a:lnTo>
                  <a:pt x="1010119" y="405944"/>
                </a:lnTo>
                <a:lnTo>
                  <a:pt x="950315" y="415040"/>
                </a:lnTo>
                <a:lnTo>
                  <a:pt x="887459" y="422304"/>
                </a:lnTo>
                <a:lnTo>
                  <a:pt x="821896" y="427627"/>
                </a:lnTo>
                <a:lnTo>
                  <a:pt x="753968" y="430900"/>
                </a:lnTo>
                <a:lnTo>
                  <a:pt x="684022" y="432015"/>
                </a:lnTo>
                <a:lnTo>
                  <a:pt x="614076" y="430900"/>
                </a:lnTo>
                <a:lnTo>
                  <a:pt x="546153" y="427627"/>
                </a:lnTo>
                <a:lnTo>
                  <a:pt x="480596" y="422304"/>
                </a:lnTo>
                <a:lnTo>
                  <a:pt x="417748" y="415040"/>
                </a:lnTo>
                <a:lnTo>
                  <a:pt x="357954" y="405944"/>
                </a:lnTo>
                <a:lnTo>
                  <a:pt x="301556" y="395124"/>
                </a:lnTo>
                <a:lnTo>
                  <a:pt x="248899" y="382688"/>
                </a:lnTo>
                <a:lnTo>
                  <a:pt x="200326" y="368746"/>
                </a:lnTo>
                <a:lnTo>
                  <a:pt x="156181" y="353405"/>
                </a:lnTo>
                <a:lnTo>
                  <a:pt x="116807" y="336775"/>
                </a:lnTo>
                <a:lnTo>
                  <a:pt x="82547" y="318963"/>
                </a:lnTo>
                <a:lnTo>
                  <a:pt x="30747" y="280231"/>
                </a:lnTo>
                <a:lnTo>
                  <a:pt x="3530" y="238077"/>
                </a:lnTo>
                <a:lnTo>
                  <a:pt x="0" y="215988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611618" y="5474919"/>
            <a:ext cx="76454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mCredits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499990" y="3714622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53"/>
                </a:lnTo>
                <a:lnTo>
                  <a:pt x="59059" y="114496"/>
                </a:lnTo>
                <a:lnTo>
                  <a:pt x="90311" y="92630"/>
                </a:lnTo>
                <a:lnTo>
                  <a:pt x="127214" y="72577"/>
                </a:lnTo>
                <a:lnTo>
                  <a:pt x="169295" y="54539"/>
                </a:lnTo>
                <a:lnTo>
                  <a:pt x="216081" y="38719"/>
                </a:lnTo>
                <a:lnTo>
                  <a:pt x="267101" y="25321"/>
                </a:lnTo>
                <a:lnTo>
                  <a:pt x="321881" y="14547"/>
                </a:lnTo>
                <a:lnTo>
                  <a:pt x="379950" y="6600"/>
                </a:lnTo>
                <a:lnTo>
                  <a:pt x="440834" y="1684"/>
                </a:lnTo>
                <a:lnTo>
                  <a:pt x="504063" y="0"/>
                </a:lnTo>
                <a:lnTo>
                  <a:pt x="567291" y="1684"/>
                </a:lnTo>
                <a:lnTo>
                  <a:pt x="628175" y="6600"/>
                </a:lnTo>
                <a:lnTo>
                  <a:pt x="686244" y="14547"/>
                </a:lnTo>
                <a:lnTo>
                  <a:pt x="741024" y="25321"/>
                </a:lnTo>
                <a:lnTo>
                  <a:pt x="792044" y="38719"/>
                </a:lnTo>
                <a:lnTo>
                  <a:pt x="838830" y="54539"/>
                </a:lnTo>
                <a:lnTo>
                  <a:pt x="880911" y="72577"/>
                </a:lnTo>
                <a:lnTo>
                  <a:pt x="917814" y="92630"/>
                </a:lnTo>
                <a:lnTo>
                  <a:pt x="949066" y="114496"/>
                </a:lnTo>
                <a:lnTo>
                  <a:pt x="992731" y="162853"/>
                </a:lnTo>
                <a:lnTo>
                  <a:pt x="1008126" y="216026"/>
                </a:lnTo>
                <a:lnTo>
                  <a:pt x="1004198" y="243139"/>
                </a:lnTo>
                <a:lnTo>
                  <a:pt x="974196" y="294134"/>
                </a:lnTo>
                <a:lnTo>
                  <a:pt x="917814" y="339479"/>
                </a:lnTo>
                <a:lnTo>
                  <a:pt x="880911" y="359527"/>
                </a:lnTo>
                <a:lnTo>
                  <a:pt x="838830" y="377558"/>
                </a:lnTo>
                <a:lnTo>
                  <a:pt x="792044" y="393368"/>
                </a:lnTo>
                <a:lnTo>
                  <a:pt x="741024" y="406757"/>
                </a:lnTo>
                <a:lnTo>
                  <a:pt x="686244" y="417521"/>
                </a:lnTo>
                <a:lnTo>
                  <a:pt x="628175" y="425460"/>
                </a:lnTo>
                <a:lnTo>
                  <a:pt x="567291" y="430372"/>
                </a:lnTo>
                <a:lnTo>
                  <a:pt x="504063" y="432053"/>
                </a:lnTo>
                <a:lnTo>
                  <a:pt x="440834" y="430372"/>
                </a:lnTo>
                <a:lnTo>
                  <a:pt x="379950" y="425460"/>
                </a:lnTo>
                <a:lnTo>
                  <a:pt x="321881" y="417521"/>
                </a:lnTo>
                <a:lnTo>
                  <a:pt x="267101" y="406757"/>
                </a:lnTo>
                <a:lnTo>
                  <a:pt x="216081" y="393368"/>
                </a:lnTo>
                <a:lnTo>
                  <a:pt x="169295" y="377558"/>
                </a:lnTo>
                <a:lnTo>
                  <a:pt x="127214" y="359527"/>
                </a:lnTo>
                <a:lnTo>
                  <a:pt x="90311" y="339479"/>
                </a:lnTo>
                <a:lnTo>
                  <a:pt x="59059" y="317614"/>
                </a:lnTo>
                <a:lnTo>
                  <a:pt x="15394" y="269242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863210" y="3796665"/>
            <a:ext cx="28130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0" dirty="0">
                <a:latin typeface="Calibri"/>
                <a:cs typeface="Calibri"/>
              </a:rPr>
              <a:t>sID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380351" y="3714622"/>
            <a:ext cx="1152525" cy="432434"/>
          </a:xfrm>
          <a:custGeom>
            <a:avLst/>
            <a:gdLst/>
            <a:ahLst/>
            <a:cxnLst/>
            <a:rect l="l" t="t" r="r" b="b"/>
            <a:pathLst>
              <a:path w="1152525" h="432435">
                <a:moveTo>
                  <a:pt x="0" y="216026"/>
                </a:moveTo>
                <a:lnTo>
                  <a:pt x="15215" y="166511"/>
                </a:lnTo>
                <a:lnTo>
                  <a:pt x="58556" y="121048"/>
                </a:lnTo>
                <a:lnTo>
                  <a:pt x="126563" y="80936"/>
                </a:lnTo>
                <a:lnTo>
                  <a:pt x="168735" y="63293"/>
                </a:lnTo>
                <a:lnTo>
                  <a:pt x="215777" y="47476"/>
                </a:lnTo>
                <a:lnTo>
                  <a:pt x="267255" y="33646"/>
                </a:lnTo>
                <a:lnTo>
                  <a:pt x="322739" y="21966"/>
                </a:lnTo>
                <a:lnTo>
                  <a:pt x="381794" y="12600"/>
                </a:lnTo>
                <a:lnTo>
                  <a:pt x="443990" y="5708"/>
                </a:lnTo>
                <a:lnTo>
                  <a:pt x="508893" y="1454"/>
                </a:lnTo>
                <a:lnTo>
                  <a:pt x="576072" y="0"/>
                </a:lnTo>
                <a:lnTo>
                  <a:pt x="643250" y="1454"/>
                </a:lnTo>
                <a:lnTo>
                  <a:pt x="708153" y="5708"/>
                </a:lnTo>
                <a:lnTo>
                  <a:pt x="770349" y="12600"/>
                </a:lnTo>
                <a:lnTo>
                  <a:pt x="829404" y="21966"/>
                </a:lnTo>
                <a:lnTo>
                  <a:pt x="884888" y="33646"/>
                </a:lnTo>
                <a:lnTo>
                  <a:pt x="936366" y="47476"/>
                </a:lnTo>
                <a:lnTo>
                  <a:pt x="983408" y="63293"/>
                </a:lnTo>
                <a:lnTo>
                  <a:pt x="1025580" y="80936"/>
                </a:lnTo>
                <a:lnTo>
                  <a:pt x="1062451" y="100242"/>
                </a:lnTo>
                <a:lnTo>
                  <a:pt x="1118557" y="143191"/>
                </a:lnTo>
                <a:lnTo>
                  <a:pt x="1148268" y="190843"/>
                </a:lnTo>
                <a:lnTo>
                  <a:pt x="1152144" y="216026"/>
                </a:lnTo>
                <a:lnTo>
                  <a:pt x="1148268" y="241233"/>
                </a:lnTo>
                <a:lnTo>
                  <a:pt x="1118557" y="288912"/>
                </a:lnTo>
                <a:lnTo>
                  <a:pt x="1062451" y="331868"/>
                </a:lnTo>
                <a:lnTo>
                  <a:pt x="1025580" y="351170"/>
                </a:lnTo>
                <a:lnTo>
                  <a:pt x="983408" y="368807"/>
                </a:lnTo>
                <a:lnTo>
                  <a:pt x="936366" y="384617"/>
                </a:lnTo>
                <a:lnTo>
                  <a:pt x="884888" y="398438"/>
                </a:lnTo>
                <a:lnTo>
                  <a:pt x="829404" y="410109"/>
                </a:lnTo>
                <a:lnTo>
                  <a:pt x="770349" y="419467"/>
                </a:lnTo>
                <a:lnTo>
                  <a:pt x="708153" y="426352"/>
                </a:lnTo>
                <a:lnTo>
                  <a:pt x="643250" y="430601"/>
                </a:lnTo>
                <a:lnTo>
                  <a:pt x="576072" y="432053"/>
                </a:lnTo>
                <a:lnTo>
                  <a:pt x="508893" y="430601"/>
                </a:lnTo>
                <a:lnTo>
                  <a:pt x="443990" y="426352"/>
                </a:lnTo>
                <a:lnTo>
                  <a:pt x="381794" y="419467"/>
                </a:lnTo>
                <a:lnTo>
                  <a:pt x="322739" y="410109"/>
                </a:lnTo>
                <a:lnTo>
                  <a:pt x="267255" y="398438"/>
                </a:lnTo>
                <a:lnTo>
                  <a:pt x="215777" y="384617"/>
                </a:lnTo>
                <a:lnTo>
                  <a:pt x="168735" y="368807"/>
                </a:lnTo>
                <a:lnTo>
                  <a:pt x="126563" y="351170"/>
                </a:lnTo>
                <a:lnTo>
                  <a:pt x="89692" y="331868"/>
                </a:lnTo>
                <a:lnTo>
                  <a:pt x="33586" y="288912"/>
                </a:lnTo>
                <a:lnTo>
                  <a:pt x="3875" y="241233"/>
                </a:lnTo>
                <a:lnTo>
                  <a:pt x="0" y="216026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652384" y="3796665"/>
            <a:ext cx="6102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0" dirty="0">
                <a:latin typeface="Calibri"/>
                <a:cs typeface="Calibri"/>
              </a:rPr>
              <a:t>mCode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580126" y="2254885"/>
            <a:ext cx="292735" cy="635"/>
          </a:xfrm>
          <a:custGeom>
            <a:avLst/>
            <a:gdLst/>
            <a:ahLst/>
            <a:cxnLst/>
            <a:rect l="l" t="t" r="r" b="b"/>
            <a:pathLst>
              <a:path w="292735" h="635">
                <a:moveTo>
                  <a:pt x="292226" y="635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059423" y="1781555"/>
            <a:ext cx="168910" cy="207645"/>
          </a:xfrm>
          <a:custGeom>
            <a:avLst/>
            <a:gdLst/>
            <a:ahLst/>
            <a:cxnLst/>
            <a:rect l="l" t="t" r="r" b="b"/>
            <a:pathLst>
              <a:path w="168910" h="207644">
                <a:moveTo>
                  <a:pt x="0" y="0"/>
                </a:moveTo>
                <a:lnTo>
                  <a:pt x="168783" y="20726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732269" y="1781555"/>
            <a:ext cx="139065" cy="207645"/>
          </a:xfrm>
          <a:custGeom>
            <a:avLst/>
            <a:gdLst/>
            <a:ahLst/>
            <a:cxnLst/>
            <a:rect l="l" t="t" r="r" b="b"/>
            <a:pathLst>
              <a:path w="139065" h="207644">
                <a:moveTo>
                  <a:pt x="138810" y="0"/>
                </a:moveTo>
                <a:lnTo>
                  <a:pt x="0" y="20726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015353" y="2255392"/>
            <a:ext cx="293370" cy="635"/>
          </a:xfrm>
          <a:custGeom>
            <a:avLst/>
            <a:gdLst/>
            <a:ahLst/>
            <a:cxnLst/>
            <a:rect l="l" t="t" r="r" b="b"/>
            <a:pathLst>
              <a:path w="293370" h="635">
                <a:moveTo>
                  <a:pt x="0" y="127"/>
                </a:moveTo>
                <a:lnTo>
                  <a:pt x="29298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508116" y="3930650"/>
            <a:ext cx="288290" cy="1270"/>
          </a:xfrm>
          <a:custGeom>
            <a:avLst/>
            <a:gdLst/>
            <a:ahLst/>
            <a:cxnLst/>
            <a:rect l="l" t="t" r="r" b="b"/>
            <a:pathLst>
              <a:path w="288289" h="1270">
                <a:moveTo>
                  <a:pt x="0" y="0"/>
                </a:moveTo>
                <a:lnTo>
                  <a:pt x="288036" y="126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091553" y="3930650"/>
            <a:ext cx="288925" cy="1270"/>
          </a:xfrm>
          <a:custGeom>
            <a:avLst/>
            <a:gdLst/>
            <a:ahLst/>
            <a:cxnLst/>
            <a:rect l="l" t="t" r="r" b="b"/>
            <a:pathLst>
              <a:path w="288925" h="1270">
                <a:moveTo>
                  <a:pt x="0" y="1269"/>
                </a:moveTo>
                <a:lnTo>
                  <a:pt x="288798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580126" y="5608281"/>
            <a:ext cx="292735" cy="635"/>
          </a:xfrm>
          <a:custGeom>
            <a:avLst/>
            <a:gdLst/>
            <a:ahLst/>
            <a:cxnLst/>
            <a:rect l="l" t="t" r="r" b="b"/>
            <a:pathLst>
              <a:path w="292735" h="635">
                <a:moveTo>
                  <a:pt x="0" y="0"/>
                </a:moveTo>
                <a:lnTo>
                  <a:pt x="292226" y="6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015353" y="5608281"/>
            <a:ext cx="293370" cy="635"/>
          </a:xfrm>
          <a:custGeom>
            <a:avLst/>
            <a:gdLst/>
            <a:ahLst/>
            <a:cxnLst/>
            <a:rect l="l" t="t" r="r" b="b"/>
            <a:pathLst>
              <a:path w="293370" h="635">
                <a:moveTo>
                  <a:pt x="0" y="63"/>
                </a:moveTo>
                <a:lnTo>
                  <a:pt x="29298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443853" y="5875045"/>
            <a:ext cx="635" cy="290830"/>
          </a:xfrm>
          <a:custGeom>
            <a:avLst/>
            <a:gdLst/>
            <a:ahLst/>
            <a:cxnLst/>
            <a:rect l="l" t="t" r="r" b="b"/>
            <a:pathLst>
              <a:path w="635" h="290829">
                <a:moveTo>
                  <a:pt x="0" y="0"/>
                </a:moveTo>
                <a:lnTo>
                  <a:pt x="381" y="290258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6169533" y="6286372"/>
            <a:ext cx="54991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r>
              <a:rPr sz="1600" spc="-5" dirty="0">
                <a:latin typeface="Calibri"/>
                <a:cs typeface="Calibri"/>
              </a:rPr>
              <a:t>mTi</a:t>
            </a:r>
            <a:r>
              <a:rPr sz="1600" dirty="0">
                <a:latin typeface="Calibri"/>
                <a:cs typeface="Calibri"/>
              </a:rPr>
              <a:t>t</a:t>
            </a:r>
            <a:r>
              <a:rPr sz="1600" spc="-5" dirty="0">
                <a:latin typeface="Calibri"/>
                <a:cs typeface="Calibri"/>
              </a:rPr>
              <a:t>le</a:t>
            </a:r>
            <a:endParaRPr sz="16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68680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83510">
              <a:lnSpc>
                <a:spcPct val="100000"/>
              </a:lnSpc>
            </a:pPr>
            <a:r>
              <a:rPr spc="-5" dirty="0"/>
              <a:t>E</a:t>
            </a:r>
            <a:r>
              <a:rPr spc="-85" dirty="0"/>
              <a:t>x</a:t>
            </a:r>
            <a:r>
              <a:rPr dirty="0"/>
              <a:t>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6728"/>
            <a:ext cx="3578860" cy="41230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 marR="619760" indent="-243840">
              <a:lnSpc>
                <a:spcPct val="120000"/>
              </a:lnSpc>
            </a:pPr>
            <a:r>
              <a:rPr sz="1600" b="1" spc="-5" dirty="0">
                <a:latin typeface="Courier New"/>
                <a:cs typeface="Courier New"/>
              </a:rPr>
              <a:t>CREATE TABLE Enrolment (  </a:t>
            </a:r>
            <a:endParaRPr lang="en-US" sz="1600" b="1" spc="-5" dirty="0" smtClean="0">
              <a:latin typeface="Courier New"/>
              <a:cs typeface="Courier New"/>
            </a:endParaRPr>
          </a:p>
          <a:p>
            <a:pPr marL="255904" marR="619760" indent="-243840">
              <a:lnSpc>
                <a:spcPct val="120000"/>
              </a:lnSpc>
            </a:pPr>
            <a:r>
              <a:rPr lang="en-US" sz="1600" b="1" spc="-5" dirty="0">
                <a:latin typeface="Courier New"/>
                <a:cs typeface="Courier New"/>
              </a:rPr>
              <a:t> </a:t>
            </a:r>
            <a:r>
              <a:rPr lang="en-US" sz="1600" b="1" spc="-5" dirty="0" smtClean="0">
                <a:latin typeface="Courier New"/>
                <a:cs typeface="Courier New"/>
              </a:rPr>
              <a:t> </a:t>
            </a:r>
            <a:r>
              <a:rPr sz="1600" b="1" spc="-5" dirty="0" err="1" smtClean="0">
                <a:latin typeface="Courier New"/>
                <a:cs typeface="Courier New"/>
              </a:rPr>
              <a:t>sID</a:t>
            </a:r>
            <a:r>
              <a:rPr sz="1600" b="1" spc="-5" dirty="0" smtClean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INT </a:t>
            </a:r>
            <a:r>
              <a:rPr sz="1600" b="1" dirty="0">
                <a:latin typeface="Courier New"/>
                <a:cs typeface="Courier New"/>
              </a:rPr>
              <a:t>NOT</a:t>
            </a:r>
            <a:r>
              <a:rPr sz="1600" b="1" spc="-6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NULL,</a:t>
            </a:r>
            <a:endParaRPr sz="1600" dirty="0">
              <a:latin typeface="Courier New"/>
              <a:cs typeface="Courier New"/>
            </a:endParaRPr>
          </a:p>
          <a:p>
            <a:pPr marL="255904">
              <a:lnSpc>
                <a:spcPct val="100000"/>
              </a:lnSpc>
              <a:spcBef>
                <a:spcPts val="384"/>
              </a:spcBef>
            </a:pPr>
            <a:r>
              <a:rPr sz="1600" b="1" spc="-5" dirty="0">
                <a:latin typeface="Courier New"/>
                <a:cs typeface="Courier New"/>
              </a:rPr>
              <a:t>mCode CHAR(6) NOT</a:t>
            </a:r>
            <a:r>
              <a:rPr sz="1600" b="1" spc="-1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NULL,</a:t>
            </a:r>
            <a:endParaRPr sz="1600" dirty="0">
              <a:latin typeface="Courier New"/>
              <a:cs typeface="Courier New"/>
            </a:endParaRPr>
          </a:p>
          <a:p>
            <a:pPr marL="255904">
              <a:lnSpc>
                <a:spcPct val="100000"/>
              </a:lnSpc>
              <a:spcBef>
                <a:spcPts val="384"/>
              </a:spcBef>
            </a:pPr>
            <a:r>
              <a:rPr sz="1600" b="1" spc="-5" dirty="0">
                <a:latin typeface="Courier New"/>
                <a:cs typeface="Courier New"/>
              </a:rPr>
              <a:t>CONSTRAINT</a:t>
            </a:r>
            <a:r>
              <a:rPr sz="1600" b="1" spc="-5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en_pk</a:t>
            </a:r>
            <a:endParaRPr sz="1600" dirty="0">
              <a:latin typeface="Courier New"/>
              <a:cs typeface="Courier New"/>
            </a:endParaRPr>
          </a:p>
          <a:p>
            <a:pPr marL="500380">
              <a:lnSpc>
                <a:spcPct val="100000"/>
              </a:lnSpc>
              <a:spcBef>
                <a:spcPts val="385"/>
              </a:spcBef>
            </a:pPr>
            <a:r>
              <a:rPr sz="1600" b="1" spc="-5" dirty="0">
                <a:latin typeface="Courier New"/>
                <a:cs typeface="Courier New"/>
              </a:rPr>
              <a:t>PRIMARY KEY </a:t>
            </a:r>
            <a:r>
              <a:rPr sz="1600" b="1" dirty="0">
                <a:latin typeface="Courier New"/>
                <a:cs typeface="Courier New"/>
              </a:rPr>
              <a:t>(sID,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mCode),</a:t>
            </a:r>
            <a:endParaRPr sz="1600" dirty="0">
              <a:latin typeface="Courier New"/>
              <a:cs typeface="Courier New"/>
            </a:endParaRPr>
          </a:p>
          <a:p>
            <a:pPr marL="500380" marR="981710" indent="-244475">
              <a:lnSpc>
                <a:spcPct val="120000"/>
              </a:lnSpc>
            </a:pPr>
            <a:r>
              <a:rPr sz="1600" b="1" spc="-5" dirty="0">
                <a:latin typeface="Courier New"/>
                <a:cs typeface="Courier New"/>
              </a:rPr>
              <a:t>CONSTRAINT en_fk1  FOREIGN KEY</a:t>
            </a:r>
            <a:r>
              <a:rPr sz="1600" b="1" spc="-6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(sID)</a:t>
            </a:r>
            <a:endParaRPr sz="1600" dirty="0">
              <a:latin typeface="Courier New"/>
              <a:cs typeface="Courier New"/>
            </a:endParaRPr>
          </a:p>
          <a:p>
            <a:pPr marL="500380" marR="127000">
              <a:lnSpc>
                <a:spcPct val="120000"/>
              </a:lnSpc>
            </a:pPr>
            <a:r>
              <a:rPr sz="1600" b="1" spc="-5" dirty="0">
                <a:latin typeface="Courier New"/>
                <a:cs typeface="Courier New"/>
              </a:rPr>
              <a:t>REFERENCES Student </a:t>
            </a:r>
            <a:r>
              <a:rPr sz="1600" b="1" dirty="0">
                <a:latin typeface="Courier New"/>
                <a:cs typeface="Courier New"/>
              </a:rPr>
              <a:t>(sID)  </a:t>
            </a:r>
            <a:r>
              <a:rPr sz="1600" b="1" spc="-5" dirty="0">
                <a:latin typeface="Courier New"/>
                <a:cs typeface="Courier New"/>
              </a:rPr>
              <a:t>ON UPDATE</a:t>
            </a:r>
            <a:r>
              <a:rPr sz="1600" b="1" spc="-6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CASCADE</a:t>
            </a:r>
            <a:endParaRPr sz="1600" dirty="0">
              <a:latin typeface="Courier New"/>
              <a:cs typeface="Courier New"/>
            </a:endParaRPr>
          </a:p>
          <a:p>
            <a:pPr marL="500380">
              <a:lnSpc>
                <a:spcPct val="100000"/>
              </a:lnSpc>
              <a:spcBef>
                <a:spcPts val="385"/>
              </a:spcBef>
            </a:pPr>
            <a:r>
              <a:rPr sz="1600" b="1" spc="-5" dirty="0">
                <a:latin typeface="Courier New"/>
                <a:cs typeface="Courier New"/>
              </a:rPr>
              <a:t>ON DELETE</a:t>
            </a:r>
            <a:r>
              <a:rPr sz="1600" b="1" spc="-6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CASCADE,</a:t>
            </a:r>
            <a:endParaRPr sz="1600" dirty="0">
              <a:latin typeface="Courier New"/>
              <a:cs typeface="Courier New"/>
            </a:endParaRPr>
          </a:p>
          <a:p>
            <a:pPr marL="500380" marR="737870" indent="-244475">
              <a:lnSpc>
                <a:spcPct val="120000"/>
              </a:lnSpc>
            </a:pPr>
            <a:r>
              <a:rPr sz="1600" b="1" spc="-5" dirty="0">
                <a:latin typeface="Courier New"/>
                <a:cs typeface="Courier New"/>
              </a:rPr>
              <a:t>CONSTRAINT en_fk2  FOREIGN KEY</a:t>
            </a:r>
            <a:r>
              <a:rPr sz="1600" b="1" spc="-7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(mCode)</a:t>
            </a:r>
            <a:endParaRPr sz="1600" dirty="0">
              <a:latin typeface="Courier New"/>
              <a:cs typeface="Courier New"/>
            </a:endParaRPr>
          </a:p>
          <a:p>
            <a:pPr marL="500380" marR="5080">
              <a:lnSpc>
                <a:spcPct val="120000"/>
              </a:lnSpc>
            </a:pPr>
            <a:r>
              <a:rPr sz="1600" b="1" spc="-5" dirty="0">
                <a:latin typeface="Courier New"/>
                <a:cs typeface="Courier New"/>
              </a:rPr>
              <a:t>REFERENCES Module </a:t>
            </a:r>
            <a:r>
              <a:rPr sz="1600" b="1" dirty="0">
                <a:latin typeface="Courier New"/>
                <a:cs typeface="Courier New"/>
              </a:rPr>
              <a:t>(mCode)  </a:t>
            </a:r>
            <a:r>
              <a:rPr sz="1600" b="1" spc="-5" dirty="0">
                <a:latin typeface="Courier New"/>
                <a:cs typeface="Courier New"/>
              </a:rPr>
              <a:t>ON UPDATE</a:t>
            </a:r>
            <a:r>
              <a:rPr sz="1600" b="1" spc="-6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CASCADE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3924" y="5652922"/>
            <a:ext cx="234569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ON DELETE NO</a:t>
            </a:r>
            <a:r>
              <a:rPr sz="1600" b="1" spc="-5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ACTION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5945530"/>
            <a:ext cx="26924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96153" y="3665220"/>
            <a:ext cx="1295400" cy="533400"/>
          </a:xfrm>
          <a:custGeom>
            <a:avLst/>
            <a:gdLst/>
            <a:ahLst/>
            <a:cxnLst/>
            <a:rect l="l" t="t" r="r" b="b"/>
            <a:pathLst>
              <a:path w="1295400" h="533400">
                <a:moveTo>
                  <a:pt x="0" y="88899"/>
                </a:moveTo>
                <a:lnTo>
                  <a:pt x="6979" y="54328"/>
                </a:lnTo>
                <a:lnTo>
                  <a:pt x="26019" y="26066"/>
                </a:lnTo>
                <a:lnTo>
                  <a:pt x="54274" y="6996"/>
                </a:lnTo>
                <a:lnTo>
                  <a:pt x="88900" y="0"/>
                </a:lnTo>
                <a:lnTo>
                  <a:pt x="1206500" y="0"/>
                </a:lnTo>
                <a:lnTo>
                  <a:pt x="1241071" y="6996"/>
                </a:lnTo>
                <a:lnTo>
                  <a:pt x="1269333" y="26066"/>
                </a:lnTo>
                <a:lnTo>
                  <a:pt x="1288403" y="54328"/>
                </a:lnTo>
                <a:lnTo>
                  <a:pt x="1295400" y="88899"/>
                </a:lnTo>
                <a:lnTo>
                  <a:pt x="1295400" y="444499"/>
                </a:lnTo>
                <a:lnTo>
                  <a:pt x="1288403" y="479125"/>
                </a:lnTo>
                <a:lnTo>
                  <a:pt x="1269333" y="507380"/>
                </a:lnTo>
                <a:lnTo>
                  <a:pt x="1241071" y="526420"/>
                </a:lnTo>
                <a:lnTo>
                  <a:pt x="1206500" y="533399"/>
                </a:lnTo>
                <a:lnTo>
                  <a:pt x="88900" y="533399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499"/>
                </a:lnTo>
                <a:lnTo>
                  <a:pt x="0" y="8889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891910" y="3764153"/>
            <a:ext cx="110553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Enrolment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72353" y="1988820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88900"/>
                </a:moveTo>
                <a:lnTo>
                  <a:pt x="6979" y="54328"/>
                </a:lnTo>
                <a:lnTo>
                  <a:pt x="26019" y="26066"/>
                </a:lnTo>
                <a:lnTo>
                  <a:pt x="54274" y="6996"/>
                </a:lnTo>
                <a:lnTo>
                  <a:pt x="88900" y="0"/>
                </a:lnTo>
                <a:lnTo>
                  <a:pt x="1054100" y="0"/>
                </a:lnTo>
                <a:lnTo>
                  <a:pt x="1088671" y="6996"/>
                </a:lnTo>
                <a:lnTo>
                  <a:pt x="1116933" y="26066"/>
                </a:lnTo>
                <a:lnTo>
                  <a:pt x="1136003" y="54328"/>
                </a:lnTo>
                <a:lnTo>
                  <a:pt x="1143000" y="88900"/>
                </a:lnTo>
                <a:lnTo>
                  <a:pt x="1143000" y="444500"/>
                </a:lnTo>
                <a:lnTo>
                  <a:pt x="1136003" y="479125"/>
                </a:lnTo>
                <a:lnTo>
                  <a:pt x="1116933" y="507380"/>
                </a:lnTo>
                <a:lnTo>
                  <a:pt x="1088671" y="526420"/>
                </a:lnTo>
                <a:lnTo>
                  <a:pt x="10541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024498" y="2087498"/>
            <a:ext cx="839469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Stu</a:t>
            </a:r>
            <a:r>
              <a:rPr sz="2000" spc="5" dirty="0">
                <a:latin typeface="Calibri"/>
                <a:cs typeface="Calibri"/>
              </a:rPr>
              <a:t>d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25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72353" y="5341620"/>
            <a:ext cx="1143000" cy="534035"/>
          </a:xfrm>
          <a:custGeom>
            <a:avLst/>
            <a:gdLst/>
            <a:ahLst/>
            <a:cxnLst/>
            <a:rect l="l" t="t" r="r" b="b"/>
            <a:pathLst>
              <a:path w="1143000" h="534035">
                <a:moveTo>
                  <a:pt x="0" y="88899"/>
                </a:moveTo>
                <a:lnTo>
                  <a:pt x="6979" y="54328"/>
                </a:lnTo>
                <a:lnTo>
                  <a:pt x="26019" y="26066"/>
                </a:lnTo>
                <a:lnTo>
                  <a:pt x="54274" y="6996"/>
                </a:lnTo>
                <a:lnTo>
                  <a:pt x="88900" y="0"/>
                </a:lnTo>
                <a:lnTo>
                  <a:pt x="1054100" y="0"/>
                </a:lnTo>
                <a:lnTo>
                  <a:pt x="1088671" y="6996"/>
                </a:lnTo>
                <a:lnTo>
                  <a:pt x="1116933" y="26066"/>
                </a:lnTo>
                <a:lnTo>
                  <a:pt x="1136003" y="54328"/>
                </a:lnTo>
                <a:lnTo>
                  <a:pt x="1143000" y="88899"/>
                </a:lnTo>
                <a:lnTo>
                  <a:pt x="1143000" y="444512"/>
                </a:lnTo>
                <a:lnTo>
                  <a:pt x="1136003" y="479118"/>
                </a:lnTo>
                <a:lnTo>
                  <a:pt x="1116933" y="507380"/>
                </a:lnTo>
                <a:lnTo>
                  <a:pt x="1088671" y="526437"/>
                </a:lnTo>
                <a:lnTo>
                  <a:pt x="1054100" y="533425"/>
                </a:lnTo>
                <a:lnTo>
                  <a:pt x="88900" y="533425"/>
                </a:lnTo>
                <a:lnTo>
                  <a:pt x="54274" y="526437"/>
                </a:lnTo>
                <a:lnTo>
                  <a:pt x="26019" y="507380"/>
                </a:lnTo>
                <a:lnTo>
                  <a:pt x="6979" y="479118"/>
                </a:lnTo>
                <a:lnTo>
                  <a:pt x="0" y="444512"/>
                </a:lnTo>
                <a:lnTo>
                  <a:pt x="0" y="8889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029071" y="5440883"/>
            <a:ext cx="83058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Mod</a:t>
            </a:r>
            <a:r>
              <a:rPr sz="2000" spc="-5" dirty="0">
                <a:latin typeface="Calibri"/>
                <a:cs typeface="Calibri"/>
              </a:rPr>
              <a:t>u</a:t>
            </a:r>
            <a:r>
              <a:rPr sz="2000" dirty="0">
                <a:latin typeface="Calibri"/>
                <a:cs typeface="Calibri"/>
              </a:rPr>
              <a:t>le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48553" y="4503420"/>
            <a:ext cx="990600" cy="533400"/>
          </a:xfrm>
          <a:custGeom>
            <a:avLst/>
            <a:gdLst/>
            <a:ahLst/>
            <a:cxnLst/>
            <a:rect l="l" t="t" r="r" b="b"/>
            <a:pathLst>
              <a:path w="990600" h="533400">
                <a:moveTo>
                  <a:pt x="0" y="266699"/>
                </a:moveTo>
                <a:lnTo>
                  <a:pt x="495300" y="0"/>
                </a:lnTo>
                <a:lnTo>
                  <a:pt x="990600" y="266699"/>
                </a:lnTo>
                <a:lnTo>
                  <a:pt x="495300" y="533399"/>
                </a:lnTo>
                <a:lnTo>
                  <a:pt x="0" y="26669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352794" y="4636389"/>
            <a:ext cx="18478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In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48553" y="2827020"/>
            <a:ext cx="990600" cy="533400"/>
          </a:xfrm>
          <a:custGeom>
            <a:avLst/>
            <a:gdLst/>
            <a:ahLst/>
            <a:cxnLst/>
            <a:rect l="l" t="t" r="r" b="b"/>
            <a:pathLst>
              <a:path w="990600" h="533400">
                <a:moveTo>
                  <a:pt x="0" y="266700"/>
                </a:moveTo>
                <a:lnTo>
                  <a:pt x="495300" y="0"/>
                </a:lnTo>
                <a:lnTo>
                  <a:pt x="990600" y="266700"/>
                </a:lnTo>
                <a:lnTo>
                  <a:pt x="495300" y="533400"/>
                </a:lnTo>
                <a:lnTo>
                  <a:pt x="0" y="2667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279641" y="2959734"/>
            <a:ext cx="32893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Has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443853" y="252222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443853" y="336042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43853" y="419862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443853" y="503682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329553" y="4198620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228600" y="0"/>
                </a:moveTo>
                <a:lnTo>
                  <a:pt x="222772" y="48182"/>
                </a:lnTo>
                <a:lnTo>
                  <a:pt x="206544" y="90019"/>
                </a:lnTo>
                <a:lnTo>
                  <a:pt x="181801" y="123005"/>
                </a:lnTo>
                <a:lnTo>
                  <a:pt x="150424" y="144633"/>
                </a:lnTo>
                <a:lnTo>
                  <a:pt x="114300" y="152399"/>
                </a:lnTo>
                <a:lnTo>
                  <a:pt x="78175" y="144647"/>
                </a:lnTo>
                <a:lnTo>
                  <a:pt x="46798" y="123057"/>
                </a:lnTo>
                <a:lnTo>
                  <a:pt x="22055" y="90129"/>
                </a:lnTo>
                <a:lnTo>
                  <a:pt x="5827" y="48361"/>
                </a:lnTo>
                <a:lnTo>
                  <a:pt x="0" y="25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29553" y="3512820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228600" y="152399"/>
                </a:moveTo>
                <a:lnTo>
                  <a:pt x="222772" y="104217"/>
                </a:lnTo>
                <a:lnTo>
                  <a:pt x="206544" y="62380"/>
                </a:lnTo>
                <a:lnTo>
                  <a:pt x="181801" y="29394"/>
                </a:lnTo>
                <a:lnTo>
                  <a:pt x="150424" y="7766"/>
                </a:lnTo>
                <a:lnTo>
                  <a:pt x="114300" y="0"/>
                </a:lnTo>
                <a:lnTo>
                  <a:pt x="78175" y="7765"/>
                </a:lnTo>
                <a:lnTo>
                  <a:pt x="46798" y="29386"/>
                </a:lnTo>
                <a:lnTo>
                  <a:pt x="22055" y="62352"/>
                </a:lnTo>
                <a:lnTo>
                  <a:pt x="5827" y="104152"/>
                </a:lnTo>
                <a:lnTo>
                  <a:pt x="0" y="15227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076063" y="1412747"/>
            <a:ext cx="1152525" cy="432434"/>
          </a:xfrm>
          <a:custGeom>
            <a:avLst/>
            <a:gdLst/>
            <a:ahLst/>
            <a:cxnLst/>
            <a:rect l="l" t="t" r="r" b="b"/>
            <a:pathLst>
              <a:path w="1152525" h="432435">
                <a:moveTo>
                  <a:pt x="0" y="216026"/>
                </a:moveTo>
                <a:lnTo>
                  <a:pt x="15215" y="166511"/>
                </a:lnTo>
                <a:lnTo>
                  <a:pt x="58556" y="121048"/>
                </a:lnTo>
                <a:lnTo>
                  <a:pt x="126563" y="80936"/>
                </a:lnTo>
                <a:lnTo>
                  <a:pt x="168735" y="63293"/>
                </a:lnTo>
                <a:lnTo>
                  <a:pt x="215777" y="47476"/>
                </a:lnTo>
                <a:lnTo>
                  <a:pt x="267255" y="33646"/>
                </a:lnTo>
                <a:lnTo>
                  <a:pt x="322739" y="21966"/>
                </a:lnTo>
                <a:lnTo>
                  <a:pt x="381794" y="12600"/>
                </a:lnTo>
                <a:lnTo>
                  <a:pt x="443990" y="5708"/>
                </a:lnTo>
                <a:lnTo>
                  <a:pt x="508893" y="1454"/>
                </a:lnTo>
                <a:lnTo>
                  <a:pt x="576072" y="0"/>
                </a:lnTo>
                <a:lnTo>
                  <a:pt x="643250" y="1454"/>
                </a:lnTo>
                <a:lnTo>
                  <a:pt x="708153" y="5708"/>
                </a:lnTo>
                <a:lnTo>
                  <a:pt x="770349" y="12600"/>
                </a:lnTo>
                <a:lnTo>
                  <a:pt x="829404" y="21966"/>
                </a:lnTo>
                <a:lnTo>
                  <a:pt x="884888" y="33646"/>
                </a:lnTo>
                <a:lnTo>
                  <a:pt x="936366" y="47476"/>
                </a:lnTo>
                <a:lnTo>
                  <a:pt x="983408" y="63293"/>
                </a:lnTo>
                <a:lnTo>
                  <a:pt x="1025580" y="80936"/>
                </a:lnTo>
                <a:lnTo>
                  <a:pt x="1062451" y="100242"/>
                </a:lnTo>
                <a:lnTo>
                  <a:pt x="1118557" y="143191"/>
                </a:lnTo>
                <a:lnTo>
                  <a:pt x="1148268" y="190843"/>
                </a:lnTo>
                <a:lnTo>
                  <a:pt x="1152144" y="216026"/>
                </a:lnTo>
                <a:lnTo>
                  <a:pt x="1148268" y="241233"/>
                </a:lnTo>
                <a:lnTo>
                  <a:pt x="1118557" y="288912"/>
                </a:lnTo>
                <a:lnTo>
                  <a:pt x="1062451" y="331868"/>
                </a:lnTo>
                <a:lnTo>
                  <a:pt x="1025580" y="351170"/>
                </a:lnTo>
                <a:lnTo>
                  <a:pt x="983408" y="368807"/>
                </a:lnTo>
                <a:lnTo>
                  <a:pt x="936366" y="384617"/>
                </a:lnTo>
                <a:lnTo>
                  <a:pt x="884888" y="398438"/>
                </a:lnTo>
                <a:lnTo>
                  <a:pt x="829404" y="410109"/>
                </a:lnTo>
                <a:lnTo>
                  <a:pt x="770349" y="419467"/>
                </a:lnTo>
                <a:lnTo>
                  <a:pt x="708153" y="426352"/>
                </a:lnTo>
                <a:lnTo>
                  <a:pt x="643250" y="430601"/>
                </a:lnTo>
                <a:lnTo>
                  <a:pt x="576072" y="432053"/>
                </a:lnTo>
                <a:lnTo>
                  <a:pt x="508893" y="430601"/>
                </a:lnTo>
                <a:lnTo>
                  <a:pt x="443990" y="426352"/>
                </a:lnTo>
                <a:lnTo>
                  <a:pt x="381794" y="419467"/>
                </a:lnTo>
                <a:lnTo>
                  <a:pt x="322739" y="410109"/>
                </a:lnTo>
                <a:lnTo>
                  <a:pt x="267255" y="398438"/>
                </a:lnTo>
                <a:lnTo>
                  <a:pt x="215777" y="384617"/>
                </a:lnTo>
                <a:lnTo>
                  <a:pt x="168735" y="368807"/>
                </a:lnTo>
                <a:lnTo>
                  <a:pt x="126563" y="351170"/>
                </a:lnTo>
                <a:lnTo>
                  <a:pt x="89692" y="331868"/>
                </a:lnTo>
                <a:lnTo>
                  <a:pt x="33586" y="288912"/>
                </a:lnTo>
                <a:lnTo>
                  <a:pt x="3875" y="241233"/>
                </a:lnTo>
                <a:lnTo>
                  <a:pt x="0" y="216026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355463" y="1494535"/>
            <a:ext cx="59563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sName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72000" y="2038857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11"/>
                </a:lnTo>
                <a:lnTo>
                  <a:pt x="59059" y="114439"/>
                </a:lnTo>
                <a:lnTo>
                  <a:pt x="90311" y="92574"/>
                </a:lnTo>
                <a:lnTo>
                  <a:pt x="127214" y="72526"/>
                </a:lnTo>
                <a:lnTo>
                  <a:pt x="169295" y="54495"/>
                </a:lnTo>
                <a:lnTo>
                  <a:pt x="216081" y="38685"/>
                </a:lnTo>
                <a:lnTo>
                  <a:pt x="267101" y="25296"/>
                </a:lnTo>
                <a:lnTo>
                  <a:pt x="321881" y="14532"/>
                </a:lnTo>
                <a:lnTo>
                  <a:pt x="379950" y="6593"/>
                </a:lnTo>
                <a:lnTo>
                  <a:pt x="440834" y="1681"/>
                </a:lnTo>
                <a:lnTo>
                  <a:pt x="504063" y="0"/>
                </a:lnTo>
                <a:lnTo>
                  <a:pt x="567291" y="1681"/>
                </a:lnTo>
                <a:lnTo>
                  <a:pt x="628175" y="6593"/>
                </a:lnTo>
                <a:lnTo>
                  <a:pt x="686244" y="14532"/>
                </a:lnTo>
                <a:lnTo>
                  <a:pt x="741024" y="25296"/>
                </a:lnTo>
                <a:lnTo>
                  <a:pt x="792044" y="38685"/>
                </a:lnTo>
                <a:lnTo>
                  <a:pt x="838830" y="54495"/>
                </a:lnTo>
                <a:lnTo>
                  <a:pt x="880911" y="72526"/>
                </a:lnTo>
                <a:lnTo>
                  <a:pt x="917814" y="92574"/>
                </a:lnTo>
                <a:lnTo>
                  <a:pt x="949066" y="114439"/>
                </a:lnTo>
                <a:lnTo>
                  <a:pt x="992731" y="162811"/>
                </a:lnTo>
                <a:lnTo>
                  <a:pt x="1008126" y="216026"/>
                </a:lnTo>
                <a:lnTo>
                  <a:pt x="1004198" y="243114"/>
                </a:lnTo>
                <a:lnTo>
                  <a:pt x="974196" y="294082"/>
                </a:lnTo>
                <a:lnTo>
                  <a:pt x="917814" y="339423"/>
                </a:lnTo>
                <a:lnTo>
                  <a:pt x="880911" y="359476"/>
                </a:lnTo>
                <a:lnTo>
                  <a:pt x="838830" y="377514"/>
                </a:lnTo>
                <a:lnTo>
                  <a:pt x="792044" y="393334"/>
                </a:lnTo>
                <a:lnTo>
                  <a:pt x="741024" y="406732"/>
                </a:lnTo>
                <a:lnTo>
                  <a:pt x="686244" y="417506"/>
                </a:lnTo>
                <a:lnTo>
                  <a:pt x="628175" y="425453"/>
                </a:lnTo>
                <a:lnTo>
                  <a:pt x="567291" y="430369"/>
                </a:lnTo>
                <a:lnTo>
                  <a:pt x="504063" y="432053"/>
                </a:lnTo>
                <a:lnTo>
                  <a:pt x="440834" y="430369"/>
                </a:lnTo>
                <a:lnTo>
                  <a:pt x="379950" y="425453"/>
                </a:lnTo>
                <a:lnTo>
                  <a:pt x="321881" y="417506"/>
                </a:lnTo>
                <a:lnTo>
                  <a:pt x="267101" y="406732"/>
                </a:lnTo>
                <a:lnTo>
                  <a:pt x="216081" y="393334"/>
                </a:lnTo>
                <a:lnTo>
                  <a:pt x="169295" y="377514"/>
                </a:lnTo>
                <a:lnTo>
                  <a:pt x="127214" y="359476"/>
                </a:lnTo>
                <a:lnTo>
                  <a:pt x="90311" y="339423"/>
                </a:lnTo>
                <a:lnTo>
                  <a:pt x="59059" y="317557"/>
                </a:lnTo>
                <a:lnTo>
                  <a:pt x="15394" y="269200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935473" y="2120646"/>
            <a:ext cx="28130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0" dirty="0">
                <a:latin typeface="Calibri"/>
                <a:cs typeface="Calibri"/>
              </a:rPr>
              <a:t>s</a:t>
            </a:r>
            <a:r>
              <a:rPr sz="1600" u="heavy" spc="-5" dirty="0"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660260" y="1412747"/>
            <a:ext cx="1440180" cy="432434"/>
          </a:xfrm>
          <a:custGeom>
            <a:avLst/>
            <a:gdLst/>
            <a:ahLst/>
            <a:cxnLst/>
            <a:rect l="l" t="t" r="r" b="b"/>
            <a:pathLst>
              <a:path w="1440179" h="432435">
                <a:moveTo>
                  <a:pt x="0" y="216026"/>
                </a:moveTo>
                <a:lnTo>
                  <a:pt x="12981" y="174992"/>
                </a:lnTo>
                <a:lnTo>
                  <a:pt x="50318" y="136549"/>
                </a:lnTo>
                <a:lnTo>
                  <a:pt x="109599" y="101425"/>
                </a:lnTo>
                <a:lnTo>
                  <a:pt x="146714" y="85335"/>
                </a:lnTo>
                <a:lnTo>
                  <a:pt x="188411" y="70346"/>
                </a:lnTo>
                <a:lnTo>
                  <a:pt x="234387" y="56550"/>
                </a:lnTo>
                <a:lnTo>
                  <a:pt x="284342" y="44037"/>
                </a:lnTo>
                <a:lnTo>
                  <a:pt x="337973" y="32898"/>
                </a:lnTo>
                <a:lnTo>
                  <a:pt x="394980" y="23224"/>
                </a:lnTo>
                <a:lnTo>
                  <a:pt x="455061" y="15105"/>
                </a:lnTo>
                <a:lnTo>
                  <a:pt x="517913" y="8632"/>
                </a:lnTo>
                <a:lnTo>
                  <a:pt x="583237" y="3897"/>
                </a:lnTo>
                <a:lnTo>
                  <a:pt x="650729" y="989"/>
                </a:lnTo>
                <a:lnTo>
                  <a:pt x="720090" y="0"/>
                </a:lnTo>
                <a:lnTo>
                  <a:pt x="789430" y="989"/>
                </a:lnTo>
                <a:lnTo>
                  <a:pt x="856908" y="3897"/>
                </a:lnTo>
                <a:lnTo>
                  <a:pt x="922220" y="8632"/>
                </a:lnTo>
                <a:lnTo>
                  <a:pt x="985066" y="15105"/>
                </a:lnTo>
                <a:lnTo>
                  <a:pt x="1045143" y="23224"/>
                </a:lnTo>
                <a:lnTo>
                  <a:pt x="1102149" y="32898"/>
                </a:lnTo>
                <a:lnTo>
                  <a:pt x="1155783" y="44037"/>
                </a:lnTo>
                <a:lnTo>
                  <a:pt x="1205741" y="56550"/>
                </a:lnTo>
                <a:lnTo>
                  <a:pt x="1251723" y="70346"/>
                </a:lnTo>
                <a:lnTo>
                  <a:pt x="1293427" y="85335"/>
                </a:lnTo>
                <a:lnTo>
                  <a:pt x="1330549" y="101425"/>
                </a:lnTo>
                <a:lnTo>
                  <a:pt x="1389844" y="136549"/>
                </a:lnTo>
                <a:lnTo>
                  <a:pt x="1427193" y="174992"/>
                </a:lnTo>
                <a:lnTo>
                  <a:pt x="1440180" y="216026"/>
                </a:lnTo>
                <a:lnTo>
                  <a:pt x="1436883" y="236843"/>
                </a:lnTo>
                <a:lnTo>
                  <a:pt x="1411413" y="276698"/>
                </a:lnTo>
                <a:lnTo>
                  <a:pt x="1362789" y="313582"/>
                </a:lnTo>
                <a:lnTo>
                  <a:pt x="1293427" y="346772"/>
                </a:lnTo>
                <a:lnTo>
                  <a:pt x="1251723" y="361757"/>
                </a:lnTo>
                <a:lnTo>
                  <a:pt x="1205741" y="375548"/>
                </a:lnTo>
                <a:lnTo>
                  <a:pt x="1155783" y="388054"/>
                </a:lnTo>
                <a:lnTo>
                  <a:pt x="1102149" y="399186"/>
                </a:lnTo>
                <a:lnTo>
                  <a:pt x="1045143" y="408853"/>
                </a:lnTo>
                <a:lnTo>
                  <a:pt x="985066" y="416964"/>
                </a:lnTo>
                <a:lnTo>
                  <a:pt x="922220" y="423430"/>
                </a:lnTo>
                <a:lnTo>
                  <a:pt x="856908" y="428161"/>
                </a:lnTo>
                <a:lnTo>
                  <a:pt x="789430" y="431065"/>
                </a:lnTo>
                <a:lnTo>
                  <a:pt x="720090" y="432053"/>
                </a:lnTo>
                <a:lnTo>
                  <a:pt x="650729" y="431065"/>
                </a:lnTo>
                <a:lnTo>
                  <a:pt x="583237" y="428161"/>
                </a:lnTo>
                <a:lnTo>
                  <a:pt x="517913" y="423430"/>
                </a:lnTo>
                <a:lnTo>
                  <a:pt x="455061" y="416964"/>
                </a:lnTo>
                <a:lnTo>
                  <a:pt x="394980" y="408853"/>
                </a:lnTo>
                <a:lnTo>
                  <a:pt x="337973" y="399186"/>
                </a:lnTo>
                <a:lnTo>
                  <a:pt x="284342" y="388054"/>
                </a:lnTo>
                <a:lnTo>
                  <a:pt x="234387" y="375548"/>
                </a:lnTo>
                <a:lnTo>
                  <a:pt x="188411" y="361757"/>
                </a:lnTo>
                <a:lnTo>
                  <a:pt x="146714" y="346772"/>
                </a:lnTo>
                <a:lnTo>
                  <a:pt x="109599" y="330684"/>
                </a:lnTo>
                <a:lnTo>
                  <a:pt x="50318" y="295556"/>
                </a:lnTo>
                <a:lnTo>
                  <a:pt x="12981" y="257096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000113" y="1494535"/>
            <a:ext cx="76200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sAddress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308342" y="2039366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53"/>
                </a:lnTo>
                <a:lnTo>
                  <a:pt x="59059" y="114496"/>
                </a:lnTo>
                <a:lnTo>
                  <a:pt x="90311" y="92630"/>
                </a:lnTo>
                <a:lnTo>
                  <a:pt x="127214" y="72577"/>
                </a:lnTo>
                <a:lnTo>
                  <a:pt x="169295" y="54539"/>
                </a:lnTo>
                <a:lnTo>
                  <a:pt x="216081" y="38719"/>
                </a:lnTo>
                <a:lnTo>
                  <a:pt x="267101" y="25321"/>
                </a:lnTo>
                <a:lnTo>
                  <a:pt x="321881" y="14547"/>
                </a:lnTo>
                <a:lnTo>
                  <a:pt x="379950" y="6600"/>
                </a:lnTo>
                <a:lnTo>
                  <a:pt x="440834" y="1684"/>
                </a:lnTo>
                <a:lnTo>
                  <a:pt x="504062" y="0"/>
                </a:lnTo>
                <a:lnTo>
                  <a:pt x="567291" y="1684"/>
                </a:lnTo>
                <a:lnTo>
                  <a:pt x="628175" y="6600"/>
                </a:lnTo>
                <a:lnTo>
                  <a:pt x="686244" y="14547"/>
                </a:lnTo>
                <a:lnTo>
                  <a:pt x="741024" y="25321"/>
                </a:lnTo>
                <a:lnTo>
                  <a:pt x="792044" y="38719"/>
                </a:lnTo>
                <a:lnTo>
                  <a:pt x="838830" y="54539"/>
                </a:lnTo>
                <a:lnTo>
                  <a:pt x="880911" y="72577"/>
                </a:lnTo>
                <a:lnTo>
                  <a:pt x="917814" y="92630"/>
                </a:lnTo>
                <a:lnTo>
                  <a:pt x="949066" y="114496"/>
                </a:lnTo>
                <a:lnTo>
                  <a:pt x="992731" y="162853"/>
                </a:lnTo>
                <a:lnTo>
                  <a:pt x="1008126" y="216026"/>
                </a:lnTo>
                <a:lnTo>
                  <a:pt x="1004198" y="243139"/>
                </a:lnTo>
                <a:lnTo>
                  <a:pt x="974196" y="294134"/>
                </a:lnTo>
                <a:lnTo>
                  <a:pt x="917814" y="339479"/>
                </a:lnTo>
                <a:lnTo>
                  <a:pt x="880911" y="359527"/>
                </a:lnTo>
                <a:lnTo>
                  <a:pt x="838830" y="377558"/>
                </a:lnTo>
                <a:lnTo>
                  <a:pt x="792044" y="393368"/>
                </a:lnTo>
                <a:lnTo>
                  <a:pt x="741024" y="406757"/>
                </a:lnTo>
                <a:lnTo>
                  <a:pt x="686244" y="417521"/>
                </a:lnTo>
                <a:lnTo>
                  <a:pt x="628175" y="425460"/>
                </a:lnTo>
                <a:lnTo>
                  <a:pt x="567291" y="430372"/>
                </a:lnTo>
                <a:lnTo>
                  <a:pt x="504062" y="432054"/>
                </a:lnTo>
                <a:lnTo>
                  <a:pt x="440834" y="430372"/>
                </a:lnTo>
                <a:lnTo>
                  <a:pt x="379950" y="425460"/>
                </a:lnTo>
                <a:lnTo>
                  <a:pt x="321881" y="417521"/>
                </a:lnTo>
                <a:lnTo>
                  <a:pt x="267101" y="406757"/>
                </a:lnTo>
                <a:lnTo>
                  <a:pt x="216081" y="393368"/>
                </a:lnTo>
                <a:lnTo>
                  <a:pt x="169295" y="377558"/>
                </a:lnTo>
                <a:lnTo>
                  <a:pt x="127214" y="359527"/>
                </a:lnTo>
                <a:lnTo>
                  <a:pt x="90311" y="339479"/>
                </a:lnTo>
                <a:lnTo>
                  <a:pt x="59059" y="317614"/>
                </a:lnTo>
                <a:lnTo>
                  <a:pt x="15394" y="269242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585075" y="2121153"/>
            <a:ext cx="457834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</a:t>
            </a:r>
            <a:r>
              <a:rPr sz="1600" spc="-125" dirty="0">
                <a:latin typeface="Calibri"/>
                <a:cs typeface="Calibri"/>
              </a:rPr>
              <a:t>Y</a:t>
            </a:r>
            <a:r>
              <a:rPr sz="1600" spc="-5" dirty="0">
                <a:latin typeface="Calibri"/>
                <a:cs typeface="Calibri"/>
              </a:rPr>
              <a:t>ear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427982" y="5392292"/>
            <a:ext cx="1152525" cy="432434"/>
          </a:xfrm>
          <a:custGeom>
            <a:avLst/>
            <a:gdLst/>
            <a:ahLst/>
            <a:cxnLst/>
            <a:rect l="l" t="t" r="r" b="b"/>
            <a:pathLst>
              <a:path w="1152525" h="432435">
                <a:moveTo>
                  <a:pt x="0" y="215988"/>
                </a:moveTo>
                <a:lnTo>
                  <a:pt x="15215" y="166447"/>
                </a:lnTo>
                <a:lnTo>
                  <a:pt x="58556" y="120978"/>
                </a:lnTo>
                <a:lnTo>
                  <a:pt x="126563" y="80875"/>
                </a:lnTo>
                <a:lnTo>
                  <a:pt x="168735" y="63241"/>
                </a:lnTo>
                <a:lnTo>
                  <a:pt x="215777" y="47433"/>
                </a:lnTo>
                <a:lnTo>
                  <a:pt x="267255" y="33613"/>
                </a:lnTo>
                <a:lnTo>
                  <a:pt x="322739" y="21943"/>
                </a:lnTo>
                <a:lnTo>
                  <a:pt x="381794" y="12585"/>
                </a:lnTo>
                <a:lnTo>
                  <a:pt x="443990" y="5701"/>
                </a:lnTo>
                <a:lnTo>
                  <a:pt x="508893" y="1452"/>
                </a:lnTo>
                <a:lnTo>
                  <a:pt x="576071" y="0"/>
                </a:lnTo>
                <a:lnTo>
                  <a:pt x="643250" y="1452"/>
                </a:lnTo>
                <a:lnTo>
                  <a:pt x="708153" y="5701"/>
                </a:lnTo>
                <a:lnTo>
                  <a:pt x="770349" y="12585"/>
                </a:lnTo>
                <a:lnTo>
                  <a:pt x="829404" y="21943"/>
                </a:lnTo>
                <a:lnTo>
                  <a:pt x="884888" y="33613"/>
                </a:lnTo>
                <a:lnTo>
                  <a:pt x="936366" y="47433"/>
                </a:lnTo>
                <a:lnTo>
                  <a:pt x="983408" y="63241"/>
                </a:lnTo>
                <a:lnTo>
                  <a:pt x="1025580" y="80875"/>
                </a:lnTo>
                <a:lnTo>
                  <a:pt x="1062451" y="100175"/>
                </a:lnTo>
                <a:lnTo>
                  <a:pt x="1118557" y="143123"/>
                </a:lnTo>
                <a:lnTo>
                  <a:pt x="1148268" y="190789"/>
                </a:lnTo>
                <a:lnTo>
                  <a:pt x="1152143" y="215988"/>
                </a:lnTo>
                <a:lnTo>
                  <a:pt x="1148268" y="241183"/>
                </a:lnTo>
                <a:lnTo>
                  <a:pt x="1118557" y="288849"/>
                </a:lnTo>
                <a:lnTo>
                  <a:pt x="1062451" y="331802"/>
                </a:lnTo>
                <a:lnTo>
                  <a:pt x="1025580" y="351106"/>
                </a:lnTo>
                <a:lnTo>
                  <a:pt x="983408" y="368746"/>
                </a:lnTo>
                <a:lnTo>
                  <a:pt x="936366" y="384559"/>
                </a:lnTo>
                <a:lnTo>
                  <a:pt x="884888" y="398385"/>
                </a:lnTo>
                <a:lnTo>
                  <a:pt x="829404" y="410060"/>
                </a:lnTo>
                <a:lnTo>
                  <a:pt x="770349" y="419422"/>
                </a:lnTo>
                <a:lnTo>
                  <a:pt x="708153" y="426310"/>
                </a:lnTo>
                <a:lnTo>
                  <a:pt x="643250" y="430562"/>
                </a:lnTo>
                <a:lnTo>
                  <a:pt x="576071" y="432015"/>
                </a:lnTo>
                <a:lnTo>
                  <a:pt x="508893" y="430562"/>
                </a:lnTo>
                <a:lnTo>
                  <a:pt x="443990" y="426310"/>
                </a:lnTo>
                <a:lnTo>
                  <a:pt x="381794" y="419422"/>
                </a:lnTo>
                <a:lnTo>
                  <a:pt x="322739" y="410060"/>
                </a:lnTo>
                <a:lnTo>
                  <a:pt x="267255" y="398385"/>
                </a:lnTo>
                <a:lnTo>
                  <a:pt x="215777" y="384559"/>
                </a:lnTo>
                <a:lnTo>
                  <a:pt x="168735" y="368746"/>
                </a:lnTo>
                <a:lnTo>
                  <a:pt x="126563" y="351106"/>
                </a:lnTo>
                <a:lnTo>
                  <a:pt x="89692" y="331802"/>
                </a:lnTo>
                <a:lnTo>
                  <a:pt x="33586" y="288849"/>
                </a:lnTo>
                <a:lnTo>
                  <a:pt x="3875" y="241183"/>
                </a:lnTo>
                <a:lnTo>
                  <a:pt x="0" y="215988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699761" y="5474919"/>
            <a:ext cx="6102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0" dirty="0">
                <a:latin typeface="Calibri"/>
                <a:cs typeface="Calibri"/>
              </a:rPr>
              <a:t>mCode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940171" y="6165303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4">
                <a:moveTo>
                  <a:pt x="0" y="216027"/>
                </a:moveTo>
                <a:lnTo>
                  <a:pt x="15394" y="162837"/>
                </a:lnTo>
                <a:lnTo>
                  <a:pt x="59059" y="114473"/>
                </a:lnTo>
                <a:lnTo>
                  <a:pt x="90311" y="92608"/>
                </a:lnTo>
                <a:lnTo>
                  <a:pt x="127214" y="72556"/>
                </a:lnTo>
                <a:lnTo>
                  <a:pt x="169295" y="54521"/>
                </a:lnTo>
                <a:lnTo>
                  <a:pt x="216081" y="38706"/>
                </a:lnTo>
                <a:lnTo>
                  <a:pt x="267101" y="25311"/>
                </a:lnTo>
                <a:lnTo>
                  <a:pt x="321881" y="14541"/>
                </a:lnTo>
                <a:lnTo>
                  <a:pt x="379950" y="6597"/>
                </a:lnTo>
                <a:lnTo>
                  <a:pt x="440834" y="1683"/>
                </a:lnTo>
                <a:lnTo>
                  <a:pt x="504063" y="0"/>
                </a:lnTo>
                <a:lnTo>
                  <a:pt x="567291" y="1683"/>
                </a:lnTo>
                <a:lnTo>
                  <a:pt x="628175" y="6597"/>
                </a:lnTo>
                <a:lnTo>
                  <a:pt x="686244" y="14541"/>
                </a:lnTo>
                <a:lnTo>
                  <a:pt x="741024" y="25311"/>
                </a:lnTo>
                <a:lnTo>
                  <a:pt x="792044" y="38706"/>
                </a:lnTo>
                <a:lnTo>
                  <a:pt x="838830" y="54521"/>
                </a:lnTo>
                <a:lnTo>
                  <a:pt x="880911" y="72556"/>
                </a:lnTo>
                <a:lnTo>
                  <a:pt x="917814" y="92608"/>
                </a:lnTo>
                <a:lnTo>
                  <a:pt x="949066" y="114473"/>
                </a:lnTo>
                <a:lnTo>
                  <a:pt x="992731" y="162837"/>
                </a:lnTo>
                <a:lnTo>
                  <a:pt x="1008126" y="216027"/>
                </a:lnTo>
                <a:lnTo>
                  <a:pt x="1004198" y="243124"/>
                </a:lnTo>
                <a:lnTo>
                  <a:pt x="974196" y="294103"/>
                </a:lnTo>
                <a:lnTo>
                  <a:pt x="917814" y="339445"/>
                </a:lnTo>
                <a:lnTo>
                  <a:pt x="880911" y="359497"/>
                </a:lnTo>
                <a:lnTo>
                  <a:pt x="838830" y="377532"/>
                </a:lnTo>
                <a:lnTo>
                  <a:pt x="792044" y="393347"/>
                </a:lnTo>
                <a:lnTo>
                  <a:pt x="741024" y="406742"/>
                </a:lnTo>
                <a:lnTo>
                  <a:pt x="686244" y="417512"/>
                </a:lnTo>
                <a:lnTo>
                  <a:pt x="628175" y="425456"/>
                </a:lnTo>
                <a:lnTo>
                  <a:pt x="567291" y="430370"/>
                </a:lnTo>
                <a:lnTo>
                  <a:pt x="504063" y="432054"/>
                </a:lnTo>
                <a:lnTo>
                  <a:pt x="440834" y="430370"/>
                </a:lnTo>
                <a:lnTo>
                  <a:pt x="379950" y="425456"/>
                </a:lnTo>
                <a:lnTo>
                  <a:pt x="321881" y="417512"/>
                </a:lnTo>
                <a:lnTo>
                  <a:pt x="267101" y="406742"/>
                </a:lnTo>
                <a:lnTo>
                  <a:pt x="216081" y="393347"/>
                </a:lnTo>
                <a:lnTo>
                  <a:pt x="169295" y="377532"/>
                </a:lnTo>
                <a:lnTo>
                  <a:pt x="127214" y="359497"/>
                </a:lnTo>
                <a:lnTo>
                  <a:pt x="90311" y="339445"/>
                </a:lnTo>
                <a:lnTo>
                  <a:pt x="59059" y="317580"/>
                </a:lnTo>
                <a:lnTo>
                  <a:pt x="15394" y="269216"/>
                </a:lnTo>
                <a:lnTo>
                  <a:pt x="0" y="216027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308342" y="5392292"/>
            <a:ext cx="1368425" cy="432434"/>
          </a:xfrm>
          <a:custGeom>
            <a:avLst/>
            <a:gdLst/>
            <a:ahLst/>
            <a:cxnLst/>
            <a:rect l="l" t="t" r="r" b="b"/>
            <a:pathLst>
              <a:path w="1368425" h="432435">
                <a:moveTo>
                  <a:pt x="0" y="215988"/>
                </a:moveTo>
                <a:lnTo>
                  <a:pt x="13894" y="172443"/>
                </a:lnTo>
                <a:lnTo>
                  <a:pt x="53746" y="131893"/>
                </a:lnTo>
                <a:lnTo>
                  <a:pt x="116807" y="95203"/>
                </a:lnTo>
                <a:lnTo>
                  <a:pt x="156181" y="78577"/>
                </a:lnTo>
                <a:lnTo>
                  <a:pt x="200326" y="63241"/>
                </a:lnTo>
                <a:lnTo>
                  <a:pt x="248899" y="49303"/>
                </a:lnTo>
                <a:lnTo>
                  <a:pt x="301556" y="36873"/>
                </a:lnTo>
                <a:lnTo>
                  <a:pt x="357954" y="26057"/>
                </a:lnTo>
                <a:lnTo>
                  <a:pt x="417748" y="16965"/>
                </a:lnTo>
                <a:lnTo>
                  <a:pt x="480596" y="9705"/>
                </a:lnTo>
                <a:lnTo>
                  <a:pt x="546153" y="4385"/>
                </a:lnTo>
                <a:lnTo>
                  <a:pt x="614076" y="1114"/>
                </a:lnTo>
                <a:lnTo>
                  <a:pt x="684022" y="0"/>
                </a:lnTo>
                <a:lnTo>
                  <a:pt x="753968" y="1114"/>
                </a:lnTo>
                <a:lnTo>
                  <a:pt x="821896" y="4385"/>
                </a:lnTo>
                <a:lnTo>
                  <a:pt x="887459" y="9705"/>
                </a:lnTo>
                <a:lnTo>
                  <a:pt x="950315" y="16965"/>
                </a:lnTo>
                <a:lnTo>
                  <a:pt x="1010119" y="26057"/>
                </a:lnTo>
                <a:lnTo>
                  <a:pt x="1066527" y="36873"/>
                </a:lnTo>
                <a:lnTo>
                  <a:pt x="1119195" y="49303"/>
                </a:lnTo>
                <a:lnTo>
                  <a:pt x="1167780" y="63241"/>
                </a:lnTo>
                <a:lnTo>
                  <a:pt x="1211938" y="78577"/>
                </a:lnTo>
                <a:lnTo>
                  <a:pt x="1251323" y="95203"/>
                </a:lnTo>
                <a:lnTo>
                  <a:pt x="1285593" y="113011"/>
                </a:lnTo>
                <a:lnTo>
                  <a:pt x="1337411" y="151740"/>
                </a:lnTo>
                <a:lnTo>
                  <a:pt x="1364638" y="193896"/>
                </a:lnTo>
                <a:lnTo>
                  <a:pt x="1368171" y="215988"/>
                </a:lnTo>
                <a:lnTo>
                  <a:pt x="1364638" y="238077"/>
                </a:lnTo>
                <a:lnTo>
                  <a:pt x="1337411" y="280231"/>
                </a:lnTo>
                <a:lnTo>
                  <a:pt x="1285593" y="318963"/>
                </a:lnTo>
                <a:lnTo>
                  <a:pt x="1251323" y="336775"/>
                </a:lnTo>
                <a:lnTo>
                  <a:pt x="1211938" y="353405"/>
                </a:lnTo>
                <a:lnTo>
                  <a:pt x="1167780" y="368746"/>
                </a:lnTo>
                <a:lnTo>
                  <a:pt x="1119195" y="382688"/>
                </a:lnTo>
                <a:lnTo>
                  <a:pt x="1066527" y="395124"/>
                </a:lnTo>
                <a:lnTo>
                  <a:pt x="1010119" y="405944"/>
                </a:lnTo>
                <a:lnTo>
                  <a:pt x="950315" y="415040"/>
                </a:lnTo>
                <a:lnTo>
                  <a:pt x="887459" y="422304"/>
                </a:lnTo>
                <a:lnTo>
                  <a:pt x="821896" y="427627"/>
                </a:lnTo>
                <a:lnTo>
                  <a:pt x="753968" y="430900"/>
                </a:lnTo>
                <a:lnTo>
                  <a:pt x="684022" y="432015"/>
                </a:lnTo>
                <a:lnTo>
                  <a:pt x="614076" y="430900"/>
                </a:lnTo>
                <a:lnTo>
                  <a:pt x="546153" y="427627"/>
                </a:lnTo>
                <a:lnTo>
                  <a:pt x="480596" y="422304"/>
                </a:lnTo>
                <a:lnTo>
                  <a:pt x="417748" y="415040"/>
                </a:lnTo>
                <a:lnTo>
                  <a:pt x="357954" y="405944"/>
                </a:lnTo>
                <a:lnTo>
                  <a:pt x="301556" y="395124"/>
                </a:lnTo>
                <a:lnTo>
                  <a:pt x="248899" y="382688"/>
                </a:lnTo>
                <a:lnTo>
                  <a:pt x="200326" y="368746"/>
                </a:lnTo>
                <a:lnTo>
                  <a:pt x="156181" y="353405"/>
                </a:lnTo>
                <a:lnTo>
                  <a:pt x="116807" y="336775"/>
                </a:lnTo>
                <a:lnTo>
                  <a:pt x="82547" y="318963"/>
                </a:lnTo>
                <a:lnTo>
                  <a:pt x="30747" y="280231"/>
                </a:lnTo>
                <a:lnTo>
                  <a:pt x="3530" y="238077"/>
                </a:lnTo>
                <a:lnTo>
                  <a:pt x="0" y="215988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611618" y="5474919"/>
            <a:ext cx="764540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mCredits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499990" y="3714622"/>
            <a:ext cx="1008380" cy="432434"/>
          </a:xfrm>
          <a:custGeom>
            <a:avLst/>
            <a:gdLst/>
            <a:ahLst/>
            <a:cxnLst/>
            <a:rect l="l" t="t" r="r" b="b"/>
            <a:pathLst>
              <a:path w="1008379" h="432435">
                <a:moveTo>
                  <a:pt x="0" y="216026"/>
                </a:moveTo>
                <a:lnTo>
                  <a:pt x="15394" y="162853"/>
                </a:lnTo>
                <a:lnTo>
                  <a:pt x="59059" y="114496"/>
                </a:lnTo>
                <a:lnTo>
                  <a:pt x="90311" y="92630"/>
                </a:lnTo>
                <a:lnTo>
                  <a:pt x="127214" y="72577"/>
                </a:lnTo>
                <a:lnTo>
                  <a:pt x="169295" y="54539"/>
                </a:lnTo>
                <a:lnTo>
                  <a:pt x="216081" y="38719"/>
                </a:lnTo>
                <a:lnTo>
                  <a:pt x="267101" y="25321"/>
                </a:lnTo>
                <a:lnTo>
                  <a:pt x="321881" y="14547"/>
                </a:lnTo>
                <a:lnTo>
                  <a:pt x="379950" y="6600"/>
                </a:lnTo>
                <a:lnTo>
                  <a:pt x="440834" y="1684"/>
                </a:lnTo>
                <a:lnTo>
                  <a:pt x="504063" y="0"/>
                </a:lnTo>
                <a:lnTo>
                  <a:pt x="567291" y="1684"/>
                </a:lnTo>
                <a:lnTo>
                  <a:pt x="628175" y="6600"/>
                </a:lnTo>
                <a:lnTo>
                  <a:pt x="686244" y="14547"/>
                </a:lnTo>
                <a:lnTo>
                  <a:pt x="741024" y="25321"/>
                </a:lnTo>
                <a:lnTo>
                  <a:pt x="792044" y="38719"/>
                </a:lnTo>
                <a:lnTo>
                  <a:pt x="838830" y="54539"/>
                </a:lnTo>
                <a:lnTo>
                  <a:pt x="880911" y="72577"/>
                </a:lnTo>
                <a:lnTo>
                  <a:pt x="917814" y="92630"/>
                </a:lnTo>
                <a:lnTo>
                  <a:pt x="949066" y="114496"/>
                </a:lnTo>
                <a:lnTo>
                  <a:pt x="992731" y="162853"/>
                </a:lnTo>
                <a:lnTo>
                  <a:pt x="1008126" y="216026"/>
                </a:lnTo>
                <a:lnTo>
                  <a:pt x="1004198" y="243139"/>
                </a:lnTo>
                <a:lnTo>
                  <a:pt x="974196" y="294134"/>
                </a:lnTo>
                <a:lnTo>
                  <a:pt x="917814" y="339479"/>
                </a:lnTo>
                <a:lnTo>
                  <a:pt x="880911" y="359527"/>
                </a:lnTo>
                <a:lnTo>
                  <a:pt x="838830" y="377558"/>
                </a:lnTo>
                <a:lnTo>
                  <a:pt x="792044" y="393368"/>
                </a:lnTo>
                <a:lnTo>
                  <a:pt x="741024" y="406757"/>
                </a:lnTo>
                <a:lnTo>
                  <a:pt x="686244" y="417521"/>
                </a:lnTo>
                <a:lnTo>
                  <a:pt x="628175" y="425460"/>
                </a:lnTo>
                <a:lnTo>
                  <a:pt x="567291" y="430372"/>
                </a:lnTo>
                <a:lnTo>
                  <a:pt x="504063" y="432053"/>
                </a:lnTo>
                <a:lnTo>
                  <a:pt x="440834" y="430372"/>
                </a:lnTo>
                <a:lnTo>
                  <a:pt x="379950" y="425460"/>
                </a:lnTo>
                <a:lnTo>
                  <a:pt x="321881" y="417521"/>
                </a:lnTo>
                <a:lnTo>
                  <a:pt x="267101" y="406757"/>
                </a:lnTo>
                <a:lnTo>
                  <a:pt x="216081" y="393368"/>
                </a:lnTo>
                <a:lnTo>
                  <a:pt x="169295" y="377558"/>
                </a:lnTo>
                <a:lnTo>
                  <a:pt x="127214" y="359527"/>
                </a:lnTo>
                <a:lnTo>
                  <a:pt x="90311" y="339479"/>
                </a:lnTo>
                <a:lnTo>
                  <a:pt x="59059" y="317614"/>
                </a:lnTo>
                <a:lnTo>
                  <a:pt x="15394" y="269242"/>
                </a:lnTo>
                <a:lnTo>
                  <a:pt x="0" y="21602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863210" y="3796665"/>
            <a:ext cx="28130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0" dirty="0">
                <a:latin typeface="Calibri"/>
                <a:cs typeface="Calibri"/>
              </a:rPr>
              <a:t>sID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380351" y="3714622"/>
            <a:ext cx="1152525" cy="432434"/>
          </a:xfrm>
          <a:custGeom>
            <a:avLst/>
            <a:gdLst/>
            <a:ahLst/>
            <a:cxnLst/>
            <a:rect l="l" t="t" r="r" b="b"/>
            <a:pathLst>
              <a:path w="1152525" h="432435">
                <a:moveTo>
                  <a:pt x="0" y="216026"/>
                </a:moveTo>
                <a:lnTo>
                  <a:pt x="15215" y="166511"/>
                </a:lnTo>
                <a:lnTo>
                  <a:pt x="58556" y="121048"/>
                </a:lnTo>
                <a:lnTo>
                  <a:pt x="126563" y="80936"/>
                </a:lnTo>
                <a:lnTo>
                  <a:pt x="168735" y="63293"/>
                </a:lnTo>
                <a:lnTo>
                  <a:pt x="215777" y="47476"/>
                </a:lnTo>
                <a:lnTo>
                  <a:pt x="267255" y="33646"/>
                </a:lnTo>
                <a:lnTo>
                  <a:pt x="322739" y="21966"/>
                </a:lnTo>
                <a:lnTo>
                  <a:pt x="381794" y="12600"/>
                </a:lnTo>
                <a:lnTo>
                  <a:pt x="443990" y="5708"/>
                </a:lnTo>
                <a:lnTo>
                  <a:pt x="508893" y="1454"/>
                </a:lnTo>
                <a:lnTo>
                  <a:pt x="576072" y="0"/>
                </a:lnTo>
                <a:lnTo>
                  <a:pt x="643250" y="1454"/>
                </a:lnTo>
                <a:lnTo>
                  <a:pt x="708153" y="5708"/>
                </a:lnTo>
                <a:lnTo>
                  <a:pt x="770349" y="12600"/>
                </a:lnTo>
                <a:lnTo>
                  <a:pt x="829404" y="21966"/>
                </a:lnTo>
                <a:lnTo>
                  <a:pt x="884888" y="33646"/>
                </a:lnTo>
                <a:lnTo>
                  <a:pt x="936366" y="47476"/>
                </a:lnTo>
                <a:lnTo>
                  <a:pt x="983408" y="63293"/>
                </a:lnTo>
                <a:lnTo>
                  <a:pt x="1025580" y="80936"/>
                </a:lnTo>
                <a:lnTo>
                  <a:pt x="1062451" y="100242"/>
                </a:lnTo>
                <a:lnTo>
                  <a:pt x="1118557" y="143191"/>
                </a:lnTo>
                <a:lnTo>
                  <a:pt x="1148268" y="190843"/>
                </a:lnTo>
                <a:lnTo>
                  <a:pt x="1152144" y="216026"/>
                </a:lnTo>
                <a:lnTo>
                  <a:pt x="1148268" y="241233"/>
                </a:lnTo>
                <a:lnTo>
                  <a:pt x="1118557" y="288912"/>
                </a:lnTo>
                <a:lnTo>
                  <a:pt x="1062451" y="331868"/>
                </a:lnTo>
                <a:lnTo>
                  <a:pt x="1025580" y="351170"/>
                </a:lnTo>
                <a:lnTo>
                  <a:pt x="983408" y="368807"/>
                </a:lnTo>
                <a:lnTo>
                  <a:pt x="936366" y="384617"/>
                </a:lnTo>
                <a:lnTo>
                  <a:pt x="884888" y="398438"/>
                </a:lnTo>
                <a:lnTo>
                  <a:pt x="829404" y="410109"/>
                </a:lnTo>
                <a:lnTo>
                  <a:pt x="770349" y="419467"/>
                </a:lnTo>
                <a:lnTo>
                  <a:pt x="708153" y="426352"/>
                </a:lnTo>
                <a:lnTo>
                  <a:pt x="643250" y="430601"/>
                </a:lnTo>
                <a:lnTo>
                  <a:pt x="576072" y="432053"/>
                </a:lnTo>
                <a:lnTo>
                  <a:pt x="508893" y="430601"/>
                </a:lnTo>
                <a:lnTo>
                  <a:pt x="443990" y="426352"/>
                </a:lnTo>
                <a:lnTo>
                  <a:pt x="381794" y="419467"/>
                </a:lnTo>
                <a:lnTo>
                  <a:pt x="322739" y="410109"/>
                </a:lnTo>
                <a:lnTo>
                  <a:pt x="267255" y="398438"/>
                </a:lnTo>
                <a:lnTo>
                  <a:pt x="215777" y="384617"/>
                </a:lnTo>
                <a:lnTo>
                  <a:pt x="168735" y="368807"/>
                </a:lnTo>
                <a:lnTo>
                  <a:pt x="126563" y="351170"/>
                </a:lnTo>
                <a:lnTo>
                  <a:pt x="89692" y="331868"/>
                </a:lnTo>
                <a:lnTo>
                  <a:pt x="33586" y="288912"/>
                </a:lnTo>
                <a:lnTo>
                  <a:pt x="3875" y="241233"/>
                </a:lnTo>
                <a:lnTo>
                  <a:pt x="0" y="216026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652384" y="3796665"/>
            <a:ext cx="61023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0" dirty="0">
                <a:latin typeface="Calibri"/>
                <a:cs typeface="Calibri"/>
              </a:rPr>
              <a:t>mCode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580126" y="2254885"/>
            <a:ext cx="292735" cy="635"/>
          </a:xfrm>
          <a:custGeom>
            <a:avLst/>
            <a:gdLst/>
            <a:ahLst/>
            <a:cxnLst/>
            <a:rect l="l" t="t" r="r" b="b"/>
            <a:pathLst>
              <a:path w="292735" h="635">
                <a:moveTo>
                  <a:pt x="292226" y="635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059423" y="1781555"/>
            <a:ext cx="168910" cy="207645"/>
          </a:xfrm>
          <a:custGeom>
            <a:avLst/>
            <a:gdLst/>
            <a:ahLst/>
            <a:cxnLst/>
            <a:rect l="l" t="t" r="r" b="b"/>
            <a:pathLst>
              <a:path w="168910" h="207644">
                <a:moveTo>
                  <a:pt x="0" y="0"/>
                </a:moveTo>
                <a:lnTo>
                  <a:pt x="168783" y="20726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732269" y="1781555"/>
            <a:ext cx="139065" cy="207645"/>
          </a:xfrm>
          <a:custGeom>
            <a:avLst/>
            <a:gdLst/>
            <a:ahLst/>
            <a:cxnLst/>
            <a:rect l="l" t="t" r="r" b="b"/>
            <a:pathLst>
              <a:path w="139065" h="207644">
                <a:moveTo>
                  <a:pt x="138810" y="0"/>
                </a:moveTo>
                <a:lnTo>
                  <a:pt x="0" y="20726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015353" y="2255392"/>
            <a:ext cx="293370" cy="635"/>
          </a:xfrm>
          <a:custGeom>
            <a:avLst/>
            <a:gdLst/>
            <a:ahLst/>
            <a:cxnLst/>
            <a:rect l="l" t="t" r="r" b="b"/>
            <a:pathLst>
              <a:path w="293370" h="635">
                <a:moveTo>
                  <a:pt x="0" y="127"/>
                </a:moveTo>
                <a:lnTo>
                  <a:pt x="29298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508116" y="3930650"/>
            <a:ext cx="288290" cy="1270"/>
          </a:xfrm>
          <a:custGeom>
            <a:avLst/>
            <a:gdLst/>
            <a:ahLst/>
            <a:cxnLst/>
            <a:rect l="l" t="t" r="r" b="b"/>
            <a:pathLst>
              <a:path w="288289" h="1270">
                <a:moveTo>
                  <a:pt x="0" y="0"/>
                </a:moveTo>
                <a:lnTo>
                  <a:pt x="288036" y="126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091553" y="3930650"/>
            <a:ext cx="288925" cy="1270"/>
          </a:xfrm>
          <a:custGeom>
            <a:avLst/>
            <a:gdLst/>
            <a:ahLst/>
            <a:cxnLst/>
            <a:rect l="l" t="t" r="r" b="b"/>
            <a:pathLst>
              <a:path w="288925" h="1270">
                <a:moveTo>
                  <a:pt x="0" y="1269"/>
                </a:moveTo>
                <a:lnTo>
                  <a:pt x="288798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580126" y="5608281"/>
            <a:ext cx="292735" cy="635"/>
          </a:xfrm>
          <a:custGeom>
            <a:avLst/>
            <a:gdLst/>
            <a:ahLst/>
            <a:cxnLst/>
            <a:rect l="l" t="t" r="r" b="b"/>
            <a:pathLst>
              <a:path w="292735" h="635">
                <a:moveTo>
                  <a:pt x="0" y="0"/>
                </a:moveTo>
                <a:lnTo>
                  <a:pt x="292226" y="6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015353" y="5608281"/>
            <a:ext cx="293370" cy="635"/>
          </a:xfrm>
          <a:custGeom>
            <a:avLst/>
            <a:gdLst/>
            <a:ahLst/>
            <a:cxnLst/>
            <a:rect l="l" t="t" r="r" b="b"/>
            <a:pathLst>
              <a:path w="293370" h="635">
                <a:moveTo>
                  <a:pt x="0" y="63"/>
                </a:moveTo>
                <a:lnTo>
                  <a:pt x="292989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443853" y="5875045"/>
            <a:ext cx="635" cy="290830"/>
          </a:xfrm>
          <a:custGeom>
            <a:avLst/>
            <a:gdLst/>
            <a:ahLst/>
            <a:cxnLst/>
            <a:rect l="l" t="t" r="r" b="b"/>
            <a:pathLst>
              <a:path w="635" h="290829">
                <a:moveTo>
                  <a:pt x="0" y="0"/>
                </a:moveTo>
                <a:lnTo>
                  <a:pt x="381" y="290258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6169533" y="6286372"/>
            <a:ext cx="54991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r>
              <a:rPr sz="1600" spc="-5" dirty="0">
                <a:latin typeface="Calibri"/>
                <a:cs typeface="Calibri"/>
              </a:rPr>
              <a:t>mTi</a:t>
            </a:r>
            <a:r>
              <a:rPr sz="1600" dirty="0">
                <a:latin typeface="Calibri"/>
                <a:cs typeface="Calibri"/>
              </a:rPr>
              <a:t>t</a:t>
            </a:r>
            <a:r>
              <a:rPr sz="1600" spc="-5" dirty="0">
                <a:latin typeface="Calibri"/>
                <a:cs typeface="Calibri"/>
              </a:rPr>
              <a:t>le</a:t>
            </a:r>
            <a:endParaRPr sz="16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87962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-457200"/>
            <a:ext cx="8042276" cy="13369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29230">
              <a:lnSpc>
                <a:spcPct val="100000"/>
              </a:lnSpc>
            </a:pPr>
            <a:r>
              <a:rPr spc="-25" dirty="0"/>
              <a:t>Exercise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67028"/>
            <a:ext cx="3877945" cy="1107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5" dirty="0">
                <a:latin typeface="Calibri"/>
                <a:cs typeface="Calibri"/>
              </a:rPr>
              <a:t>Create </a:t>
            </a:r>
            <a:r>
              <a:rPr sz="2400" spc="-5" dirty="0">
                <a:latin typeface="Calibri"/>
                <a:cs typeface="Calibri"/>
              </a:rPr>
              <a:t>table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lang="en-US" sz="2400" dirty="0" smtClean="0">
                <a:latin typeface="Calibri"/>
                <a:cs typeface="Calibri"/>
              </a:rPr>
              <a:t>PostgreSQL </a:t>
            </a:r>
            <a:r>
              <a:rPr sz="2400" spc="-15" dirty="0" smtClean="0">
                <a:latin typeface="Calibri"/>
                <a:cs typeface="Calibri"/>
              </a:rPr>
              <a:t>from 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E/R </a:t>
            </a:r>
            <a:r>
              <a:rPr sz="2400" spc="-10" dirty="0">
                <a:latin typeface="Calibri"/>
                <a:cs typeface="Calibri"/>
              </a:rPr>
              <a:t>diagram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right  by </a:t>
            </a:r>
            <a:r>
              <a:rPr sz="2400" spc="-5" dirty="0">
                <a:latin typeface="Calibri"/>
                <a:cs typeface="Calibri"/>
              </a:rPr>
              <a:t>identifying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444" y="2529078"/>
            <a:ext cx="3327400" cy="1367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000" dirty="0">
                <a:latin typeface="Calibri"/>
                <a:cs typeface="Calibri"/>
              </a:rPr>
              <a:t>Name of the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tables</a:t>
            </a:r>
            <a:endParaRPr sz="2000">
              <a:latin typeface="Calibri"/>
              <a:cs typeface="Calibri"/>
            </a:endParaRPr>
          </a:p>
          <a:p>
            <a:pPr marL="299085" marR="5080" indent="-28638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000" spc="-5" dirty="0">
                <a:latin typeface="Calibri"/>
                <a:cs typeface="Calibri"/>
              </a:rPr>
              <a:t>The columns </a:t>
            </a:r>
            <a:r>
              <a:rPr sz="2000" dirty="0">
                <a:latin typeface="Calibri"/>
                <a:cs typeface="Calibri"/>
              </a:rPr>
              <a:t>(inc. </a:t>
            </a:r>
            <a:r>
              <a:rPr sz="2000" spc="-15" dirty="0">
                <a:latin typeface="Calibri"/>
                <a:cs typeface="Calibri"/>
              </a:rPr>
              <a:t>data </a:t>
            </a:r>
            <a:r>
              <a:rPr sz="2000" spc="-5" dirty="0">
                <a:latin typeface="Calibri"/>
                <a:cs typeface="Calibri"/>
              </a:rPr>
              <a:t>types 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attributes)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000" spc="-10" dirty="0">
                <a:latin typeface="Calibri"/>
                <a:cs typeface="Calibri"/>
              </a:rPr>
              <a:t>Each </a:t>
            </a:r>
            <a:r>
              <a:rPr sz="2000" spc="-20" dirty="0">
                <a:latin typeface="Calibri"/>
                <a:cs typeface="Calibri"/>
              </a:rPr>
              <a:t>table’s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constraints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82336" y="1340738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>
                <a:moveTo>
                  <a:pt x="0" y="190500"/>
                </a:moveTo>
                <a:lnTo>
                  <a:pt x="19359" y="135500"/>
                </a:lnTo>
                <a:lnTo>
                  <a:pt x="73664" y="86794"/>
                </a:lnTo>
                <a:lnTo>
                  <a:pt x="112153" y="65540"/>
                </a:lnTo>
                <a:lnTo>
                  <a:pt x="157254" y="46744"/>
                </a:lnTo>
                <a:lnTo>
                  <a:pt x="208262" y="30704"/>
                </a:lnTo>
                <a:lnTo>
                  <a:pt x="264468" y="17714"/>
                </a:lnTo>
                <a:lnTo>
                  <a:pt x="325165" y="8069"/>
                </a:lnTo>
                <a:lnTo>
                  <a:pt x="389644" y="2066"/>
                </a:lnTo>
                <a:lnTo>
                  <a:pt x="457200" y="0"/>
                </a:lnTo>
                <a:lnTo>
                  <a:pt x="524755" y="2066"/>
                </a:lnTo>
                <a:lnTo>
                  <a:pt x="589234" y="8069"/>
                </a:lnTo>
                <a:lnTo>
                  <a:pt x="649931" y="17714"/>
                </a:lnTo>
                <a:lnTo>
                  <a:pt x="706137" y="30704"/>
                </a:lnTo>
                <a:lnTo>
                  <a:pt x="757145" y="46744"/>
                </a:lnTo>
                <a:lnTo>
                  <a:pt x="802246" y="65540"/>
                </a:lnTo>
                <a:lnTo>
                  <a:pt x="840735" y="86794"/>
                </a:lnTo>
                <a:lnTo>
                  <a:pt x="871902" y="110213"/>
                </a:lnTo>
                <a:lnTo>
                  <a:pt x="909442" y="162361"/>
                </a:lnTo>
                <a:lnTo>
                  <a:pt x="914400" y="190500"/>
                </a:lnTo>
                <a:lnTo>
                  <a:pt x="909442" y="218667"/>
                </a:lnTo>
                <a:lnTo>
                  <a:pt x="871902" y="270841"/>
                </a:lnTo>
                <a:lnTo>
                  <a:pt x="840735" y="294261"/>
                </a:lnTo>
                <a:lnTo>
                  <a:pt x="802246" y="315511"/>
                </a:lnTo>
                <a:lnTo>
                  <a:pt x="757145" y="334298"/>
                </a:lnTo>
                <a:lnTo>
                  <a:pt x="706137" y="350327"/>
                </a:lnTo>
                <a:lnTo>
                  <a:pt x="649931" y="363306"/>
                </a:lnTo>
                <a:lnTo>
                  <a:pt x="589234" y="372940"/>
                </a:lnTo>
                <a:lnTo>
                  <a:pt x="524755" y="378936"/>
                </a:lnTo>
                <a:lnTo>
                  <a:pt x="457200" y="381000"/>
                </a:lnTo>
                <a:lnTo>
                  <a:pt x="389644" y="378936"/>
                </a:lnTo>
                <a:lnTo>
                  <a:pt x="325165" y="372940"/>
                </a:lnTo>
                <a:lnTo>
                  <a:pt x="264468" y="363306"/>
                </a:lnTo>
                <a:lnTo>
                  <a:pt x="208262" y="350327"/>
                </a:lnTo>
                <a:lnTo>
                  <a:pt x="157254" y="334298"/>
                </a:lnTo>
                <a:lnTo>
                  <a:pt x="112153" y="315511"/>
                </a:lnTo>
                <a:lnTo>
                  <a:pt x="73664" y="294261"/>
                </a:lnTo>
                <a:lnTo>
                  <a:pt x="42497" y="270841"/>
                </a:lnTo>
                <a:lnTo>
                  <a:pt x="4957" y="218667"/>
                </a:lnTo>
                <a:lnTo>
                  <a:pt x="0" y="1905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206746" y="1404620"/>
            <a:ext cx="46609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pri</a:t>
            </a:r>
            <a:r>
              <a:rPr sz="1600" dirty="0">
                <a:latin typeface="Arial"/>
                <a:cs typeface="Arial"/>
              </a:rPr>
              <a:t>c</a:t>
            </a:r>
            <a:r>
              <a:rPr sz="1600" spc="-5" dirty="0"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559802" y="1340738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>
                <a:moveTo>
                  <a:pt x="0" y="190500"/>
                </a:moveTo>
                <a:lnTo>
                  <a:pt x="19359" y="135500"/>
                </a:lnTo>
                <a:lnTo>
                  <a:pt x="73664" y="86794"/>
                </a:lnTo>
                <a:lnTo>
                  <a:pt x="112153" y="65540"/>
                </a:lnTo>
                <a:lnTo>
                  <a:pt x="157254" y="46744"/>
                </a:lnTo>
                <a:lnTo>
                  <a:pt x="208262" y="30704"/>
                </a:lnTo>
                <a:lnTo>
                  <a:pt x="264468" y="17714"/>
                </a:lnTo>
                <a:lnTo>
                  <a:pt x="325165" y="8069"/>
                </a:lnTo>
                <a:lnTo>
                  <a:pt x="389644" y="2066"/>
                </a:lnTo>
                <a:lnTo>
                  <a:pt x="457200" y="0"/>
                </a:lnTo>
                <a:lnTo>
                  <a:pt x="524755" y="2066"/>
                </a:lnTo>
                <a:lnTo>
                  <a:pt x="589234" y="8069"/>
                </a:lnTo>
                <a:lnTo>
                  <a:pt x="649931" y="17714"/>
                </a:lnTo>
                <a:lnTo>
                  <a:pt x="706137" y="30704"/>
                </a:lnTo>
                <a:lnTo>
                  <a:pt x="757145" y="46744"/>
                </a:lnTo>
                <a:lnTo>
                  <a:pt x="802246" y="65540"/>
                </a:lnTo>
                <a:lnTo>
                  <a:pt x="840735" y="86794"/>
                </a:lnTo>
                <a:lnTo>
                  <a:pt x="871902" y="110213"/>
                </a:lnTo>
                <a:lnTo>
                  <a:pt x="909442" y="162361"/>
                </a:lnTo>
                <a:lnTo>
                  <a:pt x="914400" y="190500"/>
                </a:lnTo>
                <a:lnTo>
                  <a:pt x="909442" y="218667"/>
                </a:lnTo>
                <a:lnTo>
                  <a:pt x="871902" y="270841"/>
                </a:lnTo>
                <a:lnTo>
                  <a:pt x="840735" y="294261"/>
                </a:lnTo>
                <a:lnTo>
                  <a:pt x="802246" y="315511"/>
                </a:lnTo>
                <a:lnTo>
                  <a:pt x="757145" y="334298"/>
                </a:lnTo>
                <a:lnTo>
                  <a:pt x="706137" y="350327"/>
                </a:lnTo>
                <a:lnTo>
                  <a:pt x="649931" y="363306"/>
                </a:lnTo>
                <a:lnTo>
                  <a:pt x="589234" y="372940"/>
                </a:lnTo>
                <a:lnTo>
                  <a:pt x="524755" y="378936"/>
                </a:lnTo>
                <a:lnTo>
                  <a:pt x="457200" y="381000"/>
                </a:lnTo>
                <a:lnTo>
                  <a:pt x="389644" y="378936"/>
                </a:lnTo>
                <a:lnTo>
                  <a:pt x="325165" y="372940"/>
                </a:lnTo>
                <a:lnTo>
                  <a:pt x="264468" y="363306"/>
                </a:lnTo>
                <a:lnTo>
                  <a:pt x="208262" y="350327"/>
                </a:lnTo>
                <a:lnTo>
                  <a:pt x="157254" y="334298"/>
                </a:lnTo>
                <a:lnTo>
                  <a:pt x="112153" y="315511"/>
                </a:lnTo>
                <a:lnTo>
                  <a:pt x="73664" y="294261"/>
                </a:lnTo>
                <a:lnTo>
                  <a:pt x="42497" y="270841"/>
                </a:lnTo>
                <a:lnTo>
                  <a:pt x="4957" y="218667"/>
                </a:lnTo>
                <a:lnTo>
                  <a:pt x="0" y="1905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12709" y="1404620"/>
            <a:ext cx="61214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de</a:t>
            </a:r>
            <a:r>
              <a:rPr sz="1600" dirty="0">
                <a:latin typeface="Arial"/>
                <a:cs typeface="Arial"/>
              </a:rPr>
              <a:t>s</a:t>
            </a:r>
            <a:r>
              <a:rPr sz="1600" spc="-5" dirty="0">
                <a:latin typeface="Arial"/>
                <a:cs typeface="Arial"/>
              </a:rPr>
              <a:t>tID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04053" y="2111882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>
                <a:moveTo>
                  <a:pt x="0" y="190500"/>
                </a:moveTo>
                <a:lnTo>
                  <a:pt x="19359" y="135500"/>
                </a:lnTo>
                <a:lnTo>
                  <a:pt x="73664" y="86794"/>
                </a:lnTo>
                <a:lnTo>
                  <a:pt x="112153" y="65540"/>
                </a:lnTo>
                <a:lnTo>
                  <a:pt x="157254" y="46744"/>
                </a:lnTo>
                <a:lnTo>
                  <a:pt x="208262" y="30704"/>
                </a:lnTo>
                <a:lnTo>
                  <a:pt x="264468" y="17714"/>
                </a:lnTo>
                <a:lnTo>
                  <a:pt x="325165" y="8069"/>
                </a:lnTo>
                <a:lnTo>
                  <a:pt x="389644" y="2066"/>
                </a:lnTo>
                <a:lnTo>
                  <a:pt x="457200" y="0"/>
                </a:lnTo>
                <a:lnTo>
                  <a:pt x="524755" y="2066"/>
                </a:lnTo>
                <a:lnTo>
                  <a:pt x="589234" y="8069"/>
                </a:lnTo>
                <a:lnTo>
                  <a:pt x="649931" y="17714"/>
                </a:lnTo>
                <a:lnTo>
                  <a:pt x="706137" y="30704"/>
                </a:lnTo>
                <a:lnTo>
                  <a:pt x="757145" y="46744"/>
                </a:lnTo>
                <a:lnTo>
                  <a:pt x="802246" y="65540"/>
                </a:lnTo>
                <a:lnTo>
                  <a:pt x="840735" y="86794"/>
                </a:lnTo>
                <a:lnTo>
                  <a:pt x="871902" y="110213"/>
                </a:lnTo>
                <a:lnTo>
                  <a:pt x="909442" y="162361"/>
                </a:lnTo>
                <a:lnTo>
                  <a:pt x="914400" y="190500"/>
                </a:lnTo>
                <a:lnTo>
                  <a:pt x="909442" y="218667"/>
                </a:lnTo>
                <a:lnTo>
                  <a:pt x="871902" y="270841"/>
                </a:lnTo>
                <a:lnTo>
                  <a:pt x="840735" y="294261"/>
                </a:lnTo>
                <a:lnTo>
                  <a:pt x="802246" y="315511"/>
                </a:lnTo>
                <a:lnTo>
                  <a:pt x="757145" y="334298"/>
                </a:lnTo>
                <a:lnTo>
                  <a:pt x="706137" y="350327"/>
                </a:lnTo>
                <a:lnTo>
                  <a:pt x="649931" y="363306"/>
                </a:lnTo>
                <a:lnTo>
                  <a:pt x="589234" y="372940"/>
                </a:lnTo>
                <a:lnTo>
                  <a:pt x="524755" y="378936"/>
                </a:lnTo>
                <a:lnTo>
                  <a:pt x="457200" y="381000"/>
                </a:lnTo>
                <a:lnTo>
                  <a:pt x="389644" y="378936"/>
                </a:lnTo>
                <a:lnTo>
                  <a:pt x="325165" y="372940"/>
                </a:lnTo>
                <a:lnTo>
                  <a:pt x="264468" y="363306"/>
                </a:lnTo>
                <a:lnTo>
                  <a:pt x="208262" y="350327"/>
                </a:lnTo>
                <a:lnTo>
                  <a:pt x="157254" y="334298"/>
                </a:lnTo>
                <a:lnTo>
                  <a:pt x="112153" y="315511"/>
                </a:lnTo>
                <a:lnTo>
                  <a:pt x="73664" y="294261"/>
                </a:lnTo>
                <a:lnTo>
                  <a:pt x="42497" y="270841"/>
                </a:lnTo>
                <a:lnTo>
                  <a:pt x="4957" y="218667"/>
                </a:lnTo>
                <a:lnTo>
                  <a:pt x="0" y="1905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098796" y="2175764"/>
            <a:ext cx="72580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Arial"/>
                <a:cs typeface="Arial"/>
              </a:rPr>
              <a:t>l</a:t>
            </a:r>
            <a:r>
              <a:rPr sz="1600" spc="-10" dirty="0">
                <a:latin typeface="Arial"/>
                <a:cs typeface="Arial"/>
              </a:rPr>
              <a:t>o</a:t>
            </a:r>
            <a:r>
              <a:rPr sz="1600" spc="-5" dirty="0">
                <a:latin typeface="Arial"/>
                <a:cs typeface="Arial"/>
              </a:rPr>
              <a:t>c</a:t>
            </a:r>
            <a:r>
              <a:rPr sz="1600" spc="-10" dirty="0">
                <a:latin typeface="Arial"/>
                <a:cs typeface="Arial"/>
              </a:rPr>
              <a:t>at</a:t>
            </a:r>
            <a:r>
              <a:rPr sz="1600" dirty="0">
                <a:latin typeface="Arial"/>
                <a:cs typeface="Arial"/>
              </a:rPr>
              <a:t>i</a:t>
            </a:r>
            <a:r>
              <a:rPr sz="1600" spc="-10" dirty="0">
                <a:latin typeface="Arial"/>
                <a:cs typeface="Arial"/>
              </a:rPr>
              <a:t>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52359" y="1665985"/>
            <a:ext cx="241935" cy="301625"/>
          </a:xfrm>
          <a:custGeom>
            <a:avLst/>
            <a:gdLst/>
            <a:ahLst/>
            <a:cxnLst/>
            <a:rect l="l" t="t" r="r" b="b"/>
            <a:pathLst>
              <a:path w="241934" h="301625">
                <a:moveTo>
                  <a:pt x="0" y="301498"/>
                </a:moveTo>
                <a:lnTo>
                  <a:pt x="241426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62878" y="1665985"/>
            <a:ext cx="321310" cy="301625"/>
          </a:xfrm>
          <a:custGeom>
            <a:avLst/>
            <a:gdLst/>
            <a:ahLst/>
            <a:cxnLst/>
            <a:rect l="l" t="t" r="r" b="b"/>
            <a:pathLst>
              <a:path w="321310" h="301625">
                <a:moveTo>
                  <a:pt x="321310" y="301498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84596" y="1967483"/>
            <a:ext cx="299720" cy="200660"/>
          </a:xfrm>
          <a:custGeom>
            <a:avLst/>
            <a:gdLst/>
            <a:ahLst/>
            <a:cxnLst/>
            <a:rect l="l" t="t" r="r" b="b"/>
            <a:pathLst>
              <a:path w="299720" h="200660">
                <a:moveTo>
                  <a:pt x="299592" y="0"/>
                </a:moveTo>
                <a:lnTo>
                  <a:pt x="0" y="20015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35242" y="3717035"/>
            <a:ext cx="1295400" cy="533400"/>
          </a:xfrm>
          <a:custGeom>
            <a:avLst/>
            <a:gdLst/>
            <a:ahLst/>
            <a:cxnLst/>
            <a:rect l="l" t="t" r="r" b="b"/>
            <a:pathLst>
              <a:path w="1295400" h="533400">
                <a:moveTo>
                  <a:pt x="0" y="88900"/>
                </a:moveTo>
                <a:lnTo>
                  <a:pt x="6979" y="54274"/>
                </a:lnTo>
                <a:lnTo>
                  <a:pt x="26019" y="26019"/>
                </a:lnTo>
                <a:lnTo>
                  <a:pt x="54274" y="6979"/>
                </a:lnTo>
                <a:lnTo>
                  <a:pt x="88900" y="0"/>
                </a:lnTo>
                <a:lnTo>
                  <a:pt x="1206500" y="0"/>
                </a:lnTo>
                <a:lnTo>
                  <a:pt x="1241071" y="6979"/>
                </a:lnTo>
                <a:lnTo>
                  <a:pt x="1269333" y="26019"/>
                </a:lnTo>
                <a:lnTo>
                  <a:pt x="1288403" y="54274"/>
                </a:lnTo>
                <a:lnTo>
                  <a:pt x="1295400" y="88900"/>
                </a:lnTo>
                <a:lnTo>
                  <a:pt x="1295400" y="444500"/>
                </a:lnTo>
                <a:lnTo>
                  <a:pt x="1288403" y="479125"/>
                </a:lnTo>
                <a:lnTo>
                  <a:pt x="1269333" y="507380"/>
                </a:lnTo>
                <a:lnTo>
                  <a:pt x="1241071" y="526420"/>
                </a:lnTo>
                <a:lnTo>
                  <a:pt x="120650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246367" y="3825113"/>
            <a:ext cx="1073150" cy="315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Bookings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84189" y="1700783"/>
            <a:ext cx="1368425" cy="533400"/>
          </a:xfrm>
          <a:custGeom>
            <a:avLst/>
            <a:gdLst/>
            <a:ahLst/>
            <a:cxnLst/>
            <a:rect l="l" t="t" r="r" b="b"/>
            <a:pathLst>
              <a:path w="1368425" h="533400">
                <a:moveTo>
                  <a:pt x="0" y="88900"/>
                </a:moveTo>
                <a:lnTo>
                  <a:pt x="6979" y="54328"/>
                </a:lnTo>
                <a:lnTo>
                  <a:pt x="26019" y="26066"/>
                </a:lnTo>
                <a:lnTo>
                  <a:pt x="54274" y="6996"/>
                </a:lnTo>
                <a:lnTo>
                  <a:pt x="88900" y="0"/>
                </a:lnTo>
                <a:lnTo>
                  <a:pt x="1279270" y="0"/>
                </a:lnTo>
                <a:lnTo>
                  <a:pt x="1313842" y="6996"/>
                </a:lnTo>
                <a:lnTo>
                  <a:pt x="1342104" y="26066"/>
                </a:lnTo>
                <a:lnTo>
                  <a:pt x="1361174" y="54328"/>
                </a:lnTo>
                <a:lnTo>
                  <a:pt x="1368170" y="88900"/>
                </a:lnTo>
                <a:lnTo>
                  <a:pt x="1368170" y="444500"/>
                </a:lnTo>
                <a:lnTo>
                  <a:pt x="1361174" y="479125"/>
                </a:lnTo>
                <a:lnTo>
                  <a:pt x="1342104" y="507380"/>
                </a:lnTo>
                <a:lnTo>
                  <a:pt x="1313842" y="526420"/>
                </a:lnTo>
                <a:lnTo>
                  <a:pt x="1279270" y="533400"/>
                </a:lnTo>
                <a:lnTo>
                  <a:pt x="88900" y="533400"/>
                </a:lnTo>
                <a:lnTo>
                  <a:pt x="54274" y="526420"/>
                </a:lnTo>
                <a:lnTo>
                  <a:pt x="26019" y="507380"/>
                </a:lnTo>
                <a:lnTo>
                  <a:pt x="6979" y="479125"/>
                </a:lnTo>
                <a:lnTo>
                  <a:pt x="0" y="444500"/>
                </a:lnTo>
                <a:lnTo>
                  <a:pt x="0" y="889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120129" y="1808226"/>
            <a:ext cx="1301115" cy="315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Destination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228207" y="5589244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88899"/>
                </a:moveTo>
                <a:lnTo>
                  <a:pt x="6979" y="54296"/>
                </a:lnTo>
                <a:lnTo>
                  <a:pt x="26019" y="26038"/>
                </a:lnTo>
                <a:lnTo>
                  <a:pt x="54274" y="6986"/>
                </a:lnTo>
                <a:lnTo>
                  <a:pt x="88900" y="0"/>
                </a:lnTo>
                <a:lnTo>
                  <a:pt x="1054099" y="0"/>
                </a:lnTo>
                <a:lnTo>
                  <a:pt x="1088671" y="6986"/>
                </a:lnTo>
                <a:lnTo>
                  <a:pt x="1116933" y="26038"/>
                </a:lnTo>
                <a:lnTo>
                  <a:pt x="1136003" y="54296"/>
                </a:lnTo>
                <a:lnTo>
                  <a:pt x="1142999" y="88899"/>
                </a:lnTo>
                <a:lnTo>
                  <a:pt x="1142999" y="444487"/>
                </a:lnTo>
                <a:lnTo>
                  <a:pt x="1136003" y="479098"/>
                </a:lnTo>
                <a:lnTo>
                  <a:pt x="1116933" y="507360"/>
                </a:lnTo>
                <a:lnTo>
                  <a:pt x="1088671" y="526413"/>
                </a:lnTo>
                <a:lnTo>
                  <a:pt x="1054099" y="533399"/>
                </a:lnTo>
                <a:lnTo>
                  <a:pt x="88900" y="533399"/>
                </a:lnTo>
                <a:lnTo>
                  <a:pt x="54274" y="526413"/>
                </a:lnTo>
                <a:lnTo>
                  <a:pt x="26019" y="507360"/>
                </a:lnTo>
                <a:lnTo>
                  <a:pt x="6979" y="479098"/>
                </a:lnTo>
                <a:lnTo>
                  <a:pt x="0" y="444487"/>
                </a:lnTo>
                <a:lnTo>
                  <a:pt x="0" y="8889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398767" y="5697524"/>
            <a:ext cx="803910" cy="315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Clients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296025" y="4751070"/>
            <a:ext cx="990600" cy="533400"/>
          </a:xfrm>
          <a:custGeom>
            <a:avLst/>
            <a:gdLst/>
            <a:ahLst/>
            <a:cxnLst/>
            <a:rect l="l" t="t" r="r" b="b"/>
            <a:pathLst>
              <a:path w="990600" h="533400">
                <a:moveTo>
                  <a:pt x="0" y="266699"/>
                </a:moveTo>
                <a:lnTo>
                  <a:pt x="495300" y="0"/>
                </a:lnTo>
                <a:lnTo>
                  <a:pt x="990600" y="266699"/>
                </a:lnTo>
                <a:lnTo>
                  <a:pt x="495300" y="533399"/>
                </a:lnTo>
                <a:lnTo>
                  <a:pt x="0" y="26669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531102" y="4891785"/>
            <a:ext cx="52260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Arial"/>
                <a:cs typeface="Arial"/>
              </a:rPr>
              <a:t>ma</a:t>
            </a:r>
            <a:r>
              <a:rPr sz="1600" dirty="0">
                <a:latin typeface="Arial"/>
                <a:cs typeface="Arial"/>
              </a:rPr>
              <a:t>k</a:t>
            </a:r>
            <a:r>
              <a:rPr sz="1600" spc="-5" dirty="0"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278498" y="2852927"/>
            <a:ext cx="990600" cy="533400"/>
          </a:xfrm>
          <a:custGeom>
            <a:avLst/>
            <a:gdLst/>
            <a:ahLst/>
            <a:cxnLst/>
            <a:rect l="l" t="t" r="r" b="b"/>
            <a:pathLst>
              <a:path w="990600" h="533400">
                <a:moveTo>
                  <a:pt x="0" y="266700"/>
                </a:moveTo>
                <a:lnTo>
                  <a:pt x="495300" y="0"/>
                </a:lnTo>
                <a:lnTo>
                  <a:pt x="990600" y="266700"/>
                </a:lnTo>
                <a:lnTo>
                  <a:pt x="495300" y="533400"/>
                </a:lnTo>
                <a:lnTo>
                  <a:pt x="0" y="2667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643243" y="2993263"/>
            <a:ext cx="26225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Arial"/>
                <a:cs typeface="Arial"/>
              </a:rPr>
              <a:t>for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768210" y="2234183"/>
            <a:ext cx="5715" cy="619125"/>
          </a:xfrm>
          <a:custGeom>
            <a:avLst/>
            <a:gdLst/>
            <a:ahLst/>
            <a:cxnLst/>
            <a:rect l="l" t="t" r="r" b="b"/>
            <a:pathLst>
              <a:path w="5715" h="619125">
                <a:moveTo>
                  <a:pt x="0" y="0"/>
                </a:moveTo>
                <a:lnTo>
                  <a:pt x="5588" y="61874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773798" y="3386328"/>
            <a:ext cx="9525" cy="330835"/>
          </a:xfrm>
          <a:custGeom>
            <a:avLst/>
            <a:gdLst/>
            <a:ahLst/>
            <a:cxnLst/>
            <a:rect l="l" t="t" r="r" b="b"/>
            <a:pathLst>
              <a:path w="9525" h="330835">
                <a:moveTo>
                  <a:pt x="0" y="0"/>
                </a:moveTo>
                <a:lnTo>
                  <a:pt x="9144" y="330708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782943" y="4250435"/>
            <a:ext cx="8890" cy="501015"/>
          </a:xfrm>
          <a:custGeom>
            <a:avLst/>
            <a:gdLst/>
            <a:ahLst/>
            <a:cxnLst/>
            <a:rect l="l" t="t" r="r" b="b"/>
            <a:pathLst>
              <a:path w="8890" h="501014">
                <a:moveTo>
                  <a:pt x="0" y="0"/>
                </a:moveTo>
                <a:lnTo>
                  <a:pt x="8381" y="50063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791325" y="5284470"/>
            <a:ext cx="8890" cy="304800"/>
          </a:xfrm>
          <a:custGeom>
            <a:avLst/>
            <a:gdLst/>
            <a:ahLst/>
            <a:cxnLst/>
            <a:rect l="l" t="t" r="r" b="b"/>
            <a:pathLst>
              <a:path w="8890" h="304800">
                <a:moveTo>
                  <a:pt x="0" y="0"/>
                </a:moveTo>
                <a:lnTo>
                  <a:pt x="8381" y="30477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660260" y="4250435"/>
            <a:ext cx="228600" cy="186690"/>
          </a:xfrm>
          <a:custGeom>
            <a:avLst/>
            <a:gdLst/>
            <a:ahLst/>
            <a:cxnLst/>
            <a:rect l="l" t="t" r="r" b="b"/>
            <a:pathLst>
              <a:path w="228600" h="186689">
                <a:moveTo>
                  <a:pt x="228600" y="0"/>
                </a:moveTo>
                <a:lnTo>
                  <a:pt x="222772" y="59015"/>
                </a:lnTo>
                <a:lnTo>
                  <a:pt x="206544" y="110264"/>
                </a:lnTo>
                <a:lnTo>
                  <a:pt x="181801" y="150674"/>
                </a:lnTo>
                <a:lnTo>
                  <a:pt x="150424" y="177174"/>
                </a:lnTo>
                <a:lnTo>
                  <a:pt x="114300" y="186689"/>
                </a:lnTo>
                <a:lnTo>
                  <a:pt x="78175" y="177188"/>
                </a:lnTo>
                <a:lnTo>
                  <a:pt x="46798" y="150727"/>
                </a:lnTo>
                <a:lnTo>
                  <a:pt x="22055" y="110374"/>
                </a:lnTo>
                <a:lnTo>
                  <a:pt x="5827" y="59194"/>
                </a:lnTo>
                <a:lnTo>
                  <a:pt x="0" y="25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660260" y="3573017"/>
            <a:ext cx="228600" cy="152400"/>
          </a:xfrm>
          <a:custGeom>
            <a:avLst/>
            <a:gdLst/>
            <a:ahLst/>
            <a:cxnLst/>
            <a:rect l="l" t="t" r="r" b="b"/>
            <a:pathLst>
              <a:path w="228600" h="152400">
                <a:moveTo>
                  <a:pt x="228600" y="152400"/>
                </a:moveTo>
                <a:lnTo>
                  <a:pt x="222772" y="104217"/>
                </a:lnTo>
                <a:lnTo>
                  <a:pt x="206544" y="62380"/>
                </a:lnTo>
                <a:lnTo>
                  <a:pt x="181801" y="29394"/>
                </a:lnTo>
                <a:lnTo>
                  <a:pt x="150424" y="7766"/>
                </a:lnTo>
                <a:lnTo>
                  <a:pt x="114300" y="0"/>
                </a:lnTo>
                <a:lnTo>
                  <a:pt x="78175" y="7753"/>
                </a:lnTo>
                <a:lnTo>
                  <a:pt x="46798" y="29350"/>
                </a:lnTo>
                <a:lnTo>
                  <a:pt x="22055" y="62298"/>
                </a:lnTo>
                <a:lnTo>
                  <a:pt x="5827" y="104103"/>
                </a:lnTo>
                <a:lnTo>
                  <a:pt x="0" y="15227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982336" y="34290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>
                <a:moveTo>
                  <a:pt x="0" y="190500"/>
                </a:moveTo>
                <a:lnTo>
                  <a:pt x="19359" y="135500"/>
                </a:lnTo>
                <a:lnTo>
                  <a:pt x="73664" y="86794"/>
                </a:lnTo>
                <a:lnTo>
                  <a:pt x="112153" y="65540"/>
                </a:lnTo>
                <a:lnTo>
                  <a:pt x="157254" y="46744"/>
                </a:lnTo>
                <a:lnTo>
                  <a:pt x="208262" y="30704"/>
                </a:lnTo>
                <a:lnTo>
                  <a:pt x="264468" y="17714"/>
                </a:lnTo>
                <a:lnTo>
                  <a:pt x="325165" y="8069"/>
                </a:lnTo>
                <a:lnTo>
                  <a:pt x="389644" y="2066"/>
                </a:lnTo>
                <a:lnTo>
                  <a:pt x="457200" y="0"/>
                </a:lnTo>
                <a:lnTo>
                  <a:pt x="524755" y="2066"/>
                </a:lnTo>
                <a:lnTo>
                  <a:pt x="589234" y="8069"/>
                </a:lnTo>
                <a:lnTo>
                  <a:pt x="649931" y="17714"/>
                </a:lnTo>
                <a:lnTo>
                  <a:pt x="706137" y="30704"/>
                </a:lnTo>
                <a:lnTo>
                  <a:pt x="757145" y="46744"/>
                </a:lnTo>
                <a:lnTo>
                  <a:pt x="802246" y="65540"/>
                </a:lnTo>
                <a:lnTo>
                  <a:pt x="840735" y="86794"/>
                </a:lnTo>
                <a:lnTo>
                  <a:pt x="871902" y="110213"/>
                </a:lnTo>
                <a:lnTo>
                  <a:pt x="909442" y="162361"/>
                </a:lnTo>
                <a:lnTo>
                  <a:pt x="914400" y="190500"/>
                </a:lnTo>
                <a:lnTo>
                  <a:pt x="909442" y="218638"/>
                </a:lnTo>
                <a:lnTo>
                  <a:pt x="871902" y="270786"/>
                </a:lnTo>
                <a:lnTo>
                  <a:pt x="840735" y="294205"/>
                </a:lnTo>
                <a:lnTo>
                  <a:pt x="802246" y="315459"/>
                </a:lnTo>
                <a:lnTo>
                  <a:pt x="757145" y="334255"/>
                </a:lnTo>
                <a:lnTo>
                  <a:pt x="706137" y="350295"/>
                </a:lnTo>
                <a:lnTo>
                  <a:pt x="649931" y="363285"/>
                </a:lnTo>
                <a:lnTo>
                  <a:pt x="589234" y="372930"/>
                </a:lnTo>
                <a:lnTo>
                  <a:pt x="524755" y="378933"/>
                </a:lnTo>
                <a:lnTo>
                  <a:pt x="457200" y="381000"/>
                </a:lnTo>
                <a:lnTo>
                  <a:pt x="389644" y="378933"/>
                </a:lnTo>
                <a:lnTo>
                  <a:pt x="325165" y="372930"/>
                </a:lnTo>
                <a:lnTo>
                  <a:pt x="264468" y="363285"/>
                </a:lnTo>
                <a:lnTo>
                  <a:pt x="208262" y="350295"/>
                </a:lnTo>
                <a:lnTo>
                  <a:pt x="157254" y="334255"/>
                </a:lnTo>
                <a:lnTo>
                  <a:pt x="112153" y="315459"/>
                </a:lnTo>
                <a:lnTo>
                  <a:pt x="73664" y="294205"/>
                </a:lnTo>
                <a:lnTo>
                  <a:pt x="42497" y="270786"/>
                </a:lnTo>
                <a:lnTo>
                  <a:pt x="4957" y="218638"/>
                </a:lnTo>
                <a:lnTo>
                  <a:pt x="0" y="1905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229605" y="3493134"/>
            <a:ext cx="42164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Arial"/>
                <a:cs typeface="Arial"/>
              </a:rPr>
              <a:t>cliID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762878" y="3754246"/>
            <a:ext cx="372745" cy="229870"/>
          </a:xfrm>
          <a:custGeom>
            <a:avLst/>
            <a:gdLst/>
            <a:ahLst/>
            <a:cxnLst/>
            <a:rect l="l" t="t" r="r" b="b"/>
            <a:pathLst>
              <a:path w="372745" h="229870">
                <a:moveTo>
                  <a:pt x="372363" y="229488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932045" y="5280278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>
                <a:moveTo>
                  <a:pt x="0" y="190500"/>
                </a:moveTo>
                <a:lnTo>
                  <a:pt x="19359" y="135454"/>
                </a:lnTo>
                <a:lnTo>
                  <a:pt x="73664" y="86738"/>
                </a:lnTo>
                <a:lnTo>
                  <a:pt x="112153" y="65488"/>
                </a:lnTo>
                <a:lnTo>
                  <a:pt x="157254" y="46701"/>
                </a:lnTo>
                <a:lnTo>
                  <a:pt x="208262" y="30672"/>
                </a:lnTo>
                <a:lnTo>
                  <a:pt x="264468" y="17693"/>
                </a:lnTo>
                <a:lnTo>
                  <a:pt x="325165" y="8059"/>
                </a:lnTo>
                <a:lnTo>
                  <a:pt x="389644" y="2063"/>
                </a:lnTo>
                <a:lnTo>
                  <a:pt x="457200" y="0"/>
                </a:lnTo>
                <a:lnTo>
                  <a:pt x="524755" y="2063"/>
                </a:lnTo>
                <a:lnTo>
                  <a:pt x="589234" y="8059"/>
                </a:lnTo>
                <a:lnTo>
                  <a:pt x="649931" y="17693"/>
                </a:lnTo>
                <a:lnTo>
                  <a:pt x="706137" y="30672"/>
                </a:lnTo>
                <a:lnTo>
                  <a:pt x="757145" y="46701"/>
                </a:lnTo>
                <a:lnTo>
                  <a:pt x="802246" y="65488"/>
                </a:lnTo>
                <a:lnTo>
                  <a:pt x="840735" y="86738"/>
                </a:lnTo>
                <a:lnTo>
                  <a:pt x="871902" y="110158"/>
                </a:lnTo>
                <a:lnTo>
                  <a:pt x="909442" y="162332"/>
                </a:lnTo>
                <a:lnTo>
                  <a:pt x="914400" y="190500"/>
                </a:lnTo>
                <a:lnTo>
                  <a:pt x="909442" y="218637"/>
                </a:lnTo>
                <a:lnTo>
                  <a:pt x="871902" y="270781"/>
                </a:lnTo>
                <a:lnTo>
                  <a:pt x="840735" y="294197"/>
                </a:lnTo>
                <a:lnTo>
                  <a:pt x="802246" y="315449"/>
                </a:lnTo>
                <a:lnTo>
                  <a:pt x="757145" y="334240"/>
                </a:lnTo>
                <a:lnTo>
                  <a:pt x="706137" y="350277"/>
                </a:lnTo>
                <a:lnTo>
                  <a:pt x="649931" y="363264"/>
                </a:lnTo>
                <a:lnTo>
                  <a:pt x="589234" y="372906"/>
                </a:lnTo>
                <a:lnTo>
                  <a:pt x="524755" y="378908"/>
                </a:lnTo>
                <a:lnTo>
                  <a:pt x="457200" y="380974"/>
                </a:lnTo>
                <a:lnTo>
                  <a:pt x="389644" y="378908"/>
                </a:lnTo>
                <a:lnTo>
                  <a:pt x="325165" y="372906"/>
                </a:lnTo>
                <a:lnTo>
                  <a:pt x="264468" y="363264"/>
                </a:lnTo>
                <a:lnTo>
                  <a:pt x="208262" y="350277"/>
                </a:lnTo>
                <a:lnTo>
                  <a:pt x="157254" y="334240"/>
                </a:lnTo>
                <a:lnTo>
                  <a:pt x="112153" y="315449"/>
                </a:lnTo>
                <a:lnTo>
                  <a:pt x="73664" y="294197"/>
                </a:lnTo>
                <a:lnTo>
                  <a:pt x="42497" y="270781"/>
                </a:lnTo>
                <a:lnTo>
                  <a:pt x="4957" y="218637"/>
                </a:lnTo>
                <a:lnTo>
                  <a:pt x="0" y="1905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179314" y="5344795"/>
            <a:ext cx="42164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Arial"/>
                <a:cs typeface="Arial"/>
              </a:rPr>
              <a:t>cliID</a:t>
            </a:r>
            <a:endParaRPr sz="16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712586" y="5605449"/>
            <a:ext cx="515620" cy="250825"/>
          </a:xfrm>
          <a:custGeom>
            <a:avLst/>
            <a:gdLst/>
            <a:ahLst/>
            <a:cxnLst/>
            <a:rect l="l" t="t" r="r" b="b"/>
            <a:pathLst>
              <a:path w="515620" h="250825">
                <a:moveTo>
                  <a:pt x="515620" y="250494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574660" y="6021285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>
                <a:moveTo>
                  <a:pt x="0" y="190499"/>
                </a:moveTo>
                <a:lnTo>
                  <a:pt x="19359" y="135482"/>
                </a:lnTo>
                <a:lnTo>
                  <a:pt x="73664" y="86772"/>
                </a:lnTo>
                <a:lnTo>
                  <a:pt x="112153" y="65519"/>
                </a:lnTo>
                <a:lnTo>
                  <a:pt x="157254" y="46727"/>
                </a:lnTo>
                <a:lnTo>
                  <a:pt x="208262" y="30691"/>
                </a:lnTo>
                <a:lnTo>
                  <a:pt x="264468" y="17706"/>
                </a:lnTo>
                <a:lnTo>
                  <a:pt x="325165" y="8065"/>
                </a:lnTo>
                <a:lnTo>
                  <a:pt x="389644" y="2065"/>
                </a:lnTo>
                <a:lnTo>
                  <a:pt x="457200" y="0"/>
                </a:lnTo>
                <a:lnTo>
                  <a:pt x="524755" y="2065"/>
                </a:lnTo>
                <a:lnTo>
                  <a:pt x="589234" y="8065"/>
                </a:lnTo>
                <a:lnTo>
                  <a:pt x="649931" y="17706"/>
                </a:lnTo>
                <a:lnTo>
                  <a:pt x="706137" y="30691"/>
                </a:lnTo>
                <a:lnTo>
                  <a:pt x="757145" y="46727"/>
                </a:lnTo>
                <a:lnTo>
                  <a:pt x="802246" y="65519"/>
                </a:lnTo>
                <a:lnTo>
                  <a:pt x="840735" y="86772"/>
                </a:lnTo>
                <a:lnTo>
                  <a:pt x="871902" y="110191"/>
                </a:lnTo>
                <a:lnTo>
                  <a:pt x="909442" y="162350"/>
                </a:lnTo>
                <a:lnTo>
                  <a:pt x="914400" y="190499"/>
                </a:lnTo>
                <a:lnTo>
                  <a:pt x="909442" y="218649"/>
                </a:lnTo>
                <a:lnTo>
                  <a:pt x="871902" y="270808"/>
                </a:lnTo>
                <a:lnTo>
                  <a:pt x="840735" y="294227"/>
                </a:lnTo>
                <a:lnTo>
                  <a:pt x="802246" y="315480"/>
                </a:lnTo>
                <a:lnTo>
                  <a:pt x="757145" y="334272"/>
                </a:lnTo>
                <a:lnTo>
                  <a:pt x="706137" y="350308"/>
                </a:lnTo>
                <a:lnTo>
                  <a:pt x="649931" y="363293"/>
                </a:lnTo>
                <a:lnTo>
                  <a:pt x="589234" y="372934"/>
                </a:lnTo>
                <a:lnTo>
                  <a:pt x="524755" y="378934"/>
                </a:lnTo>
                <a:lnTo>
                  <a:pt x="457200" y="380999"/>
                </a:lnTo>
                <a:lnTo>
                  <a:pt x="389644" y="378934"/>
                </a:lnTo>
                <a:lnTo>
                  <a:pt x="325165" y="372934"/>
                </a:lnTo>
                <a:lnTo>
                  <a:pt x="264468" y="363293"/>
                </a:lnTo>
                <a:lnTo>
                  <a:pt x="208262" y="350308"/>
                </a:lnTo>
                <a:lnTo>
                  <a:pt x="157254" y="334272"/>
                </a:lnTo>
                <a:lnTo>
                  <a:pt x="112153" y="315480"/>
                </a:lnTo>
                <a:lnTo>
                  <a:pt x="73664" y="294227"/>
                </a:lnTo>
                <a:lnTo>
                  <a:pt x="42497" y="270808"/>
                </a:lnTo>
                <a:lnTo>
                  <a:pt x="4957" y="218649"/>
                </a:lnTo>
                <a:lnTo>
                  <a:pt x="0" y="19049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659116" y="6086043"/>
            <a:ext cx="74739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address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371206" y="5855944"/>
            <a:ext cx="337820" cy="221615"/>
          </a:xfrm>
          <a:custGeom>
            <a:avLst/>
            <a:gdLst/>
            <a:ahLst/>
            <a:cxnLst/>
            <a:rect l="l" t="t" r="r" b="b"/>
            <a:pathLst>
              <a:path w="337820" h="221614">
                <a:moveTo>
                  <a:pt x="0" y="0"/>
                </a:moveTo>
                <a:lnTo>
                  <a:pt x="337312" y="22113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574660" y="342900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>
                <a:moveTo>
                  <a:pt x="0" y="190500"/>
                </a:moveTo>
                <a:lnTo>
                  <a:pt x="19359" y="135500"/>
                </a:lnTo>
                <a:lnTo>
                  <a:pt x="73664" y="86794"/>
                </a:lnTo>
                <a:lnTo>
                  <a:pt x="112153" y="65540"/>
                </a:lnTo>
                <a:lnTo>
                  <a:pt x="157254" y="46744"/>
                </a:lnTo>
                <a:lnTo>
                  <a:pt x="208262" y="30704"/>
                </a:lnTo>
                <a:lnTo>
                  <a:pt x="264468" y="17714"/>
                </a:lnTo>
                <a:lnTo>
                  <a:pt x="325165" y="8069"/>
                </a:lnTo>
                <a:lnTo>
                  <a:pt x="389644" y="2066"/>
                </a:lnTo>
                <a:lnTo>
                  <a:pt x="457200" y="0"/>
                </a:lnTo>
                <a:lnTo>
                  <a:pt x="524755" y="2066"/>
                </a:lnTo>
                <a:lnTo>
                  <a:pt x="589234" y="8069"/>
                </a:lnTo>
                <a:lnTo>
                  <a:pt x="649931" y="17714"/>
                </a:lnTo>
                <a:lnTo>
                  <a:pt x="706137" y="30704"/>
                </a:lnTo>
                <a:lnTo>
                  <a:pt x="757145" y="46744"/>
                </a:lnTo>
                <a:lnTo>
                  <a:pt x="802246" y="65540"/>
                </a:lnTo>
                <a:lnTo>
                  <a:pt x="840735" y="86794"/>
                </a:lnTo>
                <a:lnTo>
                  <a:pt x="871902" y="110213"/>
                </a:lnTo>
                <a:lnTo>
                  <a:pt x="909442" y="162361"/>
                </a:lnTo>
                <a:lnTo>
                  <a:pt x="914400" y="190500"/>
                </a:lnTo>
                <a:lnTo>
                  <a:pt x="909442" y="218638"/>
                </a:lnTo>
                <a:lnTo>
                  <a:pt x="871902" y="270786"/>
                </a:lnTo>
                <a:lnTo>
                  <a:pt x="840735" y="294205"/>
                </a:lnTo>
                <a:lnTo>
                  <a:pt x="802246" y="315459"/>
                </a:lnTo>
                <a:lnTo>
                  <a:pt x="757145" y="334255"/>
                </a:lnTo>
                <a:lnTo>
                  <a:pt x="706137" y="350295"/>
                </a:lnTo>
                <a:lnTo>
                  <a:pt x="649931" y="363285"/>
                </a:lnTo>
                <a:lnTo>
                  <a:pt x="589234" y="372930"/>
                </a:lnTo>
                <a:lnTo>
                  <a:pt x="524755" y="378933"/>
                </a:lnTo>
                <a:lnTo>
                  <a:pt x="457200" y="381000"/>
                </a:lnTo>
                <a:lnTo>
                  <a:pt x="389644" y="378933"/>
                </a:lnTo>
                <a:lnTo>
                  <a:pt x="325165" y="372930"/>
                </a:lnTo>
                <a:lnTo>
                  <a:pt x="264468" y="363285"/>
                </a:lnTo>
                <a:lnTo>
                  <a:pt x="208262" y="350295"/>
                </a:lnTo>
                <a:lnTo>
                  <a:pt x="157254" y="334255"/>
                </a:lnTo>
                <a:lnTo>
                  <a:pt x="112153" y="315459"/>
                </a:lnTo>
                <a:lnTo>
                  <a:pt x="73664" y="294205"/>
                </a:lnTo>
                <a:lnTo>
                  <a:pt x="42497" y="270786"/>
                </a:lnTo>
                <a:lnTo>
                  <a:pt x="4957" y="218638"/>
                </a:lnTo>
                <a:lnTo>
                  <a:pt x="0" y="1905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727695" y="3493134"/>
            <a:ext cx="61214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de</a:t>
            </a:r>
            <a:r>
              <a:rPr sz="1600" dirty="0">
                <a:latin typeface="Arial"/>
                <a:cs typeface="Arial"/>
              </a:rPr>
              <a:t>s</a:t>
            </a:r>
            <a:r>
              <a:rPr sz="1600" spc="-5" dirty="0">
                <a:latin typeface="Arial"/>
                <a:cs typeface="Arial"/>
              </a:rPr>
              <a:t>tID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430643" y="3754246"/>
            <a:ext cx="278130" cy="229870"/>
          </a:xfrm>
          <a:custGeom>
            <a:avLst/>
            <a:gdLst/>
            <a:ahLst/>
            <a:cxnLst/>
            <a:rect l="l" t="t" r="r" b="b"/>
            <a:pathLst>
              <a:path w="278129" h="229870">
                <a:moveTo>
                  <a:pt x="0" y="229488"/>
                </a:moveTo>
                <a:lnTo>
                  <a:pt x="277875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574660" y="5280278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>
                <a:moveTo>
                  <a:pt x="0" y="190500"/>
                </a:moveTo>
                <a:lnTo>
                  <a:pt x="19359" y="135454"/>
                </a:lnTo>
                <a:lnTo>
                  <a:pt x="73664" y="86738"/>
                </a:lnTo>
                <a:lnTo>
                  <a:pt x="112153" y="65488"/>
                </a:lnTo>
                <a:lnTo>
                  <a:pt x="157254" y="46701"/>
                </a:lnTo>
                <a:lnTo>
                  <a:pt x="208262" y="30672"/>
                </a:lnTo>
                <a:lnTo>
                  <a:pt x="264468" y="17693"/>
                </a:lnTo>
                <a:lnTo>
                  <a:pt x="325165" y="8059"/>
                </a:lnTo>
                <a:lnTo>
                  <a:pt x="389644" y="2063"/>
                </a:lnTo>
                <a:lnTo>
                  <a:pt x="457200" y="0"/>
                </a:lnTo>
                <a:lnTo>
                  <a:pt x="524755" y="2063"/>
                </a:lnTo>
                <a:lnTo>
                  <a:pt x="589234" y="8059"/>
                </a:lnTo>
                <a:lnTo>
                  <a:pt x="649931" y="17693"/>
                </a:lnTo>
                <a:lnTo>
                  <a:pt x="706137" y="30672"/>
                </a:lnTo>
                <a:lnTo>
                  <a:pt x="757145" y="46701"/>
                </a:lnTo>
                <a:lnTo>
                  <a:pt x="802246" y="65488"/>
                </a:lnTo>
                <a:lnTo>
                  <a:pt x="840735" y="86738"/>
                </a:lnTo>
                <a:lnTo>
                  <a:pt x="871902" y="110158"/>
                </a:lnTo>
                <a:lnTo>
                  <a:pt x="909442" y="162332"/>
                </a:lnTo>
                <a:lnTo>
                  <a:pt x="914400" y="190500"/>
                </a:lnTo>
                <a:lnTo>
                  <a:pt x="909442" y="218637"/>
                </a:lnTo>
                <a:lnTo>
                  <a:pt x="871902" y="270781"/>
                </a:lnTo>
                <a:lnTo>
                  <a:pt x="840735" y="294197"/>
                </a:lnTo>
                <a:lnTo>
                  <a:pt x="802246" y="315449"/>
                </a:lnTo>
                <a:lnTo>
                  <a:pt x="757145" y="334240"/>
                </a:lnTo>
                <a:lnTo>
                  <a:pt x="706137" y="350277"/>
                </a:lnTo>
                <a:lnTo>
                  <a:pt x="649931" y="363264"/>
                </a:lnTo>
                <a:lnTo>
                  <a:pt x="589234" y="372906"/>
                </a:lnTo>
                <a:lnTo>
                  <a:pt x="524755" y="378908"/>
                </a:lnTo>
                <a:lnTo>
                  <a:pt x="457200" y="380974"/>
                </a:lnTo>
                <a:lnTo>
                  <a:pt x="389644" y="378908"/>
                </a:lnTo>
                <a:lnTo>
                  <a:pt x="325165" y="372906"/>
                </a:lnTo>
                <a:lnTo>
                  <a:pt x="264468" y="363264"/>
                </a:lnTo>
                <a:lnTo>
                  <a:pt x="208262" y="350277"/>
                </a:lnTo>
                <a:lnTo>
                  <a:pt x="157254" y="334240"/>
                </a:lnTo>
                <a:lnTo>
                  <a:pt x="112153" y="315449"/>
                </a:lnTo>
                <a:lnTo>
                  <a:pt x="73664" y="294197"/>
                </a:lnTo>
                <a:lnTo>
                  <a:pt x="42497" y="270781"/>
                </a:lnTo>
                <a:lnTo>
                  <a:pt x="4957" y="218637"/>
                </a:lnTo>
                <a:lnTo>
                  <a:pt x="0" y="1905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7767319" y="5344795"/>
            <a:ext cx="53276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name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371206" y="5605449"/>
            <a:ext cx="337820" cy="250825"/>
          </a:xfrm>
          <a:custGeom>
            <a:avLst/>
            <a:gdLst/>
            <a:ahLst/>
            <a:cxnLst/>
            <a:rect l="l" t="t" r="r" b="b"/>
            <a:pathLst>
              <a:path w="337820" h="250825">
                <a:moveTo>
                  <a:pt x="0" y="250494"/>
                </a:moveTo>
                <a:lnTo>
                  <a:pt x="33731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884414" y="1916810"/>
            <a:ext cx="1080135" cy="381000"/>
          </a:xfrm>
          <a:custGeom>
            <a:avLst/>
            <a:gdLst/>
            <a:ahLst/>
            <a:cxnLst/>
            <a:rect l="l" t="t" r="r" b="b"/>
            <a:pathLst>
              <a:path w="1080134" h="381000">
                <a:moveTo>
                  <a:pt x="0" y="190500"/>
                </a:moveTo>
                <a:lnTo>
                  <a:pt x="16494" y="143611"/>
                </a:lnTo>
                <a:lnTo>
                  <a:pt x="63277" y="100968"/>
                </a:lnTo>
                <a:lnTo>
                  <a:pt x="96761" y="81686"/>
                </a:lnTo>
                <a:lnTo>
                  <a:pt x="136298" y="64003"/>
                </a:lnTo>
                <a:lnTo>
                  <a:pt x="181381" y="48096"/>
                </a:lnTo>
                <a:lnTo>
                  <a:pt x="231505" y="34146"/>
                </a:lnTo>
                <a:lnTo>
                  <a:pt x="286163" y="22330"/>
                </a:lnTo>
                <a:lnTo>
                  <a:pt x="344848" y="12829"/>
                </a:lnTo>
                <a:lnTo>
                  <a:pt x="407054" y="5821"/>
                </a:lnTo>
                <a:lnTo>
                  <a:pt x="472274" y="1485"/>
                </a:lnTo>
                <a:lnTo>
                  <a:pt x="540003" y="0"/>
                </a:lnTo>
                <a:lnTo>
                  <a:pt x="607760" y="1485"/>
                </a:lnTo>
                <a:lnTo>
                  <a:pt x="673003" y="5821"/>
                </a:lnTo>
                <a:lnTo>
                  <a:pt x="735229" y="12829"/>
                </a:lnTo>
                <a:lnTo>
                  <a:pt x="793929" y="22330"/>
                </a:lnTo>
                <a:lnTo>
                  <a:pt x="848599" y="34146"/>
                </a:lnTo>
                <a:lnTo>
                  <a:pt x="898733" y="48096"/>
                </a:lnTo>
                <a:lnTo>
                  <a:pt x="943824" y="64003"/>
                </a:lnTo>
                <a:lnTo>
                  <a:pt x="983366" y="81686"/>
                </a:lnTo>
                <a:lnTo>
                  <a:pt x="1016853" y="100968"/>
                </a:lnTo>
                <a:lnTo>
                  <a:pt x="1063639" y="143611"/>
                </a:lnTo>
                <a:lnTo>
                  <a:pt x="1080134" y="190500"/>
                </a:lnTo>
                <a:lnTo>
                  <a:pt x="1075926" y="214410"/>
                </a:lnTo>
                <a:lnTo>
                  <a:pt x="1043780" y="259381"/>
                </a:lnTo>
                <a:lnTo>
                  <a:pt x="983366" y="299368"/>
                </a:lnTo>
                <a:lnTo>
                  <a:pt x="943824" y="317047"/>
                </a:lnTo>
                <a:lnTo>
                  <a:pt x="898733" y="332947"/>
                </a:lnTo>
                <a:lnTo>
                  <a:pt x="848599" y="346888"/>
                </a:lnTo>
                <a:lnTo>
                  <a:pt x="793929" y="358694"/>
                </a:lnTo>
                <a:lnTo>
                  <a:pt x="735229" y="368186"/>
                </a:lnTo>
                <a:lnTo>
                  <a:pt x="673003" y="375186"/>
                </a:lnTo>
                <a:lnTo>
                  <a:pt x="607760" y="379516"/>
                </a:lnTo>
                <a:lnTo>
                  <a:pt x="540003" y="381000"/>
                </a:lnTo>
                <a:lnTo>
                  <a:pt x="472274" y="379516"/>
                </a:lnTo>
                <a:lnTo>
                  <a:pt x="407054" y="375186"/>
                </a:lnTo>
                <a:lnTo>
                  <a:pt x="344848" y="368186"/>
                </a:lnTo>
                <a:lnTo>
                  <a:pt x="286163" y="358694"/>
                </a:lnTo>
                <a:lnTo>
                  <a:pt x="231505" y="346888"/>
                </a:lnTo>
                <a:lnTo>
                  <a:pt x="181381" y="332947"/>
                </a:lnTo>
                <a:lnTo>
                  <a:pt x="136298" y="317047"/>
                </a:lnTo>
                <a:lnTo>
                  <a:pt x="96761" y="299368"/>
                </a:lnTo>
                <a:lnTo>
                  <a:pt x="63277" y="280087"/>
                </a:lnTo>
                <a:lnTo>
                  <a:pt x="16494" y="237430"/>
                </a:lnTo>
                <a:lnTo>
                  <a:pt x="0" y="1905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7944739" y="1980691"/>
            <a:ext cx="96202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attractions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452359" y="1967483"/>
            <a:ext cx="432434" cy="140335"/>
          </a:xfrm>
          <a:custGeom>
            <a:avLst/>
            <a:gdLst/>
            <a:ahLst/>
            <a:cxnLst/>
            <a:rect l="l" t="t" r="r" b="b"/>
            <a:pathLst>
              <a:path w="432434" h="140335">
                <a:moveTo>
                  <a:pt x="0" y="0"/>
                </a:moveTo>
                <a:lnTo>
                  <a:pt x="432054" y="139826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884414" y="2420873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>
                <a:moveTo>
                  <a:pt x="0" y="190500"/>
                </a:moveTo>
                <a:lnTo>
                  <a:pt x="19349" y="135500"/>
                </a:lnTo>
                <a:lnTo>
                  <a:pt x="73632" y="86794"/>
                </a:lnTo>
                <a:lnTo>
                  <a:pt x="112110" y="65540"/>
                </a:lnTo>
                <a:lnTo>
                  <a:pt x="157203" y="46744"/>
                </a:lnTo>
                <a:lnTo>
                  <a:pt x="208206" y="30704"/>
                </a:lnTo>
                <a:lnTo>
                  <a:pt x="264413" y="17714"/>
                </a:lnTo>
                <a:lnTo>
                  <a:pt x="325118" y="8069"/>
                </a:lnTo>
                <a:lnTo>
                  <a:pt x="389616" y="2066"/>
                </a:lnTo>
                <a:lnTo>
                  <a:pt x="457200" y="0"/>
                </a:lnTo>
                <a:lnTo>
                  <a:pt x="524755" y="2066"/>
                </a:lnTo>
                <a:lnTo>
                  <a:pt x="589234" y="8069"/>
                </a:lnTo>
                <a:lnTo>
                  <a:pt x="649931" y="17714"/>
                </a:lnTo>
                <a:lnTo>
                  <a:pt x="706137" y="30704"/>
                </a:lnTo>
                <a:lnTo>
                  <a:pt x="757145" y="46744"/>
                </a:lnTo>
                <a:lnTo>
                  <a:pt x="802246" y="65540"/>
                </a:lnTo>
                <a:lnTo>
                  <a:pt x="840735" y="86794"/>
                </a:lnTo>
                <a:lnTo>
                  <a:pt x="871902" y="110213"/>
                </a:lnTo>
                <a:lnTo>
                  <a:pt x="909442" y="162361"/>
                </a:lnTo>
                <a:lnTo>
                  <a:pt x="914400" y="190500"/>
                </a:lnTo>
                <a:lnTo>
                  <a:pt x="909442" y="218667"/>
                </a:lnTo>
                <a:lnTo>
                  <a:pt x="871902" y="270841"/>
                </a:lnTo>
                <a:lnTo>
                  <a:pt x="840735" y="294261"/>
                </a:lnTo>
                <a:lnTo>
                  <a:pt x="802246" y="315511"/>
                </a:lnTo>
                <a:lnTo>
                  <a:pt x="757145" y="334298"/>
                </a:lnTo>
                <a:lnTo>
                  <a:pt x="706137" y="350327"/>
                </a:lnTo>
                <a:lnTo>
                  <a:pt x="649931" y="363306"/>
                </a:lnTo>
                <a:lnTo>
                  <a:pt x="589234" y="372940"/>
                </a:lnTo>
                <a:lnTo>
                  <a:pt x="524755" y="378936"/>
                </a:lnTo>
                <a:lnTo>
                  <a:pt x="457200" y="381000"/>
                </a:lnTo>
                <a:lnTo>
                  <a:pt x="389616" y="378936"/>
                </a:lnTo>
                <a:lnTo>
                  <a:pt x="325118" y="372940"/>
                </a:lnTo>
                <a:lnTo>
                  <a:pt x="264413" y="363306"/>
                </a:lnTo>
                <a:lnTo>
                  <a:pt x="208206" y="350327"/>
                </a:lnTo>
                <a:lnTo>
                  <a:pt x="157203" y="334298"/>
                </a:lnTo>
                <a:lnTo>
                  <a:pt x="112110" y="315511"/>
                </a:lnTo>
                <a:lnTo>
                  <a:pt x="73632" y="294261"/>
                </a:lnTo>
                <a:lnTo>
                  <a:pt x="42477" y="270841"/>
                </a:lnTo>
                <a:lnTo>
                  <a:pt x="4955" y="218667"/>
                </a:lnTo>
                <a:lnTo>
                  <a:pt x="0" y="1905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8108950" y="2484882"/>
            <a:ext cx="46545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Arial"/>
                <a:cs typeface="Arial"/>
              </a:rPr>
              <a:t>hotel</a:t>
            </a:r>
            <a:endParaRPr sz="16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452359" y="1967483"/>
            <a:ext cx="432434" cy="643890"/>
          </a:xfrm>
          <a:custGeom>
            <a:avLst/>
            <a:gdLst/>
            <a:ahLst/>
            <a:cxnLst/>
            <a:rect l="l" t="t" r="r" b="b"/>
            <a:pathLst>
              <a:path w="432434" h="643889">
                <a:moveTo>
                  <a:pt x="0" y="0"/>
                </a:moveTo>
                <a:lnTo>
                  <a:pt x="432054" y="64388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668386" y="4149090"/>
            <a:ext cx="914400" cy="381000"/>
          </a:xfrm>
          <a:custGeom>
            <a:avLst/>
            <a:gdLst/>
            <a:ahLst/>
            <a:cxnLst/>
            <a:rect l="l" t="t" r="r" b="b"/>
            <a:pathLst>
              <a:path w="914400" h="381000">
                <a:moveTo>
                  <a:pt x="0" y="190500"/>
                </a:moveTo>
                <a:lnTo>
                  <a:pt x="19349" y="135454"/>
                </a:lnTo>
                <a:lnTo>
                  <a:pt x="73632" y="86738"/>
                </a:lnTo>
                <a:lnTo>
                  <a:pt x="112110" y="65488"/>
                </a:lnTo>
                <a:lnTo>
                  <a:pt x="157203" y="46701"/>
                </a:lnTo>
                <a:lnTo>
                  <a:pt x="208206" y="30672"/>
                </a:lnTo>
                <a:lnTo>
                  <a:pt x="264413" y="17693"/>
                </a:lnTo>
                <a:lnTo>
                  <a:pt x="325118" y="8059"/>
                </a:lnTo>
                <a:lnTo>
                  <a:pt x="389616" y="2063"/>
                </a:lnTo>
                <a:lnTo>
                  <a:pt x="457200" y="0"/>
                </a:lnTo>
                <a:lnTo>
                  <a:pt x="524755" y="2063"/>
                </a:lnTo>
                <a:lnTo>
                  <a:pt x="589234" y="8059"/>
                </a:lnTo>
                <a:lnTo>
                  <a:pt x="649931" y="17693"/>
                </a:lnTo>
                <a:lnTo>
                  <a:pt x="706137" y="30672"/>
                </a:lnTo>
                <a:lnTo>
                  <a:pt x="757145" y="46701"/>
                </a:lnTo>
                <a:lnTo>
                  <a:pt x="802246" y="65488"/>
                </a:lnTo>
                <a:lnTo>
                  <a:pt x="840735" y="86738"/>
                </a:lnTo>
                <a:lnTo>
                  <a:pt x="871902" y="110158"/>
                </a:lnTo>
                <a:lnTo>
                  <a:pt x="909442" y="162332"/>
                </a:lnTo>
                <a:lnTo>
                  <a:pt x="914400" y="190500"/>
                </a:lnTo>
                <a:lnTo>
                  <a:pt x="909442" y="218638"/>
                </a:lnTo>
                <a:lnTo>
                  <a:pt x="871902" y="270786"/>
                </a:lnTo>
                <a:lnTo>
                  <a:pt x="840735" y="294205"/>
                </a:lnTo>
                <a:lnTo>
                  <a:pt x="802246" y="315459"/>
                </a:lnTo>
                <a:lnTo>
                  <a:pt x="757145" y="334255"/>
                </a:lnTo>
                <a:lnTo>
                  <a:pt x="706137" y="350295"/>
                </a:lnTo>
                <a:lnTo>
                  <a:pt x="649931" y="363285"/>
                </a:lnTo>
                <a:lnTo>
                  <a:pt x="589234" y="372930"/>
                </a:lnTo>
                <a:lnTo>
                  <a:pt x="524755" y="378933"/>
                </a:lnTo>
                <a:lnTo>
                  <a:pt x="457200" y="381000"/>
                </a:lnTo>
                <a:lnTo>
                  <a:pt x="389616" y="378933"/>
                </a:lnTo>
                <a:lnTo>
                  <a:pt x="325118" y="372930"/>
                </a:lnTo>
                <a:lnTo>
                  <a:pt x="264413" y="363285"/>
                </a:lnTo>
                <a:lnTo>
                  <a:pt x="208206" y="350295"/>
                </a:lnTo>
                <a:lnTo>
                  <a:pt x="157203" y="334255"/>
                </a:lnTo>
                <a:lnTo>
                  <a:pt x="112110" y="315459"/>
                </a:lnTo>
                <a:lnTo>
                  <a:pt x="73632" y="294205"/>
                </a:lnTo>
                <a:lnTo>
                  <a:pt x="42477" y="270786"/>
                </a:lnTo>
                <a:lnTo>
                  <a:pt x="4955" y="218638"/>
                </a:lnTo>
                <a:lnTo>
                  <a:pt x="0" y="1905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7916036" y="4213352"/>
            <a:ext cx="42037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Arial"/>
                <a:cs typeface="Arial"/>
              </a:rPr>
              <a:t>date</a:t>
            </a:r>
            <a:endParaRPr sz="16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430643" y="3983735"/>
            <a:ext cx="372110" cy="221615"/>
          </a:xfrm>
          <a:custGeom>
            <a:avLst/>
            <a:gdLst/>
            <a:ahLst/>
            <a:cxnLst/>
            <a:rect l="l" t="t" r="r" b="b"/>
            <a:pathLst>
              <a:path w="372109" h="221614">
                <a:moveTo>
                  <a:pt x="0" y="0"/>
                </a:moveTo>
                <a:lnTo>
                  <a:pt x="371601" y="221106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788027" y="6021285"/>
            <a:ext cx="1058545" cy="381000"/>
          </a:xfrm>
          <a:custGeom>
            <a:avLst/>
            <a:gdLst/>
            <a:ahLst/>
            <a:cxnLst/>
            <a:rect l="l" t="t" r="r" b="b"/>
            <a:pathLst>
              <a:path w="1058545" h="381000">
                <a:moveTo>
                  <a:pt x="0" y="190499"/>
                </a:moveTo>
                <a:lnTo>
                  <a:pt x="16165" y="143595"/>
                </a:lnTo>
                <a:lnTo>
                  <a:pt x="62014" y="100946"/>
                </a:lnTo>
                <a:lnTo>
                  <a:pt x="133576" y="63982"/>
                </a:lnTo>
                <a:lnTo>
                  <a:pt x="177759" y="48079"/>
                </a:lnTo>
                <a:lnTo>
                  <a:pt x="226881" y="34132"/>
                </a:lnTo>
                <a:lnTo>
                  <a:pt x="280446" y="22320"/>
                </a:lnTo>
                <a:lnTo>
                  <a:pt x="337957" y="12823"/>
                </a:lnTo>
                <a:lnTo>
                  <a:pt x="398919" y="5818"/>
                </a:lnTo>
                <a:lnTo>
                  <a:pt x="462835" y="1484"/>
                </a:lnTo>
                <a:lnTo>
                  <a:pt x="529209" y="0"/>
                </a:lnTo>
                <a:lnTo>
                  <a:pt x="595582" y="1484"/>
                </a:lnTo>
                <a:lnTo>
                  <a:pt x="659498" y="5818"/>
                </a:lnTo>
                <a:lnTo>
                  <a:pt x="720460" y="12823"/>
                </a:lnTo>
                <a:lnTo>
                  <a:pt x="777971" y="22320"/>
                </a:lnTo>
                <a:lnTo>
                  <a:pt x="831536" y="34132"/>
                </a:lnTo>
                <a:lnTo>
                  <a:pt x="880658" y="48079"/>
                </a:lnTo>
                <a:lnTo>
                  <a:pt x="924841" y="63982"/>
                </a:lnTo>
                <a:lnTo>
                  <a:pt x="963588" y="81664"/>
                </a:lnTo>
                <a:lnTo>
                  <a:pt x="1022790" y="121649"/>
                </a:lnTo>
                <a:lnTo>
                  <a:pt x="1054293" y="166604"/>
                </a:lnTo>
                <a:lnTo>
                  <a:pt x="1058418" y="190499"/>
                </a:lnTo>
                <a:lnTo>
                  <a:pt x="1054293" y="214395"/>
                </a:lnTo>
                <a:lnTo>
                  <a:pt x="1022790" y="259350"/>
                </a:lnTo>
                <a:lnTo>
                  <a:pt x="963588" y="299335"/>
                </a:lnTo>
                <a:lnTo>
                  <a:pt x="924841" y="317017"/>
                </a:lnTo>
                <a:lnTo>
                  <a:pt x="880658" y="332920"/>
                </a:lnTo>
                <a:lnTo>
                  <a:pt x="831536" y="346867"/>
                </a:lnTo>
                <a:lnTo>
                  <a:pt x="777971" y="358679"/>
                </a:lnTo>
                <a:lnTo>
                  <a:pt x="720460" y="368176"/>
                </a:lnTo>
                <a:lnTo>
                  <a:pt x="659498" y="375181"/>
                </a:lnTo>
                <a:lnTo>
                  <a:pt x="595582" y="379515"/>
                </a:lnTo>
                <a:lnTo>
                  <a:pt x="529209" y="380999"/>
                </a:lnTo>
                <a:lnTo>
                  <a:pt x="462835" y="379515"/>
                </a:lnTo>
                <a:lnTo>
                  <a:pt x="398919" y="375181"/>
                </a:lnTo>
                <a:lnTo>
                  <a:pt x="337957" y="368176"/>
                </a:lnTo>
                <a:lnTo>
                  <a:pt x="280446" y="358679"/>
                </a:lnTo>
                <a:lnTo>
                  <a:pt x="226881" y="346867"/>
                </a:lnTo>
                <a:lnTo>
                  <a:pt x="177759" y="332920"/>
                </a:lnTo>
                <a:lnTo>
                  <a:pt x="133576" y="317017"/>
                </a:lnTo>
                <a:lnTo>
                  <a:pt x="94829" y="299335"/>
                </a:lnTo>
                <a:lnTo>
                  <a:pt x="35627" y="259350"/>
                </a:lnTo>
                <a:lnTo>
                  <a:pt x="4124" y="214395"/>
                </a:lnTo>
                <a:lnTo>
                  <a:pt x="0" y="19049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4859528" y="6086043"/>
            <a:ext cx="91630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telephone</a:t>
            </a:r>
            <a:endParaRPr sz="16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5691378" y="5855944"/>
            <a:ext cx="537210" cy="221615"/>
          </a:xfrm>
          <a:custGeom>
            <a:avLst/>
            <a:gdLst/>
            <a:ahLst/>
            <a:cxnLst/>
            <a:rect l="l" t="t" r="r" b="b"/>
            <a:pathLst>
              <a:path w="537210" h="221614">
                <a:moveTo>
                  <a:pt x="536829" y="0"/>
                </a:moveTo>
                <a:lnTo>
                  <a:pt x="0" y="22113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39338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-533400"/>
            <a:ext cx="8042276" cy="13369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19960">
              <a:lnSpc>
                <a:spcPct val="100000"/>
              </a:lnSpc>
            </a:pPr>
            <a:r>
              <a:rPr dirty="0"/>
              <a:t>Solutions</a:t>
            </a:r>
            <a:r>
              <a:rPr spc="-85" dirty="0"/>
              <a:t> </a:t>
            </a:r>
            <a:r>
              <a:rPr spc="-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40894" y="1239265"/>
            <a:ext cx="124587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Holida</a:t>
            </a:r>
            <a:r>
              <a:rPr sz="2000" b="1" dirty="0">
                <a:latin typeface="Courier New"/>
                <a:cs typeface="Courier New"/>
              </a:rPr>
              <a:t>y;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437" y="1239265"/>
            <a:ext cx="23114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CREATE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DATABASE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436" y="1848865"/>
            <a:ext cx="6379363" cy="639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CREATE TABLE Clients(  </a:t>
            </a:r>
            <a:endParaRPr lang="en-US" sz="2000" b="1" spc="-5" dirty="0" smtClean="0">
              <a:latin typeface="Courier New"/>
              <a:cs typeface="Courier New"/>
            </a:endParaRPr>
          </a:p>
          <a:p>
            <a:pPr marL="317500" marR="5080" indent="-304800">
              <a:lnSpc>
                <a:spcPct val="100000"/>
              </a:lnSpc>
            </a:pPr>
            <a:r>
              <a:rPr lang="en-US" sz="2000" b="1" spc="-5" dirty="0">
                <a:latin typeface="Courier New"/>
                <a:cs typeface="Courier New"/>
              </a:rPr>
              <a:t> </a:t>
            </a:r>
            <a:r>
              <a:rPr lang="en-US"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err="1" smtClean="0">
                <a:latin typeface="Courier New"/>
                <a:cs typeface="Courier New"/>
              </a:rPr>
              <a:t>cliID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INT PRIMARY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KEY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60697" y="2153665"/>
            <a:ext cx="231140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AUTO_INCREMENT,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7237" y="2458465"/>
            <a:ext cx="109220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cliName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26717" y="2458465"/>
            <a:ext cx="337947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varchar(255) NOT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NULL,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437" y="2763520"/>
            <a:ext cx="6123305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cliAddress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varchar(255),</a:t>
            </a:r>
            <a:endParaRPr sz="20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cliTel</a:t>
            </a:r>
            <a:r>
              <a:rPr sz="2000" b="1" spc="-8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INT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 smtClean="0">
                <a:latin typeface="Courier New"/>
                <a:cs typeface="Courier New"/>
              </a:rPr>
              <a:t>)</a:t>
            </a:r>
            <a:endParaRPr sz="20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CREATE TABLE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Destination(</a:t>
            </a:r>
            <a:endParaRPr sz="20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destID </a:t>
            </a:r>
            <a:r>
              <a:rPr sz="2000" b="1" dirty="0">
                <a:latin typeface="Courier New"/>
                <a:cs typeface="Courier New"/>
              </a:rPr>
              <a:t>INT </a:t>
            </a:r>
            <a:r>
              <a:rPr sz="2000" b="1" spc="-5" dirty="0">
                <a:latin typeface="Courier New"/>
                <a:cs typeface="Courier New"/>
              </a:rPr>
              <a:t>PRIMARY </a:t>
            </a:r>
            <a:r>
              <a:rPr sz="2000" b="1" dirty="0">
                <a:latin typeface="Courier New"/>
                <a:cs typeface="Courier New"/>
              </a:rPr>
              <a:t>KEY</a:t>
            </a:r>
            <a:r>
              <a:rPr sz="2000" b="1" spc="2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AUTO_INCREMENT,</a:t>
            </a:r>
            <a:endParaRPr sz="2000" dirty="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destLocation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VARCHAR(255),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6600" y="4572000"/>
            <a:ext cx="1397000" cy="639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destPrice  destHotel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1517" y="4542155"/>
            <a:ext cx="2007235" cy="639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REAL,  VARCHAR(25</a:t>
            </a:r>
            <a:r>
              <a:rPr sz="2000" b="1" dirty="0">
                <a:latin typeface="Courier New"/>
                <a:cs typeface="Courier New"/>
              </a:rPr>
              <a:t>5</a:t>
            </a:r>
            <a:r>
              <a:rPr sz="2000" b="1" spc="-5" dirty="0">
                <a:latin typeface="Courier New"/>
                <a:cs typeface="Courier New"/>
              </a:rPr>
              <a:t>),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45917" y="5181600"/>
            <a:ext cx="185547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VARCHAR(255)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2437" y="5181600"/>
            <a:ext cx="2616200" cy="639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destAttractions</a:t>
            </a:r>
            <a:endParaRPr sz="2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 smtClean="0">
                <a:latin typeface="Courier New"/>
                <a:cs typeface="Courier New"/>
              </a:rPr>
              <a:t>)</a:t>
            </a:r>
            <a:endParaRPr sz="20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8702957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-422556"/>
            <a:ext cx="8042276" cy="13369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19960">
              <a:lnSpc>
                <a:spcPct val="100000"/>
              </a:lnSpc>
            </a:pPr>
            <a:r>
              <a:rPr dirty="0"/>
              <a:t>Solutions</a:t>
            </a:r>
            <a:r>
              <a:rPr spc="-85" dirty="0"/>
              <a:t> </a:t>
            </a:r>
            <a:r>
              <a:rPr spc="-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1250950"/>
            <a:ext cx="221805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CREATE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TABLE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05636" y="1250950"/>
            <a:ext cx="16681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Bookings(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264" y="1653285"/>
            <a:ext cx="24003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838325" algn="l"/>
              </a:tabLst>
            </a:pPr>
            <a:r>
              <a:rPr sz="2400" b="1" spc="-5" dirty="0">
                <a:latin typeface="Courier New"/>
                <a:cs typeface="Courier New"/>
              </a:rPr>
              <a:t>cliI</a:t>
            </a:r>
            <a:r>
              <a:rPr sz="2400" b="1" dirty="0">
                <a:latin typeface="Courier New"/>
                <a:cs typeface="Courier New"/>
              </a:rPr>
              <a:t>D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IN</a:t>
            </a:r>
            <a:r>
              <a:rPr sz="2400" b="1" dirty="0">
                <a:latin typeface="Courier New"/>
                <a:cs typeface="Courier New"/>
              </a:rPr>
              <a:t>T	</a:t>
            </a:r>
            <a:r>
              <a:rPr sz="2400" b="1" spc="-5" dirty="0">
                <a:latin typeface="Courier New"/>
                <a:cs typeface="Courier New"/>
              </a:rPr>
              <a:t>NOT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0438" y="1653285"/>
            <a:ext cx="94043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NUL</a:t>
            </a:r>
            <a:r>
              <a:rPr sz="2400" b="1" dirty="0">
                <a:latin typeface="Courier New"/>
                <a:cs typeface="Courier New"/>
              </a:rPr>
              <a:t>L,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264" y="2055621"/>
            <a:ext cx="185102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destID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INT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04845" y="2055621"/>
            <a:ext cx="16687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NOT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NULL,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6264" y="2457958"/>
            <a:ext cx="258191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bookDate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DATE,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25465" y="2860547"/>
            <a:ext cx="33121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KEY(cliID,destID),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05226" y="2860547"/>
            <a:ext cx="1485265" cy="800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book_pk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400" b="1" spc="-10" dirty="0">
                <a:latin typeface="Courier New"/>
                <a:cs typeface="Courier New"/>
              </a:rPr>
              <a:t>book_fk1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65219" y="2860547"/>
            <a:ext cx="1485265" cy="800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PRIMARY</a:t>
            </a:r>
            <a:endParaRPr sz="2400">
              <a:latin typeface="Courier New"/>
              <a:cs typeface="Courier New"/>
            </a:endParaRPr>
          </a:p>
          <a:p>
            <a:pPr marL="195580">
              <a:lnSpc>
                <a:spcPct val="100000"/>
              </a:lnSpc>
              <a:spcBef>
                <a:spcPts val="285"/>
              </a:spcBef>
            </a:pPr>
            <a:r>
              <a:rPr sz="2400" b="1" spc="-10" dirty="0">
                <a:latin typeface="Courier New"/>
                <a:cs typeface="Courier New"/>
              </a:rPr>
              <a:t>FOREIGN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6264" y="2823971"/>
            <a:ext cx="1851660" cy="1240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10000"/>
              </a:lnSpc>
            </a:pPr>
            <a:r>
              <a:rPr sz="2400" b="1" spc="-5" dirty="0">
                <a:latin typeface="Courier New"/>
                <a:cs typeface="Courier New"/>
              </a:rPr>
              <a:t>CONS</a:t>
            </a:r>
            <a:r>
              <a:rPr sz="2400" b="1" spc="-20" dirty="0">
                <a:latin typeface="Courier New"/>
                <a:cs typeface="Courier New"/>
              </a:rPr>
              <a:t>T</a:t>
            </a:r>
            <a:r>
              <a:rPr sz="2400" b="1" spc="-15" dirty="0">
                <a:latin typeface="Courier New"/>
                <a:cs typeface="Courier New"/>
              </a:rPr>
              <a:t>R</a:t>
            </a:r>
            <a:r>
              <a:rPr sz="2400" b="1" spc="-5" dirty="0">
                <a:latin typeface="Courier New"/>
                <a:cs typeface="Courier New"/>
              </a:rPr>
              <a:t>AINT  CONS</a:t>
            </a:r>
            <a:r>
              <a:rPr sz="2400" b="1" spc="-15" dirty="0">
                <a:latin typeface="Courier New"/>
                <a:cs typeface="Courier New"/>
              </a:rPr>
              <a:t>TR</a:t>
            </a:r>
            <a:r>
              <a:rPr sz="2400" b="1" spc="-5" dirty="0">
                <a:latin typeface="Courier New"/>
                <a:cs typeface="Courier New"/>
              </a:rPr>
              <a:t>AINT  REFE</a:t>
            </a:r>
            <a:r>
              <a:rPr sz="2400" b="1" spc="-15" dirty="0">
                <a:latin typeface="Courier New"/>
                <a:cs typeface="Courier New"/>
              </a:rPr>
              <a:t>RE</a:t>
            </a:r>
            <a:r>
              <a:rPr sz="2400" b="1" spc="-5" dirty="0">
                <a:latin typeface="Courier New"/>
                <a:cs typeface="Courier New"/>
              </a:rPr>
              <a:t>NCES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04896" y="3665220"/>
            <a:ext cx="27635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Clients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(cliID)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6264" y="4067555"/>
            <a:ext cx="31286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838325" algn="l"/>
              </a:tabLst>
            </a:pPr>
            <a:r>
              <a:rPr sz="2400" b="1" spc="-5" dirty="0">
                <a:latin typeface="Courier New"/>
                <a:cs typeface="Courier New"/>
              </a:rPr>
              <a:t>ON</a:t>
            </a:r>
            <a:r>
              <a:rPr sz="2400" b="1" spc="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UPDATE	CASCADE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82008" y="4067555"/>
            <a:ext cx="16681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ON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DELETE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05226" y="4470145"/>
            <a:ext cx="294576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book_fk2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FOREIGN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07761" y="3262884"/>
            <a:ext cx="2214880" cy="1605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KEY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(cliID)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CASCADE,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400" b="1" spc="-10" dirty="0">
                <a:latin typeface="Courier New"/>
                <a:cs typeface="Courier New"/>
              </a:rPr>
              <a:t>KEY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(destID)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6264" y="4433570"/>
            <a:ext cx="1851025" cy="837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0000"/>
              </a:lnSpc>
            </a:pPr>
            <a:r>
              <a:rPr sz="2400" b="1" spc="-5" dirty="0">
                <a:latin typeface="Courier New"/>
                <a:cs typeface="Courier New"/>
              </a:rPr>
              <a:t>CONS</a:t>
            </a:r>
            <a:r>
              <a:rPr sz="2400" b="1" spc="-15" dirty="0">
                <a:latin typeface="Courier New"/>
                <a:cs typeface="Courier New"/>
              </a:rPr>
              <a:t>TR</a:t>
            </a:r>
            <a:r>
              <a:rPr sz="2400" b="1" spc="-5" dirty="0">
                <a:latin typeface="Courier New"/>
                <a:cs typeface="Courier New"/>
              </a:rPr>
              <a:t>AINT  REFE</a:t>
            </a:r>
            <a:r>
              <a:rPr sz="2400" b="1" spc="-15" dirty="0">
                <a:latin typeface="Courier New"/>
                <a:cs typeface="Courier New"/>
              </a:rPr>
              <a:t>RE</a:t>
            </a:r>
            <a:r>
              <a:rPr sz="2400" b="1" spc="-5" dirty="0">
                <a:latin typeface="Courier New"/>
                <a:cs typeface="Courier New"/>
              </a:rPr>
              <a:t>NCES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04896" y="4872482"/>
            <a:ext cx="203263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Destination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93361" y="4872482"/>
            <a:ext cx="148653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(destID)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82008" y="5274817"/>
            <a:ext cx="31292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ON </a:t>
            </a:r>
            <a:r>
              <a:rPr sz="2400" b="1" spc="-10" dirty="0">
                <a:latin typeface="Courier New"/>
                <a:cs typeface="Courier New"/>
              </a:rPr>
              <a:t>DELETE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CASCADE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0200" y="5274817"/>
            <a:ext cx="3494404" cy="805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8460">
              <a:lnSpc>
                <a:spcPct val="100000"/>
              </a:lnSpc>
              <a:tabLst>
                <a:tab pos="2204085" algn="l"/>
              </a:tabLst>
            </a:pPr>
            <a:r>
              <a:rPr sz="2400" b="1" spc="-5" dirty="0">
                <a:latin typeface="Courier New"/>
                <a:cs typeface="Courier New"/>
              </a:rPr>
              <a:t>ON</a:t>
            </a:r>
            <a:r>
              <a:rPr sz="2400" b="1" spc="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UPDATE	CASCADE</a:t>
            </a:r>
            <a:endParaRPr sz="2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400" b="1" dirty="0" smtClean="0">
                <a:latin typeface="Courier New"/>
                <a:cs typeface="Courier New"/>
              </a:rPr>
              <a:t>)</a:t>
            </a:r>
            <a:endParaRPr sz="24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6479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2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96977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Deleting Tables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36" name="Google Shape;436;p22"/>
          <p:cNvSpPr txBox="1"/>
          <p:nvPr/>
        </p:nvSpPr>
        <p:spPr>
          <a:xfrm>
            <a:off x="535940" y="1580515"/>
            <a:ext cx="3795395" cy="251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delete tables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0" algn="l" rtl="0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the DROP keyword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endParaRPr sz="3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DROP TABLE</a:t>
            </a:r>
            <a:endParaRPr sz="2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538480" marR="0" lvl="0" indent="0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[IF	EXISTS]</a:t>
            </a:r>
            <a:endParaRPr sz="2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538480" marR="0" lvl="0" indent="0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table-name;</a:t>
            </a:r>
            <a:endParaRPr sz="2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7" name="Google Shape;437;p22"/>
          <p:cNvSpPr txBox="1"/>
          <p:nvPr/>
        </p:nvSpPr>
        <p:spPr>
          <a:xfrm>
            <a:off x="535940" y="4835525"/>
            <a:ext cx="2230120" cy="126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endParaRPr sz="29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DROP TABLE</a:t>
            </a:r>
            <a:endParaRPr sz="2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8" name="Google Shape;438;p22"/>
          <p:cNvSpPr txBox="1"/>
          <p:nvPr/>
        </p:nvSpPr>
        <p:spPr>
          <a:xfrm>
            <a:off x="2872833" y="6096000"/>
            <a:ext cx="1302385" cy="39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Module;</a:t>
            </a:r>
            <a:endParaRPr sz="2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9" name="Google Shape;439;p22"/>
          <p:cNvSpPr txBox="1"/>
          <p:nvPr/>
        </p:nvSpPr>
        <p:spPr>
          <a:xfrm>
            <a:off x="4727828" y="1629283"/>
            <a:ext cx="3821429" cy="408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5080" lvl="0" indent="-342900" algn="l" rtl="0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</a:t>
            </a:r>
            <a:r>
              <a:rPr lang="en-US" sz="28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extremely careful  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any SQL  statement with DROP in  it.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106679" lvl="1" indent="-286385" algn="l" rtl="0">
              <a:lnSpc>
                <a:spcPct val="107916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rows in the table will  also be deleted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13958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won’t normally be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0" indent="0" algn="l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asked to confirm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606425" lvl="1" indent="-286385" algn="l" rtl="0">
              <a:lnSpc>
                <a:spcPct val="107916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Undoing a DROP is  difficult, sometimes  impossible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62820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3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96977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Deleting Tables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45" name="Google Shape;445;p23"/>
          <p:cNvSpPr txBox="1"/>
          <p:nvPr/>
        </p:nvSpPr>
        <p:spPr>
          <a:xfrm>
            <a:off x="8427211" y="6465214"/>
            <a:ext cx="18097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3"/>
          <p:cNvSpPr txBox="1"/>
          <p:nvPr/>
        </p:nvSpPr>
        <p:spPr>
          <a:xfrm>
            <a:off x="535940" y="1623186"/>
            <a:ext cx="3742054" cy="2775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delete multiple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tables in a list: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1739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DROP TABLE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538480" marR="0" lvl="0" indent="0" algn="l" rtl="0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EXISTS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538480" marR="0" lvl="0" indent="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Module, Student;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7" name="Google Shape;447;p23"/>
          <p:cNvSpPr txBox="1"/>
          <p:nvPr/>
        </p:nvSpPr>
        <p:spPr>
          <a:xfrm>
            <a:off x="4727828" y="1623186"/>
            <a:ext cx="3837940" cy="364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14224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Foreign Key constraints  will prevent DROPS  under the default  RESTRICT option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5080" lvl="1" indent="-28638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overcome this, either  remove the constraint or  drop the tables in the  correct order  (referencing table first)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07289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4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865629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Changing Tables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54" name="Google Shape;454;p24"/>
          <p:cNvSpPr txBox="1"/>
          <p:nvPr/>
        </p:nvSpPr>
        <p:spPr>
          <a:xfrm>
            <a:off x="535940" y="1623186"/>
            <a:ext cx="3805554" cy="3287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32384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Sometimes you want to  change the structure of  an existing table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way is to DROP it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rebuild it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508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dangerous, so  there is the ALTER TABLE  command instead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4"/>
          <p:cNvSpPr txBox="1"/>
          <p:nvPr/>
        </p:nvSpPr>
        <p:spPr>
          <a:xfrm>
            <a:off x="4727828" y="1623186"/>
            <a:ext cx="3448050" cy="375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 TABLE can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a new column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an existing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a new constraint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an existing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5080" lvl="1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column name  and/or definition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63969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5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42439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Altering Columns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62" name="Google Shape;462;p25"/>
          <p:cNvSpPr txBox="1"/>
          <p:nvPr/>
        </p:nvSpPr>
        <p:spPr>
          <a:xfrm>
            <a:off x="535940" y="1554098"/>
            <a:ext cx="314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807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add a column to </a:t>
            </a:r>
            <a:r>
              <a:rPr lang="en-US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ru-RU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5"/>
          <p:cNvSpPr txBox="1"/>
          <p:nvPr/>
        </p:nvSpPr>
        <p:spPr>
          <a:xfrm>
            <a:off x="2612670" y="2339436"/>
            <a:ext cx="147066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5080" lvl="0" indent="0" algn="l" rtl="0">
              <a:lnSpc>
                <a:spcPct val="10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table-name  col-name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4" name="Google Shape;464;p25"/>
          <p:cNvSpPr txBox="1"/>
          <p:nvPr/>
        </p:nvSpPr>
        <p:spPr>
          <a:xfrm>
            <a:off x="879144" y="2339436"/>
            <a:ext cx="1614805" cy="930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6845" marR="5080" lvl="0" indent="-144780" algn="l" rtl="0">
              <a:lnSpc>
                <a:spcPct val="10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 ADD COLUMN</a:t>
            </a:r>
            <a:endParaRPr sz="19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5684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col-</a:t>
            </a:r>
            <a:r>
              <a:rPr lang="en-US" sz="19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endParaRPr sz="19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5" name="Google Shape;465;p25"/>
          <p:cNvSpPr txBox="1"/>
          <p:nvPr/>
        </p:nvSpPr>
        <p:spPr>
          <a:xfrm>
            <a:off x="535940" y="3246501"/>
            <a:ext cx="31686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5"/>
          <p:cNvSpPr txBox="1"/>
          <p:nvPr/>
        </p:nvSpPr>
        <p:spPr>
          <a:xfrm>
            <a:off x="879144" y="3531489"/>
            <a:ext cx="1614805" cy="607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6845" marR="5080" lvl="0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 ADD COLUMN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7" name="Google Shape;467;p25"/>
          <p:cNvSpPr txBox="1"/>
          <p:nvPr/>
        </p:nvSpPr>
        <p:spPr>
          <a:xfrm>
            <a:off x="2612670" y="3531489"/>
            <a:ext cx="1470660" cy="607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table-name  col-name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8" name="Google Shape;468;p25"/>
          <p:cNvSpPr txBox="1"/>
          <p:nvPr/>
        </p:nvSpPr>
        <p:spPr>
          <a:xfrm>
            <a:off x="535940" y="4110608"/>
            <a:ext cx="3800475" cy="2129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003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FIRST | AFTER col2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080" lvl="0" indent="-342900" algn="l" rtl="0">
              <a:lnSpc>
                <a:spcPct val="9615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remove a column from  a table: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00380" marR="257809" lvl="0" indent="-144780" algn="l" rtl="0">
              <a:lnSpc>
                <a:spcPct val="100000"/>
              </a:lnSpc>
              <a:spcBef>
                <a:spcPts val="2055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table-name  DROP COLUMN col-name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9" name="Google Shape;469;p25"/>
          <p:cNvSpPr txBox="1"/>
          <p:nvPr/>
        </p:nvSpPr>
        <p:spPr>
          <a:xfrm>
            <a:off x="5070728" y="3793617"/>
            <a:ext cx="749300" cy="607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7480" marR="5080" lvl="0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ALTER  DROP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0" name="Google Shape;470;p25"/>
          <p:cNvSpPr txBox="1"/>
          <p:nvPr/>
        </p:nvSpPr>
        <p:spPr>
          <a:xfrm>
            <a:off x="4727828" y="1554098"/>
            <a:ext cx="3547110" cy="284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00380" marR="5080" lvl="0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Student  ADD COLUMN sDegree  VARCHAR(64) NOT NULL;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23010" marR="14859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TABLE Student  COLUMN sDegree;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126488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6"/>
          <p:cNvSpPr txBox="1">
            <a:spLocks noGrp="1"/>
          </p:cNvSpPr>
          <p:nvPr>
            <p:ph type="sldNum" idx="12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400" marR="0" lvl="0" indent="0" algn="ctr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56</a:t>
            </a:fld>
            <a:endParaRPr sz="100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76" name="Google Shape;476;p26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42439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Altering Columns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77" name="Google Shape;477;p26"/>
          <p:cNvSpPr txBox="1"/>
          <p:nvPr/>
        </p:nvSpPr>
        <p:spPr>
          <a:xfrm>
            <a:off x="535940" y="1623186"/>
            <a:ext cx="3591560" cy="883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change a column’s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(and definition):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6"/>
          <p:cNvSpPr txBox="1"/>
          <p:nvPr/>
        </p:nvSpPr>
        <p:spPr>
          <a:xfrm>
            <a:off x="237608" y="2757009"/>
            <a:ext cx="4752847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65100" marR="5080" lvl="0" indent="-152400" algn="l" rtl="0">
              <a:lnSpc>
                <a:spcPct val="12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table-name  rename column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0" marR="1414780" lvl="0" indent="381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col-name  </a:t>
            </a:r>
            <a:endParaRPr sz="2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0" marR="1414780" lvl="0" indent="381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 </a:t>
            </a:r>
            <a:endParaRPr/>
          </a:p>
          <a:p>
            <a:pPr marL="127000" marR="1414780" lvl="0" indent="381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new-colname</a:t>
            </a:r>
            <a:endParaRPr sz="2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0" marR="1414780" lvl="0" indent="381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table_name rename to new table_name ;</a:t>
            </a:r>
            <a:endParaRPr sz="20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9" name="Google Shape;479;p26"/>
          <p:cNvSpPr txBox="1"/>
          <p:nvPr/>
        </p:nvSpPr>
        <p:spPr>
          <a:xfrm>
            <a:off x="4727828" y="1623186"/>
            <a:ext cx="4187572" cy="883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change the definition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a column only: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6"/>
          <p:cNvSpPr txBox="1"/>
          <p:nvPr/>
        </p:nvSpPr>
        <p:spPr>
          <a:xfrm>
            <a:off x="5032628" y="2896742"/>
            <a:ext cx="1701800" cy="33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1" name="Google Shape;481;p26"/>
          <p:cNvSpPr txBox="1"/>
          <p:nvPr/>
        </p:nvSpPr>
        <p:spPr>
          <a:xfrm>
            <a:off x="6861809" y="2896742"/>
            <a:ext cx="1549400" cy="33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table-name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2" name="Google Shape;482;p26"/>
          <p:cNvSpPr txBox="1"/>
          <p:nvPr/>
        </p:nvSpPr>
        <p:spPr>
          <a:xfrm>
            <a:off x="5054146" y="3159573"/>
            <a:ext cx="3861254" cy="2475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0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ALTER COLUMN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5080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col-name</a:t>
            </a:r>
            <a:endParaRPr sz="2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5080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new-col-definition</a:t>
            </a:r>
            <a:endParaRPr sz="2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table_name alter column attr</a:t>
            </a:r>
            <a:endParaRPr sz="20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type int using attr::int;</a:t>
            </a:r>
            <a:endParaRPr sz="20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3" name="Google Shape;483;p26"/>
          <p:cNvSpPr txBox="1"/>
          <p:nvPr/>
        </p:nvSpPr>
        <p:spPr>
          <a:xfrm>
            <a:off x="715631" y="5711665"/>
            <a:ext cx="8428369" cy="536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Changing the type of a column might have unexpected results.  Be careful that the type conversion taking place is appropriate.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INT → VARCHAR is ok, VARCHAR → INT is problematic.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64876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7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067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Altering 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Columns - constraints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90" name="Google Shape;490;p27"/>
          <p:cNvSpPr txBox="1">
            <a:spLocks noGrp="1"/>
          </p:cNvSpPr>
          <p:nvPr>
            <p:ph type="body" idx="4294967295"/>
          </p:nvPr>
        </p:nvSpPr>
        <p:spPr>
          <a:xfrm>
            <a:off x="685800" y="1752600"/>
            <a:ext cx="3822192" cy="21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To add a constraint:</a:t>
            </a:r>
            <a:endParaRPr dirty="0"/>
          </a:p>
          <a:p>
            <a:pPr marL="274320" marR="0" lvl="0" indent="-137795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chemeClr val="accent1"/>
              </a:buClr>
              <a:buSzPts val="2150"/>
              <a:buFont typeface="Arial"/>
              <a:buNone/>
            </a:pPr>
            <a:endParaRPr sz="2150" b="0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08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</a:pPr>
            <a:r>
              <a:rPr lang="en-US" sz="20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ALTER TABLE  </a:t>
            </a:r>
            <a:r>
              <a:rPr lang="en-US" sz="2000" b="0" i="0" u="none" strike="noStrike" cap="none" dirty="0" err="1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table_name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 ADD FOREIGN KEY (</a:t>
            </a:r>
            <a:r>
              <a:rPr lang="en-US" sz="2000" b="0" i="0" u="none" strike="noStrike" cap="none" dirty="0" err="1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column_name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) REFERENCES </a:t>
            </a:r>
            <a:r>
              <a:rPr lang="en-US" sz="2000" b="0" i="0" u="none" strike="noStrike" cap="none" dirty="0" err="1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table_name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;</a:t>
            </a:r>
            <a:endParaRPr sz="2450" b="0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27"/>
          <p:cNvSpPr txBox="1"/>
          <p:nvPr/>
        </p:nvSpPr>
        <p:spPr>
          <a:xfrm>
            <a:off x="4727828" y="1586103"/>
            <a:ext cx="3547110" cy="1379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remove a constraint: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endParaRPr sz="2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table-name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500380" marR="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1210680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8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067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Altering Columns - constraints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98" name="Google Shape;498;p28"/>
          <p:cNvSpPr txBox="1">
            <a:spLocks noGrp="1"/>
          </p:cNvSpPr>
          <p:nvPr>
            <p:ph type="body" idx="4294967295"/>
          </p:nvPr>
        </p:nvSpPr>
        <p:spPr>
          <a:xfrm>
            <a:off x="762000" y="1672107"/>
            <a:ext cx="3822192" cy="2214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To add a constraint:</a:t>
            </a:r>
            <a:endParaRPr dirty="0"/>
          </a:p>
          <a:p>
            <a:pPr marL="274320" marR="0" lvl="0" indent="-13462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080" lvl="0" indent="0" algn="l" rtl="0">
              <a:lnSpc>
                <a:spcPct val="1111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</a:pPr>
            <a:r>
              <a:rPr lang="en-US" sz="20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ALTER TABLE </a:t>
            </a:r>
            <a:r>
              <a:rPr lang="en-US" sz="2000" b="0" i="0" u="none" strike="noStrike" cap="none" dirty="0" err="1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table_name</a:t>
            </a:r>
            <a:endParaRPr sz="2000" b="0" i="0" u="none" strike="noStrike" cap="none" dirty="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55600" marR="5080" lvl="0" indent="0" algn="l" rtl="0">
              <a:lnSpc>
                <a:spcPct val="1111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</a:pPr>
            <a:r>
              <a:rPr lang="en-US" sz="20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DROP CONSTRAINT </a:t>
            </a:r>
            <a:r>
              <a:rPr lang="en-US" sz="2000" b="0" i="0" u="none" strike="noStrike" cap="none" dirty="0" err="1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some_name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;</a:t>
            </a:r>
            <a:endParaRPr sz="2450" b="0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Noto Sans Symbols"/>
              <a:buNone/>
            </a:pPr>
            <a:endParaRPr sz="1900" b="0" i="0" u="none" strike="noStrike" cap="none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9" name="Google Shape;499;p28"/>
          <p:cNvSpPr txBox="1"/>
          <p:nvPr/>
        </p:nvSpPr>
        <p:spPr>
          <a:xfrm>
            <a:off x="4727828" y="1752600"/>
            <a:ext cx="354711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remove a constraint: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00380" marR="5080" lvl="0" indent="-144780" algn="l" rtl="0">
              <a:lnSpc>
                <a:spcPct val="112100"/>
              </a:lnSpc>
              <a:spcBef>
                <a:spcPts val="1745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table-name  DROP CONSTRAINT name</a:t>
            </a:r>
            <a:endParaRPr sz="19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3733060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9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067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Altering Columns - constraints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506" name="Google Shape;506;p29"/>
          <p:cNvSpPr txBox="1">
            <a:spLocks noGrp="1"/>
          </p:cNvSpPr>
          <p:nvPr>
            <p:ph type="body" idx="4294967295"/>
          </p:nvPr>
        </p:nvSpPr>
        <p:spPr>
          <a:xfrm>
            <a:off x="533400" y="188671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To add a constraint:</a:t>
            </a:r>
            <a:endParaRPr dirty="0"/>
          </a:p>
          <a:p>
            <a:pPr marL="136525" indent="0">
              <a:spcBef>
                <a:spcPts val="25"/>
              </a:spcBef>
              <a:buClr>
                <a:schemeClr val="accent1"/>
              </a:buClr>
              <a:buSzPts val="2150"/>
              <a:buNone/>
            </a:pPr>
            <a:endParaRPr sz="2150" b="0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080" lvl="0" indent="0" algn="l" rtl="0">
              <a:lnSpc>
                <a:spcPct val="11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lang="en-US" sz="1900" b="1" i="0" u="none" strike="noStrike" cap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table-name  ADD CONSTRAINT</a:t>
            </a:r>
            <a:endParaRPr sz="1900" b="0" i="0" u="none" strike="noStrike" cap="none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17501" marR="0" lvl="0" indent="0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lang="en-US" sz="1900" b="1" i="0" u="none" strike="noStrike" cap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sz="1900" b="0" i="0" u="none" strike="noStrike" cap="none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17501" marR="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lang="en-US" sz="1900" b="1" i="0" u="none" strike="noStrike" cap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definition</a:t>
            </a:r>
            <a:endParaRPr sz="1900" b="0" i="0" u="none" strike="noStrike" cap="none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74320" marR="0" lvl="0" indent="-118745" algn="l" rtl="0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chemeClr val="accent1"/>
              </a:buClr>
              <a:buSzPts val="2450"/>
              <a:buFont typeface="Noto Sans Symbols"/>
              <a:buNone/>
            </a:pPr>
            <a:endParaRPr sz="2450" b="0" i="0" u="none" strike="noStrike" cap="none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For example:</a:t>
            </a:r>
            <a:endParaRPr dirty="0"/>
          </a:p>
          <a:p>
            <a:pPr marL="274320" marR="0" lvl="0" indent="-12192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355600" marR="582930" lvl="0" indent="0" algn="l" rtl="0">
              <a:lnSpc>
                <a:spcPct val="1184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lang="en-US" sz="1900" b="1" i="0" u="none" strike="noStrike" cap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Module  ADD CONSTRAINT</a:t>
            </a:r>
            <a:endParaRPr sz="1900" b="0" i="0" u="none" strike="noStrike" cap="none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70841" marR="0" lvl="0" indent="0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lang="en-US" sz="1900" b="1" i="0" u="none" strike="noStrike" cap="none" dirty="0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ck_module</a:t>
            </a:r>
            <a:r>
              <a:rPr lang="en-US" sz="1900" b="1" i="0" u="none" strike="noStrike" cap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UNIQUE</a:t>
            </a:r>
            <a:endParaRPr sz="1900" b="0" i="0" u="none" strike="noStrike" cap="none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17501" marR="0" lvl="0" indent="0" algn="l" rtl="0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</a:pPr>
            <a:r>
              <a:rPr lang="en-US" sz="1900" b="1" i="0" u="none" strike="noStrike" cap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900" b="1" i="0" u="none" strike="noStrike" cap="none" dirty="0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mTitle</a:t>
            </a:r>
            <a:r>
              <a:rPr lang="en-US" sz="1900" b="1" i="0" u="none" strike="noStrike" cap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900" b="0" i="0" u="none" strike="noStrike" cap="none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7" name="Google Shape;507;p29"/>
          <p:cNvSpPr txBox="1"/>
          <p:nvPr/>
        </p:nvSpPr>
        <p:spPr>
          <a:xfrm>
            <a:off x="5070728" y="3849156"/>
            <a:ext cx="749300" cy="142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675" rIns="0" bIns="0" anchor="t" anchorCtr="0">
            <a:noAutofit/>
          </a:bodyPr>
          <a:lstStyle/>
          <a:p>
            <a:pPr marL="157480" marR="0" lvl="0" indent="-1447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ALTER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57480" marR="5080" lvl="0" indent="0" algn="just" rtl="0">
              <a:lnSpc>
                <a:spcPct val="1201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DROP  DROP  DROP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8" name="Google Shape;508;p29"/>
          <p:cNvSpPr txBox="1"/>
          <p:nvPr/>
        </p:nvSpPr>
        <p:spPr>
          <a:xfrm>
            <a:off x="4727828" y="1582165"/>
            <a:ext cx="3836670" cy="454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remove a constraint: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3975" marR="0" lvl="0" indent="0" algn="ctr" rtl="0">
              <a:lnSpc>
                <a:spcPct val="100000"/>
              </a:lnSpc>
              <a:spcBef>
                <a:spcPts val="2345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table-name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500380" marR="0" lvl="0" indent="0" algn="l" rtl="0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DROP CONSTRAINT name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would be too easy!!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23010" marR="5080" lvl="0" indent="634" algn="l" rtl="0">
              <a:lnSpc>
                <a:spcPct val="120600"/>
              </a:lnSpc>
              <a:spcBef>
                <a:spcPts val="1764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TABLE table-name  INDEX name |  FOREIGN KEY name |  PRIMARY KEY</a:t>
            </a:r>
            <a:endParaRPr sz="1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08000" marR="0" lvl="0" indent="0" algn="l" rtl="0">
              <a:lnSpc>
                <a:spcPct val="100000"/>
              </a:lnSpc>
              <a:spcBef>
                <a:spcPts val="137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means OR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9"/>
          <p:cNvSpPr/>
          <p:nvPr/>
        </p:nvSpPr>
        <p:spPr>
          <a:xfrm>
            <a:off x="5004053" y="2204847"/>
            <a:ext cx="3312795" cy="792480"/>
          </a:xfrm>
          <a:custGeom>
            <a:avLst/>
            <a:gdLst/>
            <a:ahLst/>
            <a:cxnLst/>
            <a:rect l="l" t="t" r="r" b="b"/>
            <a:pathLst>
              <a:path w="3312795" h="792480" extrusionOk="0">
                <a:moveTo>
                  <a:pt x="0" y="0"/>
                </a:moveTo>
                <a:lnTo>
                  <a:pt x="3312414" y="792099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10" name="Google Shape;510;p29"/>
          <p:cNvSpPr/>
          <p:nvPr/>
        </p:nvSpPr>
        <p:spPr>
          <a:xfrm>
            <a:off x="5076063" y="2204847"/>
            <a:ext cx="3240405" cy="864235"/>
          </a:xfrm>
          <a:custGeom>
            <a:avLst/>
            <a:gdLst/>
            <a:ahLst/>
            <a:cxnLst/>
            <a:rect l="l" t="t" r="r" b="b"/>
            <a:pathLst>
              <a:path w="3240404" h="864235" extrusionOk="0">
                <a:moveTo>
                  <a:pt x="0" y="864107"/>
                </a:moveTo>
                <a:lnTo>
                  <a:pt x="3240405" y="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26312892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0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72986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517" name="Google Shape;517;p30"/>
          <p:cNvSpPr txBox="1"/>
          <p:nvPr/>
        </p:nvSpPr>
        <p:spPr>
          <a:xfrm>
            <a:off x="535940" y="1573550"/>
            <a:ext cx="3686810" cy="2413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5904" marR="613410" lvl="0" indent="-243840" algn="l" rtl="0">
              <a:lnSpc>
                <a:spcPct val="120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Module (  mCode CHAR(6) NOT NULL,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55600" marR="369570" lvl="0" indent="-99695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mCredits TINYINT NOT NULL  DEFAULT 10,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55904" marR="0" lvl="0" indent="0" algn="l" rtl="0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mTitle VARCHAR(100) NOT NULL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ENGINE = InnoDB;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290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8" name="Google Shape;518;p30"/>
          <p:cNvGraphicFramePr/>
          <p:nvPr/>
        </p:nvGraphicFramePr>
        <p:xfrm>
          <a:off x="818057" y="4013834"/>
          <a:ext cx="5472650" cy="22859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04200"/>
                <a:gridCol w="1332100"/>
                <a:gridCol w="2736350"/>
              </a:tblGrid>
              <a:tr h="45720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mCode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mCredits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mTitle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484425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G64DBS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Database Systems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</a:tr>
              <a:tr h="457125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G51PRG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Programming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457325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G51IAI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Artificial Intelligence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429875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G52ADS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Algorithms</a:t>
                      </a:r>
                      <a:endParaRPr sz="2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519" name="Google Shape;519;p30"/>
          <p:cNvSpPr txBox="1"/>
          <p:nvPr/>
        </p:nvSpPr>
        <p:spPr>
          <a:xfrm>
            <a:off x="4756150" y="1511172"/>
            <a:ext cx="3807460" cy="22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are the SQL command(s)  to add a column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lecID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the  Module table? Followed by a  foreign key constraint to  reference the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lecID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column in  a Lecturer table?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74806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1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72986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526" name="Google Shape;526;p31"/>
          <p:cNvSpPr txBox="1"/>
          <p:nvPr/>
        </p:nvSpPr>
        <p:spPr>
          <a:xfrm>
            <a:off x="546303" y="2365121"/>
            <a:ext cx="2807335" cy="700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Module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ADD COLUMN lecID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7" name="Google Shape;527;p31"/>
          <p:cNvSpPr txBox="1"/>
          <p:nvPr/>
        </p:nvSpPr>
        <p:spPr>
          <a:xfrm>
            <a:off x="3480561" y="2731261"/>
            <a:ext cx="2159000" cy="33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NULL | NOT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8" name="Google Shape;528;p31"/>
          <p:cNvSpPr txBox="1"/>
          <p:nvPr/>
        </p:nvSpPr>
        <p:spPr>
          <a:xfrm>
            <a:off x="5766561" y="2731261"/>
            <a:ext cx="787400" cy="33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NULL;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9" name="Google Shape;529;p31"/>
          <p:cNvSpPr txBox="1"/>
          <p:nvPr/>
        </p:nvSpPr>
        <p:spPr>
          <a:xfrm>
            <a:off x="546303" y="3592957"/>
            <a:ext cx="988694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0" name="Google Shape;530;p31"/>
          <p:cNvGraphicFramePr/>
          <p:nvPr/>
        </p:nvGraphicFramePr>
        <p:xfrm>
          <a:off x="458012" y="4013834"/>
          <a:ext cx="6768800" cy="22859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04200"/>
                <a:gridCol w="1332100"/>
                <a:gridCol w="2736350"/>
                <a:gridCol w="1296150"/>
              </a:tblGrid>
              <a:tr h="45720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mCode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mCredits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mTitle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lecID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484425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G64DBS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Database Systems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</a:tr>
              <a:tr h="457125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G51PRG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Programming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457325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G51IAI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Artificial Intelligence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429875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G52ADS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Algorithms</a:t>
                      </a:r>
                      <a:endParaRPr sz="2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 sz="2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531" name="Google Shape;531;p31"/>
          <p:cNvSpPr txBox="1"/>
          <p:nvPr/>
        </p:nvSpPr>
        <p:spPr>
          <a:xfrm>
            <a:off x="546302" y="1727327"/>
            <a:ext cx="3492297" cy="33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add a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lecID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column: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31594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2"/>
          <p:cNvSpPr txBox="1">
            <a:spLocks noGrp="1"/>
          </p:cNvSpPr>
          <p:nvPr>
            <p:ph type="body" idx="1"/>
          </p:nvPr>
        </p:nvSpPr>
        <p:spPr>
          <a:xfrm>
            <a:off x="645262" y="1360182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95275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</a:pPr>
            <a:r>
              <a:rPr lang="en-US" sz="2000" b="1" i="0" u="none" strike="noStrike" cap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Module</a:t>
            </a:r>
            <a:endParaRPr sz="2000" b="0" i="0" u="none" strike="noStrike" cap="none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1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</a:pPr>
            <a:r>
              <a:rPr lang="en-US" sz="2000" b="1" i="0" u="none" strike="noStrike" cap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ADD CONSTRAINT </a:t>
            </a:r>
            <a:r>
              <a:rPr lang="en-US" sz="2000" b="1" i="0" u="none" strike="noStrike" cap="none" dirty="0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fk_mod_lec</a:t>
            </a:r>
            <a:endParaRPr sz="2000" b="0" i="0" u="none" strike="noStrike" cap="none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53341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</a:pPr>
            <a:r>
              <a:rPr lang="en-US" sz="2000" b="1" i="0" u="none" strike="noStrike" cap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FOREIGN KEY (</a:t>
            </a:r>
            <a:r>
              <a:rPr lang="en-US" sz="2000" b="1" i="0" u="none" strike="noStrike" cap="none" dirty="0" err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lecID</a:t>
            </a:r>
            <a:r>
              <a:rPr lang="en-US" sz="2000" b="1" i="0" u="none" strike="noStrike" cap="none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) REFERENCES</a:t>
            </a:r>
            <a:endParaRPr sz="2000" b="0" i="0" u="none" strike="noStrike" cap="none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rPr>
              <a:t>Module</a:t>
            </a:r>
            <a:endParaRPr sz="2400" b="0" i="0" u="none" strike="noStrike" cap="none" dirty="0">
              <a:solidFill>
                <a:schemeClr val="dk2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38" name="Google Shape;538;p32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72986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539" name="Google Shape;539;p32"/>
          <p:cNvSpPr txBox="1"/>
          <p:nvPr/>
        </p:nvSpPr>
        <p:spPr>
          <a:xfrm>
            <a:off x="5576061" y="3097021"/>
            <a:ext cx="1244600" cy="33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Lecturer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0" name="Google Shape;540;p32"/>
          <p:cNvSpPr txBox="1"/>
          <p:nvPr/>
        </p:nvSpPr>
        <p:spPr>
          <a:xfrm>
            <a:off x="6947661" y="3097021"/>
            <a:ext cx="1245235" cy="33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(lecID);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541" name="Google Shape;541;p32"/>
          <p:cNvGraphicFramePr/>
          <p:nvPr/>
        </p:nvGraphicFramePr>
        <p:xfrm>
          <a:off x="458012" y="4013834"/>
          <a:ext cx="6768800" cy="22859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04200"/>
                <a:gridCol w="1332100"/>
                <a:gridCol w="2736350"/>
                <a:gridCol w="1296150"/>
              </a:tblGrid>
              <a:tr h="45720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mCode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mCredits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mTitle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lecID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484425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G64DBS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Database Systems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</a:tr>
              <a:tr h="457125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G51PRG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Programming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457325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G51IAI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Artificial Intelligence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429875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G52ADS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Algorithms</a:t>
                      </a:r>
                      <a:endParaRPr sz="2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 sz="2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542" name="Google Shape;542;p32"/>
          <p:cNvSpPr txBox="1"/>
          <p:nvPr/>
        </p:nvSpPr>
        <p:spPr>
          <a:xfrm>
            <a:off x="546303" y="1727327"/>
            <a:ext cx="3720897" cy="33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a Foreign Key: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30492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3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72986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549" name="Google Shape;549;p33"/>
          <p:cNvSpPr txBox="1"/>
          <p:nvPr/>
        </p:nvSpPr>
        <p:spPr>
          <a:xfrm>
            <a:off x="546303" y="4525898"/>
            <a:ext cx="4902835" cy="1066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Module</a:t>
            </a:r>
            <a:endParaRPr sz="2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17500" marR="5080" lvl="0" indent="381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ADD CONSTRAINT 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fk_mod_lec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FOREIGN KEY (</a:t>
            </a: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lecID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REFERENCES</a:t>
            </a:r>
            <a:endParaRPr sz="2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5576061" y="5257672"/>
            <a:ext cx="1244600" cy="33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Lecturer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1" name="Google Shape;551;p33"/>
          <p:cNvSpPr txBox="1"/>
          <p:nvPr/>
        </p:nvSpPr>
        <p:spPr>
          <a:xfrm>
            <a:off x="6947661" y="5257672"/>
            <a:ext cx="1245235" cy="33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(lecID);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2" name="Google Shape;552;p33"/>
          <p:cNvSpPr txBox="1"/>
          <p:nvPr/>
        </p:nvSpPr>
        <p:spPr>
          <a:xfrm>
            <a:off x="546303" y="1727327"/>
            <a:ext cx="7244715" cy="2554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Lecturer does NOT exist! So we need to create it first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214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Lecturer(</a:t>
            </a:r>
            <a:endParaRPr sz="2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lecID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INT PRIMARY KEY,</a:t>
            </a:r>
            <a:endParaRPr sz="2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lecName</a:t>
            </a:r>
            <a:r>
              <a:rPr lang="en-US" sz="20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VARCHAR(255) NOT NULL);</a:t>
            </a:r>
            <a:endParaRPr sz="20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create the Foreign Key: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03399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4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90995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INSERT</a:t>
            </a:r>
            <a:r>
              <a:rPr lang="en-US" sz="4400" b="0" i="0" u="none" strike="noStrike" cap="none" dirty="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, 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UPDATE</a:t>
            </a:r>
            <a:r>
              <a:rPr lang="en-US" sz="4400" b="0" i="0" u="none" strike="noStrike" cap="none" dirty="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, 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DELETE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559" name="Google Shape;559;p34"/>
          <p:cNvSpPr txBox="1"/>
          <p:nvPr/>
        </p:nvSpPr>
        <p:spPr>
          <a:xfrm>
            <a:off x="535940" y="1609471"/>
            <a:ext cx="3735070" cy="3799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 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add a row </a:t>
            </a:r>
            <a:r>
              <a:rPr lang="en-US" sz="2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endParaRPr sz="39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UPDATE 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change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row(s) in a table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3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619125" lvl="0" indent="-342900" algn="l" rtl="0">
              <a:lnSpc>
                <a:spcPct val="1032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DELETE 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remove  row(s) from a table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4"/>
          <p:cNvSpPr txBox="1"/>
          <p:nvPr/>
        </p:nvSpPr>
        <p:spPr>
          <a:xfrm>
            <a:off x="4727828" y="1606057"/>
            <a:ext cx="3743325" cy="3974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75" rIns="0" bIns="0" anchor="t" anchorCtr="0">
            <a:noAutofit/>
          </a:bodyPr>
          <a:lstStyle/>
          <a:p>
            <a:pPr marL="355600" marR="116204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UPDATE 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8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DELETE  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should make use of  ‘</a:t>
            </a:r>
            <a:r>
              <a:rPr lang="en-US" sz="28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clauses’ to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specify which rows to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or remove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CAREFUL 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these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an incorrect or absent  </a:t>
            </a:r>
            <a:r>
              <a:rPr lang="en-US" sz="28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clause can  destroy lots of data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28647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5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8988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INSERT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567" name="Google Shape;567;p35"/>
          <p:cNvSpPr txBox="1"/>
          <p:nvPr/>
        </p:nvSpPr>
        <p:spPr>
          <a:xfrm>
            <a:off x="535940" y="1626742"/>
            <a:ext cx="3768725" cy="243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Inserts rows into the  database with the specified  values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3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78460" marR="0" lvl="0" indent="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table-name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8" name="Google Shape;568;p35"/>
          <p:cNvSpPr txBox="1"/>
          <p:nvPr/>
        </p:nvSpPr>
        <p:spPr>
          <a:xfrm>
            <a:off x="2179116" y="4097401"/>
            <a:ext cx="1485900" cy="39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col2, …)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9" name="Google Shape;569;p35"/>
          <p:cNvSpPr txBox="1"/>
          <p:nvPr/>
        </p:nvSpPr>
        <p:spPr>
          <a:xfrm>
            <a:off x="902004" y="4023883"/>
            <a:ext cx="1121410" cy="135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5080" lvl="0" indent="0" algn="l" rtl="0">
              <a:lnSpc>
                <a:spcPct val="12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(col1,  VALUES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(val1,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0" name="Google Shape;570;p35"/>
          <p:cNvSpPr txBox="1"/>
          <p:nvPr/>
        </p:nvSpPr>
        <p:spPr>
          <a:xfrm>
            <a:off x="2179116" y="4975605"/>
            <a:ext cx="1668780" cy="39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val2, …);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1" name="Google Shape;571;p35"/>
          <p:cNvSpPr txBox="1"/>
          <p:nvPr/>
        </p:nvSpPr>
        <p:spPr>
          <a:xfrm>
            <a:off x="5185028" y="1626742"/>
            <a:ext cx="3374390" cy="3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99085" marR="5080" lvl="0" indent="-2863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number of columns  and the number of  values must be the same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9085" marR="53975" lvl="0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are adding a value  to every column, you  don’t have to list them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9085" marR="36830" lvl="0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don’t list columns,  be careful of the  ordering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32742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6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8988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INSERT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578" name="Google Shape;578;p36"/>
          <p:cNvSpPr/>
          <p:nvPr/>
        </p:nvSpPr>
        <p:spPr>
          <a:xfrm>
            <a:off x="2402967" y="2657601"/>
            <a:ext cx="499745" cy="1207135"/>
          </a:xfrm>
          <a:custGeom>
            <a:avLst/>
            <a:gdLst/>
            <a:ahLst/>
            <a:cxnLst/>
            <a:rect l="l" t="t" r="r" b="b"/>
            <a:pathLst>
              <a:path w="499744" h="1207135" extrusionOk="0">
                <a:moveTo>
                  <a:pt x="455421" y="67062"/>
                </a:moveTo>
                <a:lnTo>
                  <a:pt x="0" y="1199896"/>
                </a:lnTo>
                <a:lnTo>
                  <a:pt x="17652" y="1207008"/>
                </a:lnTo>
                <a:lnTo>
                  <a:pt x="473078" y="74163"/>
                </a:lnTo>
                <a:lnTo>
                  <a:pt x="455421" y="67062"/>
                </a:lnTo>
                <a:close/>
              </a:path>
              <a:path w="499744" h="1207135" extrusionOk="0">
                <a:moveTo>
                  <a:pt x="497192" y="55372"/>
                </a:moveTo>
                <a:lnTo>
                  <a:pt x="460120" y="55372"/>
                </a:lnTo>
                <a:lnTo>
                  <a:pt x="477774" y="62484"/>
                </a:lnTo>
                <a:lnTo>
                  <a:pt x="473078" y="74163"/>
                </a:lnTo>
                <a:lnTo>
                  <a:pt x="499618" y="84836"/>
                </a:lnTo>
                <a:lnTo>
                  <a:pt x="497192" y="55372"/>
                </a:lnTo>
                <a:close/>
              </a:path>
              <a:path w="499744" h="1207135" extrusionOk="0">
                <a:moveTo>
                  <a:pt x="460120" y="55372"/>
                </a:moveTo>
                <a:lnTo>
                  <a:pt x="455421" y="67062"/>
                </a:lnTo>
                <a:lnTo>
                  <a:pt x="473078" y="74163"/>
                </a:lnTo>
                <a:lnTo>
                  <a:pt x="477774" y="62484"/>
                </a:lnTo>
                <a:lnTo>
                  <a:pt x="460120" y="55372"/>
                </a:lnTo>
                <a:close/>
              </a:path>
              <a:path w="499744" h="1207135" extrusionOk="0">
                <a:moveTo>
                  <a:pt x="492632" y="0"/>
                </a:moveTo>
                <a:lnTo>
                  <a:pt x="428878" y="56387"/>
                </a:lnTo>
                <a:lnTo>
                  <a:pt x="455421" y="67062"/>
                </a:lnTo>
                <a:lnTo>
                  <a:pt x="460120" y="55372"/>
                </a:lnTo>
                <a:lnTo>
                  <a:pt x="497192" y="55372"/>
                </a:lnTo>
                <a:lnTo>
                  <a:pt x="49263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79" name="Google Shape;579;p36"/>
          <p:cNvSpPr/>
          <p:nvPr/>
        </p:nvSpPr>
        <p:spPr>
          <a:xfrm>
            <a:off x="2411729" y="404025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5" h="76200" extrusionOk="0">
                <a:moveTo>
                  <a:pt x="355821" y="47703"/>
                </a:moveTo>
                <a:lnTo>
                  <a:pt x="355726" y="76200"/>
                </a:lnTo>
                <a:lnTo>
                  <a:pt x="413100" y="47751"/>
                </a:lnTo>
                <a:lnTo>
                  <a:pt x="368553" y="47751"/>
                </a:lnTo>
                <a:lnTo>
                  <a:pt x="355821" y="47703"/>
                </a:lnTo>
                <a:close/>
              </a:path>
              <a:path w="432435" h="76200" extrusionOk="0">
                <a:moveTo>
                  <a:pt x="355885" y="28653"/>
                </a:moveTo>
                <a:lnTo>
                  <a:pt x="355821" y="47703"/>
                </a:lnTo>
                <a:lnTo>
                  <a:pt x="368553" y="47751"/>
                </a:lnTo>
                <a:lnTo>
                  <a:pt x="368553" y="28701"/>
                </a:lnTo>
                <a:lnTo>
                  <a:pt x="355885" y="28653"/>
                </a:lnTo>
                <a:close/>
              </a:path>
              <a:path w="432435" h="76200" extrusionOk="0">
                <a:moveTo>
                  <a:pt x="355981" y="0"/>
                </a:moveTo>
                <a:lnTo>
                  <a:pt x="355885" y="28653"/>
                </a:lnTo>
                <a:lnTo>
                  <a:pt x="368553" y="28701"/>
                </a:lnTo>
                <a:lnTo>
                  <a:pt x="368553" y="47751"/>
                </a:lnTo>
                <a:lnTo>
                  <a:pt x="413100" y="47751"/>
                </a:lnTo>
                <a:lnTo>
                  <a:pt x="432053" y="38354"/>
                </a:lnTo>
                <a:lnTo>
                  <a:pt x="355981" y="0"/>
                </a:lnTo>
                <a:close/>
              </a:path>
              <a:path w="432435" h="76200" extrusionOk="0">
                <a:moveTo>
                  <a:pt x="126" y="27305"/>
                </a:moveTo>
                <a:lnTo>
                  <a:pt x="0" y="46355"/>
                </a:lnTo>
                <a:lnTo>
                  <a:pt x="355821" y="47703"/>
                </a:lnTo>
                <a:lnTo>
                  <a:pt x="355885" y="28653"/>
                </a:lnTo>
                <a:lnTo>
                  <a:pt x="126" y="2730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80" name="Google Shape;580;p36"/>
          <p:cNvSpPr/>
          <p:nvPr/>
        </p:nvSpPr>
        <p:spPr>
          <a:xfrm>
            <a:off x="2403601" y="4288154"/>
            <a:ext cx="440690" cy="725170"/>
          </a:xfrm>
          <a:custGeom>
            <a:avLst/>
            <a:gdLst/>
            <a:ahLst/>
            <a:cxnLst/>
            <a:rect l="l" t="t" r="r" b="b"/>
            <a:pathLst>
              <a:path w="440689" h="725170" extrusionOk="0">
                <a:moveTo>
                  <a:pt x="392859" y="664587"/>
                </a:moveTo>
                <a:lnTo>
                  <a:pt x="368300" y="679323"/>
                </a:lnTo>
                <a:lnTo>
                  <a:pt x="440181" y="725043"/>
                </a:lnTo>
                <a:lnTo>
                  <a:pt x="436406" y="675513"/>
                </a:lnTo>
                <a:lnTo>
                  <a:pt x="399415" y="675513"/>
                </a:lnTo>
                <a:lnTo>
                  <a:pt x="392859" y="664587"/>
                </a:lnTo>
                <a:close/>
              </a:path>
              <a:path w="440689" h="725170" extrusionOk="0">
                <a:moveTo>
                  <a:pt x="409183" y="654792"/>
                </a:moveTo>
                <a:lnTo>
                  <a:pt x="392859" y="664587"/>
                </a:lnTo>
                <a:lnTo>
                  <a:pt x="399415" y="675513"/>
                </a:lnTo>
                <a:lnTo>
                  <a:pt x="415671" y="665607"/>
                </a:lnTo>
                <a:lnTo>
                  <a:pt x="409183" y="654792"/>
                </a:lnTo>
                <a:close/>
              </a:path>
              <a:path w="440689" h="725170" extrusionOk="0">
                <a:moveTo>
                  <a:pt x="433705" y="640080"/>
                </a:moveTo>
                <a:lnTo>
                  <a:pt x="409183" y="654792"/>
                </a:lnTo>
                <a:lnTo>
                  <a:pt x="415671" y="665607"/>
                </a:lnTo>
                <a:lnTo>
                  <a:pt x="399415" y="675513"/>
                </a:lnTo>
                <a:lnTo>
                  <a:pt x="436406" y="675513"/>
                </a:lnTo>
                <a:lnTo>
                  <a:pt x="433705" y="640080"/>
                </a:lnTo>
                <a:close/>
              </a:path>
              <a:path w="440689" h="725170" extrusionOk="0">
                <a:moveTo>
                  <a:pt x="16383" y="0"/>
                </a:moveTo>
                <a:lnTo>
                  <a:pt x="0" y="9779"/>
                </a:lnTo>
                <a:lnTo>
                  <a:pt x="392859" y="664587"/>
                </a:lnTo>
                <a:lnTo>
                  <a:pt x="409183" y="654792"/>
                </a:lnTo>
                <a:lnTo>
                  <a:pt x="1638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81" name="Google Shape;581;p36"/>
          <p:cNvSpPr txBox="1"/>
          <p:nvPr/>
        </p:nvSpPr>
        <p:spPr>
          <a:xfrm>
            <a:off x="247599" y="2076322"/>
            <a:ext cx="5484495" cy="382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77185" marR="5080" lvl="0" indent="-1371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Employee  (ID, Name, Salary)  VALUES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8771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(2, ‘Mary’, 26000);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77185" marR="5080" lvl="0" indent="-137160" algn="l" rtl="0">
              <a:lnSpc>
                <a:spcPct val="1000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Employee  (Name, ID)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8771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VALUES (‘Mary’, 2);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endParaRPr sz="2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77185" marR="5080" lvl="0" indent="-1371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Employee  VALUES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8771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(2, ‘Mary’, 26000);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582" name="Google Shape;582;p36"/>
          <p:cNvGraphicFramePr/>
          <p:nvPr/>
        </p:nvGraphicFramePr>
        <p:xfrm>
          <a:off x="159232" y="3646296"/>
          <a:ext cx="2170975" cy="7417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2050"/>
                <a:gridCol w="856025"/>
                <a:gridCol w="882900"/>
              </a:tblGrid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4363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7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8988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INSERT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589" name="Google Shape;589;p37"/>
          <p:cNvSpPr txBox="1"/>
          <p:nvPr/>
        </p:nvSpPr>
        <p:spPr>
          <a:xfrm>
            <a:off x="2974975" y="3600577"/>
            <a:ext cx="2756535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49860" marR="5080" lvl="0" indent="-1371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Employee  (Name, ID)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498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VALUES (‘Mary’, 2);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0" name="Google Shape;590;p37"/>
          <p:cNvSpPr txBox="1"/>
          <p:nvPr/>
        </p:nvSpPr>
        <p:spPr>
          <a:xfrm>
            <a:off x="2974975" y="5048758"/>
            <a:ext cx="275717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49860" marR="5080" lvl="0" indent="-1371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Employee  VALUES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498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(2, ‘Mary’, 26000);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1" name="Google Shape;591;p37"/>
          <p:cNvSpPr/>
          <p:nvPr/>
        </p:nvSpPr>
        <p:spPr>
          <a:xfrm>
            <a:off x="2402967" y="2657601"/>
            <a:ext cx="499745" cy="1207135"/>
          </a:xfrm>
          <a:custGeom>
            <a:avLst/>
            <a:gdLst/>
            <a:ahLst/>
            <a:cxnLst/>
            <a:rect l="l" t="t" r="r" b="b"/>
            <a:pathLst>
              <a:path w="499744" h="1207135" extrusionOk="0">
                <a:moveTo>
                  <a:pt x="455421" y="67062"/>
                </a:moveTo>
                <a:lnTo>
                  <a:pt x="0" y="1199896"/>
                </a:lnTo>
                <a:lnTo>
                  <a:pt x="17652" y="1207008"/>
                </a:lnTo>
                <a:lnTo>
                  <a:pt x="473078" y="74163"/>
                </a:lnTo>
                <a:lnTo>
                  <a:pt x="455421" y="67062"/>
                </a:lnTo>
                <a:close/>
              </a:path>
              <a:path w="499744" h="1207135" extrusionOk="0">
                <a:moveTo>
                  <a:pt x="497192" y="55372"/>
                </a:moveTo>
                <a:lnTo>
                  <a:pt x="460120" y="55372"/>
                </a:lnTo>
                <a:lnTo>
                  <a:pt x="477774" y="62484"/>
                </a:lnTo>
                <a:lnTo>
                  <a:pt x="473078" y="74163"/>
                </a:lnTo>
                <a:lnTo>
                  <a:pt x="499618" y="84836"/>
                </a:lnTo>
                <a:lnTo>
                  <a:pt x="497192" y="55372"/>
                </a:lnTo>
                <a:close/>
              </a:path>
              <a:path w="499744" h="1207135" extrusionOk="0">
                <a:moveTo>
                  <a:pt x="460120" y="55372"/>
                </a:moveTo>
                <a:lnTo>
                  <a:pt x="455421" y="67062"/>
                </a:lnTo>
                <a:lnTo>
                  <a:pt x="473078" y="74163"/>
                </a:lnTo>
                <a:lnTo>
                  <a:pt x="477774" y="62484"/>
                </a:lnTo>
                <a:lnTo>
                  <a:pt x="460120" y="55372"/>
                </a:lnTo>
                <a:close/>
              </a:path>
              <a:path w="499744" h="1207135" extrusionOk="0">
                <a:moveTo>
                  <a:pt x="492632" y="0"/>
                </a:moveTo>
                <a:lnTo>
                  <a:pt x="428878" y="56387"/>
                </a:lnTo>
                <a:lnTo>
                  <a:pt x="455421" y="67062"/>
                </a:lnTo>
                <a:lnTo>
                  <a:pt x="460120" y="55372"/>
                </a:lnTo>
                <a:lnTo>
                  <a:pt x="497192" y="55372"/>
                </a:lnTo>
                <a:lnTo>
                  <a:pt x="49263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92" name="Google Shape;592;p37"/>
          <p:cNvSpPr/>
          <p:nvPr/>
        </p:nvSpPr>
        <p:spPr>
          <a:xfrm>
            <a:off x="2411729" y="4040251"/>
            <a:ext cx="432434" cy="76200"/>
          </a:xfrm>
          <a:custGeom>
            <a:avLst/>
            <a:gdLst/>
            <a:ahLst/>
            <a:cxnLst/>
            <a:rect l="l" t="t" r="r" b="b"/>
            <a:pathLst>
              <a:path w="432435" h="76200" extrusionOk="0">
                <a:moveTo>
                  <a:pt x="355821" y="47703"/>
                </a:moveTo>
                <a:lnTo>
                  <a:pt x="355726" y="76200"/>
                </a:lnTo>
                <a:lnTo>
                  <a:pt x="413100" y="47751"/>
                </a:lnTo>
                <a:lnTo>
                  <a:pt x="368553" y="47751"/>
                </a:lnTo>
                <a:lnTo>
                  <a:pt x="355821" y="47703"/>
                </a:lnTo>
                <a:close/>
              </a:path>
              <a:path w="432435" h="76200" extrusionOk="0">
                <a:moveTo>
                  <a:pt x="355885" y="28653"/>
                </a:moveTo>
                <a:lnTo>
                  <a:pt x="355821" y="47703"/>
                </a:lnTo>
                <a:lnTo>
                  <a:pt x="368553" y="47751"/>
                </a:lnTo>
                <a:lnTo>
                  <a:pt x="368553" y="28701"/>
                </a:lnTo>
                <a:lnTo>
                  <a:pt x="355885" y="28653"/>
                </a:lnTo>
                <a:close/>
              </a:path>
              <a:path w="432435" h="76200" extrusionOk="0">
                <a:moveTo>
                  <a:pt x="355981" y="0"/>
                </a:moveTo>
                <a:lnTo>
                  <a:pt x="355885" y="28653"/>
                </a:lnTo>
                <a:lnTo>
                  <a:pt x="368553" y="28701"/>
                </a:lnTo>
                <a:lnTo>
                  <a:pt x="368553" y="47751"/>
                </a:lnTo>
                <a:lnTo>
                  <a:pt x="413100" y="47751"/>
                </a:lnTo>
                <a:lnTo>
                  <a:pt x="432053" y="38354"/>
                </a:lnTo>
                <a:lnTo>
                  <a:pt x="355981" y="0"/>
                </a:lnTo>
                <a:close/>
              </a:path>
              <a:path w="432435" h="76200" extrusionOk="0">
                <a:moveTo>
                  <a:pt x="126" y="27305"/>
                </a:moveTo>
                <a:lnTo>
                  <a:pt x="0" y="46355"/>
                </a:lnTo>
                <a:lnTo>
                  <a:pt x="355821" y="47703"/>
                </a:lnTo>
                <a:lnTo>
                  <a:pt x="355885" y="28653"/>
                </a:lnTo>
                <a:lnTo>
                  <a:pt x="126" y="2730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93" name="Google Shape;593;p37"/>
          <p:cNvSpPr/>
          <p:nvPr/>
        </p:nvSpPr>
        <p:spPr>
          <a:xfrm>
            <a:off x="2403601" y="4288154"/>
            <a:ext cx="440690" cy="725170"/>
          </a:xfrm>
          <a:custGeom>
            <a:avLst/>
            <a:gdLst/>
            <a:ahLst/>
            <a:cxnLst/>
            <a:rect l="l" t="t" r="r" b="b"/>
            <a:pathLst>
              <a:path w="440689" h="725170" extrusionOk="0">
                <a:moveTo>
                  <a:pt x="392859" y="664587"/>
                </a:moveTo>
                <a:lnTo>
                  <a:pt x="368300" y="679323"/>
                </a:lnTo>
                <a:lnTo>
                  <a:pt x="440181" y="725043"/>
                </a:lnTo>
                <a:lnTo>
                  <a:pt x="436406" y="675513"/>
                </a:lnTo>
                <a:lnTo>
                  <a:pt x="399415" y="675513"/>
                </a:lnTo>
                <a:lnTo>
                  <a:pt x="392859" y="664587"/>
                </a:lnTo>
                <a:close/>
              </a:path>
              <a:path w="440689" h="725170" extrusionOk="0">
                <a:moveTo>
                  <a:pt x="409183" y="654792"/>
                </a:moveTo>
                <a:lnTo>
                  <a:pt x="392859" y="664587"/>
                </a:lnTo>
                <a:lnTo>
                  <a:pt x="399415" y="675513"/>
                </a:lnTo>
                <a:lnTo>
                  <a:pt x="415671" y="665607"/>
                </a:lnTo>
                <a:lnTo>
                  <a:pt x="409183" y="654792"/>
                </a:lnTo>
                <a:close/>
              </a:path>
              <a:path w="440689" h="725170" extrusionOk="0">
                <a:moveTo>
                  <a:pt x="433705" y="640080"/>
                </a:moveTo>
                <a:lnTo>
                  <a:pt x="409183" y="654792"/>
                </a:lnTo>
                <a:lnTo>
                  <a:pt x="415671" y="665607"/>
                </a:lnTo>
                <a:lnTo>
                  <a:pt x="399415" y="675513"/>
                </a:lnTo>
                <a:lnTo>
                  <a:pt x="436406" y="675513"/>
                </a:lnTo>
                <a:lnTo>
                  <a:pt x="433705" y="640080"/>
                </a:lnTo>
                <a:close/>
              </a:path>
              <a:path w="440689" h="725170" extrusionOk="0">
                <a:moveTo>
                  <a:pt x="16383" y="0"/>
                </a:moveTo>
                <a:lnTo>
                  <a:pt x="0" y="9779"/>
                </a:lnTo>
                <a:lnTo>
                  <a:pt x="392859" y="664587"/>
                </a:lnTo>
                <a:lnTo>
                  <a:pt x="409183" y="654792"/>
                </a:lnTo>
                <a:lnTo>
                  <a:pt x="1638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94" name="Google Shape;594;p37"/>
          <p:cNvSpPr txBox="1"/>
          <p:nvPr/>
        </p:nvSpPr>
        <p:spPr>
          <a:xfrm>
            <a:off x="247599" y="3316223"/>
            <a:ext cx="93916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95" name="Google Shape;595;p37"/>
          <p:cNvGraphicFramePr/>
          <p:nvPr/>
        </p:nvGraphicFramePr>
        <p:xfrm>
          <a:off x="159232" y="3646296"/>
          <a:ext cx="2170975" cy="7417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2050"/>
                <a:gridCol w="856025"/>
                <a:gridCol w="882900"/>
              </a:tblGrid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596" name="Google Shape;596;p37"/>
          <p:cNvSpPr/>
          <p:nvPr/>
        </p:nvSpPr>
        <p:spPr>
          <a:xfrm>
            <a:off x="5832728" y="2348864"/>
            <a:ext cx="539750" cy="317500"/>
          </a:xfrm>
          <a:custGeom>
            <a:avLst/>
            <a:gdLst/>
            <a:ahLst/>
            <a:cxnLst/>
            <a:rect l="l" t="t" r="r" b="b"/>
            <a:pathLst>
              <a:path w="539750" h="317500" extrusionOk="0">
                <a:moveTo>
                  <a:pt x="468690" y="29840"/>
                </a:moveTo>
                <a:lnTo>
                  <a:pt x="0" y="300482"/>
                </a:lnTo>
                <a:lnTo>
                  <a:pt x="9525" y="316992"/>
                </a:lnTo>
                <a:lnTo>
                  <a:pt x="478215" y="46350"/>
                </a:lnTo>
                <a:lnTo>
                  <a:pt x="468690" y="29840"/>
                </a:lnTo>
                <a:close/>
              </a:path>
              <a:path w="539750" h="317500" extrusionOk="0">
                <a:moveTo>
                  <a:pt x="523972" y="23495"/>
                </a:moveTo>
                <a:lnTo>
                  <a:pt x="479679" y="23495"/>
                </a:lnTo>
                <a:lnTo>
                  <a:pt x="489204" y="40005"/>
                </a:lnTo>
                <a:lnTo>
                  <a:pt x="478215" y="46350"/>
                </a:lnTo>
                <a:lnTo>
                  <a:pt x="492506" y="71120"/>
                </a:lnTo>
                <a:lnTo>
                  <a:pt x="523972" y="23495"/>
                </a:lnTo>
                <a:close/>
              </a:path>
              <a:path w="539750" h="317500" extrusionOk="0">
                <a:moveTo>
                  <a:pt x="479679" y="23495"/>
                </a:moveTo>
                <a:lnTo>
                  <a:pt x="468690" y="29840"/>
                </a:lnTo>
                <a:lnTo>
                  <a:pt x="478215" y="46350"/>
                </a:lnTo>
                <a:lnTo>
                  <a:pt x="489204" y="40005"/>
                </a:lnTo>
                <a:lnTo>
                  <a:pt x="479679" y="23495"/>
                </a:lnTo>
                <a:close/>
              </a:path>
              <a:path w="539750" h="317500" extrusionOk="0">
                <a:moveTo>
                  <a:pt x="539496" y="0"/>
                </a:moveTo>
                <a:lnTo>
                  <a:pt x="454406" y="5080"/>
                </a:lnTo>
                <a:lnTo>
                  <a:pt x="468690" y="29840"/>
                </a:lnTo>
                <a:lnTo>
                  <a:pt x="479679" y="23495"/>
                </a:lnTo>
                <a:lnTo>
                  <a:pt x="523972" y="23495"/>
                </a:lnTo>
                <a:lnTo>
                  <a:pt x="53949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97" name="Google Shape;597;p37"/>
          <p:cNvSpPr/>
          <p:nvPr/>
        </p:nvSpPr>
        <p:spPr>
          <a:xfrm>
            <a:off x="5796153" y="4040378"/>
            <a:ext cx="576580" cy="76200"/>
          </a:xfrm>
          <a:custGeom>
            <a:avLst/>
            <a:gdLst/>
            <a:ahLst/>
            <a:cxnLst/>
            <a:rect l="l" t="t" r="r" b="b"/>
            <a:pathLst>
              <a:path w="576579" h="76200" extrusionOk="0">
                <a:moveTo>
                  <a:pt x="499840" y="47590"/>
                </a:moveTo>
                <a:lnTo>
                  <a:pt x="499745" y="76200"/>
                </a:lnTo>
                <a:lnTo>
                  <a:pt x="557181" y="47625"/>
                </a:lnTo>
                <a:lnTo>
                  <a:pt x="512572" y="47625"/>
                </a:lnTo>
                <a:lnTo>
                  <a:pt x="499840" y="47590"/>
                </a:lnTo>
                <a:close/>
              </a:path>
              <a:path w="576579" h="76200" extrusionOk="0">
                <a:moveTo>
                  <a:pt x="499903" y="28540"/>
                </a:moveTo>
                <a:lnTo>
                  <a:pt x="499840" y="47590"/>
                </a:lnTo>
                <a:lnTo>
                  <a:pt x="512572" y="47625"/>
                </a:lnTo>
                <a:lnTo>
                  <a:pt x="512572" y="28575"/>
                </a:lnTo>
                <a:lnTo>
                  <a:pt x="499903" y="28540"/>
                </a:lnTo>
                <a:close/>
              </a:path>
              <a:path w="576579" h="76200" extrusionOk="0">
                <a:moveTo>
                  <a:pt x="499999" y="0"/>
                </a:moveTo>
                <a:lnTo>
                  <a:pt x="499903" y="28540"/>
                </a:lnTo>
                <a:lnTo>
                  <a:pt x="512572" y="28575"/>
                </a:lnTo>
                <a:lnTo>
                  <a:pt x="512572" y="47625"/>
                </a:lnTo>
                <a:lnTo>
                  <a:pt x="557181" y="47625"/>
                </a:lnTo>
                <a:lnTo>
                  <a:pt x="576072" y="38227"/>
                </a:lnTo>
                <a:lnTo>
                  <a:pt x="499999" y="0"/>
                </a:lnTo>
                <a:close/>
              </a:path>
              <a:path w="576579" h="76200" extrusionOk="0">
                <a:moveTo>
                  <a:pt x="0" y="27178"/>
                </a:moveTo>
                <a:lnTo>
                  <a:pt x="0" y="46228"/>
                </a:lnTo>
                <a:lnTo>
                  <a:pt x="499840" y="47590"/>
                </a:lnTo>
                <a:lnTo>
                  <a:pt x="499903" y="28540"/>
                </a:lnTo>
                <a:lnTo>
                  <a:pt x="0" y="2717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98" name="Google Shape;598;p37"/>
          <p:cNvSpPr/>
          <p:nvPr/>
        </p:nvSpPr>
        <p:spPr>
          <a:xfrm>
            <a:off x="5791072" y="5437123"/>
            <a:ext cx="581660" cy="368300"/>
          </a:xfrm>
          <a:custGeom>
            <a:avLst/>
            <a:gdLst/>
            <a:ahLst/>
            <a:cxnLst/>
            <a:rect l="l" t="t" r="r" b="b"/>
            <a:pathLst>
              <a:path w="581660" h="368300" extrusionOk="0">
                <a:moveTo>
                  <a:pt x="511459" y="335828"/>
                </a:moveTo>
                <a:lnTo>
                  <a:pt x="496315" y="360057"/>
                </a:lnTo>
                <a:lnTo>
                  <a:pt x="581151" y="368134"/>
                </a:lnTo>
                <a:lnTo>
                  <a:pt x="565512" y="342557"/>
                </a:lnTo>
                <a:lnTo>
                  <a:pt x="522224" y="342557"/>
                </a:lnTo>
                <a:lnTo>
                  <a:pt x="511459" y="335828"/>
                </a:lnTo>
                <a:close/>
              </a:path>
              <a:path w="581660" h="368300" extrusionOk="0">
                <a:moveTo>
                  <a:pt x="521573" y="319645"/>
                </a:moveTo>
                <a:lnTo>
                  <a:pt x="511459" y="335828"/>
                </a:lnTo>
                <a:lnTo>
                  <a:pt x="522224" y="342557"/>
                </a:lnTo>
                <a:lnTo>
                  <a:pt x="532384" y="326402"/>
                </a:lnTo>
                <a:lnTo>
                  <a:pt x="521573" y="319645"/>
                </a:lnTo>
                <a:close/>
              </a:path>
              <a:path w="581660" h="368300" extrusionOk="0">
                <a:moveTo>
                  <a:pt x="536701" y="295440"/>
                </a:moveTo>
                <a:lnTo>
                  <a:pt x="521573" y="319645"/>
                </a:lnTo>
                <a:lnTo>
                  <a:pt x="532384" y="326402"/>
                </a:lnTo>
                <a:lnTo>
                  <a:pt x="522224" y="342557"/>
                </a:lnTo>
                <a:lnTo>
                  <a:pt x="565512" y="342557"/>
                </a:lnTo>
                <a:lnTo>
                  <a:pt x="536701" y="295440"/>
                </a:lnTo>
                <a:close/>
              </a:path>
              <a:path w="581660" h="368300" extrusionOk="0">
                <a:moveTo>
                  <a:pt x="10160" y="0"/>
                </a:moveTo>
                <a:lnTo>
                  <a:pt x="0" y="16128"/>
                </a:lnTo>
                <a:lnTo>
                  <a:pt x="511459" y="335828"/>
                </a:lnTo>
                <a:lnTo>
                  <a:pt x="521573" y="319645"/>
                </a:lnTo>
                <a:lnTo>
                  <a:pt x="1016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99" name="Google Shape;599;p37"/>
          <p:cNvSpPr txBox="1"/>
          <p:nvPr/>
        </p:nvSpPr>
        <p:spPr>
          <a:xfrm>
            <a:off x="2974975" y="1443482"/>
            <a:ext cx="4632325" cy="1758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70585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sz="24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49860" marR="1880235" lvl="0" indent="-1371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Employee  (ID, Name, Salary)  VALUES</a:t>
            </a:r>
            <a:endParaRPr sz="18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498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(2, ‘Mary’, 26000);</a:t>
            </a:r>
            <a:endParaRPr sz="18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600" name="Google Shape;600;p37"/>
          <p:cNvGraphicFramePr/>
          <p:nvPr/>
        </p:nvGraphicFramePr>
        <p:xfrm>
          <a:off x="6578727" y="1774063"/>
          <a:ext cx="2170925" cy="11125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2050"/>
                <a:gridCol w="855975"/>
                <a:gridCol w="882900"/>
              </a:tblGrid>
              <a:tr h="3708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31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87925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31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</a:tr>
              <a:tr h="3537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31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601" name="Google Shape;601;p37"/>
          <p:cNvSpPr txBox="1"/>
          <p:nvPr/>
        </p:nvSpPr>
        <p:spPr>
          <a:xfrm>
            <a:off x="6668261" y="3244341"/>
            <a:ext cx="93916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2" name="Google Shape;602;p37"/>
          <p:cNvGraphicFramePr/>
          <p:nvPr/>
        </p:nvGraphicFramePr>
        <p:xfrm>
          <a:off x="6578727" y="3574288"/>
          <a:ext cx="2170925" cy="11125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2050"/>
                <a:gridCol w="855975"/>
                <a:gridCol w="882900"/>
              </a:tblGrid>
              <a:tr h="3708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31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88425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31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532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03" name="Google Shape;603;p37"/>
          <p:cNvSpPr txBox="1"/>
          <p:nvPr/>
        </p:nvSpPr>
        <p:spPr>
          <a:xfrm>
            <a:off x="6668261" y="5045075"/>
            <a:ext cx="939165" cy="29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4" name="Google Shape;604;p37"/>
          <p:cNvGraphicFramePr/>
          <p:nvPr/>
        </p:nvGraphicFramePr>
        <p:xfrm>
          <a:off x="6578727" y="5374513"/>
          <a:ext cx="2170925" cy="11125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2050"/>
                <a:gridCol w="855975"/>
                <a:gridCol w="882900"/>
              </a:tblGrid>
              <a:tr h="370825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31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88875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31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</a:tr>
              <a:tr h="35280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318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32348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8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57175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dirty="0" smtClean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Example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611" name="Google Shape;611;p38"/>
          <p:cNvSpPr txBox="1"/>
          <p:nvPr/>
        </p:nvSpPr>
        <p:spPr>
          <a:xfrm>
            <a:off x="932484" y="2052446"/>
            <a:ext cx="1216025" cy="431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endParaRPr sz="2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2" name="Google Shape;612;p38"/>
          <p:cNvSpPr txBox="1"/>
          <p:nvPr/>
        </p:nvSpPr>
        <p:spPr>
          <a:xfrm>
            <a:off x="2321127" y="2052446"/>
            <a:ext cx="3000375" cy="431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TABLE Student (</a:t>
            </a:r>
            <a:endParaRPr sz="2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3" name="Google Shape;613;p38"/>
          <p:cNvSpPr txBox="1"/>
          <p:nvPr/>
        </p:nvSpPr>
        <p:spPr>
          <a:xfrm>
            <a:off x="1328674" y="2527934"/>
            <a:ext cx="1414780" cy="431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sID INT</a:t>
            </a:r>
            <a:endParaRPr sz="2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4" name="Google Shape;614;p38"/>
          <p:cNvSpPr txBox="1"/>
          <p:nvPr/>
        </p:nvSpPr>
        <p:spPr>
          <a:xfrm>
            <a:off x="2915054" y="2527934"/>
            <a:ext cx="2803525" cy="431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 smtClean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AUTO_INCREMENT</a:t>
            </a:r>
            <a:endParaRPr sz="2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5" name="Google Shape;615;p38"/>
          <p:cNvSpPr txBox="1"/>
          <p:nvPr/>
        </p:nvSpPr>
        <p:spPr>
          <a:xfrm>
            <a:off x="5890103" y="2527934"/>
            <a:ext cx="1414145" cy="431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PRIMARY</a:t>
            </a:r>
            <a:endParaRPr sz="2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6" name="Google Shape;616;p38"/>
          <p:cNvSpPr txBox="1"/>
          <p:nvPr/>
        </p:nvSpPr>
        <p:spPr>
          <a:xfrm>
            <a:off x="7477502" y="2527934"/>
            <a:ext cx="819150" cy="431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KEY,</a:t>
            </a:r>
            <a:endParaRPr sz="2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7" name="Google Shape;617;p38"/>
          <p:cNvSpPr txBox="1"/>
          <p:nvPr/>
        </p:nvSpPr>
        <p:spPr>
          <a:xfrm>
            <a:off x="1328674" y="3003677"/>
            <a:ext cx="1018540" cy="431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sName</a:t>
            </a:r>
            <a:endParaRPr sz="2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8" name="Google Shape;618;p38"/>
          <p:cNvSpPr txBox="1"/>
          <p:nvPr/>
        </p:nvSpPr>
        <p:spPr>
          <a:xfrm>
            <a:off x="2518917" y="3003677"/>
            <a:ext cx="3001010" cy="431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VARCHAR(50) NOT</a:t>
            </a:r>
            <a:endParaRPr sz="2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9" name="Google Shape;619;p38"/>
          <p:cNvSpPr txBox="1"/>
          <p:nvPr/>
        </p:nvSpPr>
        <p:spPr>
          <a:xfrm>
            <a:off x="5692668" y="3003677"/>
            <a:ext cx="1017905" cy="431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NULL,</a:t>
            </a:r>
            <a:endParaRPr sz="2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0" name="Google Shape;620;p38"/>
          <p:cNvSpPr txBox="1"/>
          <p:nvPr/>
        </p:nvSpPr>
        <p:spPr>
          <a:xfrm>
            <a:off x="1328674" y="3479165"/>
            <a:ext cx="1612900" cy="431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sAddress</a:t>
            </a:r>
            <a:endParaRPr sz="2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1" name="Google Shape;621;p38"/>
          <p:cNvSpPr txBox="1"/>
          <p:nvPr/>
        </p:nvSpPr>
        <p:spPr>
          <a:xfrm>
            <a:off x="3113658" y="3479165"/>
            <a:ext cx="2604770" cy="431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VARCHAR(255),</a:t>
            </a:r>
            <a:endParaRPr sz="2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2" name="Google Shape;622;p38"/>
          <p:cNvSpPr txBox="1"/>
          <p:nvPr/>
        </p:nvSpPr>
        <p:spPr>
          <a:xfrm>
            <a:off x="932484" y="3954653"/>
            <a:ext cx="4190365" cy="906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0830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sYear INT DEFAULT 1</a:t>
            </a:r>
            <a:endParaRPr sz="2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989315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9"/>
          <p:cNvSpPr txBox="1"/>
          <p:nvPr/>
        </p:nvSpPr>
        <p:spPr>
          <a:xfrm>
            <a:off x="330200" y="3640328"/>
            <a:ext cx="3080385" cy="1001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4620" marR="5080" lvl="0" indent="-1219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Student  (sName, sAddress, sYear)  VALUES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346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(‘Smith’, NULL, 2);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8" name="Google Shape;628;p39"/>
          <p:cNvSpPr txBox="1"/>
          <p:nvPr/>
        </p:nvSpPr>
        <p:spPr>
          <a:xfrm>
            <a:off x="330200" y="5303148"/>
            <a:ext cx="3564254" cy="120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4620" marR="0" lvl="0" indent="-121920" algn="l" rtl="0">
              <a:lnSpc>
                <a:spcPct val="99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Student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34620" marR="134556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(sName, sAddress)  VALUES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346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(‘Smith’, ‘5 Arnold Close’),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346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(‘Brooks’, ‘7 Holly Ave.’);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0" name="Google Shape;630;p39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8988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INSERT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631" name="Google Shape;631;p39"/>
          <p:cNvSpPr txBox="1"/>
          <p:nvPr/>
        </p:nvSpPr>
        <p:spPr>
          <a:xfrm>
            <a:off x="330200" y="1939797"/>
            <a:ext cx="4296410" cy="1001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Student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34620" marR="61150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(sID, sName, sAddress, sYear)  VALUES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346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(1, ‘Smith’, ‘5 Arnold Close’, 1);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399730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0"/>
          <p:cNvSpPr txBox="1"/>
          <p:nvPr/>
        </p:nvSpPr>
        <p:spPr>
          <a:xfrm>
            <a:off x="330200" y="3640328"/>
            <a:ext cx="3080385" cy="1001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4620" marR="5080" lvl="0" indent="-1219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Student  (sName, sAddress, sYear)  VALUES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346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(‘Smith’, NULL, 2);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7" name="Google Shape;637;p40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8988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INSERT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639" name="Google Shape;639;p40"/>
          <p:cNvSpPr txBox="1"/>
          <p:nvPr/>
        </p:nvSpPr>
        <p:spPr>
          <a:xfrm>
            <a:off x="330200" y="1939797"/>
            <a:ext cx="4296410" cy="1001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Student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34620" marR="61150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(sID, sName, sAddress, sYear)  VALUES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346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(1, ‘Smith’, ‘5 Arnold Close’, 1);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0" name="Google Shape;640;p40"/>
          <p:cNvSpPr/>
          <p:nvPr/>
        </p:nvSpPr>
        <p:spPr>
          <a:xfrm>
            <a:off x="4211954" y="4112386"/>
            <a:ext cx="576580" cy="76200"/>
          </a:xfrm>
          <a:custGeom>
            <a:avLst/>
            <a:gdLst/>
            <a:ahLst/>
            <a:cxnLst/>
            <a:rect l="l" t="t" r="r" b="b"/>
            <a:pathLst>
              <a:path w="576579" h="76200" extrusionOk="0">
                <a:moveTo>
                  <a:pt x="499840" y="47590"/>
                </a:moveTo>
                <a:lnTo>
                  <a:pt x="499745" y="76200"/>
                </a:lnTo>
                <a:lnTo>
                  <a:pt x="557181" y="47625"/>
                </a:lnTo>
                <a:lnTo>
                  <a:pt x="512572" y="47625"/>
                </a:lnTo>
                <a:lnTo>
                  <a:pt x="499840" y="47590"/>
                </a:lnTo>
                <a:close/>
              </a:path>
              <a:path w="576579" h="76200" extrusionOk="0">
                <a:moveTo>
                  <a:pt x="499903" y="28540"/>
                </a:moveTo>
                <a:lnTo>
                  <a:pt x="499840" y="47590"/>
                </a:lnTo>
                <a:lnTo>
                  <a:pt x="512572" y="47625"/>
                </a:lnTo>
                <a:lnTo>
                  <a:pt x="512572" y="28575"/>
                </a:lnTo>
                <a:lnTo>
                  <a:pt x="499903" y="28540"/>
                </a:lnTo>
                <a:close/>
              </a:path>
              <a:path w="576579" h="76200" extrusionOk="0">
                <a:moveTo>
                  <a:pt x="499999" y="0"/>
                </a:moveTo>
                <a:lnTo>
                  <a:pt x="499903" y="28540"/>
                </a:lnTo>
                <a:lnTo>
                  <a:pt x="512572" y="28575"/>
                </a:lnTo>
                <a:lnTo>
                  <a:pt x="512572" y="47625"/>
                </a:lnTo>
                <a:lnTo>
                  <a:pt x="557181" y="47625"/>
                </a:lnTo>
                <a:lnTo>
                  <a:pt x="576072" y="38226"/>
                </a:lnTo>
                <a:lnTo>
                  <a:pt x="499999" y="0"/>
                </a:lnTo>
                <a:close/>
              </a:path>
              <a:path w="576579" h="76200" extrusionOk="0">
                <a:moveTo>
                  <a:pt x="0" y="27177"/>
                </a:moveTo>
                <a:lnTo>
                  <a:pt x="0" y="46227"/>
                </a:lnTo>
                <a:lnTo>
                  <a:pt x="499840" y="47590"/>
                </a:lnTo>
                <a:lnTo>
                  <a:pt x="499903" y="28540"/>
                </a:lnTo>
                <a:lnTo>
                  <a:pt x="0" y="2717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41" name="Google Shape;641;p40"/>
          <p:cNvSpPr txBox="1"/>
          <p:nvPr/>
        </p:nvSpPr>
        <p:spPr>
          <a:xfrm>
            <a:off x="5085079" y="1803780"/>
            <a:ext cx="75755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2" name="Google Shape;642;p40"/>
          <p:cNvGraphicFramePr/>
          <p:nvPr/>
        </p:nvGraphicFramePr>
        <p:xfrm>
          <a:off x="4995798" y="2134107"/>
          <a:ext cx="3702800" cy="7417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22600"/>
                <a:gridCol w="878200"/>
                <a:gridCol w="1579875"/>
                <a:gridCol w="722125"/>
              </a:tblGrid>
              <a:tr h="3708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sName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sAddress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sYear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Smith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Arnold Close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643" name="Google Shape;643;p40"/>
          <p:cNvSpPr/>
          <p:nvPr/>
        </p:nvSpPr>
        <p:spPr>
          <a:xfrm>
            <a:off x="4283964" y="2456179"/>
            <a:ext cx="576580" cy="76200"/>
          </a:xfrm>
          <a:custGeom>
            <a:avLst/>
            <a:gdLst/>
            <a:ahLst/>
            <a:cxnLst/>
            <a:rect l="l" t="t" r="r" b="b"/>
            <a:pathLst>
              <a:path w="576579" h="76200" extrusionOk="0">
                <a:moveTo>
                  <a:pt x="499840" y="47590"/>
                </a:moveTo>
                <a:lnTo>
                  <a:pt x="499745" y="76200"/>
                </a:lnTo>
                <a:lnTo>
                  <a:pt x="557374" y="47625"/>
                </a:lnTo>
                <a:lnTo>
                  <a:pt x="512572" y="47625"/>
                </a:lnTo>
                <a:lnTo>
                  <a:pt x="499840" y="47590"/>
                </a:lnTo>
                <a:close/>
              </a:path>
              <a:path w="576579" h="76200" extrusionOk="0">
                <a:moveTo>
                  <a:pt x="499903" y="28540"/>
                </a:moveTo>
                <a:lnTo>
                  <a:pt x="499840" y="47590"/>
                </a:lnTo>
                <a:lnTo>
                  <a:pt x="512572" y="47625"/>
                </a:lnTo>
                <a:lnTo>
                  <a:pt x="512572" y="28575"/>
                </a:lnTo>
                <a:lnTo>
                  <a:pt x="499903" y="28540"/>
                </a:lnTo>
                <a:close/>
              </a:path>
              <a:path w="576579" h="76200" extrusionOk="0">
                <a:moveTo>
                  <a:pt x="499999" y="0"/>
                </a:moveTo>
                <a:lnTo>
                  <a:pt x="499903" y="28540"/>
                </a:lnTo>
                <a:lnTo>
                  <a:pt x="512572" y="28575"/>
                </a:lnTo>
                <a:lnTo>
                  <a:pt x="512572" y="47625"/>
                </a:lnTo>
                <a:lnTo>
                  <a:pt x="557374" y="47625"/>
                </a:lnTo>
                <a:lnTo>
                  <a:pt x="576072" y="38354"/>
                </a:lnTo>
                <a:lnTo>
                  <a:pt x="499999" y="0"/>
                </a:lnTo>
                <a:close/>
              </a:path>
              <a:path w="576579" h="76200" extrusionOk="0">
                <a:moveTo>
                  <a:pt x="0" y="27178"/>
                </a:moveTo>
                <a:lnTo>
                  <a:pt x="0" y="46228"/>
                </a:lnTo>
                <a:lnTo>
                  <a:pt x="499840" y="47590"/>
                </a:lnTo>
                <a:lnTo>
                  <a:pt x="499903" y="28540"/>
                </a:lnTo>
                <a:lnTo>
                  <a:pt x="0" y="2717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44" name="Google Shape;644;p40"/>
          <p:cNvSpPr txBox="1"/>
          <p:nvPr/>
        </p:nvSpPr>
        <p:spPr>
          <a:xfrm>
            <a:off x="5085079" y="3460369"/>
            <a:ext cx="75755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5" name="Google Shape;645;p40"/>
          <p:cNvGraphicFramePr/>
          <p:nvPr/>
        </p:nvGraphicFramePr>
        <p:xfrm>
          <a:off x="4995798" y="3790315"/>
          <a:ext cx="3702800" cy="7417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22600"/>
                <a:gridCol w="878200"/>
                <a:gridCol w="1579875"/>
                <a:gridCol w="722125"/>
              </a:tblGrid>
              <a:tr h="3708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sName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sAddress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sYear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Smith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646" name="Google Shape;646;p40"/>
          <p:cNvSpPr/>
          <p:nvPr/>
        </p:nvSpPr>
        <p:spPr>
          <a:xfrm>
            <a:off x="4211954" y="5733122"/>
            <a:ext cx="576580" cy="76200"/>
          </a:xfrm>
          <a:custGeom>
            <a:avLst/>
            <a:gdLst/>
            <a:ahLst/>
            <a:cxnLst/>
            <a:rect l="l" t="t" r="r" b="b"/>
            <a:pathLst>
              <a:path w="576579" h="76200" extrusionOk="0">
                <a:moveTo>
                  <a:pt x="499840" y="47628"/>
                </a:moveTo>
                <a:lnTo>
                  <a:pt x="499745" y="76199"/>
                </a:lnTo>
                <a:lnTo>
                  <a:pt x="557239" y="47663"/>
                </a:lnTo>
                <a:lnTo>
                  <a:pt x="512572" y="47663"/>
                </a:lnTo>
                <a:lnTo>
                  <a:pt x="499840" y="47628"/>
                </a:lnTo>
                <a:close/>
              </a:path>
              <a:path w="576579" h="76200" extrusionOk="0">
                <a:moveTo>
                  <a:pt x="499903" y="28578"/>
                </a:moveTo>
                <a:lnTo>
                  <a:pt x="499840" y="47628"/>
                </a:lnTo>
                <a:lnTo>
                  <a:pt x="512572" y="47663"/>
                </a:lnTo>
                <a:lnTo>
                  <a:pt x="512572" y="28613"/>
                </a:lnTo>
                <a:lnTo>
                  <a:pt x="499903" y="28578"/>
                </a:lnTo>
                <a:close/>
              </a:path>
              <a:path w="576579" h="76200" extrusionOk="0">
                <a:moveTo>
                  <a:pt x="499999" y="0"/>
                </a:moveTo>
                <a:lnTo>
                  <a:pt x="499903" y="28578"/>
                </a:lnTo>
                <a:lnTo>
                  <a:pt x="512572" y="28613"/>
                </a:lnTo>
                <a:lnTo>
                  <a:pt x="512572" y="47663"/>
                </a:lnTo>
                <a:lnTo>
                  <a:pt x="557239" y="47663"/>
                </a:lnTo>
                <a:lnTo>
                  <a:pt x="576072" y="38315"/>
                </a:lnTo>
                <a:lnTo>
                  <a:pt x="499999" y="0"/>
                </a:lnTo>
                <a:close/>
              </a:path>
              <a:path w="576579" h="76200" extrusionOk="0">
                <a:moveTo>
                  <a:pt x="0" y="27203"/>
                </a:moveTo>
                <a:lnTo>
                  <a:pt x="0" y="46253"/>
                </a:lnTo>
                <a:lnTo>
                  <a:pt x="499840" y="47628"/>
                </a:lnTo>
                <a:lnTo>
                  <a:pt x="499903" y="28578"/>
                </a:lnTo>
                <a:lnTo>
                  <a:pt x="0" y="2720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47" name="Google Shape;647;p40"/>
          <p:cNvSpPr txBox="1"/>
          <p:nvPr/>
        </p:nvSpPr>
        <p:spPr>
          <a:xfrm>
            <a:off x="5085079" y="5045075"/>
            <a:ext cx="757555" cy="29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40"/>
          <p:cNvSpPr txBox="1"/>
          <p:nvPr/>
        </p:nvSpPr>
        <p:spPr>
          <a:xfrm>
            <a:off x="330200" y="5303148"/>
            <a:ext cx="3564254" cy="120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4620" marR="0" lvl="0" indent="-121920" algn="l" rtl="0">
              <a:lnSpc>
                <a:spcPct val="99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Student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34620" marR="134556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(sName, sAddress)  VALUES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346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(‘Smith’, ‘5 Arnold Close’),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346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(‘Brooks’, ‘7 Holly Ave.’);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649" name="Google Shape;649;p40"/>
          <p:cNvGraphicFramePr/>
          <p:nvPr/>
        </p:nvGraphicFramePr>
        <p:xfrm>
          <a:off x="4995798" y="5374513"/>
          <a:ext cx="3702800" cy="11125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22600"/>
                <a:gridCol w="878200"/>
                <a:gridCol w="1579875"/>
                <a:gridCol w="722125"/>
              </a:tblGrid>
              <a:tr h="370825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sName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sAddress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sYear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88875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Smith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Arnold Close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</a:tr>
              <a:tr h="35280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Brooks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Holly Ave.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35411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1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78638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UPDATE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656" name="Google Shape;656;p41"/>
          <p:cNvSpPr txBox="1"/>
          <p:nvPr/>
        </p:nvSpPr>
        <p:spPr>
          <a:xfrm>
            <a:off x="535940" y="1626742"/>
            <a:ext cx="3731895" cy="1125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508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Changes values in specified  rows based on WHERE  conditions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41"/>
          <p:cNvSpPr txBox="1"/>
          <p:nvPr/>
        </p:nvSpPr>
        <p:spPr>
          <a:xfrm>
            <a:off x="718819" y="3219577"/>
            <a:ext cx="1122680" cy="39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UPDATE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8" name="Google Shape;658;p41"/>
          <p:cNvSpPr txBox="1"/>
          <p:nvPr/>
        </p:nvSpPr>
        <p:spPr>
          <a:xfrm>
            <a:off x="1995932" y="3219577"/>
            <a:ext cx="1852295" cy="39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table-name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9" name="Google Shape;659;p41"/>
          <p:cNvSpPr txBox="1"/>
          <p:nvPr/>
        </p:nvSpPr>
        <p:spPr>
          <a:xfrm>
            <a:off x="2361946" y="3658489"/>
            <a:ext cx="1485900" cy="83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val1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val2…]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0" name="Google Shape;660;p41"/>
          <p:cNvSpPr txBox="1"/>
          <p:nvPr/>
        </p:nvSpPr>
        <p:spPr>
          <a:xfrm>
            <a:off x="718819" y="3585336"/>
            <a:ext cx="1485900" cy="135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78460" marR="5080" lvl="0" indent="-366394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SET col1  [,col2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[WHERE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1" name="Google Shape;661;p41"/>
          <p:cNvSpPr txBox="1"/>
          <p:nvPr/>
        </p:nvSpPr>
        <p:spPr>
          <a:xfrm>
            <a:off x="1084884" y="4975605"/>
            <a:ext cx="1851660" cy="39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condition]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2" name="Google Shape;662;p41"/>
          <p:cNvSpPr txBox="1"/>
          <p:nvPr/>
        </p:nvSpPr>
        <p:spPr>
          <a:xfrm>
            <a:off x="5185028" y="1626742"/>
            <a:ext cx="3194685" cy="383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99085" marR="116839" lvl="0" indent="-2863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rows where the  condition is true have  the columns set to the  given values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9085" marR="5080" lvl="0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no condition is given  all rows are changed so  BE CAREFUL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9085" marR="26034" lvl="0" indent="-286385" algn="just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Values are constants or  can be computed from  columns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65077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3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78638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UPDATE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684" name="Google Shape;684;p43"/>
          <p:cNvSpPr/>
          <p:nvPr/>
        </p:nvSpPr>
        <p:spPr>
          <a:xfrm>
            <a:off x="2403982" y="2657601"/>
            <a:ext cx="492125" cy="704850"/>
          </a:xfrm>
          <a:custGeom>
            <a:avLst/>
            <a:gdLst/>
            <a:ahLst/>
            <a:cxnLst/>
            <a:rect l="l" t="t" r="r" b="b"/>
            <a:pathLst>
              <a:path w="492125" h="704850" extrusionOk="0">
                <a:moveTo>
                  <a:pt x="440439" y="57195"/>
                </a:moveTo>
                <a:lnTo>
                  <a:pt x="0" y="693927"/>
                </a:lnTo>
                <a:lnTo>
                  <a:pt x="15621" y="704850"/>
                </a:lnTo>
                <a:lnTo>
                  <a:pt x="456100" y="68059"/>
                </a:lnTo>
                <a:lnTo>
                  <a:pt x="440439" y="57195"/>
                </a:lnTo>
                <a:close/>
              </a:path>
              <a:path w="492125" h="704850" extrusionOk="0">
                <a:moveTo>
                  <a:pt x="484930" y="46736"/>
                </a:moveTo>
                <a:lnTo>
                  <a:pt x="447675" y="46736"/>
                </a:lnTo>
                <a:lnTo>
                  <a:pt x="463296" y="57658"/>
                </a:lnTo>
                <a:lnTo>
                  <a:pt x="456100" y="68059"/>
                </a:lnTo>
                <a:lnTo>
                  <a:pt x="479552" y="84327"/>
                </a:lnTo>
                <a:lnTo>
                  <a:pt x="484930" y="46736"/>
                </a:lnTo>
                <a:close/>
              </a:path>
              <a:path w="492125" h="704850" extrusionOk="0">
                <a:moveTo>
                  <a:pt x="447675" y="46736"/>
                </a:moveTo>
                <a:lnTo>
                  <a:pt x="440439" y="57195"/>
                </a:lnTo>
                <a:lnTo>
                  <a:pt x="456100" y="68059"/>
                </a:lnTo>
                <a:lnTo>
                  <a:pt x="463296" y="57658"/>
                </a:lnTo>
                <a:lnTo>
                  <a:pt x="447675" y="46736"/>
                </a:lnTo>
                <a:close/>
              </a:path>
              <a:path w="492125" h="704850" extrusionOk="0">
                <a:moveTo>
                  <a:pt x="491617" y="0"/>
                </a:moveTo>
                <a:lnTo>
                  <a:pt x="416941" y="40894"/>
                </a:lnTo>
                <a:lnTo>
                  <a:pt x="440439" y="57195"/>
                </a:lnTo>
                <a:lnTo>
                  <a:pt x="447675" y="46736"/>
                </a:lnTo>
                <a:lnTo>
                  <a:pt x="484930" y="46736"/>
                </a:lnTo>
                <a:lnTo>
                  <a:pt x="49161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85" name="Google Shape;685;p43"/>
          <p:cNvSpPr/>
          <p:nvPr/>
        </p:nvSpPr>
        <p:spPr>
          <a:xfrm>
            <a:off x="2404491" y="4502911"/>
            <a:ext cx="439420" cy="510540"/>
          </a:xfrm>
          <a:custGeom>
            <a:avLst/>
            <a:gdLst/>
            <a:ahLst/>
            <a:cxnLst/>
            <a:rect l="l" t="t" r="r" b="b"/>
            <a:pathLst>
              <a:path w="439419" h="510539" extrusionOk="0">
                <a:moveTo>
                  <a:pt x="382476" y="458565"/>
                </a:moveTo>
                <a:lnTo>
                  <a:pt x="360806" y="477138"/>
                </a:lnTo>
                <a:lnTo>
                  <a:pt x="439292" y="510286"/>
                </a:lnTo>
                <a:lnTo>
                  <a:pt x="428767" y="468249"/>
                </a:lnTo>
                <a:lnTo>
                  <a:pt x="390778" y="468249"/>
                </a:lnTo>
                <a:lnTo>
                  <a:pt x="382476" y="458565"/>
                </a:lnTo>
                <a:close/>
              </a:path>
              <a:path w="439419" h="510539" extrusionOk="0">
                <a:moveTo>
                  <a:pt x="396972" y="446139"/>
                </a:moveTo>
                <a:lnTo>
                  <a:pt x="382476" y="458565"/>
                </a:lnTo>
                <a:lnTo>
                  <a:pt x="390778" y="468249"/>
                </a:lnTo>
                <a:lnTo>
                  <a:pt x="405256" y="455802"/>
                </a:lnTo>
                <a:lnTo>
                  <a:pt x="396972" y="446139"/>
                </a:lnTo>
                <a:close/>
              </a:path>
              <a:path w="439419" h="510539" extrusionOk="0">
                <a:moveTo>
                  <a:pt x="418591" y="427608"/>
                </a:moveTo>
                <a:lnTo>
                  <a:pt x="396972" y="446139"/>
                </a:lnTo>
                <a:lnTo>
                  <a:pt x="405256" y="455802"/>
                </a:lnTo>
                <a:lnTo>
                  <a:pt x="390778" y="468249"/>
                </a:lnTo>
                <a:lnTo>
                  <a:pt x="428767" y="468249"/>
                </a:lnTo>
                <a:lnTo>
                  <a:pt x="418591" y="427608"/>
                </a:lnTo>
                <a:close/>
              </a:path>
              <a:path w="439419" h="510539" extrusionOk="0">
                <a:moveTo>
                  <a:pt x="14477" y="0"/>
                </a:moveTo>
                <a:lnTo>
                  <a:pt x="0" y="12445"/>
                </a:lnTo>
                <a:lnTo>
                  <a:pt x="382476" y="458565"/>
                </a:lnTo>
                <a:lnTo>
                  <a:pt x="396972" y="446139"/>
                </a:lnTo>
                <a:lnTo>
                  <a:pt x="1447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686" name="Google Shape;686;p43"/>
          <p:cNvSpPr txBox="1"/>
          <p:nvPr/>
        </p:nvSpPr>
        <p:spPr>
          <a:xfrm>
            <a:off x="247599" y="2812034"/>
            <a:ext cx="93916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87" name="Google Shape;687;p43"/>
          <p:cNvGraphicFramePr/>
          <p:nvPr/>
        </p:nvGraphicFramePr>
        <p:xfrm>
          <a:off x="159232" y="3142233"/>
          <a:ext cx="2170975" cy="1854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2050"/>
                <a:gridCol w="856025"/>
                <a:gridCol w="882900"/>
              </a:tblGrid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688" name="Google Shape;688;p43"/>
          <p:cNvSpPr txBox="1"/>
          <p:nvPr/>
        </p:nvSpPr>
        <p:spPr>
          <a:xfrm>
            <a:off x="3067050" y="4820157"/>
            <a:ext cx="207391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UPDATE Employee  SET Salary =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Salary *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9" name="Google Shape;689;p43"/>
          <p:cNvSpPr txBox="1"/>
          <p:nvPr/>
        </p:nvSpPr>
        <p:spPr>
          <a:xfrm>
            <a:off x="5211343" y="5368747"/>
            <a:ext cx="570865" cy="30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1.05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0" name="Google Shape;690;p43"/>
          <p:cNvSpPr txBox="1"/>
          <p:nvPr/>
        </p:nvSpPr>
        <p:spPr>
          <a:xfrm>
            <a:off x="3067050" y="2079625"/>
            <a:ext cx="2073910" cy="30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UPDATE Employee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1" name="Google Shape;691;p43"/>
          <p:cNvSpPr txBox="1"/>
          <p:nvPr/>
        </p:nvSpPr>
        <p:spPr>
          <a:xfrm>
            <a:off x="3067050" y="2353945"/>
            <a:ext cx="1393190" cy="851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SET Salary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56007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 =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ID =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2" name="Google Shape;692;p43"/>
          <p:cNvSpPr txBox="1"/>
          <p:nvPr/>
        </p:nvSpPr>
        <p:spPr>
          <a:xfrm>
            <a:off x="4567809" y="2353945"/>
            <a:ext cx="1120140" cy="851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15000,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333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‘Jane’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6924134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4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78638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UPDATE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699" name="Google Shape;699;p44"/>
          <p:cNvSpPr/>
          <p:nvPr/>
        </p:nvSpPr>
        <p:spPr>
          <a:xfrm>
            <a:off x="2403982" y="2657601"/>
            <a:ext cx="492125" cy="704850"/>
          </a:xfrm>
          <a:custGeom>
            <a:avLst/>
            <a:gdLst/>
            <a:ahLst/>
            <a:cxnLst/>
            <a:rect l="l" t="t" r="r" b="b"/>
            <a:pathLst>
              <a:path w="492125" h="704850" extrusionOk="0">
                <a:moveTo>
                  <a:pt x="440439" y="57195"/>
                </a:moveTo>
                <a:lnTo>
                  <a:pt x="0" y="693927"/>
                </a:lnTo>
                <a:lnTo>
                  <a:pt x="15621" y="704850"/>
                </a:lnTo>
                <a:lnTo>
                  <a:pt x="456100" y="68059"/>
                </a:lnTo>
                <a:lnTo>
                  <a:pt x="440439" y="57195"/>
                </a:lnTo>
                <a:close/>
              </a:path>
              <a:path w="492125" h="704850" extrusionOk="0">
                <a:moveTo>
                  <a:pt x="484930" y="46736"/>
                </a:moveTo>
                <a:lnTo>
                  <a:pt x="447675" y="46736"/>
                </a:lnTo>
                <a:lnTo>
                  <a:pt x="463296" y="57658"/>
                </a:lnTo>
                <a:lnTo>
                  <a:pt x="456100" y="68059"/>
                </a:lnTo>
                <a:lnTo>
                  <a:pt x="479552" y="84327"/>
                </a:lnTo>
                <a:lnTo>
                  <a:pt x="484930" y="46736"/>
                </a:lnTo>
                <a:close/>
              </a:path>
              <a:path w="492125" h="704850" extrusionOk="0">
                <a:moveTo>
                  <a:pt x="447675" y="46736"/>
                </a:moveTo>
                <a:lnTo>
                  <a:pt x="440439" y="57195"/>
                </a:lnTo>
                <a:lnTo>
                  <a:pt x="456100" y="68059"/>
                </a:lnTo>
                <a:lnTo>
                  <a:pt x="463296" y="57658"/>
                </a:lnTo>
                <a:lnTo>
                  <a:pt x="447675" y="46736"/>
                </a:lnTo>
                <a:close/>
              </a:path>
              <a:path w="492125" h="704850" extrusionOk="0">
                <a:moveTo>
                  <a:pt x="491617" y="0"/>
                </a:moveTo>
                <a:lnTo>
                  <a:pt x="416941" y="40894"/>
                </a:lnTo>
                <a:lnTo>
                  <a:pt x="440439" y="57195"/>
                </a:lnTo>
                <a:lnTo>
                  <a:pt x="447675" y="46736"/>
                </a:lnTo>
                <a:lnTo>
                  <a:pt x="484930" y="46736"/>
                </a:lnTo>
                <a:lnTo>
                  <a:pt x="49161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00" name="Google Shape;700;p44"/>
          <p:cNvSpPr/>
          <p:nvPr/>
        </p:nvSpPr>
        <p:spPr>
          <a:xfrm>
            <a:off x="2404491" y="4502911"/>
            <a:ext cx="439420" cy="510540"/>
          </a:xfrm>
          <a:custGeom>
            <a:avLst/>
            <a:gdLst/>
            <a:ahLst/>
            <a:cxnLst/>
            <a:rect l="l" t="t" r="r" b="b"/>
            <a:pathLst>
              <a:path w="439419" h="510539" extrusionOk="0">
                <a:moveTo>
                  <a:pt x="382476" y="458565"/>
                </a:moveTo>
                <a:lnTo>
                  <a:pt x="360806" y="477138"/>
                </a:lnTo>
                <a:lnTo>
                  <a:pt x="439292" y="510286"/>
                </a:lnTo>
                <a:lnTo>
                  <a:pt x="428767" y="468249"/>
                </a:lnTo>
                <a:lnTo>
                  <a:pt x="390778" y="468249"/>
                </a:lnTo>
                <a:lnTo>
                  <a:pt x="382476" y="458565"/>
                </a:lnTo>
                <a:close/>
              </a:path>
              <a:path w="439419" h="510539" extrusionOk="0">
                <a:moveTo>
                  <a:pt x="396972" y="446139"/>
                </a:moveTo>
                <a:lnTo>
                  <a:pt x="382476" y="458565"/>
                </a:lnTo>
                <a:lnTo>
                  <a:pt x="390778" y="468249"/>
                </a:lnTo>
                <a:lnTo>
                  <a:pt x="405256" y="455802"/>
                </a:lnTo>
                <a:lnTo>
                  <a:pt x="396972" y="446139"/>
                </a:lnTo>
                <a:close/>
              </a:path>
              <a:path w="439419" h="510539" extrusionOk="0">
                <a:moveTo>
                  <a:pt x="418591" y="427608"/>
                </a:moveTo>
                <a:lnTo>
                  <a:pt x="396972" y="446139"/>
                </a:lnTo>
                <a:lnTo>
                  <a:pt x="405256" y="455802"/>
                </a:lnTo>
                <a:lnTo>
                  <a:pt x="390778" y="468249"/>
                </a:lnTo>
                <a:lnTo>
                  <a:pt x="428767" y="468249"/>
                </a:lnTo>
                <a:lnTo>
                  <a:pt x="418591" y="427608"/>
                </a:lnTo>
                <a:close/>
              </a:path>
              <a:path w="439419" h="510539" extrusionOk="0">
                <a:moveTo>
                  <a:pt x="14477" y="0"/>
                </a:moveTo>
                <a:lnTo>
                  <a:pt x="0" y="12445"/>
                </a:lnTo>
                <a:lnTo>
                  <a:pt x="382476" y="458565"/>
                </a:lnTo>
                <a:lnTo>
                  <a:pt x="396972" y="446139"/>
                </a:lnTo>
                <a:lnTo>
                  <a:pt x="1447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01" name="Google Shape;701;p44"/>
          <p:cNvSpPr txBox="1"/>
          <p:nvPr/>
        </p:nvSpPr>
        <p:spPr>
          <a:xfrm>
            <a:off x="247599" y="2812034"/>
            <a:ext cx="93916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2" name="Google Shape;702;p44"/>
          <p:cNvGraphicFramePr/>
          <p:nvPr/>
        </p:nvGraphicFramePr>
        <p:xfrm>
          <a:off x="159232" y="3142233"/>
          <a:ext cx="2170975" cy="1854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2050"/>
                <a:gridCol w="856025"/>
                <a:gridCol w="882900"/>
              </a:tblGrid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703" name="Google Shape;703;p44"/>
          <p:cNvSpPr txBox="1"/>
          <p:nvPr/>
        </p:nvSpPr>
        <p:spPr>
          <a:xfrm>
            <a:off x="3067050" y="4820157"/>
            <a:ext cx="207391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UPDATE Employee  SET Salary =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Salary *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4" name="Google Shape;704;p44"/>
          <p:cNvSpPr txBox="1"/>
          <p:nvPr/>
        </p:nvSpPr>
        <p:spPr>
          <a:xfrm>
            <a:off x="5211343" y="5368747"/>
            <a:ext cx="708025" cy="30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1.05;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5" name="Google Shape;705;p44"/>
          <p:cNvSpPr txBox="1"/>
          <p:nvPr/>
        </p:nvSpPr>
        <p:spPr>
          <a:xfrm>
            <a:off x="3067050" y="2079625"/>
            <a:ext cx="2073910" cy="30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UPDATE Employee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6" name="Google Shape;706;p44"/>
          <p:cNvSpPr txBox="1"/>
          <p:nvPr/>
        </p:nvSpPr>
        <p:spPr>
          <a:xfrm>
            <a:off x="3067050" y="2353945"/>
            <a:ext cx="1393190" cy="851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SET Salary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56007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 =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ID =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7" name="Google Shape;707;p44"/>
          <p:cNvSpPr txBox="1"/>
          <p:nvPr/>
        </p:nvSpPr>
        <p:spPr>
          <a:xfrm>
            <a:off x="4568444" y="2353945"/>
            <a:ext cx="1119505" cy="851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15000,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‘Jane’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5313257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5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78638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UPDATE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714" name="Google Shape;714;p45"/>
          <p:cNvSpPr/>
          <p:nvPr/>
        </p:nvSpPr>
        <p:spPr>
          <a:xfrm>
            <a:off x="2403982" y="2657601"/>
            <a:ext cx="492125" cy="704850"/>
          </a:xfrm>
          <a:custGeom>
            <a:avLst/>
            <a:gdLst/>
            <a:ahLst/>
            <a:cxnLst/>
            <a:rect l="l" t="t" r="r" b="b"/>
            <a:pathLst>
              <a:path w="492125" h="704850" extrusionOk="0">
                <a:moveTo>
                  <a:pt x="440439" y="57195"/>
                </a:moveTo>
                <a:lnTo>
                  <a:pt x="0" y="693927"/>
                </a:lnTo>
                <a:lnTo>
                  <a:pt x="15621" y="704850"/>
                </a:lnTo>
                <a:lnTo>
                  <a:pt x="456100" y="68059"/>
                </a:lnTo>
                <a:lnTo>
                  <a:pt x="440439" y="57195"/>
                </a:lnTo>
                <a:close/>
              </a:path>
              <a:path w="492125" h="704850" extrusionOk="0">
                <a:moveTo>
                  <a:pt x="484930" y="46736"/>
                </a:moveTo>
                <a:lnTo>
                  <a:pt x="447675" y="46736"/>
                </a:lnTo>
                <a:lnTo>
                  <a:pt x="463296" y="57658"/>
                </a:lnTo>
                <a:lnTo>
                  <a:pt x="456100" y="68059"/>
                </a:lnTo>
                <a:lnTo>
                  <a:pt x="479552" y="84327"/>
                </a:lnTo>
                <a:lnTo>
                  <a:pt x="484930" y="46736"/>
                </a:lnTo>
                <a:close/>
              </a:path>
              <a:path w="492125" h="704850" extrusionOk="0">
                <a:moveTo>
                  <a:pt x="447675" y="46736"/>
                </a:moveTo>
                <a:lnTo>
                  <a:pt x="440439" y="57195"/>
                </a:lnTo>
                <a:lnTo>
                  <a:pt x="456100" y="68059"/>
                </a:lnTo>
                <a:lnTo>
                  <a:pt x="463296" y="57658"/>
                </a:lnTo>
                <a:lnTo>
                  <a:pt x="447675" y="46736"/>
                </a:lnTo>
                <a:close/>
              </a:path>
              <a:path w="492125" h="704850" extrusionOk="0">
                <a:moveTo>
                  <a:pt x="491617" y="0"/>
                </a:moveTo>
                <a:lnTo>
                  <a:pt x="416941" y="40894"/>
                </a:lnTo>
                <a:lnTo>
                  <a:pt x="440439" y="57195"/>
                </a:lnTo>
                <a:lnTo>
                  <a:pt x="447675" y="46736"/>
                </a:lnTo>
                <a:lnTo>
                  <a:pt x="484930" y="46736"/>
                </a:lnTo>
                <a:lnTo>
                  <a:pt x="49161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15" name="Google Shape;715;p45"/>
          <p:cNvSpPr/>
          <p:nvPr/>
        </p:nvSpPr>
        <p:spPr>
          <a:xfrm>
            <a:off x="2404491" y="4502911"/>
            <a:ext cx="439420" cy="510540"/>
          </a:xfrm>
          <a:custGeom>
            <a:avLst/>
            <a:gdLst/>
            <a:ahLst/>
            <a:cxnLst/>
            <a:rect l="l" t="t" r="r" b="b"/>
            <a:pathLst>
              <a:path w="439419" h="510539" extrusionOk="0">
                <a:moveTo>
                  <a:pt x="382476" y="458565"/>
                </a:moveTo>
                <a:lnTo>
                  <a:pt x="360806" y="477138"/>
                </a:lnTo>
                <a:lnTo>
                  <a:pt x="439292" y="510286"/>
                </a:lnTo>
                <a:lnTo>
                  <a:pt x="428767" y="468249"/>
                </a:lnTo>
                <a:lnTo>
                  <a:pt x="390778" y="468249"/>
                </a:lnTo>
                <a:lnTo>
                  <a:pt x="382476" y="458565"/>
                </a:lnTo>
                <a:close/>
              </a:path>
              <a:path w="439419" h="510539" extrusionOk="0">
                <a:moveTo>
                  <a:pt x="396972" y="446139"/>
                </a:moveTo>
                <a:lnTo>
                  <a:pt x="382476" y="458565"/>
                </a:lnTo>
                <a:lnTo>
                  <a:pt x="390778" y="468249"/>
                </a:lnTo>
                <a:lnTo>
                  <a:pt x="405256" y="455802"/>
                </a:lnTo>
                <a:lnTo>
                  <a:pt x="396972" y="446139"/>
                </a:lnTo>
                <a:close/>
              </a:path>
              <a:path w="439419" h="510539" extrusionOk="0">
                <a:moveTo>
                  <a:pt x="418591" y="427608"/>
                </a:moveTo>
                <a:lnTo>
                  <a:pt x="396972" y="446139"/>
                </a:lnTo>
                <a:lnTo>
                  <a:pt x="405256" y="455802"/>
                </a:lnTo>
                <a:lnTo>
                  <a:pt x="390778" y="468249"/>
                </a:lnTo>
                <a:lnTo>
                  <a:pt x="428767" y="468249"/>
                </a:lnTo>
                <a:lnTo>
                  <a:pt x="418591" y="427608"/>
                </a:lnTo>
                <a:close/>
              </a:path>
              <a:path w="439419" h="510539" extrusionOk="0">
                <a:moveTo>
                  <a:pt x="14477" y="0"/>
                </a:moveTo>
                <a:lnTo>
                  <a:pt x="0" y="12445"/>
                </a:lnTo>
                <a:lnTo>
                  <a:pt x="382476" y="458565"/>
                </a:lnTo>
                <a:lnTo>
                  <a:pt x="396972" y="446139"/>
                </a:lnTo>
                <a:lnTo>
                  <a:pt x="1447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16" name="Google Shape;716;p45"/>
          <p:cNvSpPr txBox="1"/>
          <p:nvPr/>
        </p:nvSpPr>
        <p:spPr>
          <a:xfrm>
            <a:off x="247599" y="2812034"/>
            <a:ext cx="93916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17" name="Google Shape;717;p45"/>
          <p:cNvGraphicFramePr/>
          <p:nvPr/>
        </p:nvGraphicFramePr>
        <p:xfrm>
          <a:off x="159232" y="3142233"/>
          <a:ext cx="2170975" cy="1854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2050"/>
                <a:gridCol w="856025"/>
                <a:gridCol w="882900"/>
              </a:tblGrid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718" name="Google Shape;718;p45"/>
          <p:cNvSpPr/>
          <p:nvPr/>
        </p:nvSpPr>
        <p:spPr>
          <a:xfrm>
            <a:off x="5834888" y="2476119"/>
            <a:ext cx="609600" cy="191135"/>
          </a:xfrm>
          <a:custGeom>
            <a:avLst/>
            <a:gdLst/>
            <a:ahLst/>
            <a:cxnLst/>
            <a:rect l="l" t="t" r="r" b="b"/>
            <a:pathLst>
              <a:path w="609600" h="191135" extrusionOk="0">
                <a:moveTo>
                  <a:pt x="533263" y="27600"/>
                </a:moveTo>
                <a:lnTo>
                  <a:pt x="0" y="172211"/>
                </a:lnTo>
                <a:lnTo>
                  <a:pt x="5079" y="190626"/>
                </a:lnTo>
                <a:lnTo>
                  <a:pt x="538223" y="45890"/>
                </a:lnTo>
                <a:lnTo>
                  <a:pt x="533263" y="27600"/>
                </a:lnTo>
                <a:close/>
              </a:path>
              <a:path w="609600" h="191135" extrusionOk="0">
                <a:moveTo>
                  <a:pt x="600947" y="24256"/>
                </a:moveTo>
                <a:lnTo>
                  <a:pt x="545591" y="24256"/>
                </a:lnTo>
                <a:lnTo>
                  <a:pt x="550545" y="42544"/>
                </a:lnTo>
                <a:lnTo>
                  <a:pt x="538223" y="45890"/>
                </a:lnTo>
                <a:lnTo>
                  <a:pt x="545719" y="73532"/>
                </a:lnTo>
                <a:lnTo>
                  <a:pt x="600947" y="24256"/>
                </a:lnTo>
                <a:close/>
              </a:path>
              <a:path w="609600" h="191135" extrusionOk="0">
                <a:moveTo>
                  <a:pt x="545591" y="24256"/>
                </a:moveTo>
                <a:lnTo>
                  <a:pt x="533263" y="27600"/>
                </a:lnTo>
                <a:lnTo>
                  <a:pt x="538223" y="45890"/>
                </a:lnTo>
                <a:lnTo>
                  <a:pt x="550545" y="42544"/>
                </a:lnTo>
                <a:lnTo>
                  <a:pt x="545591" y="24256"/>
                </a:lnTo>
                <a:close/>
              </a:path>
              <a:path w="609600" h="191135" extrusionOk="0">
                <a:moveTo>
                  <a:pt x="525779" y="0"/>
                </a:moveTo>
                <a:lnTo>
                  <a:pt x="533263" y="27600"/>
                </a:lnTo>
                <a:lnTo>
                  <a:pt x="545591" y="24256"/>
                </a:lnTo>
                <a:lnTo>
                  <a:pt x="600947" y="24256"/>
                </a:lnTo>
                <a:lnTo>
                  <a:pt x="609346" y="16763"/>
                </a:lnTo>
                <a:lnTo>
                  <a:pt x="52577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19" name="Google Shape;719;p45"/>
          <p:cNvSpPr txBox="1"/>
          <p:nvPr/>
        </p:nvSpPr>
        <p:spPr>
          <a:xfrm>
            <a:off x="3067050" y="4820157"/>
            <a:ext cx="207391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UPDATE Employee  SET Salary =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Salary *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0" name="Google Shape;720;p45"/>
          <p:cNvSpPr txBox="1"/>
          <p:nvPr/>
        </p:nvSpPr>
        <p:spPr>
          <a:xfrm>
            <a:off x="5211343" y="5368747"/>
            <a:ext cx="708025" cy="30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1.05;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1" name="Google Shape;721;p45"/>
          <p:cNvSpPr txBox="1"/>
          <p:nvPr/>
        </p:nvSpPr>
        <p:spPr>
          <a:xfrm>
            <a:off x="3067050" y="2079625"/>
            <a:ext cx="2073910" cy="30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UPDATE Employee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2" name="Google Shape;722;p45"/>
          <p:cNvSpPr txBox="1"/>
          <p:nvPr/>
        </p:nvSpPr>
        <p:spPr>
          <a:xfrm>
            <a:off x="3067050" y="2353945"/>
            <a:ext cx="1393190" cy="851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SET Salary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56007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 =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ID =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3" name="Google Shape;723;p45"/>
          <p:cNvSpPr txBox="1"/>
          <p:nvPr/>
        </p:nvSpPr>
        <p:spPr>
          <a:xfrm>
            <a:off x="4568444" y="2353945"/>
            <a:ext cx="1119505" cy="851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15000,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‘Jane’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4" name="Google Shape;724;p45"/>
          <p:cNvSpPr txBox="1"/>
          <p:nvPr/>
        </p:nvSpPr>
        <p:spPr>
          <a:xfrm>
            <a:off x="6729476" y="1450847"/>
            <a:ext cx="93916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25" name="Google Shape;725;p45"/>
          <p:cNvGraphicFramePr/>
          <p:nvPr/>
        </p:nvGraphicFramePr>
        <p:xfrm>
          <a:off x="6639941" y="1781301"/>
          <a:ext cx="2171050" cy="1854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2050"/>
                <a:gridCol w="855975"/>
                <a:gridCol w="883025"/>
              </a:tblGrid>
              <a:tr h="3708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Jane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726" name="Google Shape;726;p45"/>
          <p:cNvSpPr txBox="1"/>
          <p:nvPr/>
        </p:nvSpPr>
        <p:spPr>
          <a:xfrm>
            <a:off x="6740143" y="4180585"/>
            <a:ext cx="93916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27" name="Google Shape;727;p45"/>
          <p:cNvGraphicFramePr/>
          <p:nvPr/>
        </p:nvGraphicFramePr>
        <p:xfrm>
          <a:off x="6650735" y="4510404"/>
          <a:ext cx="2170925" cy="18542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2050"/>
                <a:gridCol w="855975"/>
                <a:gridCol w="882900"/>
              </a:tblGrid>
              <a:tr h="3708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26250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25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27300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18900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23100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728" name="Google Shape;728;p45"/>
          <p:cNvSpPr/>
          <p:nvPr/>
        </p:nvSpPr>
        <p:spPr>
          <a:xfrm>
            <a:off x="5863844" y="5220715"/>
            <a:ext cx="580390" cy="296545"/>
          </a:xfrm>
          <a:custGeom>
            <a:avLst/>
            <a:gdLst/>
            <a:ahLst/>
            <a:cxnLst/>
            <a:rect l="l" t="t" r="r" b="b"/>
            <a:pathLst>
              <a:path w="580389" h="296545" extrusionOk="0">
                <a:moveTo>
                  <a:pt x="507954" y="270933"/>
                </a:moveTo>
                <a:lnTo>
                  <a:pt x="495172" y="296544"/>
                </a:lnTo>
                <a:lnTo>
                  <a:pt x="580389" y="296544"/>
                </a:lnTo>
                <a:lnTo>
                  <a:pt x="565426" y="276605"/>
                </a:lnTo>
                <a:lnTo>
                  <a:pt x="519302" y="276605"/>
                </a:lnTo>
                <a:lnTo>
                  <a:pt x="507954" y="270933"/>
                </a:lnTo>
                <a:close/>
              </a:path>
              <a:path w="580389" h="296545" extrusionOk="0">
                <a:moveTo>
                  <a:pt x="516451" y="253909"/>
                </a:moveTo>
                <a:lnTo>
                  <a:pt x="507954" y="270933"/>
                </a:lnTo>
                <a:lnTo>
                  <a:pt x="519302" y="276605"/>
                </a:lnTo>
                <a:lnTo>
                  <a:pt x="527811" y="259587"/>
                </a:lnTo>
                <a:lnTo>
                  <a:pt x="516451" y="253909"/>
                </a:lnTo>
                <a:close/>
              </a:path>
              <a:path w="580389" h="296545" extrusionOk="0">
                <a:moveTo>
                  <a:pt x="529208" y="228345"/>
                </a:moveTo>
                <a:lnTo>
                  <a:pt x="516451" y="253909"/>
                </a:lnTo>
                <a:lnTo>
                  <a:pt x="527811" y="259587"/>
                </a:lnTo>
                <a:lnTo>
                  <a:pt x="519302" y="276605"/>
                </a:lnTo>
                <a:lnTo>
                  <a:pt x="565426" y="276605"/>
                </a:lnTo>
                <a:lnTo>
                  <a:pt x="529208" y="228345"/>
                </a:lnTo>
                <a:close/>
              </a:path>
              <a:path w="580389" h="296545" extrusionOk="0">
                <a:moveTo>
                  <a:pt x="8508" y="0"/>
                </a:moveTo>
                <a:lnTo>
                  <a:pt x="0" y="17017"/>
                </a:lnTo>
                <a:lnTo>
                  <a:pt x="507954" y="270933"/>
                </a:lnTo>
                <a:lnTo>
                  <a:pt x="516451" y="253909"/>
                </a:lnTo>
                <a:lnTo>
                  <a:pt x="850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361175000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6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496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DELETE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735" name="Google Shape;735;p46"/>
          <p:cNvSpPr txBox="1"/>
          <p:nvPr/>
        </p:nvSpPr>
        <p:spPr>
          <a:xfrm>
            <a:off x="535940" y="1626742"/>
            <a:ext cx="3678554" cy="2942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Removes all rows, or those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satisfy a condition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33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94945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DELETE FROM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78460" marR="1466215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table-name  [WHERE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561340" marR="0" lvl="0" indent="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condition]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36" name="Google Shape;736;p46"/>
          <p:cNvSpPr txBox="1"/>
          <p:nvPr/>
        </p:nvSpPr>
        <p:spPr>
          <a:xfrm>
            <a:off x="5185028" y="1626742"/>
            <a:ext cx="3279775" cy="301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99085" marR="190500" lvl="0" indent="-2863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no condition is given  then ALL rows are  deleted - BE CAREFUL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9085" marR="5080" lvl="0" indent="-286385" algn="l" rtl="0">
              <a:lnSpc>
                <a:spcPct val="992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might also use  </a:t>
            </a: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TRUNCATE TABLE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is like </a:t>
            </a: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DELETE  FROM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without a </a:t>
            </a: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is often quicker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3582970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7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496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DELETE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743" name="Google Shape;743;p47"/>
          <p:cNvSpPr/>
          <p:nvPr/>
        </p:nvSpPr>
        <p:spPr>
          <a:xfrm>
            <a:off x="2403982" y="2657601"/>
            <a:ext cx="492125" cy="704850"/>
          </a:xfrm>
          <a:custGeom>
            <a:avLst/>
            <a:gdLst/>
            <a:ahLst/>
            <a:cxnLst/>
            <a:rect l="l" t="t" r="r" b="b"/>
            <a:pathLst>
              <a:path w="492125" h="704850" extrusionOk="0">
                <a:moveTo>
                  <a:pt x="440439" y="57195"/>
                </a:moveTo>
                <a:lnTo>
                  <a:pt x="0" y="693927"/>
                </a:lnTo>
                <a:lnTo>
                  <a:pt x="15621" y="704850"/>
                </a:lnTo>
                <a:lnTo>
                  <a:pt x="456100" y="68059"/>
                </a:lnTo>
                <a:lnTo>
                  <a:pt x="440439" y="57195"/>
                </a:lnTo>
                <a:close/>
              </a:path>
              <a:path w="492125" h="704850" extrusionOk="0">
                <a:moveTo>
                  <a:pt x="484930" y="46736"/>
                </a:moveTo>
                <a:lnTo>
                  <a:pt x="447675" y="46736"/>
                </a:lnTo>
                <a:lnTo>
                  <a:pt x="463296" y="57658"/>
                </a:lnTo>
                <a:lnTo>
                  <a:pt x="456100" y="68059"/>
                </a:lnTo>
                <a:lnTo>
                  <a:pt x="479552" y="84327"/>
                </a:lnTo>
                <a:lnTo>
                  <a:pt x="484930" y="46736"/>
                </a:lnTo>
                <a:close/>
              </a:path>
              <a:path w="492125" h="704850" extrusionOk="0">
                <a:moveTo>
                  <a:pt x="447675" y="46736"/>
                </a:moveTo>
                <a:lnTo>
                  <a:pt x="440439" y="57195"/>
                </a:lnTo>
                <a:lnTo>
                  <a:pt x="456100" y="68059"/>
                </a:lnTo>
                <a:lnTo>
                  <a:pt x="463296" y="57658"/>
                </a:lnTo>
                <a:lnTo>
                  <a:pt x="447675" y="46736"/>
                </a:lnTo>
                <a:close/>
              </a:path>
              <a:path w="492125" h="704850" extrusionOk="0">
                <a:moveTo>
                  <a:pt x="491617" y="0"/>
                </a:moveTo>
                <a:lnTo>
                  <a:pt x="416941" y="40894"/>
                </a:lnTo>
                <a:lnTo>
                  <a:pt x="440439" y="57195"/>
                </a:lnTo>
                <a:lnTo>
                  <a:pt x="447675" y="46736"/>
                </a:lnTo>
                <a:lnTo>
                  <a:pt x="484930" y="46736"/>
                </a:lnTo>
                <a:lnTo>
                  <a:pt x="49161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44" name="Google Shape;744;p47"/>
          <p:cNvSpPr/>
          <p:nvPr/>
        </p:nvSpPr>
        <p:spPr>
          <a:xfrm>
            <a:off x="2404491" y="4502911"/>
            <a:ext cx="439420" cy="510540"/>
          </a:xfrm>
          <a:custGeom>
            <a:avLst/>
            <a:gdLst/>
            <a:ahLst/>
            <a:cxnLst/>
            <a:rect l="l" t="t" r="r" b="b"/>
            <a:pathLst>
              <a:path w="439419" h="510539" extrusionOk="0">
                <a:moveTo>
                  <a:pt x="382476" y="458565"/>
                </a:moveTo>
                <a:lnTo>
                  <a:pt x="360806" y="477138"/>
                </a:lnTo>
                <a:lnTo>
                  <a:pt x="439292" y="510286"/>
                </a:lnTo>
                <a:lnTo>
                  <a:pt x="428767" y="468249"/>
                </a:lnTo>
                <a:lnTo>
                  <a:pt x="390778" y="468249"/>
                </a:lnTo>
                <a:lnTo>
                  <a:pt x="382476" y="458565"/>
                </a:lnTo>
                <a:close/>
              </a:path>
              <a:path w="439419" h="510539" extrusionOk="0">
                <a:moveTo>
                  <a:pt x="396972" y="446139"/>
                </a:moveTo>
                <a:lnTo>
                  <a:pt x="382476" y="458565"/>
                </a:lnTo>
                <a:lnTo>
                  <a:pt x="390778" y="468249"/>
                </a:lnTo>
                <a:lnTo>
                  <a:pt x="405256" y="455802"/>
                </a:lnTo>
                <a:lnTo>
                  <a:pt x="396972" y="446139"/>
                </a:lnTo>
                <a:close/>
              </a:path>
              <a:path w="439419" h="510539" extrusionOk="0">
                <a:moveTo>
                  <a:pt x="418591" y="427608"/>
                </a:moveTo>
                <a:lnTo>
                  <a:pt x="396972" y="446139"/>
                </a:lnTo>
                <a:lnTo>
                  <a:pt x="405256" y="455802"/>
                </a:lnTo>
                <a:lnTo>
                  <a:pt x="390778" y="468249"/>
                </a:lnTo>
                <a:lnTo>
                  <a:pt x="428767" y="468249"/>
                </a:lnTo>
                <a:lnTo>
                  <a:pt x="418591" y="427608"/>
                </a:lnTo>
                <a:close/>
              </a:path>
              <a:path w="439419" h="510539" extrusionOk="0">
                <a:moveTo>
                  <a:pt x="14477" y="0"/>
                </a:moveTo>
                <a:lnTo>
                  <a:pt x="0" y="12445"/>
                </a:lnTo>
                <a:lnTo>
                  <a:pt x="382476" y="458565"/>
                </a:lnTo>
                <a:lnTo>
                  <a:pt x="396972" y="446139"/>
                </a:lnTo>
                <a:lnTo>
                  <a:pt x="1447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45" name="Google Shape;745;p47"/>
          <p:cNvSpPr txBox="1"/>
          <p:nvPr/>
        </p:nvSpPr>
        <p:spPr>
          <a:xfrm>
            <a:off x="247599" y="2812034"/>
            <a:ext cx="93916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46" name="Google Shape;746;p47"/>
          <p:cNvGraphicFramePr/>
          <p:nvPr/>
        </p:nvGraphicFramePr>
        <p:xfrm>
          <a:off x="159232" y="3142233"/>
          <a:ext cx="2170975" cy="1854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2050"/>
                <a:gridCol w="856025"/>
                <a:gridCol w="882900"/>
              </a:tblGrid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Jane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747" name="Google Shape;747;p47"/>
          <p:cNvSpPr txBox="1"/>
          <p:nvPr/>
        </p:nvSpPr>
        <p:spPr>
          <a:xfrm>
            <a:off x="3067050" y="4456429"/>
            <a:ext cx="2893060" cy="1125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DELETE FROM Employee;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4935" marR="0" lvl="0" indent="0" algn="ctr" rtl="0">
              <a:lnSpc>
                <a:spcPct val="117499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TRUNCATE TABLE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870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Employee;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8" name="Google Shape;748;p47"/>
          <p:cNvSpPr txBox="1"/>
          <p:nvPr/>
        </p:nvSpPr>
        <p:spPr>
          <a:xfrm>
            <a:off x="3067050" y="2079625"/>
            <a:ext cx="2346325" cy="1125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DELETE FROM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870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Employee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498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870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Salary &gt; 20000;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13596666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8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85496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DELETE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755" name="Google Shape;755;p48"/>
          <p:cNvSpPr/>
          <p:nvPr/>
        </p:nvSpPr>
        <p:spPr>
          <a:xfrm>
            <a:off x="2403982" y="2657601"/>
            <a:ext cx="492125" cy="704850"/>
          </a:xfrm>
          <a:custGeom>
            <a:avLst/>
            <a:gdLst/>
            <a:ahLst/>
            <a:cxnLst/>
            <a:rect l="l" t="t" r="r" b="b"/>
            <a:pathLst>
              <a:path w="492125" h="704850" extrusionOk="0">
                <a:moveTo>
                  <a:pt x="440439" y="57195"/>
                </a:moveTo>
                <a:lnTo>
                  <a:pt x="0" y="693927"/>
                </a:lnTo>
                <a:lnTo>
                  <a:pt x="15621" y="704850"/>
                </a:lnTo>
                <a:lnTo>
                  <a:pt x="456100" y="68059"/>
                </a:lnTo>
                <a:lnTo>
                  <a:pt x="440439" y="57195"/>
                </a:lnTo>
                <a:close/>
              </a:path>
              <a:path w="492125" h="704850" extrusionOk="0">
                <a:moveTo>
                  <a:pt x="484930" y="46736"/>
                </a:moveTo>
                <a:lnTo>
                  <a:pt x="447675" y="46736"/>
                </a:lnTo>
                <a:lnTo>
                  <a:pt x="463296" y="57658"/>
                </a:lnTo>
                <a:lnTo>
                  <a:pt x="456100" y="68059"/>
                </a:lnTo>
                <a:lnTo>
                  <a:pt x="479552" y="84327"/>
                </a:lnTo>
                <a:lnTo>
                  <a:pt x="484930" y="46736"/>
                </a:lnTo>
                <a:close/>
              </a:path>
              <a:path w="492125" h="704850" extrusionOk="0">
                <a:moveTo>
                  <a:pt x="447675" y="46736"/>
                </a:moveTo>
                <a:lnTo>
                  <a:pt x="440439" y="57195"/>
                </a:lnTo>
                <a:lnTo>
                  <a:pt x="456100" y="68059"/>
                </a:lnTo>
                <a:lnTo>
                  <a:pt x="463296" y="57658"/>
                </a:lnTo>
                <a:lnTo>
                  <a:pt x="447675" y="46736"/>
                </a:lnTo>
                <a:close/>
              </a:path>
              <a:path w="492125" h="704850" extrusionOk="0">
                <a:moveTo>
                  <a:pt x="491617" y="0"/>
                </a:moveTo>
                <a:lnTo>
                  <a:pt x="416941" y="40894"/>
                </a:lnTo>
                <a:lnTo>
                  <a:pt x="440439" y="57195"/>
                </a:lnTo>
                <a:lnTo>
                  <a:pt x="447675" y="46736"/>
                </a:lnTo>
                <a:lnTo>
                  <a:pt x="484930" y="46736"/>
                </a:lnTo>
                <a:lnTo>
                  <a:pt x="49161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56" name="Google Shape;756;p48"/>
          <p:cNvSpPr/>
          <p:nvPr/>
        </p:nvSpPr>
        <p:spPr>
          <a:xfrm>
            <a:off x="2404491" y="4502911"/>
            <a:ext cx="439420" cy="510540"/>
          </a:xfrm>
          <a:custGeom>
            <a:avLst/>
            <a:gdLst/>
            <a:ahLst/>
            <a:cxnLst/>
            <a:rect l="l" t="t" r="r" b="b"/>
            <a:pathLst>
              <a:path w="439419" h="510539" extrusionOk="0">
                <a:moveTo>
                  <a:pt x="382476" y="458565"/>
                </a:moveTo>
                <a:lnTo>
                  <a:pt x="360806" y="477138"/>
                </a:lnTo>
                <a:lnTo>
                  <a:pt x="439292" y="510286"/>
                </a:lnTo>
                <a:lnTo>
                  <a:pt x="428767" y="468249"/>
                </a:lnTo>
                <a:lnTo>
                  <a:pt x="390778" y="468249"/>
                </a:lnTo>
                <a:lnTo>
                  <a:pt x="382476" y="458565"/>
                </a:lnTo>
                <a:close/>
              </a:path>
              <a:path w="439419" h="510539" extrusionOk="0">
                <a:moveTo>
                  <a:pt x="396972" y="446139"/>
                </a:moveTo>
                <a:lnTo>
                  <a:pt x="382476" y="458565"/>
                </a:lnTo>
                <a:lnTo>
                  <a:pt x="390778" y="468249"/>
                </a:lnTo>
                <a:lnTo>
                  <a:pt x="405256" y="455802"/>
                </a:lnTo>
                <a:lnTo>
                  <a:pt x="396972" y="446139"/>
                </a:lnTo>
                <a:close/>
              </a:path>
              <a:path w="439419" h="510539" extrusionOk="0">
                <a:moveTo>
                  <a:pt x="418591" y="427608"/>
                </a:moveTo>
                <a:lnTo>
                  <a:pt x="396972" y="446139"/>
                </a:lnTo>
                <a:lnTo>
                  <a:pt x="405256" y="455802"/>
                </a:lnTo>
                <a:lnTo>
                  <a:pt x="390778" y="468249"/>
                </a:lnTo>
                <a:lnTo>
                  <a:pt x="428767" y="468249"/>
                </a:lnTo>
                <a:lnTo>
                  <a:pt x="418591" y="427608"/>
                </a:lnTo>
                <a:close/>
              </a:path>
              <a:path w="439419" h="510539" extrusionOk="0">
                <a:moveTo>
                  <a:pt x="14477" y="0"/>
                </a:moveTo>
                <a:lnTo>
                  <a:pt x="0" y="12445"/>
                </a:lnTo>
                <a:lnTo>
                  <a:pt x="382476" y="458565"/>
                </a:lnTo>
                <a:lnTo>
                  <a:pt x="396972" y="446139"/>
                </a:lnTo>
                <a:lnTo>
                  <a:pt x="1447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57" name="Google Shape;757;p48"/>
          <p:cNvSpPr txBox="1"/>
          <p:nvPr/>
        </p:nvSpPr>
        <p:spPr>
          <a:xfrm>
            <a:off x="247599" y="2812034"/>
            <a:ext cx="93916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58" name="Google Shape;758;p48"/>
          <p:cNvGraphicFramePr/>
          <p:nvPr/>
        </p:nvGraphicFramePr>
        <p:xfrm>
          <a:off x="159232" y="3142233"/>
          <a:ext cx="2170975" cy="18542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2050"/>
                <a:gridCol w="856025"/>
                <a:gridCol w="882900"/>
              </a:tblGrid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Jane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759" name="Google Shape;759;p48"/>
          <p:cNvSpPr/>
          <p:nvPr/>
        </p:nvSpPr>
        <p:spPr>
          <a:xfrm>
            <a:off x="5834888" y="2476119"/>
            <a:ext cx="609600" cy="191135"/>
          </a:xfrm>
          <a:custGeom>
            <a:avLst/>
            <a:gdLst/>
            <a:ahLst/>
            <a:cxnLst/>
            <a:rect l="l" t="t" r="r" b="b"/>
            <a:pathLst>
              <a:path w="609600" h="191135" extrusionOk="0">
                <a:moveTo>
                  <a:pt x="533263" y="27600"/>
                </a:moveTo>
                <a:lnTo>
                  <a:pt x="0" y="172211"/>
                </a:lnTo>
                <a:lnTo>
                  <a:pt x="5079" y="190626"/>
                </a:lnTo>
                <a:lnTo>
                  <a:pt x="538223" y="45890"/>
                </a:lnTo>
                <a:lnTo>
                  <a:pt x="533263" y="27600"/>
                </a:lnTo>
                <a:close/>
              </a:path>
              <a:path w="609600" h="191135" extrusionOk="0">
                <a:moveTo>
                  <a:pt x="600947" y="24256"/>
                </a:moveTo>
                <a:lnTo>
                  <a:pt x="545591" y="24256"/>
                </a:lnTo>
                <a:lnTo>
                  <a:pt x="550545" y="42544"/>
                </a:lnTo>
                <a:lnTo>
                  <a:pt x="538223" y="45890"/>
                </a:lnTo>
                <a:lnTo>
                  <a:pt x="545719" y="73532"/>
                </a:lnTo>
                <a:lnTo>
                  <a:pt x="600947" y="24256"/>
                </a:lnTo>
                <a:close/>
              </a:path>
              <a:path w="609600" h="191135" extrusionOk="0">
                <a:moveTo>
                  <a:pt x="545591" y="24256"/>
                </a:moveTo>
                <a:lnTo>
                  <a:pt x="533263" y="27600"/>
                </a:lnTo>
                <a:lnTo>
                  <a:pt x="538223" y="45890"/>
                </a:lnTo>
                <a:lnTo>
                  <a:pt x="550545" y="42544"/>
                </a:lnTo>
                <a:lnTo>
                  <a:pt x="545591" y="24256"/>
                </a:lnTo>
                <a:close/>
              </a:path>
              <a:path w="609600" h="191135" extrusionOk="0">
                <a:moveTo>
                  <a:pt x="525779" y="0"/>
                </a:moveTo>
                <a:lnTo>
                  <a:pt x="533263" y="27600"/>
                </a:lnTo>
                <a:lnTo>
                  <a:pt x="545591" y="24256"/>
                </a:lnTo>
                <a:lnTo>
                  <a:pt x="600947" y="24256"/>
                </a:lnTo>
                <a:lnTo>
                  <a:pt x="609346" y="16763"/>
                </a:lnTo>
                <a:lnTo>
                  <a:pt x="52577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760" name="Google Shape;760;p48"/>
          <p:cNvSpPr txBox="1"/>
          <p:nvPr/>
        </p:nvSpPr>
        <p:spPr>
          <a:xfrm>
            <a:off x="3067050" y="4456429"/>
            <a:ext cx="2893060" cy="1125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DELETE FROM Employee;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4935" marR="0" lvl="0" indent="0" algn="ctr" rtl="0">
              <a:lnSpc>
                <a:spcPct val="117499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17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TRUNCATE TABLE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870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Employee;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1" name="Google Shape;761;p48"/>
          <p:cNvSpPr txBox="1"/>
          <p:nvPr/>
        </p:nvSpPr>
        <p:spPr>
          <a:xfrm>
            <a:off x="3067050" y="2079625"/>
            <a:ext cx="2346325" cy="1125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DELETE FROM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870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Employee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498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8702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Salary &gt; 20000;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2" name="Google Shape;762;p48"/>
          <p:cNvSpPr txBox="1"/>
          <p:nvPr/>
        </p:nvSpPr>
        <p:spPr>
          <a:xfrm>
            <a:off x="6729476" y="1450847"/>
            <a:ext cx="93916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63" name="Google Shape;763;p48"/>
          <p:cNvGraphicFramePr/>
          <p:nvPr/>
        </p:nvGraphicFramePr>
        <p:xfrm>
          <a:off x="6639941" y="1781301"/>
          <a:ext cx="2171050" cy="11125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2050"/>
                <a:gridCol w="855975"/>
                <a:gridCol w="883025"/>
              </a:tblGrid>
              <a:tr h="3708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Jane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15000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764" name="Google Shape;764;p48"/>
          <p:cNvSpPr txBox="1"/>
          <p:nvPr/>
        </p:nvSpPr>
        <p:spPr>
          <a:xfrm>
            <a:off x="6740143" y="4900929"/>
            <a:ext cx="93916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65" name="Google Shape;765;p48"/>
          <p:cNvGraphicFramePr/>
          <p:nvPr/>
        </p:nvGraphicFramePr>
        <p:xfrm>
          <a:off x="6650735" y="5230495"/>
          <a:ext cx="2170925" cy="3708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32050"/>
                <a:gridCol w="855975"/>
                <a:gridCol w="882900"/>
              </a:tblGrid>
              <a:tr h="370825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766" name="Google Shape;766;p48"/>
          <p:cNvSpPr/>
          <p:nvPr/>
        </p:nvSpPr>
        <p:spPr>
          <a:xfrm>
            <a:off x="5796153" y="5192521"/>
            <a:ext cx="648335" cy="76200"/>
          </a:xfrm>
          <a:custGeom>
            <a:avLst/>
            <a:gdLst/>
            <a:ahLst/>
            <a:cxnLst/>
            <a:rect l="l" t="t" r="r" b="b"/>
            <a:pathLst>
              <a:path w="648335" h="76200" extrusionOk="0">
                <a:moveTo>
                  <a:pt x="571849" y="47594"/>
                </a:moveTo>
                <a:lnTo>
                  <a:pt x="571754" y="76199"/>
                </a:lnTo>
                <a:lnTo>
                  <a:pt x="629190" y="47624"/>
                </a:lnTo>
                <a:lnTo>
                  <a:pt x="584581" y="47624"/>
                </a:lnTo>
                <a:lnTo>
                  <a:pt x="571849" y="47594"/>
                </a:lnTo>
                <a:close/>
              </a:path>
              <a:path w="648335" h="76200" extrusionOk="0">
                <a:moveTo>
                  <a:pt x="571912" y="28544"/>
                </a:moveTo>
                <a:lnTo>
                  <a:pt x="571849" y="47594"/>
                </a:lnTo>
                <a:lnTo>
                  <a:pt x="584581" y="47624"/>
                </a:lnTo>
                <a:lnTo>
                  <a:pt x="584581" y="28575"/>
                </a:lnTo>
                <a:lnTo>
                  <a:pt x="571912" y="28544"/>
                </a:lnTo>
                <a:close/>
              </a:path>
              <a:path w="648335" h="76200" extrusionOk="0">
                <a:moveTo>
                  <a:pt x="572008" y="0"/>
                </a:moveTo>
                <a:lnTo>
                  <a:pt x="571912" y="28544"/>
                </a:lnTo>
                <a:lnTo>
                  <a:pt x="584581" y="28575"/>
                </a:lnTo>
                <a:lnTo>
                  <a:pt x="584581" y="47624"/>
                </a:lnTo>
                <a:lnTo>
                  <a:pt x="629190" y="47624"/>
                </a:lnTo>
                <a:lnTo>
                  <a:pt x="648081" y="38226"/>
                </a:lnTo>
                <a:lnTo>
                  <a:pt x="572008" y="0"/>
                </a:lnTo>
                <a:close/>
              </a:path>
              <a:path w="648335" h="76200" extrusionOk="0">
                <a:moveTo>
                  <a:pt x="0" y="27177"/>
                </a:moveTo>
                <a:lnTo>
                  <a:pt x="0" y="46227"/>
                </a:lnTo>
                <a:lnTo>
                  <a:pt x="571849" y="47594"/>
                </a:lnTo>
                <a:lnTo>
                  <a:pt x="571912" y="28544"/>
                </a:lnTo>
                <a:lnTo>
                  <a:pt x="0" y="2717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92042416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49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39014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SQL</a:t>
            </a:r>
            <a:r>
              <a:rPr lang="en-US" sz="4400" b="0" i="0" u="none" strike="noStrike" cap="none" dirty="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 SELECT</a:t>
            </a:r>
            <a:endParaRPr dirty="0"/>
          </a:p>
        </p:txBody>
      </p:sp>
      <p:sp>
        <p:nvSpPr>
          <p:cNvPr id="773" name="Google Shape;773;p49"/>
          <p:cNvSpPr txBox="1"/>
          <p:nvPr/>
        </p:nvSpPr>
        <p:spPr>
          <a:xfrm>
            <a:off x="535940" y="1621154"/>
            <a:ext cx="7935595" cy="382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is the type of query you will use most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5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often.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5080" lvl="1" indent="-286385" algn="l" rtl="0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Queries one or more tables and returns the result  as a table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1" indent="-286385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Lots of options, which will be covered over the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few lectures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372745" lvl="1" indent="-286385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Usually queries can be achieved in a number of  ways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965096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50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05803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Simple</a:t>
            </a:r>
            <a:r>
              <a:rPr lang="en-US" sz="4400" b="0" i="0" u="none" strike="noStrike" cap="none" dirty="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 SELECT</a:t>
            </a:r>
            <a:endParaRPr dirty="0"/>
          </a:p>
        </p:txBody>
      </p:sp>
      <p:sp>
        <p:nvSpPr>
          <p:cNvPr id="780" name="Google Shape;780;p50"/>
          <p:cNvSpPr txBox="1"/>
          <p:nvPr/>
        </p:nvSpPr>
        <p:spPr>
          <a:xfrm>
            <a:off x="535940" y="2629027"/>
            <a:ext cx="130302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39419" marR="0" lvl="0" indent="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1" name="Google Shape;781;p50"/>
          <p:cNvSpPr txBox="1"/>
          <p:nvPr/>
        </p:nvSpPr>
        <p:spPr>
          <a:xfrm>
            <a:off x="2025142" y="2629027"/>
            <a:ext cx="2366645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334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columns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table-name;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2" name="Google Shape;782;p50"/>
          <p:cNvSpPr txBox="1"/>
          <p:nvPr/>
        </p:nvSpPr>
        <p:spPr>
          <a:xfrm>
            <a:off x="4727828" y="2121534"/>
            <a:ext cx="3685540" cy="2147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columns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0" indent="-286385" algn="l" rtl="0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single column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0" indent="-28638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comma-separated list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columns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56285" marR="0" lvl="0" indent="-28638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‘all columns’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53855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51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89928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Sample</a:t>
            </a:r>
            <a:r>
              <a:rPr lang="en-US" sz="4400" b="0" i="0" u="none" strike="noStrike" cap="none" dirty="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 SELECTs</a:t>
            </a:r>
            <a:endParaRPr dirty="0"/>
          </a:p>
        </p:txBody>
      </p:sp>
      <p:sp>
        <p:nvSpPr>
          <p:cNvPr id="789" name="Google Shape;789;p51"/>
          <p:cNvSpPr txBox="1"/>
          <p:nvPr/>
        </p:nvSpPr>
        <p:spPr>
          <a:xfrm>
            <a:off x="535940" y="1598295"/>
            <a:ext cx="1491615" cy="52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0" name="Google Shape;790;p51"/>
          <p:cNvSpPr txBox="1"/>
          <p:nvPr/>
        </p:nvSpPr>
        <p:spPr>
          <a:xfrm>
            <a:off x="2246233" y="1598295"/>
            <a:ext cx="1491615" cy="52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 FROM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1" name="Google Shape;791;p51"/>
          <p:cNvSpPr txBox="1"/>
          <p:nvPr/>
        </p:nvSpPr>
        <p:spPr>
          <a:xfrm>
            <a:off x="3956430" y="1598295"/>
            <a:ext cx="1980564" cy="52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Student;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2" name="Google Shape;792;p51"/>
          <p:cNvSpPr txBox="1"/>
          <p:nvPr/>
        </p:nvSpPr>
        <p:spPr>
          <a:xfrm>
            <a:off x="1986788" y="2490851"/>
            <a:ext cx="999490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93" name="Google Shape;793;p51"/>
          <p:cNvGraphicFramePr/>
          <p:nvPr/>
        </p:nvGraphicFramePr>
        <p:xfrm>
          <a:off x="1898142" y="2911982"/>
          <a:ext cx="5575925" cy="32003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33725"/>
                <a:gridCol w="1441325"/>
                <a:gridCol w="2598550"/>
                <a:gridCol w="902325"/>
              </a:tblGrid>
              <a:tr h="45720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sID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sName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sAddress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sYear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Smith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Arnold Close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</a:tr>
              <a:tr h="457275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Brooks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Holly Avenue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4575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Anderson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Main Street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4571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Evans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Flat 1a, High Street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457325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Harrison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Newark Hall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429875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Jones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Southwell Hall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998505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52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89928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Sample</a:t>
            </a:r>
            <a:r>
              <a:rPr lang="en-US" sz="4400" b="0" i="0" u="none" strike="noStrike" cap="none" dirty="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 SELECTs</a:t>
            </a:r>
            <a:endParaRPr dirty="0"/>
          </a:p>
        </p:txBody>
      </p:sp>
      <p:sp>
        <p:nvSpPr>
          <p:cNvPr id="800" name="Google Shape;800;p52"/>
          <p:cNvSpPr txBox="1"/>
          <p:nvPr/>
        </p:nvSpPr>
        <p:spPr>
          <a:xfrm>
            <a:off x="535940" y="1598295"/>
            <a:ext cx="1491615" cy="52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1" name="Google Shape;801;p52"/>
          <p:cNvSpPr txBox="1"/>
          <p:nvPr/>
        </p:nvSpPr>
        <p:spPr>
          <a:xfrm>
            <a:off x="2246122" y="1598295"/>
            <a:ext cx="1247140" cy="52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sName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2" name="Google Shape;802;p52"/>
          <p:cNvSpPr txBox="1"/>
          <p:nvPr/>
        </p:nvSpPr>
        <p:spPr>
          <a:xfrm>
            <a:off x="3712590" y="1598295"/>
            <a:ext cx="1002665" cy="52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3" name="Google Shape;803;p52"/>
          <p:cNvSpPr txBox="1"/>
          <p:nvPr/>
        </p:nvSpPr>
        <p:spPr>
          <a:xfrm>
            <a:off x="4935092" y="1598295"/>
            <a:ext cx="1980564" cy="52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Student;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4898988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53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89928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Sample</a:t>
            </a:r>
            <a:r>
              <a:rPr lang="en-US" sz="4400" b="0" i="0" u="none" strike="noStrike" cap="none" dirty="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 SELECTs</a:t>
            </a:r>
            <a:endParaRPr dirty="0"/>
          </a:p>
        </p:txBody>
      </p:sp>
      <p:sp>
        <p:nvSpPr>
          <p:cNvPr id="810" name="Google Shape;810;p53"/>
          <p:cNvSpPr txBox="1"/>
          <p:nvPr/>
        </p:nvSpPr>
        <p:spPr>
          <a:xfrm>
            <a:off x="535940" y="1598295"/>
            <a:ext cx="1491615" cy="52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1" name="Google Shape;811;p53"/>
          <p:cNvSpPr txBox="1"/>
          <p:nvPr/>
        </p:nvSpPr>
        <p:spPr>
          <a:xfrm>
            <a:off x="2246122" y="1598295"/>
            <a:ext cx="1247140" cy="52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sName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2" name="Google Shape;812;p53"/>
          <p:cNvSpPr txBox="1"/>
          <p:nvPr/>
        </p:nvSpPr>
        <p:spPr>
          <a:xfrm>
            <a:off x="3712590" y="1598295"/>
            <a:ext cx="1002665" cy="52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3" name="Google Shape;813;p53"/>
          <p:cNvSpPr txBox="1"/>
          <p:nvPr/>
        </p:nvSpPr>
        <p:spPr>
          <a:xfrm>
            <a:off x="4935092" y="1598295"/>
            <a:ext cx="1980564" cy="52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Student;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814" name="Google Shape;814;p53"/>
          <p:cNvGraphicFramePr/>
          <p:nvPr/>
        </p:nvGraphicFramePr>
        <p:xfrm>
          <a:off x="3914394" y="2652522"/>
          <a:ext cx="1441325" cy="32003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41325"/>
              </a:tblGrid>
              <a:tr h="45720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sName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4841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Smith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</a:tr>
              <a:tr h="45715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Brooks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Anderson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457475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Evans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457175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Harrison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430025"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Jones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845844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54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89928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Sample</a:t>
            </a:r>
            <a:r>
              <a:rPr lang="en-US" sz="4400" b="0" i="0" u="none" strike="noStrike" cap="none" dirty="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 SELECTs</a:t>
            </a:r>
            <a:endParaRPr dirty="0"/>
          </a:p>
        </p:txBody>
      </p:sp>
      <p:sp>
        <p:nvSpPr>
          <p:cNvPr id="821" name="Google Shape;821;p54"/>
          <p:cNvSpPr txBox="1"/>
          <p:nvPr/>
        </p:nvSpPr>
        <p:spPr>
          <a:xfrm>
            <a:off x="2246122" y="1598295"/>
            <a:ext cx="3690620" cy="52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sName, sAddress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2" name="Google Shape;822;p54"/>
          <p:cNvSpPr txBox="1"/>
          <p:nvPr/>
        </p:nvSpPr>
        <p:spPr>
          <a:xfrm>
            <a:off x="535940" y="1598295"/>
            <a:ext cx="1491615" cy="101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3" name="Google Shape;823;p54"/>
          <p:cNvSpPr txBox="1"/>
          <p:nvPr/>
        </p:nvSpPr>
        <p:spPr>
          <a:xfrm>
            <a:off x="2001724" y="2085975"/>
            <a:ext cx="1978660" cy="52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Student;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3545596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55"/>
          <p:cNvSpPr txBox="1"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89928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Sample</a:t>
            </a:r>
            <a:r>
              <a:rPr lang="en-US" sz="4400" b="0" i="0" u="none" strike="noStrike" cap="none" dirty="0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 SELECTs</a:t>
            </a:r>
            <a:endParaRPr dirty="0"/>
          </a:p>
        </p:txBody>
      </p:sp>
      <p:sp>
        <p:nvSpPr>
          <p:cNvPr id="830" name="Google Shape;830;p55"/>
          <p:cNvSpPr txBox="1"/>
          <p:nvPr/>
        </p:nvSpPr>
        <p:spPr>
          <a:xfrm>
            <a:off x="2246122" y="1598295"/>
            <a:ext cx="3690620" cy="52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sName, sAddress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1" name="Google Shape;831;p55"/>
          <p:cNvSpPr txBox="1"/>
          <p:nvPr/>
        </p:nvSpPr>
        <p:spPr>
          <a:xfrm>
            <a:off x="535940" y="1598295"/>
            <a:ext cx="1491615" cy="101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2" name="Google Shape;832;p55"/>
          <p:cNvSpPr txBox="1"/>
          <p:nvPr/>
        </p:nvSpPr>
        <p:spPr>
          <a:xfrm>
            <a:off x="2001724" y="2085975"/>
            <a:ext cx="1978660" cy="52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Student;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833" name="Google Shape;833;p55"/>
          <p:cNvGraphicFramePr/>
          <p:nvPr/>
        </p:nvGraphicFramePr>
        <p:xfrm>
          <a:off x="2538857" y="2868548"/>
          <a:ext cx="4039875" cy="32004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41325"/>
                <a:gridCol w="2598550"/>
              </a:tblGrid>
              <a:tr h="45720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sName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sAddress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  <a:tr h="48400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Smith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Arnold Close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CC"/>
                    </a:solidFill>
                  </a:tcPr>
                </a:tc>
              </a:tr>
              <a:tr h="457325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Brooks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Holly Avenue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457275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Anderson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Main Street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4575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Evans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Flat 1a, High Street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457150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Harrison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Newark Hall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CC"/>
                    </a:solidFill>
                  </a:tcPr>
                </a:tc>
              </a:tr>
              <a:tr h="429925">
                <a:tc>
                  <a:txBody>
                    <a:bodyPr/>
                    <a:lstStyle/>
                    <a:p>
                      <a:pPr marL="819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Jones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Southwell Hall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47440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риз">
  <a:themeElements>
    <a:clrScheme name="Бриз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Бриз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Бриз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Бриз.thmx</Template>
  <TotalTime>5442</TotalTime>
  <Words>5115</Words>
  <Application>Microsoft Macintosh PowerPoint</Application>
  <PresentationFormat>Экран (4:3)</PresentationFormat>
  <Paragraphs>1518</Paragraphs>
  <Slides>84</Slides>
  <Notes>41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84</vt:i4>
      </vt:variant>
    </vt:vector>
  </HeadingPairs>
  <TitlesOfParts>
    <vt:vector size="85" baseType="lpstr">
      <vt:lpstr>Бриз</vt:lpstr>
      <vt:lpstr>NORMALIZATION</vt:lpstr>
      <vt:lpstr>BENEFITS OF NORMALIZATION</vt:lpstr>
      <vt:lpstr>NORMALIZATION</vt:lpstr>
      <vt:lpstr>TYPES OF NORMALIZATION</vt:lpstr>
      <vt:lpstr>Normalization - Why Do We Need It?</vt:lpstr>
      <vt:lpstr>First Normal Form (1NF)</vt:lpstr>
      <vt:lpstr>Second Normal Form (2NF)</vt:lpstr>
      <vt:lpstr>Third Normal Form (3NF)</vt:lpstr>
      <vt:lpstr>Boyce-Codd Normal Form (BCNF)</vt:lpstr>
      <vt:lpstr>First Normal Form</vt:lpstr>
      <vt:lpstr>First Normal Form</vt:lpstr>
      <vt:lpstr>Second Normal Form</vt:lpstr>
      <vt:lpstr>Third Normal Form</vt:lpstr>
      <vt:lpstr>Презентация PowerPoint</vt:lpstr>
      <vt:lpstr>Third Normal Form</vt:lpstr>
      <vt:lpstr>SQL – Part 1</vt:lpstr>
      <vt:lpstr>Relations, Entities and Tables</vt:lpstr>
      <vt:lpstr>Relations, Entities and Tables</vt:lpstr>
      <vt:lpstr>Implementing E/R Diagrams</vt:lpstr>
      <vt:lpstr>CREATE DATABASE</vt:lpstr>
      <vt:lpstr>CREATE TABLE</vt:lpstr>
      <vt:lpstr>Column Definitions</vt:lpstr>
      <vt:lpstr>Types</vt:lpstr>
      <vt:lpstr>Types</vt:lpstr>
      <vt:lpstr>Column Definitions</vt:lpstr>
      <vt:lpstr>Example</vt:lpstr>
      <vt:lpstr>Example</vt:lpstr>
      <vt:lpstr>AUTO_INCREMENT</vt:lpstr>
      <vt:lpstr>Example</vt:lpstr>
      <vt:lpstr>Example</vt:lpstr>
      <vt:lpstr>Constraints</vt:lpstr>
      <vt:lpstr>Primary Keys</vt:lpstr>
      <vt:lpstr>Unique Constraints / CKs</vt:lpstr>
      <vt:lpstr>Example</vt:lpstr>
      <vt:lpstr>Example</vt:lpstr>
      <vt:lpstr>Relationships</vt:lpstr>
      <vt:lpstr>Relationships</vt:lpstr>
      <vt:lpstr>Foreign Keys</vt:lpstr>
      <vt:lpstr>Set Default (Column Definition)</vt:lpstr>
      <vt:lpstr>Referential Integrity Example </vt:lpstr>
      <vt:lpstr>RESTRICT </vt:lpstr>
      <vt:lpstr>RESTRICT </vt:lpstr>
      <vt:lpstr>CASCADE </vt:lpstr>
      <vt:lpstr>CASCADE</vt:lpstr>
      <vt:lpstr>SET NULL </vt:lpstr>
      <vt:lpstr>SET NULL </vt:lpstr>
      <vt:lpstr>Example</vt:lpstr>
      <vt:lpstr>Example</vt:lpstr>
      <vt:lpstr>Exercise</vt:lpstr>
      <vt:lpstr>Solutions (1)</vt:lpstr>
      <vt:lpstr>Solutions (2)</vt:lpstr>
      <vt:lpstr>Deleting Tables</vt:lpstr>
      <vt:lpstr>Deleting Tables</vt:lpstr>
      <vt:lpstr>Changing Tables</vt:lpstr>
      <vt:lpstr>Altering Columns</vt:lpstr>
      <vt:lpstr>Altering Columns</vt:lpstr>
      <vt:lpstr>Altering Columns - constraints</vt:lpstr>
      <vt:lpstr>Altering Columns - constraints</vt:lpstr>
      <vt:lpstr>Altering Columns - constraints</vt:lpstr>
      <vt:lpstr>Example</vt:lpstr>
      <vt:lpstr>Example</vt:lpstr>
      <vt:lpstr>Example</vt:lpstr>
      <vt:lpstr>Example</vt:lpstr>
      <vt:lpstr>INSERT, UPDATE, DELETE</vt:lpstr>
      <vt:lpstr>INSERT</vt:lpstr>
      <vt:lpstr>INSERT</vt:lpstr>
      <vt:lpstr>INSERT</vt:lpstr>
      <vt:lpstr>Example</vt:lpstr>
      <vt:lpstr>INSERT</vt:lpstr>
      <vt:lpstr>INSERT</vt:lpstr>
      <vt:lpstr>UPDATE</vt:lpstr>
      <vt:lpstr>UPDATE</vt:lpstr>
      <vt:lpstr>UPDATE</vt:lpstr>
      <vt:lpstr>UPDATE</vt:lpstr>
      <vt:lpstr>DELETE</vt:lpstr>
      <vt:lpstr>DELETE</vt:lpstr>
      <vt:lpstr>DELETE</vt:lpstr>
      <vt:lpstr>SQL SELECT</vt:lpstr>
      <vt:lpstr>Simple SELECT</vt:lpstr>
      <vt:lpstr>Sample SELECTs</vt:lpstr>
      <vt:lpstr>Sample SELECTs</vt:lpstr>
      <vt:lpstr>Sample SELECTs</vt:lpstr>
      <vt:lpstr>Sample SELECTs</vt:lpstr>
      <vt:lpstr>Sample SELECTs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Hidden Markov Models and Probabilistic Parsers</dc:title>
  <dc:creator>Michael</dc:creator>
  <cp:lastModifiedBy>Assel Syrymbayeva</cp:lastModifiedBy>
  <cp:revision>127</cp:revision>
  <dcterms:created xsi:type="dcterms:W3CDTF">2016-03-30T10:58:00Z</dcterms:created>
  <dcterms:modified xsi:type="dcterms:W3CDTF">2025-09-14T19:57:39Z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2014-09-30T00:00:00Z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2016-03-30T00:00:00Z</vt:filetime>
  </property>
</Properties>
</file>