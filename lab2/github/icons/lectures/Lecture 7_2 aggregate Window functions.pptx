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12192000" cy="6858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097A3-CBB4-16E0-C149-12A193BBC038}" v="1" dt="2024-12-23T20:43:39.9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khan Marat" userId="S::al_marat@kbtu.kz::a50d91d2-6286-4486-92fb-0c9082a43786" providerId="AD" clId="Web-{84B8EC05-0994-F91B-C420-8BA4AFC906AB}"/>
    <pc:docChg chg="modSld">
      <pc:chgData name="Alikhan Marat" userId="S::al_marat@kbtu.kz::a50d91d2-6286-4486-92fb-0c9082a43786" providerId="AD" clId="Web-{84B8EC05-0994-F91B-C420-8BA4AFC906AB}" dt="2024-10-24T07:28:08.553" v="0" actId="1076"/>
      <pc:docMkLst>
        <pc:docMk/>
      </pc:docMkLst>
      <pc:sldChg chg="modSp">
        <pc:chgData name="Alikhan Marat" userId="S::al_marat@kbtu.kz::a50d91d2-6286-4486-92fb-0c9082a43786" providerId="AD" clId="Web-{84B8EC05-0994-F91B-C420-8BA4AFC906AB}" dt="2024-10-24T07:28:08.553" v="0" actId="1076"/>
        <pc:sldMkLst>
          <pc:docMk/>
          <pc:sldMk cId="0" sldId="285"/>
        </pc:sldMkLst>
        <pc:picChg chg="mod">
          <ac:chgData name="Alikhan Marat" userId="S::al_marat@kbtu.kz::a50d91d2-6286-4486-92fb-0c9082a43786" providerId="AD" clId="Web-{84B8EC05-0994-F91B-C420-8BA4AFC906AB}" dt="2024-10-24T07:28:08.553" v="0" actId="1076"/>
          <ac:picMkLst>
            <pc:docMk/>
            <pc:sldMk cId="0" sldId="285"/>
            <ac:picMk id="4" creationId="{00000000-0000-0000-0000-000000000000}"/>
          </ac:picMkLst>
        </pc:picChg>
      </pc:sldChg>
    </pc:docChg>
  </pc:docChgLst>
  <pc:docChgLst>
    <pc:chgData name="Karakoz Nurgaliyeva" userId="S::k_nurgaliyeva@kbtu.kz::4e9ebea3-12b1-4b48-b1ef-e7d832b112d1" providerId="AD" clId="Web-{E8B0EC8C-B57B-B74A-5B7F-7AED2D8F08C6}"/>
    <pc:docChg chg="addSld modSld">
      <pc:chgData name="Karakoz Nurgaliyeva" userId="S::k_nurgaliyeva@kbtu.kz::4e9ebea3-12b1-4b48-b1ef-e7d832b112d1" providerId="AD" clId="Web-{E8B0EC8C-B57B-B74A-5B7F-7AED2D8F08C6}" dt="2024-12-03T18:37:20.969" v="3" actId="20577"/>
      <pc:docMkLst>
        <pc:docMk/>
      </pc:docMkLst>
      <pc:sldChg chg="modSp">
        <pc:chgData name="Karakoz Nurgaliyeva" userId="S::k_nurgaliyeva@kbtu.kz::4e9ebea3-12b1-4b48-b1ef-e7d832b112d1" providerId="AD" clId="Web-{E8B0EC8C-B57B-B74A-5B7F-7AED2D8F08C6}" dt="2024-12-03T18:37:20.969" v="3" actId="20577"/>
        <pc:sldMkLst>
          <pc:docMk/>
          <pc:sldMk cId="0" sldId="288"/>
        </pc:sldMkLst>
        <pc:spChg chg="mod">
          <ac:chgData name="Karakoz Nurgaliyeva" userId="S::k_nurgaliyeva@kbtu.kz::4e9ebea3-12b1-4b48-b1ef-e7d832b112d1" providerId="AD" clId="Web-{E8B0EC8C-B57B-B74A-5B7F-7AED2D8F08C6}" dt="2024-12-03T18:37:20.969" v="3" actId="20577"/>
          <ac:spMkLst>
            <pc:docMk/>
            <pc:sldMk cId="0" sldId="288"/>
            <ac:spMk id="3" creationId="{00000000-0000-0000-0000-000000000000}"/>
          </ac:spMkLst>
        </pc:spChg>
      </pc:sldChg>
      <pc:sldChg chg="new">
        <pc:chgData name="Karakoz Nurgaliyeva" userId="S::k_nurgaliyeva@kbtu.kz::4e9ebea3-12b1-4b48-b1ef-e7d832b112d1" providerId="AD" clId="Web-{E8B0EC8C-B57B-B74A-5B7F-7AED2D8F08C6}" dt="2024-12-03T18:27:33.578" v="0"/>
        <pc:sldMkLst>
          <pc:docMk/>
          <pc:sldMk cId="1432502762" sldId="296"/>
        </pc:sldMkLst>
      </pc:sldChg>
    </pc:docChg>
  </pc:docChgLst>
  <pc:docChgLst>
    <pc:chgData name="Malika Zhengis" userId="S::m_zhengis@kbtu.kz::b4351c88-768c-4bb1-828e-8059a180bfe9" providerId="AD" clId="Web-{83012C18-80AA-523C-06E0-9CD7CFD9341E}"/>
    <pc:docChg chg="modSld">
      <pc:chgData name="Malika Zhengis" userId="S::m_zhengis@kbtu.kz::b4351c88-768c-4bb1-828e-8059a180bfe9" providerId="AD" clId="Web-{83012C18-80AA-523C-06E0-9CD7CFD9341E}" dt="2024-10-16T12:09:57.166" v="1" actId="20577"/>
      <pc:docMkLst>
        <pc:docMk/>
      </pc:docMkLst>
      <pc:sldChg chg="modSp">
        <pc:chgData name="Malika Zhengis" userId="S::m_zhengis@kbtu.kz::b4351c88-768c-4bb1-828e-8059a180bfe9" providerId="AD" clId="Web-{83012C18-80AA-523C-06E0-9CD7CFD9341E}" dt="2024-10-16T12:09:57.166" v="1" actId="20577"/>
        <pc:sldMkLst>
          <pc:docMk/>
          <pc:sldMk cId="0" sldId="267"/>
        </pc:sldMkLst>
        <pc:spChg chg="mod">
          <ac:chgData name="Malika Zhengis" userId="S::m_zhengis@kbtu.kz::b4351c88-768c-4bb1-828e-8059a180bfe9" providerId="AD" clId="Web-{83012C18-80AA-523C-06E0-9CD7CFD9341E}" dt="2024-10-16T12:09:57.166" v="1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  <pc:docChgLst>
    <pc:chgData name="Kengesbay Assiya" userId="S::k_assiya@kbtu.kz::f2096f37-6ed0-44c3-aeec-fb2ea14c9bae" providerId="AD" clId="Web-{123097A3-CBB4-16E0-C149-12A193BBC038}"/>
    <pc:docChg chg="delSld">
      <pc:chgData name="Kengesbay Assiya" userId="S::k_assiya@kbtu.kz::f2096f37-6ed0-44c3-aeec-fb2ea14c9bae" providerId="AD" clId="Web-{123097A3-CBB4-16E0-C149-12A193BBC038}" dt="2024-12-23T20:43:39.964" v="0"/>
      <pc:docMkLst>
        <pc:docMk/>
      </pc:docMkLst>
      <pc:sldChg chg="del">
        <pc:chgData name="Kengesbay Assiya" userId="S::k_assiya@kbtu.kz::f2096f37-6ed0-44c3-aeec-fb2ea14c9bae" providerId="AD" clId="Web-{123097A3-CBB4-16E0-C149-12A193BBC038}" dt="2024-12-23T20:43:39.964" v="0"/>
        <pc:sldMkLst>
          <pc:docMk/>
          <pc:sldMk cId="1432502762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37539"/>
            <a:ext cx="103581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3476" y="567435"/>
            <a:ext cx="228504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26108"/>
            <a:ext cx="10358120" cy="471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Lecture</a:t>
            </a:r>
            <a:r>
              <a:rPr spc="-75"/>
              <a:t> </a:t>
            </a:r>
            <a:r>
              <a:t>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5">
                <a:latin typeface="Arial"/>
                <a:cs typeface="Arial"/>
              </a:rPr>
              <a:t>Aggregate</a:t>
            </a:r>
            <a:r>
              <a:rPr sz="6000" b="1" spc="-75">
                <a:latin typeface="Arial"/>
                <a:cs typeface="Arial"/>
              </a:rPr>
              <a:t> </a:t>
            </a:r>
            <a:r>
              <a:rPr sz="6000" b="1" spc="-10">
                <a:latin typeface="Arial"/>
                <a:cs typeface="Arial"/>
              </a:rPr>
              <a:t>functions.</a:t>
            </a:r>
            <a:endParaRPr sz="6000">
              <a:latin typeface="Arial"/>
              <a:cs typeface="Arial"/>
            </a:endParaRPr>
          </a:p>
          <a:p>
            <a:pPr algn="ctr">
              <a:lnSpc>
                <a:spcPts val="6840"/>
              </a:lnSpc>
            </a:pPr>
            <a:r>
              <a:rPr sz="6000" b="1" spc="-15">
                <a:latin typeface="Arial"/>
                <a:cs typeface="Arial"/>
              </a:rPr>
              <a:t>Window</a:t>
            </a:r>
            <a:r>
              <a:rPr sz="6000" b="1" spc="-45">
                <a:latin typeface="Arial"/>
                <a:cs typeface="Arial"/>
              </a:rPr>
              <a:t> </a:t>
            </a:r>
            <a:r>
              <a:rPr sz="6000" b="1" spc="-5">
                <a:latin typeface="Arial"/>
                <a:cs typeface="Arial"/>
              </a:rPr>
              <a:t>functions.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7158" y="1014476"/>
            <a:ext cx="8785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/>
              <a:t>Aggregate</a:t>
            </a:r>
            <a:r>
              <a:rPr sz="3600" spc="5"/>
              <a:t> </a:t>
            </a:r>
            <a:r>
              <a:rPr sz="3600" spc="-5"/>
              <a:t>functions.</a:t>
            </a:r>
            <a:r>
              <a:rPr sz="3600" spc="15"/>
              <a:t> </a:t>
            </a:r>
            <a:r>
              <a:rPr sz="3600" spc="-10"/>
              <a:t>Window</a:t>
            </a:r>
            <a:r>
              <a:rPr sz="3600" spc="10"/>
              <a:t> </a:t>
            </a:r>
            <a:r>
              <a:rPr sz="3600" spc="-5"/>
              <a:t>functions.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520677" y="2106168"/>
            <a:ext cx="541909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0">
                <a:latin typeface="Arial"/>
                <a:cs typeface="Arial"/>
              </a:rPr>
              <a:t>PART</a:t>
            </a:r>
            <a:r>
              <a:rPr sz="3500" b="1" spc="-15">
                <a:latin typeface="Arial"/>
                <a:cs typeface="Arial"/>
              </a:rPr>
              <a:t> </a:t>
            </a:r>
            <a:r>
              <a:rPr sz="3500" b="1">
                <a:latin typeface="Arial"/>
                <a:cs typeface="Arial"/>
              </a:rPr>
              <a:t>I.</a:t>
            </a:r>
            <a:r>
              <a:rPr sz="3500" b="1" spc="-20">
                <a:latin typeface="Arial"/>
                <a:cs typeface="Arial"/>
              </a:rPr>
              <a:t> </a:t>
            </a:r>
            <a:r>
              <a:rPr sz="3200" spc="-5">
                <a:latin typeface="Arial MT"/>
                <a:cs typeface="Arial MT"/>
              </a:rPr>
              <a:t>Aggregate</a:t>
            </a:r>
            <a:r>
              <a:rPr sz="3200" spc="-3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functions.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500" b="1" spc="-70">
                <a:latin typeface="Arial"/>
                <a:cs typeface="Arial"/>
              </a:rPr>
              <a:t>PART</a:t>
            </a:r>
            <a:r>
              <a:rPr sz="3500" b="1" spc="-10">
                <a:latin typeface="Arial"/>
                <a:cs typeface="Arial"/>
              </a:rPr>
              <a:t> </a:t>
            </a:r>
            <a:r>
              <a:rPr sz="3500" b="1">
                <a:latin typeface="Arial"/>
                <a:cs typeface="Arial"/>
              </a:rPr>
              <a:t>II.</a:t>
            </a:r>
            <a:r>
              <a:rPr sz="3500" b="1" spc="-15">
                <a:latin typeface="Arial"/>
                <a:cs typeface="Arial"/>
              </a:rPr>
              <a:t> </a:t>
            </a:r>
            <a:r>
              <a:rPr sz="3200" spc="-5">
                <a:latin typeface="Arial MT"/>
                <a:cs typeface="Arial MT"/>
              </a:rPr>
              <a:t>Window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functions.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846" y="2824988"/>
            <a:ext cx="74491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5"/>
              <a:t>PART</a:t>
            </a:r>
            <a:r>
              <a:rPr sz="4800" spc="10"/>
              <a:t> </a:t>
            </a:r>
            <a:r>
              <a:rPr sz="4800"/>
              <a:t>I.</a:t>
            </a:r>
            <a:r>
              <a:rPr sz="4800" spc="-5"/>
              <a:t> </a:t>
            </a:r>
            <a:r>
              <a:rPr sz="4400" b="0" spc="-5">
                <a:latin typeface="Arial MT"/>
                <a:cs typeface="Arial MT"/>
              </a:rPr>
              <a:t>Aggregate</a:t>
            </a:r>
            <a:r>
              <a:rPr sz="4400" b="0" spc="5">
                <a:latin typeface="Arial MT"/>
                <a:cs typeface="Arial MT"/>
              </a:rPr>
              <a:t> </a:t>
            </a:r>
            <a:r>
              <a:rPr sz="4400" b="0" spc="-5">
                <a:latin typeface="Arial MT"/>
                <a:cs typeface="Arial MT"/>
              </a:rPr>
              <a:t>functions.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102190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Introduction</a:t>
            </a:r>
            <a:r>
              <a:rPr sz="3500" spc="5"/>
              <a:t> </a:t>
            </a:r>
            <a:r>
              <a:rPr sz="3500" spc="-5"/>
              <a:t>to</a:t>
            </a:r>
            <a:r>
              <a:rPr sz="3500" spc="10"/>
              <a:t> </a:t>
            </a:r>
            <a:r>
              <a:rPr sz="3500" spc="-5"/>
              <a:t>PostgreSQL</a:t>
            </a:r>
            <a:r>
              <a:rPr sz="3500" spc="-55"/>
              <a:t> </a:t>
            </a:r>
            <a:r>
              <a:rPr sz="3500" spc="-5"/>
              <a:t>aggregate</a:t>
            </a:r>
            <a:r>
              <a:rPr sz="3500" spc="15"/>
              <a:t> </a:t>
            </a:r>
            <a:r>
              <a:rPr sz="3500" spc="-5"/>
              <a:t>functions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502664"/>
            <a:ext cx="10203815" cy="49453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b="1" spc="-5">
                <a:latin typeface="Arial"/>
                <a:cs typeface="Arial"/>
              </a:rPr>
              <a:t>Aggregate</a:t>
            </a:r>
            <a:r>
              <a:rPr sz="1700" b="1" spc="10">
                <a:latin typeface="Arial"/>
                <a:cs typeface="Arial"/>
              </a:rPr>
              <a:t> </a:t>
            </a:r>
            <a:r>
              <a:rPr sz="1700" b="1" spc="-5">
                <a:latin typeface="Arial"/>
                <a:cs typeface="Arial"/>
              </a:rPr>
              <a:t>functions</a:t>
            </a:r>
            <a:r>
              <a:rPr sz="1700" b="1" spc="15">
                <a:latin typeface="Arial"/>
                <a:cs typeface="Arial"/>
              </a:rPr>
              <a:t> </a:t>
            </a:r>
            <a:r>
              <a:rPr sz="1700" spc="-5">
                <a:latin typeface="Arial MT"/>
                <a:cs typeface="Arial MT"/>
              </a:rPr>
              <a:t>perform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calculation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set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rows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and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single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30">
                <a:latin typeface="Arial MT"/>
                <a:cs typeface="Arial MT"/>
              </a:rPr>
              <a:t>row.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PostgreSQL</a:t>
            </a:r>
            <a:r>
              <a:rPr sz="1700" spc="-5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provides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all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standard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25">
                <a:latin typeface="Arial MT"/>
                <a:cs typeface="Arial MT"/>
              </a:rPr>
              <a:t>SQL’s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>
                <a:latin typeface="Arial MT"/>
                <a:cs typeface="Arial MT"/>
              </a:rPr>
              <a:t> as </a:t>
            </a:r>
            <a:r>
              <a:rPr sz="1700" spc="-5">
                <a:latin typeface="Arial MT"/>
                <a:cs typeface="Arial MT"/>
              </a:rPr>
              <a:t>follows: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700" spc="-30">
                <a:latin typeface="Arial MT"/>
                <a:cs typeface="Arial MT"/>
              </a:rPr>
              <a:t>AVG()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average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value.</a:t>
            </a:r>
            <a:endParaRPr sz="1700">
              <a:latin typeface="Arial MT"/>
              <a:cs typeface="Arial MT"/>
            </a:endParaRPr>
          </a:p>
          <a:p>
            <a:pPr marL="12700" marR="6323965">
              <a:lnSpc>
                <a:spcPct val="136500"/>
              </a:lnSpc>
              <a:spcBef>
                <a:spcPts val="120"/>
              </a:spcBef>
            </a:pPr>
            <a:r>
              <a:rPr sz="1700" spc="-5">
                <a:latin typeface="Arial MT"/>
                <a:cs typeface="Arial MT"/>
              </a:rPr>
              <a:t>COUNT()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>
                <a:latin typeface="Arial MT"/>
                <a:cs typeface="Arial MT"/>
              </a:rPr>
              <a:t> 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number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values.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MAX()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 </a:t>
            </a:r>
            <a:r>
              <a:rPr sz="1700" spc="-5">
                <a:latin typeface="Arial MT"/>
                <a:cs typeface="Arial MT"/>
              </a:rPr>
              <a:t>maximum value.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700" spc="-5">
                <a:latin typeface="Arial MT"/>
                <a:cs typeface="Arial MT"/>
              </a:rPr>
              <a:t>MIN()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>
                <a:latin typeface="Arial MT"/>
                <a:cs typeface="Arial MT"/>
              </a:rPr>
              <a:t> the </a:t>
            </a:r>
            <a:r>
              <a:rPr sz="1700" spc="-5">
                <a:latin typeface="Arial MT"/>
                <a:cs typeface="Arial MT"/>
              </a:rPr>
              <a:t>minimum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700" spc="-5">
                <a:latin typeface="Arial MT"/>
                <a:cs typeface="Arial MT"/>
              </a:rPr>
              <a:t>SUM()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sum</a:t>
            </a:r>
            <a:r>
              <a:rPr sz="1700" spc="-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all</a:t>
            </a:r>
            <a:r>
              <a:rPr sz="1700">
                <a:latin typeface="Arial MT"/>
                <a:cs typeface="Arial MT"/>
              </a:rPr>
              <a:t> or</a:t>
            </a:r>
            <a:r>
              <a:rPr sz="1700" spc="-5">
                <a:latin typeface="Arial MT"/>
                <a:cs typeface="Arial MT"/>
              </a:rPr>
              <a:t> distinct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Arial MT"/>
              <a:cs typeface="Arial MT"/>
            </a:endParaRPr>
          </a:p>
          <a:p>
            <a:pPr marL="12700" marR="507365">
              <a:lnSpc>
                <a:spcPts val="1800"/>
              </a:lnSpc>
            </a:pPr>
            <a:r>
              <a:rPr sz="1700" spc="-20">
                <a:latin typeface="Arial MT"/>
                <a:cs typeface="Arial MT"/>
              </a:rPr>
              <a:t>We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often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with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-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BY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SELECT</a:t>
            </a:r>
            <a:r>
              <a:rPr sz="1700" spc="-2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statement.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these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cases,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BY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divides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result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set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into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rows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and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 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perform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calculation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each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e.g.,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maximum,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minimum,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average,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Arial MT"/>
              <a:cs typeface="Arial MT"/>
            </a:endParaRPr>
          </a:p>
          <a:p>
            <a:pPr marL="73025" marR="2727960" indent="-60325">
              <a:lnSpc>
                <a:spcPct val="136500"/>
              </a:lnSpc>
            </a:pPr>
            <a:r>
              <a:rPr sz="1700" spc="-55">
                <a:latin typeface="Arial MT"/>
                <a:cs typeface="Arial MT"/>
              </a:rPr>
              <a:t>You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can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expressions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only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following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clauses: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SELECT</a:t>
            </a:r>
            <a:r>
              <a:rPr sz="1700" spc="-3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clause.</a:t>
            </a:r>
            <a:endParaRPr sz="1700">
              <a:latin typeface="Arial MT"/>
              <a:cs typeface="Arial MT"/>
            </a:endParaRPr>
          </a:p>
          <a:p>
            <a:pPr marL="73025">
              <a:lnSpc>
                <a:spcPct val="100000"/>
              </a:lnSpc>
              <a:spcBef>
                <a:spcPts val="865"/>
              </a:spcBef>
            </a:pPr>
            <a:r>
              <a:rPr sz="1700" spc="-25">
                <a:latin typeface="Arial MT"/>
                <a:cs typeface="Arial MT"/>
              </a:rPr>
              <a:t>HAVING</a:t>
            </a:r>
            <a:r>
              <a:rPr sz="1700" spc="-5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0650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265"/>
              <a:t> </a:t>
            </a:r>
            <a:r>
              <a:rPr sz="4400" spc="-110"/>
              <a:t>AVG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090785" cy="3442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0"/>
              </a:spcBef>
            </a:pPr>
            <a:r>
              <a:rPr sz="2500" spc="-5">
                <a:latin typeface="Arial MT"/>
                <a:cs typeface="Arial MT"/>
              </a:rPr>
              <a:t>The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b="1" spc="-40">
                <a:latin typeface="Arial"/>
                <a:cs typeface="Arial"/>
              </a:rPr>
              <a:t>AVG()</a:t>
            </a:r>
            <a:r>
              <a:rPr sz="2500" b="1" spc="5">
                <a:latin typeface="Arial"/>
                <a:cs typeface="Arial"/>
              </a:rPr>
              <a:t> </a:t>
            </a:r>
            <a:r>
              <a:rPr sz="2500" spc="-5">
                <a:latin typeface="Arial MT"/>
                <a:cs typeface="Arial MT"/>
              </a:rPr>
              <a:t>function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is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one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of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the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most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commonly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used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aggregate 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functions in PostgreSQL. The </a:t>
            </a:r>
            <a:r>
              <a:rPr sz="2500" spc="-40">
                <a:latin typeface="Arial MT"/>
                <a:cs typeface="Arial MT"/>
              </a:rPr>
              <a:t>AVG() </a:t>
            </a:r>
            <a:r>
              <a:rPr sz="2500" spc="-5">
                <a:latin typeface="Arial MT"/>
                <a:cs typeface="Arial MT"/>
              </a:rPr>
              <a:t>function </a:t>
            </a:r>
            <a:r>
              <a:rPr sz="2500" spc="-10">
                <a:latin typeface="Arial MT"/>
                <a:cs typeface="Arial MT"/>
              </a:rPr>
              <a:t>allows </a:t>
            </a:r>
            <a:r>
              <a:rPr sz="2500" spc="-5">
                <a:latin typeface="Arial MT"/>
                <a:cs typeface="Arial MT"/>
              </a:rPr>
              <a:t>you </a:t>
            </a:r>
            <a:r>
              <a:rPr sz="2500">
                <a:latin typeface="Arial MT"/>
                <a:cs typeface="Arial MT"/>
              </a:rPr>
              <a:t>to </a:t>
            </a:r>
            <a:r>
              <a:rPr sz="2500" spc="-5">
                <a:latin typeface="Arial MT"/>
                <a:cs typeface="Arial MT"/>
              </a:rPr>
              <a:t>calculate </a:t>
            </a:r>
            <a:r>
              <a:rPr sz="2500">
                <a:latin typeface="Arial MT"/>
                <a:cs typeface="Arial MT"/>
              </a:rPr>
              <a:t>the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average value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of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a set.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Arial MT"/>
              <a:cs typeface="Arial MT"/>
            </a:endParaRPr>
          </a:p>
          <a:p>
            <a:pPr marL="12700" marR="3615054">
              <a:lnSpc>
                <a:spcPct val="123200"/>
              </a:lnSpc>
            </a:pPr>
            <a:r>
              <a:rPr sz="2500" spc="-5">
                <a:latin typeface="Arial MT"/>
                <a:cs typeface="Arial MT"/>
              </a:rPr>
              <a:t>The syntax of </a:t>
            </a:r>
            <a:r>
              <a:rPr sz="2500">
                <a:latin typeface="Arial MT"/>
                <a:cs typeface="Arial MT"/>
              </a:rPr>
              <a:t>the </a:t>
            </a:r>
            <a:r>
              <a:rPr sz="2500" spc="-40">
                <a:latin typeface="Arial MT"/>
                <a:cs typeface="Arial MT"/>
              </a:rPr>
              <a:t>AVG() </a:t>
            </a:r>
            <a:r>
              <a:rPr sz="2500" spc="-5">
                <a:latin typeface="Arial MT"/>
                <a:cs typeface="Arial MT"/>
              </a:rPr>
              <a:t>function is as follows: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20">
                <a:latin typeface="Arial MT"/>
                <a:cs typeface="Arial MT"/>
              </a:rPr>
              <a:t>AVG(column)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500" spc="-80">
                <a:latin typeface="Arial MT"/>
                <a:cs typeface="Arial MT"/>
              </a:rPr>
              <a:t>You</a:t>
            </a:r>
            <a:r>
              <a:rPr sz="2500" spc="-5">
                <a:latin typeface="Arial MT"/>
                <a:cs typeface="Arial MT"/>
              </a:rPr>
              <a:t> can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use</a:t>
            </a:r>
            <a:r>
              <a:rPr sz="2500">
                <a:latin typeface="Arial MT"/>
                <a:cs typeface="Arial MT"/>
              </a:rPr>
              <a:t> the</a:t>
            </a:r>
            <a:r>
              <a:rPr sz="2500" spc="-135">
                <a:latin typeface="Arial MT"/>
                <a:cs typeface="Arial MT"/>
              </a:rPr>
              <a:t> </a:t>
            </a:r>
            <a:r>
              <a:rPr sz="2500" spc="-40">
                <a:latin typeface="Arial MT"/>
                <a:cs typeface="Arial MT"/>
              </a:rPr>
              <a:t>AVG()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function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in</a:t>
            </a:r>
            <a:r>
              <a:rPr sz="2500">
                <a:latin typeface="Arial MT"/>
                <a:cs typeface="Arial MT"/>
              </a:rPr>
              <a:t> the </a:t>
            </a:r>
            <a:r>
              <a:rPr sz="2500" spc="-5">
                <a:latin typeface="Arial MT"/>
                <a:cs typeface="Arial MT"/>
              </a:rPr>
              <a:t>SELECT</a:t>
            </a:r>
            <a:r>
              <a:rPr sz="2500" spc="-5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and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35">
                <a:latin typeface="Arial MT"/>
                <a:cs typeface="Arial MT"/>
              </a:rPr>
              <a:t>HAVING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clauses.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63156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</a:t>
            </a:r>
            <a:r>
              <a:rPr sz="2800" spc="5">
                <a:latin typeface="Arial MT"/>
                <a:cs typeface="Arial MT"/>
              </a:rPr>
              <a:t>L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CT</a:t>
            </a:r>
            <a:r>
              <a:rPr sz="2800" spc="-204">
                <a:latin typeface="Arial MT"/>
                <a:cs typeface="Arial MT"/>
              </a:rPr>
              <a:t> 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VG</a:t>
            </a:r>
            <a:r>
              <a:rPr sz="2800" spc="5">
                <a:latin typeface="Arial MT"/>
                <a:cs typeface="Arial MT"/>
              </a:rPr>
              <a:t>(amoun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>
                <a:latin typeface="Arial MT"/>
                <a:cs typeface="Arial MT"/>
              </a:rPr>
              <a:t>) 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0919" y="1690687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3776434"/>
            <a:ext cx="2997200" cy="1917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31011"/>
            <a:ext cx="9364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>
                <a:latin typeface="Arial"/>
                <a:cs typeface="Arial"/>
              </a:rPr>
              <a:t>PostgreSQL</a:t>
            </a:r>
            <a:r>
              <a:rPr sz="3000" b="1" spc="-150">
                <a:latin typeface="Arial"/>
                <a:cs typeface="Arial"/>
              </a:rPr>
              <a:t> </a:t>
            </a:r>
            <a:r>
              <a:rPr sz="3000" b="1" spc="-50">
                <a:latin typeface="Arial"/>
                <a:cs typeface="Arial"/>
              </a:rPr>
              <a:t>AVG()</a:t>
            </a:r>
            <a:r>
              <a:rPr sz="3000" b="1" spc="10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function</a:t>
            </a:r>
            <a:r>
              <a:rPr sz="3000" b="1" spc="15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with</a:t>
            </a:r>
            <a:r>
              <a:rPr sz="3000" b="1" spc="20">
                <a:latin typeface="Arial"/>
                <a:cs typeface="Arial"/>
              </a:rPr>
              <a:t> </a:t>
            </a:r>
            <a:r>
              <a:rPr sz="3000" b="1" spc="-5">
                <a:latin typeface="Arial"/>
                <a:cs typeface="Arial"/>
              </a:rPr>
              <a:t>DISTINCT</a:t>
            </a:r>
            <a:r>
              <a:rPr sz="3000" b="1" spc="15">
                <a:latin typeface="Arial"/>
                <a:cs typeface="Arial"/>
              </a:rPr>
              <a:t> </a:t>
            </a:r>
            <a:r>
              <a:rPr sz="3000" b="1" spc="-5">
                <a:latin typeface="Arial"/>
                <a:cs typeface="Arial"/>
              </a:rPr>
              <a:t>operator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775970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</a:t>
            </a:r>
            <a:r>
              <a:rPr sz="2800" spc="5">
                <a:latin typeface="Arial MT"/>
                <a:cs typeface="Arial MT"/>
              </a:rPr>
              <a:t>L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CT</a:t>
            </a:r>
            <a:r>
              <a:rPr sz="2800" spc="-204">
                <a:latin typeface="Arial MT"/>
                <a:cs typeface="Arial MT"/>
              </a:rPr>
              <a:t> 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VG</a:t>
            </a:r>
            <a:r>
              <a:rPr sz="2800" spc="5">
                <a:latin typeface="Arial MT"/>
                <a:cs typeface="Arial MT"/>
              </a:rPr>
              <a:t>(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5">
                <a:latin typeface="Arial MT"/>
                <a:cs typeface="Arial MT"/>
              </a:rPr>
              <a:t>IS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NCT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 spc="5">
                <a:latin typeface="Arial MT"/>
                <a:cs typeface="Arial MT"/>
              </a:rPr>
              <a:t>amoun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)</a:t>
            </a:r>
            <a:r>
              <a:rPr sz="2800" spc="-5">
                <a:latin typeface="Arial MT"/>
                <a:cs typeface="Arial MT"/>
              </a:rPr>
              <a:t>::</a:t>
            </a:r>
            <a:r>
              <a:rPr sz="2800" spc="5">
                <a:latin typeface="Arial MT"/>
                <a:cs typeface="Arial MT"/>
              </a:rPr>
              <a:t>numer</a:t>
            </a:r>
            <a:r>
              <a:rPr sz="2800">
                <a:latin typeface="Arial MT"/>
                <a:cs typeface="Arial MT"/>
              </a:rPr>
              <a:t>ic</a:t>
            </a:r>
            <a:r>
              <a:rPr sz="2800" spc="5">
                <a:latin typeface="Arial MT"/>
                <a:cs typeface="Arial MT"/>
              </a:rPr>
              <a:t>(10</a:t>
            </a:r>
            <a:r>
              <a:rPr sz="2800" spc="-5">
                <a:latin typeface="Arial MT"/>
                <a:cs typeface="Arial MT"/>
              </a:rPr>
              <a:t>,</a:t>
            </a:r>
            <a:r>
              <a:rPr sz="2800" spc="5">
                <a:latin typeface="Arial MT"/>
                <a:cs typeface="Arial MT"/>
              </a:rPr>
              <a:t>2</a:t>
            </a:r>
            <a:r>
              <a:rPr sz="2800">
                <a:latin typeface="Arial MT"/>
                <a:cs typeface="Arial MT"/>
              </a:rPr>
              <a:t>) 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3600" y="2940461"/>
            <a:ext cx="14224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81578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80"/>
              <a:t>AVG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5"/>
              <a:t> </a:t>
            </a:r>
            <a:r>
              <a:rPr sz="3000" spc="-5"/>
              <a:t>SUM</a:t>
            </a:r>
            <a:r>
              <a:rPr sz="3000"/>
              <a:t> 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586095" cy="2576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 marR="5080">
              <a:lnSpc>
                <a:spcPts val="4010"/>
              </a:lnSpc>
              <a:spcBef>
                <a:spcPts val="219"/>
              </a:spcBef>
            </a:pPr>
            <a:r>
              <a:rPr sz="2800" spc="-10">
                <a:latin typeface="Arial MT"/>
                <a:cs typeface="Arial MT"/>
              </a:rPr>
              <a:t>AVG(amount)::numeric(10,2),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SUM(amount)::numeric(10,2)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7606" y="4208462"/>
            <a:ext cx="274320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9264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 spc="5"/>
              <a:t> </a:t>
            </a:r>
            <a:r>
              <a:rPr sz="3000"/>
              <a:t>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10"/>
              <a:t> </a:t>
            </a:r>
            <a:r>
              <a:rPr sz="3000"/>
              <a:t>GROUP</a:t>
            </a:r>
            <a:r>
              <a:rPr sz="3000" spc="-55"/>
              <a:t> </a:t>
            </a:r>
            <a:r>
              <a:rPr sz="3000" spc="-5"/>
              <a:t>BY</a:t>
            </a:r>
            <a:r>
              <a:rPr sz="3000" spc="-5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9580"/>
            <a:ext cx="4013200" cy="418020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00" spc="-5">
                <a:latin typeface="Arial MT"/>
                <a:cs typeface="Arial MT"/>
              </a:rPr>
              <a:t>SELECT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90"/>
              </a:spcBef>
            </a:pPr>
            <a:r>
              <a:rPr sz="1600" spc="-5">
                <a:latin typeface="Arial MT"/>
                <a:cs typeface="Arial MT"/>
              </a:rPr>
              <a:t>customer_id,</a:t>
            </a:r>
            <a:endParaRPr sz="1600">
              <a:latin typeface="Arial MT"/>
              <a:cs typeface="Arial MT"/>
            </a:endParaRPr>
          </a:p>
          <a:p>
            <a:pPr marL="926465" marR="2072005">
              <a:lnSpc>
                <a:spcPct val="141200"/>
              </a:lnSpc>
              <a:spcBef>
                <a:spcPts val="75"/>
              </a:spcBef>
            </a:pPr>
            <a:r>
              <a:rPr sz="1600" spc="5">
                <a:latin typeface="Arial MT"/>
                <a:cs typeface="Arial MT"/>
              </a:rPr>
              <a:t>f</a:t>
            </a:r>
            <a:r>
              <a:rPr sz="1600" spc="-10">
                <a:latin typeface="Arial MT"/>
                <a:cs typeface="Arial MT"/>
              </a:rPr>
              <a:t>i</a:t>
            </a:r>
            <a:r>
              <a:rPr sz="1600">
                <a:latin typeface="Arial MT"/>
                <a:cs typeface="Arial MT"/>
              </a:rPr>
              <a:t>rs</a:t>
            </a:r>
            <a:r>
              <a:rPr sz="1600" spc="5">
                <a:latin typeface="Arial MT"/>
                <a:cs typeface="Arial MT"/>
              </a:rPr>
              <a:t>t</a:t>
            </a:r>
            <a:r>
              <a:rPr sz="1600" spc="-5">
                <a:latin typeface="Arial MT"/>
                <a:cs typeface="Arial MT"/>
              </a:rPr>
              <a:t>_na</a:t>
            </a:r>
            <a:r>
              <a:rPr sz="1600">
                <a:latin typeface="Arial MT"/>
                <a:cs typeface="Arial MT"/>
              </a:rPr>
              <a:t>m</a:t>
            </a:r>
            <a:r>
              <a:rPr sz="1600" spc="-5">
                <a:latin typeface="Arial MT"/>
                <a:cs typeface="Arial MT"/>
              </a:rPr>
              <a:t>e</a:t>
            </a:r>
            <a:r>
              <a:rPr sz="1600">
                <a:latin typeface="Arial MT"/>
                <a:cs typeface="Arial MT"/>
              </a:rPr>
              <a:t>,  </a:t>
            </a:r>
            <a:r>
              <a:rPr sz="1600" spc="-5">
                <a:latin typeface="Arial MT"/>
                <a:cs typeface="Arial MT"/>
              </a:rPr>
              <a:t>last_name,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70"/>
              </a:spcBef>
            </a:pPr>
            <a:r>
              <a:rPr sz="1600" spc="-45">
                <a:latin typeface="Arial MT"/>
                <a:cs typeface="Arial MT"/>
              </a:rPr>
              <a:t>AVG</a:t>
            </a:r>
            <a:r>
              <a:rPr sz="1600" spc="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(amount)::NUMERIC(10,2)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600" spc="-5">
                <a:latin typeface="Arial MT"/>
                <a:cs typeface="Arial MT"/>
              </a:rPr>
              <a:t>FROM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865"/>
              </a:spcBef>
            </a:pPr>
            <a:r>
              <a:rPr sz="1600" spc="-5">
                <a:latin typeface="Arial MT"/>
                <a:cs typeface="Arial MT"/>
              </a:rPr>
              <a:t>payment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140000"/>
              </a:lnSpc>
              <a:spcBef>
                <a:spcPts val="25"/>
              </a:spcBef>
            </a:pPr>
            <a:r>
              <a:rPr sz="1600" spc="-5">
                <a:latin typeface="Arial MT"/>
                <a:cs typeface="Arial MT"/>
              </a:rPr>
              <a:t>INNER </a:t>
            </a:r>
            <a:r>
              <a:rPr sz="1600">
                <a:latin typeface="Arial MT"/>
                <a:cs typeface="Arial MT"/>
              </a:rPr>
              <a:t>JOIN</a:t>
            </a:r>
            <a:r>
              <a:rPr sz="1600" spc="-5">
                <a:latin typeface="Arial MT"/>
                <a:cs typeface="Arial MT"/>
              </a:rPr>
              <a:t> customer</a:t>
            </a:r>
            <a:r>
              <a:rPr sz="1600" spc="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USING(customer_id) </a:t>
            </a:r>
            <a:r>
              <a:rPr sz="1600" spc="-43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GROUP</a:t>
            </a:r>
            <a:r>
              <a:rPr sz="1600" spc="-35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BY</a:t>
            </a:r>
            <a:endParaRPr sz="1600">
              <a:latin typeface="Arial MT"/>
              <a:cs typeface="Arial MT"/>
            </a:endParaRPr>
          </a:p>
          <a:p>
            <a:pPr marL="12700" marR="1971039" indent="914400">
              <a:lnSpc>
                <a:spcPts val="2810"/>
              </a:lnSpc>
              <a:spcBef>
                <a:spcPts val="140"/>
              </a:spcBef>
            </a:pPr>
            <a:r>
              <a:rPr sz="1600">
                <a:latin typeface="Arial MT"/>
                <a:cs typeface="Arial MT"/>
              </a:rPr>
              <a:t>c</a:t>
            </a:r>
            <a:r>
              <a:rPr sz="1600" spc="-5">
                <a:latin typeface="Arial MT"/>
                <a:cs typeface="Arial MT"/>
              </a:rPr>
              <a:t>u</a:t>
            </a:r>
            <a:r>
              <a:rPr sz="1600">
                <a:latin typeface="Arial MT"/>
                <a:cs typeface="Arial MT"/>
              </a:rPr>
              <a:t>s</a:t>
            </a:r>
            <a:r>
              <a:rPr sz="1600" spc="5">
                <a:latin typeface="Arial MT"/>
                <a:cs typeface="Arial MT"/>
              </a:rPr>
              <a:t>t</a:t>
            </a:r>
            <a:r>
              <a:rPr sz="1600" spc="-5">
                <a:latin typeface="Arial MT"/>
                <a:cs typeface="Arial MT"/>
              </a:rPr>
              <a:t>o</a:t>
            </a:r>
            <a:r>
              <a:rPr sz="1600">
                <a:latin typeface="Arial MT"/>
                <a:cs typeface="Arial MT"/>
              </a:rPr>
              <a:t>m</a:t>
            </a:r>
            <a:r>
              <a:rPr sz="1600" spc="-5">
                <a:latin typeface="Arial MT"/>
                <a:cs typeface="Arial MT"/>
              </a:rPr>
              <a:t>e</a:t>
            </a:r>
            <a:r>
              <a:rPr sz="1600">
                <a:latin typeface="Arial MT"/>
                <a:cs typeface="Arial MT"/>
              </a:rPr>
              <a:t>r</a:t>
            </a:r>
            <a:r>
              <a:rPr sz="1600" spc="-5">
                <a:latin typeface="Arial MT"/>
                <a:cs typeface="Arial MT"/>
              </a:rPr>
              <a:t>_</a:t>
            </a:r>
            <a:r>
              <a:rPr sz="1600" spc="-10">
                <a:latin typeface="Arial MT"/>
                <a:cs typeface="Arial MT"/>
              </a:rPr>
              <a:t>i</a:t>
            </a:r>
            <a:r>
              <a:rPr sz="1600">
                <a:latin typeface="Arial MT"/>
                <a:cs typeface="Arial MT"/>
              </a:rPr>
              <a:t>d  </a:t>
            </a:r>
            <a:r>
              <a:rPr sz="1600" spc="-5">
                <a:latin typeface="Arial MT"/>
                <a:cs typeface="Arial MT"/>
              </a:rPr>
              <a:t>ORDER</a:t>
            </a:r>
            <a:r>
              <a:rPr sz="1600" spc="-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BY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25"/>
              </a:spcBef>
            </a:pPr>
            <a:r>
              <a:rPr sz="1600" spc="-5">
                <a:latin typeface="Arial MT"/>
                <a:cs typeface="Arial MT"/>
              </a:rPr>
              <a:t>customer_id;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7061" y="1825625"/>
            <a:ext cx="6553620" cy="4198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8698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5"/>
              <a:t> </a:t>
            </a:r>
            <a:r>
              <a:rPr sz="3000" spc="-40"/>
              <a:t>HAVING</a:t>
            </a:r>
            <a:r>
              <a:rPr sz="3000" spc="1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7039"/>
            <a:ext cx="3764279" cy="40519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spc="-5">
                <a:latin typeface="Arial MT"/>
                <a:cs typeface="Arial MT"/>
              </a:rPr>
              <a:t>SELECT</a:t>
            </a:r>
            <a:endParaRPr sz="1500">
              <a:latin typeface="Arial MT"/>
              <a:cs typeface="Arial MT"/>
            </a:endParaRPr>
          </a:p>
          <a:p>
            <a:pPr marL="926465" marR="1736089">
              <a:lnSpc>
                <a:spcPct val="125299"/>
              </a:lnSpc>
              <a:spcBef>
                <a:spcPts val="45"/>
              </a:spcBef>
            </a:pPr>
            <a:r>
              <a:rPr sz="1500">
                <a:latin typeface="Arial MT"/>
                <a:cs typeface="Arial MT"/>
              </a:rPr>
              <a:t>cus</a:t>
            </a:r>
            <a:r>
              <a:rPr sz="1500" spc="-5">
                <a:latin typeface="Arial MT"/>
                <a:cs typeface="Arial MT"/>
              </a:rPr>
              <a:t>t</a:t>
            </a:r>
            <a:r>
              <a:rPr sz="1500">
                <a:latin typeface="Arial MT"/>
                <a:cs typeface="Arial MT"/>
              </a:rPr>
              <a:t>omer_id,  </a:t>
            </a:r>
            <a:r>
              <a:rPr sz="1500" spc="-5">
                <a:latin typeface="Arial MT"/>
                <a:cs typeface="Arial MT"/>
              </a:rPr>
              <a:t>first_name, </a:t>
            </a:r>
            <a:r>
              <a:rPr sz="15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last_name,</a:t>
            </a: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sz="1500" spc="-40">
                <a:latin typeface="Arial MT"/>
                <a:cs typeface="Arial MT"/>
              </a:rPr>
              <a:t>AVG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(amount)::NUMERIC(10,2)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00" spc="-5">
                <a:latin typeface="Arial MT"/>
                <a:cs typeface="Arial MT"/>
              </a:rPr>
              <a:t>FROM</a:t>
            </a: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sz="1500">
                <a:latin typeface="Arial MT"/>
                <a:cs typeface="Arial MT"/>
              </a:rPr>
              <a:t>payment</a:t>
            </a:r>
          </a:p>
          <a:p>
            <a:pPr marL="12700" marR="5080">
              <a:lnSpc>
                <a:spcPct val="122700"/>
              </a:lnSpc>
              <a:spcBef>
                <a:spcPts val="95"/>
              </a:spcBef>
            </a:pPr>
            <a:r>
              <a:rPr sz="1500" spc="-5">
                <a:latin typeface="Arial MT"/>
                <a:cs typeface="Arial MT"/>
              </a:rPr>
              <a:t>INNER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JOIN</a:t>
            </a:r>
            <a:r>
              <a:rPr sz="1500" spc="1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customer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USING(customer_id)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GROUP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BY</a:t>
            </a:r>
          </a:p>
          <a:p>
            <a:pPr marL="926465">
              <a:lnSpc>
                <a:spcPct val="100000"/>
              </a:lnSpc>
              <a:spcBef>
                <a:spcPts val="480"/>
              </a:spcBef>
            </a:pPr>
            <a:r>
              <a:rPr sz="1500" spc="-5">
                <a:latin typeface="Arial MT"/>
                <a:cs typeface="Arial MT"/>
              </a:rPr>
              <a:t>customer_id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500" spc="-20">
                <a:latin typeface="Arial MT"/>
                <a:cs typeface="Arial MT"/>
              </a:rPr>
              <a:t>HAVING</a:t>
            </a:r>
            <a:endParaRPr sz="1500">
              <a:latin typeface="Arial MT"/>
              <a:cs typeface="Arial MT"/>
            </a:endParaRPr>
          </a:p>
          <a:p>
            <a:pPr marL="12700" marR="1303655" indent="914400">
              <a:lnSpc>
                <a:spcPct val="128000"/>
              </a:lnSpc>
            </a:pPr>
            <a:r>
              <a:rPr sz="1500" spc="-40">
                <a:latin typeface="Arial MT"/>
                <a:cs typeface="Arial MT"/>
              </a:rPr>
              <a:t>AVG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(amount)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&gt;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5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ORDER </a:t>
            </a:r>
            <a:r>
              <a:rPr sz="1500">
                <a:latin typeface="Arial MT"/>
                <a:cs typeface="Arial MT"/>
              </a:rPr>
              <a:t>BY</a:t>
            </a: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500" spc="-5">
                <a:latin typeface="Arial MT"/>
                <a:cs typeface="Arial MT"/>
              </a:rPr>
              <a:t>customer_id;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1964" y="1690687"/>
            <a:ext cx="6461834" cy="3865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6883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 spc="-5"/>
              <a:t>and</a:t>
            </a:r>
            <a:r>
              <a:rPr sz="3000" spc="10"/>
              <a:t> </a:t>
            </a:r>
            <a:r>
              <a:rPr sz="3000" spc="-5"/>
              <a:t>NULL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25168"/>
            <a:ext cx="4057650" cy="17780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30">
                <a:latin typeface="Arial MT"/>
                <a:cs typeface="Arial MT"/>
              </a:rPr>
              <a:t>CREATE</a:t>
            </a:r>
            <a:r>
              <a:rPr sz="2300" spc="-60">
                <a:latin typeface="Arial MT"/>
                <a:cs typeface="Arial MT"/>
              </a:rPr>
              <a:t> </a:t>
            </a:r>
            <a:r>
              <a:rPr sz="2300" spc="-40">
                <a:latin typeface="Arial MT"/>
                <a:cs typeface="Arial MT"/>
              </a:rPr>
              <a:t>TABLE</a:t>
            </a:r>
            <a:r>
              <a:rPr sz="2300" spc="-2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</a:t>
            </a:r>
            <a:r>
              <a:rPr sz="2300" spc="-25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(</a:t>
            </a:r>
          </a:p>
          <a:p>
            <a:pPr marL="926465" marR="5080">
              <a:lnSpc>
                <a:spcPts val="3500"/>
              </a:lnSpc>
              <a:spcBef>
                <a:spcPts val="150"/>
              </a:spcBef>
            </a:pPr>
            <a:r>
              <a:rPr sz="2300">
                <a:latin typeface="Arial MT"/>
                <a:cs typeface="Arial MT"/>
              </a:rPr>
              <a:t>id</a:t>
            </a:r>
            <a:r>
              <a:rPr sz="2300" spc="-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serial</a:t>
            </a:r>
            <a:r>
              <a:rPr sz="2300" spc="-20">
                <a:latin typeface="Arial MT"/>
                <a:cs typeface="Arial MT"/>
              </a:rPr>
              <a:t> </a:t>
            </a:r>
            <a:r>
              <a:rPr sz="2300" spc="-10">
                <a:latin typeface="Arial MT"/>
                <a:cs typeface="Arial MT"/>
              </a:rPr>
              <a:t>PRIMARY</a:t>
            </a:r>
            <a:r>
              <a:rPr sz="2300" spc="-60">
                <a:latin typeface="Arial MT"/>
                <a:cs typeface="Arial MT"/>
              </a:rPr>
              <a:t> </a:t>
            </a:r>
            <a:r>
              <a:rPr sz="2300" spc="-75">
                <a:latin typeface="Arial MT"/>
                <a:cs typeface="Arial MT"/>
              </a:rPr>
              <a:t>KEY,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amount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INTEGER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300" spc="-5">
                <a:latin typeface="Arial MT"/>
                <a:cs typeface="Arial MT"/>
              </a:rPr>
              <a:t>);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922776"/>
            <a:ext cx="3430270" cy="223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95"/>
              </a:spcBef>
            </a:pPr>
            <a:r>
              <a:rPr sz="2300" spc="-10">
                <a:latin typeface="Arial MT"/>
                <a:cs typeface="Arial MT"/>
              </a:rPr>
              <a:t>INSERT</a:t>
            </a:r>
            <a:r>
              <a:rPr sz="2300" spc="-75">
                <a:latin typeface="Arial MT"/>
                <a:cs typeface="Arial MT"/>
              </a:rPr>
              <a:t> </a:t>
            </a:r>
            <a:r>
              <a:rPr sz="2300" spc="-15">
                <a:latin typeface="Arial MT"/>
                <a:cs typeface="Arial MT"/>
              </a:rPr>
              <a:t>INTO</a:t>
            </a:r>
            <a:r>
              <a:rPr sz="2300" spc="-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</a:t>
            </a:r>
            <a:r>
              <a:rPr sz="2300" spc="-3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(amount)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30">
                <a:latin typeface="Arial MT"/>
                <a:cs typeface="Arial MT"/>
              </a:rPr>
              <a:t>VALUES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(10),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300" spc="-5">
                <a:latin typeface="Arial MT"/>
                <a:cs typeface="Arial MT"/>
              </a:rPr>
              <a:t>(NULL),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(30);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5926" y="1831847"/>
            <a:ext cx="4942840" cy="7327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300" spc="-5">
                <a:latin typeface="Arial MT"/>
                <a:cs typeface="Arial MT"/>
              </a:rPr>
              <a:t>SELECT</a:t>
            </a:r>
            <a:r>
              <a:rPr sz="2300" spc="-145">
                <a:latin typeface="Arial MT"/>
                <a:cs typeface="Arial MT"/>
              </a:rPr>
              <a:t> </a:t>
            </a:r>
            <a:r>
              <a:rPr sz="2300" spc="-15">
                <a:latin typeface="Arial MT"/>
                <a:cs typeface="Arial MT"/>
              </a:rPr>
              <a:t>AVG(amount)::numeric(10,2) </a:t>
            </a:r>
            <a:r>
              <a:rPr sz="2300" spc="-62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FROM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t1;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504" y="3055143"/>
            <a:ext cx="16256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9019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COUNT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338435" cy="2878455"/>
          </a:xfrm>
          <a:prstGeom prst="rect">
            <a:avLst/>
          </a:prstGeom>
        </p:spPr>
        <p:txBody>
          <a:bodyPr vert="horz" wrap="square" lIns="0" tIns="63500" rIns="0" bIns="0" rtlCol="0" anchor="t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>
                <a:latin typeface="Arial MT"/>
                <a:cs typeface="Arial MT"/>
              </a:rPr>
              <a:t>The </a:t>
            </a:r>
            <a:r>
              <a:rPr sz="2800" b="1">
                <a:latin typeface="Arial"/>
                <a:cs typeface="Arial"/>
              </a:rPr>
              <a:t>COUNT</a:t>
            </a:r>
            <a:r>
              <a:rPr sz="2800">
                <a:latin typeface="Arial MT"/>
                <a:cs typeface="Arial MT"/>
              </a:rPr>
              <a:t>() function is an aggregate function that allows you </a:t>
            </a:r>
            <a:r>
              <a:rPr sz="2800" spc="-5">
                <a:latin typeface="Arial MT"/>
                <a:cs typeface="Arial MT"/>
              </a:rPr>
              <a:t>to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get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 number 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rows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that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match a specific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condition 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 </a:t>
            </a:r>
            <a:r>
              <a:rPr sz="2800" spc="-35">
                <a:latin typeface="Arial MT"/>
                <a:cs typeface="Arial MT"/>
              </a:rPr>
              <a:t>query.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 marR="6063615">
              <a:lnSpc>
                <a:spcPct val="119300"/>
              </a:lnSpc>
              <a:spcBef>
                <a:spcPts val="5"/>
              </a:spcBef>
            </a:pPr>
            <a:r>
              <a:rPr sz="2800" spc="-10">
                <a:latin typeface="Courier New"/>
                <a:cs typeface="Courier New"/>
              </a:rPr>
              <a:t>SELECT</a:t>
            </a:r>
            <a:r>
              <a:rPr sz="2800" spc="-100">
                <a:latin typeface="Courier New"/>
                <a:cs typeface="Courier New"/>
              </a:rPr>
              <a:t> </a:t>
            </a:r>
            <a:r>
              <a:rPr sz="2800" spc="-10">
                <a:latin typeface="Courier New"/>
                <a:cs typeface="Courier New"/>
              </a:rPr>
              <a:t>COUNT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(column) </a:t>
            </a:r>
            <a:endParaRPr lang="ru-RU" sz="280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12700" marR="6063615">
              <a:lnSpc>
                <a:spcPct val="119300"/>
              </a:lnSpc>
              <a:spcBef>
                <a:spcPts val="5"/>
              </a:spcBef>
            </a:pPr>
            <a:r>
              <a:rPr lang="ru-RU" sz="2800" spc="-1670">
                <a:solidFill>
                  <a:srgbClr val="383A42"/>
                </a:solidFill>
                <a:latin typeface="Courier New"/>
                <a:cs typeface="Courier New"/>
              </a:rPr>
              <a:t> </a:t>
            </a:r>
            <a:r>
              <a:rPr sz="2800" spc="-10">
                <a:latin typeface="Courier New"/>
                <a:cs typeface="Courier New"/>
              </a:rPr>
              <a:t>FROM</a:t>
            </a:r>
            <a:r>
              <a:rPr sz="2800" spc="90">
                <a:latin typeface="Courier New"/>
                <a:cs typeface="Courier New"/>
              </a:rPr>
              <a:t> 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table_name </a:t>
            </a:r>
            <a:r>
              <a:rPr sz="2800" spc="-5">
                <a:solidFill>
                  <a:srgbClr val="383A42"/>
                </a:solidFill>
                <a:latin typeface="Courier New"/>
                <a:cs typeface="Courier New"/>
              </a:rPr>
              <a:t> </a:t>
            </a:r>
            <a:r>
              <a:rPr sz="2800" spc="-10">
                <a:latin typeface="Courier New"/>
                <a:cs typeface="Courier New"/>
              </a:rPr>
              <a:t>WHERE</a:t>
            </a:r>
            <a:r>
              <a:rPr sz="2800" spc="-35">
                <a:latin typeface="Courier New"/>
                <a:cs typeface="Courier New"/>
              </a:rPr>
              <a:t> 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condition;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73888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55"/>
              <a:t> </a:t>
            </a:r>
            <a:r>
              <a:rPr sz="3000" spc="-5"/>
              <a:t>COUNT() </a:t>
            </a:r>
            <a:r>
              <a:rPr sz="3000"/>
              <a:t>function</a:t>
            </a:r>
            <a:r>
              <a:rPr sz="3000" spc="5"/>
              <a:t> </a:t>
            </a:r>
            <a:r>
              <a:rPr sz="3000" spc="-5"/>
              <a:t>examples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961514" cy="205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275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 </a:t>
            </a:r>
            <a:r>
              <a:rPr sz="2800">
                <a:latin typeface="Arial MT"/>
                <a:cs typeface="Arial MT"/>
              </a:rPr>
              <a:t> C</a:t>
            </a:r>
            <a:r>
              <a:rPr sz="2800" spc="-5">
                <a:latin typeface="Arial MT"/>
                <a:cs typeface="Arial MT"/>
              </a:rPr>
              <a:t>O</a:t>
            </a:r>
            <a:r>
              <a:rPr sz="2800">
                <a:latin typeface="Arial MT"/>
                <a:cs typeface="Arial MT"/>
              </a:rPr>
              <a:t>UNT</a:t>
            </a:r>
            <a:r>
              <a:rPr sz="2800" spc="5">
                <a:latin typeface="Arial MT"/>
                <a:cs typeface="Arial MT"/>
              </a:rPr>
              <a:t>(</a:t>
            </a:r>
            <a:r>
              <a:rPr sz="2800" spc="-5">
                <a:latin typeface="Arial MT"/>
                <a:cs typeface="Arial MT"/>
              </a:rPr>
              <a:t>*</a:t>
            </a:r>
            <a:r>
              <a:rPr sz="2800">
                <a:latin typeface="Arial MT"/>
                <a:cs typeface="Arial MT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650"/>
              </a:spcBef>
            </a:pP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1650" y="1675843"/>
            <a:ext cx="2781300" cy="2146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4147952"/>
            <a:ext cx="1985984" cy="11271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95878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PostgreSQL</a:t>
            </a:r>
            <a:r>
              <a:rPr sz="3500" spc="-65"/>
              <a:t> </a:t>
            </a:r>
            <a:r>
              <a:rPr sz="3500" spc="-5"/>
              <a:t>COUNT() with</a:t>
            </a:r>
            <a:r>
              <a:rPr sz="3500" spc="5"/>
              <a:t> </a:t>
            </a:r>
            <a:r>
              <a:rPr sz="3500" spc="-5"/>
              <a:t>GROUP</a:t>
            </a:r>
            <a:r>
              <a:rPr sz="3500" spc="-60"/>
              <a:t> </a:t>
            </a:r>
            <a:r>
              <a:rPr sz="3500" spc="-5"/>
              <a:t>BY</a:t>
            </a:r>
            <a:r>
              <a:rPr sz="3500" spc="-60"/>
              <a:t> </a:t>
            </a:r>
            <a:r>
              <a:rPr sz="3500" spc="-5"/>
              <a:t>clause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476750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5080" indent="914400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10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2174240" indent="914400">
              <a:lnSpc>
                <a:spcPct val="118600"/>
              </a:lnSpc>
              <a:spcBef>
                <a:spcPts val="120"/>
              </a:spcBef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50"/>
              </a:spcBef>
            </a:pPr>
            <a:r>
              <a:rPr sz="2800">
                <a:latin typeface="Arial MT"/>
                <a:cs typeface="Arial MT"/>
              </a:rPr>
              <a:t>customer_id;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3655" y="1825625"/>
            <a:ext cx="3633530" cy="33620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89281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PostgreSQL</a:t>
            </a:r>
            <a:r>
              <a:rPr sz="3500" spc="-70"/>
              <a:t> </a:t>
            </a:r>
            <a:r>
              <a:rPr sz="3500" spc="-5"/>
              <a:t>COUNT() with </a:t>
            </a:r>
            <a:r>
              <a:rPr sz="3500" spc="-45"/>
              <a:t>HAVING</a:t>
            </a:r>
            <a:r>
              <a:rPr sz="3500" spc="5"/>
              <a:t> </a:t>
            </a:r>
            <a:r>
              <a:rPr sz="3500" spc="-5"/>
              <a:t>clause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13484"/>
            <a:ext cx="5377815" cy="42411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906144" indent="914400">
              <a:lnSpc>
                <a:spcPct val="110000"/>
              </a:lnSpc>
              <a:spcBef>
                <a:spcPts val="25"/>
              </a:spcBef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10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3075305" indent="914400">
              <a:lnSpc>
                <a:spcPct val="110000"/>
              </a:lnSpc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12700" marR="2501900" indent="914400">
              <a:lnSpc>
                <a:spcPts val="3700"/>
              </a:lnSpc>
              <a:spcBef>
                <a:spcPts val="80"/>
              </a:spcBef>
            </a:pPr>
            <a:r>
              <a:rPr sz="2800">
                <a:latin typeface="Arial MT"/>
                <a:cs typeface="Arial MT"/>
              </a:rPr>
              <a:t>c</a:t>
            </a:r>
            <a:r>
              <a:rPr sz="2800" spc="5">
                <a:latin typeface="Arial MT"/>
                <a:cs typeface="Arial MT"/>
              </a:rPr>
              <a:t>u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omer_</a:t>
            </a:r>
            <a:r>
              <a:rPr sz="2800">
                <a:latin typeface="Arial MT"/>
                <a:cs typeface="Arial MT"/>
              </a:rPr>
              <a:t>id  </a:t>
            </a:r>
            <a:r>
              <a:rPr sz="2800" spc="-40">
                <a:latin typeface="Arial MT"/>
                <a:cs typeface="Arial MT"/>
              </a:rPr>
              <a:t>HAVING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150"/>
              </a:spcBef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&gt;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40;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712" y="2604036"/>
            <a:ext cx="4504565" cy="1649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57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SUM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3171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/>
              <a:t>The</a:t>
            </a:r>
            <a:r>
              <a:rPr sz="2800" spc="-5"/>
              <a:t> </a:t>
            </a:r>
            <a:r>
              <a:rPr sz="2800"/>
              <a:t>PostgreSQL</a:t>
            </a:r>
            <a:r>
              <a:rPr sz="2800" spc="-105"/>
              <a:t> </a:t>
            </a:r>
            <a:r>
              <a:rPr sz="2800" b="1">
                <a:latin typeface="Arial"/>
                <a:cs typeface="Arial"/>
              </a:rPr>
              <a:t>SUM</a:t>
            </a:r>
            <a:r>
              <a:rPr sz="2800"/>
              <a:t>() is</a:t>
            </a:r>
            <a:r>
              <a:rPr sz="2800" spc="-10"/>
              <a:t> </a:t>
            </a:r>
            <a:r>
              <a:rPr sz="2800"/>
              <a:t>an</a:t>
            </a:r>
            <a:r>
              <a:rPr sz="2800" spc="-5"/>
              <a:t> </a:t>
            </a:r>
            <a:r>
              <a:rPr sz="2800"/>
              <a:t>aggregate function</a:t>
            </a:r>
            <a:r>
              <a:rPr sz="2800" spc="-5"/>
              <a:t> </a:t>
            </a:r>
            <a:r>
              <a:rPr sz="2800"/>
              <a:t>that</a:t>
            </a:r>
            <a:r>
              <a:rPr sz="2800" spc="-15"/>
              <a:t> </a:t>
            </a:r>
            <a:r>
              <a:rPr sz="2800"/>
              <a:t>returns</a:t>
            </a:r>
            <a:r>
              <a:rPr sz="2800" spc="-5"/>
              <a:t> </a:t>
            </a:r>
            <a:r>
              <a:rPr sz="2800"/>
              <a:t>the </a:t>
            </a:r>
            <a:r>
              <a:rPr sz="2800" spc="-765"/>
              <a:t> </a:t>
            </a:r>
            <a:r>
              <a:rPr sz="2800"/>
              <a:t>sum</a:t>
            </a:r>
            <a:r>
              <a:rPr sz="2800" spc="-5"/>
              <a:t> </a:t>
            </a:r>
            <a:r>
              <a:rPr sz="2800"/>
              <a:t>of</a:t>
            </a:r>
            <a:r>
              <a:rPr sz="2800" spc="-10"/>
              <a:t> </a:t>
            </a:r>
            <a:r>
              <a:rPr sz="2800"/>
              <a:t>values</a:t>
            </a:r>
            <a:r>
              <a:rPr sz="2800" spc="-5"/>
              <a:t> </a:t>
            </a:r>
            <a:r>
              <a:rPr sz="2800"/>
              <a:t>or distinct</a:t>
            </a:r>
            <a:r>
              <a:rPr sz="2800" spc="-10"/>
              <a:t> </a:t>
            </a:r>
            <a:r>
              <a:rPr sz="2800"/>
              <a:t>values.</a:t>
            </a:r>
            <a:endParaRPr sz="2800">
              <a:latin typeface="Arial"/>
              <a:cs typeface="Arial"/>
            </a:endParaRPr>
          </a:p>
          <a:p>
            <a:pPr marL="12700" marR="2844800">
              <a:lnSpc>
                <a:spcPts val="8109"/>
              </a:lnSpc>
              <a:spcBef>
                <a:spcPts val="705"/>
              </a:spcBef>
            </a:pPr>
            <a:r>
              <a:rPr sz="2800"/>
              <a:t>The</a:t>
            </a:r>
            <a:r>
              <a:rPr sz="2800" spc="-10"/>
              <a:t> </a:t>
            </a:r>
            <a:r>
              <a:rPr sz="2800"/>
              <a:t>syntax</a:t>
            </a:r>
            <a:r>
              <a:rPr sz="2800" spc="-15"/>
              <a:t> </a:t>
            </a:r>
            <a:r>
              <a:rPr sz="2800"/>
              <a:t>of</a:t>
            </a:r>
            <a:r>
              <a:rPr sz="2800" spc="-15"/>
              <a:t> </a:t>
            </a:r>
            <a:r>
              <a:rPr sz="2800"/>
              <a:t>the</a:t>
            </a:r>
            <a:r>
              <a:rPr sz="2800" spc="-10"/>
              <a:t> </a:t>
            </a:r>
            <a:r>
              <a:rPr sz="2800"/>
              <a:t>SUM()</a:t>
            </a:r>
            <a:r>
              <a:rPr sz="2800" spc="-10"/>
              <a:t> </a:t>
            </a:r>
            <a:r>
              <a:rPr sz="2800"/>
              <a:t>function</a:t>
            </a:r>
            <a:r>
              <a:rPr sz="2800" spc="-5"/>
              <a:t> </a:t>
            </a:r>
            <a:r>
              <a:rPr sz="2800"/>
              <a:t>is</a:t>
            </a:r>
            <a:r>
              <a:rPr sz="2800" spc="-15"/>
              <a:t> </a:t>
            </a:r>
            <a:r>
              <a:rPr sz="2800"/>
              <a:t>as</a:t>
            </a:r>
            <a:r>
              <a:rPr sz="2800" spc="-10"/>
              <a:t> </a:t>
            </a:r>
            <a:r>
              <a:rPr sz="2800"/>
              <a:t>follows: </a:t>
            </a:r>
            <a:r>
              <a:rPr sz="2800" spc="-765"/>
              <a:t> </a:t>
            </a:r>
            <a:r>
              <a:rPr sz="2800" spc="-5"/>
              <a:t>SUM(DISTINCT</a:t>
            </a:r>
            <a:r>
              <a:rPr sz="2800" spc="-55"/>
              <a:t> </a:t>
            </a:r>
            <a:r>
              <a:rPr sz="2800"/>
              <a:t>expression)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1649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85"/>
              <a:t> </a:t>
            </a:r>
            <a:r>
              <a:rPr spc="-5"/>
              <a:t>SUM()</a:t>
            </a:r>
            <a:r>
              <a:t> </a:t>
            </a:r>
            <a:r>
              <a:rPr spc="-5"/>
              <a:t>function</a:t>
            </a:r>
            <a:r>
              <a:rPr spc="-10"/>
              <a:t> </a:t>
            </a:r>
            <a:r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142230" cy="154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6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SUM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</a:t>
            </a:r>
            <a:r>
              <a:rPr sz="2800" spc="-15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AS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3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customer_id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2000;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4076" y="1690687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1191" y="3786187"/>
            <a:ext cx="14732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45007"/>
            <a:ext cx="9995535" cy="10407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565"/>
              </a:spcBef>
            </a:pPr>
            <a:r>
              <a:rPr sz="3500" spc="-5"/>
              <a:t>Using PostgreSQL SUM() function with GROUP </a:t>
            </a:r>
            <a:r>
              <a:rPr sz="3500" spc="-960"/>
              <a:t> </a:t>
            </a:r>
            <a:r>
              <a:rPr sz="3500" spc="-5"/>
              <a:t>BY</a:t>
            </a:r>
            <a:r>
              <a:rPr sz="3500" spc="-65"/>
              <a:t> </a:t>
            </a:r>
            <a:r>
              <a:rPr sz="350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581525" cy="410082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5080" indent="914400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SUM</a:t>
            </a:r>
            <a:r>
              <a:rPr sz="2800" spc="-2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</a:t>
            </a:r>
            <a:r>
              <a:rPr sz="2800" spc="-1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AS</a:t>
            </a:r>
            <a:r>
              <a:rPr sz="2800" spc="-3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2279015" indent="914400">
              <a:lnSpc>
                <a:spcPct val="118600"/>
              </a:lnSpc>
              <a:spcBef>
                <a:spcPts val="120"/>
              </a:spcBef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12700" marR="1704975" indent="914400">
              <a:lnSpc>
                <a:spcPct val="119300"/>
              </a:lnSpc>
            </a:pPr>
            <a:r>
              <a:rPr sz="2800">
                <a:latin typeface="Arial MT"/>
                <a:cs typeface="Arial MT"/>
              </a:rPr>
              <a:t>c</a:t>
            </a:r>
            <a:r>
              <a:rPr sz="2800" spc="5">
                <a:latin typeface="Arial MT"/>
                <a:cs typeface="Arial MT"/>
              </a:rPr>
              <a:t>u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omer_</a:t>
            </a:r>
            <a:r>
              <a:rPr sz="2800">
                <a:latin typeface="Arial MT"/>
                <a:cs typeface="Arial MT"/>
              </a:rPr>
              <a:t>id  </a:t>
            </a:r>
            <a:r>
              <a:rPr sz="2800" spc="-5">
                <a:latin typeface="Arial MT"/>
                <a:cs typeface="Arial MT"/>
              </a:rPr>
              <a:t>ORDER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r>
              <a:rPr sz="2800" spc="-8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6960" y="1825625"/>
            <a:ext cx="2743200" cy="39623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37539"/>
            <a:ext cx="9748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>
                <a:latin typeface="Arial"/>
                <a:cs typeface="Arial"/>
              </a:rPr>
              <a:t>Using</a:t>
            </a:r>
            <a:r>
              <a:rPr sz="4000" b="1" spc="-30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PostgreSQL</a:t>
            </a:r>
            <a:r>
              <a:rPr sz="4000" b="1" spc="-95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SUM</a:t>
            </a:r>
            <a:r>
              <a:rPr sz="4000" b="1" spc="-1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with</a:t>
            </a:r>
            <a:r>
              <a:rPr sz="4000" b="1" spc="-25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expression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655129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7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SUM(return_date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-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rental_date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rental;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6746" y="1690687"/>
            <a:ext cx="2616200" cy="2463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4900" y="3343398"/>
            <a:ext cx="37211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57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00"/>
              <a:t> </a:t>
            </a:r>
            <a:r>
              <a:rPr sz="4400" spc="-5"/>
              <a:t>MAX</a:t>
            </a:r>
            <a:r>
              <a:rPr sz="4400" spc="-15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294620" cy="3765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212725">
              <a:lnSpc>
                <a:spcPts val="3000"/>
              </a:lnSpc>
              <a:spcBef>
                <a:spcPts val="500"/>
              </a:spcBef>
              <a:tabLst>
                <a:tab pos="2134235" algn="l"/>
              </a:tabLst>
            </a:pPr>
            <a:r>
              <a:rPr sz="2800">
                <a:latin typeface="Arial MT"/>
                <a:cs typeface="Arial MT"/>
              </a:rPr>
              <a:t>PostgreSQL	</a:t>
            </a:r>
            <a:r>
              <a:rPr sz="2800" b="1">
                <a:latin typeface="Arial"/>
                <a:cs typeface="Arial"/>
              </a:rPr>
              <a:t>MAX </a:t>
            </a:r>
            <a:r>
              <a:rPr sz="2800">
                <a:latin typeface="Arial MT"/>
                <a:cs typeface="Arial MT"/>
              </a:rPr>
              <a:t>function is an aggregate function that returns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maximum value in a set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values.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Arial MT"/>
              <a:cs typeface="Arial MT"/>
            </a:endParaRPr>
          </a:p>
          <a:p>
            <a:pPr marL="12700" marR="3212465">
              <a:lnSpc>
                <a:spcPct val="122100"/>
              </a:lnSpc>
              <a:spcBef>
                <a:spcPts val="5"/>
              </a:spcBef>
            </a:pPr>
            <a:r>
              <a:rPr sz="2800">
                <a:latin typeface="Arial MT"/>
                <a:cs typeface="Arial MT"/>
              </a:rPr>
              <a:t>The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syntax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of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function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is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as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follows: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MAX(expression);</a:t>
            </a: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3000"/>
              </a:lnSpc>
              <a:spcBef>
                <a:spcPts val="1810"/>
              </a:spcBef>
            </a:pPr>
            <a:r>
              <a:rPr sz="2800" spc="-90">
                <a:latin typeface="Arial MT"/>
                <a:cs typeface="Arial MT"/>
              </a:rPr>
              <a:t>You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can use the MAX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function not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only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in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 </a:t>
            </a: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clause but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also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in the </a:t>
            </a: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and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 spc="-40">
                <a:latin typeface="Arial MT"/>
                <a:cs typeface="Arial MT"/>
              </a:rPr>
              <a:t>HAVING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clauses.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37539"/>
            <a:ext cx="8825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>
                <a:latin typeface="Arial"/>
                <a:cs typeface="Arial"/>
              </a:rPr>
              <a:t>PostgreSQL</a:t>
            </a:r>
            <a:r>
              <a:rPr sz="4000" b="1" spc="-9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MAX</a:t>
            </a:r>
            <a:r>
              <a:rPr sz="4000" b="1" spc="-20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function</a:t>
            </a:r>
            <a:r>
              <a:rPr sz="4000" b="1" spc="-15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examples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69824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1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MAX(amount)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9084" y="1825625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2827" y="3325873"/>
            <a:ext cx="2476500" cy="13758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385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80"/>
              <a:t> </a:t>
            </a:r>
            <a:r>
              <a:t>MAX</a:t>
            </a:r>
            <a:r>
              <a:rPr spc="-10"/>
              <a:t> </a:t>
            </a:r>
            <a:r>
              <a:rPr spc="-5"/>
              <a:t>function</a:t>
            </a:r>
            <a:r>
              <a:rPr spc="-10"/>
              <a:t> </a:t>
            </a:r>
            <a:r>
              <a:t>in</a:t>
            </a:r>
            <a:r>
              <a:rPr spc="-5"/>
              <a:t> subquery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250690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*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amount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</a:t>
            </a:r>
          </a:p>
          <a:p>
            <a:pPr marL="307975" marR="163195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800" spc="5">
                <a:latin typeface="Arial MT"/>
                <a:cs typeface="Arial MT"/>
              </a:rPr>
              <a:t>);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5947" y="3756891"/>
            <a:ext cx="7315200" cy="23367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9405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MIN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464"/>
            <a:ext cx="9885680" cy="40976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72720">
              <a:lnSpc>
                <a:spcPts val="2400"/>
              </a:lnSpc>
              <a:spcBef>
                <a:spcPts val="480"/>
              </a:spcBef>
            </a:pPr>
            <a:r>
              <a:rPr sz="2300" spc="-5">
                <a:latin typeface="Arial MT"/>
                <a:cs typeface="Arial MT"/>
              </a:rPr>
              <a:t>PostgreSQL </a:t>
            </a:r>
            <a:r>
              <a:rPr sz="2300" b="1" spc="-5">
                <a:latin typeface="Arial"/>
                <a:cs typeface="Arial"/>
              </a:rPr>
              <a:t>MIN</a:t>
            </a:r>
            <a:r>
              <a:rPr sz="2300" spc="-5">
                <a:latin typeface="Arial MT"/>
                <a:cs typeface="Arial MT"/>
              </a:rPr>
              <a:t>() function an aggregate function that returns the minimum </a:t>
            </a:r>
            <a:r>
              <a:rPr sz="2300" spc="-6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value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in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a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set of values.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The </a:t>
            </a:r>
            <a:r>
              <a:rPr sz="2300" spc="-20">
                <a:solidFill>
                  <a:srgbClr val="212529"/>
                </a:solidFill>
                <a:latin typeface="Calibri"/>
                <a:cs typeface="Calibri"/>
              </a:rPr>
              <a:t>syntax</a:t>
            </a:r>
            <a:r>
              <a:rPr sz="2300" spc="5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of 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the</a:t>
            </a:r>
            <a:r>
              <a:rPr sz="2300" spc="1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latin typeface="Calibri"/>
                <a:cs typeface="Calibri"/>
              </a:rPr>
              <a:t>MIN()</a:t>
            </a:r>
            <a:r>
              <a:rPr sz="2300"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function</a:t>
            </a:r>
            <a:r>
              <a:rPr sz="2300" spc="5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is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as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15">
                <a:solidFill>
                  <a:srgbClr val="212529"/>
                </a:solidFill>
                <a:latin typeface="Calibri"/>
                <a:cs typeface="Calibri"/>
              </a:rPr>
              <a:t>follows: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SELECT</a:t>
            </a:r>
            <a:endParaRPr sz="2300">
              <a:latin typeface="Arial MT"/>
              <a:cs typeface="Arial MT"/>
            </a:endParaRPr>
          </a:p>
          <a:p>
            <a:pPr marL="12700" marR="7402195" indent="323850">
              <a:lnSpc>
                <a:spcPct val="126099"/>
              </a:lnSpc>
              <a:spcBef>
                <a:spcPts val="25"/>
              </a:spcBef>
            </a:pPr>
            <a:r>
              <a:rPr sz="2300" spc="-5">
                <a:latin typeface="Arial MT"/>
                <a:cs typeface="Arial MT"/>
              </a:rPr>
              <a:t>MI</a:t>
            </a:r>
            <a:r>
              <a:rPr sz="2300">
                <a:latin typeface="Arial MT"/>
                <a:cs typeface="Arial MT"/>
              </a:rPr>
              <a:t>N</a:t>
            </a:r>
            <a:r>
              <a:rPr sz="2300" spc="-5">
                <a:latin typeface="Arial MT"/>
                <a:cs typeface="Arial MT"/>
              </a:rPr>
              <a:t>(e</a:t>
            </a:r>
            <a:r>
              <a:rPr sz="2300">
                <a:latin typeface="Arial MT"/>
                <a:cs typeface="Arial MT"/>
              </a:rPr>
              <a:t>x</a:t>
            </a:r>
            <a:r>
              <a:rPr sz="2300" spc="-5">
                <a:latin typeface="Arial MT"/>
                <a:cs typeface="Arial MT"/>
              </a:rPr>
              <a:t>pre</a:t>
            </a:r>
            <a:r>
              <a:rPr sz="2300">
                <a:latin typeface="Arial MT"/>
                <a:cs typeface="Arial MT"/>
              </a:rPr>
              <a:t>ssi</a:t>
            </a:r>
            <a:r>
              <a:rPr sz="2300" spc="-5">
                <a:latin typeface="Arial MT"/>
                <a:cs typeface="Arial MT"/>
              </a:rPr>
              <a:t>on</a:t>
            </a:r>
            <a:r>
              <a:rPr sz="2300">
                <a:latin typeface="Arial MT"/>
                <a:cs typeface="Arial MT"/>
              </a:rPr>
              <a:t>)  </a:t>
            </a:r>
            <a:r>
              <a:rPr sz="2300" spc="-5">
                <a:latin typeface="Arial MT"/>
                <a:cs typeface="Arial MT"/>
              </a:rPr>
              <a:t>FROM</a:t>
            </a:r>
            <a:endParaRPr sz="2300">
              <a:latin typeface="Arial MT"/>
              <a:cs typeface="Arial MT"/>
            </a:endParaRPr>
          </a:p>
          <a:p>
            <a:pPr marL="25527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table_expression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...;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ts val="2500"/>
              </a:lnSpc>
              <a:spcBef>
                <a:spcPts val="944"/>
              </a:spcBef>
            </a:pPr>
            <a:r>
              <a:rPr sz="2300" spc="-5">
                <a:latin typeface="Arial MT"/>
                <a:cs typeface="Arial MT"/>
              </a:rPr>
              <a:t>Unlike the </a:t>
            </a:r>
            <a:r>
              <a:rPr sz="2300" spc="-35">
                <a:latin typeface="Arial MT"/>
                <a:cs typeface="Arial MT"/>
              </a:rPr>
              <a:t>AVG(), </a:t>
            </a:r>
            <a:r>
              <a:rPr sz="2300" spc="-5">
                <a:latin typeface="Arial MT"/>
                <a:cs typeface="Arial MT"/>
              </a:rPr>
              <a:t>COUNT() and SUM() functions, the DISTINCT option does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not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have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any </a:t>
            </a:r>
            <a:r>
              <a:rPr sz="2300" spc="-10">
                <a:latin typeface="Arial MT"/>
                <a:cs typeface="Arial MT"/>
              </a:rPr>
              <a:t>effects</a:t>
            </a:r>
            <a:r>
              <a:rPr sz="2300" spc="-5">
                <a:latin typeface="Arial MT"/>
                <a:cs typeface="Arial MT"/>
              </a:rPr>
              <a:t> on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the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MIN() function.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89681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90"/>
              <a:t> </a:t>
            </a:r>
            <a:r>
              <a:t>MIN()</a:t>
            </a:r>
            <a:r>
              <a:rPr spc="-5"/>
              <a:t> function</a:t>
            </a:r>
            <a:r>
              <a:rPr spc="-15"/>
              <a:t> </a:t>
            </a:r>
            <a:r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014345" cy="20554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12700" marR="5080" indent="295275">
              <a:lnSpc>
                <a:spcPts val="4010"/>
              </a:lnSpc>
              <a:spcBef>
                <a:spcPts val="219"/>
              </a:spcBef>
            </a:pPr>
            <a:r>
              <a:rPr sz="2800">
                <a:latin typeface="Arial MT"/>
                <a:cs typeface="Arial MT"/>
              </a:rPr>
              <a:t>MIN</a:t>
            </a:r>
            <a:r>
              <a:rPr sz="2800" spc="-8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(rental_rate) </a:t>
            </a:r>
            <a:r>
              <a:rPr sz="2800" spc="-76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400"/>
              </a:spcBef>
            </a:pPr>
            <a:r>
              <a:rPr sz="2800">
                <a:latin typeface="Arial MT"/>
                <a:cs typeface="Arial MT"/>
              </a:rPr>
              <a:t>film;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7661" y="1579417"/>
            <a:ext cx="7216870" cy="33350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706" y="4138961"/>
            <a:ext cx="2011877" cy="12473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10086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Using</a:t>
            </a:r>
            <a:r>
              <a:rPr sz="3000"/>
              <a:t> </a:t>
            </a:r>
            <a:r>
              <a:rPr sz="3000" spc="-5"/>
              <a:t>PostgreSQL</a:t>
            </a:r>
            <a:r>
              <a:rPr sz="3000" spc="-55"/>
              <a:t> </a:t>
            </a:r>
            <a:r>
              <a:rPr sz="3000"/>
              <a:t>MIN</a:t>
            </a:r>
            <a:r>
              <a:rPr sz="3000" spc="-10"/>
              <a:t> </a:t>
            </a:r>
            <a:r>
              <a:rPr sz="3000"/>
              <a:t>function with </a:t>
            </a:r>
            <a:r>
              <a:rPr sz="3000" spc="-5"/>
              <a:t>GROUP</a:t>
            </a:r>
            <a:r>
              <a:rPr sz="3000" spc="-55"/>
              <a:t> </a:t>
            </a:r>
            <a:r>
              <a:rPr sz="3000" spc="-5"/>
              <a:t>BY</a:t>
            </a:r>
            <a:r>
              <a:rPr sz="3000" spc="-6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08404"/>
            <a:ext cx="5650865" cy="32353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>
              <a:lnSpc>
                <a:spcPct val="100000"/>
              </a:lnSpc>
              <a:spcBef>
                <a:spcPts val="790"/>
              </a:spcBef>
            </a:pPr>
            <a:r>
              <a:rPr sz="2000" spc="-5">
                <a:latin typeface="Arial MT"/>
                <a:cs typeface="Arial MT"/>
              </a:rPr>
              <a:t>name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-20">
                <a:latin typeface="Arial MT"/>
                <a:cs typeface="Arial MT"/>
              </a:rPr>
              <a:t>category,</a:t>
            </a:r>
            <a:endParaRPr sz="2000">
              <a:latin typeface="Arial MT"/>
              <a:cs typeface="Arial MT"/>
            </a:endParaRPr>
          </a:p>
          <a:p>
            <a:pPr marL="12700" marR="5080" indent="914400">
              <a:lnSpc>
                <a:spcPts val="3190"/>
              </a:lnSpc>
              <a:spcBef>
                <a:spcPts val="145"/>
              </a:spcBef>
            </a:pPr>
            <a:r>
              <a:rPr sz="2000" spc="-5">
                <a:latin typeface="Arial MT"/>
                <a:cs typeface="Arial MT"/>
              </a:rPr>
              <a:t>MIN(replacement_cost)</a:t>
            </a:r>
            <a:r>
              <a:rPr sz="2000" spc="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replacement_cost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FROM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category</a:t>
            </a:r>
            <a:endParaRPr sz="2000">
              <a:latin typeface="Arial MT"/>
              <a:cs typeface="Arial MT"/>
            </a:endParaRPr>
          </a:p>
          <a:p>
            <a:pPr marL="12700" marR="184785">
              <a:lnSpc>
                <a:spcPts val="3100"/>
              </a:lnSpc>
              <a:spcBef>
                <a:spcPts val="100"/>
              </a:spcBef>
            </a:pPr>
            <a:r>
              <a:rPr sz="2000">
                <a:latin typeface="Arial MT"/>
                <a:cs typeface="Arial MT"/>
              </a:rPr>
              <a:t>INNER </a:t>
            </a:r>
            <a:r>
              <a:rPr sz="2000" spc="-5">
                <a:latin typeface="Arial MT"/>
                <a:cs typeface="Arial MT"/>
              </a:rPr>
              <a:t>JOIN film_category </a:t>
            </a:r>
            <a:r>
              <a:rPr sz="2000">
                <a:latin typeface="Arial MT"/>
                <a:cs typeface="Arial MT"/>
              </a:rPr>
              <a:t>USING </a:t>
            </a:r>
            <a:r>
              <a:rPr sz="2000" spc="-5">
                <a:latin typeface="Arial MT"/>
                <a:cs typeface="Arial MT"/>
              </a:rPr>
              <a:t>(category_id)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</a:t>
            </a:r>
            <a:r>
              <a:rPr sz="2000">
                <a:latin typeface="Arial MT"/>
                <a:cs typeface="Arial MT"/>
              </a:rPr>
              <a:t> film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(film_id)</a:t>
            </a:r>
            <a:endParaRPr sz="2000">
              <a:latin typeface="Arial MT"/>
              <a:cs typeface="Arial MT"/>
            </a:endParaRPr>
          </a:p>
          <a:p>
            <a:pPr marL="12700" marR="3530600">
              <a:lnSpc>
                <a:spcPts val="3100"/>
              </a:lnSpc>
            </a:pPr>
            <a:r>
              <a:rPr sz="2000" spc="-5">
                <a:latin typeface="Arial MT"/>
                <a:cs typeface="Arial MT"/>
              </a:rPr>
              <a:t>GROUP </a:t>
            </a:r>
            <a:r>
              <a:rPr sz="2000">
                <a:latin typeface="Arial MT"/>
                <a:cs typeface="Arial MT"/>
              </a:rPr>
              <a:t>BY </a:t>
            </a:r>
            <a:r>
              <a:rPr sz="2000" spc="-5">
                <a:latin typeface="Arial MT"/>
                <a:cs typeface="Arial MT"/>
              </a:rPr>
              <a:t>name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8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name;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9007" y="1517033"/>
            <a:ext cx="3521628" cy="47385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846" y="2824988"/>
            <a:ext cx="7025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8990" algn="l"/>
              </a:tabLst>
            </a:pPr>
            <a:r>
              <a:rPr sz="4800" spc="-95"/>
              <a:t>PART</a:t>
            </a:r>
            <a:r>
              <a:rPr sz="4800" spc="20"/>
              <a:t> </a:t>
            </a:r>
            <a:r>
              <a:rPr sz="4800"/>
              <a:t>II.</a:t>
            </a:r>
            <a:r>
              <a:rPr sz="4800" spc="10"/>
              <a:t> </a:t>
            </a:r>
            <a:r>
              <a:rPr sz="4400" b="0" spc="-5">
                <a:latin typeface="Arial MT"/>
                <a:cs typeface="Arial MT"/>
              </a:rPr>
              <a:t>Window	functions.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3635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00"/>
              <a:t> </a:t>
            </a:r>
            <a:r>
              <a:rPr sz="4400" spc="-10"/>
              <a:t>Window</a:t>
            </a:r>
            <a:r>
              <a:rPr sz="4400" spc="-20"/>
              <a:t> </a:t>
            </a:r>
            <a:r>
              <a:rPr sz="4400" spc="-5"/>
              <a:t>Functions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24659"/>
            <a:ext cx="7984490" cy="449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3898900" indent="-914400">
              <a:lnSpc>
                <a:spcPct val="134400"/>
              </a:lnSpc>
              <a:spcBef>
                <a:spcPts val="100"/>
              </a:spcBef>
            </a:pPr>
            <a:r>
              <a:rPr sz="1800" spc="-25">
                <a:latin typeface="Arial MT"/>
                <a:cs typeface="Arial MT"/>
              </a:rPr>
              <a:t>CREATE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 spc="-30">
                <a:latin typeface="Arial MT"/>
                <a:cs typeface="Arial MT"/>
              </a:rPr>
              <a:t>TABLE</a:t>
            </a:r>
            <a:r>
              <a:rPr sz="1800" spc="-5">
                <a:latin typeface="Arial MT"/>
                <a:cs typeface="Arial MT"/>
              </a:rPr>
              <a:t> product_groups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( 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group_id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serial</a:t>
            </a:r>
            <a:r>
              <a:rPr sz="1800" spc="-10">
                <a:latin typeface="Arial MT"/>
                <a:cs typeface="Arial MT"/>
              </a:rPr>
              <a:t> PRIMARY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 spc="-65">
                <a:latin typeface="Arial MT"/>
                <a:cs typeface="Arial MT"/>
              </a:rPr>
              <a:t>KEY,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1800" spc="-5">
                <a:latin typeface="Arial MT"/>
                <a:cs typeface="Arial MT"/>
              </a:rPr>
              <a:t>group_name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25">
                <a:latin typeface="Arial MT"/>
                <a:cs typeface="Arial MT"/>
              </a:rPr>
              <a:t>VARCHAR</a:t>
            </a:r>
            <a:r>
              <a:rPr sz="1800" spc="-5">
                <a:latin typeface="Arial MT"/>
                <a:cs typeface="Arial MT"/>
              </a:rPr>
              <a:t> (255)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NOT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NULL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>
                <a:latin typeface="Arial MT"/>
                <a:cs typeface="Arial MT"/>
              </a:rPr>
              <a:t>);</a:t>
            </a: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>
                <a:latin typeface="Arial MT"/>
                <a:cs typeface="Arial MT"/>
              </a:rPr>
              <a:t>CREATE</a:t>
            </a:r>
            <a:r>
              <a:rPr sz="1800" spc="-55">
                <a:latin typeface="Arial MT"/>
                <a:cs typeface="Arial MT"/>
              </a:rPr>
              <a:t> </a:t>
            </a:r>
            <a:r>
              <a:rPr sz="1800" spc="-30">
                <a:latin typeface="Arial MT"/>
                <a:cs typeface="Arial MT"/>
              </a:rPr>
              <a:t>TABLE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products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(</a:t>
            </a: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1800" spc="-5">
                <a:latin typeface="Arial MT"/>
                <a:cs typeface="Arial MT"/>
              </a:rPr>
              <a:t>product_id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serial </a:t>
            </a:r>
            <a:r>
              <a:rPr sz="1800" spc="-10">
                <a:latin typeface="Arial MT"/>
                <a:cs typeface="Arial MT"/>
              </a:rPr>
              <a:t>PRIMARY</a:t>
            </a:r>
            <a:r>
              <a:rPr sz="1800" spc="-40">
                <a:latin typeface="Arial MT"/>
                <a:cs typeface="Arial MT"/>
              </a:rPr>
              <a:t> </a:t>
            </a:r>
            <a:r>
              <a:rPr sz="1800" spc="-65">
                <a:latin typeface="Arial MT"/>
                <a:cs typeface="Arial MT"/>
              </a:rPr>
              <a:t>KEY,</a:t>
            </a:r>
            <a:endParaRPr sz="1800">
              <a:latin typeface="Arial MT"/>
              <a:cs typeface="Arial MT"/>
            </a:endParaRPr>
          </a:p>
          <a:p>
            <a:pPr marL="926465" marR="2573020">
              <a:lnSpc>
                <a:spcPct val="134400"/>
              </a:lnSpc>
              <a:spcBef>
                <a:spcPts val="95"/>
              </a:spcBef>
            </a:pPr>
            <a:r>
              <a:rPr sz="1800" spc="-5">
                <a:latin typeface="Arial MT"/>
                <a:cs typeface="Arial MT"/>
              </a:rPr>
              <a:t>product_name </a:t>
            </a:r>
            <a:r>
              <a:rPr sz="1800" spc="-25">
                <a:latin typeface="Arial MT"/>
                <a:cs typeface="Arial MT"/>
              </a:rPr>
              <a:t>VARCHAR </a:t>
            </a:r>
            <a:r>
              <a:rPr sz="1800" spc="-5">
                <a:latin typeface="Arial MT"/>
                <a:cs typeface="Arial MT"/>
              </a:rPr>
              <a:t>(255) NOT NULL, </a:t>
            </a:r>
            <a:r>
              <a:rPr sz="1800" spc="-49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price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DECIMAL</a:t>
            </a:r>
            <a:r>
              <a:rPr sz="1800" spc="-70">
                <a:latin typeface="Arial MT"/>
                <a:cs typeface="Arial MT"/>
              </a:rPr>
              <a:t> </a:t>
            </a:r>
            <a:r>
              <a:rPr sz="1800" spc="-35">
                <a:latin typeface="Arial MT"/>
                <a:cs typeface="Arial MT"/>
              </a:rPr>
              <a:t>(11,</a:t>
            </a:r>
            <a:r>
              <a:rPr sz="1800" spc="-5">
                <a:latin typeface="Arial MT"/>
                <a:cs typeface="Arial MT"/>
              </a:rPr>
              <a:t> 2),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840"/>
              </a:spcBef>
            </a:pPr>
            <a:r>
              <a:rPr sz="1800" spc="-5">
                <a:latin typeface="Arial MT"/>
                <a:cs typeface="Arial MT"/>
              </a:rPr>
              <a:t>group_id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INT</a:t>
            </a:r>
            <a:r>
              <a:rPr sz="1800" spc="-5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NOT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NULL,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20"/>
              </a:spcBef>
            </a:pPr>
            <a:r>
              <a:rPr sz="1800">
                <a:latin typeface="Arial MT"/>
                <a:cs typeface="Arial MT"/>
              </a:rPr>
              <a:t>FOREIGN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KEY</a:t>
            </a:r>
            <a:r>
              <a:rPr sz="1800" spc="-4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(group_id)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REFERENCES</a:t>
            </a:r>
            <a:r>
              <a:rPr sz="180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product_groups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(group_id)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>
                <a:latin typeface="Arial MT"/>
                <a:cs typeface="Arial MT"/>
              </a:rPr>
              <a:t>);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6511" y="2805909"/>
            <a:ext cx="5084000" cy="15438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3635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00"/>
              <a:t> </a:t>
            </a:r>
            <a:r>
              <a:rPr sz="4400" spc="-10"/>
              <a:t>Window</a:t>
            </a:r>
            <a:r>
              <a:rPr sz="4400" spc="-20"/>
              <a:t> </a:t>
            </a:r>
            <a:r>
              <a:rPr sz="4400" spc="-5"/>
              <a:t>Functions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563115"/>
            <a:ext cx="5652135" cy="47440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1046480">
              <a:lnSpc>
                <a:spcPts val="1900"/>
              </a:lnSpc>
              <a:spcBef>
                <a:spcPts val="380"/>
              </a:spcBef>
            </a:pPr>
            <a:r>
              <a:rPr sz="1800" spc="-10">
                <a:latin typeface="Arial MT"/>
                <a:cs typeface="Arial MT"/>
              </a:rPr>
              <a:t>INSERT </a:t>
            </a:r>
            <a:r>
              <a:rPr sz="1800" spc="-15">
                <a:latin typeface="Arial MT"/>
                <a:cs typeface="Arial MT"/>
              </a:rPr>
              <a:t>INTO </a:t>
            </a:r>
            <a:r>
              <a:rPr sz="1800" spc="-5">
                <a:latin typeface="Arial MT"/>
                <a:cs typeface="Arial MT"/>
              </a:rPr>
              <a:t>product_groups (group_name) </a:t>
            </a:r>
            <a:r>
              <a:rPr sz="1800" spc="-490">
                <a:latin typeface="Arial MT"/>
                <a:cs typeface="Arial MT"/>
              </a:rPr>
              <a:t> </a:t>
            </a:r>
            <a:r>
              <a:rPr sz="1800" spc="-25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789"/>
              </a:lnSpc>
            </a:pPr>
            <a:r>
              <a:rPr sz="1800" spc="-5">
                <a:latin typeface="Arial MT"/>
                <a:cs typeface="Arial MT"/>
              </a:rPr>
              <a:t>('Smartphone'),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55"/>
              </a:lnSpc>
            </a:pPr>
            <a:r>
              <a:rPr sz="1800" spc="-5">
                <a:latin typeface="Arial MT"/>
                <a:cs typeface="Arial MT"/>
              </a:rPr>
              <a:t>('Laptop'),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2039"/>
              </a:lnSpc>
            </a:pPr>
            <a:r>
              <a:rPr sz="1800" spc="-25">
                <a:latin typeface="Arial MT"/>
                <a:cs typeface="Arial MT"/>
              </a:rPr>
              <a:t>('Tablet');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ts val="1989"/>
              </a:lnSpc>
            </a:pPr>
            <a:r>
              <a:rPr sz="1800" spc="-10">
                <a:latin typeface="Arial MT"/>
                <a:cs typeface="Arial MT"/>
              </a:rPr>
              <a:t>INSERT INTO </a:t>
            </a:r>
            <a:r>
              <a:rPr sz="1800" spc="-5">
                <a:latin typeface="Arial MT"/>
                <a:cs typeface="Arial MT"/>
              </a:rPr>
              <a:t>products (product_name, group_id,price) </a:t>
            </a:r>
            <a:r>
              <a:rPr sz="1800" spc="-490">
                <a:latin typeface="Arial MT"/>
                <a:cs typeface="Arial MT"/>
              </a:rPr>
              <a:t> </a:t>
            </a:r>
            <a:r>
              <a:rPr sz="1800" spc="-25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800"/>
              </a:lnSpc>
            </a:pPr>
            <a:r>
              <a:rPr sz="1800" spc="-5">
                <a:latin typeface="Arial MT"/>
                <a:cs typeface="Arial MT"/>
              </a:rPr>
              <a:t>('Microsoft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Lumia',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45"/>
              </a:lnSpc>
            </a:pPr>
            <a:r>
              <a:rPr sz="1800" spc="-5">
                <a:latin typeface="Arial MT"/>
                <a:cs typeface="Arial MT"/>
              </a:rPr>
              <a:t>('HTC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One',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400),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895"/>
              </a:lnSpc>
            </a:pPr>
            <a:r>
              <a:rPr sz="1800" spc="-5">
                <a:latin typeface="Arial MT"/>
                <a:cs typeface="Arial MT"/>
              </a:rPr>
              <a:t>('Nexus',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500),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55"/>
              </a:lnSpc>
            </a:pPr>
            <a:r>
              <a:rPr sz="1800" spc="-5">
                <a:latin typeface="Arial MT"/>
                <a:cs typeface="Arial MT"/>
              </a:rPr>
              <a:t>('iPhone',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1,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900),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55"/>
              </a:lnSpc>
            </a:pPr>
            <a:r>
              <a:rPr sz="1800" spc="-5">
                <a:latin typeface="Arial MT"/>
                <a:cs typeface="Arial MT"/>
              </a:rPr>
              <a:t>('HP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Elite',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2,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1200),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45"/>
              </a:lnSpc>
            </a:pPr>
            <a:r>
              <a:rPr sz="1800" spc="-5">
                <a:latin typeface="Arial MT"/>
                <a:cs typeface="Arial MT"/>
              </a:rPr>
              <a:t>('Lenovo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Thinkpad',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2,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700),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45"/>
              </a:lnSpc>
            </a:pPr>
            <a:r>
              <a:rPr sz="1800" spc="-5">
                <a:latin typeface="Arial MT"/>
                <a:cs typeface="Arial MT"/>
              </a:rPr>
              <a:t>('Sony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30">
                <a:latin typeface="Arial MT"/>
                <a:cs typeface="Arial MT"/>
              </a:rPr>
              <a:t>VAIO',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2,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700),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55"/>
              </a:lnSpc>
            </a:pPr>
            <a:r>
              <a:rPr sz="1800" spc="-5">
                <a:latin typeface="Arial MT"/>
                <a:cs typeface="Arial MT"/>
              </a:rPr>
              <a:t>('Dell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20">
                <a:latin typeface="Arial MT"/>
                <a:cs typeface="Arial MT"/>
              </a:rPr>
              <a:t>Vostro',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800),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55"/>
              </a:lnSpc>
            </a:pPr>
            <a:r>
              <a:rPr sz="1800" spc="-5">
                <a:latin typeface="Arial MT"/>
                <a:cs typeface="Arial MT"/>
              </a:rPr>
              <a:t>('iPad',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3,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700),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1945"/>
              </a:lnSpc>
            </a:pPr>
            <a:r>
              <a:rPr sz="1800" spc="-5">
                <a:latin typeface="Arial MT"/>
                <a:cs typeface="Arial MT"/>
              </a:rPr>
              <a:t>('Kindle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Fire',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3,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150),</a:t>
            </a:r>
            <a:endParaRPr sz="1800">
              <a:latin typeface="Arial MT"/>
              <a:cs typeface="Arial MT"/>
            </a:endParaRPr>
          </a:p>
          <a:p>
            <a:pPr marL="926465">
              <a:lnSpc>
                <a:spcPts val="2075"/>
              </a:lnSpc>
            </a:pPr>
            <a:r>
              <a:rPr sz="1800" spc="-5">
                <a:latin typeface="Arial MT"/>
                <a:cs typeface="Arial MT"/>
              </a:rPr>
              <a:t>('Samsung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Galaxy</a:t>
            </a:r>
            <a:r>
              <a:rPr sz="1800" spc="-45">
                <a:latin typeface="Arial MT"/>
                <a:cs typeface="Arial MT"/>
              </a:rPr>
              <a:t> Tab',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3,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200);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9723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Introduction</a:t>
            </a:r>
            <a:r>
              <a:rPr sz="3500"/>
              <a:t> </a:t>
            </a:r>
            <a:r>
              <a:rPr sz="3500" spc="-5"/>
              <a:t>to</a:t>
            </a:r>
            <a:r>
              <a:rPr sz="3500" spc="5"/>
              <a:t> </a:t>
            </a:r>
            <a:r>
              <a:rPr sz="3500" spc="-5"/>
              <a:t>PostgreSQL</a:t>
            </a:r>
            <a:r>
              <a:rPr sz="3500" spc="-60"/>
              <a:t> </a:t>
            </a:r>
            <a:r>
              <a:rPr sz="3500" spc="-5"/>
              <a:t>window</a:t>
            </a:r>
            <a:r>
              <a:rPr sz="3500" spc="5"/>
              <a:t> </a:t>
            </a:r>
            <a:r>
              <a:rPr sz="3500" spc="-5"/>
              <a:t>functions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7565390" cy="410082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 marR="4528185">
              <a:lnSpc>
                <a:spcPts val="4010"/>
              </a:lnSpc>
              <a:spcBef>
                <a:spcPts val="219"/>
              </a:spcBef>
            </a:pPr>
            <a:r>
              <a:rPr sz="2800" spc="5">
                <a:latin typeface="Arial MT"/>
                <a:cs typeface="Arial MT"/>
              </a:rPr>
              <a:t>group_name</a:t>
            </a:r>
            <a:r>
              <a:rPr sz="2800">
                <a:latin typeface="Arial MT"/>
                <a:cs typeface="Arial MT"/>
              </a:rPr>
              <a:t>,  </a:t>
            </a:r>
            <a:r>
              <a:rPr sz="2800" spc="-75">
                <a:latin typeface="Arial MT"/>
                <a:cs typeface="Arial MT"/>
              </a:rPr>
              <a:t>AVG</a:t>
            </a:r>
            <a:r>
              <a:rPr sz="2800" spc="-3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(price)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800">
                <a:latin typeface="Arial MT"/>
                <a:cs typeface="Arial MT"/>
              </a:rPr>
              <a:t>products</a:t>
            </a:r>
          </a:p>
          <a:p>
            <a:pPr marL="12700" marR="5080">
              <a:lnSpc>
                <a:spcPts val="4010"/>
              </a:lnSpc>
              <a:spcBef>
                <a:spcPts val="215"/>
              </a:spcBef>
            </a:pPr>
            <a:r>
              <a:rPr sz="2800" spc="-5">
                <a:latin typeface="Arial MT"/>
                <a:cs typeface="Arial MT"/>
              </a:rPr>
              <a:t>INNER</a:t>
            </a:r>
            <a:r>
              <a:rPr sz="280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JOIN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product_groups </a:t>
            </a:r>
            <a:r>
              <a:rPr sz="2800" spc="-5">
                <a:latin typeface="Arial MT"/>
                <a:cs typeface="Arial MT"/>
              </a:rPr>
              <a:t>USING</a:t>
            </a:r>
            <a:r>
              <a:rPr sz="2800">
                <a:latin typeface="Arial MT"/>
                <a:cs typeface="Arial MT"/>
              </a:rPr>
              <a:t> (group_id) </a:t>
            </a:r>
            <a:r>
              <a:rPr sz="2800" spc="-76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405"/>
              </a:spcBef>
            </a:pPr>
            <a:r>
              <a:rPr sz="2800">
                <a:latin typeface="Arial MT"/>
                <a:cs typeface="Arial MT"/>
              </a:rPr>
              <a:t>group_name;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1157" y="1946645"/>
            <a:ext cx="3814478" cy="11409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9639" y="1708404"/>
            <a:ext cx="5765165" cy="44424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90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13765" marR="3149600">
              <a:lnSpc>
                <a:spcPct val="131000"/>
              </a:lnSpc>
              <a:spcBef>
                <a:spcPts val="50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price, 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group_name,</a:t>
            </a:r>
            <a:endParaRPr sz="2000">
              <a:latin typeface="Arial MT"/>
              <a:cs typeface="Arial MT"/>
            </a:endParaRPr>
          </a:p>
          <a:p>
            <a:pPr marL="1123315" marR="1400175" indent="-209550">
              <a:lnSpc>
                <a:spcPct val="129000"/>
              </a:lnSpc>
              <a:spcBef>
                <a:spcPts val="120"/>
              </a:spcBef>
            </a:pPr>
            <a:r>
              <a:rPr sz="2000" spc="-50">
                <a:latin typeface="Arial MT"/>
                <a:cs typeface="Arial MT"/>
              </a:rPr>
              <a:t>AVG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(price)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>
                <a:latin typeface="Arial MT"/>
                <a:cs typeface="Arial MT"/>
              </a:rPr>
              <a:t> ( 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</a:t>
            </a:r>
            <a:endParaRPr sz="2000">
              <a:latin typeface="Arial MT"/>
              <a:cs typeface="Arial MT"/>
            </a:endParaRPr>
          </a:p>
          <a:p>
            <a:pPr marL="913765">
              <a:lnSpc>
                <a:spcPct val="100000"/>
              </a:lnSpc>
              <a:spcBef>
                <a:spcPts val="790"/>
              </a:spcBef>
            </a:pPr>
            <a:r>
              <a:rPr sz="2000">
                <a:latin typeface="Arial MT"/>
                <a:cs typeface="Arial MT"/>
              </a:rPr>
              <a:t>)</a:t>
            </a: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13765" marR="3403600">
              <a:lnSpc>
                <a:spcPct val="133000"/>
              </a:lnSpc>
              <a:spcBef>
                <a:spcPts val="25"/>
              </a:spcBef>
            </a:pPr>
            <a:r>
              <a:rPr sz="2000" spc="-5">
                <a:latin typeface="Arial MT"/>
                <a:cs typeface="Arial MT"/>
              </a:rPr>
              <a:t>products </a:t>
            </a:r>
            <a:r>
              <a:rPr sz="2000">
                <a:latin typeface="Arial MT"/>
                <a:cs typeface="Arial MT"/>
              </a:rPr>
              <a:t> INNER</a:t>
            </a:r>
            <a:r>
              <a:rPr sz="2000" spc="-9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JOIN</a:t>
            </a:r>
            <a:endParaRPr sz="2000">
              <a:latin typeface="Arial MT"/>
              <a:cs typeface="Arial MT"/>
            </a:endParaRPr>
          </a:p>
          <a:p>
            <a:pPr marL="1828800">
              <a:lnSpc>
                <a:spcPct val="100000"/>
              </a:lnSpc>
              <a:spcBef>
                <a:spcPts val="695"/>
              </a:spcBef>
            </a:pPr>
            <a:r>
              <a:rPr sz="2000" spc="-5">
                <a:latin typeface="Arial MT"/>
                <a:cs typeface="Arial MT"/>
              </a:rPr>
              <a:t>product_groups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5">
                <a:latin typeface="Arial MT"/>
                <a:cs typeface="Arial MT"/>
              </a:rPr>
              <a:t> 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706" y="1498657"/>
            <a:ext cx="5232398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0524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00"/>
              <a:t> </a:t>
            </a:r>
            <a:r>
              <a:rPr sz="4400" spc="-10"/>
              <a:t>Window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318750" cy="31013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430"/>
              </a:spcBef>
            </a:pPr>
            <a:r>
              <a:rPr sz="2500">
                <a:latin typeface="Arial MT"/>
                <a:cs typeface="Arial MT"/>
              </a:rPr>
              <a:t>A </a:t>
            </a:r>
            <a:r>
              <a:rPr sz="2500" b="1" spc="-5">
                <a:latin typeface="Arial"/>
                <a:cs typeface="Arial"/>
              </a:rPr>
              <a:t>window function </a:t>
            </a:r>
            <a:r>
              <a:rPr sz="2500">
                <a:latin typeface="Arial MT"/>
                <a:cs typeface="Arial MT"/>
              </a:rPr>
              <a:t>performs a </a:t>
            </a:r>
            <a:r>
              <a:rPr sz="2500" spc="-5">
                <a:latin typeface="Arial MT"/>
                <a:cs typeface="Arial MT"/>
              </a:rPr>
              <a:t>calculation across </a:t>
            </a:r>
            <a:r>
              <a:rPr sz="2500">
                <a:latin typeface="Arial MT"/>
                <a:cs typeface="Arial MT"/>
              </a:rPr>
              <a:t>a </a:t>
            </a:r>
            <a:r>
              <a:rPr sz="2500" spc="-5">
                <a:latin typeface="Arial MT"/>
                <a:cs typeface="Arial MT"/>
              </a:rPr>
              <a:t>set of table rows that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are</a:t>
            </a:r>
            <a:r>
              <a:rPr sz="2500" spc="-5">
                <a:latin typeface="Arial MT"/>
                <a:cs typeface="Arial MT"/>
              </a:rPr>
              <a:t> somehow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related</a:t>
            </a:r>
            <a:r>
              <a:rPr sz="2500">
                <a:latin typeface="Arial MT"/>
                <a:cs typeface="Arial MT"/>
              </a:rPr>
              <a:t> to the </a:t>
            </a:r>
            <a:r>
              <a:rPr sz="2500" spc="-5">
                <a:latin typeface="Arial MT"/>
                <a:cs typeface="Arial MT"/>
              </a:rPr>
              <a:t>current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40">
                <a:latin typeface="Arial MT"/>
                <a:cs typeface="Arial MT"/>
              </a:rPr>
              <a:t>row.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500" spc="-15">
                <a:latin typeface="Calibri"/>
                <a:cs typeface="Calibri"/>
              </a:rPr>
              <a:t>PostgreSQL </a:t>
            </a:r>
            <a:r>
              <a:rPr sz="2500" spc="-5">
                <a:latin typeface="Calibri"/>
                <a:cs typeface="Calibri"/>
              </a:rPr>
              <a:t>Window</a:t>
            </a:r>
            <a:r>
              <a:rPr sz="2500" spc="-10">
                <a:latin typeface="Calibri"/>
                <a:cs typeface="Calibri"/>
              </a:rPr>
              <a:t> </a:t>
            </a:r>
            <a:r>
              <a:rPr sz="2500" spc="-5">
                <a:latin typeface="Calibri"/>
                <a:cs typeface="Calibri"/>
              </a:rPr>
              <a:t>Function</a:t>
            </a:r>
            <a:r>
              <a:rPr sz="2500" spc="-10">
                <a:latin typeface="Calibri"/>
                <a:cs typeface="Calibri"/>
              </a:rPr>
              <a:t> </a:t>
            </a:r>
            <a:r>
              <a:rPr sz="2500" spc="-20">
                <a:latin typeface="Calibri"/>
                <a:cs typeface="Calibri"/>
              </a:rPr>
              <a:t>Syntax:</a:t>
            </a:r>
            <a:endParaRPr sz="2500">
              <a:latin typeface="Calibri"/>
              <a:cs typeface="Calibri"/>
            </a:endParaRPr>
          </a:p>
          <a:p>
            <a:pPr marL="279400" marR="4757420" indent="-266700">
              <a:lnSpc>
                <a:spcPct val="123200"/>
              </a:lnSpc>
            </a:pPr>
            <a:r>
              <a:rPr sz="2500" spc="-5">
                <a:latin typeface="Arial MT"/>
                <a:cs typeface="Arial MT"/>
              </a:rPr>
              <a:t>window_function(arg1, </a:t>
            </a:r>
            <a:r>
              <a:rPr sz="2500">
                <a:latin typeface="Arial MT"/>
                <a:cs typeface="Arial MT"/>
              </a:rPr>
              <a:t>arg2,..) </a:t>
            </a:r>
            <a:r>
              <a:rPr sz="2500" spc="-5">
                <a:latin typeface="Arial MT"/>
                <a:cs typeface="Arial MT"/>
              </a:rPr>
              <a:t>OVER </a:t>
            </a:r>
            <a:r>
              <a:rPr sz="2500">
                <a:latin typeface="Arial MT"/>
                <a:cs typeface="Arial MT"/>
              </a:rPr>
              <a:t>( 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25">
                <a:latin typeface="Arial MT"/>
                <a:cs typeface="Arial MT"/>
              </a:rPr>
              <a:t>[PARTITION</a:t>
            </a:r>
            <a:r>
              <a:rPr sz="2500" spc="-2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BY</a:t>
            </a:r>
            <a:r>
              <a:rPr sz="2500" spc="-6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partition_expression]</a:t>
            </a:r>
            <a:endParaRPr sz="250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  <a:spcBef>
                <a:spcPts val="720"/>
              </a:spcBef>
            </a:pPr>
            <a:r>
              <a:rPr sz="2500" spc="-5">
                <a:latin typeface="Arial MT"/>
                <a:cs typeface="Arial MT"/>
              </a:rPr>
              <a:t>[ORDER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BY</a:t>
            </a:r>
            <a:r>
              <a:rPr sz="2500" spc="-4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sort_expression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[ASC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|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10">
                <a:latin typeface="Arial MT"/>
                <a:cs typeface="Arial MT"/>
              </a:rPr>
              <a:t>DESC]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[NULLS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{FIRST</a:t>
            </a:r>
            <a:r>
              <a:rPr sz="2500" spc="-4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|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LAST</a:t>
            </a:r>
            <a:r>
              <a:rPr sz="2500" spc="-4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}])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830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/>
              <a:t>Window</a:t>
            </a:r>
            <a:r>
              <a:rPr sz="4400" spc="-75"/>
              <a:t> </a:t>
            </a:r>
            <a:r>
              <a:rPr sz="4400" spc="-5"/>
              <a:t>functions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8418" y="1672596"/>
            <a:ext cx="6350576" cy="4948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63938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30"/>
              <a:t> </a:t>
            </a:r>
            <a:r>
              <a:rPr sz="3500" spc="-5"/>
              <a:t>ROW_NUMBER()</a:t>
            </a:r>
            <a:r>
              <a:rPr sz="3500" spc="-40"/>
              <a:t> </a:t>
            </a:r>
            <a:r>
              <a:rPr sz="3500" spc="-5"/>
              <a:t>function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467611"/>
            <a:ext cx="10156190" cy="4238981"/>
          </a:xfrm>
          <a:prstGeom prst="rect">
            <a:avLst/>
          </a:prstGeom>
        </p:spPr>
        <p:txBody>
          <a:bodyPr vert="horz" wrap="square" lIns="0" tIns="45085" rIns="0" bIns="0" rtlCol="0" anchor="t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>
                <a:latin typeface="Arial MT"/>
                <a:cs typeface="Arial MT"/>
              </a:rPr>
              <a:t>The </a:t>
            </a:r>
            <a:r>
              <a:rPr sz="2000" b="1">
                <a:latin typeface="Arial"/>
                <a:cs typeface="Arial"/>
              </a:rPr>
              <a:t>ROW_NUMBER</a:t>
            </a:r>
            <a:r>
              <a:rPr sz="2000">
                <a:latin typeface="Arial MT"/>
                <a:cs typeface="Arial MT"/>
              </a:rPr>
              <a:t>() </a:t>
            </a:r>
            <a:r>
              <a:rPr lang="en-US" sz="2000" spc="-5">
                <a:latin typeface="Arial MT"/>
                <a:cs typeface="Arial"/>
              </a:rPr>
              <a:t>function </a:t>
            </a:r>
            <a:r>
              <a:rPr lang="en-US" sz="2000">
                <a:latin typeface="Arial MT"/>
                <a:ea typeface="+mn-lt"/>
                <a:cs typeface="+mn-lt"/>
              </a:rPr>
              <a:t>assigns a </a:t>
            </a:r>
            <a:r>
              <a:rPr lang="en-US" sz="2000" spc="-5">
                <a:latin typeface="Arial MT"/>
                <a:ea typeface="+mn-lt"/>
                <a:cs typeface="+mn-lt"/>
              </a:rPr>
              <a:t>sequential number to </a:t>
            </a:r>
            <a:r>
              <a:rPr lang="en-US" sz="2000">
                <a:latin typeface="Arial MT"/>
                <a:ea typeface="+mn-lt"/>
                <a:cs typeface="+mn-lt"/>
              </a:rPr>
              <a:t>each </a:t>
            </a:r>
            <a:r>
              <a:rPr lang="en-US" sz="2000" spc="-5">
                <a:latin typeface="Arial MT"/>
                <a:ea typeface="+mn-lt"/>
                <a:cs typeface="+mn-lt"/>
              </a:rPr>
              <a:t>row </a:t>
            </a:r>
            <a:r>
              <a:rPr lang="en-US" sz="2000">
                <a:latin typeface="Arial MT"/>
                <a:ea typeface="+mn-lt"/>
                <a:cs typeface="+mn-lt"/>
              </a:rPr>
              <a:t>in each </a:t>
            </a:r>
            <a:r>
              <a:rPr lang="en-US" sz="2000" spc="-5">
                <a:latin typeface="Arial MT"/>
                <a:ea typeface="+mn-lt"/>
                <a:cs typeface="+mn-lt"/>
              </a:rPr>
              <a:t>partition.</a:t>
            </a:r>
            <a:r>
              <a:rPr lang="af-ZA" sz="2000" spc="-5">
                <a:latin typeface="Arial MT"/>
                <a:cs typeface="+mn-lt"/>
              </a:rPr>
              <a:t> </a:t>
            </a:r>
            <a:r>
              <a:rPr lang="af-ZA" sz="2000" spc="-545">
                <a:latin typeface="Arial MT"/>
                <a:cs typeface="+mn-lt"/>
              </a:rPr>
              <a:t> </a:t>
            </a:r>
            <a:r>
              <a:rPr lang="af-ZA" sz="2000">
                <a:latin typeface="Arial MT"/>
                <a:cs typeface="+mn-lt"/>
              </a:rPr>
              <a:t>See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following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query: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  <a:spcBef>
                <a:spcPts val="5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7527925">
              <a:lnSpc>
                <a:spcPct val="89500"/>
              </a:lnSpc>
              <a:spcBef>
                <a:spcPts val="140"/>
              </a:spcBef>
            </a:pPr>
            <a:r>
              <a:rPr sz="2000" err="1">
                <a:latin typeface="Arial MT"/>
                <a:cs typeface="Arial MT"/>
              </a:rPr>
              <a:t>p</a:t>
            </a:r>
            <a:r>
              <a:rPr sz="2000" spc="-5" err="1">
                <a:latin typeface="Arial MT"/>
                <a:cs typeface="Arial MT"/>
              </a:rPr>
              <a:t>r</a:t>
            </a:r>
            <a:r>
              <a:rPr sz="2000" err="1">
                <a:latin typeface="Arial MT"/>
                <a:cs typeface="Arial MT"/>
              </a:rPr>
              <a:t>oduc</a:t>
            </a:r>
            <a:r>
              <a:rPr sz="2000" spc="-10" err="1">
                <a:latin typeface="Arial MT"/>
                <a:cs typeface="Arial MT"/>
              </a:rPr>
              <a:t>t</a:t>
            </a:r>
            <a:r>
              <a:rPr sz="2000" err="1">
                <a:latin typeface="Arial MT"/>
                <a:cs typeface="Arial MT"/>
              </a:rPr>
              <a:t>_na</a:t>
            </a:r>
            <a:r>
              <a:rPr sz="2000" spc="-5" err="1">
                <a:latin typeface="Arial MT"/>
                <a:cs typeface="Arial MT"/>
              </a:rPr>
              <a:t>m</a:t>
            </a:r>
            <a:r>
              <a:rPr sz="2000" err="1">
                <a:latin typeface="Arial MT"/>
                <a:cs typeface="Arial MT"/>
              </a:rPr>
              <a:t>e</a:t>
            </a:r>
            <a:r>
              <a:rPr sz="2000">
                <a:latin typeface="Arial MT"/>
                <a:cs typeface="Arial MT"/>
              </a:rPr>
              <a:t>,  </a:t>
            </a:r>
            <a:r>
              <a:rPr sz="2000" spc="-5" err="1">
                <a:latin typeface="Arial MT"/>
                <a:cs typeface="Arial MT"/>
              </a:rPr>
              <a:t>group_name</a:t>
            </a:r>
            <a:r>
              <a:rPr sz="2000" spc="-5">
                <a:latin typeface="Arial MT"/>
                <a:cs typeface="Arial MT"/>
              </a:rPr>
              <a:t>, </a:t>
            </a:r>
            <a:r>
              <a:rPr sz="2000">
                <a:latin typeface="Arial MT"/>
                <a:cs typeface="Arial MT"/>
              </a:rPr>
              <a:t> price,</a:t>
            </a:r>
          </a:p>
          <a:p>
            <a:pPr marL="926465">
              <a:lnSpc>
                <a:spcPts val="2014"/>
              </a:lnSpc>
            </a:pPr>
            <a:r>
              <a:rPr sz="2000" spc="-5">
                <a:latin typeface="Arial MT"/>
                <a:cs typeface="Arial MT"/>
              </a:rPr>
              <a:t>ROW_NUMBER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()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5073650">
              <a:lnSpc>
                <a:spcPts val="2180"/>
              </a:lnSpc>
              <a:spcBef>
                <a:spcPts val="160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 err="1">
                <a:latin typeface="Arial MT"/>
                <a:cs typeface="Arial MT"/>
              </a:rPr>
              <a:t>group_name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2755900">
              <a:lnSpc>
                <a:spcPts val="197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</a:p>
          <a:p>
            <a:pPr marL="12700">
              <a:lnSpc>
                <a:spcPts val="2160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95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</a:t>
            </a:r>
            <a:r>
              <a:rPr sz="2000" spc="-5" err="1">
                <a:latin typeface="Arial MT"/>
                <a:cs typeface="Arial MT"/>
              </a:rPr>
              <a:t>product_groups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</a:t>
            </a:r>
            <a:r>
              <a:rPr sz="2000" spc="-5" err="1">
                <a:latin typeface="Arial MT"/>
                <a:cs typeface="Arial MT"/>
              </a:rPr>
              <a:t>group_id</a:t>
            </a:r>
            <a:r>
              <a:rPr sz="2000" spc="-5">
                <a:latin typeface="Arial MT"/>
                <a:cs typeface="Arial MT"/>
              </a:rPr>
              <a:t>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8600" y="2574925"/>
            <a:ext cx="4775198" cy="2717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4198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30"/>
              <a:t> </a:t>
            </a:r>
            <a:r>
              <a:rPr sz="3500" spc="-5"/>
              <a:t>Rank()</a:t>
            </a:r>
            <a:r>
              <a:rPr sz="3500" spc="-35"/>
              <a:t> </a:t>
            </a:r>
            <a:r>
              <a:rPr sz="3500" spc="-5"/>
              <a:t>function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467611"/>
            <a:ext cx="9843135" cy="417702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  <a:tabLst>
                <a:tab pos="1379220" algn="l"/>
              </a:tabLst>
            </a:pPr>
            <a:r>
              <a:rPr sz="2000">
                <a:latin typeface="Arial MT"/>
                <a:cs typeface="Arial MT"/>
              </a:rPr>
              <a:t>The </a:t>
            </a:r>
            <a:r>
              <a:rPr sz="2000" b="1">
                <a:latin typeface="Arial"/>
                <a:cs typeface="Arial"/>
              </a:rPr>
              <a:t>RANK</a:t>
            </a:r>
            <a:r>
              <a:rPr sz="2000">
                <a:latin typeface="Arial MT"/>
                <a:cs typeface="Arial MT"/>
              </a:rPr>
              <a:t>() </a:t>
            </a:r>
            <a:r>
              <a:rPr sz="2000" spc="-5">
                <a:latin typeface="Arial MT"/>
                <a:cs typeface="Arial MT"/>
              </a:rPr>
              <a:t>function </a:t>
            </a:r>
            <a:r>
              <a:rPr sz="2000">
                <a:latin typeface="Arial MT"/>
                <a:cs typeface="Arial MT"/>
              </a:rPr>
              <a:t>assigns ranking within an </a:t>
            </a:r>
            <a:r>
              <a:rPr sz="2000" spc="-5">
                <a:latin typeface="Arial MT"/>
                <a:cs typeface="Arial MT"/>
              </a:rPr>
              <a:t>ordered partition. If </a:t>
            </a:r>
            <a:r>
              <a:rPr sz="2000">
                <a:latin typeface="Arial MT"/>
                <a:cs typeface="Arial MT"/>
              </a:rPr>
              <a:t>rows have </a:t>
            </a:r>
            <a:r>
              <a:rPr sz="2000" spc="-5">
                <a:latin typeface="Arial MT"/>
                <a:cs typeface="Arial MT"/>
              </a:rPr>
              <a:t>the same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values,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	</a:t>
            </a:r>
            <a:r>
              <a:rPr sz="2000">
                <a:latin typeface="Arial MT"/>
                <a:cs typeface="Arial MT"/>
              </a:rPr>
              <a:t>RANK()</a:t>
            </a:r>
            <a:r>
              <a:rPr sz="2000" spc="-5">
                <a:latin typeface="Arial MT"/>
                <a:cs typeface="Arial MT"/>
              </a:rPr>
              <a:t> function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assigns</a:t>
            </a:r>
            <a:r>
              <a:rPr sz="2000" spc="-5">
                <a:latin typeface="Arial MT"/>
                <a:cs typeface="Arial MT"/>
              </a:rPr>
              <a:t> 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same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rank,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with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 </a:t>
            </a:r>
            <a:r>
              <a:rPr sz="2000">
                <a:latin typeface="Arial MT"/>
                <a:cs typeface="Arial MT"/>
              </a:rPr>
              <a:t>next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ranking(s) </a:t>
            </a:r>
            <a:r>
              <a:rPr sz="2000">
                <a:latin typeface="Arial MT"/>
                <a:cs typeface="Arial MT"/>
              </a:rPr>
              <a:t>skipped.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  <a:spcBef>
                <a:spcPts val="5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7215505">
              <a:lnSpc>
                <a:spcPts val="2110"/>
              </a:lnSpc>
              <a:spcBef>
                <a:spcPts val="200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</a:t>
            </a:r>
            <a:r>
              <a:rPr sz="2000" spc="-5">
                <a:latin typeface="Arial MT"/>
                <a:cs typeface="Arial MT"/>
              </a:rPr>
              <a:t>group_name,</a:t>
            </a:r>
            <a:endParaRPr sz="2000">
              <a:latin typeface="Arial MT"/>
              <a:cs typeface="Arial MT"/>
            </a:endParaRPr>
          </a:p>
          <a:p>
            <a:pPr marL="152400">
              <a:lnSpc>
                <a:spcPts val="2020"/>
              </a:lnSpc>
            </a:pPr>
            <a:r>
              <a:rPr sz="2000">
                <a:latin typeface="Arial MT"/>
                <a:cs typeface="Arial MT"/>
              </a:rPr>
              <a:t>price,</a:t>
            </a:r>
          </a:p>
          <a:p>
            <a:pPr marL="926465">
              <a:lnSpc>
                <a:spcPts val="2160"/>
              </a:lnSpc>
            </a:pPr>
            <a:r>
              <a:rPr sz="2000">
                <a:latin typeface="Arial MT"/>
                <a:cs typeface="Arial MT"/>
              </a:rPr>
              <a:t>RANK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()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4759960">
              <a:lnSpc>
                <a:spcPts val="2180"/>
              </a:lnSpc>
              <a:spcBef>
                <a:spcPts val="160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2755900">
              <a:lnSpc>
                <a:spcPts val="197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</a:p>
          <a:p>
            <a:pPr marL="12700">
              <a:lnSpc>
                <a:spcPts val="2160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95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product_groups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4800" y="2809979"/>
            <a:ext cx="4368798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56349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10"/>
              <a:t> </a:t>
            </a:r>
            <a:r>
              <a:rPr sz="3500" spc="-5"/>
              <a:t>Dense_rank()</a:t>
            </a:r>
            <a:r>
              <a:rPr sz="3500" spc="-10"/>
              <a:t> </a:t>
            </a:r>
            <a:r>
              <a:rPr sz="3500" spc="-5"/>
              <a:t>function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467611"/>
            <a:ext cx="10074910" cy="44450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50"/>
              </a:spcBef>
            </a:pPr>
            <a:r>
              <a:rPr sz="2000">
                <a:latin typeface="Arial MT"/>
                <a:cs typeface="Arial MT"/>
              </a:rPr>
              <a:t>Similar </a:t>
            </a:r>
            <a:r>
              <a:rPr sz="2000" spc="-5">
                <a:latin typeface="Arial MT"/>
                <a:cs typeface="Arial MT"/>
              </a:rPr>
              <a:t>to the </a:t>
            </a:r>
            <a:r>
              <a:rPr sz="2000">
                <a:latin typeface="Arial MT"/>
                <a:cs typeface="Arial MT"/>
              </a:rPr>
              <a:t>RANK() </a:t>
            </a:r>
            <a:r>
              <a:rPr sz="2000" spc="-5">
                <a:latin typeface="Arial MT"/>
                <a:cs typeface="Arial MT"/>
              </a:rPr>
              <a:t>function, the </a:t>
            </a:r>
            <a:r>
              <a:rPr sz="2000" b="1">
                <a:latin typeface="Arial"/>
                <a:cs typeface="Arial"/>
              </a:rPr>
              <a:t>DENSE_RANK</a:t>
            </a:r>
            <a:r>
              <a:rPr sz="2000">
                <a:latin typeface="Arial MT"/>
                <a:cs typeface="Arial MT"/>
              </a:rPr>
              <a:t>() </a:t>
            </a:r>
            <a:r>
              <a:rPr sz="2000" spc="-5">
                <a:latin typeface="Arial MT"/>
                <a:cs typeface="Arial MT"/>
              </a:rPr>
              <a:t>function </a:t>
            </a:r>
            <a:r>
              <a:rPr sz="2000">
                <a:latin typeface="Arial MT"/>
                <a:cs typeface="Arial MT"/>
              </a:rPr>
              <a:t>assigns a </a:t>
            </a:r>
            <a:r>
              <a:rPr sz="2000" spc="-5">
                <a:latin typeface="Arial MT"/>
                <a:cs typeface="Arial MT"/>
              </a:rPr>
              <a:t>rank to </a:t>
            </a:r>
            <a:r>
              <a:rPr sz="2000">
                <a:latin typeface="Arial MT"/>
                <a:cs typeface="Arial MT"/>
              </a:rPr>
              <a:t>each </a:t>
            </a:r>
            <a:r>
              <a:rPr sz="2000" spc="-5">
                <a:latin typeface="Arial MT"/>
                <a:cs typeface="Arial MT"/>
              </a:rPr>
              <a:t>row </a:t>
            </a:r>
            <a:r>
              <a:rPr sz="2000">
                <a:latin typeface="Arial MT"/>
                <a:cs typeface="Arial MT"/>
              </a:rPr>
              <a:t> within an </a:t>
            </a:r>
            <a:r>
              <a:rPr sz="2000" spc="-5">
                <a:latin typeface="Arial MT"/>
                <a:cs typeface="Arial MT"/>
              </a:rPr>
              <a:t>ordered partition, </a:t>
            </a:r>
            <a:r>
              <a:rPr sz="2000">
                <a:latin typeface="Arial MT"/>
                <a:cs typeface="Arial MT"/>
              </a:rPr>
              <a:t>but </a:t>
            </a:r>
            <a:r>
              <a:rPr sz="2000" spc="-5">
                <a:latin typeface="Arial MT"/>
                <a:cs typeface="Arial MT"/>
              </a:rPr>
              <a:t>the ranks </a:t>
            </a:r>
            <a:r>
              <a:rPr sz="2000">
                <a:latin typeface="Arial MT"/>
                <a:cs typeface="Arial MT"/>
              </a:rPr>
              <a:t>have no gap. </a:t>
            </a:r>
            <a:r>
              <a:rPr sz="2000" spc="-5">
                <a:latin typeface="Arial MT"/>
                <a:cs typeface="Arial MT"/>
              </a:rPr>
              <a:t>In other </a:t>
            </a:r>
            <a:r>
              <a:rPr sz="2000">
                <a:latin typeface="Arial MT"/>
                <a:cs typeface="Arial MT"/>
              </a:rPr>
              <a:t>words, </a:t>
            </a:r>
            <a:r>
              <a:rPr sz="2000" spc="-5">
                <a:latin typeface="Arial MT"/>
                <a:cs typeface="Arial MT"/>
              </a:rPr>
              <a:t>the same ranks are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assigned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to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multiple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rows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and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no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ranks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are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skipped.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ts val="2255"/>
              </a:lnSpc>
              <a:spcBef>
                <a:spcPts val="5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7446009">
              <a:lnSpc>
                <a:spcPct val="89500"/>
              </a:lnSpc>
              <a:spcBef>
                <a:spcPts val="105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</a:t>
            </a:r>
            <a:r>
              <a:rPr sz="2000" spc="-5">
                <a:latin typeface="Arial MT"/>
                <a:cs typeface="Arial MT"/>
              </a:rPr>
              <a:t>group_name, </a:t>
            </a:r>
            <a:r>
              <a:rPr sz="2000">
                <a:latin typeface="Arial MT"/>
                <a:cs typeface="Arial MT"/>
              </a:rPr>
              <a:t> price,</a:t>
            </a:r>
          </a:p>
          <a:p>
            <a:pPr marL="926465">
              <a:lnSpc>
                <a:spcPts val="2100"/>
              </a:lnSpc>
            </a:pPr>
            <a:r>
              <a:rPr sz="2000">
                <a:latin typeface="Arial MT"/>
                <a:cs typeface="Arial MT"/>
              </a:rPr>
              <a:t>DENSE_RANK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()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4991735">
              <a:lnSpc>
                <a:spcPts val="2110"/>
              </a:lnSpc>
              <a:spcBef>
                <a:spcPts val="204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2755900">
              <a:lnSpc>
                <a:spcPts val="202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60"/>
              </a:lnSpc>
            </a:pPr>
            <a:r>
              <a:rPr sz="2000">
                <a:latin typeface="Arial MT"/>
                <a:cs typeface="Arial MT"/>
              </a:rPr>
              <a:t>)</a:t>
            </a:r>
          </a:p>
          <a:p>
            <a:pPr marL="12700">
              <a:lnSpc>
                <a:spcPts val="2195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50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55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product_groups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000" y="2809979"/>
            <a:ext cx="4749800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61163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25"/>
              <a:t> FIRST_VALUE()</a:t>
            </a:r>
            <a:r>
              <a:rPr sz="3500" spc="-30"/>
              <a:t> </a:t>
            </a:r>
            <a:r>
              <a:rPr sz="3500" spc="-5"/>
              <a:t>function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467611"/>
            <a:ext cx="9614535" cy="417702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>
                <a:latin typeface="Arial MT"/>
                <a:cs typeface="Arial MT"/>
              </a:rPr>
              <a:t>The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 b="1" spc="-15">
                <a:latin typeface="Arial"/>
                <a:cs typeface="Arial"/>
              </a:rPr>
              <a:t>FIRST_VALUE</a:t>
            </a:r>
            <a:r>
              <a:rPr sz="2000" spc="-15">
                <a:latin typeface="Arial MT"/>
                <a:cs typeface="Arial MT"/>
              </a:rPr>
              <a:t>()</a:t>
            </a:r>
            <a:r>
              <a:rPr sz="2000" spc="-5">
                <a:latin typeface="Arial MT"/>
                <a:cs typeface="Arial MT"/>
              </a:rPr>
              <a:t> function</a:t>
            </a:r>
            <a:r>
              <a:rPr sz="200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returns </a:t>
            </a:r>
            <a:r>
              <a:rPr sz="2000">
                <a:latin typeface="Arial MT"/>
                <a:cs typeface="Arial MT"/>
              </a:rPr>
              <a:t>a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value </a:t>
            </a:r>
            <a:r>
              <a:rPr sz="2000" spc="-5">
                <a:latin typeface="Arial MT"/>
                <a:cs typeface="Arial MT"/>
              </a:rPr>
              <a:t>evaluated </a:t>
            </a:r>
            <a:r>
              <a:rPr sz="2000">
                <a:latin typeface="Arial MT"/>
                <a:cs typeface="Arial MT"/>
              </a:rPr>
              <a:t>against</a:t>
            </a:r>
            <a:r>
              <a:rPr sz="2000" spc="-5">
                <a:latin typeface="Arial MT"/>
                <a:cs typeface="Arial MT"/>
              </a:rPr>
              <a:t> the first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row</a:t>
            </a:r>
            <a:r>
              <a:rPr sz="2000" spc="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within</a:t>
            </a:r>
            <a:r>
              <a:rPr sz="2000" spc="-5">
                <a:latin typeface="Arial MT"/>
                <a:cs typeface="Arial MT"/>
              </a:rPr>
              <a:t> its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partition.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  <a:spcBef>
                <a:spcPts val="5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6986270">
              <a:lnSpc>
                <a:spcPct val="89500"/>
              </a:lnSpc>
              <a:spcBef>
                <a:spcPts val="140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</a:t>
            </a:r>
            <a:r>
              <a:rPr sz="2000" spc="-5">
                <a:latin typeface="Arial MT"/>
                <a:cs typeface="Arial MT"/>
              </a:rPr>
              <a:t>group_name, </a:t>
            </a:r>
            <a:r>
              <a:rPr sz="2000">
                <a:latin typeface="Arial MT"/>
                <a:cs typeface="Arial MT"/>
              </a:rPr>
              <a:t> price,</a:t>
            </a:r>
          </a:p>
          <a:p>
            <a:pPr marL="926465">
              <a:lnSpc>
                <a:spcPts val="2014"/>
              </a:lnSpc>
            </a:pPr>
            <a:r>
              <a:rPr sz="2000" spc="-15">
                <a:latin typeface="Arial MT"/>
                <a:cs typeface="Arial MT"/>
              </a:rPr>
              <a:t>FIRST_VALUE </a:t>
            </a:r>
            <a:r>
              <a:rPr sz="2000" spc="-5">
                <a:latin typeface="Arial MT"/>
                <a:cs typeface="Arial MT"/>
              </a:rPr>
              <a:t>(price)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4531360">
              <a:lnSpc>
                <a:spcPts val="2180"/>
              </a:lnSpc>
              <a:spcBef>
                <a:spcPts val="160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2755900">
              <a:lnSpc>
                <a:spcPts val="197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  <a:r>
              <a:rPr sz="2000" spc="-1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</a:t>
            </a:r>
            <a:r>
              <a:rPr sz="2000" spc="-5">
                <a:latin typeface="Arial MT"/>
                <a:cs typeface="Arial MT"/>
              </a:rPr>
              <a:t> lowest_price_per_group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60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95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product_groups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6402" y="2347934"/>
            <a:ext cx="5435600" cy="27558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59931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35"/>
              <a:t> </a:t>
            </a:r>
            <a:r>
              <a:rPr sz="3500" spc="-25"/>
              <a:t>LAST_VALUE()</a:t>
            </a:r>
            <a:r>
              <a:rPr sz="3500" spc="-40"/>
              <a:t> </a:t>
            </a:r>
            <a:r>
              <a:rPr sz="3500" spc="-5"/>
              <a:t>function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467611"/>
            <a:ext cx="10123170" cy="389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latin typeface="Arial MT"/>
                <a:cs typeface="Arial MT"/>
              </a:rPr>
              <a:t>The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 b="1" spc="-15">
                <a:latin typeface="Arial"/>
                <a:cs typeface="Arial"/>
              </a:rPr>
              <a:t>LAST_VALUE</a:t>
            </a:r>
            <a:r>
              <a:rPr sz="2000" spc="-15">
                <a:latin typeface="Arial MT"/>
                <a:cs typeface="Arial MT"/>
              </a:rPr>
              <a:t>()</a:t>
            </a:r>
            <a:r>
              <a:rPr sz="200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function returns</a:t>
            </a:r>
            <a:r>
              <a:rPr sz="2000">
                <a:latin typeface="Arial MT"/>
                <a:cs typeface="Arial MT"/>
              </a:rPr>
              <a:t> a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value </a:t>
            </a:r>
            <a:r>
              <a:rPr sz="2000" spc="-5">
                <a:latin typeface="Arial MT"/>
                <a:cs typeface="Arial MT"/>
              </a:rPr>
              <a:t>evaluated </a:t>
            </a:r>
            <a:r>
              <a:rPr sz="2000">
                <a:latin typeface="Arial MT"/>
                <a:cs typeface="Arial MT"/>
              </a:rPr>
              <a:t>against</a:t>
            </a:r>
            <a:r>
              <a:rPr sz="2000" spc="-5">
                <a:latin typeface="Arial MT"/>
                <a:cs typeface="Arial MT"/>
              </a:rPr>
              <a:t> the</a:t>
            </a:r>
            <a:r>
              <a:rPr sz="2000">
                <a:latin typeface="Arial MT"/>
                <a:cs typeface="Arial MT"/>
              </a:rPr>
              <a:t> last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row</a:t>
            </a:r>
            <a:r>
              <a:rPr sz="2000" spc="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in</a:t>
            </a:r>
            <a:r>
              <a:rPr sz="2000" spc="-5">
                <a:latin typeface="Arial MT"/>
                <a:cs typeface="Arial MT"/>
              </a:rPr>
              <a:t> its</a:t>
            </a:r>
            <a:r>
              <a:rPr sz="200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partition.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ts val="2305"/>
              </a:lnSpc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7494905">
              <a:lnSpc>
                <a:spcPct val="89500"/>
              </a:lnSpc>
              <a:spcBef>
                <a:spcPts val="155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</a:t>
            </a:r>
            <a:r>
              <a:rPr sz="2000" spc="-5">
                <a:latin typeface="Arial MT"/>
                <a:cs typeface="Arial MT"/>
              </a:rPr>
              <a:t>group_name, </a:t>
            </a:r>
            <a:r>
              <a:rPr sz="2000">
                <a:latin typeface="Arial MT"/>
                <a:cs typeface="Arial MT"/>
              </a:rPr>
              <a:t> price,</a:t>
            </a:r>
          </a:p>
          <a:p>
            <a:pPr marL="926465">
              <a:lnSpc>
                <a:spcPts val="2039"/>
              </a:lnSpc>
            </a:pPr>
            <a:r>
              <a:rPr sz="2000" spc="-15">
                <a:latin typeface="Arial MT"/>
                <a:cs typeface="Arial MT"/>
              </a:rPr>
              <a:t>LAST_VALUE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(price)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5040630">
              <a:lnSpc>
                <a:spcPts val="2210"/>
              </a:lnSpc>
              <a:spcBef>
                <a:spcPts val="90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2755900">
              <a:lnSpc>
                <a:spcPts val="1995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  <a:r>
              <a:rPr sz="2000" spc="-1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</a:t>
            </a:r>
            <a:r>
              <a:rPr sz="2000" spc="-5">
                <a:latin typeface="Arial MT"/>
                <a:cs typeface="Arial MT"/>
              </a:rPr>
              <a:t> highest_price_per_group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50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60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05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product_groups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5206" y="2363190"/>
            <a:ext cx="5511492" cy="26495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8524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The</a:t>
            </a:r>
            <a:r>
              <a:rPr sz="4400" spc="-15"/>
              <a:t> </a:t>
            </a:r>
            <a:r>
              <a:rPr sz="4400" spc="-5"/>
              <a:t>LAG</a:t>
            </a:r>
            <a:r>
              <a:rPr sz="4400" spc="-10"/>
              <a:t> </a:t>
            </a:r>
            <a:r>
              <a:rPr sz="4400"/>
              <a:t>and</a:t>
            </a:r>
            <a:r>
              <a:rPr sz="4400" spc="-20"/>
              <a:t> </a:t>
            </a:r>
            <a:r>
              <a:rPr sz="4400" spc="-5"/>
              <a:t>LEAD</a:t>
            </a:r>
            <a:r>
              <a:rPr sz="4400" spc="-15"/>
              <a:t> </a:t>
            </a:r>
            <a:r>
              <a:rPr sz="4400" spc="-5"/>
              <a:t>functions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8988"/>
            <a:ext cx="10335895" cy="38963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246379">
              <a:lnSpc>
                <a:spcPts val="2180"/>
              </a:lnSpc>
              <a:spcBef>
                <a:spcPts val="355"/>
              </a:spcBef>
            </a:pPr>
            <a:r>
              <a:rPr sz="2000">
                <a:latin typeface="Arial MT"/>
                <a:cs typeface="Arial MT"/>
              </a:rPr>
              <a:t>The </a:t>
            </a:r>
            <a:r>
              <a:rPr sz="2000" b="1" spc="-5">
                <a:latin typeface="Arial"/>
                <a:cs typeface="Arial"/>
              </a:rPr>
              <a:t>LAG</a:t>
            </a:r>
            <a:r>
              <a:rPr sz="2000" spc="-5">
                <a:latin typeface="Arial MT"/>
                <a:cs typeface="Arial MT"/>
              </a:rPr>
              <a:t>() function </a:t>
            </a:r>
            <a:r>
              <a:rPr sz="2000">
                <a:latin typeface="Arial MT"/>
                <a:cs typeface="Arial MT"/>
              </a:rPr>
              <a:t>has </a:t>
            </a:r>
            <a:r>
              <a:rPr sz="2000" spc="-5">
                <a:latin typeface="Arial MT"/>
                <a:cs typeface="Arial MT"/>
              </a:rPr>
              <a:t>the </a:t>
            </a:r>
            <a:r>
              <a:rPr sz="2000">
                <a:latin typeface="Arial MT"/>
                <a:cs typeface="Arial MT"/>
              </a:rPr>
              <a:t>ability </a:t>
            </a:r>
            <a:r>
              <a:rPr sz="2000" spc="-5">
                <a:latin typeface="Arial MT"/>
                <a:cs typeface="Arial MT"/>
              </a:rPr>
              <a:t>to </a:t>
            </a:r>
            <a:r>
              <a:rPr sz="2000">
                <a:latin typeface="Arial MT"/>
                <a:cs typeface="Arial MT"/>
              </a:rPr>
              <a:t>access </a:t>
            </a:r>
            <a:r>
              <a:rPr sz="2000" spc="-5">
                <a:latin typeface="Arial MT"/>
                <a:cs typeface="Arial MT"/>
              </a:rPr>
              <a:t>data from the </a:t>
            </a:r>
            <a:r>
              <a:rPr sz="2000">
                <a:latin typeface="Arial MT"/>
                <a:cs typeface="Arial MT"/>
              </a:rPr>
              <a:t>previous </a:t>
            </a:r>
            <a:r>
              <a:rPr sz="2000" spc="-30">
                <a:latin typeface="Arial MT"/>
                <a:cs typeface="Arial MT"/>
              </a:rPr>
              <a:t>row, </a:t>
            </a:r>
            <a:r>
              <a:rPr sz="2000">
                <a:latin typeface="Arial MT"/>
                <a:cs typeface="Arial MT"/>
              </a:rPr>
              <a:t>while </a:t>
            </a:r>
            <a:r>
              <a:rPr sz="2000" spc="-5">
                <a:latin typeface="Arial MT"/>
                <a:cs typeface="Arial MT"/>
              </a:rPr>
              <a:t>the </a:t>
            </a:r>
            <a:r>
              <a:rPr sz="2000" b="1" spc="-5">
                <a:latin typeface="Arial"/>
                <a:cs typeface="Arial"/>
              </a:rPr>
              <a:t>LEAD</a:t>
            </a:r>
            <a:r>
              <a:rPr sz="2000" spc="-5">
                <a:latin typeface="Arial MT"/>
                <a:cs typeface="Arial MT"/>
              </a:rPr>
              <a:t>()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function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can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access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data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from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next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30">
                <a:latin typeface="Arial MT"/>
                <a:cs typeface="Arial MT"/>
              </a:rPr>
              <a:t>row.</a:t>
            </a:r>
            <a:endParaRPr sz="2000">
              <a:latin typeface="Arial MT"/>
              <a:cs typeface="Arial MT"/>
            </a:endParaRPr>
          </a:p>
          <a:p>
            <a:pPr marL="12700" marR="2771140">
              <a:lnSpc>
                <a:spcPts val="4320"/>
              </a:lnSpc>
              <a:spcBef>
                <a:spcPts val="405"/>
              </a:spcBef>
              <a:tabLst>
                <a:tab pos="659765" algn="l"/>
              </a:tabLst>
            </a:pPr>
            <a:r>
              <a:rPr sz="2000" spc="-5">
                <a:latin typeface="Arial MT"/>
                <a:cs typeface="Arial MT"/>
              </a:rPr>
              <a:t>Both LAG() </a:t>
            </a:r>
            <a:r>
              <a:rPr sz="2000">
                <a:latin typeface="Arial MT"/>
                <a:cs typeface="Arial MT"/>
              </a:rPr>
              <a:t>and LEAD() </a:t>
            </a:r>
            <a:r>
              <a:rPr sz="2000" spc="-5">
                <a:latin typeface="Arial MT"/>
                <a:cs typeface="Arial MT"/>
              </a:rPr>
              <a:t>functions </a:t>
            </a:r>
            <a:r>
              <a:rPr sz="2000">
                <a:latin typeface="Arial MT"/>
                <a:cs typeface="Arial MT"/>
              </a:rPr>
              <a:t>have </a:t>
            </a:r>
            <a:r>
              <a:rPr sz="2000" spc="-5">
                <a:latin typeface="Arial MT"/>
                <a:cs typeface="Arial MT"/>
              </a:rPr>
              <a:t>the same syntax </a:t>
            </a:r>
            <a:r>
              <a:rPr sz="2000">
                <a:latin typeface="Arial MT"/>
                <a:cs typeface="Arial MT"/>
              </a:rPr>
              <a:t>as follows: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LAG	</a:t>
            </a:r>
            <a:r>
              <a:rPr sz="2000" spc="-5">
                <a:latin typeface="Arial MT"/>
                <a:cs typeface="Arial MT"/>
              </a:rPr>
              <a:t>(expression</a:t>
            </a:r>
            <a:r>
              <a:rPr sz="2000" spc="-10">
                <a:latin typeface="Arial MT"/>
                <a:cs typeface="Arial MT"/>
              </a:rPr>
              <a:t> [,offset]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[,default])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over_clause;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1720"/>
              </a:lnSpc>
            </a:pPr>
            <a:r>
              <a:rPr sz="2000">
                <a:latin typeface="Arial MT"/>
                <a:cs typeface="Arial MT"/>
              </a:rPr>
              <a:t>LEAD </a:t>
            </a:r>
            <a:r>
              <a:rPr sz="2000" spc="-5">
                <a:latin typeface="Arial MT"/>
                <a:cs typeface="Arial MT"/>
              </a:rPr>
              <a:t>(expression </a:t>
            </a:r>
            <a:r>
              <a:rPr sz="2000" spc="-10">
                <a:latin typeface="Arial MT"/>
                <a:cs typeface="Arial MT"/>
              </a:rPr>
              <a:t>[,offset] </a:t>
            </a:r>
            <a:r>
              <a:rPr sz="2000" spc="-5">
                <a:latin typeface="Arial MT"/>
                <a:cs typeface="Arial MT"/>
              </a:rPr>
              <a:t>[,default])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over_clause;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ts val="2305"/>
              </a:lnSpc>
            </a:pPr>
            <a:r>
              <a:rPr sz="2000" spc="-5">
                <a:latin typeface="Arial MT"/>
                <a:cs typeface="Arial MT"/>
              </a:rPr>
              <a:t>In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this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syntax:</a:t>
            </a:r>
            <a:endParaRPr sz="2000">
              <a:latin typeface="Arial MT"/>
              <a:cs typeface="Arial MT"/>
            </a:endParaRPr>
          </a:p>
          <a:p>
            <a:pPr marL="166370" indent="-154305">
              <a:lnSpc>
                <a:spcPts val="2160"/>
              </a:lnSpc>
              <a:buChar char="-"/>
              <a:tabLst>
                <a:tab pos="167005" algn="l"/>
              </a:tabLst>
            </a:pPr>
            <a:r>
              <a:rPr sz="2000">
                <a:latin typeface="Arial MT"/>
                <a:cs typeface="Arial MT"/>
              </a:rPr>
              <a:t>expression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–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column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expression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to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compute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returned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value.</a:t>
            </a:r>
          </a:p>
          <a:p>
            <a:pPr marL="12700" marR="5080">
              <a:lnSpc>
                <a:spcPts val="2180"/>
              </a:lnSpc>
              <a:spcBef>
                <a:spcPts val="115"/>
              </a:spcBef>
              <a:buChar char="-"/>
              <a:tabLst>
                <a:tab pos="167005" algn="l"/>
              </a:tabLst>
            </a:pPr>
            <a:r>
              <a:rPr sz="2000" spc="-10">
                <a:latin typeface="Arial MT"/>
                <a:cs typeface="Arial MT"/>
              </a:rPr>
              <a:t>offset </a:t>
            </a:r>
            <a:r>
              <a:rPr sz="2000">
                <a:latin typeface="Arial MT"/>
                <a:cs typeface="Arial MT"/>
              </a:rPr>
              <a:t>– </a:t>
            </a:r>
            <a:r>
              <a:rPr sz="2000" spc="-5">
                <a:latin typeface="Arial MT"/>
                <a:cs typeface="Arial MT"/>
              </a:rPr>
              <a:t>the number </a:t>
            </a:r>
            <a:r>
              <a:rPr sz="2000">
                <a:latin typeface="Arial MT"/>
                <a:cs typeface="Arial MT"/>
              </a:rPr>
              <a:t>of rows preceding ( </a:t>
            </a:r>
            <a:r>
              <a:rPr sz="2000" spc="-5">
                <a:latin typeface="Arial MT"/>
                <a:cs typeface="Arial MT"/>
              </a:rPr>
              <a:t>LAG)/ </a:t>
            </a:r>
            <a:r>
              <a:rPr sz="2000">
                <a:latin typeface="Arial MT"/>
                <a:cs typeface="Arial MT"/>
              </a:rPr>
              <a:t>following ( LEAD) </a:t>
            </a:r>
            <a:r>
              <a:rPr sz="2000" spc="-5">
                <a:latin typeface="Arial MT"/>
                <a:cs typeface="Arial MT"/>
              </a:rPr>
              <a:t>the current </a:t>
            </a:r>
            <a:r>
              <a:rPr sz="2000" spc="-30">
                <a:latin typeface="Arial MT"/>
                <a:cs typeface="Arial MT"/>
              </a:rPr>
              <a:t>row. </a:t>
            </a:r>
            <a:r>
              <a:rPr sz="2000" spc="-5">
                <a:latin typeface="Arial MT"/>
                <a:cs typeface="Arial MT"/>
              </a:rPr>
              <a:t>It defaults </a:t>
            </a:r>
            <a:r>
              <a:rPr sz="2000" spc="-54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to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1.</a:t>
            </a:r>
            <a:endParaRPr sz="2000">
              <a:latin typeface="Arial MT"/>
              <a:cs typeface="Arial MT"/>
            </a:endParaRPr>
          </a:p>
          <a:p>
            <a:pPr marL="166370" indent="-154305">
              <a:lnSpc>
                <a:spcPts val="1970"/>
              </a:lnSpc>
              <a:buChar char="-"/>
              <a:tabLst>
                <a:tab pos="167005" algn="l"/>
              </a:tabLst>
            </a:pPr>
            <a:r>
              <a:rPr sz="2000" spc="-5">
                <a:latin typeface="Arial MT"/>
                <a:cs typeface="Arial MT"/>
              </a:rPr>
              <a:t>default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–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default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returned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value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if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offset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goes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beyond</a:t>
            </a:r>
            <a:r>
              <a:rPr sz="2000" spc="-5">
                <a:latin typeface="Arial MT"/>
                <a:cs typeface="Arial MT"/>
              </a:rPr>
              <a:t> 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scope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of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15">
                <a:latin typeface="Arial MT"/>
                <a:cs typeface="Arial MT"/>
              </a:rPr>
              <a:t>window.</a:t>
            </a:r>
            <a:r>
              <a:rPr sz="2000" spc="-5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The</a:t>
            </a:r>
          </a:p>
          <a:p>
            <a:pPr marL="12700">
              <a:lnSpc>
                <a:spcPts val="2290"/>
              </a:lnSpc>
            </a:pPr>
            <a:r>
              <a:rPr sz="2000" spc="-5">
                <a:latin typeface="Arial MT"/>
                <a:cs typeface="Arial MT"/>
              </a:rPr>
              <a:t>default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is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NULL</a:t>
            </a:r>
            <a:r>
              <a:rPr sz="2000" spc="-8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if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you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skip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it.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59537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10"/>
              <a:t> </a:t>
            </a:r>
            <a:r>
              <a:rPr sz="3500" spc="-5"/>
              <a:t>LAG()</a:t>
            </a:r>
            <a:r>
              <a:rPr sz="3500" spc="-15"/>
              <a:t> </a:t>
            </a:r>
            <a:r>
              <a:rPr sz="3500" spc="-5"/>
              <a:t>function</a:t>
            </a:r>
            <a:r>
              <a:rPr sz="3500" spc="-10"/>
              <a:t> </a:t>
            </a:r>
            <a:r>
              <a:rPr sz="3500" spc="-5"/>
              <a:t>example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626108"/>
            <a:ext cx="5471160" cy="471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55"/>
              </a:lnSpc>
              <a:spcBef>
                <a:spcPts val="100"/>
              </a:spcBef>
            </a:pPr>
            <a:r>
              <a:rPr sz="2000">
                <a:latin typeface="Arial MT"/>
                <a:cs typeface="Arial MT"/>
              </a:rPr>
              <a:t>SELECT</a:t>
            </a:r>
          </a:p>
          <a:p>
            <a:pPr marL="926465" marR="2842895">
              <a:lnSpc>
                <a:spcPct val="91500"/>
              </a:lnSpc>
              <a:spcBef>
                <a:spcPts val="60"/>
              </a:spcBef>
            </a:pPr>
            <a:r>
              <a:rPr sz="2000">
                <a:latin typeface="Arial MT"/>
                <a:cs typeface="Arial MT"/>
              </a:rPr>
              <a:t>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oduc</a:t>
            </a:r>
            <a:r>
              <a:rPr sz="2000" spc="-10">
                <a:latin typeface="Arial MT"/>
                <a:cs typeface="Arial MT"/>
              </a:rPr>
              <a:t>t</a:t>
            </a:r>
            <a:r>
              <a:rPr sz="2000">
                <a:latin typeface="Arial MT"/>
                <a:cs typeface="Arial MT"/>
              </a:rPr>
              <a:t>_na</a:t>
            </a:r>
            <a:r>
              <a:rPr sz="2000" spc="-5">
                <a:latin typeface="Arial MT"/>
                <a:cs typeface="Arial MT"/>
              </a:rPr>
              <a:t>m</a:t>
            </a:r>
            <a:r>
              <a:rPr sz="2000">
                <a:latin typeface="Arial MT"/>
                <a:cs typeface="Arial MT"/>
              </a:rPr>
              <a:t>e,  </a:t>
            </a:r>
            <a:r>
              <a:rPr sz="2000" spc="-5">
                <a:latin typeface="Arial MT"/>
                <a:cs typeface="Arial MT"/>
              </a:rPr>
              <a:t>group_name, </a:t>
            </a:r>
            <a:r>
              <a:rPr sz="2000">
                <a:latin typeface="Arial MT"/>
                <a:cs typeface="Arial MT"/>
              </a:rPr>
              <a:t> price,</a:t>
            </a:r>
          </a:p>
          <a:p>
            <a:pPr marL="926465">
              <a:lnSpc>
                <a:spcPts val="2005"/>
              </a:lnSpc>
            </a:pPr>
            <a:r>
              <a:rPr sz="2000">
                <a:latin typeface="Arial MT"/>
                <a:cs typeface="Arial MT"/>
              </a:rPr>
              <a:t>LAG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(price,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1)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OVER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(</a:t>
            </a:r>
          </a:p>
          <a:p>
            <a:pPr marL="1841500" marR="387985">
              <a:lnSpc>
                <a:spcPts val="2110"/>
              </a:lnSpc>
              <a:spcBef>
                <a:spcPts val="200"/>
              </a:spcBef>
            </a:pP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591185" algn="ctr">
              <a:lnSpc>
                <a:spcPts val="208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  <a:r>
              <a:rPr sz="2000" spc="-13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prev_price,</a:t>
            </a:r>
            <a:endParaRPr sz="2000">
              <a:latin typeface="Arial MT"/>
              <a:cs typeface="Arial MT"/>
            </a:endParaRPr>
          </a:p>
          <a:p>
            <a:pPr marL="1841500" marR="387985" indent="-914400">
              <a:lnSpc>
                <a:spcPct val="89500"/>
              </a:lnSpc>
              <a:spcBef>
                <a:spcPts val="110"/>
              </a:spcBef>
            </a:pPr>
            <a:r>
              <a:rPr sz="2000">
                <a:latin typeface="Arial MT"/>
                <a:cs typeface="Arial MT"/>
              </a:rPr>
              <a:t>price - LAG </a:t>
            </a:r>
            <a:r>
              <a:rPr sz="2000" spc="-5">
                <a:latin typeface="Arial MT"/>
                <a:cs typeface="Arial MT"/>
              </a:rPr>
              <a:t>(price, </a:t>
            </a:r>
            <a:r>
              <a:rPr sz="2000">
                <a:latin typeface="Arial MT"/>
                <a:cs typeface="Arial MT"/>
              </a:rPr>
              <a:t>1) </a:t>
            </a:r>
            <a:r>
              <a:rPr sz="2000" spc="-5">
                <a:latin typeface="Arial MT"/>
                <a:cs typeface="Arial MT"/>
              </a:rPr>
              <a:t>OVER </a:t>
            </a:r>
            <a:r>
              <a:rPr sz="2000">
                <a:latin typeface="Arial MT"/>
                <a:cs typeface="Arial MT"/>
              </a:rPr>
              <a:t>( 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 spc="-25">
                <a:latin typeface="Arial MT"/>
                <a:cs typeface="Arial MT"/>
              </a:rPr>
              <a:t>PARTITION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group_name </a:t>
            </a:r>
            <a:r>
              <a:rPr sz="2000" spc="-5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ORDER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BY</a:t>
            </a:r>
          </a:p>
          <a:p>
            <a:pPr marL="591185" algn="ctr">
              <a:lnSpc>
                <a:spcPts val="2100"/>
              </a:lnSpc>
            </a:pPr>
            <a:r>
              <a:rPr sz="2000">
                <a:latin typeface="Arial MT"/>
                <a:cs typeface="Arial MT"/>
              </a:rPr>
              <a:t>price</a:t>
            </a:r>
          </a:p>
          <a:p>
            <a:pPr marL="926465">
              <a:lnSpc>
                <a:spcPts val="2150"/>
              </a:lnSpc>
            </a:pPr>
            <a:r>
              <a:rPr sz="2000">
                <a:latin typeface="Arial MT"/>
                <a:cs typeface="Arial MT"/>
              </a:rPr>
              <a:t>)</a:t>
            </a:r>
            <a:r>
              <a:rPr sz="2000" spc="-1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AS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cu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_p</a:t>
            </a:r>
            <a:r>
              <a:rPr sz="2000" spc="-5">
                <a:latin typeface="Arial MT"/>
                <a:cs typeface="Arial MT"/>
              </a:rPr>
              <a:t>r</a:t>
            </a:r>
            <a:r>
              <a:rPr sz="2000">
                <a:latin typeface="Arial MT"/>
                <a:cs typeface="Arial MT"/>
              </a:rPr>
              <a:t>ev_d</a:t>
            </a:r>
            <a:r>
              <a:rPr sz="2000" spc="5">
                <a:latin typeface="Arial MT"/>
                <a:cs typeface="Arial MT"/>
              </a:rPr>
              <a:t>i</a:t>
            </a:r>
            <a:r>
              <a:rPr sz="2000" spc="-45">
                <a:latin typeface="Arial MT"/>
                <a:cs typeface="Arial MT"/>
              </a:rPr>
              <a:t>f</a:t>
            </a:r>
            <a:r>
              <a:rPr sz="2000">
                <a:latin typeface="Arial MT"/>
                <a:cs typeface="Arial MT"/>
              </a:rPr>
              <a:t>f</a:t>
            </a:r>
          </a:p>
          <a:p>
            <a:pPr marL="12700">
              <a:lnSpc>
                <a:spcPts val="2150"/>
              </a:lnSpc>
            </a:pPr>
            <a:r>
              <a:rPr sz="2000" spc="-5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926465">
              <a:lnSpc>
                <a:spcPts val="2150"/>
              </a:lnSpc>
            </a:pPr>
            <a:r>
              <a:rPr sz="2000" spc="-5">
                <a:latin typeface="Arial MT"/>
                <a:cs typeface="Arial MT"/>
              </a:rPr>
              <a:t>products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55"/>
              </a:lnSpc>
            </a:pPr>
            <a:r>
              <a:rPr sz="2000">
                <a:latin typeface="Arial MT"/>
                <a:cs typeface="Arial MT"/>
              </a:rPr>
              <a:t>INNER</a:t>
            </a:r>
            <a:r>
              <a:rPr sz="2000" spc="-5">
                <a:latin typeface="Arial MT"/>
                <a:cs typeface="Arial MT"/>
              </a:rPr>
              <a:t> JOIN product_groups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USING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(group_id);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239184"/>
            <a:ext cx="5190919" cy="23796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62255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The</a:t>
            </a:r>
            <a:r>
              <a:rPr sz="3500" spc="-10"/>
              <a:t> </a:t>
            </a:r>
            <a:r>
              <a:rPr sz="3500" spc="-5"/>
              <a:t>LEAD()</a:t>
            </a:r>
            <a:r>
              <a:rPr sz="3500" spc="-20"/>
              <a:t> </a:t>
            </a:r>
            <a:r>
              <a:rPr sz="3500" spc="-5"/>
              <a:t>function</a:t>
            </a:r>
            <a:r>
              <a:rPr sz="3500" spc="-10"/>
              <a:t> </a:t>
            </a:r>
            <a:r>
              <a:rPr sz="3500" spc="-5"/>
              <a:t>example</a:t>
            </a:r>
            <a:endParaRPr sz="3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55"/>
              </a:lnSpc>
              <a:spcBef>
                <a:spcPts val="100"/>
              </a:spcBef>
            </a:pPr>
            <a:r>
              <a:t>SELECT</a:t>
            </a:r>
          </a:p>
          <a:p>
            <a:pPr marL="926465" marR="2842895">
              <a:lnSpc>
                <a:spcPct val="91500"/>
              </a:lnSpc>
              <a:spcBef>
                <a:spcPts val="60"/>
              </a:spcBef>
            </a:pPr>
            <a:r>
              <a:t>p</a:t>
            </a:r>
            <a:r>
              <a:rPr spc="-5"/>
              <a:t>r</a:t>
            </a:r>
            <a:r>
              <a:t>oduc</a:t>
            </a:r>
            <a:r>
              <a:rPr spc="-10"/>
              <a:t>t</a:t>
            </a:r>
            <a:r>
              <a:t>_na</a:t>
            </a:r>
            <a:r>
              <a:rPr spc="-5"/>
              <a:t>m</a:t>
            </a:r>
            <a:r>
              <a:t>e,  </a:t>
            </a:r>
            <a:r>
              <a:rPr spc="-5"/>
              <a:t>group_name, </a:t>
            </a:r>
            <a:r>
              <a:t> price,</a:t>
            </a:r>
          </a:p>
          <a:p>
            <a:pPr marL="926465">
              <a:lnSpc>
                <a:spcPts val="2005"/>
              </a:lnSpc>
            </a:pPr>
            <a:r>
              <a:t>LEAD</a:t>
            </a:r>
            <a:r>
              <a:rPr spc="-15"/>
              <a:t> </a:t>
            </a:r>
            <a:r>
              <a:rPr spc="-5"/>
              <a:t>(price,</a:t>
            </a:r>
            <a:r>
              <a:rPr spc="-25"/>
              <a:t> </a:t>
            </a:r>
            <a:r>
              <a:t>1)</a:t>
            </a:r>
            <a:r>
              <a:rPr spc="-20"/>
              <a:t> </a:t>
            </a:r>
            <a:r>
              <a:rPr spc="-5"/>
              <a:t>OVER</a:t>
            </a:r>
            <a:r>
              <a:rPr spc="-15"/>
              <a:t> </a:t>
            </a:r>
            <a:r>
              <a:t>(</a:t>
            </a:r>
          </a:p>
          <a:p>
            <a:pPr marL="1841500" marR="387985">
              <a:lnSpc>
                <a:spcPts val="2110"/>
              </a:lnSpc>
              <a:spcBef>
                <a:spcPts val="200"/>
              </a:spcBef>
            </a:pPr>
            <a:r>
              <a:rPr spc="-25"/>
              <a:t>PARTITION</a:t>
            </a:r>
            <a:r>
              <a:rPr spc="-20"/>
              <a:t> </a:t>
            </a:r>
            <a:r>
              <a:t>BY</a:t>
            </a:r>
            <a:r>
              <a:rPr spc="-65"/>
              <a:t> </a:t>
            </a:r>
            <a:r>
              <a:rPr spc="-5"/>
              <a:t>group_name </a:t>
            </a:r>
            <a:r>
              <a:rPr spc="-540"/>
              <a:t> </a:t>
            </a:r>
            <a:r>
              <a:t>ORDER</a:t>
            </a:r>
            <a:r>
              <a:rPr spc="-5"/>
              <a:t> </a:t>
            </a:r>
            <a:r>
              <a:t>BY</a:t>
            </a:r>
          </a:p>
          <a:p>
            <a:pPr marL="591185" algn="ctr">
              <a:lnSpc>
                <a:spcPts val="2080"/>
              </a:lnSpc>
            </a:pPr>
            <a:r>
              <a:t>price</a:t>
            </a:r>
          </a:p>
          <a:p>
            <a:pPr marL="926465">
              <a:lnSpc>
                <a:spcPts val="2150"/>
              </a:lnSpc>
            </a:pPr>
            <a:r>
              <a:t>)</a:t>
            </a:r>
            <a:r>
              <a:rPr spc="-135"/>
              <a:t> </a:t>
            </a:r>
            <a:r>
              <a:t>AS</a:t>
            </a:r>
            <a:r>
              <a:rPr spc="-25"/>
              <a:t> </a:t>
            </a:r>
            <a:r>
              <a:rPr spc="-5"/>
              <a:t>next_price,</a:t>
            </a:r>
          </a:p>
          <a:p>
            <a:pPr marL="1841500" marR="387985" indent="-914400">
              <a:lnSpc>
                <a:spcPct val="89500"/>
              </a:lnSpc>
              <a:spcBef>
                <a:spcPts val="110"/>
              </a:spcBef>
            </a:pPr>
            <a:r>
              <a:t>price - LEAD </a:t>
            </a:r>
            <a:r>
              <a:rPr spc="-5"/>
              <a:t>(price, </a:t>
            </a:r>
            <a:r>
              <a:t>1) </a:t>
            </a:r>
            <a:r>
              <a:rPr spc="-5"/>
              <a:t>OVER </a:t>
            </a:r>
            <a:r>
              <a:t>( </a:t>
            </a:r>
            <a:r>
              <a:rPr spc="5"/>
              <a:t> </a:t>
            </a:r>
            <a:r>
              <a:rPr spc="-25"/>
              <a:t>PARTITION</a:t>
            </a:r>
            <a:r>
              <a:rPr spc="-20"/>
              <a:t> </a:t>
            </a:r>
            <a:r>
              <a:t>BY</a:t>
            </a:r>
            <a:r>
              <a:rPr spc="-65"/>
              <a:t> </a:t>
            </a:r>
            <a:r>
              <a:rPr spc="-5"/>
              <a:t>group_name </a:t>
            </a:r>
            <a:r>
              <a:rPr spc="-540"/>
              <a:t> </a:t>
            </a:r>
            <a:r>
              <a:t>ORDER</a:t>
            </a:r>
            <a:r>
              <a:rPr spc="-5"/>
              <a:t> </a:t>
            </a:r>
            <a:r>
              <a:t>BY</a:t>
            </a:r>
          </a:p>
          <a:p>
            <a:pPr marL="591185" algn="ctr">
              <a:lnSpc>
                <a:spcPts val="2100"/>
              </a:lnSpc>
            </a:pPr>
            <a:r>
              <a:t>price</a:t>
            </a:r>
          </a:p>
          <a:p>
            <a:pPr marL="926465">
              <a:lnSpc>
                <a:spcPts val="2150"/>
              </a:lnSpc>
            </a:pPr>
            <a:r>
              <a:t>)</a:t>
            </a:r>
            <a:r>
              <a:rPr spc="-120"/>
              <a:t> </a:t>
            </a:r>
            <a:r>
              <a:t>AS</a:t>
            </a:r>
            <a:r>
              <a:rPr spc="-5"/>
              <a:t> </a:t>
            </a:r>
            <a:r>
              <a:t>cu</a:t>
            </a:r>
            <a:r>
              <a:rPr spc="-5"/>
              <a:t>r</a:t>
            </a:r>
            <a:r>
              <a:t>_nex</a:t>
            </a:r>
            <a:r>
              <a:rPr spc="-10"/>
              <a:t>t</a:t>
            </a:r>
            <a:r>
              <a:t>_d</a:t>
            </a:r>
            <a:r>
              <a:rPr spc="5"/>
              <a:t>i</a:t>
            </a:r>
            <a:r>
              <a:rPr spc="-45"/>
              <a:t>f</a:t>
            </a:r>
            <a:r>
              <a:t>f</a:t>
            </a:r>
          </a:p>
          <a:p>
            <a:pPr marL="12700">
              <a:lnSpc>
                <a:spcPts val="2150"/>
              </a:lnSpc>
            </a:pPr>
            <a:r>
              <a:rPr spc="-5"/>
              <a:t>FROM</a:t>
            </a:r>
          </a:p>
          <a:p>
            <a:pPr marL="926465">
              <a:lnSpc>
                <a:spcPts val="2150"/>
              </a:lnSpc>
            </a:pPr>
            <a:r>
              <a:rPr spc="-5"/>
              <a:t>products</a:t>
            </a:r>
          </a:p>
          <a:p>
            <a:pPr marL="12700">
              <a:lnSpc>
                <a:spcPts val="2255"/>
              </a:lnSpc>
            </a:pPr>
            <a:r>
              <a:t>INNER</a:t>
            </a:r>
            <a:r>
              <a:rPr spc="-5"/>
              <a:t> JOIN product_groups</a:t>
            </a:r>
            <a:r>
              <a:rPr spc="-10"/>
              <a:t> </a:t>
            </a:r>
            <a:r>
              <a:t>USING</a:t>
            </a:r>
            <a:r>
              <a:rPr spc="-15"/>
              <a:t> </a:t>
            </a:r>
            <a:r>
              <a:rPr spc="-5"/>
              <a:t>(group_id);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959" y="2327564"/>
            <a:ext cx="5134839" cy="2396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9928F6-D764-4137-8886-9154ABB7BA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62F809-CF65-42A4-8A7B-4945127519FF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6C3929A-D671-4BB4-B723-9DF25EFD845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Lecture 7</vt:lpstr>
      <vt:lpstr>Aggregate functions. Window functions.</vt:lpstr>
      <vt:lpstr>PART I. Aggregate functions.</vt:lpstr>
      <vt:lpstr>Introduction to PostgreSQL aggregate functions</vt:lpstr>
      <vt:lpstr>PostgreSQL AVG Function</vt:lpstr>
      <vt:lpstr>PowerPoint Presentation</vt:lpstr>
      <vt:lpstr>PowerPoint Presentation</vt:lpstr>
      <vt:lpstr>PostgreSQL AVG function with SUM function</vt:lpstr>
      <vt:lpstr>PostgreSQL AVG() function with GROUP BY clause</vt:lpstr>
      <vt:lpstr>PostgreSQL AVG() function with HAVING clause</vt:lpstr>
      <vt:lpstr>PostgreSQL AVG() function and NULL</vt:lpstr>
      <vt:lpstr>PostgreSQL COUNT Function</vt:lpstr>
      <vt:lpstr>PostgreSQL COUNT() function examples</vt:lpstr>
      <vt:lpstr>PostgreSQL COUNT() with GROUP BY clause</vt:lpstr>
      <vt:lpstr>PostgreSQL COUNT() with HAVING clause</vt:lpstr>
      <vt:lpstr>PostgreSQL SUM Function</vt:lpstr>
      <vt:lpstr>PostgreSQL SUM() function examples</vt:lpstr>
      <vt:lpstr>Using PostgreSQL SUM() function with GROUP  BY clause</vt:lpstr>
      <vt:lpstr>PowerPoint Presentation</vt:lpstr>
      <vt:lpstr>PostgreSQL MAX Function</vt:lpstr>
      <vt:lpstr>PowerPoint Presentation</vt:lpstr>
      <vt:lpstr>PostgreSQL MAX function in subquery</vt:lpstr>
      <vt:lpstr>PostgreSQL MIN Function</vt:lpstr>
      <vt:lpstr>PostgreSQL MIN() function examples</vt:lpstr>
      <vt:lpstr>Using PostgreSQL MIN function with GROUP BY clause</vt:lpstr>
      <vt:lpstr>PART II. Window functions.</vt:lpstr>
      <vt:lpstr>PostgreSQL Window Functions</vt:lpstr>
      <vt:lpstr>PostgreSQL Window Functions</vt:lpstr>
      <vt:lpstr>Introduction to PostgreSQL window functions</vt:lpstr>
      <vt:lpstr>Example</vt:lpstr>
      <vt:lpstr>PostgreSQL Window Function</vt:lpstr>
      <vt:lpstr>Window functions</vt:lpstr>
      <vt:lpstr>The ROW_NUMBER() function</vt:lpstr>
      <vt:lpstr>The Rank() function</vt:lpstr>
      <vt:lpstr>The Dense_rank() function</vt:lpstr>
      <vt:lpstr>The FIRST_VALUE() function</vt:lpstr>
      <vt:lpstr>The LAST_VALUE() function</vt:lpstr>
      <vt:lpstr>The LAG and LEAD functions</vt:lpstr>
      <vt:lpstr>The LAG() function example</vt:lpstr>
      <vt:lpstr>The LEAD() function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Sholpan Saimassayeva</dc:creator>
  <cp:revision>1</cp:revision>
  <dcterms:created xsi:type="dcterms:W3CDTF">2024-10-14T19:45:58Z</dcterms:created>
  <dcterms:modified xsi:type="dcterms:W3CDTF">2024-12-23T20:43:40Z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2023-12-02T00:00:00Z</vt:filetime>
  </property>
  <property fmtid="{D5CDD505-2E9C-101B-9397-08002B2CF9AE}" pid="3" name="LastSaved">
    <vt:filetime>2024-10-14T00:00:00Z</vt:filetime>
  </property>
  <property fmtid="{D5CDD505-2E9C-101B-9397-08002B2CF9AE}" pid="4" name="ContentTypeId">
    <vt:lpwstr>0x010100D71570AD13F0224BB1245ED162607349</vt:lpwstr>
  </property>
</Properties>
</file>