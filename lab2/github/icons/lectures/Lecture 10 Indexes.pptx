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93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1" r:id="rId39"/>
    <p:sldId id="292" r:id="rId40"/>
    <p:sldId id="290" r:id="rId41"/>
    <p:sldId id="289" r:id="rId42"/>
  </p:sldIdLst>
  <p:sldSz cx="13004800" cy="9753600"/>
  <p:notesSz cx="13004800" cy="97536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A62EAD4A-3545-4D5C-BAED-3E421B0375A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93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91"/>
            <p14:sldId id="292"/>
            <p14:sldId id="290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5AD02-F9A8-2891-FD99-D1652DAC1CA9}" v="2" dt="2024-12-24T08:16:09.4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7E199-3D1E-4654-BE5D-EBB290B636C2}" type="datetimeFigureOut">
              <a:rPr lang="ru-KZ" smtClean="0"/>
              <a:t>10/31/2025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87CB0-5425-4676-B2D5-9FA95EFA723E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5249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587CB0-5425-4676-B2D5-9FA95EFA723E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089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900" y="4178300"/>
            <a:ext cx="11041380" cy="3459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200" y="3632200"/>
            <a:ext cx="37147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110"/>
              <a:t>Indexes</a:t>
            </a:r>
            <a:endParaRPr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0">
              <a:lnSpc>
                <a:spcPct val="100000"/>
              </a:lnSpc>
              <a:spcBef>
                <a:spcPts val="100"/>
              </a:spcBef>
            </a:pPr>
            <a:r>
              <a:rPr sz="8000" spc="70"/>
              <a:t>Overview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65200" y="2682765"/>
            <a:ext cx="4909185" cy="586803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481330" indent="-443230">
              <a:lnSpc>
                <a:spcPct val="100000"/>
              </a:lnSpc>
              <a:spcBef>
                <a:spcPts val="1975"/>
              </a:spcBef>
              <a:buSzPct val="145312"/>
              <a:buChar char="•"/>
              <a:tabLst>
                <a:tab pos="481330" algn="l"/>
              </a:tabLst>
            </a:pPr>
            <a:r>
              <a:rPr sz="3200" spc="-10">
                <a:latin typeface="Arial MT"/>
                <a:cs typeface="Arial MT"/>
              </a:rPr>
              <a:t>Introduction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indent="-443230">
              <a:lnSpc>
                <a:spcPct val="100000"/>
              </a:lnSpc>
              <a:buSzPct val="145312"/>
              <a:buChar char="•"/>
              <a:tabLst>
                <a:tab pos="481330" algn="l"/>
              </a:tabLst>
            </a:pPr>
            <a:r>
              <a:rPr sz="3200">
                <a:latin typeface="Arial MT"/>
                <a:cs typeface="Arial MT"/>
              </a:rPr>
              <a:t>Index </a:t>
            </a:r>
            <a:r>
              <a:rPr sz="3200" spc="-10"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indent="-443230">
              <a:lnSpc>
                <a:spcPct val="100000"/>
              </a:lnSpc>
              <a:buSzPct val="145312"/>
              <a:buChar char="•"/>
              <a:tabLst>
                <a:tab pos="481330" algn="l"/>
              </a:tabLst>
            </a:pPr>
            <a:r>
              <a:rPr sz="3200">
                <a:latin typeface="Arial MT"/>
                <a:cs typeface="Arial MT"/>
              </a:rPr>
              <a:t>Multicolumn</a:t>
            </a:r>
            <a:r>
              <a:rPr sz="3200" spc="3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indexes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indent="-443230">
              <a:lnSpc>
                <a:spcPct val="100000"/>
              </a:lnSpc>
              <a:buSzPct val="145312"/>
              <a:buChar char="•"/>
              <a:tabLst>
                <a:tab pos="48133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95">
                <a:latin typeface="Arial MT"/>
                <a:cs typeface="Arial MT"/>
              </a:rPr>
              <a:t>ORDER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BY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indent="-443230">
              <a:lnSpc>
                <a:spcPct val="100000"/>
              </a:lnSpc>
              <a:buSzPct val="145312"/>
              <a:buChar char="•"/>
              <a:tabLst>
                <a:tab pos="481330" algn="l"/>
              </a:tabLst>
            </a:pPr>
            <a:r>
              <a:rPr sz="3200">
                <a:latin typeface="Arial MT"/>
                <a:cs typeface="Arial MT"/>
              </a:rPr>
              <a:t>Unique </a:t>
            </a:r>
            <a:r>
              <a:rPr sz="3200" spc="-10">
                <a:latin typeface="Arial MT"/>
                <a:cs typeface="Arial MT"/>
              </a:rPr>
              <a:t>indexes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indent="-443230">
              <a:lnSpc>
                <a:spcPct val="100000"/>
              </a:lnSpc>
              <a:buSzPct val="145312"/>
              <a:buChar char="•"/>
              <a:tabLst>
                <a:tab pos="48133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Expressions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890905" y="2247900"/>
            <a:ext cx="11047095" cy="5291192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81330" marR="1628139" indent="-443230" algn="just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82600" algn="l"/>
              </a:tabLst>
            </a:pPr>
            <a:r>
              <a:rPr sz="4000">
                <a:latin typeface="Arial MT"/>
                <a:cs typeface="Arial MT"/>
              </a:rPr>
              <a:t>Indexes</a:t>
            </a:r>
            <a:r>
              <a:rPr sz="4000" spc="-5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are</a:t>
            </a:r>
            <a:r>
              <a:rPr sz="4000" spc="-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a</a:t>
            </a:r>
            <a:r>
              <a:rPr sz="4000" spc="-55">
                <a:latin typeface="Arial MT"/>
                <a:cs typeface="Arial MT"/>
              </a:rPr>
              <a:t> </a:t>
            </a:r>
            <a:r>
              <a:rPr sz="4000" spc="60">
                <a:latin typeface="Arial MT"/>
                <a:cs typeface="Arial MT"/>
              </a:rPr>
              <a:t>common</a:t>
            </a:r>
            <a:r>
              <a:rPr sz="4000" spc="-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way</a:t>
            </a:r>
            <a:r>
              <a:rPr sz="4000" spc="-50">
                <a:latin typeface="Arial MT"/>
                <a:cs typeface="Arial MT"/>
              </a:rPr>
              <a:t> </a:t>
            </a:r>
            <a:r>
              <a:rPr sz="4000" spc="75">
                <a:latin typeface="Arial MT"/>
                <a:cs typeface="Arial MT"/>
              </a:rPr>
              <a:t>to</a:t>
            </a:r>
            <a:r>
              <a:rPr sz="4000" spc="-5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enhance</a:t>
            </a:r>
            <a:r>
              <a:rPr sz="4000" spc="-50">
                <a:latin typeface="Arial MT"/>
                <a:cs typeface="Arial MT"/>
              </a:rPr>
              <a:t> </a:t>
            </a:r>
            <a:r>
              <a:rPr sz="4000" spc="-10">
                <a:latin typeface="Arial MT"/>
                <a:cs typeface="Arial MT"/>
              </a:rPr>
              <a:t>database 	performance.</a:t>
            </a:r>
            <a:endParaRPr sz="400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4000">
              <a:latin typeface="Arial MT"/>
              <a:cs typeface="Arial MT"/>
            </a:endParaRPr>
          </a:p>
          <a:p>
            <a:pPr marL="481330" marR="485775" indent="-443230" algn="just">
              <a:lnSpc>
                <a:spcPts val="3800"/>
              </a:lnSpc>
              <a:buSzPct val="145312"/>
              <a:buChar char="•"/>
              <a:tabLst>
                <a:tab pos="482600" algn="l"/>
              </a:tabLst>
            </a:pPr>
            <a:r>
              <a:rPr sz="4000">
                <a:latin typeface="Arial MT"/>
                <a:cs typeface="Arial MT"/>
              </a:rPr>
              <a:t>An</a:t>
            </a:r>
            <a:r>
              <a:rPr sz="4000" spc="3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index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allows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the</a:t>
            </a:r>
            <a:r>
              <a:rPr sz="4000" spc="3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database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server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 spc="75">
                <a:latin typeface="Arial MT"/>
                <a:cs typeface="Arial MT"/>
              </a:rPr>
              <a:t>to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find</a:t>
            </a:r>
            <a:r>
              <a:rPr sz="4000" spc="3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and</a:t>
            </a:r>
            <a:r>
              <a:rPr sz="4000" spc="35">
                <a:latin typeface="Arial MT"/>
                <a:cs typeface="Arial MT"/>
              </a:rPr>
              <a:t> </a:t>
            </a:r>
            <a:r>
              <a:rPr sz="4000" spc="-10">
                <a:latin typeface="Arial MT"/>
                <a:cs typeface="Arial MT"/>
              </a:rPr>
              <a:t>retrieve 	</a:t>
            </a:r>
            <a:r>
              <a:rPr sz="4000">
                <a:latin typeface="Arial MT"/>
                <a:cs typeface="Arial MT"/>
              </a:rPr>
              <a:t>specific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rows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much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faster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than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 spc="55">
                <a:latin typeface="Arial MT"/>
                <a:cs typeface="Arial MT"/>
              </a:rPr>
              <a:t>it</a:t>
            </a:r>
            <a:r>
              <a:rPr sz="4000" spc="10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could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 spc="85">
                <a:latin typeface="Arial MT"/>
                <a:cs typeface="Arial MT"/>
              </a:rPr>
              <a:t>do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 spc="55">
                <a:latin typeface="Arial MT"/>
                <a:cs typeface="Arial MT"/>
              </a:rPr>
              <a:t>without</a:t>
            </a:r>
            <a:r>
              <a:rPr sz="4000" spc="100">
                <a:latin typeface="Arial MT"/>
                <a:cs typeface="Arial MT"/>
              </a:rPr>
              <a:t> </a:t>
            </a:r>
            <a:r>
              <a:rPr sz="4000" spc="-25">
                <a:latin typeface="Arial MT"/>
                <a:cs typeface="Arial MT"/>
              </a:rPr>
              <a:t>an 	</a:t>
            </a:r>
            <a:r>
              <a:rPr sz="4000" spc="-10">
                <a:latin typeface="Arial MT"/>
                <a:cs typeface="Arial MT"/>
              </a:rPr>
              <a:t>index.</a:t>
            </a:r>
            <a:endParaRPr sz="400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4000">
              <a:latin typeface="Arial MT"/>
              <a:cs typeface="Arial MT"/>
            </a:endParaRPr>
          </a:p>
          <a:p>
            <a:pPr marL="481330" marR="17780" indent="-443230" algn="just">
              <a:lnSpc>
                <a:spcPts val="3800"/>
              </a:lnSpc>
              <a:buSzPct val="145312"/>
              <a:buChar char="•"/>
              <a:tabLst>
                <a:tab pos="482600" algn="l"/>
              </a:tabLst>
            </a:pPr>
            <a:r>
              <a:rPr sz="4000">
                <a:latin typeface="Arial MT"/>
                <a:cs typeface="Arial MT"/>
              </a:rPr>
              <a:t>But</a:t>
            </a:r>
            <a:r>
              <a:rPr sz="4000" spc="4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indexes</a:t>
            </a:r>
            <a:r>
              <a:rPr sz="4000" spc="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also</a:t>
            </a:r>
            <a:r>
              <a:rPr sz="4000" spc="50">
                <a:latin typeface="Arial MT"/>
                <a:cs typeface="Arial MT"/>
              </a:rPr>
              <a:t> add </a:t>
            </a:r>
            <a:r>
              <a:rPr sz="4000">
                <a:latin typeface="Arial MT"/>
                <a:cs typeface="Arial MT"/>
              </a:rPr>
              <a:t>overhead</a:t>
            </a:r>
            <a:r>
              <a:rPr sz="4000" spc="45">
                <a:latin typeface="Arial MT"/>
                <a:cs typeface="Arial MT"/>
              </a:rPr>
              <a:t> </a:t>
            </a:r>
            <a:r>
              <a:rPr sz="4000" spc="75">
                <a:latin typeface="Arial MT"/>
                <a:cs typeface="Arial MT"/>
              </a:rPr>
              <a:t>to</a:t>
            </a:r>
            <a:r>
              <a:rPr sz="4000" spc="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the</a:t>
            </a:r>
            <a:r>
              <a:rPr sz="4000" spc="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database</a:t>
            </a:r>
            <a:r>
              <a:rPr sz="4000" spc="5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system</a:t>
            </a:r>
            <a:r>
              <a:rPr sz="4000" spc="50">
                <a:latin typeface="Arial MT"/>
                <a:cs typeface="Arial MT"/>
              </a:rPr>
              <a:t> </a:t>
            </a:r>
            <a:r>
              <a:rPr sz="4000" spc="-25">
                <a:latin typeface="Arial MT"/>
                <a:cs typeface="Arial MT"/>
              </a:rPr>
              <a:t>as 	</a:t>
            </a:r>
            <a:r>
              <a:rPr sz="4000">
                <a:latin typeface="Arial MT"/>
                <a:cs typeface="Arial MT"/>
              </a:rPr>
              <a:t>a</a:t>
            </a:r>
            <a:r>
              <a:rPr sz="4000" spc="5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whole,</a:t>
            </a:r>
            <a:r>
              <a:rPr sz="4000" spc="6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so</a:t>
            </a:r>
            <a:r>
              <a:rPr sz="4000" spc="6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they</a:t>
            </a:r>
            <a:r>
              <a:rPr sz="4000" spc="55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should</a:t>
            </a:r>
            <a:r>
              <a:rPr sz="4000" spc="6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be</a:t>
            </a:r>
            <a:r>
              <a:rPr sz="4000" spc="60">
                <a:latin typeface="Arial MT"/>
                <a:cs typeface="Arial MT"/>
              </a:rPr>
              <a:t> </a:t>
            </a:r>
            <a:r>
              <a:rPr sz="4000">
                <a:latin typeface="Arial MT"/>
                <a:cs typeface="Arial MT"/>
              </a:rPr>
              <a:t>used</a:t>
            </a:r>
            <a:r>
              <a:rPr sz="4000" spc="55">
                <a:latin typeface="Arial MT"/>
                <a:cs typeface="Arial MT"/>
              </a:rPr>
              <a:t> </a:t>
            </a:r>
            <a:r>
              <a:rPr sz="4000" spc="-10">
                <a:latin typeface="Arial MT"/>
                <a:cs typeface="Arial MT"/>
              </a:rPr>
              <a:t>sensibly.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76885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100"/>
              </a:spcBef>
              <a:buSzPct val="145312"/>
              <a:buChar char="•"/>
              <a:tabLst>
                <a:tab pos="455930" algn="l"/>
              </a:tabLst>
            </a:pPr>
            <a:r>
              <a:rPr sz="3200">
                <a:latin typeface="Arial MT"/>
                <a:cs typeface="Arial MT"/>
              </a:rPr>
              <a:t>Suppose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have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similar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this: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5664200"/>
            <a:ext cx="99707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100"/>
              </a:spcBef>
              <a:buSzPct val="145312"/>
              <a:buChar char="•"/>
              <a:tabLst>
                <a:tab pos="455930" algn="l"/>
              </a:tabLst>
            </a:pPr>
            <a:r>
              <a:rPr sz="3200">
                <a:latin typeface="Arial MT"/>
                <a:cs typeface="Arial MT"/>
              </a:rPr>
              <a:t>and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application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issues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many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form: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8952" y="3627328"/>
            <a:ext cx="3634225" cy="14973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9416" y="7129648"/>
            <a:ext cx="8698385" cy="407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65200" y="2984500"/>
            <a:ext cx="11055350" cy="54787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81330" marR="447675" indent="-443230">
              <a:lnSpc>
                <a:spcPct val="100299"/>
              </a:lnSpc>
              <a:spcBef>
                <a:spcPts val="85"/>
              </a:spcBef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With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no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advance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preparation,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system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would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have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to 	</a:t>
            </a:r>
            <a:r>
              <a:rPr sz="3200">
                <a:latin typeface="Arial MT"/>
                <a:cs typeface="Arial MT"/>
              </a:rPr>
              <a:t>scan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entire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25">
                <a:latin typeface="Courier New"/>
                <a:cs typeface="Courier New"/>
              </a:rPr>
              <a:t>test1</a:t>
            </a:r>
            <a:r>
              <a:rPr sz="3200" spc="-1010">
                <a:latin typeface="Courier New"/>
                <a:cs typeface="Courier New"/>
              </a:rPr>
              <a:t> </a:t>
            </a:r>
            <a:r>
              <a:rPr sz="3200">
                <a:latin typeface="Arial MT"/>
                <a:cs typeface="Arial MT"/>
              </a:rPr>
              <a:t>table,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row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by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row,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find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all 	</a:t>
            </a:r>
            <a:r>
              <a:rPr sz="3200">
                <a:latin typeface="Arial MT"/>
                <a:cs typeface="Arial MT"/>
              </a:rPr>
              <a:t>matching</a:t>
            </a:r>
            <a:r>
              <a:rPr sz="3200" spc="254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entries.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marR="598805" indent="-443230">
              <a:lnSpc>
                <a:spcPct val="100299"/>
              </a:lnSpc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If there are many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rows in </a:t>
            </a:r>
            <a:r>
              <a:rPr sz="3200" spc="-25">
                <a:latin typeface="Courier New"/>
                <a:cs typeface="Courier New"/>
              </a:rPr>
              <a:t>test1</a:t>
            </a:r>
            <a:r>
              <a:rPr sz="3200" spc="-1030">
                <a:latin typeface="Courier New"/>
                <a:cs typeface="Courier New"/>
              </a:rPr>
              <a:t> </a:t>
            </a:r>
            <a:r>
              <a:rPr sz="3200">
                <a:latin typeface="Arial MT"/>
                <a:cs typeface="Arial MT"/>
              </a:rPr>
              <a:t>and only a few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rows 	</a:t>
            </a:r>
            <a:r>
              <a:rPr sz="3200">
                <a:latin typeface="Arial MT"/>
                <a:cs typeface="Arial MT"/>
              </a:rPr>
              <a:t>(perhaps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zero or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one)</a:t>
            </a:r>
            <a:r>
              <a:rPr sz="3200">
                <a:latin typeface="Arial MT"/>
                <a:cs typeface="Arial MT"/>
              </a:rPr>
              <a:t> that </a:t>
            </a:r>
            <a:r>
              <a:rPr sz="3200" spc="50">
                <a:latin typeface="Arial MT"/>
                <a:cs typeface="Arial MT"/>
              </a:rPr>
              <a:t>would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 returned </a:t>
            </a:r>
            <a:r>
              <a:rPr sz="3200" spc="50">
                <a:latin typeface="Arial MT"/>
                <a:cs typeface="Arial MT"/>
              </a:rPr>
              <a:t>by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such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>
                <a:latin typeface="Arial MT"/>
                <a:cs typeface="Arial MT"/>
              </a:rPr>
              <a:t>query,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this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clearly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inefficient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method.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marR="17780" indent="-443230">
              <a:lnSpc>
                <a:spcPct val="100299"/>
              </a:lnSpc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But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if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system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been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instructed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maintain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 	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25">
                <a:latin typeface="Courier New"/>
                <a:cs typeface="Courier New"/>
              </a:rPr>
              <a:t>id</a:t>
            </a:r>
            <a:r>
              <a:rPr sz="3200" spc="-1010">
                <a:latin typeface="Courier New"/>
                <a:cs typeface="Courier New"/>
              </a:rPr>
              <a:t> </a:t>
            </a:r>
            <a:r>
              <a:rPr sz="3200">
                <a:latin typeface="Arial MT"/>
                <a:cs typeface="Arial MT"/>
              </a:rPr>
              <a:t>column,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more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efficient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method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for 	</a:t>
            </a:r>
            <a:r>
              <a:rPr sz="3200">
                <a:latin typeface="Arial MT"/>
                <a:cs typeface="Arial MT"/>
              </a:rPr>
              <a:t>locating</a:t>
            </a:r>
            <a:r>
              <a:rPr sz="3200" spc="2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matching</a:t>
            </a:r>
            <a:r>
              <a:rPr sz="3200" spc="2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rows.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65200" y="2705100"/>
            <a:ext cx="11014075" cy="64058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81330" marR="21844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A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similar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approach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most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 spc="60">
                <a:latin typeface="Arial MT"/>
                <a:cs typeface="Arial MT"/>
              </a:rPr>
              <a:t>non-</a:t>
            </a:r>
            <a:r>
              <a:rPr sz="3200">
                <a:latin typeface="Arial MT"/>
                <a:cs typeface="Arial MT"/>
              </a:rPr>
              <a:t>fiction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books: 	</a:t>
            </a:r>
            <a:r>
              <a:rPr sz="3200">
                <a:latin typeface="Arial MT"/>
                <a:cs typeface="Arial MT"/>
              </a:rPr>
              <a:t>terms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concepts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frequently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looked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up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 spc="25">
                <a:latin typeface="Arial MT"/>
                <a:cs typeface="Arial MT"/>
              </a:rPr>
              <a:t>by 	</a:t>
            </a:r>
            <a:r>
              <a:rPr sz="3200">
                <a:latin typeface="Arial MT"/>
                <a:cs typeface="Arial MT"/>
              </a:rPr>
              <a:t>readers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collected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alphabetic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at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end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 spc="25">
                <a:latin typeface="Arial MT"/>
                <a:cs typeface="Arial MT"/>
              </a:rPr>
              <a:t>of 	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book.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marR="30480" indent="-443230">
              <a:lnSpc>
                <a:spcPts val="3800"/>
              </a:lnSpc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interested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reader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scan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relatively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quickly 	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flip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appropriate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-40">
                <a:latin typeface="Arial MT"/>
                <a:cs typeface="Arial MT"/>
              </a:rPr>
              <a:t>page(s),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rather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having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to 	</a:t>
            </a:r>
            <a:r>
              <a:rPr sz="3200">
                <a:latin typeface="Arial MT"/>
                <a:cs typeface="Arial MT"/>
              </a:rPr>
              <a:t>read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entire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65">
                <a:latin typeface="Arial MT"/>
                <a:cs typeface="Arial MT"/>
              </a:rPr>
              <a:t>book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find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material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interest.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marR="345440" indent="-443230">
              <a:lnSpc>
                <a:spcPts val="3800"/>
              </a:lnSpc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Just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task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author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anticipate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items 	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readers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likely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look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up,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task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the 	</a:t>
            </a:r>
            <a:r>
              <a:rPr sz="3200">
                <a:latin typeface="Arial MT"/>
                <a:cs typeface="Arial MT"/>
              </a:rPr>
              <a:t>database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programmer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foresee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which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be 	</a:t>
            </a:r>
            <a:r>
              <a:rPr sz="3200" spc="-10">
                <a:latin typeface="Arial MT"/>
                <a:cs typeface="Arial MT"/>
              </a:rPr>
              <a:t>useful.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1054989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following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command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 	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id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column,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as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discussed: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5833" y="5135033"/>
            <a:ext cx="8293553" cy="4233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863600" y="2590800"/>
            <a:ext cx="10935335" cy="5552802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44958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name</a:t>
            </a:r>
            <a:r>
              <a:rPr sz="3200" spc="-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test1_id_index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-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chosen</a:t>
            </a:r>
            <a:r>
              <a:rPr sz="3200" spc="-30">
                <a:latin typeface="Arial MT"/>
                <a:cs typeface="Arial MT"/>
              </a:rPr>
              <a:t> freely,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 spc="70">
                <a:latin typeface="Arial MT"/>
                <a:cs typeface="Arial MT"/>
              </a:rPr>
              <a:t>but</a:t>
            </a:r>
            <a:r>
              <a:rPr sz="3200" spc="-3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you 	</a:t>
            </a:r>
            <a:r>
              <a:rPr sz="3200">
                <a:latin typeface="Arial MT"/>
                <a:cs typeface="Arial MT"/>
              </a:rPr>
              <a:t>should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0">
                <a:latin typeface="Arial MT"/>
                <a:cs typeface="Arial MT"/>
              </a:rPr>
              <a:t>pick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something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enables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you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remember 	</a:t>
            </a:r>
            <a:r>
              <a:rPr sz="3200">
                <a:latin typeface="Arial MT"/>
                <a:cs typeface="Arial MT"/>
              </a:rPr>
              <a:t>later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what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was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for.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204">
                <a:latin typeface="Arial MT"/>
                <a:cs typeface="Arial MT"/>
              </a:rPr>
              <a:t>To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remove</a:t>
            </a:r>
            <a:r>
              <a:rPr sz="3200" spc="-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index,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-55">
                <a:latin typeface="Arial MT"/>
                <a:cs typeface="Arial MT"/>
              </a:rPr>
              <a:t> DROP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 spc="-70">
                <a:latin typeface="Arial MT"/>
                <a:cs typeface="Arial MT"/>
              </a:rPr>
              <a:t>INDEX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command.</a:t>
            </a:r>
            <a:endParaRPr lang="ru-RU" sz="3200" spc="-1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endParaRPr lang="ru-RU" sz="3200" spc="-1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endParaRPr lang="ru-RU" sz="3200" spc="-1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buSzPct val="145312"/>
              <a:tabLst>
                <a:tab pos="494030" algn="l"/>
              </a:tabLst>
            </a:pP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3180" indent="-443230">
              <a:lnSpc>
                <a:spcPts val="3800"/>
              </a:lnSpc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added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removed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from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at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any 	</a:t>
            </a:r>
            <a:r>
              <a:rPr sz="3200" spc="-10">
                <a:latin typeface="Arial MT"/>
                <a:cs typeface="Arial MT"/>
              </a:rPr>
              <a:t>time.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1962EF-7D82-C954-6E3A-370BC518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5638800"/>
            <a:ext cx="596645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39800" y="2921000"/>
            <a:ext cx="10976610" cy="59740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506730" marR="1313815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508000" algn="l"/>
              </a:tabLst>
            </a:pPr>
            <a:r>
              <a:rPr sz="3200">
                <a:latin typeface="Arial MT"/>
                <a:cs typeface="Arial MT"/>
              </a:rPr>
              <a:t>Once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created,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no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further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intervention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is 	</a:t>
            </a:r>
            <a:r>
              <a:rPr sz="3200" spc="-10">
                <a:latin typeface="Arial MT"/>
                <a:cs typeface="Arial MT"/>
              </a:rPr>
              <a:t>required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6730" marR="1314450" indent="-443230">
              <a:lnSpc>
                <a:spcPts val="3800"/>
              </a:lnSpc>
              <a:buSzPct val="145312"/>
              <a:buChar char="•"/>
              <a:tabLst>
                <a:tab pos="50800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system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update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when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is 	</a:t>
            </a:r>
            <a:r>
              <a:rPr sz="3200" spc="-10">
                <a:latin typeface="Arial MT"/>
                <a:cs typeface="Arial MT"/>
              </a:rPr>
              <a:t>modified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8000" marR="349250" indent="-444500">
              <a:lnSpc>
                <a:spcPts val="3800"/>
              </a:lnSpc>
              <a:buChar char="•"/>
              <a:tabLst>
                <a:tab pos="508000" algn="l"/>
                <a:tab pos="620395" algn="l"/>
              </a:tabLst>
            </a:pPr>
            <a:r>
              <a:rPr sz="6975" baseline="-5973">
                <a:latin typeface="Arial MT"/>
                <a:cs typeface="Arial MT"/>
              </a:rPr>
              <a:t>	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when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thinks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doing </a:t>
            </a:r>
            <a:r>
              <a:rPr sz="3200">
                <a:latin typeface="Arial MT"/>
                <a:cs typeface="Arial MT"/>
              </a:rPr>
              <a:t>so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would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more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efficient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sequential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scan.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6730" marR="43180" indent="-443230">
              <a:lnSpc>
                <a:spcPts val="3800"/>
              </a:lnSpc>
              <a:buSzPct val="145312"/>
              <a:buChar char="•"/>
              <a:tabLst>
                <a:tab pos="508000" algn="l"/>
              </a:tabLst>
            </a:pPr>
            <a:r>
              <a:rPr sz="3200">
                <a:latin typeface="Arial MT"/>
                <a:cs typeface="Arial MT"/>
              </a:rPr>
              <a:t>But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you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might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have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run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90">
                <a:latin typeface="Arial MT"/>
                <a:cs typeface="Arial MT"/>
              </a:rPr>
              <a:t>ANALYZE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command 	</a:t>
            </a:r>
            <a:r>
              <a:rPr sz="3200">
                <a:latin typeface="Arial MT"/>
                <a:cs typeface="Arial MT"/>
              </a:rPr>
              <a:t>regularly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update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statistics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allow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query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planner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to 	</a:t>
            </a:r>
            <a:r>
              <a:rPr sz="3200">
                <a:latin typeface="Arial MT"/>
                <a:cs typeface="Arial MT"/>
              </a:rPr>
              <a:t>make</a:t>
            </a:r>
            <a:r>
              <a:rPr sz="3200" spc="1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educated</a:t>
            </a:r>
            <a:r>
              <a:rPr sz="3200" spc="1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decisions.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52500" y="3911600"/>
            <a:ext cx="10634345" cy="39928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165481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also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benefit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125">
                <a:latin typeface="Arial MT"/>
                <a:cs typeface="Arial MT"/>
              </a:rPr>
              <a:t>UPDATE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95">
                <a:latin typeface="Arial MT"/>
                <a:cs typeface="Arial MT"/>
              </a:rPr>
              <a:t>DELETE 	</a:t>
            </a:r>
            <a:r>
              <a:rPr sz="3200">
                <a:latin typeface="Arial MT"/>
                <a:cs typeface="Arial MT"/>
              </a:rPr>
              <a:t>commands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with</a:t>
            </a:r>
            <a:r>
              <a:rPr sz="3200" spc="8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search</a:t>
            </a:r>
            <a:r>
              <a:rPr sz="3200" spc="8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conditions.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moreover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join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searches.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3180" indent="-443230">
              <a:lnSpc>
                <a:spcPts val="3800"/>
              </a:lnSpc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Thus,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defined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part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join 	</a:t>
            </a:r>
            <a:r>
              <a:rPr sz="3200">
                <a:latin typeface="Arial MT"/>
                <a:cs typeface="Arial MT"/>
              </a:rPr>
              <a:t>condition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also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significantly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speed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up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 spc="35">
                <a:latin typeface="Arial MT"/>
                <a:cs typeface="Arial MT"/>
              </a:rPr>
              <a:t>with 	</a:t>
            </a:r>
            <a:r>
              <a:rPr sz="3200" spc="-10">
                <a:latin typeface="Arial MT"/>
                <a:cs typeface="Arial MT"/>
              </a:rPr>
              <a:t>joins.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0">
              <a:lnSpc>
                <a:spcPct val="100000"/>
              </a:lnSpc>
              <a:spcBef>
                <a:spcPts val="100"/>
              </a:spcBef>
            </a:pPr>
            <a:r>
              <a:rPr sz="8000" spc="145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80440" y="2895600"/>
            <a:ext cx="10114280" cy="35102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41910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After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created,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system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keep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30">
                <a:latin typeface="Arial MT"/>
                <a:cs typeface="Arial MT"/>
              </a:rPr>
              <a:t>it 	</a:t>
            </a:r>
            <a:r>
              <a:rPr sz="3200">
                <a:latin typeface="Arial MT"/>
                <a:cs typeface="Arial MT"/>
              </a:rPr>
              <a:t>synchronized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with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table.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>
                <a:latin typeface="Arial MT"/>
                <a:cs typeface="Arial MT"/>
              </a:rPr>
              <a:t>This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adds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overhead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data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manipulation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operations.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04495" indent="-443230">
              <a:lnSpc>
                <a:spcPts val="3800"/>
              </a:lnSpc>
              <a:buSzPct val="145312"/>
              <a:buChar char="•"/>
              <a:tabLst>
                <a:tab pos="495300" algn="l"/>
              </a:tabLst>
            </a:pPr>
            <a:r>
              <a:rPr sz="3200" spc="-20">
                <a:latin typeface="Arial MT"/>
                <a:cs typeface="Arial MT"/>
              </a:rPr>
              <a:t>Therefore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seldom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or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never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in 	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should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removed.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46A2B-A917-9193-C0DF-42EFA25C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1846659"/>
          </a:xfrm>
        </p:spPr>
        <p:txBody>
          <a:bodyPr/>
          <a:lstStyle/>
          <a:p>
            <a:r>
              <a:rPr lang="en-US" sz="6000">
                <a:latin typeface="-apple-system"/>
              </a:rPr>
              <a:t>H</a:t>
            </a:r>
            <a:r>
              <a:rPr lang="en-US" sz="6000" i="0">
                <a:effectLst/>
                <a:latin typeface="-apple-system"/>
              </a:rPr>
              <a:t>ow index works:</a:t>
            </a:r>
            <a:br>
              <a:rPr lang="en-US" sz="6000" i="0">
                <a:effectLst/>
                <a:latin typeface="-apple-system"/>
              </a:rPr>
            </a:br>
            <a:endParaRPr lang="ru-KZ" sz="60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41914E-131F-FB7D-D3E2-DF3ABBE5F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90" y="2438400"/>
            <a:ext cx="5937081" cy="711326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BD7DA73-3646-AC18-034A-4A1BEA773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2232"/>
            <a:ext cx="4664117" cy="6172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2FA7A7B-F625-CB74-BFC7-81A331CEC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" y="2306289"/>
            <a:ext cx="2588260" cy="68053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36EF9C3-8CF8-6067-7676-7F495750D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500" y="1608147"/>
            <a:ext cx="1955793" cy="50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3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>
              <a:lnSpc>
                <a:spcPct val="100000"/>
              </a:lnSpc>
              <a:spcBef>
                <a:spcPts val="100"/>
              </a:spcBef>
            </a:pPr>
            <a:r>
              <a:rPr sz="8000" spc="155"/>
              <a:t>Index</a:t>
            </a:r>
            <a:r>
              <a:rPr sz="8000" spc="5"/>
              <a:t> </a:t>
            </a:r>
            <a:r>
              <a:rPr sz="8000" spc="215"/>
              <a:t>types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52500" y="2873265"/>
            <a:ext cx="2126615" cy="586803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607695" indent="-556895">
              <a:lnSpc>
                <a:spcPct val="100000"/>
              </a:lnSpc>
              <a:spcBef>
                <a:spcPts val="1975"/>
              </a:spcBef>
              <a:buSzPct val="145312"/>
              <a:buChar char="•"/>
              <a:tabLst>
                <a:tab pos="607695" algn="l"/>
              </a:tabLst>
            </a:pPr>
            <a:r>
              <a:rPr sz="3200" spc="95">
                <a:latin typeface="Arial MT"/>
                <a:cs typeface="Arial MT"/>
              </a:rPr>
              <a:t>B-</a:t>
            </a:r>
            <a:r>
              <a:rPr sz="3200" spc="-20">
                <a:latin typeface="Arial MT"/>
                <a:cs typeface="Arial MT"/>
              </a:rPr>
              <a:t>tree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20">
                <a:latin typeface="Arial MT"/>
                <a:cs typeface="Arial MT"/>
              </a:rPr>
              <a:t>Hash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20">
                <a:latin typeface="Arial MT"/>
                <a:cs typeface="Arial MT"/>
              </a:rPr>
              <a:t>GiST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45">
                <a:latin typeface="Arial MT"/>
                <a:cs typeface="Arial MT"/>
              </a:rPr>
              <a:t>SP-</a:t>
            </a:r>
            <a:r>
              <a:rPr sz="3200" spc="-20">
                <a:latin typeface="Arial MT"/>
                <a:cs typeface="Arial MT"/>
              </a:rPr>
              <a:t>GiST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25">
                <a:latin typeface="Arial MT"/>
                <a:cs typeface="Arial MT"/>
              </a:rPr>
              <a:t>GIN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 spc="-20">
                <a:latin typeface="Arial MT"/>
                <a:cs typeface="Arial MT"/>
              </a:rPr>
              <a:t>BRIN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>
              <a:lnSpc>
                <a:spcPct val="100000"/>
              </a:lnSpc>
              <a:spcBef>
                <a:spcPts val="100"/>
              </a:spcBef>
            </a:pPr>
            <a:r>
              <a:rPr sz="8000" spc="155"/>
              <a:t>Index</a:t>
            </a:r>
            <a:r>
              <a:rPr sz="8000" spc="5"/>
              <a:t> </a:t>
            </a:r>
            <a:r>
              <a:rPr sz="8000" spc="215"/>
              <a:t>types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52500" y="4660900"/>
            <a:ext cx="10850880" cy="25069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605155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Each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type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uses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different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algorithm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best 	</a:t>
            </a:r>
            <a:r>
              <a:rPr sz="3200">
                <a:latin typeface="Arial MT"/>
                <a:cs typeface="Arial MT"/>
              </a:rPr>
              <a:t>suited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different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types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queries.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3180" indent="-443230">
              <a:lnSpc>
                <a:spcPct val="101600"/>
              </a:lnSpc>
              <a:buSzPct val="145312"/>
              <a:buChar char="•"/>
              <a:tabLst>
                <a:tab pos="495300" algn="l"/>
                <a:tab pos="4949825" algn="l"/>
              </a:tabLst>
            </a:pPr>
            <a:r>
              <a:rPr sz="3200">
                <a:latin typeface="Arial MT"/>
                <a:cs typeface="Arial MT"/>
              </a:rPr>
              <a:t>By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default,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 spc="-10">
                <a:latin typeface="Courier New"/>
                <a:cs typeface="Courier New"/>
              </a:rPr>
              <a:t>CREATE</a:t>
            </a:r>
            <a:r>
              <a:rPr sz="3200">
                <a:latin typeface="Courier New"/>
                <a:cs typeface="Courier New"/>
              </a:rPr>
              <a:t>	</a:t>
            </a:r>
            <a:r>
              <a:rPr sz="3200" spc="-25">
                <a:latin typeface="Courier New"/>
                <a:cs typeface="Courier New"/>
              </a:rPr>
              <a:t>INDEX</a:t>
            </a:r>
            <a:r>
              <a:rPr sz="3200" spc="-944">
                <a:latin typeface="Courier New"/>
                <a:cs typeface="Courier New"/>
              </a:rPr>
              <a:t> </a:t>
            </a:r>
            <a:r>
              <a:rPr sz="3200">
                <a:latin typeface="Arial MT"/>
                <a:cs typeface="Arial MT"/>
              </a:rPr>
              <a:t>command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creates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 spc="-20">
                <a:latin typeface="Arial MT"/>
                <a:cs typeface="Arial MT"/>
              </a:rPr>
              <a:t>tree 	</a:t>
            </a:r>
            <a:r>
              <a:rPr sz="3200">
                <a:latin typeface="Arial MT"/>
                <a:cs typeface="Arial MT"/>
              </a:rPr>
              <a:t>indexes,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which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fit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most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60">
                <a:latin typeface="Arial MT"/>
                <a:cs typeface="Arial MT"/>
              </a:rPr>
              <a:t>common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situations.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0">
              <a:lnSpc>
                <a:spcPct val="100000"/>
              </a:lnSpc>
              <a:spcBef>
                <a:spcPts val="100"/>
              </a:spcBef>
            </a:pPr>
            <a:r>
              <a:rPr sz="8000" spc="360"/>
              <a:t>B-</a:t>
            </a:r>
            <a:r>
              <a:rPr sz="8000" spc="80"/>
              <a:t>tree</a:t>
            </a:r>
            <a:r>
              <a:rPr sz="8000"/>
              <a:t> </a:t>
            </a:r>
            <a:r>
              <a:rPr sz="8000" spc="180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39800" y="3911600"/>
            <a:ext cx="10392410" cy="40297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506730" marR="3048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508000" algn="l"/>
              </a:tabLst>
            </a:pP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handle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equality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range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data 	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sorted</a:t>
            </a:r>
            <a:r>
              <a:rPr sz="3200" spc="10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into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some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ordering.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6730" marR="31115" indent="-443230">
              <a:lnSpc>
                <a:spcPts val="3800"/>
              </a:lnSpc>
              <a:buSzPct val="145312"/>
              <a:buChar char="•"/>
              <a:tabLst>
                <a:tab pos="508000" algn="l"/>
              </a:tabLst>
            </a:pPr>
            <a:r>
              <a:rPr sz="3200">
                <a:latin typeface="Arial MT"/>
                <a:cs typeface="Arial MT"/>
              </a:rPr>
              <a:t>PostgreSQL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query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planner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consider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using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 spc="-20">
                <a:latin typeface="Arial MT"/>
                <a:cs typeface="Arial MT"/>
              </a:rPr>
              <a:t>tree 	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whenever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indexed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involved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>
                <a:latin typeface="Arial MT"/>
                <a:cs typeface="Arial MT"/>
              </a:rPr>
              <a:t>comparison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using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one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these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operators: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6730" indent="-443230">
              <a:lnSpc>
                <a:spcPct val="100000"/>
              </a:lnSpc>
              <a:buSzPct val="145312"/>
              <a:buChar char="•"/>
              <a:tabLst>
                <a:tab pos="506730" algn="l"/>
                <a:tab pos="1316355" algn="l"/>
                <a:tab pos="2369185" algn="l"/>
                <a:tab pos="3177540" algn="l"/>
                <a:tab pos="4230370" algn="l"/>
              </a:tabLst>
            </a:pPr>
            <a:r>
              <a:rPr sz="3200" spc="-50">
                <a:latin typeface="Arial MT"/>
                <a:cs typeface="Arial MT"/>
              </a:rPr>
              <a:t>&lt;</a:t>
            </a:r>
            <a:r>
              <a:rPr sz="3200">
                <a:latin typeface="Arial MT"/>
                <a:cs typeface="Arial MT"/>
              </a:rPr>
              <a:t>	</a:t>
            </a:r>
            <a:r>
              <a:rPr sz="3200" spc="-25">
                <a:latin typeface="Arial MT"/>
                <a:cs typeface="Arial MT"/>
              </a:rPr>
              <a:t>&lt;=</a:t>
            </a:r>
            <a:r>
              <a:rPr sz="3200">
                <a:latin typeface="Arial MT"/>
                <a:cs typeface="Arial MT"/>
              </a:rPr>
              <a:t>	</a:t>
            </a:r>
            <a:r>
              <a:rPr sz="3200" spc="-50">
                <a:latin typeface="Arial MT"/>
                <a:cs typeface="Arial MT"/>
              </a:rPr>
              <a:t>=</a:t>
            </a:r>
            <a:r>
              <a:rPr sz="3200">
                <a:latin typeface="Arial MT"/>
                <a:cs typeface="Arial MT"/>
              </a:rPr>
              <a:t>	</a:t>
            </a:r>
            <a:r>
              <a:rPr sz="3200" spc="-25">
                <a:latin typeface="Arial MT"/>
                <a:cs typeface="Arial MT"/>
              </a:rPr>
              <a:t>&gt;=</a:t>
            </a:r>
            <a:r>
              <a:rPr sz="3200">
                <a:latin typeface="Arial MT"/>
                <a:cs typeface="Arial MT"/>
              </a:rPr>
              <a:t>	</a:t>
            </a:r>
            <a:r>
              <a:rPr sz="3200" spc="-50">
                <a:latin typeface="Arial MT"/>
                <a:cs typeface="Arial MT"/>
              </a:rPr>
              <a:t>&gt;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0">
              <a:lnSpc>
                <a:spcPct val="100000"/>
              </a:lnSpc>
              <a:spcBef>
                <a:spcPts val="100"/>
              </a:spcBef>
            </a:pPr>
            <a:r>
              <a:rPr sz="8000" spc="360"/>
              <a:t>B-</a:t>
            </a:r>
            <a:r>
              <a:rPr sz="8000" spc="80"/>
              <a:t>tree</a:t>
            </a:r>
            <a:r>
              <a:rPr sz="8000"/>
              <a:t> </a:t>
            </a:r>
            <a:r>
              <a:rPr sz="8000" spc="180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77900" y="4660900"/>
            <a:ext cx="10898505" cy="24942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8630" marR="1778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69900" algn="l"/>
              </a:tabLst>
            </a:pP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also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retrieve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data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sorted 	order.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68630" marR="114935" indent="-443230">
              <a:lnSpc>
                <a:spcPts val="3800"/>
              </a:lnSpc>
              <a:buSzPct val="145312"/>
              <a:buChar char="•"/>
              <a:tabLst>
                <a:tab pos="469900" algn="l"/>
              </a:tabLst>
            </a:pPr>
            <a:r>
              <a:rPr sz="3200">
                <a:latin typeface="Arial MT"/>
                <a:cs typeface="Arial MT"/>
              </a:rPr>
              <a:t>This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not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always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faster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than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simple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scan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sort,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45">
                <a:latin typeface="Arial MT"/>
                <a:cs typeface="Arial MT"/>
              </a:rPr>
              <a:t>but 	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often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helpful.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0">
              <a:lnSpc>
                <a:spcPct val="100000"/>
              </a:lnSpc>
              <a:spcBef>
                <a:spcPts val="100"/>
              </a:spcBef>
            </a:pPr>
            <a:r>
              <a:rPr sz="8000"/>
              <a:t>Hash</a:t>
            </a:r>
            <a:r>
              <a:rPr sz="8000" spc="185"/>
              <a:t> </a:t>
            </a:r>
            <a:r>
              <a:rPr sz="8000" spc="180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77900" y="2616200"/>
            <a:ext cx="10861040" cy="34721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8630" marR="211709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69900" algn="l"/>
              </a:tabLst>
            </a:pPr>
            <a:r>
              <a:rPr sz="3200">
                <a:latin typeface="Arial MT"/>
                <a:cs typeface="Arial MT"/>
              </a:rPr>
              <a:t>Hash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only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handle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simple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equality 	comparisons.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68630" marR="17780" indent="-443230">
              <a:lnSpc>
                <a:spcPct val="99800"/>
              </a:lnSpc>
              <a:buSzPct val="145312"/>
              <a:buChar char="•"/>
              <a:tabLst>
                <a:tab pos="469900" algn="l"/>
                <a:tab pos="273431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query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planner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 consider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using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hash </a:t>
            </a:r>
            <a:r>
              <a:rPr sz="3200" spc="-10">
                <a:latin typeface="Arial MT"/>
                <a:cs typeface="Arial MT"/>
              </a:rPr>
              <a:t>index 	</a:t>
            </a:r>
            <a:r>
              <a:rPr sz="3200">
                <a:latin typeface="Arial MT"/>
                <a:cs typeface="Arial MT"/>
              </a:rPr>
              <a:t>whenever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indexed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involved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comparison 	</a:t>
            </a:r>
            <a:r>
              <a:rPr sz="3200">
                <a:latin typeface="Arial MT"/>
                <a:cs typeface="Arial MT"/>
              </a:rPr>
              <a:t>using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50">
                <a:latin typeface="Courier New"/>
                <a:cs typeface="Courier New"/>
              </a:rPr>
              <a:t>=</a:t>
            </a:r>
            <a:r>
              <a:rPr sz="3200">
                <a:latin typeface="Courier New"/>
                <a:cs typeface="Courier New"/>
              </a:rPr>
              <a:t>	</a:t>
            </a:r>
            <a:r>
              <a:rPr sz="3200">
                <a:latin typeface="Arial MT"/>
                <a:cs typeface="Arial MT"/>
              </a:rPr>
              <a:t>operator.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following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command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to 	</a:t>
            </a:r>
            <a:r>
              <a:rPr sz="3200">
                <a:latin typeface="Arial MT"/>
                <a:cs typeface="Arial MT"/>
              </a:rPr>
              <a:t>create</a:t>
            </a:r>
            <a:r>
              <a:rPr sz="3200" spc="-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hash</a:t>
            </a:r>
            <a:r>
              <a:rPr sz="3200" spc="-5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292" y="7009073"/>
            <a:ext cx="7816485" cy="3564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0">
              <a:lnSpc>
                <a:spcPct val="100000"/>
              </a:lnSpc>
              <a:spcBef>
                <a:spcPts val="100"/>
              </a:spcBef>
            </a:pPr>
            <a:r>
              <a:rPr sz="8000"/>
              <a:t>GiST</a:t>
            </a:r>
            <a:r>
              <a:rPr sz="8000" spc="-365"/>
              <a:t> </a:t>
            </a:r>
            <a:r>
              <a:rPr sz="8000" spc="180"/>
              <a:t>index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65200" y="2616200"/>
            <a:ext cx="10895965" cy="4678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81330" marR="10795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82600" algn="l"/>
              </a:tabLst>
            </a:pPr>
            <a:r>
              <a:rPr sz="3200" spc="-25">
                <a:latin typeface="Arial MT"/>
                <a:cs typeface="Arial MT"/>
              </a:rPr>
              <a:t>GiST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not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single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kind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index,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 spc="70">
                <a:latin typeface="Arial MT"/>
                <a:cs typeface="Arial MT"/>
              </a:rPr>
              <a:t>but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rather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an 	</a:t>
            </a:r>
            <a:r>
              <a:rPr sz="3200">
                <a:latin typeface="Arial MT"/>
                <a:cs typeface="Arial MT"/>
              </a:rPr>
              <a:t>infrastructure</a:t>
            </a:r>
            <a:r>
              <a:rPr sz="3200" spc="1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within</a:t>
            </a:r>
            <a:r>
              <a:rPr sz="3200" spc="1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which</a:t>
            </a:r>
            <a:r>
              <a:rPr sz="3200" spc="1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many</a:t>
            </a:r>
            <a:r>
              <a:rPr sz="3200" spc="1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different</a:t>
            </a:r>
            <a:r>
              <a:rPr sz="3200" spc="12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indexing 	</a:t>
            </a:r>
            <a:r>
              <a:rPr sz="3200">
                <a:latin typeface="Arial MT"/>
                <a:cs typeface="Arial MT"/>
              </a:rPr>
              <a:t>strategies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implemented.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81330" marR="433070" indent="-443230">
              <a:lnSpc>
                <a:spcPts val="3800"/>
              </a:lnSpc>
              <a:buSzPct val="145312"/>
              <a:buChar char="•"/>
              <a:tabLst>
                <a:tab pos="482600" algn="l"/>
              </a:tabLst>
            </a:pPr>
            <a:r>
              <a:rPr sz="3200">
                <a:latin typeface="Arial MT"/>
                <a:cs typeface="Arial MT"/>
              </a:rPr>
              <a:t>Accordingly,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particular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operators</a:t>
            </a:r>
            <a:r>
              <a:rPr sz="3200" spc="55">
                <a:latin typeface="Arial MT"/>
                <a:cs typeface="Arial MT"/>
              </a:rPr>
              <a:t> with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which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GiST 	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vary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depending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indexing 	</a:t>
            </a:r>
            <a:r>
              <a:rPr sz="3200">
                <a:latin typeface="Arial MT"/>
                <a:cs typeface="Arial MT"/>
              </a:rPr>
              <a:t>strategy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(the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operator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class).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3200">
              <a:latin typeface="Arial MT"/>
              <a:cs typeface="Arial MT"/>
            </a:endParaRPr>
          </a:p>
          <a:p>
            <a:pPr marL="1130300">
              <a:lnSpc>
                <a:spcPct val="100000"/>
              </a:lnSpc>
              <a:tabLst>
                <a:tab pos="1903095" algn="l"/>
                <a:tab pos="2676525" algn="l"/>
                <a:tab pos="3449320" algn="l"/>
                <a:tab pos="4222750" algn="l"/>
                <a:tab pos="5201920" algn="l"/>
                <a:tab pos="6180455" algn="l"/>
                <a:tab pos="7159625" algn="l"/>
                <a:tab pos="8138795" algn="l"/>
                <a:tab pos="8911590" algn="l"/>
                <a:tab pos="9685020" algn="l"/>
                <a:tab pos="10458450" algn="l"/>
              </a:tabLst>
            </a:pPr>
            <a:r>
              <a:rPr sz="2700" spc="-25">
                <a:latin typeface="Courier New"/>
                <a:cs typeface="Courier New"/>
              </a:rPr>
              <a:t>&lt;&lt;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&amp;&lt;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&amp;&gt;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&gt;&gt;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&lt;&lt;|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&amp;&lt;|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|&amp;&gt;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|&gt;&gt;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@&gt;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&lt;@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~=</a:t>
            </a:r>
            <a:r>
              <a:rPr sz="2700">
                <a:latin typeface="Courier New"/>
                <a:cs typeface="Courier New"/>
              </a:rPr>
              <a:t>	</a:t>
            </a:r>
            <a:r>
              <a:rPr sz="2700" spc="-25">
                <a:latin typeface="Courier New"/>
                <a:cs typeface="Courier New"/>
              </a:rPr>
              <a:t>&amp;&amp;</a:t>
            </a:r>
            <a:endParaRPr sz="2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0">
              <a:lnSpc>
                <a:spcPct val="100000"/>
              </a:lnSpc>
              <a:spcBef>
                <a:spcPts val="100"/>
              </a:spcBef>
            </a:pPr>
            <a:r>
              <a:rPr sz="8000" spc="229"/>
              <a:t>Multicolumn</a:t>
            </a:r>
            <a:r>
              <a:rPr sz="8000" spc="30"/>
              <a:t> </a:t>
            </a:r>
            <a:r>
              <a:rPr sz="8000" spc="110"/>
              <a:t>Indexes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1043813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An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defined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more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40">
                <a:latin typeface="Arial MT"/>
                <a:cs typeface="Arial MT"/>
              </a:rPr>
              <a:t>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>
                <a:latin typeface="Arial MT"/>
                <a:cs typeface="Arial MT"/>
              </a:rPr>
              <a:t>table. For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example,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if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you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have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this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form: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6146800"/>
            <a:ext cx="7177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100"/>
              </a:spcBef>
              <a:buSzPct val="145312"/>
              <a:buChar char="•"/>
              <a:tabLst>
                <a:tab pos="455930" algn="l"/>
              </a:tabLst>
            </a:pPr>
            <a:r>
              <a:rPr sz="3200">
                <a:latin typeface="Arial MT"/>
                <a:cs typeface="Arial MT"/>
              </a:rPr>
              <a:t>and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you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frequently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issue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queries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like: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838" y="4051300"/>
            <a:ext cx="3516222" cy="1828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651" y="7492529"/>
            <a:ext cx="9337491" cy="3033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0">
              <a:lnSpc>
                <a:spcPct val="100000"/>
              </a:lnSpc>
              <a:spcBef>
                <a:spcPts val="100"/>
              </a:spcBef>
            </a:pPr>
            <a:r>
              <a:rPr sz="8000" spc="229"/>
              <a:t>Multicolumn</a:t>
            </a:r>
            <a:r>
              <a:rPr sz="8000" spc="30"/>
              <a:t> </a:t>
            </a:r>
            <a:r>
              <a:rPr sz="8000" spc="110"/>
              <a:t>Indexes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1012888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then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it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might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appropriate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define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the 	</a:t>
            </a:r>
            <a:r>
              <a:rPr sz="3200">
                <a:latin typeface="Arial MT"/>
                <a:cs typeface="Arial MT"/>
              </a:rPr>
              <a:t>columns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major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minor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together,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e.g.: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6146800"/>
            <a:ext cx="10091420" cy="14782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Up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 </a:t>
            </a:r>
            <a:r>
              <a:rPr sz="3200">
                <a:latin typeface="Arial MT"/>
                <a:cs typeface="Arial MT"/>
              </a:rPr>
              <a:t>32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columns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specified.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 spc="-35">
                <a:latin typeface="Arial MT"/>
                <a:cs typeface="Arial MT"/>
              </a:rPr>
              <a:t>(This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limit</a:t>
            </a:r>
            <a:r>
              <a:rPr sz="3200" spc="7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7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be 	</a:t>
            </a:r>
            <a:r>
              <a:rPr sz="3200">
                <a:latin typeface="Arial MT"/>
                <a:cs typeface="Arial MT"/>
              </a:rPr>
              <a:t>altered</a:t>
            </a:r>
            <a:r>
              <a:rPr sz="3200" spc="-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when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building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PostgreSQL;</a:t>
            </a:r>
            <a:r>
              <a:rPr sz="3200" spc="-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see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the</a:t>
            </a:r>
            <a:endParaRPr sz="3200">
              <a:latin typeface="Arial MT"/>
              <a:cs typeface="Arial MT"/>
            </a:endParaRPr>
          </a:p>
          <a:p>
            <a:pPr marL="457200">
              <a:lnSpc>
                <a:spcPts val="3679"/>
              </a:lnSpc>
            </a:pPr>
            <a:r>
              <a:rPr sz="3200">
                <a:latin typeface="Arial MT"/>
                <a:cs typeface="Arial MT"/>
              </a:rPr>
              <a:t>file</a:t>
            </a:r>
            <a:r>
              <a:rPr sz="3200" spc="-45">
                <a:latin typeface="Arial MT"/>
                <a:cs typeface="Arial MT"/>
              </a:rPr>
              <a:t> </a:t>
            </a:r>
            <a:r>
              <a:rPr sz="3200" spc="-10">
                <a:latin typeface="Courier New"/>
                <a:cs typeface="Courier New"/>
              </a:rPr>
              <a:t>pg_config_manual.h</a:t>
            </a:r>
            <a:r>
              <a:rPr sz="3200" spc="-10">
                <a:latin typeface="Arial MT"/>
                <a:cs typeface="Arial MT"/>
              </a:rPr>
              <a:t>.)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8540" y="4699000"/>
            <a:ext cx="873003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7750" spc="114"/>
              <a:t>Indexes</a:t>
            </a:r>
            <a:r>
              <a:rPr sz="7750" spc="-145"/>
              <a:t> </a:t>
            </a:r>
            <a:r>
              <a:rPr sz="7750" spc="170"/>
              <a:t>and</a:t>
            </a:r>
            <a:r>
              <a:rPr sz="7750" spc="-140"/>
              <a:t> </a:t>
            </a:r>
            <a:r>
              <a:rPr sz="7750" spc="-80"/>
              <a:t>ORDER</a:t>
            </a:r>
            <a:r>
              <a:rPr sz="7750" spc="-140"/>
              <a:t> </a:t>
            </a:r>
            <a:r>
              <a:rPr sz="7750" spc="25"/>
              <a:t>BY</a:t>
            </a:r>
            <a:endParaRPr sz="7750"/>
          </a:p>
        </p:txBody>
      </p:sp>
      <p:sp>
        <p:nvSpPr>
          <p:cNvPr id="3" name="object 3"/>
          <p:cNvSpPr txBox="1"/>
          <p:nvPr/>
        </p:nvSpPr>
        <p:spPr>
          <a:xfrm>
            <a:off x="952500" y="3670300"/>
            <a:ext cx="10941050" cy="39928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177165" indent="-443230" algn="just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In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addition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simply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finding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rows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returned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by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>
                <a:latin typeface="Arial MT"/>
                <a:cs typeface="Arial MT"/>
              </a:rPr>
              <a:t>query,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may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able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deliver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them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specific 	</a:t>
            </a:r>
            <a:r>
              <a:rPr sz="3200">
                <a:latin typeface="Arial MT"/>
                <a:cs typeface="Arial MT"/>
              </a:rPr>
              <a:t>sorted</a:t>
            </a:r>
            <a:r>
              <a:rPr sz="3200" spc="17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order.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>
                <a:latin typeface="Arial MT"/>
                <a:cs typeface="Arial MT"/>
              </a:rPr>
              <a:t>only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produce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sorted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45">
                <a:latin typeface="Arial MT"/>
                <a:cs typeface="Arial MT"/>
              </a:rPr>
              <a:t>output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3180" indent="-443230" algn="just">
              <a:lnSpc>
                <a:spcPts val="3800"/>
              </a:lnSpc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By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default,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store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their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entries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ascending 	</a:t>
            </a:r>
            <a:r>
              <a:rPr sz="3200">
                <a:latin typeface="Arial MT"/>
                <a:cs typeface="Arial MT"/>
              </a:rPr>
              <a:t>order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with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nulls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last.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7750" spc="114"/>
              <a:t>Indexes</a:t>
            </a:r>
            <a:r>
              <a:rPr sz="7750" spc="-145"/>
              <a:t> </a:t>
            </a:r>
            <a:r>
              <a:rPr sz="7750" spc="170"/>
              <a:t>and</a:t>
            </a:r>
            <a:r>
              <a:rPr sz="7750" spc="-140"/>
              <a:t> </a:t>
            </a:r>
            <a:r>
              <a:rPr sz="7750" spc="-80"/>
              <a:t>ORDER</a:t>
            </a:r>
            <a:r>
              <a:rPr sz="7750" spc="-140"/>
              <a:t> </a:t>
            </a:r>
            <a:r>
              <a:rPr sz="7750" spc="25"/>
              <a:t>BY</a:t>
            </a:r>
            <a:endParaRPr sz="775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10895965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5930" marR="5080" indent="-443230">
              <a:lnSpc>
                <a:spcPct val="100299"/>
              </a:lnSpc>
              <a:spcBef>
                <a:spcPts val="85"/>
              </a:spcBef>
              <a:buSzPct val="145312"/>
              <a:buChar char="•"/>
              <a:tabLst>
                <a:tab pos="457200" algn="l"/>
                <a:tab pos="6232525" algn="l"/>
              </a:tabLst>
            </a:pPr>
            <a:r>
              <a:rPr sz="3200" spc="-90">
                <a:latin typeface="Arial MT"/>
                <a:cs typeface="Arial MT"/>
              </a:rPr>
              <a:t>You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adjust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ordering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by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including 	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options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Courier New"/>
                <a:cs typeface="Courier New"/>
              </a:rPr>
              <a:t>ASC</a:t>
            </a:r>
            <a:r>
              <a:rPr sz="3200">
                <a:latin typeface="Arial MT"/>
                <a:cs typeface="Arial MT"/>
              </a:rPr>
              <a:t>,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Courier New"/>
                <a:cs typeface="Courier New"/>
              </a:rPr>
              <a:t>DESC</a:t>
            </a:r>
            <a:r>
              <a:rPr sz="3200">
                <a:latin typeface="Arial MT"/>
                <a:cs typeface="Arial MT"/>
              </a:rPr>
              <a:t>,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10">
                <a:latin typeface="Courier New"/>
                <a:cs typeface="Courier New"/>
              </a:rPr>
              <a:t>NULLS</a:t>
            </a:r>
            <a:r>
              <a:rPr sz="3200">
                <a:latin typeface="Courier New"/>
                <a:cs typeface="Courier New"/>
              </a:rPr>
              <a:t>	FIRST</a:t>
            </a:r>
            <a:r>
              <a:rPr sz="3200">
                <a:latin typeface="Arial MT"/>
                <a:cs typeface="Arial MT"/>
              </a:rPr>
              <a:t>,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and/or</a:t>
            </a:r>
            <a:r>
              <a:rPr sz="3200" spc="85">
                <a:latin typeface="Arial MT"/>
                <a:cs typeface="Arial MT"/>
              </a:rPr>
              <a:t> </a:t>
            </a:r>
            <a:r>
              <a:rPr sz="3200" spc="-10">
                <a:latin typeface="Courier New"/>
                <a:cs typeface="Courier New"/>
              </a:rPr>
              <a:t>NULLS 	</a:t>
            </a:r>
            <a:r>
              <a:rPr sz="3200" spc="-25">
                <a:latin typeface="Courier New"/>
                <a:cs typeface="Courier New"/>
              </a:rPr>
              <a:t>LAST</a:t>
            </a:r>
            <a:r>
              <a:rPr sz="3200" spc="-985">
                <a:latin typeface="Courier New"/>
                <a:cs typeface="Courier New"/>
              </a:rPr>
              <a:t> </a:t>
            </a:r>
            <a:r>
              <a:rPr sz="3200">
                <a:latin typeface="Arial MT"/>
                <a:cs typeface="Arial MT"/>
              </a:rPr>
              <a:t>when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creating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index;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for</a:t>
            </a:r>
            <a:r>
              <a:rPr sz="3200" spc="5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example: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961" y="5398239"/>
            <a:ext cx="9441817" cy="1636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8000" spc="125"/>
              <a:t>Unique</a:t>
            </a:r>
            <a:r>
              <a:rPr sz="8000" spc="10"/>
              <a:t> </a:t>
            </a:r>
            <a:r>
              <a:rPr sz="8000" spc="110"/>
              <a:t>Indexes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11017250" cy="1478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Indexes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also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used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enforce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uniqueness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 spc="60">
                <a:latin typeface="Arial MT"/>
                <a:cs typeface="Arial MT"/>
              </a:rPr>
              <a:t>column's</a:t>
            </a:r>
            <a:r>
              <a:rPr sz="3200">
                <a:latin typeface="Arial MT"/>
                <a:cs typeface="Arial MT"/>
              </a:rPr>
              <a:t> value, or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 uniqueness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>
                <a:latin typeface="Arial MT"/>
                <a:cs typeface="Arial MT"/>
              </a:rPr>
              <a:t> the</a:t>
            </a:r>
            <a:r>
              <a:rPr sz="3200" spc="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combined</a:t>
            </a:r>
            <a:r>
              <a:rPr sz="320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values 	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more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than</a:t>
            </a:r>
            <a:r>
              <a:rPr sz="3200" spc="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one</a:t>
            </a:r>
            <a:r>
              <a:rPr sz="3200" spc="1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column.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7645400"/>
            <a:ext cx="10316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100"/>
              </a:spcBef>
              <a:buSzPct val="145312"/>
              <a:buChar char="•"/>
              <a:tabLst>
                <a:tab pos="455930" algn="l"/>
              </a:tabLst>
            </a:pPr>
            <a:r>
              <a:rPr sz="3200" spc="-10">
                <a:latin typeface="Arial MT"/>
                <a:cs typeface="Arial MT"/>
              </a:rPr>
              <a:t>Currently,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only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 spc="95">
                <a:latin typeface="Arial MT"/>
                <a:cs typeface="Arial MT"/>
              </a:rPr>
              <a:t>B-</a:t>
            </a:r>
            <a:r>
              <a:rPr sz="3200">
                <a:latin typeface="Arial MT"/>
                <a:cs typeface="Arial MT"/>
              </a:rPr>
              <a:t>tree indexes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 declared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unique.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617" y="5455162"/>
            <a:ext cx="8640244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8000" spc="125"/>
              <a:t>Unique</a:t>
            </a:r>
            <a:r>
              <a:rPr sz="8000" spc="10"/>
              <a:t> </a:t>
            </a:r>
            <a:r>
              <a:rPr sz="8000" spc="110"/>
              <a:t>Indexes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52500" y="4152900"/>
            <a:ext cx="10640060" cy="35102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94030" marR="35052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When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declared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unique,</a:t>
            </a:r>
            <a:r>
              <a:rPr sz="3200" spc="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multiple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table</a:t>
            </a:r>
            <a:r>
              <a:rPr sz="3200" spc="20">
                <a:latin typeface="Arial MT"/>
                <a:cs typeface="Arial MT"/>
              </a:rPr>
              <a:t> </a:t>
            </a:r>
            <a:r>
              <a:rPr sz="3200" spc="-20">
                <a:latin typeface="Arial MT"/>
                <a:cs typeface="Arial MT"/>
              </a:rPr>
              <a:t>rows 	</a:t>
            </a:r>
            <a:r>
              <a:rPr sz="3200" spc="55">
                <a:latin typeface="Arial MT"/>
                <a:cs typeface="Arial MT"/>
              </a:rPr>
              <a:t>with</a:t>
            </a:r>
            <a:r>
              <a:rPr sz="3200" spc="-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equal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indexed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values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not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allowed.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indent="-443230">
              <a:lnSpc>
                <a:spcPct val="100000"/>
              </a:lnSpc>
              <a:buSzPct val="145312"/>
              <a:buChar char="•"/>
              <a:tabLst>
                <a:tab pos="494030" algn="l"/>
              </a:tabLst>
            </a:pPr>
            <a:r>
              <a:rPr sz="3200">
                <a:latin typeface="Arial MT"/>
                <a:cs typeface="Arial MT"/>
              </a:rPr>
              <a:t>Null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values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 spc="55">
                <a:latin typeface="Arial MT"/>
                <a:cs typeface="Arial MT"/>
              </a:rPr>
              <a:t>not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considered</a:t>
            </a:r>
            <a:r>
              <a:rPr sz="3200" spc="-4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equal.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94030" marR="43180" indent="-443230">
              <a:lnSpc>
                <a:spcPts val="3800"/>
              </a:lnSpc>
              <a:buSzPct val="145312"/>
              <a:buChar char="•"/>
              <a:tabLst>
                <a:tab pos="495300" algn="l"/>
              </a:tabLst>
            </a:pPr>
            <a:r>
              <a:rPr sz="3200">
                <a:latin typeface="Arial MT"/>
                <a:cs typeface="Arial MT"/>
              </a:rPr>
              <a:t>A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multicolumn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unique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will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only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reject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cases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where 	</a:t>
            </a:r>
            <a:r>
              <a:rPr sz="3200">
                <a:latin typeface="Arial MT"/>
                <a:cs typeface="Arial MT"/>
              </a:rPr>
              <a:t>all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indexed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columns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are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equal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multiple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rows.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8000" spc="125"/>
              <a:t>Unique</a:t>
            </a:r>
            <a:r>
              <a:rPr sz="8000" spc="10"/>
              <a:t> </a:t>
            </a:r>
            <a:r>
              <a:rPr sz="8000" spc="110"/>
              <a:t>Indexes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977900" y="4178300"/>
            <a:ext cx="10861040" cy="34594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8630" marR="1778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69900" algn="l"/>
              </a:tabLst>
            </a:pPr>
            <a:r>
              <a:rPr sz="3200">
                <a:latin typeface="Arial MT"/>
                <a:cs typeface="Arial MT"/>
              </a:rPr>
              <a:t>PostgreSQL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automatically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creates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unique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when</a:t>
            </a:r>
            <a:r>
              <a:rPr sz="3200" spc="-5">
                <a:latin typeface="Arial MT"/>
                <a:cs typeface="Arial MT"/>
              </a:rPr>
              <a:t> </a:t>
            </a:r>
            <a:r>
              <a:rPr sz="3200" spc="-50">
                <a:latin typeface="Arial MT"/>
                <a:cs typeface="Arial MT"/>
              </a:rPr>
              <a:t>a 	</a:t>
            </a:r>
            <a:r>
              <a:rPr sz="3200">
                <a:latin typeface="Arial MT"/>
                <a:cs typeface="Arial MT"/>
              </a:rPr>
              <a:t>unique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constraint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primary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key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defined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for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table.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468630" marR="271780" indent="-443230">
              <a:lnSpc>
                <a:spcPts val="3800"/>
              </a:lnSpc>
              <a:buSzPct val="145312"/>
              <a:buChar char="•"/>
              <a:tabLst>
                <a:tab pos="469900" algn="l"/>
              </a:tabLst>
            </a:pPr>
            <a:r>
              <a:rPr sz="3200">
                <a:latin typeface="Arial MT"/>
                <a:cs typeface="Arial MT"/>
              </a:rPr>
              <a:t>The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covers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columns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make</a:t>
            </a:r>
            <a:r>
              <a:rPr sz="3200" spc="4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up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5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primary 	</a:t>
            </a:r>
            <a:r>
              <a:rPr sz="3200">
                <a:latin typeface="Arial MT"/>
                <a:cs typeface="Arial MT"/>
              </a:rPr>
              <a:t>key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or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unique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constraint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 spc="-95">
                <a:latin typeface="Arial MT"/>
                <a:cs typeface="Arial MT"/>
              </a:rPr>
              <a:t>(a</a:t>
            </a:r>
            <a:r>
              <a:rPr sz="3200" spc="9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multicolumn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index,</a:t>
            </a:r>
            <a:r>
              <a:rPr sz="3200" spc="9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if 	</a:t>
            </a:r>
            <a:r>
              <a:rPr sz="3200">
                <a:latin typeface="Arial MT"/>
                <a:cs typeface="Arial MT"/>
              </a:rPr>
              <a:t>appropriate),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and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mechanism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that</a:t>
            </a:r>
            <a:r>
              <a:rPr sz="3200" spc="3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enforces</a:t>
            </a:r>
            <a:r>
              <a:rPr sz="3200" spc="35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the 	</a:t>
            </a:r>
            <a:r>
              <a:rPr sz="3200" spc="-10">
                <a:latin typeface="Arial MT"/>
                <a:cs typeface="Arial MT"/>
              </a:rPr>
              <a:t>constraint.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685800"/>
            <a:ext cx="10972800" cy="121956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pc="114">
                <a:cs typeface="Arial"/>
              </a:rPr>
              <a:t>Indexes</a:t>
            </a:r>
            <a:r>
              <a:rPr lang="en-US" spc="5">
                <a:cs typeface="Arial"/>
              </a:rPr>
              <a:t> </a:t>
            </a:r>
            <a:r>
              <a:rPr lang="en-US" spc="170">
                <a:cs typeface="Arial"/>
              </a:rPr>
              <a:t>on</a:t>
            </a:r>
            <a:r>
              <a:rPr lang="en-US" spc="10">
                <a:cs typeface="Arial"/>
              </a:rPr>
              <a:t> </a:t>
            </a:r>
            <a:r>
              <a:rPr lang="en-US" spc="95">
                <a:cs typeface="Arial"/>
              </a:rPr>
              <a:t>Expressions</a:t>
            </a:r>
            <a:endParaRPr lang="ru-RU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68630" marR="565150" indent="-443230">
              <a:lnSpc>
                <a:spcPts val="3800"/>
              </a:lnSpc>
              <a:spcBef>
                <a:spcPts val="260"/>
              </a:spcBef>
              <a:buSzPct val="145312"/>
              <a:buChar char="•"/>
              <a:tabLst>
                <a:tab pos="469900" algn="l"/>
              </a:tabLst>
            </a:pPr>
            <a:r>
              <a:rPr sz="3200"/>
              <a:t>An</a:t>
            </a:r>
            <a:r>
              <a:rPr sz="3200" spc="45"/>
              <a:t> </a:t>
            </a:r>
            <a:r>
              <a:rPr sz="3200"/>
              <a:t>index</a:t>
            </a:r>
            <a:r>
              <a:rPr sz="3200" spc="50"/>
              <a:t> </a:t>
            </a:r>
            <a:r>
              <a:rPr sz="3200"/>
              <a:t>column</a:t>
            </a:r>
            <a:r>
              <a:rPr sz="3200" spc="50"/>
              <a:t> </a:t>
            </a:r>
            <a:r>
              <a:rPr sz="3200"/>
              <a:t>need</a:t>
            </a:r>
            <a:r>
              <a:rPr sz="3200" spc="50"/>
              <a:t> </a:t>
            </a:r>
            <a:r>
              <a:rPr sz="3200" spc="55"/>
              <a:t>not</a:t>
            </a:r>
            <a:r>
              <a:rPr sz="3200" spc="50"/>
              <a:t> </a:t>
            </a:r>
            <a:r>
              <a:rPr sz="3200"/>
              <a:t>be</a:t>
            </a:r>
            <a:r>
              <a:rPr sz="3200" spc="50"/>
              <a:t> </a:t>
            </a:r>
            <a:r>
              <a:rPr sz="3200"/>
              <a:t>just</a:t>
            </a:r>
            <a:r>
              <a:rPr sz="3200" spc="50"/>
              <a:t> </a:t>
            </a:r>
            <a:r>
              <a:rPr sz="3200"/>
              <a:t>a</a:t>
            </a:r>
            <a:r>
              <a:rPr sz="3200" spc="45"/>
              <a:t> </a:t>
            </a:r>
            <a:r>
              <a:rPr sz="3200"/>
              <a:t>column</a:t>
            </a:r>
            <a:r>
              <a:rPr sz="3200" spc="50"/>
              <a:t> of </a:t>
            </a:r>
            <a:r>
              <a:rPr sz="3200" spc="-25"/>
              <a:t>the 	</a:t>
            </a:r>
            <a:r>
              <a:rPr sz="3200"/>
              <a:t>underlying</a:t>
            </a:r>
            <a:r>
              <a:rPr sz="3200" spc="60"/>
              <a:t> </a:t>
            </a:r>
            <a:r>
              <a:rPr sz="3200"/>
              <a:t>table,</a:t>
            </a:r>
            <a:r>
              <a:rPr sz="3200" spc="60"/>
              <a:t> </a:t>
            </a:r>
            <a:r>
              <a:rPr sz="3200" spc="70"/>
              <a:t>but</a:t>
            </a:r>
            <a:r>
              <a:rPr sz="3200" spc="65"/>
              <a:t> </a:t>
            </a:r>
            <a:r>
              <a:rPr sz="3200"/>
              <a:t>can</a:t>
            </a:r>
            <a:r>
              <a:rPr sz="3200" spc="60"/>
              <a:t> </a:t>
            </a:r>
            <a:r>
              <a:rPr sz="3200"/>
              <a:t>be</a:t>
            </a:r>
            <a:r>
              <a:rPr sz="3200" spc="65"/>
              <a:t> </a:t>
            </a:r>
            <a:r>
              <a:rPr sz="3200"/>
              <a:t>a</a:t>
            </a:r>
            <a:r>
              <a:rPr sz="3200" spc="60"/>
              <a:t> </a:t>
            </a:r>
            <a:r>
              <a:rPr sz="3200"/>
              <a:t>function</a:t>
            </a:r>
            <a:r>
              <a:rPr sz="3200" spc="65"/>
              <a:t> </a:t>
            </a:r>
            <a:r>
              <a:rPr sz="3200"/>
              <a:t>or</a:t>
            </a:r>
            <a:r>
              <a:rPr sz="3200" spc="60"/>
              <a:t> </a:t>
            </a:r>
            <a:r>
              <a:rPr sz="3200" spc="-10"/>
              <a:t>scalar 	</a:t>
            </a:r>
            <a:r>
              <a:rPr sz="3200"/>
              <a:t>expression</a:t>
            </a:r>
            <a:r>
              <a:rPr sz="3200" spc="55"/>
              <a:t> </a:t>
            </a:r>
            <a:r>
              <a:rPr sz="3200" spc="50"/>
              <a:t>computed</a:t>
            </a:r>
            <a:r>
              <a:rPr sz="3200" spc="55"/>
              <a:t> </a:t>
            </a:r>
            <a:r>
              <a:rPr sz="3200"/>
              <a:t>from</a:t>
            </a:r>
            <a:r>
              <a:rPr sz="3200" spc="55"/>
              <a:t> </a:t>
            </a:r>
            <a:r>
              <a:rPr sz="3200"/>
              <a:t>one</a:t>
            </a:r>
            <a:r>
              <a:rPr sz="3200" spc="60"/>
              <a:t> </a:t>
            </a:r>
            <a:r>
              <a:rPr sz="3200"/>
              <a:t>or</a:t>
            </a:r>
            <a:r>
              <a:rPr sz="3200" spc="55"/>
              <a:t> </a:t>
            </a:r>
            <a:r>
              <a:rPr sz="3200"/>
              <a:t>more</a:t>
            </a:r>
            <a:r>
              <a:rPr sz="3200" spc="55"/>
              <a:t> </a:t>
            </a:r>
            <a:r>
              <a:rPr sz="3200"/>
              <a:t>columns</a:t>
            </a:r>
            <a:r>
              <a:rPr sz="3200" spc="60"/>
              <a:t> </a:t>
            </a:r>
            <a:r>
              <a:rPr sz="3200" spc="50"/>
              <a:t>of</a:t>
            </a:r>
            <a:r>
              <a:rPr sz="3200" spc="55"/>
              <a:t> </a:t>
            </a:r>
            <a:r>
              <a:rPr sz="3200" spc="-25"/>
              <a:t>the 	</a:t>
            </a:r>
            <a:r>
              <a:rPr sz="3200" spc="-10"/>
              <a:t>table.</a:t>
            </a:r>
            <a:endParaRPr sz="3200"/>
          </a:p>
          <a:p>
            <a:pPr>
              <a:lnSpc>
                <a:spcPct val="100000"/>
              </a:lnSpc>
              <a:spcBef>
                <a:spcPts val="500"/>
              </a:spcBef>
              <a:buFont typeface="Arial MT"/>
              <a:buChar char="•"/>
            </a:pPr>
            <a:endParaRPr sz="3200"/>
          </a:p>
          <a:p>
            <a:pPr marL="468630" marR="17780" indent="-443230">
              <a:lnSpc>
                <a:spcPts val="3800"/>
              </a:lnSpc>
              <a:buSzPct val="145312"/>
              <a:buChar char="•"/>
              <a:tabLst>
                <a:tab pos="469900" algn="l"/>
              </a:tabLst>
            </a:pPr>
            <a:r>
              <a:rPr sz="3200"/>
              <a:t>This</a:t>
            </a:r>
            <a:r>
              <a:rPr sz="3200" spc="20"/>
              <a:t> </a:t>
            </a:r>
            <a:r>
              <a:rPr sz="3200"/>
              <a:t>feature</a:t>
            </a:r>
            <a:r>
              <a:rPr sz="3200" spc="20"/>
              <a:t> </a:t>
            </a:r>
            <a:r>
              <a:rPr sz="3200"/>
              <a:t>is</a:t>
            </a:r>
            <a:r>
              <a:rPr sz="3200" spc="20"/>
              <a:t> </a:t>
            </a:r>
            <a:r>
              <a:rPr sz="3200"/>
              <a:t>useful</a:t>
            </a:r>
            <a:r>
              <a:rPr sz="3200" spc="20"/>
              <a:t> </a:t>
            </a:r>
            <a:r>
              <a:rPr sz="3200" spc="75"/>
              <a:t>to</a:t>
            </a:r>
            <a:r>
              <a:rPr sz="3200" spc="20"/>
              <a:t> </a:t>
            </a:r>
            <a:r>
              <a:rPr sz="3200"/>
              <a:t>obtain</a:t>
            </a:r>
            <a:r>
              <a:rPr sz="3200" spc="20"/>
              <a:t> </a:t>
            </a:r>
            <a:r>
              <a:rPr sz="3200"/>
              <a:t>fast</a:t>
            </a:r>
            <a:r>
              <a:rPr sz="3200" spc="20"/>
              <a:t> </a:t>
            </a:r>
            <a:r>
              <a:rPr sz="3200"/>
              <a:t>access</a:t>
            </a:r>
            <a:r>
              <a:rPr sz="3200" spc="25"/>
              <a:t> </a:t>
            </a:r>
            <a:r>
              <a:rPr sz="3200" spc="75"/>
              <a:t>to</a:t>
            </a:r>
            <a:r>
              <a:rPr sz="3200" spc="20"/>
              <a:t> </a:t>
            </a:r>
            <a:r>
              <a:rPr sz="3200"/>
              <a:t>tables</a:t>
            </a:r>
            <a:r>
              <a:rPr sz="3200" spc="20"/>
              <a:t> </a:t>
            </a:r>
            <a:r>
              <a:rPr sz="3200" spc="-10"/>
              <a:t>based 	</a:t>
            </a:r>
            <a:r>
              <a:rPr sz="3200"/>
              <a:t>on</a:t>
            </a:r>
            <a:r>
              <a:rPr sz="3200" spc="5"/>
              <a:t> </a:t>
            </a:r>
            <a:r>
              <a:rPr sz="3200"/>
              <a:t>the</a:t>
            </a:r>
            <a:r>
              <a:rPr sz="3200" spc="5"/>
              <a:t> </a:t>
            </a:r>
            <a:r>
              <a:rPr sz="3200"/>
              <a:t>results</a:t>
            </a:r>
            <a:r>
              <a:rPr sz="3200" spc="5"/>
              <a:t> </a:t>
            </a:r>
            <a:r>
              <a:rPr sz="3200" spc="50"/>
              <a:t>of</a:t>
            </a:r>
            <a:r>
              <a:rPr sz="3200" spc="10"/>
              <a:t> </a:t>
            </a:r>
            <a:r>
              <a:rPr sz="3200" spc="35"/>
              <a:t>computations.</a:t>
            </a:r>
            <a:endParaRPr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14"/>
              <a:t>Indexes</a:t>
            </a:r>
            <a:r>
              <a:rPr spc="5"/>
              <a:t> </a:t>
            </a:r>
            <a:r>
              <a:rPr spc="170"/>
              <a:t>on</a:t>
            </a:r>
            <a:r>
              <a:rPr spc="10"/>
              <a:t> </a:t>
            </a:r>
            <a:r>
              <a:rPr spc="95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16200"/>
            <a:ext cx="981900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For</a:t>
            </a:r>
            <a:r>
              <a:rPr sz="3200" spc="-2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example,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 spc="60">
                <a:latin typeface="Arial MT"/>
                <a:cs typeface="Arial MT"/>
              </a:rPr>
              <a:t>common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way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 spc="85">
                <a:latin typeface="Arial MT"/>
                <a:cs typeface="Arial MT"/>
              </a:rPr>
              <a:t>do</a:t>
            </a:r>
            <a:r>
              <a:rPr sz="3200" spc="-2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case-</a:t>
            </a:r>
            <a:r>
              <a:rPr sz="3200" spc="-10">
                <a:latin typeface="Arial MT"/>
                <a:cs typeface="Arial MT"/>
              </a:rPr>
              <a:t>insensitive 	</a:t>
            </a:r>
            <a:r>
              <a:rPr sz="3200">
                <a:latin typeface="Arial MT"/>
                <a:cs typeface="Arial MT"/>
              </a:rPr>
              <a:t>comparisons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is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75">
                <a:latin typeface="Arial MT"/>
                <a:cs typeface="Arial MT"/>
              </a:rPr>
              <a:t>to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6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lower</a:t>
            </a:r>
            <a:r>
              <a:rPr sz="3200" spc="6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function: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6146800"/>
            <a:ext cx="1048258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55930" marR="5080" indent="-443230">
              <a:lnSpc>
                <a:spcPts val="3800"/>
              </a:lnSpc>
              <a:spcBef>
                <a:spcPts val="240"/>
              </a:spcBef>
              <a:buSzPct val="145312"/>
              <a:buChar char="•"/>
              <a:tabLst>
                <a:tab pos="457200" algn="l"/>
              </a:tabLst>
            </a:pPr>
            <a:r>
              <a:rPr sz="3200">
                <a:latin typeface="Arial MT"/>
                <a:cs typeface="Arial MT"/>
              </a:rPr>
              <a:t>This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query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can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use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an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index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if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one</a:t>
            </a:r>
            <a:r>
              <a:rPr sz="3200" spc="-1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has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been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defined</a:t>
            </a:r>
            <a:r>
              <a:rPr sz="3200" spc="-10">
                <a:latin typeface="Arial MT"/>
                <a:cs typeface="Arial MT"/>
              </a:rPr>
              <a:t> </a:t>
            </a:r>
            <a:r>
              <a:rPr sz="3200" spc="-25">
                <a:latin typeface="Arial MT"/>
                <a:cs typeface="Arial MT"/>
              </a:rPr>
              <a:t>on 	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result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 spc="50">
                <a:latin typeface="Arial MT"/>
                <a:cs typeface="Arial MT"/>
              </a:rPr>
              <a:t>of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>
                <a:latin typeface="Arial MT"/>
                <a:cs typeface="Arial MT"/>
              </a:rPr>
              <a:t>the</a:t>
            </a:r>
            <a:r>
              <a:rPr sz="3200" spc="-30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lower(col1)</a:t>
            </a:r>
            <a:r>
              <a:rPr sz="3200" spc="-35">
                <a:latin typeface="Arial MT"/>
                <a:cs typeface="Arial MT"/>
              </a:rPr>
              <a:t> </a:t>
            </a:r>
            <a:r>
              <a:rPr sz="3200" spc="-10">
                <a:latin typeface="Arial MT"/>
                <a:cs typeface="Arial MT"/>
              </a:rPr>
              <a:t>function: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923" y="4698590"/>
            <a:ext cx="8022791" cy="3564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0489" y="8000448"/>
            <a:ext cx="8421101" cy="3147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114"/>
              <a:t>Indexes</a:t>
            </a:r>
            <a:r>
              <a:rPr spc="5"/>
              <a:t> </a:t>
            </a:r>
            <a:r>
              <a:rPr spc="170"/>
              <a:t>on</a:t>
            </a:r>
            <a:r>
              <a:rPr spc="10"/>
              <a:t> </a:t>
            </a:r>
            <a:r>
              <a:rPr spc="95"/>
              <a:t>Expressions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t="-4545"/>
          <a:stretch/>
        </p:blipFill>
        <p:spPr>
          <a:xfrm>
            <a:off x="744876" y="3862493"/>
            <a:ext cx="11493071" cy="3452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438" y="6007619"/>
            <a:ext cx="10298954" cy="30816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4E082-2F33-CDE4-AC67-CB0DD371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016000" y="-1443744"/>
            <a:ext cx="10972800" cy="394660"/>
          </a:xfrm>
        </p:spPr>
        <p:txBody>
          <a:bodyPr/>
          <a:lstStyle/>
          <a:p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2B9B99-8A98-D2AD-C44F-47660645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559"/>
            <a:ext cx="12647337" cy="92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21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9A18F-2D66-03E9-DE55-7B71533D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607" y="671491"/>
            <a:ext cx="10972800" cy="1015663"/>
          </a:xfrm>
        </p:spPr>
        <p:txBody>
          <a:bodyPr/>
          <a:lstStyle/>
          <a:p>
            <a:r>
              <a:rPr lang="en-US" sz="6600"/>
              <a:t>Examples</a:t>
            </a:r>
            <a:endParaRPr lang="ru-KZ" sz="6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EFB03-9724-E719-1E87-8A5D28BAF10A}"/>
              </a:ext>
            </a:extLst>
          </p:cNvPr>
          <p:cNvSpPr txBox="1"/>
          <p:nvPr/>
        </p:nvSpPr>
        <p:spPr>
          <a:xfrm>
            <a:off x="858607" y="1916092"/>
            <a:ext cx="6981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sz="4000" b="1"/>
              <a:t>B-</a:t>
            </a:r>
            <a:r>
              <a:rPr lang="ru-KZ" sz="4000" b="1" err="1"/>
              <a:t>tree</a:t>
            </a:r>
            <a:r>
              <a:rPr lang="ru-KZ" sz="4000"/>
              <a:t> </a:t>
            </a:r>
            <a:r>
              <a:rPr lang="ru-KZ" sz="4000" err="1"/>
              <a:t>index</a:t>
            </a:r>
            <a:r>
              <a:rPr lang="ru-KZ" sz="4000"/>
              <a:t> </a:t>
            </a:r>
            <a:r>
              <a:rPr lang="ru-KZ" sz="4000" err="1"/>
              <a:t>for</a:t>
            </a:r>
            <a:r>
              <a:rPr lang="ru-KZ" sz="4000"/>
              <a:t> </a:t>
            </a:r>
            <a:r>
              <a:rPr lang="ru-KZ" sz="4000" b="1" err="1"/>
              <a:t>flight</a:t>
            </a:r>
            <a:r>
              <a:rPr lang="ru-KZ" sz="4000"/>
              <a:t> </a:t>
            </a:r>
            <a:r>
              <a:rPr lang="ru-KZ" sz="4000" err="1"/>
              <a:t>search</a:t>
            </a:r>
            <a:endParaRPr lang="ru-KZ" sz="40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15358B-36EA-CD5D-A022-4B2CF6142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8" y="3106348"/>
            <a:ext cx="11760200" cy="6809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2009D0-7C56-5C3D-69F6-78C6DAA77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08" y="6691292"/>
            <a:ext cx="11336200" cy="7177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065364-2A08-8754-ECF8-EB06F4EC3575}"/>
              </a:ext>
            </a:extLst>
          </p:cNvPr>
          <p:cNvSpPr txBox="1"/>
          <p:nvPr/>
        </p:nvSpPr>
        <p:spPr>
          <a:xfrm>
            <a:off x="299807" y="5291355"/>
            <a:ext cx="117601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After indexing, </a:t>
            </a:r>
            <a:r>
              <a:rPr lang="ru-KZ" sz="2800" err="1"/>
              <a:t>queries</a:t>
            </a:r>
            <a:r>
              <a:rPr lang="ru-KZ" sz="2800"/>
              <a:t> </a:t>
            </a:r>
            <a:r>
              <a:rPr lang="ru-KZ" sz="2800" err="1"/>
              <a:t>will</a:t>
            </a:r>
            <a:r>
              <a:rPr lang="ru-KZ" sz="2800"/>
              <a:t> </a:t>
            </a:r>
            <a:r>
              <a:rPr lang="ru-KZ" sz="2800" err="1"/>
              <a:t>run</a:t>
            </a:r>
            <a:r>
              <a:rPr lang="ru-KZ" sz="2800"/>
              <a:t> </a:t>
            </a:r>
            <a:r>
              <a:rPr lang="ru-KZ" sz="2800" err="1"/>
              <a:t>faster</a:t>
            </a:r>
            <a:r>
              <a:rPr lang="ru-KZ" sz="2800"/>
              <a:t> </a:t>
            </a:r>
            <a:r>
              <a:rPr lang="ru-KZ" sz="2800" err="1"/>
              <a:t>because</a:t>
            </a:r>
            <a:r>
              <a:rPr lang="ru-KZ" sz="2800"/>
              <a:t> </a:t>
            </a:r>
            <a:r>
              <a:rPr lang="ru-KZ" sz="2800" err="1"/>
              <a:t>they</a:t>
            </a:r>
            <a:r>
              <a:rPr lang="ru-KZ" sz="2800"/>
              <a:t> </a:t>
            </a:r>
            <a:r>
              <a:rPr lang="ru-KZ" sz="2800" err="1"/>
              <a:t>won't</a:t>
            </a:r>
            <a:r>
              <a:rPr lang="ru-KZ" sz="2800"/>
              <a:t> </a:t>
            </a:r>
            <a:r>
              <a:rPr lang="ru-KZ" sz="2800" err="1"/>
              <a:t>require</a:t>
            </a:r>
            <a:r>
              <a:rPr lang="ru-KZ" sz="2800"/>
              <a:t> a </a:t>
            </a:r>
            <a:r>
              <a:rPr lang="ru-KZ" sz="2800" err="1"/>
              <a:t>full</a:t>
            </a:r>
            <a:r>
              <a:rPr lang="ru-KZ" sz="2800"/>
              <a:t> </a:t>
            </a:r>
            <a:r>
              <a:rPr lang="ru-KZ" sz="2800" err="1"/>
              <a:t>table</a:t>
            </a:r>
            <a:r>
              <a:rPr lang="ru-KZ" sz="2800"/>
              <a:t> </a:t>
            </a:r>
            <a:r>
              <a:rPr lang="ru-KZ" sz="2800" err="1"/>
              <a:t>scan</a:t>
            </a:r>
            <a:r>
              <a:rPr lang="ru-KZ"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3198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9B753-4B5B-4DFB-93ED-4F888807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1015663"/>
          </a:xfrm>
        </p:spPr>
        <p:txBody>
          <a:bodyPr/>
          <a:lstStyle/>
          <a:p>
            <a:r>
              <a:rPr lang="en-US" sz="6600"/>
              <a:t>GIN index</a:t>
            </a:r>
            <a:endParaRPr lang="ru-KZ" sz="66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FB5C81-D7EE-75CC-DD83-C868EF51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43200"/>
            <a:ext cx="12420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78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55DED-0317-72C6-A8DD-B2F6E0B6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Hash index</a:t>
            </a:r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ABA436-4905-7A4A-CF22-727869BE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3581400"/>
            <a:ext cx="1292371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43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B72F0-2E60-0B77-F6FF-066BA935F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BRIN index</a:t>
            </a:r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1A47F7-FBF0-7D21-DBDF-4A25B8198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42" y="2590800"/>
            <a:ext cx="12748078" cy="9083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F5F81D-F164-9477-F39E-B619D6D04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42" y="3705847"/>
            <a:ext cx="10583893" cy="11557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69E6E4D-910B-9F23-7CAA-6BCF007C1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42" y="5410200"/>
            <a:ext cx="10822758" cy="15851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4AB3E8-F733-E574-5ABA-5CF259B31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7025256"/>
            <a:ext cx="10048135" cy="22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7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A786A-2A82-C437-1ECE-BBFCDD0E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GiST</a:t>
            </a:r>
            <a:r>
              <a:rPr lang="en-US"/>
              <a:t> index</a:t>
            </a:r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8C253B-6489-6690-67F5-357C3F11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971800"/>
            <a:ext cx="1205738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57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99F42-5EAC-8F01-523B-235EB55C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923330"/>
          </a:xfrm>
        </p:spPr>
        <p:txBody>
          <a:bodyPr/>
          <a:lstStyle/>
          <a:p>
            <a:r>
              <a:rPr lang="en-US" sz="6000"/>
              <a:t>Show all indexes of a database</a:t>
            </a:r>
            <a:endParaRPr lang="ru-KZ" sz="60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A066CA-027F-59C8-3662-56377053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58" y="1611835"/>
            <a:ext cx="5724580" cy="337623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70680E-0CF6-8E63-365D-2093AA02C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892040"/>
            <a:ext cx="9119171" cy="46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64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4CD5D-90EA-1E50-011D-626EFAE7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923330"/>
          </a:xfrm>
        </p:spPr>
        <p:txBody>
          <a:bodyPr/>
          <a:lstStyle/>
          <a:p>
            <a:r>
              <a:rPr lang="en-US" sz="6000"/>
              <a:t>Show all indexes of a table</a:t>
            </a:r>
            <a:endParaRPr lang="ru-KZ" sz="60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67ACC3-FFC3-7F3E-9BCB-3AD2B67F5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9" y="1609131"/>
            <a:ext cx="7155657" cy="40296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2C18ED-8529-93A0-3E96-E4BD233DC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1" y="5638802"/>
            <a:ext cx="12496800" cy="289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1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26B1F-F2EB-D56A-AE2F-BA4D6733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685800"/>
            <a:ext cx="10972800" cy="923330"/>
          </a:xfrm>
        </p:spPr>
        <p:txBody>
          <a:bodyPr/>
          <a:lstStyle/>
          <a:p>
            <a:r>
              <a:rPr lang="en-US" sz="6000"/>
              <a:t>Monitoring index usage</a:t>
            </a:r>
            <a:endParaRPr lang="ru-KZ" sz="60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531248-71D8-D115-1FED-208500DF1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209800"/>
            <a:ext cx="13106411" cy="533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EB6A89-2458-EC83-CD99-E3628C74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657599"/>
            <a:ext cx="12704777" cy="466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78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0B9E7-76BC-0C9C-3F15-4D193740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76A99D-F07E-4EF4-5765-13EC3F85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08" y="2090553"/>
            <a:ext cx="1193543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4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8890C2-81D9-43BB-AFD4-194AC4464C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A9ED075-FC03-4168-8BA6-DEB104562F63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D3C6E2E-9530-4A73-9078-D097E4539C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Произвольный</PresentationFormat>
  <Slides>38</Slides>
  <Notes>1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39" baseType="lpstr">
      <vt:lpstr>Office Theme</vt:lpstr>
      <vt:lpstr>Indexes</vt:lpstr>
      <vt:lpstr>Overview</vt:lpstr>
      <vt:lpstr>Index</vt:lpstr>
      <vt:lpstr>Index</vt:lpstr>
      <vt:lpstr>Index</vt:lpstr>
      <vt:lpstr>Index</vt:lpstr>
      <vt:lpstr>Index</vt:lpstr>
      <vt:lpstr>Index</vt:lpstr>
      <vt:lpstr>Index</vt:lpstr>
      <vt:lpstr>Index</vt:lpstr>
      <vt:lpstr>Index</vt:lpstr>
      <vt:lpstr>How index works: </vt:lpstr>
      <vt:lpstr>Index types</vt:lpstr>
      <vt:lpstr>Index types</vt:lpstr>
      <vt:lpstr>B-tree index</vt:lpstr>
      <vt:lpstr>B-tree index</vt:lpstr>
      <vt:lpstr>Hash index</vt:lpstr>
      <vt:lpstr>GiST index</vt:lpstr>
      <vt:lpstr>Multicolumn Indexes</vt:lpstr>
      <vt:lpstr>Multicolumn Indexes</vt:lpstr>
      <vt:lpstr>Indexes and ORDER BY</vt:lpstr>
      <vt:lpstr>Indexes and ORDER BY</vt:lpstr>
      <vt:lpstr>Unique Indexes</vt:lpstr>
      <vt:lpstr>Unique Indexes</vt:lpstr>
      <vt:lpstr>Unique Indexes</vt:lpstr>
      <vt:lpstr>Indexes on Expressions</vt:lpstr>
      <vt:lpstr>Indexes on Expressions</vt:lpstr>
      <vt:lpstr>Indexes on Expressions</vt:lpstr>
      <vt:lpstr>Презентация PowerPoint</vt:lpstr>
      <vt:lpstr>Examples</vt:lpstr>
      <vt:lpstr>GIN index</vt:lpstr>
      <vt:lpstr>Hash index</vt:lpstr>
      <vt:lpstr>BRIN index</vt:lpstr>
      <vt:lpstr>GiST index</vt:lpstr>
      <vt:lpstr>Show all indexes of a database</vt:lpstr>
      <vt:lpstr>Show all indexes of a table</vt:lpstr>
      <vt:lpstr>Monitoring index usage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2024-10-28T19:17:08Z</dcterms:created>
  <dcterms:modified xsi:type="dcterms:W3CDTF">2025-10-31T11:11:31Z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0x010100D71570AD13F0224BB1245ED162607349</vt:lpwstr>
  </property>
</Properties>
</file>