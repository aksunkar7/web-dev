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75"/>
  </p:notesMasterIdLst>
  <p:sldIdLst>
    <p:sldId id="256" r:id="rId2"/>
    <p:sldId id="257" r:id="rId3"/>
    <p:sldId id="309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11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42" r:id="rId64"/>
    <p:sldId id="343" r:id="rId65"/>
    <p:sldId id="344" r:id="rId66"/>
    <p:sldId id="345" r:id="rId67"/>
    <p:sldId id="346" r:id="rId68"/>
    <p:sldId id="347" r:id="rId69"/>
    <p:sldId id="348" r:id="rId70"/>
    <p:sldId id="349" r:id="rId71"/>
    <p:sldId id="350" r:id="rId72"/>
    <p:sldId id="351" r:id="rId73"/>
    <p:sldId id="352" r:id="rId7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4" autoAdjust="0"/>
    <p:restoredTop sz="92932"/>
  </p:normalViewPr>
  <p:slideViewPr>
    <p:cSldViewPr>
      <p:cViewPr varScale="1">
        <p:scale>
          <a:sx n="101" d="100"/>
          <a:sy n="101" d="100"/>
        </p:scale>
        <p:origin x="-1272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notesMaster" Target="notesMasters/notesMaster1.xml"/><Relationship Id="rId76" Type="http://schemas.openxmlformats.org/officeDocument/2006/relationships/printerSettings" Target="printerSettings/printerSettings1.bin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A1240-15C8-5744-912C-E51DFBDD183E}" type="datetimeFigureOut">
              <a:rPr lang="ru-RU" smtClean="0"/>
              <a:t>22.09.25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14CA4-0819-184D-840D-6230181D81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51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14CA4-0819-184D-840D-6230181D81D8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064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29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26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3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44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3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52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095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707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42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0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25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IITU, Databases in</a:t>
            </a:r>
            <a:r>
              <a:rPr spc="-90" dirty="0"/>
              <a:t> </a:t>
            </a:r>
            <a:r>
              <a:rPr dirty="0"/>
              <a:t>IS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October</a:t>
            </a:r>
            <a:r>
              <a:rPr spc="-75" dirty="0"/>
              <a:t> </a:t>
            </a:r>
            <a:r>
              <a:rPr dirty="0"/>
              <a:t>2017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64946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5939" y="1633220"/>
            <a:ext cx="3604895" cy="3624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55540" y="1558035"/>
            <a:ext cx="3404234" cy="3764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IITU, Databases in</a:t>
            </a:r>
            <a:r>
              <a:rPr spc="-90" dirty="0"/>
              <a:t> </a:t>
            </a:r>
            <a:r>
              <a:rPr dirty="0"/>
              <a:t>IS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October</a:t>
            </a:r>
            <a:r>
              <a:rPr spc="-75" dirty="0"/>
              <a:t> </a:t>
            </a:r>
            <a:r>
              <a:rPr dirty="0"/>
              <a:t>2017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0667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IITU, Databases in</a:t>
            </a:r>
            <a:r>
              <a:rPr spc="-90" dirty="0"/>
              <a:t> </a:t>
            </a:r>
            <a:r>
              <a:rPr dirty="0"/>
              <a:t>IS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October</a:t>
            </a:r>
            <a:r>
              <a:rPr spc="-75" dirty="0"/>
              <a:t> </a:t>
            </a:r>
            <a:r>
              <a:rPr dirty="0"/>
              <a:t>2017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50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Образец текста</a:t>
            </a:r>
          </a:p>
          <a:p>
            <a:pPr lvl="1"/>
            <a:r>
              <a:rPr lang="en-US" smtClean="0"/>
              <a:t>Второй уровень</a:t>
            </a:r>
          </a:p>
          <a:p>
            <a:pPr lvl="2"/>
            <a:r>
              <a:rPr lang="en-US" smtClean="0"/>
              <a:t>Третий уровень</a:t>
            </a:r>
          </a:p>
          <a:p>
            <a:pPr lvl="3"/>
            <a:r>
              <a:rPr lang="en-US" smtClean="0"/>
              <a:t>Четвертый уровень</a:t>
            </a:r>
          </a:p>
          <a:p>
            <a:pPr lvl="4"/>
            <a:r>
              <a:rPr lang="en-US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22.09.25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02870">
              <a:lnSpc>
                <a:spcPts val="1240"/>
              </a:lnSpc>
            </a:pPr>
            <a:fld id="{81D60167-4931-47E6-BA6A-407CBD079E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811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.jp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jp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1998821"/>
            <a:ext cx="7391399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600" dirty="0" smtClean="0">
                <a:solidFill>
                  <a:schemeClr val="tx2"/>
                </a:solidFill>
              </a:rPr>
              <a:t>Data manipulation Language foundation, basic SQL overview, principles of data manipulation</a:t>
            </a:r>
            <a:br>
              <a:rPr lang="en-US" sz="3600" dirty="0" smtClean="0">
                <a:solidFill>
                  <a:schemeClr val="tx2"/>
                </a:solidFill>
              </a:rPr>
            </a:br>
            <a:endParaRPr sz="3600" spc="-5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54835">
              <a:lnSpc>
                <a:spcPct val="100000"/>
              </a:lnSpc>
            </a:pPr>
            <a:r>
              <a:rPr spc="-5" dirty="0"/>
              <a:t>This</a:t>
            </a:r>
            <a:r>
              <a:rPr spc="-70" dirty="0"/>
              <a:t> </a:t>
            </a:r>
            <a:r>
              <a:rPr spc="-10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1154"/>
            <a:ext cx="7485380" cy="1527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SQL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SELECT</a:t>
            </a:r>
            <a:endParaRPr sz="3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WHERE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Clauses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SELECT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10">
                <a:latin typeface="Calibri"/>
                <a:cs typeface="Calibri"/>
              </a:rPr>
              <a:t>multiple</a:t>
            </a:r>
            <a:r>
              <a:rPr sz="2800" spc="20">
                <a:latin typeface="Calibri"/>
                <a:cs typeface="Calibri"/>
              </a:rPr>
              <a:t> </a:t>
            </a:r>
            <a:r>
              <a:rPr sz="2800" spc="-10" smtClean="0">
                <a:latin typeface="Calibri"/>
                <a:cs typeface="Calibri"/>
              </a:rPr>
              <a:t>tables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Tables 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920" t="35097" r="50063" b="14121"/>
          <a:stretch/>
        </p:blipFill>
        <p:spPr>
          <a:xfrm>
            <a:off x="1981200" y="1895856"/>
            <a:ext cx="5391911" cy="427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11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90140">
              <a:lnSpc>
                <a:spcPct val="100000"/>
              </a:lnSpc>
            </a:pPr>
            <a:r>
              <a:rPr dirty="0"/>
              <a:t>SQL</a:t>
            </a:r>
            <a:r>
              <a:rPr spc="-95" dirty="0"/>
              <a:t> </a:t>
            </a:r>
            <a:r>
              <a:rPr spc="-5" dirty="0"/>
              <a:t>SELECT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1154"/>
            <a:ext cx="7935595" cy="3825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SELECT </a:t>
            </a:r>
            <a:r>
              <a:rPr sz="3200" dirty="0">
                <a:latin typeface="Calibri"/>
                <a:cs typeface="Calibri"/>
              </a:rPr>
              <a:t>is the type of </a:t>
            </a:r>
            <a:r>
              <a:rPr sz="3200" spc="-5" dirty="0">
                <a:latin typeface="Calibri"/>
                <a:cs typeface="Calibri"/>
              </a:rPr>
              <a:t>query </a:t>
            </a:r>
            <a:r>
              <a:rPr sz="3200" spc="-15" dirty="0">
                <a:latin typeface="Calibri"/>
                <a:cs typeface="Calibri"/>
              </a:rPr>
              <a:t>you </a:t>
            </a:r>
            <a:r>
              <a:rPr sz="3200" dirty="0">
                <a:latin typeface="Calibri"/>
                <a:cs typeface="Calibri"/>
              </a:rPr>
              <a:t>will </a:t>
            </a:r>
            <a:r>
              <a:rPr sz="3200" spc="-5" dirty="0">
                <a:latin typeface="Calibri"/>
                <a:cs typeface="Calibri"/>
              </a:rPr>
              <a:t>use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most</a:t>
            </a:r>
            <a:endParaRPr sz="32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3200" spc="-10" dirty="0">
                <a:latin typeface="Calibri"/>
                <a:cs typeface="Calibri"/>
              </a:rPr>
              <a:t>often.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Queries </a:t>
            </a:r>
            <a:r>
              <a:rPr sz="2800" spc="-10" dirty="0">
                <a:latin typeface="Calibri"/>
                <a:cs typeface="Calibri"/>
              </a:rPr>
              <a:t>one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spc="-10" dirty="0">
                <a:latin typeface="Calibri"/>
                <a:cs typeface="Calibri"/>
              </a:rPr>
              <a:t>tables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result  </a:t>
            </a:r>
            <a:r>
              <a:rPr sz="2800" spc="-5" dirty="0">
                <a:latin typeface="Calibri"/>
                <a:cs typeface="Calibri"/>
              </a:rPr>
              <a:t>as 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Lots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options, </a:t>
            </a:r>
            <a:r>
              <a:rPr sz="2800" spc="-5" dirty="0">
                <a:latin typeface="Calibri"/>
                <a:cs typeface="Calibri"/>
              </a:rPr>
              <a:t>which will be </a:t>
            </a:r>
            <a:r>
              <a:rPr sz="2800" spc="-20" dirty="0">
                <a:latin typeface="Calibri"/>
                <a:cs typeface="Calibri"/>
              </a:rPr>
              <a:t>covered </a:t>
            </a:r>
            <a:r>
              <a:rPr sz="2800" spc="-15" dirty="0">
                <a:latin typeface="Calibri"/>
                <a:cs typeface="Calibri"/>
              </a:rPr>
              <a:t>over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endParaRPr sz="2800" dirty="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800" spc="-15" dirty="0">
                <a:latin typeface="Calibri"/>
                <a:cs typeface="Calibri"/>
              </a:rPr>
              <a:t>next </a:t>
            </a:r>
            <a:r>
              <a:rPr sz="2800" spc="-35" dirty="0">
                <a:latin typeface="Calibri"/>
                <a:cs typeface="Calibri"/>
              </a:rPr>
              <a:t>few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lectures</a:t>
            </a:r>
            <a:endParaRPr sz="2800" dirty="0">
              <a:latin typeface="Calibri"/>
              <a:cs typeface="Calibri"/>
            </a:endParaRPr>
          </a:p>
          <a:p>
            <a:pPr marL="756285" marR="372745" lvl="1" indent="-28638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Usually </a:t>
            </a:r>
            <a:r>
              <a:rPr sz="2800" spc="-10" dirty="0">
                <a:latin typeface="Calibri"/>
                <a:cs typeface="Calibri"/>
              </a:rPr>
              <a:t>queries can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achieved </a:t>
            </a:r>
            <a:r>
              <a:rPr sz="2800" spc="-5" dirty="0">
                <a:latin typeface="Calibri"/>
                <a:cs typeface="Calibri"/>
              </a:rPr>
              <a:t>in a </a:t>
            </a:r>
            <a:r>
              <a:rPr sz="2800" spc="-10" dirty="0">
                <a:latin typeface="Calibri"/>
                <a:cs typeface="Calibri"/>
              </a:rPr>
              <a:t>number of  </a:t>
            </a:r>
            <a:r>
              <a:rPr sz="2800" spc="-30" dirty="0">
                <a:latin typeface="Calibri"/>
                <a:cs typeface="Calibri"/>
              </a:rPr>
              <a:t>ways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376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58035">
              <a:lnSpc>
                <a:spcPct val="100000"/>
              </a:lnSpc>
            </a:pPr>
            <a:r>
              <a:rPr spc="-5" dirty="0"/>
              <a:t>Simple</a:t>
            </a:r>
            <a:r>
              <a:rPr spc="-30" dirty="0"/>
              <a:t> </a:t>
            </a:r>
            <a:r>
              <a:rPr spc="-10" dirty="0"/>
              <a:t>SELECT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629027"/>
            <a:ext cx="130302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SELE</a:t>
            </a:r>
            <a:r>
              <a:rPr sz="2800" b="1" spc="-20" dirty="0">
                <a:latin typeface="Courier New"/>
                <a:cs typeface="Courier New"/>
              </a:rPr>
              <a:t>C</a:t>
            </a:r>
            <a:r>
              <a:rPr sz="2800" b="1" spc="-5" dirty="0">
                <a:latin typeface="Courier New"/>
                <a:cs typeface="Courier New"/>
              </a:rPr>
              <a:t>T</a:t>
            </a:r>
            <a:endParaRPr sz="2800">
              <a:latin typeface="Courier New"/>
              <a:cs typeface="Courier New"/>
            </a:endParaRPr>
          </a:p>
          <a:p>
            <a:pPr marL="439420">
              <a:lnSpc>
                <a:spcPct val="100000"/>
              </a:lnSpc>
              <a:spcBef>
                <a:spcPts val="670"/>
              </a:spcBef>
            </a:pPr>
            <a:r>
              <a:rPr sz="2800" b="1" spc="-20" dirty="0">
                <a:latin typeface="Courier New"/>
                <a:cs typeface="Courier New"/>
              </a:rPr>
              <a:t>F</a:t>
            </a:r>
            <a:r>
              <a:rPr sz="2800" b="1" spc="-10" dirty="0">
                <a:latin typeface="Courier New"/>
                <a:cs typeface="Courier New"/>
              </a:rPr>
              <a:t>R</a:t>
            </a:r>
            <a:r>
              <a:rPr sz="2800" b="1" spc="-20" dirty="0">
                <a:latin typeface="Courier New"/>
                <a:cs typeface="Courier New"/>
              </a:rPr>
              <a:t>O</a:t>
            </a:r>
            <a:r>
              <a:rPr sz="2800" b="1" spc="-5" dirty="0">
                <a:latin typeface="Courier New"/>
                <a:cs typeface="Courier New"/>
              </a:rPr>
              <a:t>M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25142" y="2629027"/>
            <a:ext cx="2366645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columns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b="1" spc="-10" dirty="0">
                <a:latin typeface="Courier New"/>
                <a:cs typeface="Courier New"/>
              </a:rPr>
              <a:t>table-name;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828" y="2121534"/>
            <a:ext cx="3685540" cy="214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columns</a:t>
            </a:r>
            <a:r>
              <a:rPr sz="2800" b="1" spc="-113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alibri"/>
                <a:cs typeface="Calibri"/>
              </a:rPr>
              <a:t>can be</a:t>
            </a:r>
            <a:endParaRPr sz="28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single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column</a:t>
            </a:r>
            <a:endParaRPr sz="2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comma-separated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columns</a:t>
            </a:r>
            <a:endParaRPr sz="2400">
              <a:latin typeface="Calibri"/>
              <a:cs typeface="Calibri"/>
            </a:endParaRPr>
          </a:p>
          <a:p>
            <a:pPr marL="756285" indent="-28638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b="1" dirty="0">
                <a:latin typeface="Courier New"/>
                <a:cs typeface="Courier New"/>
              </a:rPr>
              <a:t>*</a:t>
            </a:r>
            <a:r>
              <a:rPr sz="2400" b="1" spc="-940" dirty="0">
                <a:latin typeface="Courier New"/>
                <a:cs typeface="Courier New"/>
              </a:rPr>
              <a:t> </a:t>
            </a:r>
            <a:r>
              <a:rPr sz="2400" spc="-20" dirty="0">
                <a:latin typeface="Calibri"/>
                <a:cs typeface="Calibri"/>
              </a:rPr>
              <a:t>for ‘all </a:t>
            </a:r>
            <a:r>
              <a:rPr sz="2400" spc="-5" dirty="0">
                <a:latin typeface="Calibri"/>
                <a:cs typeface="Calibri"/>
              </a:rPr>
              <a:t>columns’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51033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99285">
              <a:lnSpc>
                <a:spcPct val="100000"/>
              </a:lnSpc>
            </a:pPr>
            <a:r>
              <a:rPr dirty="0"/>
              <a:t>Sample</a:t>
            </a:r>
            <a:r>
              <a:rPr spc="-85" dirty="0"/>
              <a:t> </a:t>
            </a:r>
            <a:r>
              <a:rPr spc="-50" dirty="0"/>
              <a:t>SELECTs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98295"/>
            <a:ext cx="149161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6233" y="1598295"/>
            <a:ext cx="149161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*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FROM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6430" y="1598295"/>
            <a:ext cx="1980564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Student;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6788" y="2490851"/>
            <a:ext cx="999490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Student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898142" y="2911982"/>
          <a:ext cx="5575934" cy="3200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3730"/>
                <a:gridCol w="1441323"/>
                <a:gridCol w="2598547"/>
                <a:gridCol w="902334"/>
              </a:tblGrid>
              <a:tr h="4572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sID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sName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sAddress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40" dirty="0">
                          <a:latin typeface="Calibri"/>
                          <a:cs typeface="Calibri"/>
                        </a:rPr>
                        <a:t>sYear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483996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Smith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5 Arnold</a:t>
                      </a:r>
                      <a:r>
                        <a:rPr sz="24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Close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457276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Brooks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7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Holly</a:t>
                      </a:r>
                      <a:r>
                        <a:rPr sz="2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Avenue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542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Anderson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15 Main</a:t>
                      </a:r>
                      <a:r>
                        <a:rPr sz="24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Street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3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161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4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Evans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Flat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1a,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24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Street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2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326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5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Harrison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Newark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Hall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29882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6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Jones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Southwell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Hall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3694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99285">
              <a:lnSpc>
                <a:spcPct val="100000"/>
              </a:lnSpc>
            </a:pPr>
            <a:r>
              <a:rPr dirty="0"/>
              <a:t>Sample</a:t>
            </a:r>
            <a:r>
              <a:rPr spc="-85" dirty="0"/>
              <a:t> </a:t>
            </a:r>
            <a:r>
              <a:rPr spc="-50" dirty="0"/>
              <a:t>SELECTs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98295"/>
            <a:ext cx="149161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6122" y="1598295"/>
            <a:ext cx="124714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sName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2590" y="1598295"/>
            <a:ext cx="100266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FROM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5092" y="1598295"/>
            <a:ext cx="1980564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Student;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1164406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99285">
              <a:lnSpc>
                <a:spcPct val="100000"/>
              </a:lnSpc>
            </a:pPr>
            <a:r>
              <a:rPr dirty="0"/>
              <a:t>Sample</a:t>
            </a:r>
            <a:r>
              <a:rPr spc="-85" dirty="0"/>
              <a:t> </a:t>
            </a:r>
            <a:r>
              <a:rPr spc="-50" dirty="0"/>
              <a:t>SELECTs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98295"/>
            <a:ext cx="149161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6122" y="1598295"/>
            <a:ext cx="124714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sName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2590" y="1598295"/>
            <a:ext cx="100266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FROM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35092" y="1598295"/>
            <a:ext cx="1980564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Student;</a:t>
            </a:r>
            <a:endParaRPr sz="32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14394" y="2652522"/>
          <a:ext cx="1441322" cy="32004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322"/>
              </a:tblGrid>
              <a:tr h="457200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sName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484162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Smith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457161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Brooks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212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Anderson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479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Evans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174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Harrison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30021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Jones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404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99285">
              <a:lnSpc>
                <a:spcPct val="100000"/>
              </a:lnSpc>
            </a:pPr>
            <a:r>
              <a:rPr dirty="0"/>
              <a:t>Sample</a:t>
            </a:r>
            <a:r>
              <a:rPr spc="-85" dirty="0"/>
              <a:t> </a:t>
            </a:r>
            <a:r>
              <a:rPr spc="-50" dirty="0"/>
              <a:t>SELECTs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6122" y="1598295"/>
            <a:ext cx="369062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sName,</a:t>
            </a:r>
            <a:r>
              <a:rPr sz="3200" b="1" spc="-70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sAddress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98295"/>
            <a:ext cx="1491615" cy="1014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FROM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1724" y="2085975"/>
            <a:ext cx="197866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Student;</a:t>
            </a:r>
            <a:endParaRPr sz="32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9128976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99285">
              <a:lnSpc>
                <a:spcPct val="100000"/>
              </a:lnSpc>
            </a:pPr>
            <a:r>
              <a:rPr dirty="0"/>
              <a:t>Sample</a:t>
            </a:r>
            <a:r>
              <a:rPr spc="-85" dirty="0"/>
              <a:t> </a:t>
            </a:r>
            <a:r>
              <a:rPr spc="-50" dirty="0"/>
              <a:t>SELECTs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6122" y="1598295"/>
            <a:ext cx="369062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sName,</a:t>
            </a:r>
            <a:r>
              <a:rPr sz="3200" b="1" spc="-70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sAddress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598295"/>
            <a:ext cx="1491615" cy="1014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FROM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01724" y="2085975"/>
            <a:ext cx="197866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Student;</a:t>
            </a:r>
            <a:endParaRPr sz="320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538857" y="2868548"/>
          <a:ext cx="4039869" cy="320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322"/>
                <a:gridCol w="2598547"/>
              </a:tblGrid>
              <a:tr h="4572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sName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sAddress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483997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Smith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5 Arnold</a:t>
                      </a:r>
                      <a:r>
                        <a:rPr sz="24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Close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457326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spc="-15" dirty="0">
                          <a:latin typeface="Calibri"/>
                          <a:cs typeface="Calibri"/>
                        </a:rPr>
                        <a:t>Brooks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7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Holly</a:t>
                      </a:r>
                      <a:r>
                        <a:rPr sz="24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5" dirty="0">
                          <a:latin typeface="Calibri"/>
                          <a:cs typeface="Calibri"/>
                        </a:rPr>
                        <a:t>Avenue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276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Anderson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15 Main</a:t>
                      </a:r>
                      <a:r>
                        <a:rPr sz="24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Street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542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Calibri"/>
                          <a:cs typeface="Calibri"/>
                        </a:rPr>
                        <a:t>Evans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Flat </a:t>
                      </a:r>
                      <a:r>
                        <a:rPr sz="2400" dirty="0">
                          <a:latin typeface="Calibri"/>
                          <a:cs typeface="Calibri"/>
                        </a:rPr>
                        <a:t>1a,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24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10" dirty="0">
                          <a:latin typeface="Calibri"/>
                          <a:cs typeface="Calibri"/>
                        </a:rPr>
                        <a:t>Street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57149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Harrison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Newark</a:t>
                      </a:r>
                      <a:r>
                        <a:rPr sz="2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Hall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2992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libri"/>
                          <a:cs typeface="Calibri"/>
                        </a:rPr>
                        <a:t>Jones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Southwell</a:t>
                      </a:r>
                      <a:r>
                        <a:rPr sz="2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Hall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928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SELECT Overview 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872067" y="2057400"/>
            <a:ext cx="7408333" cy="4068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SELECT 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[</a:t>
            </a:r>
            <a:r>
              <a:rPr lang="en-US" dirty="0"/>
              <a:t>DISTINCT | ALL] column-list 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FROM </a:t>
            </a:r>
            <a:r>
              <a:rPr lang="en-US" dirty="0"/>
              <a:t>table-names 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[</a:t>
            </a:r>
            <a:r>
              <a:rPr lang="en-US" dirty="0"/>
              <a:t>WHERE condition] </a:t>
            </a:r>
            <a:endParaRPr lang="en-US" dirty="0" smtClean="0"/>
          </a:p>
          <a:p>
            <a:pPr marL="0" indent="0" algn="r">
              <a:buNone/>
            </a:pPr>
            <a:r>
              <a:rPr lang="en-US" dirty="0" smtClean="0"/>
              <a:t>([] </a:t>
            </a:r>
            <a:r>
              <a:rPr lang="en-US" dirty="0"/>
              <a:t>optional, | or)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21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92250">
              <a:lnSpc>
                <a:spcPct val="100000"/>
              </a:lnSpc>
            </a:pPr>
            <a:r>
              <a:rPr spc="-10" dirty="0"/>
              <a:t>Example</a:t>
            </a:r>
            <a:r>
              <a:rPr spc="-75" dirty="0"/>
              <a:t> </a:t>
            </a:r>
            <a:r>
              <a:rPr spc="-6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5507" y="1515745"/>
            <a:ext cx="75755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Stud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2075" y="1846072"/>
          <a:ext cx="2664282" cy="2225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48"/>
                <a:gridCol w="936117"/>
                <a:gridCol w="936117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First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061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41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Jane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54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33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35507" y="4180585"/>
            <a:ext cx="66611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Course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62075" y="4510404"/>
          <a:ext cx="2952318" cy="18541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48"/>
                <a:gridCol w="2160270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Title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68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Systems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41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28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279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Introduction 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564507" y="1515745"/>
            <a:ext cx="58864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G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ade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490465" y="1840992"/>
          <a:ext cx="2929001" cy="33375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/>
                <a:gridCol w="857250"/>
                <a:gridCol w="1071626"/>
              </a:tblGrid>
              <a:tr h="37084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048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299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87584"/>
            <a:ext cx="8229600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28725">
              <a:lnSpc>
                <a:spcPct val="100000"/>
              </a:lnSpc>
            </a:pPr>
            <a:r>
              <a:rPr dirty="0" smtClean="0"/>
              <a:t>DISTINCT</a:t>
            </a:r>
            <a:r>
              <a:rPr lang="en-GB" dirty="0" smtClean="0"/>
              <a:t/>
            </a:r>
            <a:br>
              <a:rPr lang="en-GB" dirty="0" smtClean="0"/>
            </a:b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5670" y="2344656"/>
            <a:ext cx="7312660" cy="859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algn="just">
              <a:lnSpc>
                <a:spcPts val="319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Sometimes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end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 smtClean="0">
                <a:latin typeface="Calibri"/>
                <a:cs typeface="Calibri"/>
              </a:rPr>
              <a:t>up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spc="-5" dirty="0" smtClean="0">
                <a:latin typeface="Calibri"/>
                <a:cs typeface="Calibri"/>
              </a:rPr>
              <a:t>with </a:t>
            </a:r>
            <a:r>
              <a:rPr sz="2800" spc="-15" dirty="0">
                <a:latin typeface="Calibri"/>
                <a:cs typeface="Calibri"/>
              </a:rPr>
              <a:t>duplicate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entries</a:t>
            </a:r>
            <a:endParaRPr sz="2800" dirty="0">
              <a:latin typeface="Calibri"/>
              <a:cs typeface="Calibri"/>
            </a:endParaRPr>
          </a:p>
          <a:p>
            <a:pPr marL="355600" indent="-342900" algn="just">
              <a:lnSpc>
                <a:spcPts val="3195"/>
              </a:lnSpc>
              <a:spcBef>
                <a:spcPts val="33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Using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 smtClean="0">
                <a:latin typeface="Calibri"/>
                <a:cs typeface="Calibri"/>
              </a:rPr>
              <a:t>DISTINCT</a:t>
            </a:r>
            <a:r>
              <a:rPr lang="en-US" sz="2800" dirty="0">
                <a:latin typeface="Calibri"/>
                <a:cs typeface="Calibri"/>
              </a:rPr>
              <a:t> </a:t>
            </a:r>
            <a:r>
              <a:rPr sz="2800" spc="-15" dirty="0" smtClean="0">
                <a:latin typeface="Calibri"/>
                <a:cs typeface="Calibri"/>
              </a:rPr>
              <a:t>removes</a:t>
            </a:r>
            <a:r>
              <a:rPr sz="2800" spc="-75" dirty="0" smtClean="0">
                <a:latin typeface="Calibri"/>
                <a:cs typeface="Calibri"/>
              </a:rPr>
              <a:t> </a:t>
            </a:r>
            <a:r>
              <a:rPr sz="2800" spc="-15" dirty="0" smtClean="0">
                <a:latin typeface="Calibri"/>
                <a:cs typeface="Calibri"/>
              </a:rPr>
              <a:t>duplicates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8600" y="3733800"/>
            <a:ext cx="635000" cy="33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Last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3000" y="3733800"/>
            <a:ext cx="977900" cy="669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SELECT</a:t>
            </a:r>
            <a:endParaRPr sz="20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latin typeface="Courier New"/>
                <a:cs typeface="Courier New"/>
              </a:rPr>
              <a:t>FROM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38400" y="3733800"/>
            <a:ext cx="1282700" cy="669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DISTINCT</a:t>
            </a:r>
            <a:endParaRPr sz="2000" dirty="0">
              <a:latin typeface="Courier New"/>
              <a:cs typeface="Courier New"/>
            </a:endParaRPr>
          </a:p>
          <a:p>
            <a:pPr marL="50165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latin typeface="Courier New"/>
                <a:cs typeface="Courier New"/>
              </a:rPr>
              <a:t>Student;</a:t>
            </a:r>
            <a:endParaRPr sz="2000" dirty="0">
              <a:latin typeface="Courier New"/>
              <a:cs typeface="Courier New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529216"/>
              </p:ext>
            </p:extLst>
          </p:nvPr>
        </p:nvGraphicFramePr>
        <p:xfrm>
          <a:off x="5791200" y="3748426"/>
          <a:ext cx="1524000" cy="2042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000"/>
              </a:tblGrid>
              <a:tr h="510706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Last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538956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511132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48198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59865">
              <a:lnSpc>
                <a:spcPct val="100000"/>
              </a:lnSpc>
            </a:pPr>
            <a:r>
              <a:rPr dirty="0"/>
              <a:t>WHERE</a:t>
            </a:r>
            <a:r>
              <a:rPr spc="-95" dirty="0"/>
              <a:t> </a:t>
            </a:r>
            <a:r>
              <a:rPr spc="-5" dirty="0"/>
              <a:t>Clauses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3851910" cy="3653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270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5" dirty="0">
                <a:latin typeface="Calibri"/>
                <a:cs typeface="Calibri"/>
              </a:rPr>
              <a:t>most </a:t>
            </a:r>
            <a:r>
              <a:rPr sz="2800" spc="-5" dirty="0">
                <a:latin typeface="Calibri"/>
                <a:cs typeface="Calibri"/>
              </a:rPr>
              <a:t>cases </a:t>
            </a:r>
            <a:r>
              <a:rPr sz="2800" spc="-15" dirty="0">
                <a:latin typeface="Calibri"/>
                <a:cs typeface="Calibri"/>
              </a:rPr>
              <a:t>returning  </a:t>
            </a:r>
            <a:r>
              <a:rPr sz="2800" spc="-5" dirty="0">
                <a:latin typeface="Calibri"/>
                <a:cs typeface="Calibri"/>
              </a:rPr>
              <a:t>all the </a:t>
            </a:r>
            <a:r>
              <a:rPr sz="2800" spc="-25" dirty="0">
                <a:latin typeface="Calibri"/>
                <a:cs typeface="Calibri"/>
              </a:rPr>
              <a:t>rows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not  </a:t>
            </a:r>
            <a:r>
              <a:rPr sz="2800" spc="-5" dirty="0">
                <a:latin typeface="Calibri"/>
                <a:cs typeface="Calibri"/>
              </a:rPr>
              <a:t>necessary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A WHERE clause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restricts</a:t>
            </a:r>
            <a:endParaRPr sz="2400" dirty="0">
              <a:latin typeface="Calibri"/>
              <a:cs typeface="Calibri"/>
            </a:endParaRPr>
          </a:p>
          <a:p>
            <a:pPr marL="462280" algn="ctr">
              <a:lnSpc>
                <a:spcPct val="100000"/>
              </a:lnSpc>
            </a:pPr>
            <a:r>
              <a:rPr sz="2400" spc="-20" dirty="0">
                <a:latin typeface="Calibri"/>
                <a:cs typeface="Calibri"/>
              </a:rPr>
              <a:t>rows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returned</a:t>
            </a:r>
            <a:endParaRPr sz="2400" dirty="0">
              <a:latin typeface="Calibri"/>
              <a:cs typeface="Calibri"/>
            </a:endParaRPr>
          </a:p>
          <a:p>
            <a:pPr marL="756285" marR="8890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20" dirty="0">
                <a:latin typeface="Calibri"/>
                <a:cs typeface="Calibri"/>
              </a:rPr>
              <a:t>takes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form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 </a:t>
            </a:r>
            <a:r>
              <a:rPr sz="2400" spc="-10" dirty="0">
                <a:latin typeface="Calibri"/>
                <a:cs typeface="Calibri"/>
              </a:rPr>
              <a:t>condition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5" dirty="0">
                <a:latin typeface="Calibri"/>
                <a:cs typeface="Calibri"/>
              </a:rPr>
              <a:t>only </a:t>
            </a:r>
            <a:r>
              <a:rPr sz="2400" spc="-20" dirty="0">
                <a:latin typeface="Calibri"/>
                <a:cs typeface="Calibri"/>
              </a:rPr>
              <a:t>rows  </a:t>
            </a:r>
            <a:r>
              <a:rPr sz="2400" spc="-10" dirty="0">
                <a:latin typeface="Calibri"/>
                <a:cs typeface="Calibri"/>
              </a:rPr>
              <a:t>that satisfy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condition 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returned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623186"/>
            <a:ext cx="3326765" cy="1323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Example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conditions: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Courier New"/>
                <a:cs typeface="Courier New"/>
              </a:rPr>
              <a:t>Mark </a:t>
            </a:r>
            <a:r>
              <a:rPr sz="2400" b="1" dirty="0">
                <a:latin typeface="Courier New"/>
                <a:cs typeface="Courier New"/>
              </a:rPr>
              <a:t>&lt;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40</a:t>
            </a:r>
            <a:endParaRPr sz="2400" dirty="0">
              <a:latin typeface="Courier New"/>
              <a:cs typeface="Courier New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Courier New"/>
                <a:cs typeface="Courier New"/>
              </a:rPr>
              <a:t>First =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‘John’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8820" y="3426841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Last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85028" y="3426841"/>
            <a:ext cx="1773555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b="1" spc="-5" dirty="0">
                <a:latin typeface="Courier New"/>
                <a:cs typeface="Courier New"/>
              </a:rPr>
              <a:t>First</a:t>
            </a:r>
            <a:endParaRPr sz="2400" dirty="0">
              <a:latin typeface="Courier New"/>
              <a:cs typeface="Courier New"/>
            </a:endParaRPr>
          </a:p>
          <a:p>
            <a:pPr marL="299085" indent="-28638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b="1" spc="-5" dirty="0">
                <a:latin typeface="Courier New"/>
                <a:cs typeface="Courier New"/>
              </a:rPr>
              <a:t>(First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=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1540" y="4231894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AND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(Last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4413" y="3865753"/>
            <a:ext cx="1304290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‘John</a:t>
            </a:r>
            <a:r>
              <a:rPr sz="2400" b="1" spc="-20" dirty="0">
                <a:latin typeface="Courier New"/>
                <a:cs typeface="Courier New"/>
              </a:rPr>
              <a:t>’</a:t>
            </a:r>
            <a:r>
              <a:rPr sz="2400" b="1" spc="-5" dirty="0">
                <a:latin typeface="Courier New"/>
                <a:cs typeface="Courier New"/>
              </a:rPr>
              <a:t>)</a:t>
            </a:r>
            <a:endParaRPr sz="2400" dirty="0">
              <a:latin typeface="Courier New"/>
              <a:cs typeface="Courier New"/>
            </a:endParaRPr>
          </a:p>
          <a:p>
            <a:pPr marL="194945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=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1540" y="4597654"/>
            <a:ext cx="14871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‘Smith</a:t>
            </a:r>
            <a:r>
              <a:rPr sz="2400" b="1" spc="-20" dirty="0">
                <a:latin typeface="Courier New"/>
                <a:cs typeface="Courier New"/>
              </a:rPr>
              <a:t>’</a:t>
            </a:r>
            <a:r>
              <a:rPr sz="2400" b="1" spc="-5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85028" y="5036566"/>
            <a:ext cx="1227455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2400" b="1" spc="-5" dirty="0">
                <a:latin typeface="Courier New"/>
                <a:cs typeface="Courier New"/>
              </a:rPr>
              <a:t>(Mark</a:t>
            </a:r>
            <a:endParaRPr sz="2400" dirty="0">
              <a:latin typeface="Courier New"/>
              <a:cs typeface="Courier New"/>
            </a:endParaRPr>
          </a:p>
          <a:p>
            <a:pPr marL="29908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(Mark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8698" y="5036566"/>
            <a:ext cx="1485900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6805" algn="l"/>
              </a:tabLst>
            </a:pPr>
            <a:r>
              <a:rPr sz="2400" b="1" dirty="0">
                <a:latin typeface="Courier New"/>
                <a:cs typeface="Courier New"/>
              </a:rPr>
              <a:t>&lt;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40</a:t>
            </a:r>
            <a:r>
              <a:rPr sz="2400" b="1" dirty="0">
                <a:latin typeface="Courier New"/>
                <a:cs typeface="Courier New"/>
              </a:rPr>
              <a:t>)	</a:t>
            </a:r>
            <a:r>
              <a:rPr sz="2400" b="1" spc="-5" dirty="0">
                <a:latin typeface="Courier New"/>
                <a:cs typeface="Courier New"/>
              </a:rPr>
              <a:t>OR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&gt;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70)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185028" y="2945375"/>
            <a:ext cx="30659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• </a:t>
            </a:r>
            <a:r>
              <a:rPr lang="en-US" sz="2400" b="1" spc="-5" dirty="0">
                <a:latin typeface="Courier New"/>
                <a:cs typeface="Courier New"/>
              </a:rPr>
              <a:t>First &lt;&gt; ‘John</a:t>
            </a:r>
            <a:r>
              <a:rPr lang="en-US" dirty="0"/>
              <a:t>’ </a:t>
            </a:r>
            <a:endParaRPr lang="ru-RU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965">
              <a:lnSpc>
                <a:spcPct val="100000"/>
              </a:lnSpc>
            </a:pPr>
            <a:r>
              <a:rPr dirty="0"/>
              <a:t>WHERE</a:t>
            </a:r>
            <a:r>
              <a:rPr spc="-10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4329" y="1609978"/>
            <a:ext cx="11220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*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FROM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2718" y="1609978"/>
            <a:ext cx="9372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Gr</a:t>
            </a:r>
            <a:r>
              <a:rPr sz="2400" b="1" spc="-5" dirty="0">
                <a:latin typeface="Courier New"/>
                <a:cs typeface="Courier New"/>
              </a:rPr>
              <a:t>ade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609978"/>
            <a:ext cx="1283335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endParaRPr sz="24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ourier New"/>
                <a:cs typeface="Courier New"/>
              </a:rPr>
              <a:t>WHERE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424" y="2048890"/>
            <a:ext cx="7543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Ma</a:t>
            </a:r>
            <a:r>
              <a:rPr sz="2400" b="1" spc="-5" dirty="0">
                <a:latin typeface="Courier New"/>
                <a:cs typeface="Courier New"/>
              </a:rPr>
              <a:t>rk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7776" y="2048890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&gt;=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60;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6218" y="1609978"/>
            <a:ext cx="2032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DISTINCT</a:t>
            </a:r>
            <a:r>
              <a:rPr sz="2400" b="1" spc="-13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ID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7828" y="1609978"/>
            <a:ext cx="1282700" cy="1276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endParaRPr sz="2400" dirty="0">
              <a:latin typeface="Courier New"/>
              <a:cs typeface="Courier New"/>
            </a:endParaRPr>
          </a:p>
          <a:p>
            <a:pPr marL="355600" marR="5080">
              <a:lnSpc>
                <a:spcPct val="120000"/>
              </a:lnSpc>
            </a:pPr>
            <a:r>
              <a:rPr sz="2400" b="1" spc="-5" dirty="0">
                <a:latin typeface="Courier New"/>
                <a:cs typeface="Courier New"/>
              </a:rPr>
              <a:t>FROM  WHERE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85128" y="1975738"/>
            <a:ext cx="937260" cy="910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5580" marR="5080" indent="-182880">
              <a:lnSpc>
                <a:spcPct val="120000"/>
              </a:lnSpc>
            </a:pPr>
            <a:r>
              <a:rPr sz="2400" b="1" spc="-5" dirty="0">
                <a:latin typeface="Courier New"/>
                <a:cs typeface="Courier New"/>
              </a:rPr>
              <a:t>G</a:t>
            </a:r>
            <a:r>
              <a:rPr sz="2400" b="1" spc="-15" dirty="0">
                <a:latin typeface="Courier New"/>
                <a:cs typeface="Courier New"/>
              </a:rPr>
              <a:t>ra</a:t>
            </a:r>
            <a:r>
              <a:rPr sz="2400" b="1" spc="-5" dirty="0">
                <a:latin typeface="Courier New"/>
                <a:cs typeface="Courier New"/>
              </a:rPr>
              <a:t>de  </a:t>
            </a:r>
            <a:r>
              <a:rPr sz="2400" b="1" spc="-15" dirty="0">
                <a:latin typeface="Courier New"/>
                <a:cs typeface="Courier New"/>
              </a:rPr>
              <a:t>Ma</a:t>
            </a:r>
            <a:r>
              <a:rPr sz="2400" b="1" spc="-5" dirty="0">
                <a:latin typeface="Courier New"/>
                <a:cs typeface="Courier New"/>
              </a:rPr>
              <a:t>rk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9360" y="2487803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&gt;=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60;</a:t>
            </a:r>
            <a:endParaRPr sz="24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965">
              <a:lnSpc>
                <a:spcPct val="100000"/>
              </a:lnSpc>
            </a:pPr>
            <a:r>
              <a:rPr dirty="0"/>
              <a:t>WHERE</a:t>
            </a:r>
            <a:r>
              <a:rPr spc="-10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4329" y="1609978"/>
            <a:ext cx="11220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*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FROM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2718" y="1609978"/>
            <a:ext cx="9372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Gr</a:t>
            </a:r>
            <a:r>
              <a:rPr sz="2400" b="1" spc="-5" dirty="0">
                <a:latin typeface="Courier New"/>
                <a:cs typeface="Courier New"/>
              </a:rPr>
              <a:t>ade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1609978"/>
            <a:ext cx="1283335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endParaRPr sz="24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ourier New"/>
                <a:cs typeface="Courier New"/>
              </a:rPr>
              <a:t>WHERE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6424" y="2048890"/>
            <a:ext cx="7543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Ma</a:t>
            </a:r>
            <a:r>
              <a:rPr sz="2400" b="1" spc="-5" dirty="0">
                <a:latin typeface="Courier New"/>
                <a:cs typeface="Courier New"/>
              </a:rPr>
              <a:t>rk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7776" y="2048890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&gt;=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60;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06218" y="1609978"/>
            <a:ext cx="2032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DISTINCT</a:t>
            </a:r>
            <a:r>
              <a:rPr sz="2400" b="1" spc="-13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7828" y="1609978"/>
            <a:ext cx="1282700" cy="1276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endParaRPr sz="2400">
              <a:latin typeface="Courier New"/>
              <a:cs typeface="Courier New"/>
            </a:endParaRPr>
          </a:p>
          <a:p>
            <a:pPr marL="355600" marR="5080">
              <a:lnSpc>
                <a:spcPct val="120000"/>
              </a:lnSpc>
            </a:pPr>
            <a:r>
              <a:rPr sz="2400" b="1" spc="-5" dirty="0">
                <a:latin typeface="Courier New"/>
                <a:cs typeface="Courier New"/>
              </a:rPr>
              <a:t>FROM  WHERE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85128" y="1975738"/>
            <a:ext cx="937260" cy="910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5580" marR="5080" indent="-182880">
              <a:lnSpc>
                <a:spcPct val="120000"/>
              </a:lnSpc>
            </a:pPr>
            <a:r>
              <a:rPr sz="2400" b="1" spc="-5" dirty="0">
                <a:latin typeface="Courier New"/>
                <a:cs typeface="Courier New"/>
              </a:rPr>
              <a:t>G</a:t>
            </a:r>
            <a:r>
              <a:rPr sz="2400" b="1" spc="-15" dirty="0">
                <a:latin typeface="Courier New"/>
                <a:cs typeface="Courier New"/>
              </a:rPr>
              <a:t>ra</a:t>
            </a:r>
            <a:r>
              <a:rPr sz="2400" b="1" spc="-5" dirty="0">
                <a:latin typeface="Courier New"/>
                <a:cs typeface="Courier New"/>
              </a:rPr>
              <a:t>de  </a:t>
            </a:r>
            <a:r>
              <a:rPr sz="2400" b="1" spc="-15" dirty="0">
                <a:latin typeface="Courier New"/>
                <a:cs typeface="Courier New"/>
              </a:rPr>
              <a:t>Ma</a:t>
            </a:r>
            <a:r>
              <a:rPr sz="2400" b="1" spc="-5" dirty="0">
                <a:latin typeface="Courier New"/>
                <a:cs typeface="Courier New"/>
              </a:rPr>
              <a:t>rk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9360" y="2487803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&gt;=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60;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146672" y="3491484"/>
          <a:ext cx="936117" cy="14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6117"/>
              </a:tblGrid>
              <a:tr h="365759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599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65721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45567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034084" y="3131439"/>
          <a:ext cx="2664281" cy="2225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48"/>
                <a:gridCol w="936117"/>
                <a:gridCol w="936116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31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10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89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308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965">
              <a:lnSpc>
                <a:spcPct val="100000"/>
              </a:lnSpc>
            </a:pPr>
            <a:r>
              <a:rPr dirty="0"/>
              <a:t>WHERE</a:t>
            </a:r>
            <a:r>
              <a:rPr spc="-10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828" y="1623186"/>
            <a:ext cx="3742690" cy="2591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Calibri"/>
                <a:cs typeface="Calibri"/>
              </a:rPr>
              <a:t>Write </a:t>
            </a:r>
            <a:r>
              <a:rPr sz="2800" spc="-5" dirty="0">
                <a:latin typeface="Calibri"/>
                <a:cs typeface="Calibri"/>
              </a:rPr>
              <a:t>an SQL query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spc="-10" dirty="0">
                <a:latin typeface="Calibri"/>
                <a:cs typeface="Calibri"/>
              </a:rPr>
              <a:t>find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list </a:t>
            </a:r>
            <a:r>
              <a:rPr sz="2800" spc="-5" dirty="0">
                <a:latin typeface="Calibri"/>
                <a:cs typeface="Calibri"/>
              </a:rPr>
              <a:t>of the ID  </a:t>
            </a:r>
            <a:r>
              <a:rPr sz="2800" spc="-15" dirty="0">
                <a:latin typeface="Calibri"/>
                <a:cs typeface="Calibri"/>
              </a:rPr>
              <a:t>numbers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Marks </a:t>
            </a:r>
            <a:r>
              <a:rPr sz="2800" spc="-30" dirty="0">
                <a:latin typeface="Calibri"/>
                <a:cs typeface="Calibri"/>
              </a:rPr>
              <a:t>for  </a:t>
            </a:r>
            <a:r>
              <a:rPr sz="2800" spc="-15" dirty="0">
                <a:latin typeface="Calibri"/>
                <a:cs typeface="Calibri"/>
              </a:rPr>
              <a:t>students </a:t>
            </a:r>
            <a:r>
              <a:rPr sz="2800" spc="-5" dirty="0">
                <a:latin typeface="Calibri"/>
                <a:cs typeface="Calibri"/>
              </a:rPr>
              <a:t>who </a:t>
            </a:r>
            <a:r>
              <a:rPr sz="2800" spc="-25" dirty="0">
                <a:latin typeface="Calibri"/>
                <a:cs typeface="Calibri"/>
              </a:rPr>
              <a:t>have  </a:t>
            </a:r>
            <a:r>
              <a:rPr sz="2800" spc="-10" dirty="0">
                <a:latin typeface="Calibri"/>
                <a:cs typeface="Calibri"/>
              </a:rPr>
              <a:t>passed </a:t>
            </a:r>
            <a:r>
              <a:rPr sz="2800" spc="-15" dirty="0">
                <a:latin typeface="Calibri"/>
                <a:cs typeface="Calibri"/>
              </a:rPr>
              <a:t>(scored </a:t>
            </a:r>
            <a:r>
              <a:rPr sz="2800" spc="-5" dirty="0">
                <a:latin typeface="Calibri"/>
                <a:cs typeface="Calibri"/>
              </a:rPr>
              <a:t>50% </a:t>
            </a:r>
            <a:r>
              <a:rPr sz="2800" spc="-10" dirty="0">
                <a:latin typeface="Calibri"/>
                <a:cs typeface="Calibri"/>
              </a:rPr>
              <a:t>or  more)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IAI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23186"/>
            <a:ext cx="2661920" cy="983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table:</a:t>
            </a:r>
            <a:endParaRPr sz="2800">
              <a:latin typeface="Calibri"/>
              <a:cs typeface="Calibri"/>
            </a:endParaRPr>
          </a:p>
          <a:p>
            <a:pPr marL="440055">
              <a:lnSpc>
                <a:spcPct val="100000"/>
              </a:lnSpc>
              <a:spcBef>
                <a:spcPts val="2030"/>
              </a:spcBef>
            </a:pPr>
            <a:r>
              <a:rPr sz="1800" spc="-10" dirty="0">
                <a:latin typeface="Calibri"/>
                <a:cs typeface="Calibri"/>
              </a:rPr>
              <a:t>Grade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0066" y="2633091"/>
          <a:ext cx="2928948" cy="3337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074"/>
                <a:gridCol w="857376"/>
                <a:gridCol w="1071498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1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299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14619" y="4571619"/>
          <a:ext cx="2071624" cy="1112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/>
                <a:gridCol w="1071499"/>
              </a:tblGrid>
              <a:tr h="370839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683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52983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2825">
              <a:lnSpc>
                <a:spcPct val="100000"/>
              </a:lnSpc>
            </a:pPr>
            <a:r>
              <a:rPr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2670703"/>
            <a:ext cx="3688715" cy="1210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 marR="5080" indent="-914400">
              <a:lnSpc>
                <a:spcPct val="120100"/>
              </a:lnSpc>
            </a:pPr>
            <a:r>
              <a:rPr sz="3200" b="1" spc="-5" dirty="0">
                <a:latin typeface="Courier New"/>
                <a:cs typeface="Courier New"/>
              </a:rPr>
              <a:t>SELECT </a:t>
            </a:r>
            <a:r>
              <a:rPr sz="3200" b="1" dirty="0">
                <a:latin typeface="Courier New"/>
                <a:cs typeface="Courier New"/>
              </a:rPr>
              <a:t>ID,</a:t>
            </a:r>
            <a:r>
              <a:rPr sz="3200" b="1" spc="-60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Mark  </a:t>
            </a:r>
            <a:r>
              <a:rPr sz="3200" b="1" dirty="0">
                <a:latin typeface="Courier New"/>
                <a:cs typeface="Courier New"/>
              </a:rPr>
              <a:t>WHERE</a:t>
            </a:r>
            <a:r>
              <a:rPr sz="3200" b="1" spc="-7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(Code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95952" y="2768727"/>
            <a:ext cx="2530475" cy="1112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FROM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Grade</a:t>
            </a:r>
            <a:endParaRPr sz="3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latin typeface="Courier New"/>
                <a:cs typeface="Courier New"/>
              </a:rPr>
              <a:t>=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‘IAI’)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3939413"/>
            <a:ext cx="295656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AND (Mark</a:t>
            </a:r>
            <a:r>
              <a:rPr sz="3200" b="1" spc="-5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&gt;=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40097" y="3939413"/>
            <a:ext cx="100203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50);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965">
              <a:lnSpc>
                <a:spcPct val="100000"/>
              </a:lnSpc>
            </a:pPr>
            <a:r>
              <a:rPr dirty="0"/>
              <a:t>WHERE</a:t>
            </a:r>
            <a:r>
              <a:rPr spc="-10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828" y="1623186"/>
            <a:ext cx="3742690" cy="2591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Calibri"/>
                <a:cs typeface="Calibri"/>
              </a:rPr>
              <a:t>Write </a:t>
            </a:r>
            <a:r>
              <a:rPr sz="2800" spc="-5" dirty="0">
                <a:latin typeface="Calibri"/>
                <a:cs typeface="Calibri"/>
              </a:rPr>
              <a:t>an SQL query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spc="-10" dirty="0">
                <a:latin typeface="Calibri"/>
                <a:cs typeface="Calibri"/>
              </a:rPr>
              <a:t>find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list </a:t>
            </a:r>
            <a:r>
              <a:rPr sz="2800" spc="-5" dirty="0">
                <a:latin typeface="Calibri"/>
                <a:cs typeface="Calibri"/>
              </a:rPr>
              <a:t>of the ID  </a:t>
            </a:r>
            <a:r>
              <a:rPr sz="2800" spc="-15" dirty="0">
                <a:latin typeface="Calibri"/>
                <a:cs typeface="Calibri"/>
              </a:rPr>
              <a:t>numbers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Marks </a:t>
            </a:r>
            <a:r>
              <a:rPr sz="2800" spc="-30" dirty="0">
                <a:latin typeface="Calibri"/>
                <a:cs typeface="Calibri"/>
              </a:rPr>
              <a:t>for  </a:t>
            </a:r>
            <a:r>
              <a:rPr sz="2800" spc="-15" dirty="0">
                <a:latin typeface="Calibri"/>
                <a:cs typeface="Calibri"/>
              </a:rPr>
              <a:t>students </a:t>
            </a:r>
            <a:r>
              <a:rPr sz="2800" spc="-5" dirty="0">
                <a:latin typeface="Calibri"/>
                <a:cs typeface="Calibri"/>
              </a:rPr>
              <a:t>who </a:t>
            </a:r>
            <a:r>
              <a:rPr sz="2800" spc="-25" dirty="0">
                <a:latin typeface="Calibri"/>
                <a:cs typeface="Calibri"/>
              </a:rPr>
              <a:t>have  </a:t>
            </a:r>
            <a:r>
              <a:rPr sz="2800" spc="-10" dirty="0">
                <a:latin typeface="Calibri"/>
                <a:cs typeface="Calibri"/>
              </a:rPr>
              <a:t>passed </a:t>
            </a:r>
            <a:r>
              <a:rPr sz="2800" spc="-5" dirty="0">
                <a:latin typeface="Calibri"/>
                <a:cs typeface="Calibri"/>
              </a:rPr>
              <a:t>with </a:t>
            </a:r>
            <a:r>
              <a:rPr sz="2800" spc="-5" dirty="0" smtClean="0">
                <a:latin typeface="Calibri"/>
                <a:cs typeface="Calibri"/>
              </a:rPr>
              <a:t>M</a:t>
            </a:r>
            <a:r>
              <a:rPr lang="en-US" sz="2800" spc="-5" dirty="0" smtClean="0">
                <a:latin typeface="Calibri"/>
                <a:cs typeface="Calibri"/>
              </a:rPr>
              <a:t>arks</a:t>
            </a:r>
            <a:r>
              <a:rPr sz="2800" spc="-5" dirty="0" smtClean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(Marks </a:t>
            </a:r>
            <a:r>
              <a:rPr sz="2800" spc="-5" dirty="0">
                <a:latin typeface="Calibri"/>
                <a:cs typeface="Calibri"/>
              </a:rPr>
              <a:t>in [60,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69])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23186"/>
            <a:ext cx="2661920" cy="983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table:</a:t>
            </a:r>
            <a:endParaRPr sz="2800" dirty="0">
              <a:latin typeface="Calibri"/>
              <a:cs typeface="Calibri"/>
            </a:endParaRPr>
          </a:p>
          <a:p>
            <a:pPr marL="440055">
              <a:lnSpc>
                <a:spcPct val="100000"/>
              </a:lnSpc>
              <a:spcBef>
                <a:spcPts val="2030"/>
              </a:spcBef>
            </a:pPr>
            <a:r>
              <a:rPr sz="1800" spc="-10" dirty="0">
                <a:latin typeface="Calibri"/>
                <a:cs typeface="Calibri"/>
              </a:rPr>
              <a:t>Grade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0066" y="2633091"/>
          <a:ext cx="2928948" cy="3337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074"/>
                <a:gridCol w="857376"/>
                <a:gridCol w="1071498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1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299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14619" y="4571619"/>
          <a:ext cx="2071624" cy="148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/>
                <a:gridCol w="1071499"/>
              </a:tblGrid>
              <a:tr h="370839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683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285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2825">
              <a:lnSpc>
                <a:spcPct val="100000"/>
              </a:lnSpc>
            </a:pPr>
            <a:r>
              <a:rPr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2768727"/>
            <a:ext cx="149034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59607" y="2768727"/>
            <a:ext cx="197993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ID,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Mark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0076" y="2768727"/>
            <a:ext cx="124650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Grade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994" y="3354196"/>
            <a:ext cx="271272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WHERE</a:t>
            </a:r>
            <a:r>
              <a:rPr sz="3200" b="1" spc="-6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(Mark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5952" y="2768727"/>
            <a:ext cx="1065530" cy="1112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F</a:t>
            </a:r>
            <a:r>
              <a:rPr sz="3200" b="1" spc="5" dirty="0">
                <a:latin typeface="Courier New"/>
                <a:cs typeface="Courier New"/>
              </a:rPr>
              <a:t>R</a:t>
            </a:r>
            <a:r>
              <a:rPr sz="3200" b="1" spc="-5" dirty="0">
                <a:latin typeface="Courier New"/>
                <a:cs typeface="Courier New"/>
              </a:rPr>
              <a:t>OM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latin typeface="Courier New"/>
                <a:cs typeface="Courier New"/>
              </a:rPr>
              <a:t>&gt;=60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4994" y="3939413"/>
            <a:ext cx="368935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b="1" spc="-5" dirty="0" smtClean="0">
                <a:latin typeface="Courier New"/>
                <a:cs typeface="Courier New"/>
              </a:rPr>
              <a:t>AND </a:t>
            </a:r>
            <a:r>
              <a:rPr sz="3200" b="1" spc="-5" dirty="0" smtClean="0">
                <a:latin typeface="Courier New"/>
                <a:cs typeface="Courier New"/>
              </a:rPr>
              <a:t>Mark </a:t>
            </a:r>
            <a:r>
              <a:rPr sz="3200" b="1" dirty="0">
                <a:latin typeface="Courier New"/>
                <a:cs typeface="Courier New"/>
              </a:rPr>
              <a:t>&lt;</a:t>
            </a:r>
            <a:r>
              <a:rPr sz="3200" b="1" spc="-4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70);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BETWEEN AND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2768727"/>
            <a:ext cx="149034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4953" y="2768727"/>
            <a:ext cx="197993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ID,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Mark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3477" y="2768727"/>
            <a:ext cx="100330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F</a:t>
            </a:r>
            <a:r>
              <a:rPr sz="3200" b="1" spc="5" dirty="0">
                <a:latin typeface="Courier New"/>
                <a:cs typeface="Courier New"/>
              </a:rPr>
              <a:t>R</a:t>
            </a:r>
            <a:r>
              <a:rPr sz="3200" b="1" spc="-5" dirty="0">
                <a:latin typeface="Courier New"/>
                <a:cs typeface="Courier New"/>
              </a:rPr>
              <a:t>OM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5422" y="2768727"/>
            <a:ext cx="124650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Grade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1511" y="2768727"/>
            <a:ext cx="124650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WHERE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0594" y="3354196"/>
            <a:ext cx="295656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Mark</a:t>
            </a:r>
            <a:r>
              <a:rPr sz="3200" b="1" spc="-60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BETWEEN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25697" y="3354196"/>
            <a:ext cx="2470150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60 </a:t>
            </a:r>
            <a:r>
              <a:rPr sz="3200" b="1" spc="-5" dirty="0">
                <a:latin typeface="Courier New"/>
                <a:cs typeface="Courier New"/>
              </a:rPr>
              <a:t>AND</a:t>
            </a:r>
            <a:r>
              <a:rPr sz="3200" b="1" spc="-6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69;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965">
              <a:lnSpc>
                <a:spcPct val="100000"/>
              </a:lnSpc>
            </a:pPr>
            <a:r>
              <a:rPr dirty="0"/>
              <a:t>WHERE</a:t>
            </a:r>
            <a:r>
              <a:rPr spc="-10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828" y="1623186"/>
            <a:ext cx="3900804" cy="173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Calibri"/>
                <a:cs typeface="Calibri"/>
              </a:rPr>
              <a:t>Write </a:t>
            </a:r>
            <a:r>
              <a:rPr sz="2800" spc="-5" dirty="0">
                <a:latin typeface="Calibri"/>
                <a:cs typeface="Calibri"/>
              </a:rPr>
              <a:t>an SQL query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spc="-10" dirty="0">
                <a:latin typeface="Calibri"/>
                <a:cs typeface="Calibri"/>
              </a:rPr>
              <a:t>find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list </a:t>
            </a:r>
            <a:r>
              <a:rPr sz="2800" spc="-5" dirty="0">
                <a:latin typeface="Calibri"/>
                <a:cs typeface="Calibri"/>
              </a:rPr>
              <a:t>of the  </a:t>
            </a:r>
            <a:r>
              <a:rPr sz="2800" spc="-15" dirty="0">
                <a:latin typeface="Calibri"/>
                <a:cs typeface="Calibri"/>
              </a:rPr>
              <a:t>students </a:t>
            </a:r>
            <a:r>
              <a:rPr sz="2800" spc="-5" dirty="0">
                <a:latin typeface="Calibri"/>
                <a:cs typeface="Calibri"/>
              </a:rPr>
              <a:t>IDs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both 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IAI </a:t>
            </a:r>
            <a:r>
              <a:rPr sz="2800" spc="-5" dirty="0">
                <a:latin typeface="Calibri"/>
                <a:cs typeface="Calibri"/>
              </a:rPr>
              <a:t>and PR2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23186"/>
            <a:ext cx="2661920" cy="983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table:</a:t>
            </a:r>
            <a:endParaRPr sz="2800">
              <a:latin typeface="Calibri"/>
              <a:cs typeface="Calibri"/>
            </a:endParaRPr>
          </a:p>
          <a:p>
            <a:pPr marL="440055">
              <a:lnSpc>
                <a:spcPct val="100000"/>
              </a:lnSpc>
              <a:spcBef>
                <a:spcPts val="2030"/>
              </a:spcBef>
            </a:pPr>
            <a:r>
              <a:rPr sz="1800" spc="-10" dirty="0">
                <a:latin typeface="Calibri"/>
                <a:cs typeface="Calibri"/>
              </a:rPr>
              <a:t>Grade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0066" y="2633091"/>
          <a:ext cx="2928948" cy="3337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074"/>
                <a:gridCol w="857376"/>
                <a:gridCol w="1071498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1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299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14619" y="3779520"/>
          <a:ext cx="1000125" cy="2225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/>
              </a:tblGrid>
              <a:tr h="37084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302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4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302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3965">
              <a:lnSpc>
                <a:spcPct val="100000"/>
              </a:lnSpc>
            </a:pPr>
            <a:r>
              <a:rPr dirty="0"/>
              <a:t>WHERE</a:t>
            </a:r>
            <a:r>
              <a:rPr spc="-105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7828" y="1623186"/>
            <a:ext cx="3900804" cy="1737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Calibri"/>
                <a:cs typeface="Calibri"/>
              </a:rPr>
              <a:t>Write </a:t>
            </a:r>
            <a:r>
              <a:rPr sz="2800" spc="-5" dirty="0">
                <a:latin typeface="Calibri"/>
                <a:cs typeface="Calibri"/>
              </a:rPr>
              <a:t>an SQL query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spc="-10" dirty="0">
                <a:latin typeface="Calibri"/>
                <a:cs typeface="Calibri"/>
              </a:rPr>
              <a:t>find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list </a:t>
            </a:r>
            <a:r>
              <a:rPr sz="2800" spc="-5" dirty="0">
                <a:latin typeface="Calibri"/>
                <a:cs typeface="Calibri"/>
              </a:rPr>
              <a:t>of the  </a:t>
            </a:r>
            <a:r>
              <a:rPr sz="2800" spc="-15" dirty="0">
                <a:latin typeface="Calibri"/>
                <a:cs typeface="Calibri"/>
              </a:rPr>
              <a:t>students </a:t>
            </a:r>
            <a:r>
              <a:rPr sz="2800" spc="-5" dirty="0">
                <a:latin typeface="Calibri"/>
                <a:cs typeface="Calibri"/>
              </a:rPr>
              <a:t>IDs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10" dirty="0">
                <a:latin typeface="Calibri"/>
                <a:cs typeface="Calibri"/>
              </a:rPr>
              <a:t>both 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IAI </a:t>
            </a:r>
            <a:r>
              <a:rPr sz="2800" spc="-5" dirty="0">
                <a:latin typeface="Calibri"/>
                <a:cs typeface="Calibri"/>
              </a:rPr>
              <a:t>and PR2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modules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23186"/>
            <a:ext cx="2661920" cy="983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Given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table:</a:t>
            </a:r>
            <a:endParaRPr sz="2800">
              <a:latin typeface="Calibri"/>
              <a:cs typeface="Calibri"/>
            </a:endParaRPr>
          </a:p>
          <a:p>
            <a:pPr marL="440055">
              <a:lnSpc>
                <a:spcPct val="100000"/>
              </a:lnSpc>
              <a:spcBef>
                <a:spcPts val="2030"/>
              </a:spcBef>
            </a:pPr>
            <a:r>
              <a:rPr sz="1800" spc="-10" dirty="0">
                <a:latin typeface="Calibri"/>
                <a:cs typeface="Calibri"/>
              </a:rPr>
              <a:t>Grade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0066" y="2633091"/>
          <a:ext cx="2928948" cy="3337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074"/>
                <a:gridCol w="857376"/>
                <a:gridCol w="1071498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11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03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1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299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14619" y="3779520"/>
          <a:ext cx="1000125" cy="22250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/>
              </a:tblGrid>
              <a:tr h="37084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8302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70966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67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7094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5302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2825">
              <a:lnSpc>
                <a:spcPct val="100000"/>
              </a:lnSpc>
            </a:pPr>
            <a:r>
              <a:rPr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2768727"/>
            <a:ext cx="149034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SELECT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3987" y="2768727"/>
            <a:ext cx="124777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Courier New"/>
                <a:cs typeface="Courier New"/>
              </a:rPr>
              <a:t>Grade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4994" y="3354196"/>
            <a:ext cx="124650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WHERE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59607" y="2768727"/>
            <a:ext cx="1917700" cy="1112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ID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FROM</a:t>
            </a:r>
            <a:endParaRPr sz="3200">
              <a:latin typeface="Courier New"/>
              <a:cs typeface="Courier New"/>
            </a:endParaRPr>
          </a:p>
          <a:p>
            <a:pPr marL="682625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latin typeface="Courier New"/>
                <a:cs typeface="Courier New"/>
              </a:rPr>
              <a:t>(C</a:t>
            </a:r>
            <a:r>
              <a:rPr sz="3200" b="1" spc="5" dirty="0">
                <a:latin typeface="Courier New"/>
                <a:cs typeface="Courier New"/>
              </a:rPr>
              <a:t>o</a:t>
            </a:r>
            <a:r>
              <a:rPr sz="3200" b="1" dirty="0">
                <a:latin typeface="Courier New"/>
                <a:cs typeface="Courier New"/>
              </a:rPr>
              <a:t>de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95952" y="3354196"/>
            <a:ext cx="1736089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=</a:t>
            </a:r>
            <a:r>
              <a:rPr sz="3200" b="1" spc="-8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‘IAI’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600" y="3939413"/>
            <a:ext cx="196621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b="1" dirty="0" smtClean="0">
                <a:latin typeface="Courier New"/>
                <a:cs typeface="Courier New"/>
              </a:rPr>
              <a:t>OR </a:t>
            </a:r>
            <a:r>
              <a:rPr sz="3200" b="1" dirty="0" smtClean="0">
                <a:latin typeface="Courier New"/>
                <a:cs typeface="Courier New"/>
              </a:rPr>
              <a:t>Code</a:t>
            </a:r>
            <a:endParaRPr sz="32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8152" y="3939413"/>
            <a:ext cx="2224405" cy="527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ourier New"/>
                <a:cs typeface="Courier New"/>
              </a:rPr>
              <a:t>=</a:t>
            </a:r>
            <a:r>
              <a:rPr sz="3200" b="1" spc="-75" dirty="0">
                <a:latin typeface="Courier New"/>
                <a:cs typeface="Courier New"/>
              </a:rPr>
              <a:t> </a:t>
            </a:r>
            <a:r>
              <a:rPr sz="3200" b="1" dirty="0">
                <a:latin typeface="Courier New"/>
                <a:cs typeface="Courier New"/>
              </a:rPr>
              <a:t>‘PR2’);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437" y="1623186"/>
            <a:ext cx="3860165" cy="3897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4622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Often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need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spc="-10" dirty="0">
                <a:latin typeface="Calibri"/>
                <a:cs typeface="Calibri"/>
              </a:rPr>
              <a:t>combine </a:t>
            </a:r>
            <a:r>
              <a:rPr sz="2800" spc="-15" dirty="0">
                <a:latin typeface="Calibri"/>
                <a:cs typeface="Calibri"/>
              </a:rPr>
              <a:t>information 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10" dirty="0">
                <a:latin typeface="Calibri"/>
                <a:cs typeface="Calibri"/>
              </a:rPr>
              <a:t>two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more  </a:t>
            </a:r>
            <a:r>
              <a:rPr sz="2800" spc="-10" dirty="0">
                <a:latin typeface="Calibri"/>
                <a:cs typeface="Calibri"/>
              </a:rPr>
              <a:t>tables</a:t>
            </a:r>
            <a:endParaRPr sz="2800" dirty="0">
              <a:latin typeface="Calibri"/>
              <a:cs typeface="Calibri"/>
            </a:endParaRPr>
          </a:p>
          <a:p>
            <a:pPr marL="355600" marR="550545" indent="-342900" algn="just">
              <a:lnSpc>
                <a:spcPct val="9840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</a:tabLst>
            </a:pPr>
            <a:r>
              <a:rPr sz="2800" spc="-75" dirty="0">
                <a:latin typeface="Calibri"/>
                <a:cs typeface="Calibri"/>
              </a:rPr>
              <a:t>You </a:t>
            </a:r>
            <a:r>
              <a:rPr sz="2800" spc="-10" dirty="0">
                <a:latin typeface="Calibri"/>
                <a:cs typeface="Calibri"/>
              </a:rPr>
              <a:t>can </a:t>
            </a:r>
            <a:r>
              <a:rPr sz="2800" spc="-15" dirty="0">
                <a:latin typeface="Calibri"/>
                <a:cs typeface="Calibri"/>
              </a:rPr>
              <a:t>produce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25" dirty="0">
                <a:latin typeface="Calibri"/>
                <a:cs typeface="Calibri"/>
              </a:rPr>
              <a:t>effect </a:t>
            </a:r>
            <a:r>
              <a:rPr sz="2800" spc="-5" dirty="0">
                <a:latin typeface="Calibri"/>
                <a:cs typeface="Calibri"/>
              </a:rPr>
              <a:t>of a </a:t>
            </a:r>
            <a:r>
              <a:rPr sz="2800" spc="-10" dirty="0">
                <a:latin typeface="Calibri"/>
                <a:cs typeface="Calibri"/>
              </a:rPr>
              <a:t>Cartesian  </a:t>
            </a:r>
            <a:r>
              <a:rPr sz="2800" spc="-15" dirty="0">
                <a:latin typeface="Calibri"/>
                <a:cs typeface="Calibri"/>
              </a:rPr>
              <a:t>product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using: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spc="-5" dirty="0">
                <a:latin typeface="Courier New"/>
                <a:cs typeface="Courier New"/>
              </a:rPr>
              <a:t>SELECT </a:t>
            </a:r>
            <a:r>
              <a:rPr sz="2400" b="1" dirty="0">
                <a:latin typeface="Courier New"/>
                <a:cs typeface="Courier New"/>
              </a:rPr>
              <a:t>* </a:t>
            </a:r>
            <a:r>
              <a:rPr sz="2400" b="1" spc="-5" dirty="0">
                <a:latin typeface="Courier New"/>
                <a:cs typeface="Courier New"/>
              </a:rPr>
              <a:t>FROM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Table1,</a:t>
            </a:r>
            <a:endParaRPr sz="2400" dirty="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Table2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623186"/>
            <a:ext cx="3717925" cy="3531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10" dirty="0">
                <a:latin typeface="Calibri"/>
                <a:cs typeface="Calibri"/>
              </a:rPr>
              <a:t>the tables </a:t>
            </a:r>
            <a:r>
              <a:rPr sz="2800" spc="-25" dirty="0">
                <a:latin typeface="Calibri"/>
                <a:cs typeface="Calibri"/>
              </a:rPr>
              <a:t>have  </a:t>
            </a:r>
            <a:r>
              <a:rPr sz="2800" spc="-10" dirty="0">
                <a:latin typeface="Calibri"/>
                <a:cs typeface="Calibri"/>
              </a:rPr>
              <a:t>columns </a:t>
            </a:r>
            <a:r>
              <a:rPr sz="2800" spc="-5" dirty="0">
                <a:latin typeface="Calibri"/>
                <a:cs typeface="Calibri"/>
              </a:rPr>
              <a:t>with the </a:t>
            </a:r>
            <a:r>
              <a:rPr sz="2800" spc="-10" dirty="0">
                <a:latin typeface="Calibri"/>
                <a:cs typeface="Calibri"/>
              </a:rPr>
              <a:t>same  name, </a:t>
            </a:r>
            <a:r>
              <a:rPr sz="2800" spc="-5" dirty="0">
                <a:latin typeface="Calibri"/>
                <a:cs typeface="Calibri"/>
              </a:rPr>
              <a:t>ambiguity will  </a:t>
            </a:r>
            <a:r>
              <a:rPr sz="2800" spc="-15" dirty="0">
                <a:latin typeface="Calibri"/>
                <a:cs typeface="Calibri"/>
              </a:rPr>
              <a:t>result</a:t>
            </a:r>
            <a:endParaRPr sz="2800">
              <a:latin typeface="Calibri"/>
              <a:cs typeface="Calibri"/>
            </a:endParaRPr>
          </a:p>
          <a:p>
            <a:pPr marL="355600" marR="127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This can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resolved by  </a:t>
            </a:r>
            <a:r>
              <a:rPr sz="2800" spc="-20" dirty="0">
                <a:latin typeface="Calibri"/>
                <a:cs typeface="Calibri"/>
              </a:rPr>
              <a:t>referencing </a:t>
            </a:r>
            <a:r>
              <a:rPr sz="2800" spc="-10" dirty="0">
                <a:latin typeface="Calibri"/>
                <a:cs typeface="Calibri"/>
              </a:rPr>
              <a:t>columns  </a:t>
            </a:r>
            <a:r>
              <a:rPr sz="2800" spc="-5" dirty="0">
                <a:latin typeface="Calibri"/>
                <a:cs typeface="Calibri"/>
              </a:rPr>
              <a:t>with the </a:t>
            </a:r>
            <a:r>
              <a:rPr sz="2800" spc="-10" dirty="0">
                <a:latin typeface="Calibri"/>
                <a:cs typeface="Calibri"/>
              </a:rPr>
              <a:t>table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name: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400" b="1" spc="-10" dirty="0">
                <a:latin typeface="Courier New"/>
                <a:cs typeface="Courier New"/>
              </a:rPr>
              <a:t>TableName.ColumnName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9476" y="1990089"/>
            <a:ext cx="0" cy="2244090"/>
          </a:xfrm>
          <a:custGeom>
            <a:avLst/>
            <a:gdLst/>
            <a:ahLst/>
            <a:cxnLst/>
            <a:rect l="l" t="t" r="r" b="b"/>
            <a:pathLst>
              <a:path h="2244090">
                <a:moveTo>
                  <a:pt x="0" y="0"/>
                </a:moveTo>
                <a:lnTo>
                  <a:pt x="0" y="224409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5592" y="1990089"/>
            <a:ext cx="0" cy="941069"/>
          </a:xfrm>
          <a:custGeom>
            <a:avLst/>
            <a:gdLst/>
            <a:ahLst/>
            <a:cxnLst/>
            <a:rect l="l" t="t" r="r" b="b"/>
            <a:pathLst>
              <a:path h="941069">
                <a:moveTo>
                  <a:pt x="0" y="0"/>
                </a:moveTo>
                <a:lnTo>
                  <a:pt x="0" y="94056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57852" y="1999614"/>
            <a:ext cx="2683510" cy="0"/>
          </a:xfrm>
          <a:custGeom>
            <a:avLst/>
            <a:gdLst/>
            <a:ahLst/>
            <a:cxnLst/>
            <a:rect l="l" t="t" r="r" b="b"/>
            <a:pathLst>
              <a:path w="2683509">
                <a:moveTo>
                  <a:pt x="0" y="0"/>
                </a:moveTo>
                <a:lnTo>
                  <a:pt x="268338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57852" y="2370454"/>
            <a:ext cx="2683510" cy="0"/>
          </a:xfrm>
          <a:custGeom>
            <a:avLst/>
            <a:gdLst/>
            <a:ahLst/>
            <a:cxnLst/>
            <a:rect l="l" t="t" r="r" b="b"/>
            <a:pathLst>
              <a:path w="2683509">
                <a:moveTo>
                  <a:pt x="0" y="0"/>
                </a:moveTo>
                <a:lnTo>
                  <a:pt x="268338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67377" y="1990089"/>
            <a:ext cx="0" cy="2244090"/>
          </a:xfrm>
          <a:custGeom>
            <a:avLst/>
            <a:gdLst/>
            <a:ahLst/>
            <a:cxnLst/>
            <a:rect l="l" t="t" r="r" b="b"/>
            <a:pathLst>
              <a:path h="2244090">
                <a:moveTo>
                  <a:pt x="0" y="0"/>
                </a:moveTo>
                <a:lnTo>
                  <a:pt x="0" y="224409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31709" y="1990089"/>
            <a:ext cx="0" cy="941069"/>
          </a:xfrm>
          <a:custGeom>
            <a:avLst/>
            <a:gdLst/>
            <a:ahLst/>
            <a:cxnLst/>
            <a:rect l="l" t="t" r="r" b="b"/>
            <a:pathLst>
              <a:path h="941069">
                <a:moveTo>
                  <a:pt x="0" y="0"/>
                </a:moveTo>
                <a:lnTo>
                  <a:pt x="0" y="94056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57852" y="4224654"/>
            <a:ext cx="1306195" cy="0"/>
          </a:xfrm>
          <a:custGeom>
            <a:avLst/>
            <a:gdLst/>
            <a:ahLst/>
            <a:cxnLst/>
            <a:rect l="l" t="t" r="r" b="b"/>
            <a:pathLst>
              <a:path w="1306195">
                <a:moveTo>
                  <a:pt x="0" y="0"/>
                </a:moveTo>
                <a:lnTo>
                  <a:pt x="130568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31765" y="1659635"/>
            <a:ext cx="75819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Stu</a:t>
            </a:r>
            <a:r>
              <a:rPr sz="1800" spc="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731765" y="2030603"/>
            <a:ext cx="230504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ID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24246" y="2030603"/>
            <a:ext cx="43307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Fi</a:t>
            </a:r>
            <a:r>
              <a:rPr sz="1800" b="1" spc="-25" dirty="0">
                <a:latin typeface="Calibri"/>
                <a:cs typeface="Calibri"/>
              </a:rPr>
              <a:t>rs</a:t>
            </a:r>
            <a:r>
              <a:rPr sz="1800" b="1" dirty="0">
                <a:latin typeface="Calibri"/>
                <a:cs typeface="Calibri"/>
              </a:rPr>
              <a:t>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60363" y="2030603"/>
            <a:ext cx="40195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24246" y="2401570"/>
            <a:ext cx="4597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John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60363" y="2401570"/>
            <a:ext cx="56197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Smit</a:t>
            </a:r>
            <a:r>
              <a:rPr sz="1800" dirty="0">
                <a:latin typeface="Calibri"/>
                <a:cs typeface="Calibri"/>
              </a:rPr>
              <a:t>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2365" y="2829560"/>
            <a:ext cx="1068070" cy="472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  <a:tabLst>
                <a:tab pos="550545" algn="l"/>
              </a:tabLst>
            </a:pPr>
            <a:r>
              <a:rPr sz="1800" dirty="0">
                <a:latin typeface="Calibri"/>
                <a:cs typeface="Calibri"/>
              </a:rPr>
              <a:t>y	Jones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63539" y="3200526"/>
            <a:ext cx="1000760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9270">
              <a:lnSpc>
                <a:spcPts val="1710"/>
              </a:lnSpc>
            </a:pPr>
            <a:r>
              <a:rPr sz="1800" dirty="0">
                <a:latin typeface="Calibri"/>
                <a:cs typeface="Calibri"/>
              </a:rPr>
              <a:t>B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56587" y="3200526"/>
            <a:ext cx="864869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0994" y="3571494"/>
            <a:ext cx="1069975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  <a:tabLst>
                <a:tab pos="551815" algn="l"/>
              </a:tabLst>
            </a:pPr>
            <a:r>
              <a:rPr sz="1800" dirty="0">
                <a:latin typeface="Calibri"/>
                <a:cs typeface="Calibri"/>
              </a:rPr>
              <a:t>k	Jones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24246" y="3885310"/>
            <a:ext cx="459740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John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63539" y="3942460"/>
            <a:ext cx="1000760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9270">
              <a:lnSpc>
                <a:spcPts val="1710"/>
              </a:lnSpc>
            </a:pPr>
            <a:r>
              <a:rPr sz="1800" dirty="0">
                <a:latin typeface="Calibri"/>
                <a:cs typeface="Calibri"/>
              </a:rPr>
              <a:t>B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56587" y="3942460"/>
            <a:ext cx="864869" cy="471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dirty="0"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52040" y="2520060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latin typeface="Courier New"/>
                <a:cs typeface="Courier New"/>
              </a:rPr>
              <a:t>L</a:t>
            </a:r>
            <a:r>
              <a:rPr sz="2400" b="1" spc="-5" dirty="0">
                <a:latin typeface="Courier New"/>
                <a:cs typeface="Courier New"/>
              </a:rPr>
              <a:t>ast,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47796" y="2520060"/>
            <a:ext cx="7543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M</a:t>
            </a:r>
            <a:r>
              <a:rPr sz="2400" b="1" spc="-15" dirty="0">
                <a:latin typeface="Courier New"/>
                <a:cs typeface="Courier New"/>
              </a:rPr>
              <a:t>ar</a:t>
            </a:r>
            <a:r>
              <a:rPr sz="2400" b="1" dirty="0">
                <a:latin typeface="Courier New"/>
                <a:cs typeface="Courier New"/>
              </a:rPr>
              <a:t>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0200" y="2081148"/>
            <a:ext cx="1466215" cy="1276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endParaRPr sz="2400">
              <a:latin typeface="Courier New"/>
              <a:cs typeface="Courier New"/>
            </a:endParaRPr>
          </a:p>
          <a:p>
            <a:pPr marL="12700" marR="5080" indent="342900">
              <a:lnSpc>
                <a:spcPct val="120000"/>
              </a:lnSpc>
            </a:pPr>
            <a:r>
              <a:rPr sz="2400" b="1" spc="-5" dirty="0">
                <a:latin typeface="Courier New"/>
                <a:cs typeface="Courier New"/>
              </a:rPr>
              <a:t>First,  FROM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16276" y="3398266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Grade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0200" y="3325114"/>
            <a:ext cx="1830705" cy="910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42900">
              <a:lnSpc>
                <a:spcPct val="120000"/>
              </a:lnSpc>
            </a:pPr>
            <a:r>
              <a:rPr sz="2400" b="1" spc="-5" dirty="0">
                <a:latin typeface="Courier New"/>
                <a:cs typeface="Courier New"/>
              </a:rPr>
              <a:t>Studen</a:t>
            </a:r>
            <a:r>
              <a:rPr sz="2400" b="1" spc="-15" dirty="0">
                <a:latin typeface="Courier New"/>
                <a:cs typeface="Courier New"/>
              </a:rPr>
              <a:t>t</a:t>
            </a:r>
            <a:r>
              <a:rPr sz="2400" b="1" dirty="0">
                <a:latin typeface="Courier New"/>
                <a:cs typeface="Courier New"/>
              </a:rPr>
              <a:t>,  </a:t>
            </a:r>
            <a:r>
              <a:rPr sz="2400" b="1" spc="-5" dirty="0">
                <a:latin typeface="Courier New"/>
                <a:cs typeface="Courier New"/>
              </a:rPr>
              <a:t>WHERE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3404" y="4276344"/>
            <a:ext cx="203453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(Student.ID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64916" y="4276344"/>
            <a:ext cx="20339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Grade.ID)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3404" y="4642104"/>
            <a:ext cx="16687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3585" algn="l"/>
              </a:tabLst>
            </a:pPr>
            <a:r>
              <a:rPr sz="2400" b="1" spc="-5" dirty="0">
                <a:latin typeface="Courier New"/>
                <a:cs typeface="Courier New"/>
              </a:rPr>
              <a:t>AN</a:t>
            </a:r>
            <a:r>
              <a:rPr sz="2400" b="1" dirty="0">
                <a:latin typeface="Courier New"/>
                <a:cs typeface="Courier New"/>
              </a:rPr>
              <a:t>D	</a:t>
            </a:r>
            <a:r>
              <a:rPr sz="2400" b="1" spc="-5" dirty="0">
                <a:latin typeface="Courier New"/>
                <a:cs typeface="Courier New"/>
              </a:rPr>
              <a:t>(M</a:t>
            </a:r>
            <a:r>
              <a:rPr sz="2400" b="1" spc="-15" dirty="0">
                <a:latin typeface="Courier New"/>
                <a:cs typeface="Courier New"/>
              </a:rPr>
              <a:t>ar</a:t>
            </a:r>
            <a:r>
              <a:rPr sz="2400" b="1" dirty="0">
                <a:latin typeface="Courier New"/>
                <a:cs typeface="Courier New"/>
              </a:rPr>
              <a:t>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99156" y="4642104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&gt;=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40);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63539" y="2930651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39"/>
                </a:moveTo>
                <a:lnTo>
                  <a:pt x="1000137" y="370839"/>
                </a:lnTo>
                <a:lnTo>
                  <a:pt x="1000137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963664" y="2930651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39"/>
                </a:moveTo>
                <a:lnTo>
                  <a:pt x="857250" y="370839"/>
                </a:lnTo>
                <a:lnTo>
                  <a:pt x="857250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820914" y="2930651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39"/>
                </a:moveTo>
                <a:lnTo>
                  <a:pt x="1071575" y="370839"/>
                </a:lnTo>
                <a:lnTo>
                  <a:pt x="1071575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963539" y="3301491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40"/>
                </a:moveTo>
                <a:lnTo>
                  <a:pt x="1000137" y="370840"/>
                </a:lnTo>
                <a:lnTo>
                  <a:pt x="1000137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963664" y="3301491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40"/>
                </a:moveTo>
                <a:lnTo>
                  <a:pt x="857250" y="370840"/>
                </a:lnTo>
                <a:lnTo>
                  <a:pt x="857250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820914" y="3301491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40"/>
                </a:moveTo>
                <a:lnTo>
                  <a:pt x="1071575" y="370840"/>
                </a:lnTo>
                <a:lnTo>
                  <a:pt x="1071575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963539" y="3672332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39"/>
                </a:moveTo>
                <a:lnTo>
                  <a:pt x="1000137" y="370839"/>
                </a:lnTo>
                <a:lnTo>
                  <a:pt x="1000137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963664" y="3672332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39"/>
                </a:moveTo>
                <a:lnTo>
                  <a:pt x="857250" y="370839"/>
                </a:lnTo>
                <a:lnTo>
                  <a:pt x="857250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820914" y="3672332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39"/>
                </a:moveTo>
                <a:lnTo>
                  <a:pt x="1071575" y="370839"/>
                </a:lnTo>
                <a:lnTo>
                  <a:pt x="1071575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63539" y="4043171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39"/>
                </a:moveTo>
                <a:lnTo>
                  <a:pt x="1000137" y="370839"/>
                </a:lnTo>
                <a:lnTo>
                  <a:pt x="1000137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963664" y="4043171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39"/>
                </a:moveTo>
                <a:lnTo>
                  <a:pt x="857250" y="370839"/>
                </a:lnTo>
                <a:lnTo>
                  <a:pt x="857250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820914" y="4043171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39"/>
                </a:moveTo>
                <a:lnTo>
                  <a:pt x="1071575" y="370839"/>
                </a:lnTo>
                <a:lnTo>
                  <a:pt x="1071575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63539" y="4414011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39"/>
                </a:moveTo>
                <a:lnTo>
                  <a:pt x="1000137" y="370839"/>
                </a:lnTo>
                <a:lnTo>
                  <a:pt x="1000137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963664" y="4414011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39"/>
                </a:moveTo>
                <a:lnTo>
                  <a:pt x="857250" y="370839"/>
                </a:lnTo>
                <a:lnTo>
                  <a:pt x="857250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820914" y="4414011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39"/>
                </a:moveTo>
                <a:lnTo>
                  <a:pt x="1071575" y="370839"/>
                </a:lnTo>
                <a:lnTo>
                  <a:pt x="1071575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963539" y="4784852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40"/>
                </a:moveTo>
                <a:lnTo>
                  <a:pt x="1000137" y="370840"/>
                </a:lnTo>
                <a:lnTo>
                  <a:pt x="1000137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963664" y="4784852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40"/>
                </a:moveTo>
                <a:lnTo>
                  <a:pt x="857250" y="370840"/>
                </a:lnTo>
                <a:lnTo>
                  <a:pt x="857250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820914" y="4784852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40"/>
                </a:moveTo>
                <a:lnTo>
                  <a:pt x="1071575" y="370840"/>
                </a:lnTo>
                <a:lnTo>
                  <a:pt x="1071575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963539" y="5155691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39"/>
                </a:moveTo>
                <a:lnTo>
                  <a:pt x="1000137" y="370839"/>
                </a:lnTo>
                <a:lnTo>
                  <a:pt x="1000137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963664" y="5155691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39"/>
                </a:moveTo>
                <a:lnTo>
                  <a:pt x="857250" y="370839"/>
                </a:lnTo>
                <a:lnTo>
                  <a:pt x="857250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20914" y="5155691"/>
            <a:ext cx="535940" cy="370840"/>
          </a:xfrm>
          <a:custGeom>
            <a:avLst/>
            <a:gdLst/>
            <a:ahLst/>
            <a:cxnLst/>
            <a:rect l="l" t="t" r="r" b="b"/>
            <a:pathLst>
              <a:path w="535940" h="370839">
                <a:moveTo>
                  <a:pt x="0" y="370839"/>
                </a:moveTo>
                <a:lnTo>
                  <a:pt x="535787" y="370839"/>
                </a:lnTo>
                <a:lnTo>
                  <a:pt x="535787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356727" y="5155691"/>
            <a:ext cx="535940" cy="370840"/>
          </a:xfrm>
          <a:custGeom>
            <a:avLst/>
            <a:gdLst/>
            <a:ahLst/>
            <a:cxnLst/>
            <a:rect l="l" t="t" r="r" b="b"/>
            <a:pathLst>
              <a:path w="535940" h="370839">
                <a:moveTo>
                  <a:pt x="0" y="370839"/>
                </a:moveTo>
                <a:lnTo>
                  <a:pt x="535787" y="370839"/>
                </a:lnTo>
                <a:lnTo>
                  <a:pt x="535787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963539" y="5526544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40"/>
                </a:moveTo>
                <a:lnTo>
                  <a:pt x="1000137" y="370840"/>
                </a:lnTo>
                <a:lnTo>
                  <a:pt x="1000137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963664" y="5526544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40"/>
                </a:moveTo>
                <a:lnTo>
                  <a:pt x="857250" y="370840"/>
                </a:lnTo>
                <a:lnTo>
                  <a:pt x="857250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820914" y="5526544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40"/>
                </a:moveTo>
                <a:lnTo>
                  <a:pt x="1071575" y="370840"/>
                </a:lnTo>
                <a:lnTo>
                  <a:pt x="1071575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63539" y="5897384"/>
            <a:ext cx="1000760" cy="370840"/>
          </a:xfrm>
          <a:custGeom>
            <a:avLst/>
            <a:gdLst/>
            <a:ahLst/>
            <a:cxnLst/>
            <a:rect l="l" t="t" r="r" b="b"/>
            <a:pathLst>
              <a:path w="1000759" h="370839">
                <a:moveTo>
                  <a:pt x="0" y="370840"/>
                </a:moveTo>
                <a:lnTo>
                  <a:pt x="1000137" y="370840"/>
                </a:lnTo>
                <a:lnTo>
                  <a:pt x="1000137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963664" y="5897384"/>
            <a:ext cx="857250" cy="370840"/>
          </a:xfrm>
          <a:custGeom>
            <a:avLst/>
            <a:gdLst/>
            <a:ahLst/>
            <a:cxnLst/>
            <a:rect l="l" t="t" r="r" b="b"/>
            <a:pathLst>
              <a:path w="857250" h="370839">
                <a:moveTo>
                  <a:pt x="0" y="370840"/>
                </a:moveTo>
                <a:lnTo>
                  <a:pt x="857250" y="370840"/>
                </a:lnTo>
                <a:lnTo>
                  <a:pt x="857250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20914" y="5897384"/>
            <a:ext cx="1071880" cy="370840"/>
          </a:xfrm>
          <a:custGeom>
            <a:avLst/>
            <a:gdLst/>
            <a:ahLst/>
            <a:cxnLst/>
            <a:rect l="l" t="t" r="r" b="b"/>
            <a:pathLst>
              <a:path w="1071879" h="370839">
                <a:moveTo>
                  <a:pt x="0" y="370840"/>
                </a:moveTo>
                <a:lnTo>
                  <a:pt x="1071575" y="370840"/>
                </a:lnTo>
                <a:lnTo>
                  <a:pt x="1071575" y="0"/>
                </a:lnTo>
                <a:lnTo>
                  <a:pt x="0" y="0"/>
                </a:lnTo>
                <a:lnTo>
                  <a:pt x="0" y="3708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963664" y="2921126"/>
            <a:ext cx="0" cy="3356610"/>
          </a:xfrm>
          <a:custGeom>
            <a:avLst/>
            <a:gdLst/>
            <a:ahLst/>
            <a:cxnLst/>
            <a:rect l="l" t="t" r="r" b="b"/>
            <a:pathLst>
              <a:path h="3356610">
                <a:moveTo>
                  <a:pt x="0" y="0"/>
                </a:moveTo>
                <a:lnTo>
                  <a:pt x="0" y="33566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820914" y="2921126"/>
            <a:ext cx="0" cy="3356610"/>
          </a:xfrm>
          <a:custGeom>
            <a:avLst/>
            <a:gdLst/>
            <a:ahLst/>
            <a:cxnLst/>
            <a:rect l="l" t="t" r="r" b="b"/>
            <a:pathLst>
              <a:path h="3356610">
                <a:moveTo>
                  <a:pt x="0" y="0"/>
                </a:moveTo>
                <a:lnTo>
                  <a:pt x="0" y="33566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954014" y="2930651"/>
            <a:ext cx="2948305" cy="0"/>
          </a:xfrm>
          <a:custGeom>
            <a:avLst/>
            <a:gdLst/>
            <a:ahLst/>
            <a:cxnLst/>
            <a:rect l="l" t="t" r="r" b="b"/>
            <a:pathLst>
              <a:path w="2948304">
                <a:moveTo>
                  <a:pt x="0" y="0"/>
                </a:moveTo>
                <a:lnTo>
                  <a:pt x="294805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954014" y="3301491"/>
            <a:ext cx="2948305" cy="0"/>
          </a:xfrm>
          <a:custGeom>
            <a:avLst/>
            <a:gdLst/>
            <a:ahLst/>
            <a:cxnLst/>
            <a:rect l="l" t="t" r="r" b="b"/>
            <a:pathLst>
              <a:path w="2948304">
                <a:moveTo>
                  <a:pt x="0" y="0"/>
                </a:moveTo>
                <a:lnTo>
                  <a:pt x="294805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963539" y="2921126"/>
            <a:ext cx="0" cy="3356610"/>
          </a:xfrm>
          <a:custGeom>
            <a:avLst/>
            <a:gdLst/>
            <a:ahLst/>
            <a:cxnLst/>
            <a:rect l="l" t="t" r="r" b="b"/>
            <a:pathLst>
              <a:path h="3356610">
                <a:moveTo>
                  <a:pt x="0" y="0"/>
                </a:moveTo>
                <a:lnTo>
                  <a:pt x="0" y="33566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892540" y="2921126"/>
            <a:ext cx="0" cy="3356610"/>
          </a:xfrm>
          <a:custGeom>
            <a:avLst/>
            <a:gdLst/>
            <a:ahLst/>
            <a:cxnLst/>
            <a:rect l="l" t="t" r="r" b="b"/>
            <a:pathLst>
              <a:path h="3356610">
                <a:moveTo>
                  <a:pt x="0" y="0"/>
                </a:moveTo>
                <a:lnTo>
                  <a:pt x="0" y="3356622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954014" y="6268224"/>
            <a:ext cx="2948305" cy="0"/>
          </a:xfrm>
          <a:custGeom>
            <a:avLst/>
            <a:gdLst/>
            <a:ahLst/>
            <a:cxnLst/>
            <a:rect l="l" t="t" r="r" b="b"/>
            <a:pathLst>
              <a:path w="2948304">
                <a:moveTo>
                  <a:pt x="0" y="0"/>
                </a:moveTo>
                <a:lnTo>
                  <a:pt x="294805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8240014" y="2596007"/>
            <a:ext cx="58864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G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028433" y="2962021"/>
            <a:ext cx="509270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Co</a:t>
            </a:r>
            <a:r>
              <a:rPr sz="1800" b="1" spc="5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885938" y="2962021"/>
            <a:ext cx="530225" cy="29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Mark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731765" y="2401570"/>
            <a:ext cx="1775460" cy="178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S103</a:t>
            </a:r>
          </a:p>
          <a:p>
            <a:pPr marL="12700">
              <a:lnSpc>
                <a:spcPts val="1825"/>
              </a:lnSpc>
              <a:spcBef>
                <a:spcPts val="760"/>
              </a:spcBef>
              <a:tabLst>
                <a:tab pos="804545" algn="l"/>
              </a:tabLst>
            </a:pPr>
            <a:r>
              <a:rPr sz="1800" dirty="0">
                <a:latin typeface="Calibri"/>
                <a:cs typeface="Calibri"/>
              </a:rPr>
              <a:t>S104	Mar</a:t>
            </a:r>
          </a:p>
          <a:p>
            <a:pPr marR="252095" algn="r">
              <a:lnSpc>
                <a:spcPts val="1460"/>
              </a:lnSpc>
            </a:pPr>
            <a:r>
              <a:rPr sz="1800" b="1" spc="-5" dirty="0">
                <a:latin typeface="Calibri"/>
                <a:cs typeface="Calibri"/>
              </a:rPr>
              <a:t>ID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1460"/>
              </a:lnSpc>
              <a:tabLst>
                <a:tab pos="804545" algn="l"/>
              </a:tabLst>
            </a:pPr>
            <a:r>
              <a:rPr sz="1800" dirty="0">
                <a:latin typeface="Calibri"/>
                <a:cs typeface="Calibri"/>
              </a:rPr>
              <a:t>S105	Jane</a:t>
            </a:r>
          </a:p>
          <a:p>
            <a:pPr marR="5715" algn="r">
              <a:lnSpc>
                <a:spcPts val="1460"/>
              </a:lnSpc>
            </a:pPr>
            <a:r>
              <a:rPr sz="1800" spc="-5" dirty="0">
                <a:latin typeface="Calibri"/>
                <a:cs typeface="Calibri"/>
              </a:rPr>
              <a:t>S103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ts val="1795"/>
              </a:lnSpc>
              <a:tabLst>
                <a:tab pos="804545" algn="l"/>
              </a:tabLst>
            </a:pPr>
            <a:r>
              <a:rPr sz="1800" dirty="0">
                <a:latin typeface="Calibri"/>
                <a:cs typeface="Calibri"/>
              </a:rPr>
              <a:t>S106	Mar</a:t>
            </a: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S107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6028435" y="3607013"/>
            <a:ext cx="478155" cy="2621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35200"/>
              </a:lnSpc>
            </a:pPr>
            <a:r>
              <a:rPr sz="1800" spc="-5" dirty="0">
                <a:latin typeface="Calibri"/>
                <a:cs typeface="Calibri"/>
              </a:rPr>
              <a:t>S103  S104  S104  S106  S107  S107  S107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028433" y="3236427"/>
            <a:ext cx="396240" cy="299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5200"/>
              </a:lnSpc>
            </a:pPr>
            <a:r>
              <a:rPr sz="1800" spc="-5" dirty="0">
                <a:latin typeface="Calibri"/>
                <a:cs typeface="Calibri"/>
              </a:rPr>
              <a:t>DBS  </a:t>
            </a:r>
            <a:r>
              <a:rPr sz="1800" dirty="0">
                <a:latin typeface="Calibri"/>
                <a:cs typeface="Calibri"/>
              </a:rPr>
              <a:t>IAI  P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1  IAI  P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2  P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1  P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2  IAI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7885938" y="3332988"/>
            <a:ext cx="257810" cy="2894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72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Calibri"/>
                <a:cs typeface="Calibri"/>
              </a:rPr>
              <a:t>58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68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65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43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76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60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35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394078" y="1691258"/>
          <a:ext cx="6272020" cy="475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7796"/>
                <a:gridCol w="1072896"/>
                <a:gridCol w="1072768"/>
                <a:gridCol w="1072896"/>
                <a:gridCol w="1072768"/>
                <a:gridCol w="1072896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5" dirty="0">
                          <a:latin typeface="Calibri"/>
                          <a:cs typeface="Calibri"/>
                        </a:rPr>
                        <a:t>First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561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65721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88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88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7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60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4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8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6591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4526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82597" y="1336040"/>
            <a:ext cx="5804535" cy="318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5" dirty="0">
                <a:latin typeface="Courier New"/>
                <a:cs typeface="Courier New"/>
              </a:rPr>
              <a:t>SELECT </a:t>
            </a:r>
            <a:r>
              <a:rPr sz="1900" b="1" spc="-10" dirty="0">
                <a:latin typeface="Courier New"/>
                <a:cs typeface="Courier New"/>
              </a:rPr>
              <a:t>... FROM Student, Grade </a:t>
            </a:r>
            <a:r>
              <a:rPr sz="1900" b="1" spc="-5" dirty="0">
                <a:latin typeface="Courier New"/>
                <a:cs typeface="Courier New"/>
              </a:rPr>
              <a:t>WHERE</a:t>
            </a:r>
            <a:r>
              <a:rPr sz="1900" b="1" spc="-20" dirty="0">
                <a:latin typeface="Courier New"/>
                <a:cs typeface="Courier New"/>
              </a:rPr>
              <a:t> </a:t>
            </a:r>
            <a:r>
              <a:rPr sz="1900" b="1" spc="-10" dirty="0">
                <a:latin typeface="Courier New"/>
                <a:cs typeface="Courier New"/>
              </a:rPr>
              <a:t>...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1594" y="5373217"/>
            <a:ext cx="6408674" cy="1152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82597" y="1314703"/>
            <a:ext cx="5714365" cy="607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5" dirty="0">
                <a:latin typeface="Courier New"/>
                <a:cs typeface="Courier New"/>
              </a:rPr>
              <a:t>SELECT </a:t>
            </a:r>
            <a:r>
              <a:rPr sz="1900" b="1" spc="-10" dirty="0">
                <a:latin typeface="Courier New"/>
                <a:cs typeface="Courier New"/>
              </a:rPr>
              <a:t>... FROM Student,</a:t>
            </a:r>
            <a:r>
              <a:rPr sz="1900" b="1" spc="-35" dirty="0">
                <a:latin typeface="Courier New"/>
                <a:cs typeface="Courier New"/>
              </a:rPr>
              <a:t> </a:t>
            </a:r>
            <a:r>
              <a:rPr sz="1900" b="1" spc="-10" dirty="0">
                <a:latin typeface="Courier New"/>
                <a:cs typeface="Courier New"/>
              </a:rPr>
              <a:t>Grade</a:t>
            </a:r>
            <a:endParaRPr sz="19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1900" b="1" spc="-5" dirty="0">
                <a:latin typeface="Courier New"/>
                <a:cs typeface="Courier New"/>
              </a:rPr>
              <a:t>WHERE </a:t>
            </a:r>
            <a:r>
              <a:rPr sz="1900" b="1" spc="-10" dirty="0">
                <a:latin typeface="Courier New"/>
                <a:cs typeface="Courier New"/>
              </a:rPr>
              <a:t>(Student.ID </a:t>
            </a:r>
            <a:r>
              <a:rPr sz="1900" b="1" spc="-5" dirty="0">
                <a:latin typeface="Courier New"/>
                <a:cs typeface="Courier New"/>
              </a:rPr>
              <a:t>= </a:t>
            </a:r>
            <a:r>
              <a:rPr sz="1900" b="1" spc="-10" dirty="0">
                <a:latin typeface="Courier New"/>
                <a:cs typeface="Courier New"/>
              </a:rPr>
              <a:t>Grade.ID) AND </a:t>
            </a:r>
            <a:r>
              <a:rPr sz="1900" b="1" spc="-5" dirty="0">
                <a:latin typeface="Courier New"/>
                <a:cs typeface="Courier New"/>
              </a:rPr>
              <a:t>...</a:t>
            </a:r>
            <a:endParaRPr sz="19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94078" y="2051304"/>
          <a:ext cx="6272020" cy="32969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7796"/>
                <a:gridCol w="1072896"/>
                <a:gridCol w="1072768"/>
                <a:gridCol w="1072896"/>
                <a:gridCol w="1072768"/>
                <a:gridCol w="1072896"/>
              </a:tblGrid>
              <a:tr h="37084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First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6588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88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836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610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21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454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8452" y="1359408"/>
            <a:ext cx="6646545" cy="631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ourier New"/>
                <a:cs typeface="Courier New"/>
              </a:rPr>
              <a:t>SELECT ... FROM Student,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Grade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</a:pPr>
            <a:r>
              <a:rPr sz="1800" b="1" spc="-10" dirty="0">
                <a:latin typeface="Courier New"/>
                <a:cs typeface="Courier New"/>
              </a:rPr>
              <a:t>WHERE (Student.ID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Grade.ID) AND (Mark &gt;=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40)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66088" y="2123313"/>
          <a:ext cx="6272019" cy="2931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7795"/>
                <a:gridCol w="1072895"/>
                <a:gridCol w="1072769"/>
                <a:gridCol w="1072896"/>
                <a:gridCol w="1072769"/>
                <a:gridCol w="1072895"/>
              </a:tblGrid>
              <a:tr h="3708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First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5508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6595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72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60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21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45567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8452" y="1304544"/>
            <a:ext cx="6646545" cy="686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3535">
              <a:lnSpc>
                <a:spcPct val="120000"/>
              </a:lnSpc>
            </a:pPr>
            <a:r>
              <a:rPr sz="1800" b="1" spc="-10" dirty="0">
                <a:latin typeface="Courier New"/>
                <a:cs typeface="Courier New"/>
              </a:rPr>
              <a:t>SELECT First, Last, Mark FROM Student, Grade  WHERE (Student.ID </a:t>
            </a:r>
            <a:r>
              <a:rPr sz="1800" b="1" dirty="0">
                <a:latin typeface="Courier New"/>
                <a:cs typeface="Courier New"/>
              </a:rPr>
              <a:t>= </a:t>
            </a:r>
            <a:r>
              <a:rPr sz="1800" b="1" spc="-10" dirty="0">
                <a:latin typeface="Courier New"/>
                <a:cs typeface="Courier New"/>
              </a:rPr>
              <a:t>Grade.ID) AND (Mark &gt;=</a:t>
            </a:r>
            <a:r>
              <a:rPr sz="1800" b="1" spc="-65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40)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06267" y="2123313"/>
          <a:ext cx="3218559" cy="2931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2895"/>
                <a:gridCol w="1072769"/>
                <a:gridCol w="1072895"/>
              </a:tblGrid>
              <a:tr h="370839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First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5508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6595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72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6039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21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45567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3186"/>
            <a:ext cx="3637915" cy="2164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When selecting </a:t>
            </a:r>
            <a:r>
              <a:rPr sz="2800" spc="-20" dirty="0">
                <a:latin typeface="Calibri"/>
                <a:cs typeface="Calibri"/>
              </a:rPr>
              <a:t>from  </a:t>
            </a:r>
            <a:r>
              <a:rPr sz="2800" spc="-10" dirty="0">
                <a:latin typeface="Calibri"/>
                <a:cs typeface="Calibri"/>
              </a:rPr>
              <a:t>multiple tables,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is  almost </a:t>
            </a:r>
            <a:r>
              <a:rPr sz="2800" spc="-25" dirty="0">
                <a:latin typeface="Calibri"/>
                <a:cs typeface="Calibri"/>
              </a:rPr>
              <a:t>always </a:t>
            </a:r>
            <a:r>
              <a:rPr sz="2800" spc="-15" dirty="0">
                <a:latin typeface="Calibri"/>
                <a:cs typeface="Calibri"/>
              </a:rPr>
              <a:t>best to  </a:t>
            </a:r>
            <a:r>
              <a:rPr sz="2800" spc="-5" dirty="0">
                <a:latin typeface="Calibri"/>
                <a:cs typeface="Calibri"/>
              </a:rPr>
              <a:t>use a </a:t>
            </a:r>
            <a:r>
              <a:rPr sz="2800" b="1" spc="-5" dirty="0">
                <a:latin typeface="Courier New"/>
                <a:cs typeface="Courier New"/>
              </a:rPr>
              <a:t>WHERE</a:t>
            </a:r>
            <a:r>
              <a:rPr sz="2800" b="1" spc="-108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alibri"/>
                <a:cs typeface="Calibri"/>
              </a:rPr>
              <a:t>clause </a:t>
            </a:r>
            <a:r>
              <a:rPr sz="2800" spc="-15" dirty="0">
                <a:latin typeface="Calibri"/>
                <a:cs typeface="Calibri"/>
              </a:rPr>
              <a:t>to  </a:t>
            </a:r>
            <a:r>
              <a:rPr sz="2800" spc="-10" dirty="0">
                <a:latin typeface="Calibri"/>
                <a:cs typeface="Calibri"/>
              </a:rPr>
              <a:t>find common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values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828" y="1609978"/>
            <a:ext cx="1487170" cy="837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SELECT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*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ourier New"/>
                <a:cs typeface="Courier New"/>
              </a:rPr>
              <a:t>From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3601" y="2487803"/>
            <a:ext cx="11226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Grade,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7828" y="2487803"/>
            <a:ext cx="1830070" cy="1203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Student,</a:t>
            </a:r>
            <a:endParaRPr sz="24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Course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ourier New"/>
                <a:cs typeface="Courier New"/>
              </a:rPr>
              <a:t>WHERE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70728" y="3731641"/>
            <a:ext cx="2400300" cy="2008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8796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Student.ID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  </a:t>
            </a:r>
            <a:r>
              <a:rPr sz="2400" b="1" spc="-10" dirty="0">
                <a:latin typeface="Courier New"/>
                <a:cs typeface="Courier New"/>
              </a:rPr>
              <a:t>Grade.ID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spc="-5" dirty="0">
                <a:latin typeface="Courier New"/>
                <a:cs typeface="Courier New"/>
              </a:rPr>
              <a:t>AND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2400" b="1" spc="-10" dirty="0">
                <a:latin typeface="Courier New"/>
                <a:cs typeface="Courier New"/>
              </a:rPr>
              <a:t>Course.Code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  </a:t>
            </a:r>
            <a:r>
              <a:rPr sz="2400" b="1" spc="-10" dirty="0">
                <a:latin typeface="Courier New"/>
                <a:cs typeface="Courier New"/>
              </a:rPr>
              <a:t>Grade.Code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ct val="100000"/>
              </a:lnSpc>
            </a:pPr>
            <a:r>
              <a:rPr spc="-5" dirty="0"/>
              <a:t>SELECT </a:t>
            </a:r>
            <a:r>
              <a:rPr spc="-20" dirty="0"/>
              <a:t>from </a:t>
            </a:r>
            <a:r>
              <a:rPr dirty="0"/>
              <a:t>Multiple</a:t>
            </a:r>
            <a:r>
              <a:rPr spc="-60" dirty="0"/>
              <a:t> </a:t>
            </a:r>
            <a:r>
              <a:rPr spc="-55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86077" y="2019934"/>
            <a:ext cx="75755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Stud</a:t>
            </a:r>
            <a:r>
              <a:rPr sz="1800" spc="5" dirty="0">
                <a:latin typeface="Calibri"/>
                <a:cs typeface="Calibri"/>
              </a:rPr>
              <a:t>e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89578" y="2019934"/>
            <a:ext cx="58864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G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7693" y="2019934"/>
            <a:ext cx="66611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Course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0021" y="2710179"/>
          <a:ext cx="7920047" cy="29311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6902"/>
                <a:gridCol w="784478"/>
                <a:gridCol w="898144"/>
                <a:gridCol w="816482"/>
                <a:gridCol w="910463"/>
                <a:gridCol w="864108"/>
                <a:gridCol w="936117"/>
                <a:gridCol w="1943353"/>
              </a:tblGrid>
              <a:tr h="37084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First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Last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Title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385584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DBS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Systems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3660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Smith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Introduction 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21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Introduction 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95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Mark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Jones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6595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76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solidFill>
                      <a:srgbClr val="FFFFCC"/>
                    </a:solidFill>
                  </a:tcPr>
                </a:tc>
              </a:tr>
              <a:tr h="34532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John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Brown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S107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PR2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Programming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46759" y="6231635"/>
            <a:ext cx="2050414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Student.ID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Grade.ID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4869" y="6231635"/>
            <a:ext cx="2512695" cy="298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Grade.Code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Course.Code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9546" y="2348864"/>
            <a:ext cx="2448560" cy="304800"/>
          </a:xfrm>
          <a:custGeom>
            <a:avLst/>
            <a:gdLst/>
            <a:ahLst/>
            <a:cxnLst/>
            <a:rect l="l" t="t" r="r" b="b"/>
            <a:pathLst>
              <a:path w="2448560" h="304800">
                <a:moveTo>
                  <a:pt x="0" y="304800"/>
                </a:moveTo>
                <a:lnTo>
                  <a:pt x="7938" y="264274"/>
                </a:lnTo>
                <a:lnTo>
                  <a:pt x="30343" y="227866"/>
                </a:lnTo>
                <a:lnTo>
                  <a:pt x="65095" y="197024"/>
                </a:lnTo>
                <a:lnTo>
                  <a:pt x="110076" y="173199"/>
                </a:lnTo>
                <a:lnTo>
                  <a:pt x="163167" y="157841"/>
                </a:lnTo>
                <a:lnTo>
                  <a:pt x="222250" y="152400"/>
                </a:lnTo>
                <a:lnTo>
                  <a:pt x="1001852" y="152400"/>
                </a:lnTo>
                <a:lnTo>
                  <a:pt x="1060957" y="146958"/>
                </a:lnTo>
                <a:lnTo>
                  <a:pt x="1114054" y="131600"/>
                </a:lnTo>
                <a:lnTo>
                  <a:pt x="1159030" y="107775"/>
                </a:lnTo>
                <a:lnTo>
                  <a:pt x="1193772" y="76933"/>
                </a:lnTo>
                <a:lnTo>
                  <a:pt x="1216167" y="40525"/>
                </a:lnTo>
                <a:lnTo>
                  <a:pt x="1224102" y="0"/>
                </a:lnTo>
                <a:lnTo>
                  <a:pt x="1232045" y="40525"/>
                </a:lnTo>
                <a:lnTo>
                  <a:pt x="1254459" y="76933"/>
                </a:lnTo>
                <a:lnTo>
                  <a:pt x="1289221" y="107775"/>
                </a:lnTo>
                <a:lnTo>
                  <a:pt x="1334206" y="131600"/>
                </a:lnTo>
                <a:lnTo>
                  <a:pt x="1387291" y="146958"/>
                </a:lnTo>
                <a:lnTo>
                  <a:pt x="1446352" y="152400"/>
                </a:lnTo>
                <a:lnTo>
                  <a:pt x="2226005" y="152400"/>
                </a:lnTo>
                <a:lnTo>
                  <a:pt x="2285110" y="157841"/>
                </a:lnTo>
                <a:lnTo>
                  <a:pt x="2338207" y="173199"/>
                </a:lnTo>
                <a:lnTo>
                  <a:pt x="2383183" y="197024"/>
                </a:lnTo>
                <a:lnTo>
                  <a:pt x="2417925" y="227866"/>
                </a:lnTo>
                <a:lnTo>
                  <a:pt x="2440320" y="264274"/>
                </a:lnTo>
                <a:lnTo>
                  <a:pt x="2448255" y="304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87801" y="2348864"/>
            <a:ext cx="2592705" cy="288290"/>
          </a:xfrm>
          <a:custGeom>
            <a:avLst/>
            <a:gdLst/>
            <a:ahLst/>
            <a:cxnLst/>
            <a:rect l="l" t="t" r="r" b="b"/>
            <a:pathLst>
              <a:path w="2592704" h="288289">
                <a:moveTo>
                  <a:pt x="0" y="288036"/>
                </a:moveTo>
                <a:lnTo>
                  <a:pt x="7507" y="249763"/>
                </a:lnTo>
                <a:lnTo>
                  <a:pt x="28692" y="215363"/>
                </a:lnTo>
                <a:lnTo>
                  <a:pt x="61547" y="186213"/>
                </a:lnTo>
                <a:lnTo>
                  <a:pt x="104064" y="163688"/>
                </a:lnTo>
                <a:lnTo>
                  <a:pt x="154237" y="149165"/>
                </a:lnTo>
                <a:lnTo>
                  <a:pt x="210058" y="144018"/>
                </a:lnTo>
                <a:lnTo>
                  <a:pt x="1086103" y="144018"/>
                </a:lnTo>
                <a:lnTo>
                  <a:pt x="1141968" y="138870"/>
                </a:lnTo>
                <a:lnTo>
                  <a:pt x="1192153" y="124347"/>
                </a:lnTo>
                <a:lnTo>
                  <a:pt x="1234662" y="101822"/>
                </a:lnTo>
                <a:lnTo>
                  <a:pt x="1267497" y="72672"/>
                </a:lnTo>
                <a:lnTo>
                  <a:pt x="1288663" y="38272"/>
                </a:lnTo>
                <a:lnTo>
                  <a:pt x="1296162" y="0"/>
                </a:lnTo>
                <a:lnTo>
                  <a:pt x="1303660" y="38272"/>
                </a:lnTo>
                <a:lnTo>
                  <a:pt x="1324826" y="72672"/>
                </a:lnTo>
                <a:lnTo>
                  <a:pt x="1357661" y="101822"/>
                </a:lnTo>
                <a:lnTo>
                  <a:pt x="1400170" y="124347"/>
                </a:lnTo>
                <a:lnTo>
                  <a:pt x="1450355" y="138870"/>
                </a:lnTo>
                <a:lnTo>
                  <a:pt x="1506220" y="144018"/>
                </a:lnTo>
                <a:lnTo>
                  <a:pt x="2382266" y="144018"/>
                </a:lnTo>
                <a:lnTo>
                  <a:pt x="2438086" y="149165"/>
                </a:lnTo>
                <a:lnTo>
                  <a:pt x="2488259" y="163688"/>
                </a:lnTo>
                <a:lnTo>
                  <a:pt x="2530776" y="186213"/>
                </a:lnTo>
                <a:lnTo>
                  <a:pt x="2563631" y="215363"/>
                </a:lnTo>
                <a:lnTo>
                  <a:pt x="2584816" y="249763"/>
                </a:lnTo>
                <a:lnTo>
                  <a:pt x="2592324" y="2880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80126" y="2348864"/>
            <a:ext cx="2880360" cy="288290"/>
          </a:xfrm>
          <a:custGeom>
            <a:avLst/>
            <a:gdLst/>
            <a:ahLst/>
            <a:cxnLst/>
            <a:rect l="l" t="t" r="r" b="b"/>
            <a:pathLst>
              <a:path w="2880359" h="288289">
                <a:moveTo>
                  <a:pt x="0" y="288036"/>
                </a:moveTo>
                <a:lnTo>
                  <a:pt x="7498" y="249763"/>
                </a:lnTo>
                <a:lnTo>
                  <a:pt x="28664" y="215363"/>
                </a:lnTo>
                <a:lnTo>
                  <a:pt x="61499" y="186213"/>
                </a:lnTo>
                <a:lnTo>
                  <a:pt x="104008" y="163688"/>
                </a:lnTo>
                <a:lnTo>
                  <a:pt x="154193" y="149165"/>
                </a:lnTo>
                <a:lnTo>
                  <a:pt x="210058" y="144018"/>
                </a:lnTo>
                <a:lnTo>
                  <a:pt x="1230122" y="144018"/>
                </a:lnTo>
                <a:lnTo>
                  <a:pt x="1285942" y="138870"/>
                </a:lnTo>
                <a:lnTo>
                  <a:pt x="1336115" y="124347"/>
                </a:lnTo>
                <a:lnTo>
                  <a:pt x="1378632" y="101822"/>
                </a:lnTo>
                <a:lnTo>
                  <a:pt x="1411487" y="72672"/>
                </a:lnTo>
                <a:lnTo>
                  <a:pt x="1432672" y="38272"/>
                </a:lnTo>
                <a:lnTo>
                  <a:pt x="1440179" y="0"/>
                </a:lnTo>
                <a:lnTo>
                  <a:pt x="1447678" y="38272"/>
                </a:lnTo>
                <a:lnTo>
                  <a:pt x="1468839" y="72672"/>
                </a:lnTo>
                <a:lnTo>
                  <a:pt x="1501663" y="101822"/>
                </a:lnTo>
                <a:lnTo>
                  <a:pt x="1544150" y="124347"/>
                </a:lnTo>
                <a:lnTo>
                  <a:pt x="1594299" y="138870"/>
                </a:lnTo>
                <a:lnTo>
                  <a:pt x="1650110" y="144018"/>
                </a:lnTo>
                <a:lnTo>
                  <a:pt x="2670302" y="144018"/>
                </a:lnTo>
                <a:lnTo>
                  <a:pt x="2726122" y="149165"/>
                </a:lnTo>
                <a:lnTo>
                  <a:pt x="2776295" y="163688"/>
                </a:lnTo>
                <a:lnTo>
                  <a:pt x="2818812" y="186213"/>
                </a:lnTo>
                <a:lnTo>
                  <a:pt x="2851667" y="215363"/>
                </a:lnTo>
                <a:lnTo>
                  <a:pt x="2872852" y="249763"/>
                </a:lnTo>
                <a:lnTo>
                  <a:pt x="2880359" y="288036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3038" y="5678322"/>
            <a:ext cx="2506345" cy="496570"/>
          </a:xfrm>
          <a:custGeom>
            <a:avLst/>
            <a:gdLst/>
            <a:ahLst/>
            <a:cxnLst/>
            <a:rect l="l" t="t" r="r" b="b"/>
            <a:pathLst>
              <a:path w="2506345" h="496570">
                <a:moveTo>
                  <a:pt x="48569" y="75242"/>
                </a:moveTo>
                <a:lnTo>
                  <a:pt x="29547" y="77328"/>
                </a:lnTo>
                <a:lnTo>
                  <a:pt x="31775" y="88125"/>
                </a:lnTo>
                <a:lnTo>
                  <a:pt x="31953" y="88684"/>
                </a:lnTo>
                <a:lnTo>
                  <a:pt x="49326" y="125349"/>
                </a:lnTo>
                <a:lnTo>
                  <a:pt x="73152" y="160248"/>
                </a:lnTo>
                <a:lnTo>
                  <a:pt x="103174" y="193763"/>
                </a:lnTo>
                <a:lnTo>
                  <a:pt x="139141" y="226009"/>
                </a:lnTo>
                <a:lnTo>
                  <a:pt x="180809" y="256743"/>
                </a:lnTo>
                <a:lnTo>
                  <a:pt x="227761" y="285953"/>
                </a:lnTo>
                <a:lnTo>
                  <a:pt x="262026" y="304673"/>
                </a:lnTo>
                <a:lnTo>
                  <a:pt x="298361" y="322643"/>
                </a:lnTo>
                <a:lnTo>
                  <a:pt x="336867" y="339915"/>
                </a:lnTo>
                <a:lnTo>
                  <a:pt x="377380" y="356412"/>
                </a:lnTo>
                <a:lnTo>
                  <a:pt x="419925" y="372135"/>
                </a:lnTo>
                <a:lnTo>
                  <a:pt x="464248" y="386969"/>
                </a:lnTo>
                <a:lnTo>
                  <a:pt x="510476" y="401142"/>
                </a:lnTo>
                <a:lnTo>
                  <a:pt x="558355" y="414350"/>
                </a:lnTo>
                <a:lnTo>
                  <a:pt x="607885" y="426681"/>
                </a:lnTo>
                <a:lnTo>
                  <a:pt x="659066" y="438061"/>
                </a:lnTo>
                <a:lnTo>
                  <a:pt x="711644" y="448576"/>
                </a:lnTo>
                <a:lnTo>
                  <a:pt x="765746" y="458139"/>
                </a:lnTo>
                <a:lnTo>
                  <a:pt x="821118" y="466737"/>
                </a:lnTo>
                <a:lnTo>
                  <a:pt x="877760" y="474294"/>
                </a:lnTo>
                <a:lnTo>
                  <a:pt x="935545" y="480695"/>
                </a:lnTo>
                <a:lnTo>
                  <a:pt x="994473" y="486130"/>
                </a:lnTo>
                <a:lnTo>
                  <a:pt x="1054290" y="490435"/>
                </a:lnTo>
                <a:lnTo>
                  <a:pt x="1115250" y="493674"/>
                </a:lnTo>
                <a:lnTo>
                  <a:pt x="1176845" y="495681"/>
                </a:lnTo>
                <a:lnTo>
                  <a:pt x="1239583" y="496544"/>
                </a:lnTo>
                <a:lnTo>
                  <a:pt x="1302194" y="495681"/>
                </a:lnTo>
                <a:lnTo>
                  <a:pt x="1365313" y="494157"/>
                </a:lnTo>
                <a:lnTo>
                  <a:pt x="1427543" y="491375"/>
                </a:lnTo>
                <a:lnTo>
                  <a:pt x="1488630" y="487464"/>
                </a:lnTo>
                <a:lnTo>
                  <a:pt x="1548701" y="482485"/>
                </a:lnTo>
                <a:lnTo>
                  <a:pt x="1596541" y="477494"/>
                </a:lnTo>
                <a:lnTo>
                  <a:pt x="1239329" y="477494"/>
                </a:lnTo>
                <a:lnTo>
                  <a:pt x="1177226" y="476631"/>
                </a:lnTo>
                <a:lnTo>
                  <a:pt x="1115758" y="474637"/>
                </a:lnTo>
                <a:lnTo>
                  <a:pt x="1055306" y="471411"/>
                </a:lnTo>
                <a:lnTo>
                  <a:pt x="995743" y="467131"/>
                </a:lnTo>
                <a:lnTo>
                  <a:pt x="937323" y="461721"/>
                </a:lnTo>
                <a:lnTo>
                  <a:pt x="879919" y="455358"/>
                </a:lnTo>
                <a:lnTo>
                  <a:pt x="823658" y="447852"/>
                </a:lnTo>
                <a:lnTo>
                  <a:pt x="768667" y="439318"/>
                </a:lnTo>
                <a:lnTo>
                  <a:pt x="715073" y="429818"/>
                </a:lnTo>
                <a:lnTo>
                  <a:pt x="662876" y="419379"/>
                </a:lnTo>
                <a:lnTo>
                  <a:pt x="612076" y="408089"/>
                </a:lnTo>
                <a:lnTo>
                  <a:pt x="562927" y="395859"/>
                </a:lnTo>
                <a:lnTo>
                  <a:pt x="515556" y="382778"/>
                </a:lnTo>
                <a:lnTo>
                  <a:pt x="469836" y="368757"/>
                </a:lnTo>
                <a:lnTo>
                  <a:pt x="426021" y="354063"/>
                </a:lnTo>
                <a:lnTo>
                  <a:pt x="384111" y="338543"/>
                </a:lnTo>
                <a:lnTo>
                  <a:pt x="343979" y="322275"/>
                </a:lnTo>
                <a:lnTo>
                  <a:pt x="306158" y="305257"/>
                </a:lnTo>
                <a:lnTo>
                  <a:pt x="270484" y="287604"/>
                </a:lnTo>
                <a:lnTo>
                  <a:pt x="221157" y="260007"/>
                </a:lnTo>
                <a:lnTo>
                  <a:pt x="177228" y="230987"/>
                </a:lnTo>
                <a:lnTo>
                  <a:pt x="138734" y="200825"/>
                </a:lnTo>
                <a:lnTo>
                  <a:pt x="106235" y="169506"/>
                </a:lnTo>
                <a:lnTo>
                  <a:pt x="79656" y="137223"/>
                </a:lnTo>
                <a:lnTo>
                  <a:pt x="59651" y="104432"/>
                </a:lnTo>
                <a:lnTo>
                  <a:pt x="50483" y="83705"/>
                </a:lnTo>
                <a:lnTo>
                  <a:pt x="50317" y="83705"/>
                </a:lnTo>
                <a:lnTo>
                  <a:pt x="49809" y="82042"/>
                </a:lnTo>
                <a:lnTo>
                  <a:pt x="49973" y="82042"/>
                </a:lnTo>
                <a:lnTo>
                  <a:pt x="48569" y="75242"/>
                </a:lnTo>
                <a:close/>
              </a:path>
              <a:path w="2506345" h="496570">
                <a:moveTo>
                  <a:pt x="2456409" y="80414"/>
                </a:moveTo>
                <a:lnTo>
                  <a:pt x="2434907" y="123825"/>
                </a:lnTo>
                <a:lnTo>
                  <a:pt x="2411285" y="155981"/>
                </a:lnTo>
                <a:lnTo>
                  <a:pt x="2381567" y="187325"/>
                </a:lnTo>
                <a:lnTo>
                  <a:pt x="2346007" y="217754"/>
                </a:lnTo>
                <a:lnTo>
                  <a:pt x="2304605" y="247091"/>
                </a:lnTo>
                <a:lnTo>
                  <a:pt x="2257869" y="275323"/>
                </a:lnTo>
                <a:lnTo>
                  <a:pt x="2223706" y="293331"/>
                </a:lnTo>
                <a:lnTo>
                  <a:pt x="2187384" y="310692"/>
                </a:lnTo>
                <a:lnTo>
                  <a:pt x="2148903" y="327406"/>
                </a:lnTo>
                <a:lnTo>
                  <a:pt x="2108263" y="343484"/>
                </a:lnTo>
                <a:lnTo>
                  <a:pt x="2065718" y="358698"/>
                </a:lnTo>
                <a:lnTo>
                  <a:pt x="2021268" y="373189"/>
                </a:lnTo>
                <a:lnTo>
                  <a:pt x="1975040" y="386918"/>
                </a:lnTo>
                <a:lnTo>
                  <a:pt x="1926907" y="399707"/>
                </a:lnTo>
                <a:lnTo>
                  <a:pt x="1877123" y="411746"/>
                </a:lnTo>
                <a:lnTo>
                  <a:pt x="1825561" y="422846"/>
                </a:lnTo>
                <a:lnTo>
                  <a:pt x="1772602" y="432892"/>
                </a:lnTo>
                <a:lnTo>
                  <a:pt x="1718119" y="442099"/>
                </a:lnTo>
                <a:lnTo>
                  <a:pt x="1662239" y="450253"/>
                </a:lnTo>
                <a:lnTo>
                  <a:pt x="1605089" y="457466"/>
                </a:lnTo>
                <a:lnTo>
                  <a:pt x="1546669" y="463537"/>
                </a:lnTo>
                <a:lnTo>
                  <a:pt x="1487106" y="468477"/>
                </a:lnTo>
                <a:lnTo>
                  <a:pt x="1426273" y="472363"/>
                </a:lnTo>
                <a:lnTo>
                  <a:pt x="1364424" y="475119"/>
                </a:lnTo>
                <a:lnTo>
                  <a:pt x="1301813" y="476643"/>
                </a:lnTo>
                <a:lnTo>
                  <a:pt x="1239329" y="477494"/>
                </a:lnTo>
                <a:lnTo>
                  <a:pt x="1596541" y="477494"/>
                </a:lnTo>
                <a:lnTo>
                  <a:pt x="1665033" y="469099"/>
                </a:lnTo>
                <a:lnTo>
                  <a:pt x="1721294" y="460883"/>
                </a:lnTo>
                <a:lnTo>
                  <a:pt x="1776158" y="451612"/>
                </a:lnTo>
                <a:lnTo>
                  <a:pt x="1829625" y="441464"/>
                </a:lnTo>
                <a:lnTo>
                  <a:pt x="1881568" y="430263"/>
                </a:lnTo>
                <a:lnTo>
                  <a:pt x="1931733" y="418122"/>
                </a:lnTo>
                <a:lnTo>
                  <a:pt x="1980374" y="405180"/>
                </a:lnTo>
                <a:lnTo>
                  <a:pt x="2027237" y="391299"/>
                </a:lnTo>
                <a:lnTo>
                  <a:pt x="2072195" y="376643"/>
                </a:lnTo>
                <a:lnTo>
                  <a:pt x="2115375" y="361188"/>
                </a:lnTo>
                <a:lnTo>
                  <a:pt x="2156523" y="344881"/>
                </a:lnTo>
                <a:lnTo>
                  <a:pt x="2195512" y="327875"/>
                </a:lnTo>
                <a:lnTo>
                  <a:pt x="2232596" y="310184"/>
                </a:lnTo>
                <a:lnTo>
                  <a:pt x="2267394" y="291807"/>
                </a:lnTo>
                <a:lnTo>
                  <a:pt x="2315273" y="262890"/>
                </a:lnTo>
                <a:lnTo>
                  <a:pt x="2357945" y="232600"/>
                </a:lnTo>
                <a:lnTo>
                  <a:pt x="2394992" y="200825"/>
                </a:lnTo>
                <a:lnTo>
                  <a:pt x="2426144" y="167881"/>
                </a:lnTo>
                <a:lnTo>
                  <a:pt x="2451290" y="133553"/>
                </a:lnTo>
                <a:lnTo>
                  <a:pt x="2469832" y="98094"/>
                </a:lnTo>
                <a:lnTo>
                  <a:pt x="2474404" y="86575"/>
                </a:lnTo>
                <a:lnTo>
                  <a:pt x="2474658" y="85991"/>
                </a:lnTo>
                <a:lnTo>
                  <a:pt x="2474912" y="84785"/>
                </a:lnTo>
                <a:lnTo>
                  <a:pt x="2475549" y="81343"/>
                </a:lnTo>
                <a:lnTo>
                  <a:pt x="2456243" y="81343"/>
                </a:lnTo>
                <a:lnTo>
                  <a:pt x="2456409" y="80414"/>
                </a:lnTo>
                <a:close/>
              </a:path>
              <a:path w="2506345" h="496570">
                <a:moveTo>
                  <a:pt x="49809" y="82042"/>
                </a:moveTo>
                <a:lnTo>
                  <a:pt x="50317" y="83705"/>
                </a:lnTo>
                <a:lnTo>
                  <a:pt x="50144" y="82868"/>
                </a:lnTo>
                <a:lnTo>
                  <a:pt x="49809" y="82042"/>
                </a:lnTo>
                <a:close/>
              </a:path>
              <a:path w="2506345" h="496570">
                <a:moveTo>
                  <a:pt x="50144" y="82868"/>
                </a:moveTo>
                <a:lnTo>
                  <a:pt x="50317" y="83705"/>
                </a:lnTo>
                <a:lnTo>
                  <a:pt x="50483" y="83705"/>
                </a:lnTo>
                <a:lnTo>
                  <a:pt x="50144" y="82868"/>
                </a:lnTo>
                <a:close/>
              </a:path>
              <a:path w="2506345" h="496570">
                <a:moveTo>
                  <a:pt x="49973" y="82042"/>
                </a:moveTo>
                <a:lnTo>
                  <a:pt x="49809" y="82042"/>
                </a:lnTo>
                <a:lnTo>
                  <a:pt x="50144" y="82868"/>
                </a:lnTo>
                <a:lnTo>
                  <a:pt x="49973" y="82042"/>
                </a:lnTo>
                <a:close/>
              </a:path>
              <a:path w="2506345" h="496570">
                <a:moveTo>
                  <a:pt x="2456751" y="79552"/>
                </a:moveTo>
                <a:lnTo>
                  <a:pt x="2456409" y="80414"/>
                </a:lnTo>
                <a:lnTo>
                  <a:pt x="2456243" y="81343"/>
                </a:lnTo>
                <a:lnTo>
                  <a:pt x="2456751" y="79552"/>
                </a:lnTo>
                <a:close/>
              </a:path>
              <a:path w="2506345" h="496570">
                <a:moveTo>
                  <a:pt x="2475880" y="79552"/>
                </a:moveTo>
                <a:lnTo>
                  <a:pt x="2456751" y="79552"/>
                </a:lnTo>
                <a:lnTo>
                  <a:pt x="2456243" y="81343"/>
                </a:lnTo>
                <a:lnTo>
                  <a:pt x="2475549" y="81343"/>
                </a:lnTo>
                <a:lnTo>
                  <a:pt x="2475880" y="79552"/>
                </a:lnTo>
                <a:close/>
              </a:path>
              <a:path w="2506345" h="496570">
                <a:moveTo>
                  <a:pt x="29552" y="673"/>
                </a:moveTo>
                <a:lnTo>
                  <a:pt x="0" y="80568"/>
                </a:lnTo>
                <a:lnTo>
                  <a:pt x="29547" y="77328"/>
                </a:lnTo>
                <a:lnTo>
                  <a:pt x="27152" y="65722"/>
                </a:lnTo>
                <a:lnTo>
                  <a:pt x="45808" y="61874"/>
                </a:lnTo>
                <a:lnTo>
                  <a:pt x="69040" y="61874"/>
                </a:lnTo>
                <a:lnTo>
                  <a:pt x="29552" y="673"/>
                </a:lnTo>
                <a:close/>
              </a:path>
              <a:path w="2506345" h="496570">
                <a:moveTo>
                  <a:pt x="2457432" y="74691"/>
                </a:moveTo>
                <a:lnTo>
                  <a:pt x="2456409" y="80414"/>
                </a:lnTo>
                <a:lnTo>
                  <a:pt x="2456751" y="79552"/>
                </a:lnTo>
                <a:lnTo>
                  <a:pt x="2475880" y="79552"/>
                </a:lnTo>
                <a:lnTo>
                  <a:pt x="2476410" y="76684"/>
                </a:lnTo>
                <a:lnTo>
                  <a:pt x="2457432" y="74691"/>
                </a:lnTo>
                <a:close/>
              </a:path>
              <a:path w="2506345" h="496570">
                <a:moveTo>
                  <a:pt x="2498887" y="61442"/>
                </a:moveTo>
                <a:lnTo>
                  <a:pt x="2459799" y="61442"/>
                </a:lnTo>
                <a:lnTo>
                  <a:pt x="2478595" y="64871"/>
                </a:lnTo>
                <a:lnTo>
                  <a:pt x="2476410" y="76684"/>
                </a:lnTo>
                <a:lnTo>
                  <a:pt x="2505773" y="79768"/>
                </a:lnTo>
                <a:lnTo>
                  <a:pt x="2498887" y="61442"/>
                </a:lnTo>
                <a:close/>
              </a:path>
              <a:path w="2506345" h="496570">
                <a:moveTo>
                  <a:pt x="45808" y="61874"/>
                </a:moveTo>
                <a:lnTo>
                  <a:pt x="27152" y="65722"/>
                </a:lnTo>
                <a:lnTo>
                  <a:pt x="29547" y="77328"/>
                </a:lnTo>
                <a:lnTo>
                  <a:pt x="48569" y="75242"/>
                </a:lnTo>
                <a:lnTo>
                  <a:pt x="45808" y="61874"/>
                </a:lnTo>
                <a:close/>
              </a:path>
              <a:path w="2506345" h="496570">
                <a:moveTo>
                  <a:pt x="2459799" y="61442"/>
                </a:moveTo>
                <a:lnTo>
                  <a:pt x="2457432" y="74691"/>
                </a:lnTo>
                <a:lnTo>
                  <a:pt x="2476410" y="76684"/>
                </a:lnTo>
                <a:lnTo>
                  <a:pt x="2478595" y="64871"/>
                </a:lnTo>
                <a:lnTo>
                  <a:pt x="2459799" y="61442"/>
                </a:lnTo>
                <a:close/>
              </a:path>
              <a:path w="2506345" h="496570">
                <a:moveTo>
                  <a:pt x="69040" y="61874"/>
                </a:moveTo>
                <a:lnTo>
                  <a:pt x="45808" y="61874"/>
                </a:lnTo>
                <a:lnTo>
                  <a:pt x="48569" y="75242"/>
                </a:lnTo>
                <a:lnTo>
                  <a:pt x="75742" y="72263"/>
                </a:lnTo>
                <a:lnTo>
                  <a:pt x="69040" y="61874"/>
                </a:lnTo>
                <a:close/>
              </a:path>
              <a:path w="2506345" h="496570">
                <a:moveTo>
                  <a:pt x="2475801" y="0"/>
                </a:moveTo>
                <a:lnTo>
                  <a:pt x="2429954" y="71805"/>
                </a:lnTo>
                <a:lnTo>
                  <a:pt x="2457432" y="74691"/>
                </a:lnTo>
                <a:lnTo>
                  <a:pt x="2459799" y="61442"/>
                </a:lnTo>
                <a:lnTo>
                  <a:pt x="2498887" y="61442"/>
                </a:lnTo>
                <a:lnTo>
                  <a:pt x="24758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82364" y="5675566"/>
            <a:ext cx="1933575" cy="499745"/>
          </a:xfrm>
          <a:custGeom>
            <a:avLst/>
            <a:gdLst/>
            <a:ahLst/>
            <a:cxnLst/>
            <a:rect l="l" t="t" r="r" b="b"/>
            <a:pathLst>
              <a:path w="1933575" h="499745">
                <a:moveTo>
                  <a:pt x="48121" y="82456"/>
                </a:moveTo>
                <a:lnTo>
                  <a:pt x="29138" y="84412"/>
                </a:lnTo>
                <a:lnTo>
                  <a:pt x="30480" y="92608"/>
                </a:lnTo>
                <a:lnTo>
                  <a:pt x="30607" y="93548"/>
                </a:lnTo>
                <a:lnTo>
                  <a:pt x="30861" y="94005"/>
                </a:lnTo>
                <a:lnTo>
                  <a:pt x="34798" y="106133"/>
                </a:lnTo>
                <a:lnTo>
                  <a:pt x="39370" y="118313"/>
                </a:lnTo>
                <a:lnTo>
                  <a:pt x="62991" y="164846"/>
                </a:lnTo>
                <a:lnTo>
                  <a:pt x="95250" y="209232"/>
                </a:lnTo>
                <a:lnTo>
                  <a:pt x="135382" y="251206"/>
                </a:lnTo>
                <a:lnTo>
                  <a:pt x="183007" y="290474"/>
                </a:lnTo>
                <a:lnTo>
                  <a:pt x="237616" y="327152"/>
                </a:lnTo>
                <a:lnTo>
                  <a:pt x="298703" y="360730"/>
                </a:lnTo>
                <a:lnTo>
                  <a:pt x="365633" y="391287"/>
                </a:lnTo>
                <a:lnTo>
                  <a:pt x="401193" y="405307"/>
                </a:lnTo>
                <a:lnTo>
                  <a:pt x="438150" y="418452"/>
                </a:lnTo>
                <a:lnTo>
                  <a:pt x="476250" y="430720"/>
                </a:lnTo>
                <a:lnTo>
                  <a:pt x="515620" y="442137"/>
                </a:lnTo>
                <a:lnTo>
                  <a:pt x="556133" y="452475"/>
                </a:lnTo>
                <a:lnTo>
                  <a:pt x="597662" y="461975"/>
                </a:lnTo>
                <a:lnTo>
                  <a:pt x="640207" y="470395"/>
                </a:lnTo>
                <a:lnTo>
                  <a:pt x="683640" y="477862"/>
                </a:lnTo>
                <a:lnTo>
                  <a:pt x="727963" y="484187"/>
                </a:lnTo>
                <a:lnTo>
                  <a:pt x="773176" y="489445"/>
                </a:lnTo>
                <a:lnTo>
                  <a:pt x="819150" y="493661"/>
                </a:lnTo>
                <a:lnTo>
                  <a:pt x="865886" y="496722"/>
                </a:lnTo>
                <a:lnTo>
                  <a:pt x="913130" y="498627"/>
                </a:lnTo>
                <a:lnTo>
                  <a:pt x="961136" y="499300"/>
                </a:lnTo>
                <a:lnTo>
                  <a:pt x="1009523" y="498627"/>
                </a:lnTo>
                <a:lnTo>
                  <a:pt x="1057783" y="496900"/>
                </a:lnTo>
                <a:lnTo>
                  <a:pt x="1105281" y="493928"/>
                </a:lnTo>
                <a:lnTo>
                  <a:pt x="1152144" y="489902"/>
                </a:lnTo>
                <a:lnTo>
                  <a:pt x="1197990" y="484733"/>
                </a:lnTo>
                <a:lnTo>
                  <a:pt x="1229948" y="480250"/>
                </a:lnTo>
                <a:lnTo>
                  <a:pt x="960755" y="480250"/>
                </a:lnTo>
                <a:lnTo>
                  <a:pt x="913511" y="479577"/>
                </a:lnTo>
                <a:lnTo>
                  <a:pt x="866648" y="477685"/>
                </a:lnTo>
                <a:lnTo>
                  <a:pt x="820420" y="474649"/>
                </a:lnTo>
                <a:lnTo>
                  <a:pt x="774953" y="470484"/>
                </a:lnTo>
                <a:lnTo>
                  <a:pt x="730250" y="465264"/>
                </a:lnTo>
                <a:lnTo>
                  <a:pt x="686308" y="459003"/>
                </a:lnTo>
                <a:lnTo>
                  <a:pt x="643382" y="451624"/>
                </a:lnTo>
                <a:lnTo>
                  <a:pt x="601345" y="443280"/>
                </a:lnTo>
                <a:lnTo>
                  <a:pt x="560324" y="433908"/>
                </a:lnTo>
                <a:lnTo>
                  <a:pt x="520319" y="423684"/>
                </a:lnTo>
                <a:lnTo>
                  <a:pt x="481584" y="412432"/>
                </a:lnTo>
                <a:lnTo>
                  <a:pt x="443991" y="400316"/>
                </a:lnTo>
                <a:lnTo>
                  <a:pt x="407543" y="387362"/>
                </a:lnTo>
                <a:lnTo>
                  <a:pt x="339089" y="358927"/>
                </a:lnTo>
                <a:lnTo>
                  <a:pt x="276225" y="327418"/>
                </a:lnTo>
                <a:lnTo>
                  <a:pt x="219837" y="293154"/>
                </a:lnTo>
                <a:lnTo>
                  <a:pt x="170052" y="256146"/>
                </a:lnTo>
                <a:lnTo>
                  <a:pt x="127762" y="216941"/>
                </a:lnTo>
                <a:lnTo>
                  <a:pt x="93090" y="175577"/>
                </a:lnTo>
                <a:lnTo>
                  <a:pt x="66675" y="132499"/>
                </a:lnTo>
                <a:lnTo>
                  <a:pt x="49350" y="89509"/>
                </a:lnTo>
                <a:lnTo>
                  <a:pt x="48895" y="88112"/>
                </a:lnTo>
                <a:lnTo>
                  <a:pt x="49047" y="88112"/>
                </a:lnTo>
                <a:lnTo>
                  <a:pt x="48121" y="82456"/>
                </a:lnTo>
                <a:close/>
              </a:path>
              <a:path w="1933575" h="499745">
                <a:moveTo>
                  <a:pt x="1903844" y="80429"/>
                </a:moveTo>
                <a:lnTo>
                  <a:pt x="1884807" y="80429"/>
                </a:lnTo>
                <a:lnTo>
                  <a:pt x="1884426" y="81838"/>
                </a:lnTo>
                <a:lnTo>
                  <a:pt x="1863089" y="135966"/>
                </a:lnTo>
                <a:lnTo>
                  <a:pt x="1836420" y="178358"/>
                </a:lnTo>
                <a:lnTo>
                  <a:pt x="1801622" y="219036"/>
                </a:lnTo>
                <a:lnTo>
                  <a:pt x="1759203" y="257873"/>
                </a:lnTo>
                <a:lnTo>
                  <a:pt x="1709420" y="294525"/>
                </a:lnTo>
                <a:lnTo>
                  <a:pt x="1652905" y="328726"/>
                </a:lnTo>
                <a:lnTo>
                  <a:pt x="1590039" y="360006"/>
                </a:lnTo>
                <a:lnTo>
                  <a:pt x="1521078" y="388416"/>
                </a:lnTo>
                <a:lnTo>
                  <a:pt x="1484630" y="401256"/>
                </a:lnTo>
                <a:lnTo>
                  <a:pt x="1446657" y="413359"/>
                </a:lnTo>
                <a:lnTo>
                  <a:pt x="1407668" y="424510"/>
                </a:lnTo>
                <a:lnTo>
                  <a:pt x="1367282" y="434721"/>
                </a:lnTo>
                <a:lnTo>
                  <a:pt x="1325880" y="444093"/>
                </a:lnTo>
                <a:lnTo>
                  <a:pt x="1283462" y="452323"/>
                </a:lnTo>
                <a:lnTo>
                  <a:pt x="1239901" y="459613"/>
                </a:lnTo>
                <a:lnTo>
                  <a:pt x="1195324" y="465861"/>
                </a:lnTo>
                <a:lnTo>
                  <a:pt x="1149985" y="470979"/>
                </a:lnTo>
                <a:lnTo>
                  <a:pt x="1103630" y="474954"/>
                </a:lnTo>
                <a:lnTo>
                  <a:pt x="1056513" y="477888"/>
                </a:lnTo>
                <a:lnTo>
                  <a:pt x="1008761" y="479590"/>
                </a:lnTo>
                <a:lnTo>
                  <a:pt x="960755" y="480250"/>
                </a:lnTo>
                <a:lnTo>
                  <a:pt x="1229948" y="480250"/>
                </a:lnTo>
                <a:lnTo>
                  <a:pt x="1287145" y="471030"/>
                </a:lnTo>
                <a:lnTo>
                  <a:pt x="1330198" y="462673"/>
                </a:lnTo>
                <a:lnTo>
                  <a:pt x="1371981" y="453186"/>
                </a:lnTo>
                <a:lnTo>
                  <a:pt x="1412875" y="442836"/>
                </a:lnTo>
                <a:lnTo>
                  <a:pt x="1452499" y="431507"/>
                </a:lnTo>
                <a:lnTo>
                  <a:pt x="1490980" y="419227"/>
                </a:lnTo>
                <a:lnTo>
                  <a:pt x="1528064" y="406158"/>
                </a:lnTo>
                <a:lnTo>
                  <a:pt x="1563751" y="392125"/>
                </a:lnTo>
                <a:lnTo>
                  <a:pt x="1630934" y="361632"/>
                </a:lnTo>
                <a:lnTo>
                  <a:pt x="1692275" y="328066"/>
                </a:lnTo>
                <a:lnTo>
                  <a:pt x="1746885" y="291553"/>
                </a:lnTo>
                <a:lnTo>
                  <a:pt x="1794637" y="252387"/>
                </a:lnTo>
                <a:lnTo>
                  <a:pt x="1834896" y="210820"/>
                </a:lnTo>
                <a:lnTo>
                  <a:pt x="1867281" y="166852"/>
                </a:lnTo>
                <a:lnTo>
                  <a:pt x="1891284" y="120777"/>
                </a:lnTo>
                <a:lnTo>
                  <a:pt x="1903349" y="84277"/>
                </a:lnTo>
                <a:lnTo>
                  <a:pt x="1903844" y="80429"/>
                </a:lnTo>
                <a:close/>
              </a:path>
              <a:path w="1933575" h="499745">
                <a:moveTo>
                  <a:pt x="48895" y="88112"/>
                </a:moveTo>
                <a:lnTo>
                  <a:pt x="49275" y="89509"/>
                </a:lnTo>
                <a:lnTo>
                  <a:pt x="49201" y="89052"/>
                </a:lnTo>
                <a:lnTo>
                  <a:pt x="48895" y="88112"/>
                </a:lnTo>
                <a:close/>
              </a:path>
              <a:path w="1933575" h="499745">
                <a:moveTo>
                  <a:pt x="49201" y="89052"/>
                </a:moveTo>
                <a:lnTo>
                  <a:pt x="49275" y="89509"/>
                </a:lnTo>
                <a:lnTo>
                  <a:pt x="49201" y="89052"/>
                </a:lnTo>
                <a:close/>
              </a:path>
              <a:path w="1933575" h="499745">
                <a:moveTo>
                  <a:pt x="49047" y="88112"/>
                </a:moveTo>
                <a:lnTo>
                  <a:pt x="48895" y="88112"/>
                </a:lnTo>
                <a:lnTo>
                  <a:pt x="49201" y="89052"/>
                </a:lnTo>
                <a:lnTo>
                  <a:pt x="49047" y="88112"/>
                </a:lnTo>
                <a:close/>
              </a:path>
              <a:path w="1933575" h="499745">
                <a:moveTo>
                  <a:pt x="30099" y="7708"/>
                </a:moveTo>
                <a:lnTo>
                  <a:pt x="0" y="87414"/>
                </a:lnTo>
                <a:lnTo>
                  <a:pt x="29138" y="84412"/>
                </a:lnTo>
                <a:lnTo>
                  <a:pt x="27177" y="72428"/>
                </a:lnTo>
                <a:lnTo>
                  <a:pt x="45974" y="69329"/>
                </a:lnTo>
                <a:lnTo>
                  <a:pt x="69169" y="69329"/>
                </a:lnTo>
                <a:lnTo>
                  <a:pt x="30099" y="7708"/>
                </a:lnTo>
                <a:close/>
              </a:path>
              <a:path w="1933575" h="499745">
                <a:moveTo>
                  <a:pt x="45974" y="69329"/>
                </a:moveTo>
                <a:lnTo>
                  <a:pt x="27177" y="72428"/>
                </a:lnTo>
                <a:lnTo>
                  <a:pt x="29138" y="84412"/>
                </a:lnTo>
                <a:lnTo>
                  <a:pt x="48121" y="82456"/>
                </a:lnTo>
                <a:lnTo>
                  <a:pt x="45974" y="69329"/>
                </a:lnTo>
                <a:close/>
              </a:path>
              <a:path w="1933575" h="499745">
                <a:moveTo>
                  <a:pt x="69169" y="69329"/>
                </a:moveTo>
                <a:lnTo>
                  <a:pt x="45974" y="69329"/>
                </a:lnTo>
                <a:lnTo>
                  <a:pt x="48121" y="82456"/>
                </a:lnTo>
                <a:lnTo>
                  <a:pt x="75691" y="79616"/>
                </a:lnTo>
                <a:lnTo>
                  <a:pt x="69169" y="69329"/>
                </a:lnTo>
                <a:close/>
              </a:path>
              <a:path w="1933575" h="499745">
                <a:moveTo>
                  <a:pt x="1884453" y="81628"/>
                </a:moveTo>
                <a:lnTo>
                  <a:pt x="1884391" y="81838"/>
                </a:lnTo>
                <a:lnTo>
                  <a:pt x="1884453" y="81628"/>
                </a:lnTo>
                <a:close/>
              </a:path>
              <a:path w="1933575" h="499745">
                <a:moveTo>
                  <a:pt x="1884807" y="80429"/>
                </a:moveTo>
                <a:lnTo>
                  <a:pt x="1884453" y="81628"/>
                </a:lnTo>
                <a:lnTo>
                  <a:pt x="1884426" y="81838"/>
                </a:lnTo>
                <a:lnTo>
                  <a:pt x="1884807" y="80429"/>
                </a:lnTo>
                <a:close/>
              </a:path>
              <a:path w="1933575" h="499745">
                <a:moveTo>
                  <a:pt x="1885268" y="75298"/>
                </a:moveTo>
                <a:lnTo>
                  <a:pt x="1884453" y="81628"/>
                </a:lnTo>
                <a:lnTo>
                  <a:pt x="1884807" y="80429"/>
                </a:lnTo>
                <a:lnTo>
                  <a:pt x="1903844" y="80429"/>
                </a:lnTo>
                <a:lnTo>
                  <a:pt x="1904335" y="76621"/>
                </a:lnTo>
                <a:lnTo>
                  <a:pt x="1885268" y="75298"/>
                </a:lnTo>
                <a:close/>
              </a:path>
              <a:path w="1933575" h="499745">
                <a:moveTo>
                  <a:pt x="1926691" y="62128"/>
                </a:moveTo>
                <a:lnTo>
                  <a:pt x="1886965" y="62128"/>
                </a:lnTo>
                <a:lnTo>
                  <a:pt x="1905889" y="64566"/>
                </a:lnTo>
                <a:lnTo>
                  <a:pt x="1904335" y="76621"/>
                </a:lnTo>
                <a:lnTo>
                  <a:pt x="1933575" y="78651"/>
                </a:lnTo>
                <a:lnTo>
                  <a:pt x="1926691" y="62128"/>
                </a:lnTo>
                <a:close/>
              </a:path>
              <a:path w="1933575" h="499745">
                <a:moveTo>
                  <a:pt x="1886965" y="62128"/>
                </a:moveTo>
                <a:lnTo>
                  <a:pt x="1885268" y="75298"/>
                </a:lnTo>
                <a:lnTo>
                  <a:pt x="1904335" y="76621"/>
                </a:lnTo>
                <a:lnTo>
                  <a:pt x="1905889" y="64566"/>
                </a:lnTo>
                <a:lnTo>
                  <a:pt x="1886965" y="62128"/>
                </a:lnTo>
                <a:close/>
              </a:path>
              <a:path w="1933575" h="499745">
                <a:moveTo>
                  <a:pt x="1900809" y="0"/>
                </a:moveTo>
                <a:lnTo>
                  <a:pt x="1857628" y="73380"/>
                </a:lnTo>
                <a:lnTo>
                  <a:pt x="1885268" y="75298"/>
                </a:lnTo>
                <a:lnTo>
                  <a:pt x="1886965" y="62128"/>
                </a:lnTo>
                <a:lnTo>
                  <a:pt x="1926691" y="62128"/>
                </a:lnTo>
                <a:lnTo>
                  <a:pt x="19008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114873"/>
            <a:ext cx="79248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5" dirty="0" smtClean="0"/>
              <a:t>Data table selection, data filtering, ordering of output data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179879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0897" y="498158"/>
            <a:ext cx="27679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spc="-65" dirty="0"/>
              <a:t> </a:t>
            </a:r>
            <a:r>
              <a:rPr spc="-5" dirty="0"/>
              <a:t>Lecture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40764"/>
            <a:ext cx="4021454" cy="352297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Aliases 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‘Self-joins’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More WHERE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Clauses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Subqueries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IN, EXISTS, </a:t>
            </a:r>
            <a:r>
              <a:rPr sz="3200" dirty="0">
                <a:latin typeface="Calibri"/>
                <a:cs typeface="Calibri"/>
              </a:rPr>
              <a:t>ANY,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LIKE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ORDER</a:t>
            </a:r>
            <a:r>
              <a:rPr sz="3200" spc="-5" dirty="0">
                <a:latin typeface="Calibri"/>
                <a:cs typeface="Calibri"/>
              </a:rPr>
              <a:t> BY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9519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0529" y="498158"/>
            <a:ext cx="1588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557020"/>
            <a:ext cx="3843020" cy="33020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marR="733425" indent="-342900">
              <a:lnSpc>
                <a:spcPct val="77800"/>
              </a:lnSpc>
              <a:spcBef>
                <a:spcPts val="9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Aliases </a:t>
            </a:r>
            <a:r>
              <a:rPr sz="3000" spc="-5" dirty="0">
                <a:latin typeface="Calibri"/>
                <a:cs typeface="Calibri"/>
              </a:rPr>
              <a:t>rename  columns or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tables</a:t>
            </a:r>
            <a:endParaRPr sz="3000">
              <a:latin typeface="Calibri"/>
              <a:cs typeface="Calibri"/>
            </a:endParaRPr>
          </a:p>
          <a:p>
            <a:pPr marL="749300" marR="5080" lvl="1" indent="-279400">
              <a:lnSpc>
                <a:spcPct val="79400"/>
              </a:lnSpc>
              <a:spcBef>
                <a:spcPts val="645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Can </a:t>
            </a:r>
            <a:r>
              <a:rPr sz="2600" spc="-5" dirty="0">
                <a:latin typeface="Calibri"/>
                <a:cs typeface="Calibri"/>
              </a:rPr>
              <a:t>make names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more  meaningful</a:t>
            </a:r>
            <a:endParaRPr sz="2600">
              <a:latin typeface="Calibri"/>
              <a:cs typeface="Calibri"/>
            </a:endParaRPr>
          </a:p>
          <a:p>
            <a:pPr marL="749300" marR="80645" lvl="1" indent="-279400">
              <a:lnSpc>
                <a:spcPct val="79700"/>
              </a:lnSpc>
              <a:spcBef>
                <a:spcPts val="635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Can </a:t>
            </a:r>
            <a:r>
              <a:rPr sz="2600" spc="-5" dirty="0">
                <a:latin typeface="Calibri"/>
                <a:cs typeface="Calibri"/>
              </a:rPr>
              <a:t>shorten names,  making </a:t>
            </a:r>
            <a:r>
              <a:rPr sz="2600" dirty="0">
                <a:latin typeface="Calibri"/>
                <a:cs typeface="Calibri"/>
              </a:rPr>
              <a:t>them easier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  use</a:t>
            </a:r>
            <a:endParaRPr sz="2600">
              <a:latin typeface="Calibri"/>
              <a:cs typeface="Calibri"/>
            </a:endParaRPr>
          </a:p>
          <a:p>
            <a:pPr marL="749300" marR="71120" lvl="1" indent="-279400">
              <a:lnSpc>
                <a:spcPts val="2580"/>
              </a:lnSpc>
              <a:spcBef>
                <a:spcPts val="54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Can </a:t>
            </a:r>
            <a:r>
              <a:rPr sz="2600" spc="-5" dirty="0">
                <a:latin typeface="Calibri"/>
                <a:cs typeface="Calibri"/>
              </a:rPr>
              <a:t>resolve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ambigious  names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9140" y="1557020"/>
            <a:ext cx="4055745" cy="3483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55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Two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forms:</a:t>
            </a:r>
            <a:endParaRPr sz="3000">
              <a:latin typeface="Calibri"/>
              <a:cs typeface="Calibri"/>
            </a:endParaRPr>
          </a:p>
          <a:p>
            <a:pPr marL="755650" lvl="1" indent="-285750">
              <a:lnSpc>
                <a:spcPts val="3055"/>
              </a:lnSpc>
              <a:buFont typeface="Arial"/>
              <a:buChar char="–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Column </a:t>
            </a:r>
            <a:r>
              <a:rPr sz="2600" dirty="0">
                <a:latin typeface="Calibri"/>
                <a:cs typeface="Calibri"/>
              </a:rPr>
              <a:t>alias</a:t>
            </a:r>
            <a:endParaRPr sz="2600">
              <a:latin typeface="Calibri"/>
              <a:cs typeface="Calibri"/>
            </a:endParaRPr>
          </a:p>
          <a:p>
            <a:pPr marL="927100" marR="278130">
              <a:lnSpc>
                <a:spcPts val="2170"/>
              </a:lnSpc>
              <a:spcBef>
                <a:spcPts val="445"/>
              </a:spcBef>
            </a:pPr>
            <a:r>
              <a:rPr sz="2200" i="1" spc="-5" dirty="0">
                <a:latin typeface="Calibri"/>
                <a:cs typeface="Calibri"/>
              </a:rPr>
              <a:t>SELECT </a:t>
            </a:r>
            <a:r>
              <a:rPr sz="2200" i="1" dirty="0">
                <a:latin typeface="Calibri"/>
                <a:cs typeface="Calibri"/>
              </a:rPr>
              <a:t>column </a:t>
            </a:r>
            <a:r>
              <a:rPr sz="2200" i="1" spc="-5" dirty="0">
                <a:latin typeface="Calibri"/>
                <a:cs typeface="Calibri"/>
              </a:rPr>
              <a:t>[AS]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new-  </a:t>
            </a:r>
            <a:r>
              <a:rPr sz="2200" i="1" dirty="0">
                <a:latin typeface="Calibri"/>
                <a:cs typeface="Calibri"/>
              </a:rPr>
              <a:t>col-name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Table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alias</a:t>
            </a:r>
            <a:endParaRPr sz="2600">
              <a:latin typeface="Calibri"/>
              <a:cs typeface="Calibri"/>
            </a:endParaRPr>
          </a:p>
          <a:p>
            <a:pPr marL="927100" marR="86995">
              <a:lnSpc>
                <a:spcPct val="78500"/>
              </a:lnSpc>
              <a:spcBef>
                <a:spcPts val="630"/>
              </a:spcBef>
            </a:pPr>
            <a:r>
              <a:rPr sz="2200" i="1" spc="-5" dirty="0">
                <a:latin typeface="Calibri"/>
                <a:cs typeface="Calibri"/>
              </a:rPr>
              <a:t>SELECT </a:t>
            </a:r>
            <a:r>
              <a:rPr sz="2200" i="1" dirty="0">
                <a:latin typeface="Calibri"/>
                <a:cs typeface="Calibri"/>
              </a:rPr>
              <a:t>* FROM table</a:t>
            </a:r>
            <a:r>
              <a:rPr sz="2200" i="1" spc="-65" dirty="0">
                <a:latin typeface="Calibri"/>
                <a:cs typeface="Calibri"/>
              </a:rPr>
              <a:t> </a:t>
            </a:r>
            <a:r>
              <a:rPr sz="2200" i="1" spc="-5" dirty="0">
                <a:latin typeface="Calibri"/>
                <a:cs typeface="Calibri"/>
              </a:rPr>
              <a:t>new-  table-name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00">
              <a:latin typeface="Times New Roman"/>
              <a:cs typeface="Times New Roman"/>
            </a:endParaRPr>
          </a:p>
          <a:p>
            <a:pPr marL="2696210">
              <a:lnSpc>
                <a:spcPct val="100000"/>
              </a:lnSpc>
            </a:pPr>
            <a:r>
              <a:rPr sz="2200" spc="-5" dirty="0">
                <a:latin typeface="Calibri"/>
                <a:cs typeface="Calibri"/>
              </a:rPr>
              <a:t>([]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optional)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0514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265" y="498158"/>
            <a:ext cx="3147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</a:t>
            </a:r>
            <a:r>
              <a:rPr spc="-4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6740" y="1555496"/>
            <a:ext cx="3933190" cy="41078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800" i="1" spc="-5" dirty="0">
                <a:latin typeface="Calibri"/>
                <a:cs typeface="Calibri"/>
              </a:rPr>
              <a:t>SELECT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15"/>
              </a:spcBef>
            </a:pPr>
            <a:r>
              <a:rPr sz="2800" i="1" spc="-5" dirty="0">
                <a:latin typeface="Calibri"/>
                <a:cs typeface="Calibri"/>
              </a:rPr>
              <a:t>E.ID </a:t>
            </a:r>
            <a:r>
              <a:rPr sz="2800" i="1" dirty="0">
                <a:latin typeface="Calibri"/>
                <a:cs typeface="Calibri"/>
              </a:rPr>
              <a:t>AS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empID,</a:t>
            </a:r>
            <a:endParaRPr sz="2800">
              <a:latin typeface="Calibri"/>
              <a:cs typeface="Calibri"/>
            </a:endParaRPr>
          </a:p>
          <a:p>
            <a:pPr marL="12700" marR="5080" indent="457200">
              <a:lnSpc>
                <a:spcPts val="4100"/>
              </a:lnSpc>
              <a:spcBef>
                <a:spcPts val="160"/>
              </a:spcBef>
            </a:pPr>
            <a:r>
              <a:rPr sz="2800" i="1" spc="-5" dirty="0">
                <a:latin typeface="Calibri"/>
                <a:cs typeface="Calibri"/>
              </a:rPr>
              <a:t>E.Name, W.Department  </a:t>
            </a:r>
            <a:r>
              <a:rPr sz="2800" i="1" dirty="0">
                <a:latin typeface="Calibri"/>
                <a:cs typeface="Calibri"/>
              </a:rPr>
              <a:t>FROM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</a:pPr>
            <a:r>
              <a:rPr sz="2800" i="1" spc="-5" dirty="0">
                <a:latin typeface="Calibri"/>
                <a:cs typeface="Calibri"/>
              </a:rPr>
              <a:t>Employee </a:t>
            </a:r>
            <a:r>
              <a:rPr sz="2800" i="1" dirty="0">
                <a:latin typeface="Calibri"/>
                <a:cs typeface="Calibri"/>
              </a:rPr>
              <a:t>E,</a:t>
            </a:r>
            <a:endParaRPr sz="2800">
              <a:latin typeface="Calibri"/>
              <a:cs typeface="Calibri"/>
            </a:endParaRPr>
          </a:p>
          <a:p>
            <a:pPr marL="12700" marR="1864360" indent="457200">
              <a:lnSpc>
                <a:spcPts val="4100"/>
              </a:lnSpc>
              <a:spcBef>
                <a:spcPts val="160"/>
              </a:spcBef>
            </a:pPr>
            <a:r>
              <a:rPr sz="2800" i="1" spc="-5" dirty="0">
                <a:latin typeface="Calibri"/>
                <a:cs typeface="Calibri"/>
              </a:rPr>
              <a:t>WorksIn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  </a:t>
            </a:r>
            <a:r>
              <a:rPr sz="2800" i="1" spc="-5" dirty="0"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75"/>
              </a:spcBef>
            </a:pPr>
            <a:r>
              <a:rPr sz="2800" i="1" spc="-5" dirty="0">
                <a:latin typeface="Calibri"/>
                <a:cs typeface="Calibri"/>
              </a:rPr>
              <a:t>E.ID </a:t>
            </a:r>
            <a:r>
              <a:rPr sz="2800" i="1" dirty="0">
                <a:latin typeface="Calibri"/>
                <a:cs typeface="Calibri"/>
              </a:rPr>
              <a:t>=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W.ID;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000" y="1600201"/>
            <a:ext cx="2190168" cy="17309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000" y="3686397"/>
            <a:ext cx="2842390" cy="21434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0072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265" y="498158"/>
            <a:ext cx="3147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</a:t>
            </a:r>
            <a:r>
              <a:rPr spc="-4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2183" y="1558035"/>
            <a:ext cx="2613025" cy="415861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i="1" spc="-5" dirty="0">
                <a:latin typeface="Calibri"/>
                <a:cs typeface="Calibri"/>
              </a:rPr>
              <a:t>SELECT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2800" i="1" spc="-5" dirty="0">
                <a:latin typeface="Calibri"/>
                <a:cs typeface="Calibri"/>
              </a:rPr>
              <a:t>E.ID </a:t>
            </a:r>
            <a:r>
              <a:rPr sz="2800" i="1" dirty="0">
                <a:latin typeface="Calibri"/>
                <a:cs typeface="Calibri"/>
              </a:rPr>
              <a:t>AS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empID,</a:t>
            </a:r>
            <a:endParaRPr sz="2800">
              <a:latin typeface="Calibri"/>
              <a:cs typeface="Calibri"/>
            </a:endParaRPr>
          </a:p>
          <a:p>
            <a:pPr marL="12700" marR="437515" indent="457200">
              <a:lnSpc>
                <a:spcPct val="99700"/>
              </a:lnSpc>
              <a:spcBef>
                <a:spcPts val="350"/>
              </a:spcBef>
            </a:pPr>
            <a:r>
              <a:rPr sz="2800" i="1" spc="-5" dirty="0">
                <a:latin typeface="Calibri"/>
                <a:cs typeface="Calibri"/>
              </a:rPr>
              <a:t>E.Name,  W.De</a:t>
            </a:r>
            <a:r>
              <a:rPr sz="2800" i="1" dirty="0">
                <a:latin typeface="Calibri"/>
                <a:cs typeface="Calibri"/>
              </a:rPr>
              <a:t>partm</a:t>
            </a:r>
            <a:r>
              <a:rPr sz="2800" i="1" spc="-5" dirty="0">
                <a:latin typeface="Calibri"/>
                <a:cs typeface="Calibri"/>
              </a:rPr>
              <a:t>e</a:t>
            </a:r>
            <a:r>
              <a:rPr sz="2800" i="1" dirty="0">
                <a:latin typeface="Calibri"/>
                <a:cs typeface="Calibri"/>
              </a:rPr>
              <a:t>nt  FROM</a:t>
            </a:r>
            <a:endParaRPr sz="2800">
              <a:latin typeface="Calibri"/>
              <a:cs typeface="Calibri"/>
            </a:endParaRPr>
          </a:p>
          <a:p>
            <a:pPr marL="469900" marR="391795">
              <a:lnSpc>
                <a:spcPct val="110100"/>
              </a:lnSpc>
            </a:pPr>
            <a:r>
              <a:rPr sz="2800" i="1" spc="-5" dirty="0">
                <a:latin typeface="Calibri"/>
                <a:cs typeface="Calibri"/>
              </a:rPr>
              <a:t>Employee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E,  </a:t>
            </a:r>
            <a:r>
              <a:rPr sz="2800" i="1" spc="-5" dirty="0">
                <a:latin typeface="Calibri"/>
                <a:cs typeface="Calibri"/>
              </a:rPr>
              <a:t>WorksIn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W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2800" i="1" spc="-5" dirty="0">
                <a:latin typeface="Calibri"/>
                <a:cs typeface="Calibri"/>
              </a:rPr>
              <a:t>WHERE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</a:pPr>
            <a:r>
              <a:rPr sz="2800" i="1" spc="-5" dirty="0">
                <a:latin typeface="Calibri"/>
                <a:cs typeface="Calibri"/>
              </a:rPr>
              <a:t>E.ID </a:t>
            </a:r>
            <a:r>
              <a:rPr sz="2800" i="1" dirty="0">
                <a:latin typeface="Calibri"/>
                <a:cs typeface="Calibri"/>
              </a:rPr>
              <a:t>=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W.ID;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0350" y="2671019"/>
            <a:ext cx="4055893" cy="17626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1160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8413" y="498158"/>
            <a:ext cx="5092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Aliases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‘Self-Joins’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633220"/>
            <a:ext cx="4939030" cy="411987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6096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Aliases can be used 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copy  </a:t>
            </a:r>
            <a:r>
              <a:rPr sz="3200" dirty="0">
                <a:latin typeface="Calibri"/>
                <a:cs typeface="Calibri"/>
              </a:rPr>
              <a:t>a table, so that it can be  </a:t>
            </a:r>
            <a:r>
              <a:rPr sz="3200" spc="-5" dirty="0">
                <a:latin typeface="Calibri"/>
                <a:cs typeface="Calibri"/>
              </a:rPr>
              <a:t>combined with </a:t>
            </a:r>
            <a:r>
              <a:rPr sz="3200" dirty="0">
                <a:latin typeface="Calibri"/>
                <a:cs typeface="Calibri"/>
              </a:rPr>
              <a:t>itself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6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99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Example: </a:t>
            </a:r>
            <a:r>
              <a:rPr sz="3200" dirty="0">
                <a:latin typeface="Calibri"/>
                <a:cs typeface="Calibri"/>
              </a:rPr>
              <a:t>Find the </a:t>
            </a:r>
            <a:r>
              <a:rPr sz="3200" spc="-5" dirty="0">
                <a:latin typeface="Calibri"/>
                <a:cs typeface="Calibri"/>
              </a:rPr>
              <a:t>names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 </a:t>
            </a:r>
            <a:r>
              <a:rPr sz="3200" dirty="0">
                <a:latin typeface="Calibri"/>
                <a:cs typeface="Calibri"/>
              </a:rPr>
              <a:t>all </a:t>
            </a:r>
            <a:r>
              <a:rPr sz="3200" spc="-5" dirty="0">
                <a:latin typeface="Calibri"/>
                <a:cs typeface="Calibri"/>
              </a:rPr>
              <a:t>employees who work </a:t>
            </a:r>
            <a:r>
              <a:rPr sz="3200" dirty="0">
                <a:latin typeface="Calibri"/>
                <a:cs typeface="Calibri"/>
              </a:rPr>
              <a:t>in  the </a:t>
            </a:r>
            <a:r>
              <a:rPr sz="3200" spc="-5" dirty="0">
                <a:latin typeface="Calibri"/>
                <a:cs typeface="Calibri"/>
              </a:rPr>
              <a:t>same department </a:t>
            </a:r>
            <a:r>
              <a:rPr sz="3200" dirty="0">
                <a:latin typeface="Calibri"/>
                <a:cs typeface="Calibri"/>
              </a:rPr>
              <a:t>as  Andy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82012" y="2345322"/>
            <a:ext cx="2804786" cy="26562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5235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Aliases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‘Self-Joins’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339" y="1633220"/>
            <a:ext cx="5842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26865" algn="l"/>
              </a:tabLst>
            </a:pPr>
            <a:r>
              <a:rPr sz="2800" spc="-5" dirty="0">
                <a:latin typeface="Calibri"/>
                <a:cs typeface="Calibri"/>
              </a:rPr>
              <a:t>Employee </a:t>
            </a:r>
            <a:r>
              <a:rPr sz="2800" dirty="0">
                <a:latin typeface="Calibri"/>
                <a:cs typeface="Calibri"/>
              </a:rPr>
              <a:t>A	</a:t>
            </a:r>
            <a:r>
              <a:rPr sz="2800" spc="-5" dirty="0">
                <a:latin typeface="Calibri"/>
                <a:cs typeface="Calibri"/>
              </a:rPr>
              <a:t>Employee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9519" y="2351068"/>
            <a:ext cx="2819400" cy="2641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76729" y="2351068"/>
            <a:ext cx="2781298" cy="2654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05835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Aliases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‘Self-Joins’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461611"/>
            <a:ext cx="6477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Calibri"/>
                <a:cs typeface="Calibri"/>
              </a:rPr>
              <a:t>SELECT </a:t>
            </a:r>
            <a:r>
              <a:rPr sz="2800" b="1" i="1" dirty="0">
                <a:latin typeface="Calibri"/>
                <a:cs typeface="Calibri"/>
              </a:rPr>
              <a:t>... FROM </a:t>
            </a:r>
            <a:r>
              <a:rPr sz="2800" b="1" i="1" spc="-5" dirty="0">
                <a:latin typeface="Calibri"/>
                <a:cs typeface="Calibri"/>
              </a:rPr>
              <a:t>Employee </a:t>
            </a:r>
            <a:r>
              <a:rPr sz="2800" b="1" i="1" dirty="0">
                <a:latin typeface="Calibri"/>
                <a:cs typeface="Calibri"/>
              </a:rPr>
              <a:t>A, </a:t>
            </a:r>
            <a:r>
              <a:rPr sz="2800" b="1" i="1" spc="-5" dirty="0">
                <a:latin typeface="Calibri"/>
                <a:cs typeface="Calibri"/>
              </a:rPr>
              <a:t>Employee </a:t>
            </a:r>
            <a:r>
              <a:rPr sz="2800" b="1" i="1" dirty="0">
                <a:latin typeface="Calibri"/>
                <a:cs typeface="Calibri"/>
              </a:rPr>
              <a:t>B</a:t>
            </a:r>
            <a:r>
              <a:rPr sz="2800" b="1" i="1" spc="-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...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82800" y="2089150"/>
            <a:ext cx="4965698" cy="42671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6289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8413" y="498158"/>
            <a:ext cx="5092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Aliases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‘Self-Joins’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398620"/>
            <a:ext cx="6417310" cy="88328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400" b="1" i="1" spc="-5" dirty="0">
                <a:latin typeface="Calibri"/>
                <a:cs typeface="Calibri"/>
              </a:rPr>
              <a:t>SELECT </a:t>
            </a:r>
            <a:r>
              <a:rPr sz="2400" b="1" i="1" dirty="0">
                <a:latin typeface="Calibri"/>
                <a:cs typeface="Calibri"/>
              </a:rPr>
              <a:t>... FROM </a:t>
            </a:r>
            <a:r>
              <a:rPr sz="2400" b="1" i="1" spc="-5" dirty="0">
                <a:latin typeface="Calibri"/>
                <a:cs typeface="Calibri"/>
              </a:rPr>
              <a:t>Employee </a:t>
            </a:r>
            <a:r>
              <a:rPr sz="2400" b="1" i="1" dirty="0">
                <a:latin typeface="Calibri"/>
                <a:cs typeface="Calibri"/>
              </a:rPr>
              <a:t>A, </a:t>
            </a:r>
            <a:r>
              <a:rPr sz="2400" b="1" i="1" spc="-5" dirty="0">
                <a:latin typeface="Calibri"/>
                <a:cs typeface="Calibri"/>
              </a:rPr>
              <a:t>Employee</a:t>
            </a:r>
            <a:r>
              <a:rPr sz="2400" b="1" i="1" dirty="0">
                <a:latin typeface="Calibri"/>
                <a:cs typeface="Calibri"/>
              </a:rPr>
              <a:t> B</a:t>
            </a: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95"/>
              </a:spcBef>
            </a:pPr>
            <a:r>
              <a:rPr sz="2400" b="1" i="1" spc="-5" dirty="0">
                <a:latin typeface="Calibri"/>
                <a:cs typeface="Calibri"/>
              </a:rPr>
              <a:t>WHERE A.Dept </a:t>
            </a:r>
            <a:r>
              <a:rPr sz="2400" b="1" i="1" dirty="0">
                <a:latin typeface="Calibri"/>
                <a:cs typeface="Calibri"/>
              </a:rPr>
              <a:t>= </a:t>
            </a:r>
            <a:r>
              <a:rPr sz="2400" b="1" i="1" spc="-5" dirty="0">
                <a:latin typeface="Calibri"/>
                <a:cs typeface="Calibri"/>
              </a:rPr>
              <a:t>B.Dept </a:t>
            </a:r>
            <a:r>
              <a:rPr sz="2400" b="1" i="1" dirty="0">
                <a:latin typeface="Calibri"/>
                <a:cs typeface="Calibri"/>
              </a:rPr>
              <a:t>AND </a:t>
            </a:r>
            <a:r>
              <a:rPr sz="2400" b="1" i="1" spc="-5" dirty="0">
                <a:latin typeface="Calibri"/>
                <a:cs typeface="Calibri"/>
              </a:rPr>
              <a:t>B.Name </a:t>
            </a:r>
            <a:r>
              <a:rPr sz="2400" b="1" i="1" dirty="0">
                <a:latin typeface="Calibri"/>
                <a:cs typeface="Calibri"/>
              </a:rPr>
              <a:t>=</a:t>
            </a:r>
            <a:r>
              <a:rPr sz="2400" b="1" i="1" spc="-5" dirty="0">
                <a:latin typeface="Calibri"/>
                <a:cs typeface="Calibri"/>
              </a:rPr>
              <a:t> ‘Andy’;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20900" y="2981044"/>
            <a:ext cx="4902198" cy="165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30151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8413" y="498158"/>
            <a:ext cx="5092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Aliases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‘Self-Joins’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398620"/>
            <a:ext cx="6417310" cy="883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17200"/>
              </a:lnSpc>
              <a:spcBef>
                <a:spcPts val="100"/>
              </a:spcBef>
            </a:pPr>
            <a:r>
              <a:rPr sz="2400" b="1" i="1" spc="-5" dirty="0">
                <a:latin typeface="Calibri"/>
                <a:cs typeface="Calibri"/>
              </a:rPr>
              <a:t>SELECT A.Name </a:t>
            </a:r>
            <a:r>
              <a:rPr sz="2400" b="1" i="1" dirty="0">
                <a:latin typeface="Calibri"/>
                <a:cs typeface="Calibri"/>
              </a:rPr>
              <a:t>FROM </a:t>
            </a:r>
            <a:r>
              <a:rPr sz="2400" b="1" i="1" spc="-5" dirty="0">
                <a:latin typeface="Calibri"/>
                <a:cs typeface="Calibri"/>
              </a:rPr>
              <a:t>Employee </a:t>
            </a:r>
            <a:r>
              <a:rPr sz="2400" b="1" i="1" dirty="0">
                <a:latin typeface="Calibri"/>
                <a:cs typeface="Calibri"/>
              </a:rPr>
              <a:t>A, </a:t>
            </a:r>
            <a:r>
              <a:rPr sz="2400" b="1" i="1" spc="-5" dirty="0">
                <a:latin typeface="Calibri"/>
                <a:cs typeface="Calibri"/>
              </a:rPr>
              <a:t>Employee </a:t>
            </a:r>
            <a:r>
              <a:rPr sz="2400" b="1" i="1" dirty="0">
                <a:latin typeface="Calibri"/>
                <a:cs typeface="Calibri"/>
              </a:rPr>
              <a:t>B  </a:t>
            </a:r>
            <a:r>
              <a:rPr sz="2400" b="1" i="1" spc="-5" dirty="0">
                <a:latin typeface="Calibri"/>
                <a:cs typeface="Calibri"/>
              </a:rPr>
              <a:t>WHERE A.Dept </a:t>
            </a:r>
            <a:r>
              <a:rPr sz="2400" b="1" i="1" dirty="0">
                <a:latin typeface="Calibri"/>
                <a:cs typeface="Calibri"/>
              </a:rPr>
              <a:t>= </a:t>
            </a:r>
            <a:r>
              <a:rPr sz="2400" b="1" i="1" spc="-5" dirty="0">
                <a:latin typeface="Calibri"/>
                <a:cs typeface="Calibri"/>
              </a:rPr>
              <a:t>B.Dept </a:t>
            </a:r>
            <a:r>
              <a:rPr sz="2400" b="1" i="1" dirty="0">
                <a:latin typeface="Calibri"/>
                <a:cs typeface="Calibri"/>
              </a:rPr>
              <a:t>AND </a:t>
            </a:r>
            <a:r>
              <a:rPr sz="2400" b="1" i="1" spc="-5" dirty="0">
                <a:latin typeface="Calibri"/>
                <a:cs typeface="Calibri"/>
              </a:rPr>
              <a:t>B.Name </a:t>
            </a:r>
            <a:r>
              <a:rPr sz="2400" b="1" i="1" dirty="0">
                <a:latin typeface="Calibri"/>
                <a:cs typeface="Calibri"/>
              </a:rPr>
              <a:t>=</a:t>
            </a:r>
            <a:r>
              <a:rPr sz="2400" b="1" i="1" spc="-5" dirty="0">
                <a:latin typeface="Calibri"/>
                <a:cs typeface="Calibri"/>
              </a:rPr>
              <a:t> ‘Andy’;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05753" y="2616200"/>
            <a:ext cx="1329195" cy="1978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40" y="5026897"/>
            <a:ext cx="7204075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469900" marR="5080" indent="-457200">
              <a:lnSpc>
                <a:spcPts val="3300"/>
              </a:lnSpc>
              <a:spcBef>
                <a:spcPts val="259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latin typeface="Calibri"/>
                <a:cs typeface="Calibri"/>
              </a:rPr>
              <a:t>Names of </a:t>
            </a:r>
            <a:r>
              <a:rPr sz="2800" dirty="0">
                <a:latin typeface="Calibri"/>
                <a:cs typeface="Calibri"/>
              </a:rPr>
              <a:t>all </a:t>
            </a:r>
            <a:r>
              <a:rPr sz="2800" spc="-5" dirty="0">
                <a:latin typeface="Calibri"/>
                <a:cs typeface="Calibri"/>
              </a:rPr>
              <a:t>employees who work </a:t>
            </a:r>
            <a:r>
              <a:rPr sz="2800" dirty="0">
                <a:latin typeface="Calibri"/>
                <a:cs typeface="Calibri"/>
              </a:rPr>
              <a:t>in the </a:t>
            </a:r>
            <a:r>
              <a:rPr sz="2800" spc="-5" dirty="0">
                <a:latin typeface="Calibri"/>
                <a:cs typeface="Calibri"/>
              </a:rPr>
              <a:t>same  department </a:t>
            </a:r>
            <a:r>
              <a:rPr sz="2800" dirty="0">
                <a:latin typeface="Calibri"/>
                <a:cs typeface="Calibri"/>
              </a:rPr>
              <a:t>as Andy</a:t>
            </a:r>
            <a:endParaRPr sz="2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3269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633220"/>
            <a:ext cx="7675880" cy="39255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WHERE </a:t>
            </a:r>
            <a:r>
              <a:rPr sz="3200" dirty="0">
                <a:latin typeface="Calibri"/>
                <a:cs typeface="Calibri"/>
              </a:rPr>
              <a:t>clause is used to </a:t>
            </a:r>
            <a:r>
              <a:rPr sz="3200" spc="-5" dirty="0">
                <a:latin typeface="Calibri"/>
                <a:cs typeface="Calibri"/>
              </a:rPr>
              <a:t>extract only  those records </a:t>
            </a:r>
            <a:r>
              <a:rPr sz="3200" dirty="0">
                <a:latin typeface="Calibri"/>
                <a:cs typeface="Calibri"/>
              </a:rPr>
              <a:t>that fulﬁll a speciﬁed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criterion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45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WHERE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Syntax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SELECT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column_name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3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column_name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60"/>
              </a:spcBef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table_name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WHERE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column_name operator</a:t>
            </a:r>
            <a:r>
              <a:rPr sz="3200" i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libri"/>
                <a:cs typeface="Calibri"/>
              </a:rPr>
              <a:t>value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27321" y="498158"/>
            <a:ext cx="52952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 SQL </a:t>
            </a:r>
            <a:r>
              <a:rPr spc="-5" dirty="0"/>
              <a:t>WHERE</a:t>
            </a:r>
            <a:r>
              <a:rPr spc="-60" dirty="0"/>
              <a:t> </a:t>
            </a:r>
            <a:r>
              <a:rPr spc="-5" dirty="0"/>
              <a:t>Clause</a:t>
            </a:r>
          </a:p>
        </p:txBody>
      </p:sp>
    </p:spTree>
    <p:extLst>
      <p:ext uri="{BB962C8B-B14F-4D97-AF65-F5344CB8AC3E}">
        <p14:creationId xmlns:p14="http://schemas.microsoft.com/office/powerpoint/2010/main" val="3590283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0488" y="1847767"/>
          <a:ext cx="7408543" cy="36067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7664"/>
                <a:gridCol w="5770879"/>
              </a:tblGrid>
              <a:tr h="37084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Equal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&lt;&gt;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164465">
                        <a:lnSpc>
                          <a:spcPts val="2100"/>
                        </a:lnSpc>
                        <a:spcBef>
                          <a:spcPts val="48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equal.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Note: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some versions 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SQL this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operator may 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 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written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!=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&gt;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Greater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&lt;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&gt;=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Greater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than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equal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&lt;=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Less than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equal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Between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 inclusive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range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To specify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multiple possible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values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column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D9E0ED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LIKE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Search for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pattern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EDF1F6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7416" y="498158"/>
            <a:ext cx="7275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Operators </a:t>
            </a:r>
            <a:r>
              <a:rPr dirty="0"/>
              <a:t>in The </a:t>
            </a:r>
            <a:r>
              <a:rPr spc="-5" dirty="0"/>
              <a:t>WHERE</a:t>
            </a:r>
            <a:r>
              <a:rPr spc="-20" dirty="0"/>
              <a:t> </a:t>
            </a:r>
            <a:r>
              <a:rPr spc="-5" dirty="0"/>
              <a:t>Clause</a:t>
            </a:r>
          </a:p>
        </p:txBody>
      </p:sp>
    </p:spTree>
    <p:extLst>
      <p:ext uri="{BB962C8B-B14F-4D97-AF65-F5344CB8AC3E}">
        <p14:creationId xmlns:p14="http://schemas.microsoft.com/office/powerpoint/2010/main" val="1061291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595120"/>
            <a:ext cx="3839210" cy="394970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5080" indent="-342900">
              <a:lnSpc>
                <a:spcPct val="89800"/>
              </a:lnSpc>
              <a:spcBef>
                <a:spcPts val="4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A SELECT </a:t>
            </a:r>
            <a:r>
              <a:rPr sz="3000" spc="-5" dirty="0">
                <a:latin typeface="Calibri"/>
                <a:cs typeface="Calibri"/>
              </a:rPr>
              <a:t>statement  </a:t>
            </a:r>
            <a:r>
              <a:rPr sz="3000" dirty="0">
                <a:latin typeface="Calibri"/>
                <a:cs typeface="Calibri"/>
              </a:rPr>
              <a:t>can be </a:t>
            </a:r>
            <a:r>
              <a:rPr sz="3000" spc="-5" dirty="0">
                <a:latin typeface="Calibri"/>
                <a:cs typeface="Calibri"/>
              </a:rPr>
              <a:t>nested </a:t>
            </a:r>
            <a:r>
              <a:rPr sz="3000" dirty="0">
                <a:latin typeface="Calibri"/>
                <a:cs typeface="Calibri"/>
              </a:rPr>
              <a:t>inside  </a:t>
            </a:r>
            <a:r>
              <a:rPr sz="3000" spc="-5" dirty="0">
                <a:latin typeface="Calibri"/>
                <a:cs typeface="Calibri"/>
              </a:rPr>
              <a:t>another query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form 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5" dirty="0">
                <a:latin typeface="Calibri"/>
                <a:cs typeface="Calibri"/>
              </a:rPr>
              <a:t> subquery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4050">
              <a:latin typeface="Times New Roman"/>
              <a:cs typeface="Times New Roman"/>
            </a:endParaRPr>
          </a:p>
          <a:p>
            <a:pPr marL="355600" marR="26670" indent="-342900">
              <a:lnSpc>
                <a:spcPct val="896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results of </a:t>
            </a:r>
            <a:r>
              <a:rPr sz="3000" dirty="0">
                <a:latin typeface="Calibri"/>
                <a:cs typeface="Calibri"/>
              </a:rPr>
              <a:t>the  </a:t>
            </a:r>
            <a:r>
              <a:rPr sz="3000" spc="-5" dirty="0">
                <a:latin typeface="Calibri"/>
                <a:cs typeface="Calibri"/>
              </a:rPr>
              <a:t>subquery are </a:t>
            </a:r>
            <a:r>
              <a:rPr sz="3000" dirty="0">
                <a:latin typeface="Calibri"/>
                <a:cs typeface="Calibri"/>
              </a:rPr>
              <a:t>passed  </a:t>
            </a:r>
            <a:r>
              <a:rPr sz="3000" spc="-5" dirty="0">
                <a:latin typeface="Calibri"/>
                <a:cs typeface="Calibri"/>
              </a:rPr>
              <a:t>back </a:t>
            </a:r>
            <a:r>
              <a:rPr sz="3000" dirty="0">
                <a:latin typeface="Calibri"/>
                <a:cs typeface="Calibri"/>
              </a:rPr>
              <a:t>to the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containing  query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140" y="1595120"/>
            <a:ext cx="4020820" cy="424942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71755" indent="-342900">
              <a:lnSpc>
                <a:spcPct val="89800"/>
              </a:lnSpc>
              <a:spcBef>
                <a:spcPts val="4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For example, retrieve </a:t>
            </a:r>
            <a:r>
              <a:rPr sz="3000" dirty="0">
                <a:latin typeface="Calibri"/>
                <a:cs typeface="Calibri"/>
              </a:rPr>
              <a:t>a  list </a:t>
            </a:r>
            <a:r>
              <a:rPr sz="3000" spc="-5" dirty="0">
                <a:latin typeface="Calibri"/>
                <a:cs typeface="Calibri"/>
              </a:rPr>
              <a:t>of names of people  who are </a:t>
            </a:r>
            <a:r>
              <a:rPr sz="3000" dirty="0">
                <a:latin typeface="Calibri"/>
                <a:cs typeface="Calibri"/>
              </a:rPr>
              <a:t>in </a:t>
            </a:r>
            <a:r>
              <a:rPr sz="3000" spc="-5" dirty="0">
                <a:latin typeface="Calibri"/>
                <a:cs typeface="Calibri"/>
              </a:rPr>
              <a:t>Andy’s  department:</a:t>
            </a:r>
            <a:endParaRPr sz="3000">
              <a:latin typeface="Calibri"/>
              <a:cs typeface="Calibri"/>
            </a:endParaRPr>
          </a:p>
          <a:p>
            <a:pPr marL="567690" marR="1187450" indent="-148590">
              <a:lnSpc>
                <a:spcPts val="3400"/>
              </a:lnSpc>
              <a:spcBef>
                <a:spcPts val="145"/>
              </a:spcBef>
            </a:pPr>
            <a:r>
              <a:rPr sz="2600" b="1" i="1" spc="-5" dirty="0">
                <a:latin typeface="Calibri"/>
                <a:cs typeface="Calibri"/>
              </a:rPr>
              <a:t>SELECT Name  </a:t>
            </a:r>
            <a:r>
              <a:rPr sz="2600" b="1" i="1" dirty="0">
                <a:latin typeface="Calibri"/>
                <a:cs typeface="Calibri"/>
              </a:rPr>
              <a:t>FROM</a:t>
            </a:r>
            <a:r>
              <a:rPr sz="2600" b="1" i="1" spc="-70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Employee</a:t>
            </a:r>
            <a:endParaRPr sz="2600">
              <a:latin typeface="Calibri"/>
              <a:cs typeface="Calibri"/>
            </a:endParaRPr>
          </a:p>
          <a:p>
            <a:pPr marL="567690" marR="1604645" indent="-148590">
              <a:lnSpc>
                <a:spcPts val="3400"/>
              </a:lnSpc>
              <a:spcBef>
                <a:spcPts val="100"/>
              </a:spcBef>
            </a:pPr>
            <a:r>
              <a:rPr sz="2600" b="1" i="1" spc="-5" dirty="0">
                <a:latin typeface="Calibri"/>
                <a:cs typeface="Calibri"/>
              </a:rPr>
              <a:t>WHERE Dept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=  </a:t>
            </a:r>
            <a:r>
              <a:rPr sz="2600" b="1" i="1" spc="-5" dirty="0">
                <a:latin typeface="Calibri"/>
                <a:cs typeface="Calibri"/>
              </a:rPr>
              <a:t>(SELECT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Dept</a:t>
            </a:r>
            <a:endParaRPr sz="2600">
              <a:latin typeface="Calibri"/>
              <a:cs typeface="Calibri"/>
            </a:endParaRPr>
          </a:p>
          <a:p>
            <a:pPr marL="866140" marR="5080">
              <a:lnSpc>
                <a:spcPts val="2880"/>
              </a:lnSpc>
              <a:spcBef>
                <a:spcPts val="415"/>
              </a:spcBef>
            </a:pPr>
            <a:r>
              <a:rPr sz="2600" b="1" i="1" dirty="0">
                <a:latin typeface="Calibri"/>
                <a:cs typeface="Calibri"/>
              </a:rPr>
              <a:t>FROM </a:t>
            </a:r>
            <a:r>
              <a:rPr sz="2600" b="1" i="1" spc="-5" dirty="0">
                <a:latin typeface="Calibri"/>
                <a:cs typeface="Calibri"/>
              </a:rPr>
              <a:t>Employee  WHERE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Name=‘Andy’);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97445" y="498158"/>
            <a:ext cx="25533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48107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9639" y="1558035"/>
            <a:ext cx="2835275" cy="31337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326390">
              <a:lnSpc>
                <a:spcPct val="109800"/>
              </a:lnSpc>
              <a:spcBef>
                <a:spcPts val="80"/>
              </a:spcBef>
            </a:pPr>
            <a:r>
              <a:rPr sz="2800" b="1" i="1" spc="-5" dirty="0">
                <a:latin typeface="Calibri"/>
                <a:cs typeface="Calibri"/>
              </a:rPr>
              <a:t>SELECT Name  </a:t>
            </a:r>
            <a:r>
              <a:rPr sz="2800" b="1" i="1" dirty="0">
                <a:latin typeface="Calibri"/>
                <a:cs typeface="Calibri"/>
              </a:rPr>
              <a:t>FROM </a:t>
            </a:r>
            <a:r>
              <a:rPr sz="2800" b="1" i="1" spc="-5" dirty="0">
                <a:latin typeface="Calibri"/>
                <a:cs typeface="Calibri"/>
              </a:rPr>
              <a:t>Employee  WHERE Dept </a:t>
            </a:r>
            <a:r>
              <a:rPr sz="2800" b="1" i="1" dirty="0">
                <a:latin typeface="Calibri"/>
                <a:cs typeface="Calibri"/>
              </a:rPr>
              <a:t>=  </a:t>
            </a:r>
            <a:r>
              <a:rPr sz="2800" b="1" i="1" spc="-5" dirty="0">
                <a:latin typeface="Calibri"/>
                <a:cs typeface="Calibri"/>
              </a:rPr>
              <a:t>(</a:t>
            </a: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SELECT</a:t>
            </a:r>
            <a:r>
              <a:rPr sz="2800" b="1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Dept</a:t>
            </a:r>
            <a:endParaRPr sz="2800">
              <a:latin typeface="Calibri"/>
              <a:cs typeface="Calibri"/>
            </a:endParaRPr>
          </a:p>
          <a:p>
            <a:pPr marL="848360" marR="5080" indent="-457200">
              <a:lnSpc>
                <a:spcPts val="3030"/>
              </a:lnSpc>
              <a:spcBef>
                <a:spcPts val="715"/>
              </a:spcBef>
            </a:pPr>
            <a:r>
              <a:rPr sz="2800" b="1" i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800" b="1" i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Employee  WHERE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2950"/>
              </a:lnSpc>
            </a:pPr>
            <a:r>
              <a:rPr sz="2800" b="1" i="1" spc="-5" dirty="0">
                <a:solidFill>
                  <a:srgbClr val="FF0000"/>
                </a:solidFill>
                <a:latin typeface="Calibri"/>
                <a:cs typeface="Calibri"/>
              </a:rPr>
              <a:t>Name=‘Andy’</a:t>
            </a:r>
            <a:r>
              <a:rPr sz="2800" b="1" i="1" spc="-5" dirty="0">
                <a:latin typeface="Calibri"/>
                <a:cs typeface="Calibri"/>
              </a:rPr>
              <a:t>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140" y="1592579"/>
            <a:ext cx="4032250" cy="42386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331470" indent="-342900" algn="just">
              <a:lnSpc>
                <a:spcPct val="89800"/>
              </a:lnSpc>
              <a:spcBef>
                <a:spcPts val="49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First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subquery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  evaluated returning  ‘Marketing’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ts val="3429"/>
              </a:lnSpc>
              <a:spcBef>
                <a:spcPts val="7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This value is passed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  the </a:t>
            </a:r>
            <a:r>
              <a:rPr sz="3200" spc="-5" dirty="0">
                <a:latin typeface="Calibri"/>
                <a:cs typeface="Calibri"/>
              </a:rPr>
              <a:t>main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query:</a:t>
            </a:r>
            <a:endParaRPr sz="3200">
              <a:latin typeface="Calibri"/>
              <a:cs typeface="Calibri"/>
            </a:endParaRPr>
          </a:p>
          <a:p>
            <a:pPr marL="419100" marR="1024890">
              <a:lnSpc>
                <a:spcPts val="3700"/>
              </a:lnSpc>
              <a:spcBef>
                <a:spcPts val="165"/>
              </a:spcBef>
            </a:pPr>
            <a:r>
              <a:rPr sz="2800" b="1" i="1" spc="-5" dirty="0">
                <a:latin typeface="Calibri"/>
                <a:cs typeface="Calibri"/>
              </a:rPr>
              <a:t>SELECT Name  </a:t>
            </a:r>
            <a:r>
              <a:rPr sz="2800" b="1" i="1" dirty="0">
                <a:latin typeface="Calibri"/>
                <a:cs typeface="Calibri"/>
              </a:rPr>
              <a:t>FROM </a:t>
            </a:r>
            <a:r>
              <a:rPr sz="2800" b="1" i="1" spc="-5" dirty="0">
                <a:latin typeface="Calibri"/>
                <a:cs typeface="Calibri"/>
              </a:rPr>
              <a:t>Employee  WHERE Dept </a:t>
            </a:r>
            <a:r>
              <a:rPr sz="2800" b="1" i="1" dirty="0">
                <a:latin typeface="Calibri"/>
                <a:cs typeface="Calibri"/>
              </a:rPr>
              <a:t>=  </a:t>
            </a:r>
            <a:r>
              <a:rPr sz="2800" b="1" i="1" spc="-5" dirty="0">
                <a:latin typeface="Calibri"/>
                <a:cs typeface="Calibri"/>
              </a:rPr>
              <a:t>‘Marketing’);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97445" y="498158"/>
            <a:ext cx="25533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6558722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557020"/>
            <a:ext cx="3905885" cy="358140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marR="244475" indent="-342900">
              <a:lnSpc>
                <a:spcPct val="79600"/>
              </a:lnSpc>
              <a:spcBef>
                <a:spcPts val="8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65" dirty="0">
                <a:latin typeface="Calibri"/>
                <a:cs typeface="Calibri"/>
              </a:rPr>
              <a:t>Onen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subquery</a:t>
            </a:r>
            <a:r>
              <a:rPr sz="3000" spc="-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will  </a:t>
            </a:r>
            <a:r>
              <a:rPr sz="3000" spc="-5" dirty="0">
                <a:latin typeface="Calibri"/>
                <a:cs typeface="Calibri"/>
              </a:rPr>
              <a:t>return </a:t>
            </a:r>
            <a:r>
              <a:rPr sz="3000" dirty="0">
                <a:latin typeface="Calibri"/>
                <a:cs typeface="Calibri"/>
              </a:rPr>
              <a:t>a set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values  </a:t>
            </a:r>
            <a:r>
              <a:rPr sz="3000" spc="-5" dirty="0">
                <a:latin typeface="Calibri"/>
                <a:cs typeface="Calibri"/>
              </a:rPr>
              <a:t>rather </a:t>
            </a:r>
            <a:r>
              <a:rPr sz="3000" dirty="0">
                <a:latin typeface="Calibri"/>
                <a:cs typeface="Calibri"/>
              </a:rPr>
              <a:t>than a single  value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794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We cannot directly  compare </a:t>
            </a:r>
            <a:r>
              <a:rPr sz="3000" dirty="0">
                <a:latin typeface="Calibri"/>
                <a:cs typeface="Calibri"/>
              </a:rPr>
              <a:t>a single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value  to a set. </a:t>
            </a:r>
            <a:r>
              <a:rPr sz="3000" spc="-5" dirty="0">
                <a:latin typeface="Calibri"/>
                <a:cs typeface="Calibri"/>
              </a:rPr>
              <a:t>Doing </a:t>
            </a:r>
            <a:r>
              <a:rPr sz="3000" dirty="0">
                <a:latin typeface="Calibri"/>
                <a:cs typeface="Calibri"/>
              </a:rPr>
              <a:t>so </a:t>
            </a:r>
            <a:r>
              <a:rPr sz="3000" spc="-5" dirty="0">
                <a:latin typeface="Calibri"/>
                <a:cs typeface="Calibri"/>
              </a:rPr>
              <a:t>will  result </a:t>
            </a:r>
            <a:r>
              <a:rPr sz="3000" dirty="0">
                <a:latin typeface="Calibri"/>
                <a:cs typeface="Calibri"/>
              </a:rPr>
              <a:t>in an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error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140" y="1557020"/>
            <a:ext cx="4032885" cy="43307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marR="494030" indent="-342900">
              <a:lnSpc>
                <a:spcPct val="77800"/>
              </a:lnSpc>
              <a:spcBef>
                <a:spcPts val="9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Options for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handling  sets:</a:t>
            </a:r>
            <a:endParaRPr sz="3000">
              <a:latin typeface="Calibri"/>
              <a:cs typeface="Calibri"/>
            </a:endParaRPr>
          </a:p>
          <a:p>
            <a:pPr marL="762000" marR="385445" lvl="1" indent="-292100">
              <a:lnSpc>
                <a:spcPct val="79400"/>
              </a:lnSpc>
              <a:spcBef>
                <a:spcPts val="645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IN </a:t>
            </a:r>
            <a:r>
              <a:rPr sz="2600" dirty="0">
                <a:latin typeface="Lucida Sans"/>
                <a:cs typeface="Lucida Sans"/>
              </a:rPr>
              <a:t>– </a:t>
            </a:r>
            <a:r>
              <a:rPr sz="2600" dirty="0">
                <a:latin typeface="Calibri"/>
                <a:cs typeface="Calibri"/>
              </a:rPr>
              <a:t>checks to see if</a:t>
            </a:r>
            <a:r>
              <a:rPr sz="2600" spc="-3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 value in 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</a:t>
            </a:r>
            <a:endParaRPr sz="2600">
              <a:latin typeface="Calibri"/>
              <a:cs typeface="Calibri"/>
            </a:endParaRPr>
          </a:p>
          <a:p>
            <a:pPr marL="762000" marR="34925" lvl="1" indent="-292100">
              <a:lnSpc>
                <a:spcPct val="79400"/>
              </a:lnSpc>
              <a:spcBef>
                <a:spcPts val="645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-5" dirty="0">
                <a:latin typeface="Calibri"/>
                <a:cs typeface="Calibri"/>
              </a:rPr>
              <a:t>EXISTS </a:t>
            </a:r>
            <a:r>
              <a:rPr sz="2600" dirty="0">
                <a:latin typeface="Lucida Sans"/>
                <a:cs typeface="Lucida Sans"/>
              </a:rPr>
              <a:t>– </a:t>
            </a:r>
            <a:r>
              <a:rPr sz="2600" dirty="0">
                <a:latin typeface="Calibri"/>
                <a:cs typeface="Calibri"/>
              </a:rPr>
              <a:t>checks to see</a:t>
            </a:r>
            <a:r>
              <a:rPr sz="2600" spc="-3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  a set 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empty</a:t>
            </a:r>
            <a:endParaRPr sz="2600">
              <a:latin typeface="Calibri"/>
              <a:cs typeface="Calibri"/>
            </a:endParaRPr>
          </a:p>
          <a:p>
            <a:pPr marL="762000" marR="5080" lvl="1" indent="-292100">
              <a:lnSpc>
                <a:spcPct val="80900"/>
              </a:lnSpc>
              <a:spcBef>
                <a:spcPts val="60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ALL/ANY </a:t>
            </a:r>
            <a:r>
              <a:rPr sz="2600" dirty="0">
                <a:latin typeface="Lucida Sans"/>
                <a:cs typeface="Lucida Sans"/>
              </a:rPr>
              <a:t>– </a:t>
            </a:r>
            <a:r>
              <a:rPr sz="2600" dirty="0">
                <a:latin typeface="Calibri"/>
                <a:cs typeface="Calibri"/>
              </a:rPr>
              <a:t>checks to</a:t>
            </a:r>
            <a:r>
              <a:rPr sz="2600" spc="-3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see  if a </a:t>
            </a:r>
            <a:r>
              <a:rPr sz="2600" spc="-5" dirty="0">
                <a:latin typeface="Calibri"/>
                <a:cs typeface="Calibri"/>
              </a:rPr>
              <a:t>relationship holds  </a:t>
            </a:r>
            <a:r>
              <a:rPr sz="2600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every/one member  of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</a:t>
            </a:r>
            <a:endParaRPr sz="2600">
              <a:latin typeface="Calibri"/>
              <a:cs typeface="Calibri"/>
            </a:endParaRPr>
          </a:p>
          <a:p>
            <a:pPr marL="762000" marR="332105" lvl="1" indent="-292100">
              <a:lnSpc>
                <a:spcPct val="79400"/>
              </a:lnSpc>
              <a:spcBef>
                <a:spcPts val="65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Calibri"/>
                <a:cs typeface="Calibri"/>
              </a:rPr>
              <a:t>NOT can be used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with  </a:t>
            </a:r>
            <a:r>
              <a:rPr sz="2600" dirty="0">
                <a:latin typeface="Calibri"/>
                <a:cs typeface="Calibri"/>
              </a:rPr>
              <a:t>any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above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97445" y="498158"/>
            <a:ext cx="25533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Subqueries</a:t>
            </a:r>
          </a:p>
        </p:txBody>
      </p:sp>
    </p:spTree>
    <p:extLst>
      <p:ext uri="{BB962C8B-B14F-4D97-AF65-F5344CB8AC3E}">
        <p14:creationId xmlns:p14="http://schemas.microsoft.com/office/powerpoint/2010/main" val="700572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633220"/>
            <a:ext cx="4036060" cy="431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Using IN </a:t>
            </a:r>
            <a:r>
              <a:rPr sz="3000" spc="-5" dirty="0">
                <a:latin typeface="Calibri"/>
                <a:cs typeface="Calibri"/>
              </a:rPr>
              <a:t>we </a:t>
            </a:r>
            <a:r>
              <a:rPr sz="3000" dirty="0">
                <a:latin typeface="Calibri"/>
                <a:cs typeface="Calibri"/>
              </a:rPr>
              <a:t>can see if a  given value is in a set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  </a:t>
            </a:r>
            <a:r>
              <a:rPr sz="3000" dirty="0">
                <a:latin typeface="Calibri"/>
                <a:cs typeface="Calibri"/>
              </a:rPr>
              <a:t>values</a:t>
            </a:r>
            <a:endParaRPr sz="3000">
              <a:latin typeface="Calibri"/>
              <a:cs typeface="Calibri"/>
            </a:endParaRPr>
          </a:p>
          <a:p>
            <a:pPr marL="355600" marR="76835" indent="-342900" algn="just">
              <a:lnSpc>
                <a:spcPct val="99700"/>
              </a:lnSpc>
              <a:spcBef>
                <a:spcPts val="73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NOT IN checks to see if  a given a value is </a:t>
            </a:r>
            <a:r>
              <a:rPr sz="3000" spc="-5" dirty="0">
                <a:latin typeface="Calibri"/>
                <a:cs typeface="Calibri"/>
              </a:rPr>
              <a:t>not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  the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set</a:t>
            </a:r>
            <a:endParaRPr sz="3000">
              <a:latin typeface="Calibri"/>
              <a:cs typeface="Calibri"/>
            </a:endParaRPr>
          </a:p>
          <a:p>
            <a:pPr marL="355600" marR="14604" indent="-342900">
              <a:lnSpc>
                <a:spcPct val="99700"/>
              </a:lnSpc>
              <a:spcBef>
                <a:spcPts val="7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set can be given  explicitly </a:t>
            </a:r>
            <a:r>
              <a:rPr sz="3000" spc="-5" dirty="0">
                <a:latin typeface="Calibri"/>
                <a:cs typeface="Calibri"/>
              </a:rPr>
              <a:t>or </a:t>
            </a:r>
            <a:r>
              <a:rPr sz="3000" dirty="0">
                <a:latin typeface="Calibri"/>
                <a:cs typeface="Calibri"/>
              </a:rPr>
              <a:t>can be  </a:t>
            </a:r>
            <a:r>
              <a:rPr sz="3000" spc="-5" dirty="0">
                <a:latin typeface="Calibri"/>
                <a:cs typeface="Calibri"/>
              </a:rPr>
              <a:t>produced </a:t>
            </a:r>
            <a:r>
              <a:rPr sz="3000" dirty="0">
                <a:latin typeface="Calibri"/>
                <a:cs typeface="Calibri"/>
              </a:rPr>
              <a:t>in 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subquery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04130" y="1556512"/>
            <a:ext cx="2319655" cy="19240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69900" marR="5080" indent="-457200" algn="just">
              <a:lnSpc>
                <a:spcPct val="119000"/>
              </a:lnSpc>
              <a:spcBef>
                <a:spcPts val="110"/>
              </a:spcBef>
            </a:pPr>
            <a:r>
              <a:rPr sz="2600" b="1" i="1" spc="-5" dirty="0">
                <a:latin typeface="Calibri"/>
                <a:cs typeface="Calibri"/>
              </a:rPr>
              <a:t>SELECT columns  </a:t>
            </a:r>
            <a:r>
              <a:rPr sz="2600" b="1" i="1" dirty="0">
                <a:latin typeface="Calibri"/>
                <a:cs typeface="Calibri"/>
              </a:rPr>
              <a:t>FROM </a:t>
            </a:r>
            <a:r>
              <a:rPr sz="2600" b="1" i="1" spc="-5" dirty="0">
                <a:latin typeface="Calibri"/>
                <a:cs typeface="Calibri"/>
              </a:rPr>
              <a:t>tables  WHERE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value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80"/>
              </a:spcBef>
            </a:pPr>
            <a:r>
              <a:rPr sz="2600" b="1" i="1" dirty="0">
                <a:latin typeface="Calibri"/>
                <a:cs typeface="Calibri"/>
              </a:rPr>
              <a:t>IN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set;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55540" y="3912108"/>
            <a:ext cx="2641600" cy="19431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618490" marR="177800" indent="-605790">
              <a:lnSpc>
                <a:spcPct val="120200"/>
              </a:lnSpc>
              <a:spcBef>
                <a:spcPts val="150"/>
              </a:spcBef>
            </a:pPr>
            <a:r>
              <a:rPr sz="2600" b="1" i="1" spc="-5" dirty="0">
                <a:latin typeface="Calibri"/>
                <a:cs typeface="Calibri"/>
              </a:rPr>
              <a:t>SELECT columns  </a:t>
            </a:r>
            <a:r>
              <a:rPr sz="2600" b="1" i="1" dirty="0">
                <a:latin typeface="Calibri"/>
                <a:cs typeface="Calibri"/>
              </a:rPr>
              <a:t>FROM </a:t>
            </a:r>
            <a:r>
              <a:rPr sz="2600" b="1" i="1" spc="-5" dirty="0">
                <a:latin typeface="Calibri"/>
                <a:cs typeface="Calibri"/>
              </a:rPr>
              <a:t>tables  WHERE</a:t>
            </a:r>
            <a:r>
              <a:rPr sz="2600" b="1" i="1" spc="-75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value</a:t>
            </a:r>
            <a:endParaRPr sz="2600">
              <a:latin typeface="Calibri"/>
              <a:cs typeface="Calibri"/>
            </a:endParaRPr>
          </a:p>
          <a:p>
            <a:pPr marL="1075690">
              <a:lnSpc>
                <a:spcPct val="100000"/>
              </a:lnSpc>
              <a:spcBef>
                <a:spcPts val="680"/>
              </a:spcBef>
            </a:pPr>
            <a:r>
              <a:rPr sz="2600" b="1" i="1" dirty="0">
                <a:latin typeface="Calibri"/>
                <a:cs typeface="Calibri"/>
              </a:rPr>
              <a:t>NOT IN</a:t>
            </a:r>
            <a:r>
              <a:rPr sz="2600" b="1" i="1" spc="-80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set;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11089" y="498158"/>
            <a:ext cx="527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12600049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1089" y="498158"/>
            <a:ext cx="527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2168954"/>
            <a:ext cx="3784598" cy="2628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20538" y="1633220"/>
            <a:ext cx="4377055" cy="255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0"/>
              </a:lnSpc>
              <a:spcBef>
                <a:spcPts val="100"/>
              </a:spcBef>
            </a:pPr>
            <a:r>
              <a:rPr sz="3200" b="1" i="1" spc="-5" dirty="0">
                <a:latin typeface="Calibri"/>
                <a:cs typeface="Calibri"/>
              </a:rPr>
              <a:t>SELECT </a:t>
            </a:r>
            <a:r>
              <a:rPr sz="3200" b="1" i="1" dirty="0">
                <a:latin typeface="Calibri"/>
                <a:cs typeface="Calibri"/>
              </a:rPr>
              <a:t>*</a:t>
            </a:r>
            <a:endParaRPr sz="3200">
              <a:latin typeface="Calibri"/>
              <a:cs typeface="Calibri"/>
            </a:endParaRPr>
          </a:p>
          <a:p>
            <a:pPr marL="469900" marR="506730">
              <a:lnSpc>
                <a:spcPts val="3800"/>
              </a:lnSpc>
              <a:spcBef>
                <a:spcPts val="140"/>
              </a:spcBef>
            </a:pPr>
            <a:r>
              <a:rPr sz="3200" b="1" i="1" dirty="0">
                <a:latin typeface="Calibri"/>
                <a:cs typeface="Calibri"/>
              </a:rPr>
              <a:t>FROM </a:t>
            </a:r>
            <a:r>
              <a:rPr sz="3200" b="1" i="1" spc="-5" dirty="0">
                <a:latin typeface="Calibri"/>
                <a:cs typeface="Calibri"/>
              </a:rPr>
              <a:t>Employee  WHERE</a:t>
            </a:r>
            <a:r>
              <a:rPr sz="3200" b="1" i="1" spc="-5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Department</a:t>
            </a:r>
            <a:endParaRPr sz="3200">
              <a:latin typeface="Calibri"/>
              <a:cs typeface="Calibri"/>
            </a:endParaRPr>
          </a:p>
          <a:p>
            <a:pPr marL="745490">
              <a:lnSpc>
                <a:spcPts val="3779"/>
              </a:lnSpc>
            </a:pPr>
            <a:r>
              <a:rPr sz="3200" b="1" i="1" spc="-5" dirty="0">
                <a:latin typeface="Calibri"/>
                <a:cs typeface="Calibri"/>
              </a:rPr>
              <a:t>IN</a:t>
            </a:r>
            <a:endParaRPr sz="3200">
              <a:latin typeface="Calibri"/>
              <a:cs typeface="Calibri"/>
            </a:endParaRPr>
          </a:p>
          <a:p>
            <a:pPr marL="745490">
              <a:lnSpc>
                <a:spcPct val="100000"/>
              </a:lnSpc>
              <a:spcBef>
                <a:spcPts val="725"/>
              </a:spcBef>
            </a:pPr>
            <a:r>
              <a:rPr sz="3200" b="1" i="1" spc="-5" dirty="0">
                <a:latin typeface="Calibri"/>
                <a:cs typeface="Calibri"/>
              </a:rPr>
              <a:t>(‘Marketing’,</a:t>
            </a:r>
            <a:r>
              <a:rPr sz="3200" b="1" i="1" spc="-5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‘Sales’);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3592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1089" y="498158"/>
            <a:ext cx="527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1560747"/>
            <a:ext cx="3784598" cy="2628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20540" y="1450658"/>
            <a:ext cx="4050665" cy="223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i="1" spc="-5" dirty="0">
                <a:latin typeface="Calibri"/>
                <a:cs typeface="Calibri"/>
              </a:rPr>
              <a:t>SELECT </a:t>
            </a:r>
            <a:r>
              <a:rPr sz="2800" b="1" i="1" dirty="0">
                <a:latin typeface="Calibri"/>
                <a:cs typeface="Calibri"/>
              </a:rPr>
              <a:t>*</a:t>
            </a:r>
            <a:endParaRPr sz="2800">
              <a:latin typeface="Calibri"/>
              <a:cs typeface="Calibri"/>
            </a:endParaRPr>
          </a:p>
          <a:p>
            <a:pPr marL="469900" marR="604520">
              <a:lnSpc>
                <a:spcPts val="3400"/>
              </a:lnSpc>
              <a:spcBef>
                <a:spcPts val="50"/>
              </a:spcBef>
            </a:pPr>
            <a:r>
              <a:rPr sz="2800" b="1" i="1" dirty="0">
                <a:latin typeface="Calibri"/>
                <a:cs typeface="Calibri"/>
              </a:rPr>
              <a:t>FROM </a:t>
            </a:r>
            <a:r>
              <a:rPr sz="2800" b="1" i="1" spc="-5" dirty="0">
                <a:latin typeface="Calibri"/>
                <a:cs typeface="Calibri"/>
              </a:rPr>
              <a:t>Employee  WHERE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Department</a:t>
            </a:r>
            <a:endParaRPr sz="2800">
              <a:latin typeface="Calibri"/>
              <a:cs typeface="Calibri"/>
            </a:endParaRPr>
          </a:p>
          <a:p>
            <a:pPr marL="927100">
              <a:lnSpc>
                <a:spcPts val="3180"/>
              </a:lnSpc>
            </a:pPr>
            <a:r>
              <a:rPr sz="2800" b="1" i="1" dirty="0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871855">
              <a:lnSpc>
                <a:spcPct val="100000"/>
              </a:lnSpc>
              <a:spcBef>
                <a:spcPts val="710"/>
              </a:spcBef>
            </a:pPr>
            <a:r>
              <a:rPr sz="2800" b="1" i="1" spc="-5" dirty="0">
                <a:latin typeface="Calibri"/>
                <a:cs typeface="Calibri"/>
              </a:rPr>
              <a:t>(‘Marketing’,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‘Sales’);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2000" y="4095749"/>
            <a:ext cx="3809998" cy="226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77459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6422" y="498158"/>
            <a:ext cx="16567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NOT</a:t>
            </a:r>
            <a:r>
              <a:rPr spc="-95" dirty="0"/>
              <a:t> </a:t>
            </a:r>
            <a:r>
              <a:rPr dirty="0"/>
              <a:t>IN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2168954"/>
            <a:ext cx="3784598" cy="2628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20538" y="1633220"/>
            <a:ext cx="3330575" cy="255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20"/>
              </a:lnSpc>
              <a:spcBef>
                <a:spcPts val="100"/>
              </a:spcBef>
            </a:pPr>
            <a:r>
              <a:rPr sz="3200" b="1" i="1" spc="-5" dirty="0">
                <a:latin typeface="Calibri"/>
                <a:cs typeface="Calibri"/>
              </a:rPr>
              <a:t>SELECT </a:t>
            </a:r>
            <a:r>
              <a:rPr sz="3200" b="1" i="1" dirty="0">
                <a:latin typeface="Calibri"/>
                <a:cs typeface="Calibri"/>
              </a:rPr>
              <a:t>*</a:t>
            </a:r>
            <a:endParaRPr sz="3200">
              <a:latin typeface="Calibri"/>
              <a:cs typeface="Calibri"/>
            </a:endParaRPr>
          </a:p>
          <a:p>
            <a:pPr marL="469900" marR="74295">
              <a:lnSpc>
                <a:spcPts val="3800"/>
              </a:lnSpc>
              <a:spcBef>
                <a:spcPts val="140"/>
              </a:spcBef>
            </a:pPr>
            <a:r>
              <a:rPr sz="3200" b="1" i="1" dirty="0">
                <a:latin typeface="Calibri"/>
                <a:cs typeface="Calibri"/>
              </a:rPr>
              <a:t>FROM</a:t>
            </a:r>
            <a:r>
              <a:rPr sz="3200" b="1" i="1" spc="-7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Employee  WHERE</a:t>
            </a:r>
            <a:r>
              <a:rPr sz="3200" b="1" i="1" spc="-2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Name</a:t>
            </a:r>
            <a:endParaRPr sz="3200">
              <a:latin typeface="Calibri"/>
              <a:cs typeface="Calibri"/>
            </a:endParaRPr>
          </a:p>
          <a:p>
            <a:pPr marL="745490">
              <a:lnSpc>
                <a:spcPts val="3779"/>
              </a:lnSpc>
            </a:pPr>
            <a:r>
              <a:rPr sz="3200" b="1" i="1" spc="-5" dirty="0">
                <a:latin typeface="Calibri"/>
                <a:cs typeface="Calibri"/>
              </a:rPr>
              <a:t>NOT</a:t>
            </a:r>
            <a:r>
              <a:rPr sz="3200" b="1" i="1" spc="-1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IN</a:t>
            </a:r>
            <a:endParaRPr sz="3200">
              <a:latin typeface="Calibri"/>
              <a:cs typeface="Calibri"/>
            </a:endParaRPr>
          </a:p>
          <a:p>
            <a:pPr marL="745490">
              <a:lnSpc>
                <a:spcPct val="100000"/>
              </a:lnSpc>
              <a:spcBef>
                <a:spcPts val="725"/>
              </a:spcBef>
            </a:pPr>
            <a:r>
              <a:rPr sz="3200" b="1" i="1" spc="-5" dirty="0">
                <a:latin typeface="Calibri"/>
                <a:cs typeface="Calibri"/>
              </a:rPr>
              <a:t>(‘Chris’,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‘Jane’);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475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6422" y="498158"/>
            <a:ext cx="16567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NOT</a:t>
            </a:r>
            <a:r>
              <a:rPr spc="-95" dirty="0"/>
              <a:t> </a:t>
            </a:r>
            <a:r>
              <a:rPr dirty="0"/>
              <a:t>IN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1560747"/>
            <a:ext cx="3784598" cy="26288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20540" y="1450658"/>
            <a:ext cx="2974340" cy="223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sz="2800" b="1" i="1" spc="-5" dirty="0">
                <a:latin typeface="Calibri"/>
                <a:cs typeface="Calibri"/>
              </a:rPr>
              <a:t>SELECT </a:t>
            </a:r>
            <a:r>
              <a:rPr sz="2800" b="1" i="1" dirty="0">
                <a:latin typeface="Calibri"/>
                <a:cs typeface="Calibri"/>
              </a:rPr>
              <a:t>*</a:t>
            </a:r>
            <a:endParaRPr sz="2800">
              <a:latin typeface="Calibri"/>
              <a:cs typeface="Calibri"/>
            </a:endParaRPr>
          </a:p>
          <a:p>
            <a:pPr marL="469900" marR="65405">
              <a:lnSpc>
                <a:spcPts val="3400"/>
              </a:lnSpc>
              <a:spcBef>
                <a:spcPts val="50"/>
              </a:spcBef>
            </a:pPr>
            <a:r>
              <a:rPr sz="2800" b="1" i="1" dirty="0">
                <a:latin typeface="Calibri"/>
                <a:cs typeface="Calibri"/>
              </a:rPr>
              <a:t>FROM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Employee  WHERE</a:t>
            </a:r>
            <a:r>
              <a:rPr sz="2800" b="1" i="1" spc="-20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Name</a:t>
            </a:r>
            <a:endParaRPr sz="2800">
              <a:latin typeface="Calibri"/>
              <a:cs typeface="Calibri"/>
            </a:endParaRPr>
          </a:p>
          <a:p>
            <a:pPr marL="791210">
              <a:lnSpc>
                <a:spcPts val="3180"/>
              </a:lnSpc>
            </a:pPr>
            <a:r>
              <a:rPr sz="2800" b="1" i="1" spc="-5" dirty="0">
                <a:latin typeface="Calibri"/>
                <a:cs typeface="Calibri"/>
              </a:rPr>
              <a:t>NOT</a:t>
            </a:r>
            <a:r>
              <a:rPr sz="2800" b="1" i="1" spc="-15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710565">
              <a:lnSpc>
                <a:spcPct val="100000"/>
              </a:lnSpc>
              <a:spcBef>
                <a:spcPts val="710"/>
              </a:spcBef>
            </a:pPr>
            <a:r>
              <a:rPr sz="2800" b="1" i="1" spc="-5" dirty="0">
                <a:latin typeface="Calibri"/>
                <a:cs typeface="Calibri"/>
              </a:rPr>
              <a:t>(‘Chris’,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‘Jane’);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12392" y="4311131"/>
            <a:ext cx="4274404" cy="1830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49381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592579"/>
            <a:ext cx="3764915" cy="377697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 algn="just">
              <a:lnSpc>
                <a:spcPct val="894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Using </a:t>
            </a:r>
            <a:r>
              <a:rPr sz="3200" spc="-5" dirty="0">
                <a:latin typeface="Calibri"/>
                <a:cs typeface="Calibri"/>
              </a:rPr>
              <a:t>EXISTS we </a:t>
            </a:r>
            <a:r>
              <a:rPr sz="3200" dirty="0">
                <a:latin typeface="Calibri"/>
                <a:cs typeface="Calibri"/>
              </a:rPr>
              <a:t>can  see </a:t>
            </a:r>
            <a:r>
              <a:rPr sz="3200" spc="-5" dirty="0">
                <a:latin typeface="Calibri"/>
                <a:cs typeface="Calibri"/>
              </a:rPr>
              <a:t>whether there </a:t>
            </a:r>
            <a:r>
              <a:rPr sz="3200" dirty="0">
                <a:latin typeface="Calibri"/>
                <a:cs typeface="Calibri"/>
              </a:rPr>
              <a:t>is  at least </a:t>
            </a:r>
            <a:r>
              <a:rPr sz="3200" spc="-5" dirty="0">
                <a:latin typeface="Calibri"/>
                <a:cs typeface="Calibri"/>
              </a:rPr>
              <a:t>one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element  </a:t>
            </a:r>
            <a:r>
              <a:rPr sz="3200" dirty="0">
                <a:latin typeface="Calibri"/>
                <a:cs typeface="Calibri"/>
              </a:rPr>
              <a:t>in a given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</a:t>
            </a:r>
            <a:endParaRPr sz="3200">
              <a:latin typeface="Calibri"/>
              <a:cs typeface="Calibri"/>
            </a:endParaRPr>
          </a:p>
          <a:p>
            <a:pPr marL="355600" marR="57150" indent="-342900" algn="just">
              <a:lnSpc>
                <a:spcPts val="3429"/>
              </a:lnSpc>
              <a:spcBef>
                <a:spcPts val="885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NOT </a:t>
            </a:r>
            <a:r>
              <a:rPr sz="3200" spc="-5" dirty="0">
                <a:latin typeface="Calibri"/>
                <a:cs typeface="Calibri"/>
              </a:rPr>
              <a:t>EXISTS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true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  the set 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empty</a:t>
            </a:r>
            <a:endParaRPr sz="3200">
              <a:latin typeface="Calibri"/>
              <a:cs typeface="Calibri"/>
            </a:endParaRPr>
          </a:p>
          <a:p>
            <a:pPr marL="355600" marR="109220" indent="-342900">
              <a:lnSpc>
                <a:spcPts val="3429"/>
              </a:lnSpc>
              <a:spcBef>
                <a:spcPts val="8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 set is </a:t>
            </a:r>
            <a:r>
              <a:rPr sz="3200" spc="-5" dirty="0">
                <a:latin typeface="Calibri"/>
                <a:cs typeface="Calibri"/>
              </a:rPr>
              <a:t>always  </a:t>
            </a:r>
            <a:r>
              <a:rPr sz="3200" dirty="0">
                <a:latin typeface="Calibri"/>
                <a:cs typeface="Calibri"/>
              </a:rPr>
              <a:t>given by a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subquery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18490" marR="15240" indent="-457200">
              <a:lnSpc>
                <a:spcPct val="109700"/>
              </a:lnSpc>
              <a:spcBef>
                <a:spcPts val="85"/>
              </a:spcBef>
            </a:pPr>
            <a:r>
              <a:rPr i="1" spc="-5" dirty="0"/>
              <a:t>SELECT columns  </a:t>
            </a:r>
            <a:r>
              <a:rPr dirty="0"/>
              <a:t>FROM </a:t>
            </a:r>
            <a:r>
              <a:rPr spc="-5" dirty="0"/>
              <a:t>tables  WHERE EXISTS</a:t>
            </a:r>
            <a:r>
              <a:rPr spc="-40" dirty="0"/>
              <a:t> </a:t>
            </a:r>
            <a:r>
              <a:rPr spc="-5" dirty="0"/>
              <a:t>set;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Times New Roman"/>
              <a:cs typeface="Times New Roman"/>
            </a:endParaRPr>
          </a:p>
          <a:p>
            <a:pPr marL="618490" marR="883919" indent="-605790">
              <a:lnSpc>
                <a:spcPct val="110100"/>
              </a:lnSpc>
            </a:pPr>
            <a:r>
              <a:rPr i="1" spc="-5" dirty="0"/>
              <a:t>SELECT columns  </a:t>
            </a:r>
            <a:r>
              <a:rPr dirty="0"/>
              <a:t>FROM</a:t>
            </a:r>
            <a:r>
              <a:rPr spc="-80" dirty="0"/>
              <a:t> </a:t>
            </a:r>
            <a:r>
              <a:rPr spc="-5" dirty="0"/>
              <a:t>tables  WHERE</a:t>
            </a:r>
          </a:p>
          <a:p>
            <a:pPr marL="1075690">
              <a:lnSpc>
                <a:spcPct val="100000"/>
              </a:lnSpc>
              <a:spcBef>
                <a:spcPts val="240"/>
              </a:spcBef>
            </a:pPr>
            <a:r>
              <a:rPr i="1" dirty="0"/>
              <a:t>NOT </a:t>
            </a:r>
            <a:r>
              <a:rPr i="1" spc="-5" dirty="0"/>
              <a:t>EXISTS</a:t>
            </a:r>
            <a:r>
              <a:rPr i="1" spc="-55" dirty="0"/>
              <a:t> </a:t>
            </a:r>
            <a:r>
              <a:rPr i="1" spc="-5" dirty="0"/>
              <a:t>set;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spc="-5" dirty="0"/>
              <a:t>XI</a:t>
            </a:r>
            <a:r>
              <a:rPr dirty="0"/>
              <a:t>STS</a:t>
            </a:r>
          </a:p>
        </p:txBody>
      </p:sp>
    </p:spTree>
    <p:extLst>
      <p:ext uri="{BB962C8B-B14F-4D97-AF65-F5344CB8AC3E}">
        <p14:creationId xmlns:p14="http://schemas.microsoft.com/office/powerpoint/2010/main" val="27037724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spc="-5" dirty="0"/>
              <a:t>XI</a:t>
            </a:r>
            <a:r>
              <a:rPr dirty="0"/>
              <a:t>STS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2168954"/>
            <a:ext cx="3784598" cy="2628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39" y="1633220"/>
            <a:ext cx="8005445" cy="447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6665">
              <a:lnSpc>
                <a:spcPts val="2840"/>
              </a:lnSpc>
              <a:spcBef>
                <a:spcPts val="100"/>
              </a:spcBef>
            </a:pPr>
            <a:r>
              <a:rPr sz="2400" b="1" i="1" spc="-5" dirty="0">
                <a:latin typeface="Calibri"/>
                <a:cs typeface="Calibri"/>
              </a:rPr>
              <a:t>SELECT </a:t>
            </a:r>
            <a:r>
              <a:rPr sz="2400" b="1" i="1" dirty="0">
                <a:latin typeface="Calibri"/>
                <a:cs typeface="Calibri"/>
              </a:rPr>
              <a:t>*</a:t>
            </a:r>
            <a:endParaRPr sz="2400">
              <a:latin typeface="Calibri"/>
              <a:cs typeface="Calibri"/>
            </a:endParaRPr>
          </a:p>
          <a:p>
            <a:pPr marL="4253865" marR="891540">
              <a:lnSpc>
                <a:spcPts val="2900"/>
              </a:lnSpc>
              <a:spcBef>
                <a:spcPts val="40"/>
              </a:spcBef>
            </a:pPr>
            <a:r>
              <a:rPr sz="2400" b="1" i="1" dirty="0">
                <a:latin typeface="Calibri"/>
                <a:cs typeface="Calibri"/>
              </a:rPr>
              <a:t>FROM </a:t>
            </a:r>
            <a:r>
              <a:rPr sz="2400" b="1" i="1" spc="-5" dirty="0">
                <a:latin typeface="Calibri"/>
                <a:cs typeface="Calibri"/>
              </a:rPr>
              <a:t>Employee </a:t>
            </a:r>
            <a:r>
              <a:rPr sz="2400" b="1" i="1" dirty="0">
                <a:latin typeface="Calibri"/>
                <a:cs typeface="Calibri"/>
              </a:rPr>
              <a:t>AS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E1  </a:t>
            </a:r>
            <a:r>
              <a:rPr sz="2400" b="1" i="1" spc="-5" dirty="0">
                <a:latin typeface="Calibri"/>
                <a:cs typeface="Calibri"/>
              </a:rPr>
              <a:t>WHERE EXISTS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(</a:t>
            </a:r>
            <a:endParaRPr sz="2400">
              <a:latin typeface="Calibri"/>
              <a:cs typeface="Calibri"/>
            </a:endParaRPr>
          </a:p>
          <a:p>
            <a:pPr marL="4711065">
              <a:lnSpc>
                <a:spcPts val="2850"/>
              </a:lnSpc>
              <a:spcBef>
                <a:spcPts val="495"/>
              </a:spcBef>
            </a:pPr>
            <a:r>
              <a:rPr sz="2400" b="1" i="1" spc="-5" dirty="0">
                <a:latin typeface="Calibri"/>
                <a:cs typeface="Calibri"/>
              </a:rPr>
              <a:t>SELECT </a:t>
            </a:r>
            <a:r>
              <a:rPr sz="2400" b="1" i="1" dirty="0">
                <a:latin typeface="Calibri"/>
                <a:cs typeface="Calibri"/>
              </a:rPr>
              <a:t>*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5168265">
              <a:lnSpc>
                <a:spcPts val="2850"/>
              </a:lnSpc>
            </a:pPr>
            <a:r>
              <a:rPr sz="2400" b="1" i="1" spc="-5" dirty="0">
                <a:latin typeface="Calibri"/>
                <a:cs typeface="Calibri"/>
              </a:rPr>
              <a:t>Employee </a:t>
            </a:r>
            <a:r>
              <a:rPr sz="2400" b="1" i="1" dirty="0">
                <a:latin typeface="Calibri"/>
                <a:cs typeface="Calibri"/>
              </a:rPr>
              <a:t>AS</a:t>
            </a:r>
            <a:r>
              <a:rPr sz="2400" b="1" i="1" spc="-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E2</a:t>
            </a:r>
            <a:endParaRPr sz="2400">
              <a:latin typeface="Calibri"/>
              <a:cs typeface="Calibri"/>
            </a:endParaRPr>
          </a:p>
          <a:p>
            <a:pPr marL="5168265">
              <a:lnSpc>
                <a:spcPct val="100000"/>
              </a:lnSpc>
              <a:spcBef>
                <a:spcPts val="595"/>
              </a:spcBef>
            </a:pPr>
            <a:r>
              <a:rPr sz="2400" b="1" i="1" spc="-5" dirty="0">
                <a:latin typeface="Calibri"/>
                <a:cs typeface="Calibri"/>
              </a:rPr>
              <a:t>WHERE E1.Name</a:t>
            </a:r>
            <a:r>
              <a:rPr sz="2400" b="1" i="1" spc="-1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R="183515" algn="r">
              <a:lnSpc>
                <a:spcPct val="100000"/>
              </a:lnSpc>
              <a:spcBef>
                <a:spcPts val="620"/>
              </a:spcBef>
            </a:pPr>
            <a:r>
              <a:rPr sz="2400" b="1" i="1" dirty="0">
                <a:latin typeface="Calibri"/>
                <a:cs typeface="Calibri"/>
              </a:rPr>
              <a:t>E</a:t>
            </a:r>
            <a:r>
              <a:rPr sz="2400" b="1" i="1" spc="-5" dirty="0">
                <a:latin typeface="Calibri"/>
                <a:cs typeface="Calibri"/>
              </a:rPr>
              <a:t>2</a:t>
            </a:r>
            <a:r>
              <a:rPr sz="2400" b="1" i="1" dirty="0">
                <a:latin typeface="Calibri"/>
                <a:cs typeface="Calibri"/>
              </a:rPr>
              <a:t>.</a:t>
            </a:r>
            <a:r>
              <a:rPr sz="2400" b="1" i="1" spc="-5" dirty="0">
                <a:latin typeface="Calibri"/>
                <a:cs typeface="Calibri"/>
              </a:rPr>
              <a:t>Manag</a:t>
            </a:r>
            <a:r>
              <a:rPr sz="2400" b="1" i="1" dirty="0">
                <a:latin typeface="Calibri"/>
                <a:cs typeface="Calibri"/>
              </a:rPr>
              <a:t>er</a:t>
            </a:r>
            <a:r>
              <a:rPr sz="2400" b="1" i="1" spc="-5" dirty="0">
                <a:latin typeface="Calibri"/>
                <a:cs typeface="Calibri"/>
              </a:rPr>
              <a:t>)</a:t>
            </a:r>
            <a:r>
              <a:rPr sz="2400" b="1" i="1" dirty="0">
                <a:latin typeface="Calibri"/>
                <a:cs typeface="Calibri"/>
              </a:rPr>
              <a:t>;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3800"/>
              </a:lnSpc>
              <a:spcBef>
                <a:spcPts val="237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3200" spc="-5" dirty="0">
                <a:latin typeface="Calibri"/>
                <a:cs typeface="Calibri"/>
              </a:rPr>
              <a:t>Retrieve </a:t>
            </a:r>
            <a:r>
              <a:rPr sz="3200" dirty="0">
                <a:latin typeface="Calibri"/>
                <a:cs typeface="Calibri"/>
              </a:rPr>
              <a:t>all the info </a:t>
            </a:r>
            <a:r>
              <a:rPr sz="3200" spc="-5" dirty="0">
                <a:latin typeface="Calibri"/>
                <a:cs typeface="Calibri"/>
              </a:rPr>
              <a:t>for those employees who  are </a:t>
            </a:r>
            <a:r>
              <a:rPr sz="3200" dirty="0">
                <a:latin typeface="Calibri"/>
                <a:cs typeface="Calibri"/>
              </a:rPr>
              <a:t>also </a:t>
            </a:r>
            <a:r>
              <a:rPr sz="3200" spc="-5" dirty="0">
                <a:latin typeface="Calibri"/>
                <a:cs typeface="Calibri"/>
              </a:rPr>
              <a:t>managers.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97731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7091" y="301391"/>
            <a:ext cx="15151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spc="-5" dirty="0"/>
              <a:t>XI</a:t>
            </a:r>
            <a:r>
              <a:rPr dirty="0"/>
              <a:t>STS</a:t>
            </a:r>
          </a:p>
        </p:txBody>
      </p:sp>
      <p:sp>
        <p:nvSpPr>
          <p:cNvPr id="4" name="object 4"/>
          <p:cNvSpPr/>
          <p:nvPr/>
        </p:nvSpPr>
        <p:spPr>
          <a:xfrm>
            <a:off x="838200" y="1074158"/>
            <a:ext cx="7454898" cy="5460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01015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spc="-5" dirty="0"/>
              <a:t>XI</a:t>
            </a:r>
            <a:r>
              <a:rPr dirty="0"/>
              <a:t>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9" y="1461611"/>
            <a:ext cx="743965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spc="-5" dirty="0">
                <a:latin typeface="Calibri"/>
                <a:cs typeface="Calibri"/>
              </a:rPr>
              <a:t>SELECT </a:t>
            </a:r>
            <a:r>
              <a:rPr sz="2000" b="1" i="1" dirty="0">
                <a:latin typeface="Calibri"/>
                <a:cs typeface="Calibri"/>
              </a:rPr>
              <a:t>* FROM </a:t>
            </a:r>
            <a:r>
              <a:rPr sz="2000" b="1" i="1" spc="-5" dirty="0">
                <a:latin typeface="Calibri"/>
                <a:cs typeface="Calibri"/>
              </a:rPr>
              <a:t>Employee </a:t>
            </a:r>
            <a:r>
              <a:rPr sz="2000" b="1" i="1" dirty="0">
                <a:latin typeface="Calibri"/>
                <a:cs typeface="Calibri"/>
              </a:rPr>
              <a:t>AS E1 </a:t>
            </a:r>
            <a:r>
              <a:rPr sz="2000" b="1" i="1" spc="-5" dirty="0">
                <a:latin typeface="Calibri"/>
                <a:cs typeface="Calibri"/>
              </a:rPr>
              <a:t>WHERE</a:t>
            </a:r>
            <a:r>
              <a:rPr sz="2000" b="1" i="1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EXISTS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b="1" i="1" spc="-5" dirty="0">
                <a:latin typeface="Calibri"/>
                <a:cs typeface="Calibri"/>
              </a:rPr>
              <a:t>(SELECT </a:t>
            </a:r>
            <a:r>
              <a:rPr sz="2000" b="1" i="1" dirty="0">
                <a:latin typeface="Calibri"/>
                <a:cs typeface="Calibri"/>
              </a:rPr>
              <a:t>* FROM </a:t>
            </a:r>
            <a:r>
              <a:rPr sz="2000" b="1" i="1" spc="-5" dirty="0">
                <a:latin typeface="Calibri"/>
                <a:cs typeface="Calibri"/>
              </a:rPr>
              <a:t>Employee </a:t>
            </a:r>
            <a:r>
              <a:rPr sz="2000" b="1" i="1" dirty="0">
                <a:latin typeface="Calibri"/>
                <a:cs typeface="Calibri"/>
              </a:rPr>
              <a:t>AS E2 </a:t>
            </a:r>
            <a:r>
              <a:rPr sz="2000" b="1" i="1" spc="-5" dirty="0">
                <a:latin typeface="Calibri"/>
                <a:cs typeface="Calibri"/>
              </a:rPr>
              <a:t>WHERE E1.Name </a:t>
            </a:r>
            <a:r>
              <a:rPr sz="2000" b="1" i="1" dirty="0">
                <a:latin typeface="Calibri"/>
                <a:cs typeface="Calibri"/>
              </a:rPr>
              <a:t>=</a:t>
            </a:r>
            <a:r>
              <a:rPr sz="2000" b="1" i="1" spc="4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E2.Manager);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63599" y="2179459"/>
            <a:ext cx="7404098" cy="1993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92400" y="4349750"/>
            <a:ext cx="3759198" cy="2006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22835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E</a:t>
            </a:r>
            <a:r>
              <a:rPr spc="-5" dirty="0"/>
              <a:t>XI</a:t>
            </a:r>
            <a:r>
              <a:rPr dirty="0"/>
              <a:t>STS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2168954"/>
            <a:ext cx="3784598" cy="26288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20538" y="1633220"/>
            <a:ext cx="4041775" cy="280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b="1" i="1" spc="-5" dirty="0">
                <a:latin typeface="Calibri"/>
                <a:cs typeface="Calibri"/>
              </a:rPr>
              <a:t>SELECT </a:t>
            </a:r>
            <a:r>
              <a:rPr sz="2400" b="1" i="1" dirty="0">
                <a:latin typeface="Calibri"/>
                <a:cs typeface="Calibri"/>
              </a:rPr>
              <a:t>*</a:t>
            </a:r>
            <a:endParaRPr sz="2400">
              <a:latin typeface="Calibri"/>
              <a:cs typeface="Calibri"/>
            </a:endParaRPr>
          </a:p>
          <a:p>
            <a:pPr marL="469900" marR="712470">
              <a:lnSpc>
                <a:spcPts val="2900"/>
              </a:lnSpc>
              <a:spcBef>
                <a:spcPts val="40"/>
              </a:spcBef>
            </a:pPr>
            <a:r>
              <a:rPr sz="2400" b="1" i="1" dirty="0">
                <a:latin typeface="Calibri"/>
                <a:cs typeface="Calibri"/>
              </a:rPr>
              <a:t>FROM </a:t>
            </a:r>
            <a:r>
              <a:rPr sz="2400" b="1" i="1" spc="-5" dirty="0">
                <a:latin typeface="Calibri"/>
                <a:cs typeface="Calibri"/>
              </a:rPr>
              <a:t>Employee </a:t>
            </a:r>
            <a:r>
              <a:rPr sz="2400" b="1" i="1" dirty="0">
                <a:latin typeface="Calibri"/>
                <a:cs typeface="Calibri"/>
              </a:rPr>
              <a:t>AS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E1  </a:t>
            </a:r>
            <a:r>
              <a:rPr sz="2400" b="1" i="1" spc="-5" dirty="0">
                <a:latin typeface="Calibri"/>
                <a:cs typeface="Calibri"/>
              </a:rPr>
              <a:t>WHERE EXISTS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(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ts val="2850"/>
              </a:lnSpc>
              <a:spcBef>
                <a:spcPts val="495"/>
              </a:spcBef>
            </a:pPr>
            <a:r>
              <a:rPr sz="2400" b="1" i="1" spc="-5" dirty="0">
                <a:latin typeface="Calibri"/>
                <a:cs typeface="Calibri"/>
              </a:rPr>
              <a:t>SELECT </a:t>
            </a:r>
            <a:r>
              <a:rPr sz="2400" b="1" i="1" dirty="0">
                <a:latin typeface="Calibri"/>
                <a:cs typeface="Calibri"/>
              </a:rPr>
              <a:t>*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  <a:p>
            <a:pPr marL="1384300">
              <a:lnSpc>
                <a:spcPts val="2850"/>
              </a:lnSpc>
            </a:pPr>
            <a:r>
              <a:rPr sz="2400" b="1" i="1" spc="-5" dirty="0">
                <a:latin typeface="Calibri"/>
                <a:cs typeface="Calibri"/>
              </a:rPr>
              <a:t>Employee </a:t>
            </a:r>
            <a:r>
              <a:rPr sz="2400" b="1" i="1" dirty="0">
                <a:latin typeface="Calibri"/>
                <a:cs typeface="Calibri"/>
              </a:rPr>
              <a:t>AS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E2</a:t>
            </a:r>
            <a:endParaRPr sz="24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595"/>
              </a:spcBef>
            </a:pPr>
            <a:r>
              <a:rPr sz="2400" b="1" i="1" spc="-5" dirty="0">
                <a:latin typeface="Calibri"/>
                <a:cs typeface="Calibri"/>
              </a:rPr>
              <a:t>WHERE E1.Name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=</a:t>
            </a:r>
            <a:endParaRPr sz="2400">
              <a:latin typeface="Calibri"/>
              <a:cs typeface="Calibri"/>
            </a:endParaRPr>
          </a:p>
          <a:p>
            <a:pPr marL="2298700">
              <a:lnSpc>
                <a:spcPct val="100000"/>
              </a:lnSpc>
              <a:spcBef>
                <a:spcPts val="620"/>
              </a:spcBef>
            </a:pPr>
            <a:r>
              <a:rPr sz="2400" b="1" i="1" spc="-5" dirty="0">
                <a:latin typeface="Calibri"/>
                <a:cs typeface="Calibri"/>
              </a:rPr>
              <a:t>E2.Manager);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67250" y="4843462"/>
            <a:ext cx="3771898" cy="1282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897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839" y="2115820"/>
            <a:ext cx="3562350" cy="9956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3800"/>
              </a:lnSpc>
              <a:spcBef>
                <a:spcPts val="260"/>
              </a:spcBef>
            </a:pPr>
            <a:r>
              <a:rPr sz="3200" dirty="0">
                <a:latin typeface="Calibri"/>
                <a:cs typeface="Calibri"/>
              </a:rPr>
              <a:t>a single value to a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set 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values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3191255"/>
            <a:ext cx="35020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They </a:t>
            </a:r>
            <a:r>
              <a:rPr sz="3200" spc="-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used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4160520"/>
            <a:ext cx="34778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like </a:t>
            </a:r>
            <a:r>
              <a:rPr sz="3200" spc="-5" dirty="0">
                <a:latin typeface="Calibri"/>
                <a:cs typeface="Calibri"/>
              </a:rPr>
              <a:t>=, &gt;, &lt;, &lt;&gt;, &gt;=,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&lt;=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39" y="1633220"/>
            <a:ext cx="78759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4368165" algn="l"/>
              </a:tabLst>
            </a:pPr>
            <a:r>
              <a:rPr sz="3200" dirty="0">
                <a:latin typeface="Calibri"/>
                <a:cs typeface="Calibri"/>
              </a:rPr>
              <a:t>ANY and ALL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compare</a:t>
            </a:r>
            <a:r>
              <a:rPr sz="3200" spc="-430" dirty="0">
                <a:latin typeface="Calibri"/>
                <a:cs typeface="Calibri"/>
              </a:rPr>
              <a:t> </a:t>
            </a:r>
            <a:r>
              <a:rPr sz="3200" dirty="0">
                <a:latin typeface="Arial"/>
                <a:cs typeface="Arial"/>
              </a:rPr>
              <a:t>•	</a:t>
            </a:r>
            <a:r>
              <a:rPr sz="3200" b="1" spc="-5" dirty="0">
                <a:latin typeface="Calibri"/>
                <a:cs typeface="Calibri"/>
              </a:rPr>
              <a:t>val </a:t>
            </a:r>
            <a:r>
              <a:rPr sz="3200" b="1" dirty="0">
                <a:latin typeface="Calibri"/>
                <a:cs typeface="Calibri"/>
              </a:rPr>
              <a:t>= </a:t>
            </a:r>
            <a:r>
              <a:rPr sz="3200" b="1" spc="-5" dirty="0">
                <a:latin typeface="Calibri"/>
                <a:cs typeface="Calibri"/>
              </a:rPr>
              <a:t>ANY(set)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true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2040" y="2115820"/>
            <a:ext cx="3596640" cy="1490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sz="3200" dirty="0">
                <a:latin typeface="Calibri"/>
                <a:cs typeface="Calibri"/>
              </a:rPr>
              <a:t>if </a:t>
            </a:r>
            <a:r>
              <a:rPr sz="3200" spc="-5" dirty="0">
                <a:latin typeface="Calibri"/>
                <a:cs typeface="Calibri"/>
              </a:rPr>
              <a:t>there </a:t>
            </a:r>
            <a:r>
              <a:rPr sz="3200" dirty="0">
                <a:latin typeface="Calibri"/>
                <a:cs typeface="Calibri"/>
              </a:rPr>
              <a:t>is at least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one  member of </a:t>
            </a:r>
            <a:r>
              <a:rPr sz="3200" dirty="0">
                <a:latin typeface="Calibri"/>
                <a:cs typeface="Calibri"/>
              </a:rPr>
              <a:t>the set  equal to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839" y="3677920"/>
            <a:ext cx="77069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25265" algn="l"/>
              </a:tabLst>
            </a:pPr>
            <a:r>
              <a:rPr sz="3200" spc="-5" dirty="0">
                <a:latin typeface="Calibri"/>
                <a:cs typeface="Calibri"/>
              </a:rPr>
              <a:t>comparison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10" dirty="0">
                <a:latin typeface="Calibri"/>
                <a:cs typeface="Calibri"/>
              </a:rPr>
              <a:t>operators</a:t>
            </a:r>
            <a:r>
              <a:rPr sz="3200" spc="10" dirty="0">
                <a:latin typeface="Arial"/>
                <a:cs typeface="Arial"/>
              </a:rPr>
              <a:t>•	</a:t>
            </a:r>
            <a:r>
              <a:rPr sz="3200" b="1" spc="-5" dirty="0">
                <a:latin typeface="Calibri"/>
                <a:cs typeface="Calibri"/>
              </a:rPr>
              <a:t>val </a:t>
            </a:r>
            <a:r>
              <a:rPr sz="3200" b="1" dirty="0">
                <a:latin typeface="Calibri"/>
                <a:cs typeface="Calibri"/>
              </a:rPr>
              <a:t>= </a:t>
            </a:r>
            <a:r>
              <a:rPr sz="3200" b="1" spc="-5" dirty="0">
                <a:latin typeface="Calibri"/>
                <a:cs typeface="Calibri"/>
              </a:rPr>
              <a:t>ALL(set)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true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92040" y="4160520"/>
            <a:ext cx="3249295" cy="14909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85"/>
              </a:spcBef>
            </a:pPr>
            <a:r>
              <a:rPr sz="3200" dirty="0">
                <a:latin typeface="Calibri"/>
                <a:cs typeface="Calibri"/>
              </a:rPr>
              <a:t>all </a:t>
            </a:r>
            <a:r>
              <a:rPr sz="3200" spc="-5" dirty="0">
                <a:latin typeface="Calibri"/>
                <a:cs typeface="Calibri"/>
              </a:rPr>
              <a:t>members of </a:t>
            </a:r>
            <a:r>
              <a:rPr sz="3200" dirty="0">
                <a:latin typeface="Calibri"/>
                <a:cs typeface="Calibri"/>
              </a:rPr>
              <a:t>the  set </a:t>
            </a:r>
            <a:r>
              <a:rPr sz="3200" spc="-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equal 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 value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133326" y="498158"/>
            <a:ext cx="2882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ANY </a:t>
            </a:r>
            <a:r>
              <a:rPr dirty="0"/>
              <a:t>and</a:t>
            </a:r>
            <a:r>
              <a:rPr spc="-75" dirty="0"/>
              <a:t> </a:t>
            </a:r>
            <a:r>
              <a:rPr spc="-5" dirty="0"/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17849848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114165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4113529" algn="l"/>
                <a:tab pos="4114165" algn="l"/>
              </a:tabLst>
            </a:pPr>
            <a:r>
              <a:rPr dirty="0"/>
              <a:t>Find the </a:t>
            </a:r>
            <a:r>
              <a:rPr spc="-5" dirty="0"/>
              <a:t>name(s) of  </a:t>
            </a:r>
            <a:r>
              <a:rPr dirty="0"/>
              <a:t>the </a:t>
            </a:r>
            <a:r>
              <a:rPr spc="-5" dirty="0"/>
              <a:t>employee(s) who  earn </a:t>
            </a:r>
            <a:r>
              <a:rPr dirty="0"/>
              <a:t>the highest</a:t>
            </a:r>
            <a:r>
              <a:rPr spc="-55" dirty="0"/>
              <a:t> </a:t>
            </a:r>
            <a:r>
              <a:rPr spc="-5" dirty="0"/>
              <a:t>salary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5250" y="498158"/>
            <a:ext cx="8191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</a:t>
            </a:r>
            <a:r>
              <a:rPr dirty="0"/>
              <a:t>LL</a:t>
            </a:r>
          </a:p>
        </p:txBody>
      </p:sp>
      <p:sp>
        <p:nvSpPr>
          <p:cNvPr id="5" name="object 5"/>
          <p:cNvSpPr/>
          <p:nvPr/>
        </p:nvSpPr>
        <p:spPr>
          <a:xfrm>
            <a:off x="1029716" y="2040596"/>
            <a:ext cx="2390345" cy="2628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1424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4114165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4113529" algn="l"/>
                <a:tab pos="4114165" algn="l"/>
              </a:tabLst>
            </a:pPr>
            <a:r>
              <a:rPr dirty="0"/>
              <a:t>Find the </a:t>
            </a:r>
            <a:r>
              <a:rPr spc="-5" dirty="0"/>
              <a:t>name(s) of  </a:t>
            </a:r>
            <a:r>
              <a:rPr dirty="0"/>
              <a:t>the </a:t>
            </a:r>
            <a:r>
              <a:rPr spc="-5" dirty="0"/>
              <a:t>employee(s) who  earn </a:t>
            </a:r>
            <a:r>
              <a:rPr dirty="0"/>
              <a:t>the highest</a:t>
            </a:r>
            <a:r>
              <a:rPr spc="-55" dirty="0"/>
              <a:t> </a:t>
            </a:r>
            <a:r>
              <a:rPr spc="-5" dirty="0"/>
              <a:t>salary</a:t>
            </a:r>
          </a:p>
          <a:p>
            <a:pPr marL="3758565">
              <a:lnSpc>
                <a:spcPct val="100000"/>
              </a:lnSpc>
              <a:spcBef>
                <a:spcPts val="5"/>
              </a:spcBef>
            </a:pPr>
            <a:endParaRPr sz="3400">
              <a:latin typeface="Times New Roman"/>
              <a:cs typeface="Times New Roman"/>
            </a:endParaRPr>
          </a:p>
          <a:p>
            <a:pPr marL="4164329">
              <a:lnSpc>
                <a:spcPct val="100000"/>
              </a:lnSpc>
            </a:pPr>
            <a:r>
              <a:rPr sz="2400" b="1" i="1" spc="-5" dirty="0">
                <a:latin typeface="Calibri"/>
                <a:cs typeface="Calibri"/>
              </a:rPr>
              <a:t>SELECT Name</a:t>
            </a:r>
            <a:endParaRPr sz="2400">
              <a:latin typeface="Calibri"/>
              <a:cs typeface="Calibri"/>
            </a:endParaRPr>
          </a:p>
          <a:p>
            <a:pPr marL="4678680">
              <a:lnSpc>
                <a:spcPct val="100000"/>
              </a:lnSpc>
              <a:spcBef>
                <a:spcPts val="45"/>
              </a:spcBef>
            </a:pPr>
            <a:r>
              <a:rPr sz="2400" b="1" i="1" dirty="0">
                <a:latin typeface="Calibri"/>
                <a:cs typeface="Calibri"/>
              </a:rPr>
              <a:t>FROM</a:t>
            </a:r>
            <a:r>
              <a:rPr sz="2400" b="1" i="1" spc="-5" dirty="0">
                <a:latin typeface="Calibri"/>
                <a:cs typeface="Calibri"/>
              </a:rPr>
              <a:t> Employee</a:t>
            </a:r>
            <a:endParaRPr sz="2400">
              <a:latin typeface="Calibri"/>
              <a:cs typeface="Calibri"/>
            </a:endParaRPr>
          </a:p>
          <a:p>
            <a:pPr marL="5135880" marR="1027430" indent="-457200">
              <a:lnSpc>
                <a:spcPct val="118100"/>
              </a:lnSpc>
              <a:spcBef>
                <a:spcPts val="75"/>
              </a:spcBef>
            </a:pPr>
            <a:r>
              <a:rPr sz="2400" b="1" i="1" spc="-5" dirty="0">
                <a:latin typeface="Calibri"/>
                <a:cs typeface="Calibri"/>
              </a:rPr>
              <a:t>WHERE Salary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&gt;=  ALL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(</a:t>
            </a:r>
            <a:endParaRPr sz="2400">
              <a:latin typeface="Calibri"/>
              <a:cs typeface="Calibri"/>
            </a:endParaRPr>
          </a:p>
          <a:p>
            <a:pPr marL="5593080" marR="18415">
              <a:lnSpc>
                <a:spcPct val="100699"/>
              </a:lnSpc>
              <a:spcBef>
                <a:spcPts val="20"/>
              </a:spcBef>
            </a:pPr>
            <a:r>
              <a:rPr sz="2400" b="1" i="1" spc="-5" dirty="0">
                <a:latin typeface="Calibri"/>
                <a:cs typeface="Calibri"/>
              </a:rPr>
              <a:t>SELECT Salary  </a:t>
            </a:r>
            <a:r>
              <a:rPr sz="2400" b="1" i="1" dirty="0">
                <a:latin typeface="Calibri"/>
                <a:cs typeface="Calibri"/>
              </a:rPr>
              <a:t>FROM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Employee);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5250" y="498158"/>
            <a:ext cx="8191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</a:t>
            </a:r>
            <a:r>
              <a:rPr dirty="0"/>
              <a:t>LL</a:t>
            </a:r>
          </a:p>
        </p:txBody>
      </p:sp>
      <p:sp>
        <p:nvSpPr>
          <p:cNvPr id="5" name="object 5"/>
          <p:cNvSpPr/>
          <p:nvPr/>
        </p:nvSpPr>
        <p:spPr>
          <a:xfrm>
            <a:off x="1029716" y="2040596"/>
            <a:ext cx="2390345" cy="2628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24621" y="4805362"/>
            <a:ext cx="1371598" cy="132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55830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9161" y="1633220"/>
            <a:ext cx="3864610" cy="1973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998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Find the </a:t>
            </a:r>
            <a:r>
              <a:rPr sz="3200" spc="-5" dirty="0">
                <a:latin typeface="Calibri"/>
                <a:cs typeface="Calibri"/>
              </a:rPr>
              <a:t>name(s) of 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employee(s)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who  earn more </a:t>
            </a:r>
            <a:r>
              <a:rPr sz="3200" dirty="0">
                <a:latin typeface="Calibri"/>
                <a:cs typeface="Calibri"/>
              </a:rPr>
              <a:t>than  </a:t>
            </a:r>
            <a:r>
              <a:rPr sz="3200" spc="-5" dirty="0">
                <a:latin typeface="Calibri"/>
                <a:cs typeface="Calibri"/>
              </a:rPr>
              <a:t>someone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else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3667" y="498158"/>
            <a:ext cx="98234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ANY</a:t>
            </a:r>
          </a:p>
        </p:txBody>
      </p:sp>
      <p:sp>
        <p:nvSpPr>
          <p:cNvPr id="5" name="object 5"/>
          <p:cNvSpPr/>
          <p:nvPr/>
        </p:nvSpPr>
        <p:spPr>
          <a:xfrm>
            <a:off x="1029716" y="2040596"/>
            <a:ext cx="2390345" cy="2628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57282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9161" y="1592579"/>
            <a:ext cx="4110990" cy="441452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250825" indent="-342900">
              <a:lnSpc>
                <a:spcPct val="8940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Find the </a:t>
            </a:r>
            <a:r>
              <a:rPr sz="3200" spc="-5" dirty="0">
                <a:latin typeface="Calibri"/>
                <a:cs typeface="Calibri"/>
              </a:rPr>
              <a:t>name(s) of 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employee(s)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who  earn more </a:t>
            </a:r>
            <a:r>
              <a:rPr sz="3200" dirty="0">
                <a:latin typeface="Calibri"/>
                <a:cs typeface="Calibri"/>
              </a:rPr>
              <a:t>than  </a:t>
            </a:r>
            <a:r>
              <a:rPr sz="3200" spc="-5" dirty="0">
                <a:latin typeface="Calibri"/>
                <a:cs typeface="Calibri"/>
              </a:rPr>
              <a:t>someone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else</a:t>
            </a:r>
            <a:endParaRPr sz="3200">
              <a:latin typeface="Calibri"/>
              <a:cs typeface="Calibri"/>
            </a:endParaRPr>
          </a:p>
          <a:p>
            <a:pPr marL="405765">
              <a:lnSpc>
                <a:spcPts val="2750"/>
              </a:lnSpc>
              <a:spcBef>
                <a:spcPts val="3415"/>
              </a:spcBef>
            </a:pPr>
            <a:r>
              <a:rPr sz="2400" b="1" i="1" spc="-5" dirty="0">
                <a:latin typeface="Calibri"/>
                <a:cs typeface="Calibri"/>
              </a:rPr>
              <a:t>SELECT Name</a:t>
            </a:r>
            <a:endParaRPr sz="2400">
              <a:latin typeface="Calibri"/>
              <a:cs typeface="Calibri"/>
            </a:endParaRPr>
          </a:p>
          <a:p>
            <a:pPr marL="920115">
              <a:lnSpc>
                <a:spcPts val="2750"/>
              </a:lnSpc>
            </a:pPr>
            <a:r>
              <a:rPr sz="2400" b="1" i="1" dirty="0">
                <a:latin typeface="Calibri"/>
                <a:cs typeface="Calibri"/>
              </a:rPr>
              <a:t>FROM</a:t>
            </a:r>
            <a:r>
              <a:rPr sz="2400" b="1" i="1" spc="-5" dirty="0">
                <a:latin typeface="Calibri"/>
                <a:cs typeface="Calibri"/>
              </a:rPr>
              <a:t> Employee</a:t>
            </a:r>
            <a:endParaRPr sz="2400">
              <a:latin typeface="Calibri"/>
              <a:cs typeface="Calibri"/>
            </a:endParaRPr>
          </a:p>
          <a:p>
            <a:pPr marL="1377315" marR="1165225" indent="-457200">
              <a:lnSpc>
                <a:spcPts val="3200"/>
              </a:lnSpc>
              <a:spcBef>
                <a:spcPts val="140"/>
              </a:spcBef>
            </a:pPr>
            <a:r>
              <a:rPr sz="2400" b="1" i="1" spc="-5" dirty="0">
                <a:latin typeface="Calibri"/>
                <a:cs typeface="Calibri"/>
              </a:rPr>
              <a:t>WHERE Salary</a:t>
            </a:r>
            <a:r>
              <a:rPr sz="2400" b="1" i="1" spc="-6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&gt;  </a:t>
            </a:r>
            <a:r>
              <a:rPr sz="2400" b="1" i="1" spc="-5" dirty="0">
                <a:latin typeface="Calibri"/>
                <a:cs typeface="Calibri"/>
              </a:rPr>
              <a:t>ANY(</a:t>
            </a:r>
            <a:endParaRPr sz="2400">
              <a:latin typeface="Calibri"/>
              <a:cs typeface="Calibri"/>
            </a:endParaRPr>
          </a:p>
          <a:p>
            <a:pPr marL="1834514">
              <a:lnSpc>
                <a:spcPts val="2225"/>
              </a:lnSpc>
            </a:pPr>
            <a:r>
              <a:rPr sz="2400" b="1" i="1" spc="-5" dirty="0">
                <a:latin typeface="Calibri"/>
                <a:cs typeface="Calibri"/>
              </a:rPr>
              <a:t>SELECT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Salary</a:t>
            </a:r>
            <a:endParaRPr sz="2400">
              <a:latin typeface="Calibri"/>
              <a:cs typeface="Calibri"/>
            </a:endParaRPr>
          </a:p>
          <a:p>
            <a:pPr marL="1834514">
              <a:lnSpc>
                <a:spcPts val="2740"/>
              </a:lnSpc>
            </a:pPr>
            <a:r>
              <a:rPr sz="2400" b="1" i="1" dirty="0">
                <a:latin typeface="Calibri"/>
                <a:cs typeface="Calibri"/>
              </a:rPr>
              <a:t>FROM</a:t>
            </a:r>
            <a:r>
              <a:rPr sz="2400" b="1" i="1" spc="-55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Employee);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83667" y="498158"/>
            <a:ext cx="98234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ANY</a:t>
            </a:r>
          </a:p>
        </p:txBody>
      </p:sp>
      <p:sp>
        <p:nvSpPr>
          <p:cNvPr id="5" name="object 5"/>
          <p:cNvSpPr/>
          <p:nvPr/>
        </p:nvSpPr>
        <p:spPr>
          <a:xfrm>
            <a:off x="1029716" y="2040596"/>
            <a:ext cx="2390345" cy="2628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40521" y="4705350"/>
            <a:ext cx="939799" cy="165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09144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/>
              <a:t>Commonly </a:t>
            </a:r>
            <a:r>
              <a:rPr spc="-5" dirty="0"/>
              <a:t>used</a:t>
            </a:r>
            <a:r>
              <a:rPr spc="-105" dirty="0"/>
              <a:t> </a:t>
            </a:r>
            <a:r>
              <a:rPr dirty="0"/>
              <a:t>for  </a:t>
            </a:r>
            <a:r>
              <a:rPr spc="-5" dirty="0"/>
              <a:t>searching product  catalogues etc.</a:t>
            </a:r>
          </a:p>
          <a:p>
            <a:pPr marL="355600" marR="254000" indent="-3429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/>
              <a:t>Need to </a:t>
            </a:r>
            <a:r>
              <a:rPr spc="-5" dirty="0"/>
              <a:t>search</a:t>
            </a:r>
            <a:r>
              <a:rPr spc="-75" dirty="0"/>
              <a:t> </a:t>
            </a:r>
            <a:r>
              <a:rPr dirty="0"/>
              <a:t>by  </a:t>
            </a:r>
            <a:r>
              <a:rPr spc="-5" dirty="0"/>
              <a:t>keywords</a:t>
            </a:r>
          </a:p>
          <a:p>
            <a:pPr marL="355600" marR="13335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/>
              <a:t>Might need to</a:t>
            </a:r>
            <a:r>
              <a:rPr spc="-100" dirty="0"/>
              <a:t> </a:t>
            </a:r>
            <a:r>
              <a:rPr dirty="0"/>
              <a:t>used  </a:t>
            </a:r>
            <a:r>
              <a:rPr spc="-5" dirty="0"/>
              <a:t>partial</a:t>
            </a:r>
            <a:r>
              <a:rPr spc="-15" dirty="0"/>
              <a:t> </a:t>
            </a:r>
            <a:r>
              <a:rPr spc="-5" dirty="0"/>
              <a:t>keywords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9140" y="1633220"/>
            <a:ext cx="3838575" cy="4274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998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For example, </a:t>
            </a:r>
            <a:r>
              <a:rPr sz="3200" dirty="0">
                <a:latin typeface="Calibri"/>
                <a:cs typeface="Calibri"/>
              </a:rPr>
              <a:t>Given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 database </a:t>
            </a:r>
            <a:r>
              <a:rPr sz="3200" spc="-5" dirty="0">
                <a:latin typeface="Calibri"/>
                <a:cs typeface="Calibri"/>
              </a:rPr>
              <a:t>of books,  search for “crypt”  might return</a:t>
            </a:r>
            <a:endParaRPr sz="3200">
              <a:latin typeface="Calibri"/>
              <a:cs typeface="Calibri"/>
            </a:endParaRPr>
          </a:p>
          <a:p>
            <a:pPr marL="762000" marR="156210" lvl="1" indent="-292100">
              <a:lnSpc>
                <a:spcPts val="3329"/>
              </a:lnSpc>
              <a:spcBef>
                <a:spcPts val="7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i="1" spc="-5" dirty="0">
                <a:latin typeface="Calibri"/>
                <a:cs typeface="Calibri"/>
              </a:rPr>
              <a:t>“Cryptonomicon”</a:t>
            </a:r>
            <a:r>
              <a:rPr sz="2800" i="1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by  </a:t>
            </a:r>
            <a:r>
              <a:rPr sz="2800" dirty="0">
                <a:latin typeface="Calibri"/>
                <a:cs typeface="Calibri"/>
              </a:rPr>
              <a:t>Neil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Stephenson</a:t>
            </a:r>
            <a:endParaRPr sz="2800">
              <a:latin typeface="Calibri"/>
              <a:cs typeface="Calibri"/>
            </a:endParaRPr>
          </a:p>
          <a:p>
            <a:pPr marL="762000" marR="395605" lvl="1" indent="-292100">
              <a:lnSpc>
                <a:spcPct val="100099"/>
              </a:lnSpc>
              <a:spcBef>
                <a:spcPts val="600"/>
              </a:spcBef>
              <a:buFont typeface="Arial"/>
              <a:buChar char="–"/>
              <a:tabLst>
                <a:tab pos="755650" algn="l"/>
              </a:tabLst>
            </a:pPr>
            <a:r>
              <a:rPr sz="2800" i="1" spc="-5" dirty="0">
                <a:latin typeface="Calibri"/>
                <a:cs typeface="Calibri"/>
              </a:rPr>
              <a:t>“Applied  Cryptographer”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by  Bruce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Schneier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94989" y="498158"/>
            <a:ext cx="29591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Word</a:t>
            </a:r>
            <a:r>
              <a:rPr spc="-65" dirty="0"/>
              <a:t> </a:t>
            </a:r>
            <a:r>
              <a:rPr spc="-5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9110570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633220"/>
            <a:ext cx="8017509" cy="44081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895985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We </a:t>
            </a:r>
            <a:r>
              <a:rPr sz="3200" dirty="0">
                <a:latin typeface="Calibri"/>
                <a:cs typeface="Calibri"/>
              </a:rPr>
              <a:t>can use the </a:t>
            </a:r>
            <a:r>
              <a:rPr sz="3200" b="1" i="1" dirty="0">
                <a:latin typeface="Calibri"/>
                <a:cs typeface="Calibri"/>
              </a:rPr>
              <a:t>LIKE </a:t>
            </a:r>
            <a:r>
              <a:rPr sz="3200" spc="-5" dirty="0">
                <a:latin typeface="Calibri"/>
                <a:cs typeface="Calibri"/>
              </a:rPr>
              <a:t>keyword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perform  string comparisons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queries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Like is </a:t>
            </a:r>
            <a:r>
              <a:rPr sz="3200" spc="-5" dirty="0">
                <a:latin typeface="Calibri"/>
                <a:cs typeface="Calibri"/>
              </a:rPr>
              <a:t>not </a:t>
            </a:r>
            <a:r>
              <a:rPr sz="3200" dirty="0">
                <a:latin typeface="Calibri"/>
                <a:cs typeface="Calibri"/>
              </a:rPr>
              <a:t>the as </a:t>
            </a:r>
            <a:r>
              <a:rPr sz="3200" spc="-5" dirty="0">
                <a:latin typeface="Calibri"/>
                <a:cs typeface="Calibri"/>
              </a:rPr>
              <a:t>‘=’ </a:t>
            </a:r>
            <a:r>
              <a:rPr sz="3200" dirty="0">
                <a:latin typeface="Calibri"/>
                <a:cs typeface="Calibri"/>
              </a:rPr>
              <a:t>because it </a:t>
            </a:r>
            <a:r>
              <a:rPr sz="3200" spc="-5" dirty="0">
                <a:latin typeface="Calibri"/>
                <a:cs typeface="Calibri"/>
              </a:rPr>
              <a:t>allows wildcard  characters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It is NOT </a:t>
            </a:r>
            <a:r>
              <a:rPr sz="3200" spc="-5" dirty="0">
                <a:latin typeface="Calibri"/>
                <a:cs typeface="Calibri"/>
              </a:rPr>
              <a:t>normally </a:t>
            </a:r>
            <a:r>
              <a:rPr sz="3200" dirty="0">
                <a:latin typeface="Calibri"/>
                <a:cs typeface="Calibri"/>
              </a:rPr>
              <a:t>case</a:t>
            </a:r>
            <a:r>
              <a:rPr sz="3200" spc="-5" dirty="0">
                <a:latin typeface="Calibri"/>
                <a:cs typeface="Calibri"/>
              </a:rPr>
              <a:t> sensitive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b="1" i="1" spc="-5" dirty="0">
                <a:latin typeface="Calibri"/>
                <a:cs typeface="Calibri"/>
              </a:rPr>
              <a:t>SELECT </a:t>
            </a:r>
            <a:r>
              <a:rPr sz="3200" b="1" i="1" dirty="0">
                <a:latin typeface="Calibri"/>
                <a:cs typeface="Calibri"/>
              </a:rPr>
              <a:t>* FROM</a:t>
            </a:r>
            <a:r>
              <a:rPr sz="3200" b="1" i="1" spc="-5" dirty="0">
                <a:latin typeface="Calibri"/>
                <a:cs typeface="Calibri"/>
              </a:rPr>
              <a:t> books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3200" b="1" i="1" spc="-5" dirty="0">
                <a:latin typeface="Calibri"/>
                <a:cs typeface="Calibri"/>
              </a:rPr>
              <a:t>WHERE bookName </a:t>
            </a:r>
            <a:r>
              <a:rPr sz="3200" b="1" i="1" dirty="0">
                <a:latin typeface="Calibri"/>
                <a:cs typeface="Calibri"/>
              </a:rPr>
              <a:t>LIKE </a:t>
            </a:r>
            <a:r>
              <a:rPr sz="3200" b="1" i="1" spc="-5" dirty="0">
                <a:latin typeface="Calibri"/>
                <a:cs typeface="Calibri"/>
              </a:rPr>
              <a:t>“%crypt%”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92398" y="498158"/>
            <a:ext cx="964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</a:t>
            </a:r>
            <a:r>
              <a:rPr spc="-5" dirty="0"/>
              <a:t>K</a:t>
            </a:r>
            <a:r>
              <a:rPr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374414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557020"/>
            <a:ext cx="3975735" cy="197167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marR="5080" indent="-342900">
              <a:lnSpc>
                <a:spcPct val="79600"/>
              </a:lnSpc>
              <a:spcBef>
                <a:spcPts val="8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‘%’ character </a:t>
            </a:r>
            <a:r>
              <a:rPr sz="3000" dirty="0">
                <a:latin typeface="Calibri"/>
                <a:cs typeface="Calibri"/>
              </a:rPr>
              <a:t>can  </a:t>
            </a:r>
            <a:r>
              <a:rPr sz="3000" spc="-5" dirty="0">
                <a:latin typeface="Calibri"/>
                <a:cs typeface="Calibri"/>
              </a:rPr>
              <a:t>represent </a:t>
            </a:r>
            <a:r>
              <a:rPr sz="3000" dirty="0">
                <a:latin typeface="Calibri"/>
                <a:cs typeface="Calibri"/>
              </a:rPr>
              <a:t>any </a:t>
            </a:r>
            <a:r>
              <a:rPr sz="3000" spc="-5" dirty="0">
                <a:latin typeface="Calibri"/>
                <a:cs typeface="Calibri"/>
              </a:rPr>
              <a:t>number  of characters,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including  none</a:t>
            </a:r>
            <a:endParaRPr sz="3000">
              <a:latin typeface="Calibri"/>
              <a:cs typeface="Calibri"/>
            </a:endParaRPr>
          </a:p>
          <a:p>
            <a:pPr marL="311150">
              <a:lnSpc>
                <a:spcPct val="100000"/>
              </a:lnSpc>
            </a:pPr>
            <a:r>
              <a:rPr sz="2600" b="1" i="1" spc="-5" dirty="0">
                <a:latin typeface="Calibri"/>
                <a:cs typeface="Calibri"/>
              </a:rPr>
              <a:t>bookName </a:t>
            </a:r>
            <a:r>
              <a:rPr sz="2600" b="1" i="1" dirty="0">
                <a:latin typeface="Calibri"/>
                <a:cs typeface="Calibri"/>
              </a:rPr>
              <a:t>LIKE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b="1" i="1" spc="-5" dirty="0">
                <a:latin typeface="Calibri"/>
                <a:cs typeface="Calibri"/>
              </a:rPr>
              <a:t>“crypt%”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39" y="3896359"/>
            <a:ext cx="3693795" cy="230886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marR="5080" indent="-342900">
              <a:lnSpc>
                <a:spcPct val="79900"/>
              </a:lnSpc>
              <a:spcBef>
                <a:spcPts val="81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Will return  “Cryptography  Engineering” </a:t>
            </a:r>
            <a:r>
              <a:rPr sz="3000" dirty="0">
                <a:latin typeface="Calibri"/>
                <a:cs typeface="Calibri"/>
              </a:rPr>
              <a:t>and  </a:t>
            </a:r>
            <a:r>
              <a:rPr sz="3000" spc="-5" dirty="0">
                <a:latin typeface="Calibri"/>
                <a:cs typeface="Calibri"/>
              </a:rPr>
              <a:t>“Cryptonomicon”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but  </a:t>
            </a:r>
            <a:r>
              <a:rPr sz="3000" spc="-5" dirty="0">
                <a:latin typeface="Calibri"/>
                <a:cs typeface="Calibri"/>
              </a:rPr>
              <a:t>not </a:t>
            </a:r>
            <a:r>
              <a:rPr sz="3000" dirty="0">
                <a:latin typeface="Calibri"/>
                <a:cs typeface="Calibri"/>
              </a:rPr>
              <a:t>“Applied  </a:t>
            </a:r>
            <a:r>
              <a:rPr sz="3000" spc="-5" dirty="0">
                <a:latin typeface="Calibri"/>
                <a:cs typeface="Calibri"/>
              </a:rPr>
              <a:t>Cryptography”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9140" y="1557020"/>
            <a:ext cx="4030345" cy="163512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marR="156845" indent="-342900">
              <a:lnSpc>
                <a:spcPct val="79200"/>
              </a:lnSpc>
              <a:spcBef>
                <a:spcPts val="84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‘_’ character  represents exactly one  character</a:t>
            </a:r>
            <a:endParaRPr sz="3000">
              <a:latin typeface="Calibri"/>
              <a:cs typeface="Calibri"/>
            </a:endParaRPr>
          </a:p>
          <a:p>
            <a:pPr marL="344805">
              <a:lnSpc>
                <a:spcPct val="100000"/>
              </a:lnSpc>
              <a:spcBef>
                <a:spcPts val="15"/>
              </a:spcBef>
            </a:pPr>
            <a:r>
              <a:rPr sz="2800" b="1" i="1" spc="-5" dirty="0">
                <a:latin typeface="Calibri"/>
                <a:cs typeface="Calibri"/>
              </a:rPr>
              <a:t>bookName </a:t>
            </a:r>
            <a:r>
              <a:rPr sz="2800" b="1" i="1" dirty="0">
                <a:latin typeface="Calibri"/>
                <a:cs typeface="Calibri"/>
              </a:rPr>
              <a:t>LIKE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“cloud_”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9140" y="3629659"/>
            <a:ext cx="3485515" cy="120396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355600" marR="5080" indent="-342900">
              <a:lnSpc>
                <a:spcPct val="78900"/>
              </a:lnSpc>
              <a:spcBef>
                <a:spcPts val="8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Will return “Clouds”  </a:t>
            </a:r>
            <a:r>
              <a:rPr sz="3000" dirty="0">
                <a:latin typeface="Calibri"/>
                <a:cs typeface="Calibri"/>
              </a:rPr>
              <a:t>but </a:t>
            </a:r>
            <a:r>
              <a:rPr sz="3000" spc="-5" dirty="0">
                <a:latin typeface="Calibri"/>
                <a:cs typeface="Calibri"/>
              </a:rPr>
              <a:t>not “Cloud” or  “cloud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computing”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92398" y="498158"/>
            <a:ext cx="96456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</a:t>
            </a:r>
            <a:r>
              <a:rPr spc="-5" dirty="0"/>
              <a:t>K</a:t>
            </a:r>
            <a:r>
              <a:rPr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2822803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412558"/>
            <a:ext cx="7631430" cy="45466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5600" marR="749935" indent="-342900">
              <a:lnSpc>
                <a:spcPts val="3200"/>
              </a:lnSpc>
              <a:spcBef>
                <a:spcPts val="5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ORDER </a:t>
            </a:r>
            <a:r>
              <a:rPr sz="3000" spc="-5" dirty="0">
                <a:latin typeface="Calibri"/>
                <a:cs typeface="Calibri"/>
              </a:rPr>
              <a:t>BY keyword </a:t>
            </a:r>
            <a:r>
              <a:rPr sz="3000" dirty="0">
                <a:latin typeface="Calibri"/>
                <a:cs typeface="Calibri"/>
              </a:rPr>
              <a:t>is used to </a:t>
            </a:r>
            <a:r>
              <a:rPr sz="3000" spc="-5" dirty="0">
                <a:latin typeface="Calibri"/>
                <a:cs typeface="Calibri"/>
              </a:rPr>
              <a:t>sort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  </a:t>
            </a:r>
            <a:r>
              <a:rPr sz="3000" spc="-5" dirty="0">
                <a:latin typeface="Calibri"/>
                <a:cs typeface="Calibri"/>
              </a:rPr>
              <a:t>result-set </a:t>
            </a:r>
            <a:r>
              <a:rPr sz="3000" dirty="0">
                <a:latin typeface="Calibri"/>
                <a:cs typeface="Calibri"/>
              </a:rPr>
              <a:t>by </a:t>
            </a:r>
            <a:r>
              <a:rPr sz="3000" spc="-5" dirty="0">
                <a:latin typeface="Calibri"/>
                <a:cs typeface="Calibri"/>
              </a:rPr>
              <a:t>one or more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columns.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ct val="90600"/>
              </a:lnSpc>
              <a:spcBef>
                <a:spcPts val="61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ORDER </a:t>
            </a:r>
            <a:r>
              <a:rPr sz="3000" spc="-5" dirty="0">
                <a:latin typeface="Calibri"/>
                <a:cs typeface="Calibri"/>
              </a:rPr>
              <a:t>BY keyword sorts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records </a:t>
            </a:r>
            <a:r>
              <a:rPr sz="3000" dirty="0">
                <a:latin typeface="Calibri"/>
                <a:cs typeface="Calibri"/>
              </a:rPr>
              <a:t>in  ascending </a:t>
            </a:r>
            <a:r>
              <a:rPr sz="3000" spc="-5" dirty="0">
                <a:latin typeface="Calibri"/>
                <a:cs typeface="Calibri"/>
              </a:rPr>
              <a:t>order </a:t>
            </a:r>
            <a:r>
              <a:rPr sz="3000" dirty="0">
                <a:latin typeface="Calibri"/>
                <a:cs typeface="Calibri"/>
              </a:rPr>
              <a:t>by default. To </a:t>
            </a:r>
            <a:r>
              <a:rPr sz="3000" spc="-5" dirty="0">
                <a:latin typeface="Calibri"/>
                <a:cs typeface="Calibri"/>
              </a:rPr>
              <a:t>sort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records  </a:t>
            </a:r>
            <a:r>
              <a:rPr sz="3000" dirty="0">
                <a:latin typeface="Calibri"/>
                <a:cs typeface="Calibri"/>
              </a:rPr>
              <a:t>in a descending </a:t>
            </a:r>
            <a:r>
              <a:rPr sz="3000" spc="-5" dirty="0">
                <a:latin typeface="Calibri"/>
                <a:cs typeface="Calibri"/>
              </a:rPr>
              <a:t>order, you </a:t>
            </a:r>
            <a:r>
              <a:rPr sz="3000" dirty="0">
                <a:latin typeface="Calibri"/>
                <a:cs typeface="Calibri"/>
              </a:rPr>
              <a:t>can use the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DESC </a:t>
            </a:r>
            <a:r>
              <a:rPr sz="3000" spc="-5" dirty="0">
                <a:latin typeface="Calibri"/>
                <a:cs typeface="Calibri"/>
              </a:rPr>
              <a:t> keyword.</a:t>
            </a:r>
            <a:endParaRPr sz="3000">
              <a:latin typeface="Calibri"/>
              <a:cs typeface="Calibri"/>
            </a:endParaRPr>
          </a:p>
          <a:p>
            <a:pPr marL="1260475" lvl="1" indent="-3429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652145" algn="l"/>
                <a:tab pos="1261110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SELECT </a:t>
            </a:r>
            <a:r>
              <a:rPr sz="3000" i="1" spc="-5" dirty="0">
                <a:solidFill>
                  <a:srgbClr val="FF0000"/>
                </a:solidFill>
                <a:latin typeface="Calibri"/>
                <a:cs typeface="Calibri"/>
              </a:rPr>
              <a:t>column_name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,</a:t>
            </a:r>
            <a:r>
              <a:rPr sz="30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i="1" spc="-5" dirty="0">
                <a:solidFill>
                  <a:srgbClr val="FF0000"/>
                </a:solidFill>
                <a:latin typeface="Calibri"/>
                <a:cs typeface="Calibri"/>
              </a:rPr>
              <a:t>column_name</a:t>
            </a:r>
            <a:endParaRPr sz="3000">
              <a:latin typeface="Calibri"/>
              <a:cs typeface="Calibri"/>
            </a:endParaRPr>
          </a:p>
          <a:p>
            <a:pPr marL="309245" algn="ctr">
              <a:lnSpc>
                <a:spcPct val="100000"/>
              </a:lnSpc>
              <a:spcBef>
                <a:spcPts val="400"/>
              </a:spcBef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i="1" spc="-5" dirty="0">
                <a:solidFill>
                  <a:srgbClr val="FF0000"/>
                </a:solidFill>
                <a:latin typeface="Calibri"/>
                <a:cs typeface="Calibri"/>
              </a:rPr>
              <a:t>table_name</a:t>
            </a:r>
            <a:endParaRPr sz="3000">
              <a:latin typeface="Calibri"/>
              <a:cs typeface="Calibri"/>
            </a:endParaRPr>
          </a:p>
          <a:p>
            <a:pPr marL="1862455">
              <a:lnSpc>
                <a:spcPts val="3440"/>
              </a:lnSpc>
              <a:spcBef>
                <a:spcPts val="300"/>
              </a:spcBef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ORDER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BY </a:t>
            </a:r>
            <a:r>
              <a:rPr sz="3000" i="1" spc="-5" dirty="0">
                <a:solidFill>
                  <a:srgbClr val="FF0000"/>
                </a:solidFill>
                <a:latin typeface="Calibri"/>
                <a:cs typeface="Calibri"/>
              </a:rPr>
              <a:t>column_name</a:t>
            </a:r>
            <a:r>
              <a:rPr sz="30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ASC|DESC,</a:t>
            </a:r>
            <a:endParaRPr sz="3000">
              <a:latin typeface="Calibri"/>
              <a:cs typeface="Calibri"/>
            </a:endParaRPr>
          </a:p>
          <a:p>
            <a:pPr marL="307975" algn="ctr">
              <a:lnSpc>
                <a:spcPts val="3440"/>
              </a:lnSpc>
            </a:pPr>
            <a:r>
              <a:rPr sz="3000" i="1" spc="-5" dirty="0">
                <a:solidFill>
                  <a:srgbClr val="FF0000"/>
                </a:solidFill>
                <a:latin typeface="Calibri"/>
                <a:cs typeface="Calibri"/>
              </a:rPr>
              <a:t>column_name</a:t>
            </a:r>
            <a:r>
              <a:rPr sz="30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ASC|DESC;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6817" y="498158"/>
            <a:ext cx="33159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SQL ORDER</a:t>
            </a:r>
            <a:r>
              <a:rPr spc="-95" dirty="0"/>
              <a:t> </a:t>
            </a:r>
            <a:r>
              <a:rPr spc="-5" dirty="0"/>
              <a:t>BY</a:t>
            </a:r>
          </a:p>
        </p:txBody>
      </p:sp>
    </p:spTree>
    <p:extLst>
      <p:ext uri="{BB962C8B-B14F-4D97-AF65-F5344CB8AC3E}">
        <p14:creationId xmlns:p14="http://schemas.microsoft.com/office/powerpoint/2010/main" val="12967882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806" y="1589320"/>
            <a:ext cx="6375400" cy="87121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3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i="1" spc="-5" dirty="0">
                <a:latin typeface="Calibri"/>
                <a:cs typeface="Calibri"/>
              </a:rPr>
              <a:t>SELECT </a:t>
            </a:r>
            <a:r>
              <a:rPr sz="2800" b="1" i="1" dirty="0">
                <a:latin typeface="Calibri"/>
                <a:cs typeface="Calibri"/>
              </a:rPr>
              <a:t>* FROM </a:t>
            </a:r>
            <a:r>
              <a:rPr sz="2800" b="1" i="1" spc="-5" dirty="0">
                <a:latin typeface="Calibri"/>
                <a:cs typeface="Calibri"/>
              </a:rPr>
              <a:t>DEPARTMENT </a:t>
            </a:r>
            <a:r>
              <a:rPr sz="2800" b="1" i="1" dirty="0">
                <a:latin typeface="Calibri"/>
                <a:cs typeface="Calibri"/>
              </a:rPr>
              <a:t>ORDER </a:t>
            </a:r>
            <a:r>
              <a:rPr sz="2800" b="1" i="1" spc="-5" dirty="0">
                <a:latin typeface="Calibri"/>
                <a:cs typeface="Calibri"/>
              </a:rPr>
              <a:t>BY  NAME;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4085" y="2774155"/>
            <a:ext cx="7136311" cy="3083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63033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806" y="1696650"/>
            <a:ext cx="7233284" cy="9956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i="1" spc="-5" dirty="0">
                <a:latin typeface="Calibri"/>
                <a:cs typeface="Calibri"/>
              </a:rPr>
              <a:t>SELECT </a:t>
            </a:r>
            <a:r>
              <a:rPr sz="3200" b="1" i="1" dirty="0">
                <a:latin typeface="Calibri"/>
                <a:cs typeface="Calibri"/>
              </a:rPr>
              <a:t>* FROM </a:t>
            </a:r>
            <a:r>
              <a:rPr sz="3200" b="1" i="1" spc="-5" dirty="0">
                <a:latin typeface="Calibri"/>
                <a:cs typeface="Calibri"/>
              </a:rPr>
              <a:t>DEPARTMENT </a:t>
            </a:r>
            <a:r>
              <a:rPr sz="3200" b="1" i="1" dirty="0">
                <a:latin typeface="Calibri"/>
                <a:cs typeface="Calibri"/>
              </a:rPr>
              <a:t>ORDER </a:t>
            </a:r>
            <a:r>
              <a:rPr sz="3200" b="1" i="1" spc="-5" dirty="0">
                <a:latin typeface="Calibri"/>
                <a:cs typeface="Calibri"/>
              </a:rPr>
              <a:t>BY  </a:t>
            </a:r>
            <a:r>
              <a:rPr sz="3200" b="1" i="1" dirty="0">
                <a:latin typeface="Calibri"/>
                <a:cs typeface="Calibri"/>
              </a:rPr>
              <a:t>NAME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DESC;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1200" y="2964211"/>
            <a:ext cx="7569198" cy="2947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6085162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0806" y="1571430"/>
            <a:ext cx="7233284" cy="99568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i="1" spc="-5" dirty="0">
                <a:latin typeface="Calibri"/>
                <a:cs typeface="Calibri"/>
              </a:rPr>
              <a:t>SELECT </a:t>
            </a:r>
            <a:r>
              <a:rPr sz="3200" b="1" i="1" dirty="0">
                <a:latin typeface="Calibri"/>
                <a:cs typeface="Calibri"/>
              </a:rPr>
              <a:t>* FROM </a:t>
            </a:r>
            <a:r>
              <a:rPr sz="3200" b="1" i="1" spc="-5" dirty="0">
                <a:latin typeface="Calibri"/>
                <a:cs typeface="Calibri"/>
              </a:rPr>
              <a:t>DEPARTMENT </a:t>
            </a:r>
            <a:r>
              <a:rPr sz="3200" b="1" i="1" dirty="0">
                <a:latin typeface="Calibri"/>
                <a:cs typeface="Calibri"/>
              </a:rPr>
              <a:t>ORDER </a:t>
            </a:r>
            <a:r>
              <a:rPr sz="3200" b="1" i="1" spc="-5" dirty="0">
                <a:latin typeface="Calibri"/>
                <a:cs typeface="Calibri"/>
              </a:rPr>
              <a:t>BY  STUD_NO DESC,</a:t>
            </a:r>
            <a:r>
              <a:rPr sz="3200" b="1" i="1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NAME;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77287" y="3156077"/>
            <a:ext cx="7004230" cy="2952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98011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4862916"/>
            <a:ext cx="7995920" cy="99568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55600" marR="5080" indent="-342900">
              <a:lnSpc>
                <a:spcPts val="3800"/>
              </a:lnSpc>
              <a:spcBef>
                <a:spcPts val="259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Write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query </a:t>
            </a:r>
            <a:r>
              <a:rPr sz="3200" dirty="0">
                <a:latin typeface="Calibri"/>
                <a:cs typeface="Calibri"/>
              </a:rPr>
              <a:t>to ﬁnd any </a:t>
            </a:r>
            <a:r>
              <a:rPr sz="3200" spc="-5" dirty="0">
                <a:latin typeface="Calibri"/>
                <a:cs typeface="Calibri"/>
              </a:rPr>
              <a:t>track </a:t>
            </a:r>
            <a:r>
              <a:rPr sz="3200" spc="-10" dirty="0">
                <a:latin typeface="Calibri"/>
                <a:cs typeface="Calibri"/>
              </a:rPr>
              <a:t>title </a:t>
            </a:r>
            <a:r>
              <a:rPr sz="3200" spc="-5" dirty="0">
                <a:latin typeface="Calibri"/>
                <a:cs typeface="Calibri"/>
              </a:rPr>
              <a:t>containing  </a:t>
            </a:r>
            <a:r>
              <a:rPr sz="3200" dirty="0">
                <a:latin typeface="Calibri"/>
                <a:cs typeface="Calibri"/>
              </a:rPr>
              <a:t>either the </a:t>
            </a:r>
            <a:r>
              <a:rPr sz="3200" spc="-5" dirty="0">
                <a:latin typeface="Calibri"/>
                <a:cs typeface="Calibri"/>
              </a:rPr>
              <a:t>string ‘boy’ or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‘girl’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9914" y="390831"/>
            <a:ext cx="4890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Example</a:t>
            </a:r>
            <a:endParaRPr spc="-5" dirty="0"/>
          </a:p>
        </p:txBody>
      </p:sp>
      <p:sp>
        <p:nvSpPr>
          <p:cNvPr id="5" name="object 5"/>
          <p:cNvSpPr/>
          <p:nvPr/>
        </p:nvSpPr>
        <p:spPr>
          <a:xfrm>
            <a:off x="315171" y="1317002"/>
            <a:ext cx="4622798" cy="2971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19996" y="1317002"/>
            <a:ext cx="3225798" cy="14858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74413" y="3157501"/>
            <a:ext cx="2425699" cy="14604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42358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657859"/>
            <a:ext cx="6748780" cy="1770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676275" indent="-457200">
              <a:lnSpc>
                <a:spcPct val="119000"/>
              </a:lnSpc>
              <a:spcBef>
                <a:spcPts val="95"/>
              </a:spcBef>
            </a:pPr>
            <a:r>
              <a:rPr sz="3200" b="1" i="1" spc="-5" dirty="0">
                <a:latin typeface="Calibri"/>
                <a:cs typeface="Calibri"/>
              </a:rPr>
              <a:t>SELECT Track_title </a:t>
            </a:r>
            <a:r>
              <a:rPr sz="3200" b="1" i="1" dirty="0">
                <a:latin typeface="Calibri"/>
                <a:cs typeface="Calibri"/>
              </a:rPr>
              <a:t>FROM </a:t>
            </a:r>
            <a:r>
              <a:rPr sz="3200" b="1" i="1" spc="-5" dirty="0">
                <a:latin typeface="Calibri"/>
                <a:cs typeface="Calibri"/>
              </a:rPr>
              <a:t>Track  WHERE Track_title </a:t>
            </a:r>
            <a:r>
              <a:rPr sz="3200" b="1" i="1" dirty="0">
                <a:latin typeface="Calibri"/>
                <a:cs typeface="Calibri"/>
              </a:rPr>
              <a:t>LIKE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“%boy%”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760"/>
              </a:spcBef>
            </a:pPr>
            <a:r>
              <a:rPr sz="3200" b="1" i="1" dirty="0">
                <a:latin typeface="Calibri"/>
                <a:cs typeface="Calibri"/>
              </a:rPr>
              <a:t>OR </a:t>
            </a:r>
            <a:r>
              <a:rPr sz="3200" b="1" i="1" spc="-5" dirty="0">
                <a:latin typeface="Calibri"/>
                <a:cs typeface="Calibri"/>
              </a:rPr>
              <a:t>Track_title </a:t>
            </a:r>
            <a:r>
              <a:rPr sz="3200" b="1" i="1" dirty="0">
                <a:latin typeface="Calibri"/>
                <a:cs typeface="Calibri"/>
              </a:rPr>
              <a:t>LIKE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“%girl%”;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9914" y="462383"/>
            <a:ext cx="4890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Example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1801479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5554177"/>
            <a:ext cx="7733665" cy="75438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marR="5080" indent="-342900">
              <a:lnSpc>
                <a:spcPct val="77200"/>
              </a:lnSpc>
              <a:spcBef>
                <a:spcPts val="83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Find a list </a:t>
            </a:r>
            <a:r>
              <a:rPr sz="2700" spc="-5" dirty="0">
                <a:latin typeface="Calibri"/>
                <a:cs typeface="Calibri"/>
              </a:rPr>
              <a:t>of names of </a:t>
            </a:r>
            <a:r>
              <a:rPr sz="2700" dirty="0">
                <a:latin typeface="Calibri"/>
                <a:cs typeface="Calibri"/>
              </a:rPr>
              <a:t>any students </a:t>
            </a:r>
            <a:r>
              <a:rPr sz="2700" spc="-5" dirty="0">
                <a:latin typeface="Calibri"/>
                <a:cs typeface="Calibri"/>
              </a:rPr>
              <a:t>who are enrolled  on </a:t>
            </a:r>
            <a:r>
              <a:rPr sz="2700" dirty="0">
                <a:latin typeface="Calibri"/>
                <a:cs typeface="Calibri"/>
              </a:rPr>
              <a:t>at least </a:t>
            </a:r>
            <a:r>
              <a:rPr sz="2700" spc="-5" dirty="0">
                <a:latin typeface="Calibri"/>
                <a:cs typeface="Calibri"/>
              </a:rPr>
              <a:t>one module alongside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‘Evans’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9914" y="319279"/>
            <a:ext cx="4890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Example</a:t>
            </a:r>
            <a:endParaRPr spc="-5" dirty="0"/>
          </a:p>
        </p:txBody>
      </p:sp>
      <p:sp>
        <p:nvSpPr>
          <p:cNvPr id="5" name="object 5"/>
          <p:cNvSpPr/>
          <p:nvPr/>
        </p:nvSpPr>
        <p:spPr>
          <a:xfrm>
            <a:off x="457200" y="1066563"/>
            <a:ext cx="4383514" cy="28450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0993" y="3911573"/>
            <a:ext cx="3279611" cy="1678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83250" y="1549401"/>
            <a:ext cx="1739898" cy="37464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25365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9" y="1668018"/>
            <a:ext cx="7945120" cy="4310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955925" indent="-457200">
              <a:lnSpc>
                <a:spcPct val="108500"/>
              </a:lnSpc>
              <a:spcBef>
                <a:spcPts val="100"/>
              </a:spcBef>
            </a:pPr>
            <a:r>
              <a:rPr sz="3200" b="1" i="1" spc="-5" dirty="0">
                <a:latin typeface="Calibri"/>
                <a:cs typeface="Calibri"/>
              </a:rPr>
              <a:t>SELECT sName </a:t>
            </a:r>
            <a:r>
              <a:rPr sz="3200" b="1" i="1" dirty="0">
                <a:latin typeface="Calibri"/>
                <a:cs typeface="Calibri"/>
              </a:rPr>
              <a:t>FROM </a:t>
            </a:r>
            <a:r>
              <a:rPr sz="3200" b="1" i="1" spc="-5" dirty="0">
                <a:latin typeface="Calibri"/>
                <a:cs typeface="Calibri"/>
              </a:rPr>
              <a:t>Student  WHERE sID IN</a:t>
            </a:r>
            <a:endParaRPr sz="3200">
              <a:latin typeface="Calibri"/>
              <a:cs typeface="Calibri"/>
            </a:endParaRPr>
          </a:p>
          <a:p>
            <a:pPr marL="1384300" marR="2120265" indent="-457200">
              <a:lnSpc>
                <a:spcPts val="4300"/>
              </a:lnSpc>
              <a:spcBef>
                <a:spcPts val="120"/>
              </a:spcBef>
            </a:pPr>
            <a:r>
              <a:rPr sz="3200" b="1" i="1" spc="-5" dirty="0">
                <a:latin typeface="Calibri"/>
                <a:cs typeface="Calibri"/>
              </a:rPr>
              <a:t>(SELECT sID </a:t>
            </a:r>
            <a:r>
              <a:rPr sz="3200" b="1" i="1" dirty="0">
                <a:latin typeface="Calibri"/>
                <a:cs typeface="Calibri"/>
              </a:rPr>
              <a:t>FROM </a:t>
            </a:r>
            <a:r>
              <a:rPr sz="3200" b="1" i="1" spc="-5" dirty="0">
                <a:latin typeface="Calibri"/>
                <a:cs typeface="Calibri"/>
              </a:rPr>
              <a:t>Enrolment  WHERE mCode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140"/>
              </a:spcBef>
            </a:pPr>
            <a:r>
              <a:rPr sz="3200" b="1" i="1" spc="-5" dirty="0">
                <a:latin typeface="Calibri"/>
                <a:cs typeface="Calibri"/>
              </a:rPr>
              <a:t>(SELECT mCode </a:t>
            </a:r>
            <a:r>
              <a:rPr sz="3200" b="1" i="1" dirty="0">
                <a:latin typeface="Calibri"/>
                <a:cs typeface="Calibri"/>
              </a:rPr>
              <a:t>FROM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Enrolment</a:t>
            </a:r>
            <a:endParaRPr sz="3200">
              <a:latin typeface="Calibri"/>
              <a:cs typeface="Calibri"/>
            </a:endParaRPr>
          </a:p>
          <a:p>
            <a:pPr marL="2298700">
              <a:lnSpc>
                <a:spcPct val="100000"/>
              </a:lnSpc>
              <a:spcBef>
                <a:spcPts val="360"/>
              </a:spcBef>
            </a:pPr>
            <a:r>
              <a:rPr sz="3200" b="1" i="1" spc="-5" dirty="0">
                <a:latin typeface="Calibri"/>
                <a:cs typeface="Calibri"/>
              </a:rPr>
              <a:t>WHERE sID</a:t>
            </a:r>
            <a:r>
              <a:rPr sz="3200" b="1" i="1" dirty="0">
                <a:latin typeface="Calibri"/>
                <a:cs typeface="Calibri"/>
              </a:rPr>
              <a:t> =</a:t>
            </a:r>
            <a:endParaRPr sz="3200">
              <a:latin typeface="Calibri"/>
              <a:cs typeface="Calibri"/>
            </a:endParaRPr>
          </a:p>
          <a:p>
            <a:pPr marL="3213100" marR="5080" indent="-457200">
              <a:lnSpc>
                <a:spcPts val="4300"/>
              </a:lnSpc>
              <a:spcBef>
                <a:spcPts val="120"/>
              </a:spcBef>
            </a:pPr>
            <a:r>
              <a:rPr sz="3200" b="1" i="1" spc="-5" dirty="0">
                <a:latin typeface="Calibri"/>
                <a:cs typeface="Calibri"/>
              </a:rPr>
              <a:t>(SELECT sID </a:t>
            </a:r>
            <a:r>
              <a:rPr sz="3200" b="1" i="1" dirty="0">
                <a:latin typeface="Calibri"/>
                <a:cs typeface="Calibri"/>
              </a:rPr>
              <a:t>FROM </a:t>
            </a:r>
            <a:r>
              <a:rPr sz="3200" b="1" i="1" spc="-5" dirty="0">
                <a:latin typeface="Calibri"/>
                <a:cs typeface="Calibri"/>
              </a:rPr>
              <a:t>Student  WHERE sName </a:t>
            </a:r>
            <a:r>
              <a:rPr sz="3200" b="1" i="1" dirty="0">
                <a:latin typeface="Calibri"/>
                <a:cs typeface="Calibri"/>
              </a:rPr>
              <a:t>=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“Evans”)));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9914" y="462383"/>
            <a:ext cx="48901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 smtClean="0"/>
              <a:t>Example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1234664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Words>2725</Words>
  <Application>Microsoft Macintosh PowerPoint</Application>
  <PresentationFormat>Экран (4:3)</PresentationFormat>
  <Paragraphs>994</Paragraphs>
  <Slides>73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73</vt:i4>
      </vt:variant>
    </vt:vector>
  </HeadingPairs>
  <TitlesOfParts>
    <vt:vector size="74" baseType="lpstr">
      <vt:lpstr>Тема Office</vt:lpstr>
      <vt:lpstr>Data manipulation Language foundation, basic SQL overview, principles of data manipulation </vt:lpstr>
      <vt:lpstr>This Lecture</vt:lpstr>
      <vt:lpstr>Example Tables </vt:lpstr>
      <vt:lpstr>SQL SELECT</vt:lpstr>
      <vt:lpstr>Simple SELECT</vt:lpstr>
      <vt:lpstr>Sample SELECTs</vt:lpstr>
      <vt:lpstr>Sample SELECTs</vt:lpstr>
      <vt:lpstr>Sample SELECTs</vt:lpstr>
      <vt:lpstr>Sample SELECTs</vt:lpstr>
      <vt:lpstr>Sample SELECTs</vt:lpstr>
      <vt:lpstr>SQL SELECT Overview </vt:lpstr>
      <vt:lpstr>Example Tables</vt:lpstr>
      <vt:lpstr>DISTINCT </vt:lpstr>
      <vt:lpstr>WHERE Clauses</vt:lpstr>
      <vt:lpstr>WHERE Examples</vt:lpstr>
      <vt:lpstr>WHERE Examples</vt:lpstr>
      <vt:lpstr>WHERE Examples</vt:lpstr>
      <vt:lpstr>Solution</vt:lpstr>
      <vt:lpstr>WHERE Examples</vt:lpstr>
      <vt:lpstr>Solution</vt:lpstr>
      <vt:lpstr>BETWEEN AND</vt:lpstr>
      <vt:lpstr>WHERE Examples</vt:lpstr>
      <vt:lpstr>WHERE Examples</vt:lpstr>
      <vt:lpstr>Solution</vt:lpstr>
      <vt:lpstr>SELECT from Multiple Tables</vt:lpstr>
      <vt:lpstr>SELECT from Multiple Tables</vt:lpstr>
      <vt:lpstr>SELECT from Multiple Tables</vt:lpstr>
      <vt:lpstr>SELECT from Multiple Tables</vt:lpstr>
      <vt:lpstr>SELECT from Multiple Tables</vt:lpstr>
      <vt:lpstr>SELECT from Multiple Tables</vt:lpstr>
      <vt:lpstr>SELECT from Multiple Tables</vt:lpstr>
      <vt:lpstr>SELECT from Multiple Tables</vt:lpstr>
      <vt:lpstr>Data table selection, data filtering, ordering of output data</vt:lpstr>
      <vt:lpstr>This Lecture</vt:lpstr>
      <vt:lpstr>Aliases</vt:lpstr>
      <vt:lpstr>Alias Example</vt:lpstr>
      <vt:lpstr>Alias Example</vt:lpstr>
      <vt:lpstr>Aliases and ‘Self-Joins’</vt:lpstr>
      <vt:lpstr>Aliases and ‘Self-Joins’</vt:lpstr>
      <vt:lpstr>Aliases and ‘Self-Joins’</vt:lpstr>
      <vt:lpstr>Aliases and ‘Self-Joins’</vt:lpstr>
      <vt:lpstr>Aliases and ‘Self-Joins’</vt:lpstr>
      <vt:lpstr>The SQL WHERE Clause</vt:lpstr>
      <vt:lpstr>Operators in The WHERE Clause</vt:lpstr>
      <vt:lpstr>Subqueries</vt:lpstr>
      <vt:lpstr>Subqueries</vt:lpstr>
      <vt:lpstr>Subqueries</vt:lpstr>
      <vt:lpstr>IN</vt:lpstr>
      <vt:lpstr>IN</vt:lpstr>
      <vt:lpstr>IN</vt:lpstr>
      <vt:lpstr>NOT IN</vt:lpstr>
      <vt:lpstr>NOT IN</vt:lpstr>
      <vt:lpstr>EXISTS</vt:lpstr>
      <vt:lpstr>EXISTS</vt:lpstr>
      <vt:lpstr>EXISTS</vt:lpstr>
      <vt:lpstr>EXISTS</vt:lpstr>
      <vt:lpstr>EXISTS</vt:lpstr>
      <vt:lpstr>ANY and ALL</vt:lpstr>
      <vt:lpstr>ALL</vt:lpstr>
      <vt:lpstr>ALL</vt:lpstr>
      <vt:lpstr>ANY</vt:lpstr>
      <vt:lpstr>ANY</vt:lpstr>
      <vt:lpstr>Word Search</vt:lpstr>
      <vt:lpstr>LIKE</vt:lpstr>
      <vt:lpstr>LIKE</vt:lpstr>
      <vt:lpstr>SQL ORDER BY</vt:lpstr>
      <vt:lpstr>Презентация PowerPoint</vt:lpstr>
      <vt:lpstr>Презентация PowerPoint</vt:lpstr>
      <vt:lpstr>Презентация PowerPoint</vt:lpstr>
      <vt:lpstr>Example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Markov Models and Probabilistic Parsers</dc:title>
  <dc:creator>Michael</dc:creator>
  <cp:lastModifiedBy>Assel Syrymbayeva</cp:lastModifiedBy>
  <cp:revision>36</cp:revision>
  <dcterms:created xsi:type="dcterms:W3CDTF">2016-09-27T05:07:12Z</dcterms:created>
  <dcterms:modified xsi:type="dcterms:W3CDTF">2025-09-22T03:38:57Z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2016-09-27T00:00:00Z</vt:filetime>
  </property>
</Properties>
</file>