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99" r:id="rId9"/>
    <p:sldId id="262" r:id="rId10"/>
    <p:sldId id="294" r:id="rId11"/>
    <p:sldId id="295" r:id="rId12"/>
    <p:sldId id="263" r:id="rId13"/>
    <p:sldId id="264" r:id="rId14"/>
    <p:sldId id="265" r:id="rId15"/>
    <p:sldId id="266" r:id="rId16"/>
    <p:sldId id="267" r:id="rId17"/>
    <p:sldId id="268" r:id="rId18"/>
    <p:sldId id="272" r:id="rId19"/>
    <p:sldId id="301" r:id="rId20"/>
    <p:sldId id="273" r:id="rId21"/>
    <p:sldId id="274" r:id="rId22"/>
    <p:sldId id="276" r:id="rId23"/>
    <p:sldId id="277" r:id="rId24"/>
    <p:sldId id="278" r:id="rId25"/>
    <p:sldId id="279" r:id="rId26"/>
    <p:sldId id="280" r:id="rId27"/>
    <p:sldId id="282" r:id="rId28"/>
    <p:sldId id="275" r:id="rId29"/>
    <p:sldId id="283" r:id="rId30"/>
    <p:sldId id="284" r:id="rId31"/>
    <p:sldId id="287" r:id="rId32"/>
    <p:sldId id="297" r:id="rId33"/>
    <p:sldId id="298" r:id="rId34"/>
    <p:sldId id="288" r:id="rId35"/>
    <p:sldId id="296" r:id="rId36"/>
    <p:sldId id="291" r:id="rId37"/>
    <p:sldId id="293" r:id="rId38"/>
    <p:sldId id="300" r:id="rId39"/>
  </p:sldIdLst>
  <p:sldSz cx="12192000" cy="6858000"/>
  <p:notesSz cx="12192000" cy="6858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kendir B. Erdaly" userId="S::y_yerdaly@kbtu.kz::fafac7a8-d08b-48d6-b6c7-aab7a358760a" providerId="AD" clId="Web-{BA9EEF6D-8CD1-49C1-4E22-25B76B6CAFFB}"/>
    <pc:docChg chg="delSld modSld">
      <pc:chgData name="Eskendir B. Erdaly" userId="S::y_yerdaly@kbtu.kz::fafac7a8-d08b-48d6-b6c7-aab7a358760a" providerId="AD" clId="Web-{BA9EEF6D-8CD1-49C1-4E22-25B76B6CAFFB}" dt="2024-10-23T06:30:38.940" v="3" actId="1076"/>
      <pc:docMkLst>
        <pc:docMk/>
      </pc:docMkLst>
      <pc:sldChg chg="modSp">
        <pc:chgData name="Eskendir B. Erdaly" userId="S::y_yerdaly@kbtu.kz::fafac7a8-d08b-48d6-b6c7-aab7a358760a" providerId="AD" clId="Web-{BA9EEF6D-8CD1-49C1-4E22-25B76B6CAFFB}" dt="2024-10-23T06:30:38.940" v="3" actId="1076"/>
        <pc:sldMkLst>
          <pc:docMk/>
          <pc:sldMk cId="49193803" sldId="296"/>
        </pc:sldMkLst>
        <pc:picChg chg="mod">
          <ac:chgData name="Eskendir B. Erdaly" userId="S::y_yerdaly@kbtu.kz::fafac7a8-d08b-48d6-b6c7-aab7a358760a" providerId="AD" clId="Web-{BA9EEF6D-8CD1-49C1-4E22-25B76B6CAFFB}" dt="2024-10-23T06:30:38.940" v="3" actId="1076"/>
          <ac:picMkLst>
            <pc:docMk/>
            <pc:sldMk cId="49193803" sldId="296"/>
            <ac:picMk id="7" creationId="{04146273-771B-2DDF-B88C-C743A2941C97}"/>
          </ac:picMkLst>
        </pc:picChg>
      </pc:sldChg>
      <pc:sldChg chg="modSp">
        <pc:chgData name="Eskendir B. Erdaly" userId="S::y_yerdaly@kbtu.kz::fafac7a8-d08b-48d6-b6c7-aab7a358760a" providerId="AD" clId="Web-{BA9EEF6D-8CD1-49C1-4E22-25B76B6CAFFB}" dt="2024-10-23T06:27:45.053" v="2" actId="1076"/>
        <pc:sldMkLst>
          <pc:docMk/>
          <pc:sldMk cId="3893482994" sldId="297"/>
        </pc:sldMkLst>
        <pc:spChg chg="mod">
          <ac:chgData name="Eskendir B. Erdaly" userId="S::y_yerdaly@kbtu.kz::fafac7a8-d08b-48d6-b6c7-aab7a358760a" providerId="AD" clId="Web-{BA9EEF6D-8CD1-49C1-4E22-25B76B6CAFFB}" dt="2024-10-23T06:27:30.130" v="1" actId="14100"/>
          <ac:spMkLst>
            <pc:docMk/>
            <pc:sldMk cId="3893482994" sldId="297"/>
            <ac:spMk id="3" creationId="{38801CB3-9820-820E-5A07-C0712FC2EA69}"/>
          </ac:spMkLst>
        </pc:spChg>
        <pc:picChg chg="mod">
          <ac:chgData name="Eskendir B. Erdaly" userId="S::y_yerdaly@kbtu.kz::fafac7a8-d08b-48d6-b6c7-aab7a358760a" providerId="AD" clId="Web-{BA9EEF6D-8CD1-49C1-4E22-25B76B6CAFFB}" dt="2024-10-23T06:27:45.053" v="2" actId="1076"/>
          <ac:picMkLst>
            <pc:docMk/>
            <pc:sldMk cId="3893482994" sldId="297"/>
            <ac:picMk id="5" creationId="{86644E12-5AE6-AEF2-A072-C5D1F5C5AAAE}"/>
          </ac:picMkLst>
        </pc:picChg>
      </pc:sldChg>
      <pc:sldChg chg="del">
        <pc:chgData name="Eskendir B. Erdaly" userId="S::y_yerdaly@kbtu.kz::fafac7a8-d08b-48d6-b6c7-aab7a358760a" providerId="AD" clId="Web-{BA9EEF6D-8CD1-49C1-4E22-25B76B6CAFFB}" dt="2024-10-23T06:27:05.987" v="0"/>
        <pc:sldMkLst>
          <pc:docMk/>
          <pc:sldMk cId="4026886006" sldId="301"/>
        </pc:sldMkLst>
      </pc:sldChg>
    </pc:docChg>
  </pc:docChgLst>
  <pc:docChgLst>
    <pc:chgData name="Karakoz Nurgaliyeva" userId="S::k_nurgaliyeva@kbtu.kz::4e9ebea3-12b1-4b48-b1ef-e7d832b112d1" providerId="AD" clId="Web-{E0EB3FCA-CE86-A808-4927-C9303DEF4AE2}"/>
    <pc:docChg chg="addSld">
      <pc:chgData name="Karakoz Nurgaliyeva" userId="S::k_nurgaliyeva@kbtu.kz::4e9ebea3-12b1-4b48-b1ef-e7d832b112d1" providerId="AD" clId="Web-{E0EB3FCA-CE86-A808-4927-C9303DEF4AE2}" dt="2024-12-03T11:41:26.053" v="0"/>
      <pc:docMkLst>
        <pc:docMk/>
      </pc:docMkLst>
      <pc:sldChg chg="new">
        <pc:chgData name="Karakoz Nurgaliyeva" userId="S::k_nurgaliyeva@kbtu.kz::4e9ebea3-12b1-4b48-b1ef-e7d832b112d1" providerId="AD" clId="Web-{E0EB3FCA-CE86-A808-4927-C9303DEF4AE2}" dt="2024-12-03T11:41:26.053" v="0"/>
        <pc:sldMkLst>
          <pc:docMk/>
          <pc:sldMk cId="1681431604" sldId="301"/>
        </pc:sldMkLst>
      </pc:sldChg>
    </pc:docChg>
  </pc:docChgLst>
  <pc:docChgLst>
    <pc:chgData name="Karakoz Nurgaliyeva" userId="S::k_nurgaliyeva@kbtu.kz::4e9ebea3-12b1-4b48-b1ef-e7d832b112d1" providerId="AD" clId="Web-{71D6415C-2AFD-02EA-0E44-870F98B9EBCB}"/>
    <pc:docChg chg="addSld">
      <pc:chgData name="Karakoz Nurgaliyeva" userId="S::k_nurgaliyeva@kbtu.kz::4e9ebea3-12b1-4b48-b1ef-e7d832b112d1" providerId="AD" clId="Web-{71D6415C-2AFD-02EA-0E44-870F98B9EBCB}" dt="2024-10-16T14:56:14.410" v="0"/>
      <pc:docMkLst>
        <pc:docMk/>
      </pc:docMkLst>
      <pc:sldChg chg="new">
        <pc:chgData name="Karakoz Nurgaliyeva" userId="S::k_nurgaliyeva@kbtu.kz::4e9ebea3-12b1-4b48-b1ef-e7d832b112d1" providerId="AD" clId="Web-{71D6415C-2AFD-02EA-0E44-870F98B9EBCB}" dt="2024-10-16T14:56:14.410" v="0"/>
        <pc:sldMkLst>
          <pc:docMk/>
          <pc:sldMk cId="4026886006" sldId="301"/>
        </pc:sldMkLst>
      </pc:sldChg>
    </pc:docChg>
  </pc:docChgLst>
  <pc:docChgLst>
    <pc:chgData name="Kundyz Abibulla" userId="S::k_abibulla@kbtu.kz::0f358c37-ca05-489c-8877-482f8a5ecf50" providerId="AD" clId="Web-{AA56BF81-4DE2-2031-0B95-B856421EB09A}"/>
    <pc:docChg chg="modSld">
      <pc:chgData name="Kundyz Abibulla" userId="S::k_abibulla@kbtu.kz::0f358c37-ca05-489c-8877-482f8a5ecf50" providerId="AD" clId="Web-{AA56BF81-4DE2-2031-0B95-B856421EB09A}" dt="2024-10-31T07:20:57.537" v="1" actId="1076"/>
      <pc:docMkLst>
        <pc:docMk/>
      </pc:docMkLst>
      <pc:sldChg chg="modSp">
        <pc:chgData name="Kundyz Abibulla" userId="S::k_abibulla@kbtu.kz::0f358c37-ca05-489c-8877-482f8a5ecf50" providerId="AD" clId="Web-{AA56BF81-4DE2-2031-0B95-B856421EB09A}" dt="2024-10-31T07:20:57.537" v="1" actId="1076"/>
        <pc:sldMkLst>
          <pc:docMk/>
          <pc:sldMk cId="0" sldId="262"/>
        </pc:sldMkLst>
        <pc:picChg chg="mod">
          <ac:chgData name="Kundyz Abibulla" userId="S::k_abibulla@kbtu.kz::0f358c37-ca05-489c-8877-482f8a5ecf50" providerId="AD" clId="Web-{AA56BF81-4DE2-2031-0B95-B856421EB09A}" dt="2024-10-31T07:20:57.537" v="1" actId="1076"/>
          <ac:picMkLst>
            <pc:docMk/>
            <pc:sldMk cId="0" sldId="262"/>
            <ac:picMk id="5" creationId="{A08DF21E-76C3-D0A0-F4E2-9736758377FC}"/>
          </ac:picMkLst>
        </pc:picChg>
      </pc:sldChg>
    </pc:docChg>
  </pc:docChgLst>
  <pc:docChgLst>
    <pc:chgData name="Nurislam Aliyev" userId="S::nu_aliyev@kbtu.kz::137dd93b-0efd-40f5-bd7b-54926f5d5363" providerId="AD" clId="Web-{60B4F4A7-95BB-6467-F03B-1099F36818D8}"/>
    <pc:docChg chg="modSld">
      <pc:chgData name="Nurislam Aliyev" userId="S::nu_aliyev@kbtu.kz::137dd93b-0efd-40f5-bd7b-54926f5d5363" providerId="AD" clId="Web-{60B4F4A7-95BB-6467-F03B-1099F36818D8}" dt="2024-10-16T13:37:06.779" v="10" actId="1076"/>
      <pc:docMkLst>
        <pc:docMk/>
      </pc:docMkLst>
      <pc:sldChg chg="modSp">
        <pc:chgData name="Nurislam Aliyev" userId="S::nu_aliyev@kbtu.kz::137dd93b-0efd-40f5-bd7b-54926f5d5363" providerId="AD" clId="Web-{60B4F4A7-95BB-6467-F03B-1099F36818D8}" dt="2024-10-16T13:16:13.196" v="1" actId="20577"/>
        <pc:sldMkLst>
          <pc:docMk/>
          <pc:sldMk cId="0" sldId="263"/>
        </pc:sldMkLst>
        <pc:spChg chg="mod">
          <ac:chgData name="Nurislam Aliyev" userId="S::nu_aliyev@kbtu.kz::137dd93b-0efd-40f5-bd7b-54926f5d5363" providerId="AD" clId="Web-{60B4F4A7-95BB-6467-F03B-1099F36818D8}" dt="2024-10-16T13:16:13.196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Nurislam Aliyev" userId="S::nu_aliyev@kbtu.kz::137dd93b-0efd-40f5-bd7b-54926f5d5363" providerId="AD" clId="Web-{60B4F4A7-95BB-6467-F03B-1099F36818D8}" dt="2024-10-16T13:19:08.416" v="5" actId="20577"/>
        <pc:sldMkLst>
          <pc:docMk/>
          <pc:sldMk cId="0" sldId="267"/>
        </pc:sldMkLst>
        <pc:spChg chg="mod">
          <ac:chgData name="Nurislam Aliyev" userId="S::nu_aliyev@kbtu.kz::137dd93b-0efd-40f5-bd7b-54926f5d5363" providerId="AD" clId="Web-{60B4F4A7-95BB-6467-F03B-1099F36818D8}" dt="2024-10-16T13:19:08.416" v="5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Nurislam Aliyev" userId="S::nu_aliyev@kbtu.kz::137dd93b-0efd-40f5-bd7b-54926f5d5363" providerId="AD" clId="Web-{60B4F4A7-95BB-6467-F03B-1099F36818D8}" dt="2024-10-16T13:23:39.503" v="7" actId="20577"/>
        <pc:sldMkLst>
          <pc:docMk/>
          <pc:sldMk cId="0" sldId="279"/>
        </pc:sldMkLst>
        <pc:spChg chg="mod">
          <ac:chgData name="Nurislam Aliyev" userId="S::nu_aliyev@kbtu.kz::137dd93b-0efd-40f5-bd7b-54926f5d5363" providerId="AD" clId="Web-{60B4F4A7-95BB-6467-F03B-1099F36818D8}" dt="2024-10-16T13:23:39.503" v="7" actId="20577"/>
          <ac:spMkLst>
            <pc:docMk/>
            <pc:sldMk cId="0" sldId="279"/>
            <ac:spMk id="3" creationId="{00000000-0000-0000-0000-000000000000}"/>
          </ac:spMkLst>
        </pc:spChg>
      </pc:sldChg>
      <pc:sldChg chg="modSp">
        <pc:chgData name="Nurislam Aliyev" userId="S::nu_aliyev@kbtu.kz::137dd93b-0efd-40f5-bd7b-54926f5d5363" providerId="AD" clId="Web-{60B4F4A7-95BB-6467-F03B-1099F36818D8}" dt="2024-10-16T13:29:06.748" v="8" actId="1076"/>
        <pc:sldMkLst>
          <pc:docMk/>
          <pc:sldMk cId="3893482994" sldId="297"/>
        </pc:sldMkLst>
        <pc:spChg chg="mod">
          <ac:chgData name="Nurislam Aliyev" userId="S::nu_aliyev@kbtu.kz::137dd93b-0efd-40f5-bd7b-54926f5d5363" providerId="AD" clId="Web-{60B4F4A7-95BB-6467-F03B-1099F36818D8}" dt="2024-10-16T13:29:06.748" v="8" actId="1076"/>
          <ac:spMkLst>
            <pc:docMk/>
            <pc:sldMk cId="3893482994" sldId="297"/>
            <ac:spMk id="3" creationId="{38801CB3-9820-820E-5A07-C0712FC2EA69}"/>
          </ac:spMkLst>
        </pc:spChg>
      </pc:sldChg>
      <pc:sldChg chg="modSp">
        <pc:chgData name="Nurislam Aliyev" userId="S::nu_aliyev@kbtu.kz::137dd93b-0efd-40f5-bd7b-54926f5d5363" providerId="AD" clId="Web-{60B4F4A7-95BB-6467-F03B-1099F36818D8}" dt="2024-10-16T13:37:06.779" v="10" actId="1076"/>
        <pc:sldMkLst>
          <pc:docMk/>
          <pc:sldMk cId="3021059196" sldId="300"/>
        </pc:sldMkLst>
        <pc:picChg chg="mod">
          <ac:chgData name="Nurislam Aliyev" userId="S::nu_aliyev@kbtu.kz::137dd93b-0efd-40f5-bd7b-54926f5d5363" providerId="AD" clId="Web-{60B4F4A7-95BB-6467-F03B-1099F36818D8}" dt="2024-10-16T13:37:06.779" v="10" actId="1076"/>
          <ac:picMkLst>
            <pc:docMk/>
            <pc:sldMk cId="3021059196" sldId="300"/>
            <ac:picMk id="5" creationId="{80982C9A-34A3-4147-C8D8-86E952C3D642}"/>
          </ac:picMkLst>
        </pc:picChg>
      </pc:sldChg>
    </pc:docChg>
  </pc:docChgLst>
  <pc:docChgLst>
    <pc:chgData name="Yersultan Abdikhamitov" userId="S::y_abdikhamitov@kbtu.kz::8625acd7-eb89-4e4e-8945-1c2d44f6e65e" providerId="AD" clId="Web-{57CE5CC1-59D2-4EA4-47C8-D09AE2A6C0F6}"/>
    <pc:docChg chg="modSld">
      <pc:chgData name="Yersultan Abdikhamitov" userId="S::y_abdikhamitov@kbtu.kz::8625acd7-eb89-4e4e-8945-1c2d44f6e65e" providerId="AD" clId="Web-{57CE5CC1-59D2-4EA4-47C8-D09AE2A6C0F6}" dt="2024-12-03T18:41:55.344" v="1" actId="1076"/>
      <pc:docMkLst>
        <pc:docMk/>
      </pc:docMkLst>
      <pc:sldChg chg="modSp">
        <pc:chgData name="Yersultan Abdikhamitov" userId="S::y_abdikhamitov@kbtu.kz::8625acd7-eb89-4e4e-8945-1c2d44f6e65e" providerId="AD" clId="Web-{57CE5CC1-59D2-4EA4-47C8-D09AE2A6C0F6}" dt="2024-12-03T18:33:53.955" v="0" actId="14100"/>
        <pc:sldMkLst>
          <pc:docMk/>
          <pc:sldMk cId="0" sldId="267"/>
        </pc:sldMkLst>
        <pc:spChg chg="mod">
          <ac:chgData name="Yersultan Abdikhamitov" userId="S::y_abdikhamitov@kbtu.kz::8625acd7-eb89-4e4e-8945-1c2d44f6e65e" providerId="AD" clId="Web-{57CE5CC1-59D2-4EA4-47C8-D09AE2A6C0F6}" dt="2024-12-03T18:33:53.955" v="0" actId="14100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Yersultan Abdikhamitov" userId="S::y_abdikhamitov@kbtu.kz::8625acd7-eb89-4e4e-8945-1c2d44f6e65e" providerId="AD" clId="Web-{57CE5CC1-59D2-4EA4-47C8-D09AE2A6C0F6}" dt="2024-12-03T18:41:55.344" v="1" actId="1076"/>
        <pc:sldMkLst>
          <pc:docMk/>
          <pc:sldMk cId="0" sldId="284"/>
        </pc:sldMkLst>
        <pc:spChg chg="mod">
          <ac:chgData name="Yersultan Abdikhamitov" userId="S::y_abdikhamitov@kbtu.kz::8625acd7-eb89-4e4e-8945-1c2d44f6e65e" providerId="AD" clId="Web-{57CE5CC1-59D2-4EA4-47C8-D09AE2A6C0F6}" dt="2024-12-03T18:41:55.344" v="1" actId="1076"/>
          <ac:spMkLst>
            <pc:docMk/>
            <pc:sldMk cId="0" sldId="284"/>
            <ac:spMk id="3" creationId="{00000000-0000-0000-0000-000000000000}"/>
          </ac:spMkLst>
        </pc:spChg>
      </pc:sldChg>
    </pc:docChg>
  </pc:docChgLst>
  <pc:docChgLst>
    <pc:chgData name="Yerassyl Tasbolat" userId="S::y_tasbolat@kbtu.kz::30556b9b-e33c-4c32-9053-714e2a43a560" providerId="AD" clId="Web-{DF248139-385A-8CAC-80D5-8A78527B1EDB}"/>
    <pc:docChg chg="sldOrd">
      <pc:chgData name="Yerassyl Tasbolat" userId="S::y_tasbolat@kbtu.kz::30556b9b-e33c-4c32-9053-714e2a43a560" providerId="AD" clId="Web-{DF248139-385A-8CAC-80D5-8A78527B1EDB}" dt="2024-10-23T05:24:00.408" v="0"/>
      <pc:docMkLst>
        <pc:docMk/>
      </pc:docMkLst>
      <pc:sldChg chg="ord">
        <pc:chgData name="Yerassyl Tasbolat" userId="S::y_tasbolat@kbtu.kz::30556b9b-e33c-4c32-9053-714e2a43a560" providerId="AD" clId="Web-{DF248139-385A-8CAC-80D5-8A78527B1EDB}" dt="2024-10-23T05:24:00.408" v="0"/>
        <pc:sldMkLst>
          <pc:docMk/>
          <pc:sldMk cId="0" sldId="275"/>
        </pc:sldMkLst>
      </pc:sldChg>
    </pc:docChg>
  </pc:docChgLst>
  <pc:docChgLst>
    <pc:chgData name="Alikhan Marat" userId="S::al_marat@kbtu.kz::a50d91d2-6286-4486-92fb-0c9082a43786" providerId="AD" clId="Web-{AD55AE39-534D-110B-DD3F-46CA82DD7B75}"/>
    <pc:docChg chg="modSld">
      <pc:chgData name="Alikhan Marat" userId="S::al_marat@kbtu.kz::a50d91d2-6286-4486-92fb-0c9082a43786" providerId="AD" clId="Web-{AD55AE39-534D-110B-DD3F-46CA82DD7B75}" dt="2024-10-24T07:12:48.300" v="0" actId="1076"/>
      <pc:docMkLst>
        <pc:docMk/>
      </pc:docMkLst>
      <pc:sldChg chg="modSp">
        <pc:chgData name="Alikhan Marat" userId="S::al_marat@kbtu.kz::a50d91d2-6286-4486-92fb-0c9082a43786" providerId="AD" clId="Web-{AD55AE39-534D-110B-DD3F-46CA82DD7B75}" dt="2024-10-24T07:12:48.300" v="0" actId="1076"/>
        <pc:sldMkLst>
          <pc:docMk/>
          <pc:sldMk cId="3893482994" sldId="297"/>
        </pc:sldMkLst>
        <pc:picChg chg="mod">
          <ac:chgData name="Alikhan Marat" userId="S::al_marat@kbtu.kz::a50d91d2-6286-4486-92fb-0c9082a43786" providerId="AD" clId="Web-{AD55AE39-534D-110B-DD3F-46CA82DD7B75}" dt="2024-10-24T07:12:48.300" v="0" actId="1076"/>
          <ac:picMkLst>
            <pc:docMk/>
            <pc:sldMk cId="3893482994" sldId="297"/>
            <ac:picMk id="5" creationId="{86644E12-5AE6-AEF2-A072-C5D1F5C5AAAE}"/>
          </ac:picMkLst>
        </pc:picChg>
      </pc:sldChg>
    </pc:docChg>
  </pc:docChgLst>
  <pc:docChgLst>
    <pc:chgData name="Aidana Zholdasbekova" userId="S::a_zholdasbekova@kbtu.kz::b69cbcf8-1991-421c-b3ea-ec0690115384" providerId="AD" clId="Web-{633A75E1-3199-40DB-02B5-9F2D60FB033B}"/>
    <pc:docChg chg="addSld delSld">
      <pc:chgData name="Aidana Zholdasbekova" userId="S::a_zholdasbekova@kbtu.kz::b69cbcf8-1991-421c-b3ea-ec0690115384" providerId="AD" clId="Web-{633A75E1-3199-40DB-02B5-9F2D60FB033B}" dt="2024-12-05T05:31:28.063" v="1"/>
      <pc:docMkLst>
        <pc:docMk/>
      </pc:docMkLst>
      <pc:sldChg chg="add del">
        <pc:chgData name="Aidana Zholdasbekova" userId="S::a_zholdasbekova@kbtu.kz::b69cbcf8-1991-421c-b3ea-ec0690115384" providerId="AD" clId="Web-{633A75E1-3199-40DB-02B5-9F2D60FB033B}" dt="2024-12-05T05:31:28.063" v="1"/>
        <pc:sldMkLst>
          <pc:docMk/>
          <pc:sldMk cId="0" sldId="273"/>
        </pc:sldMkLst>
      </pc:sldChg>
    </pc:docChg>
  </pc:docChgLst>
  <pc:docChgLst>
    <pc:chgData name="Sholpan Saimassayeva" userId="2f0680d7c39be42d" providerId="LiveId" clId="{06BA2A3B-ADC7-4F95-89F9-B6C0751A18CD}"/>
    <pc:docChg chg="modSld">
      <pc:chgData name="Sholpan Saimassayeva" userId="2f0680d7c39be42d" providerId="LiveId" clId="{06BA2A3B-ADC7-4F95-89F9-B6C0751A18CD}" dt="2024-10-14T19:50:21.481" v="0" actId="20577"/>
      <pc:docMkLst>
        <pc:docMk/>
      </pc:docMkLst>
      <pc:sldChg chg="modSp mod">
        <pc:chgData name="Sholpan Saimassayeva" userId="2f0680d7c39be42d" providerId="LiveId" clId="{06BA2A3B-ADC7-4F95-89F9-B6C0751A18CD}" dt="2024-10-14T19:50:21.481" v="0" actId="20577"/>
        <pc:sldMkLst>
          <pc:docMk/>
          <pc:sldMk cId="0" sldId="256"/>
        </pc:sldMkLst>
        <pc:spChg chg="mod">
          <ac:chgData name="Sholpan Saimassayeva" userId="2f0680d7c39be42d" providerId="LiveId" clId="{06BA2A3B-ADC7-4F95-89F9-B6C0751A18CD}" dt="2024-10-14T19:50:21.481" v="0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2873" y="567435"/>
            <a:ext cx="2286253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09737" y="1673859"/>
            <a:ext cx="8772525" cy="2272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5"/>
              <a:t>Lecture</a:t>
            </a:r>
            <a:r>
              <a:rPr spc="-70"/>
              <a:t> </a:t>
            </a:r>
            <a:r>
              <a:rPr lang="en-US" spc="-70"/>
              <a:t>7</a:t>
            </a:r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07267" y="2438400"/>
            <a:ext cx="10177463" cy="238013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718820" marR="708025" indent="1301115" algn="l">
              <a:lnSpc>
                <a:spcPts val="4300"/>
              </a:lnSpc>
              <a:spcBef>
                <a:spcPts val="660"/>
              </a:spcBef>
            </a:pPr>
            <a:r>
              <a:rPr lang="en-US" spc="-5"/>
              <a:t>               </a:t>
            </a:r>
            <a:r>
              <a:rPr spc="-5"/>
              <a:t>JOINS. </a:t>
            </a:r>
            <a:r>
              <a:t> </a:t>
            </a:r>
            <a:endParaRPr lang="en-US"/>
          </a:p>
          <a:p>
            <a:pPr marL="718820" marR="708025" indent="1301115" algn="ctr">
              <a:lnSpc>
                <a:spcPts val="4300"/>
              </a:lnSpc>
              <a:spcBef>
                <a:spcPts val="660"/>
              </a:spcBef>
            </a:pPr>
            <a:r>
              <a:rPr spc="-5"/>
              <a:t>Inner</a:t>
            </a:r>
            <a:r>
              <a:rPr spc="-15"/>
              <a:t> </a:t>
            </a:r>
            <a:r>
              <a:rPr spc="-5"/>
              <a:t>Join.</a:t>
            </a:r>
            <a:r>
              <a:rPr spc="-20"/>
              <a:t> </a:t>
            </a:r>
            <a:r>
              <a:rPr spc="-5"/>
              <a:t>Full</a:t>
            </a:r>
            <a:r>
              <a:rPr spc="-20"/>
              <a:t> </a:t>
            </a:r>
            <a:r>
              <a:rPr spc="-5"/>
              <a:t>Join.</a:t>
            </a:r>
            <a:r>
              <a:rPr spc="-15"/>
              <a:t> </a:t>
            </a:r>
            <a:r>
              <a:rPr spc="-5"/>
              <a:t>Left</a:t>
            </a:r>
            <a:r>
              <a:rPr spc="-15"/>
              <a:t> </a:t>
            </a:r>
            <a:r>
              <a:rPr spc="-5"/>
              <a:t>Join.</a:t>
            </a:r>
          </a:p>
          <a:p>
            <a:pPr algn="ctr">
              <a:lnSpc>
                <a:spcPts val="3979"/>
              </a:lnSpc>
            </a:pPr>
            <a:r>
              <a:rPr spc="-10"/>
              <a:t>Right</a:t>
            </a:r>
            <a:r>
              <a:rPr spc="-5"/>
              <a:t> Join.</a:t>
            </a:r>
            <a:r>
              <a:rPr spc="-10"/>
              <a:t> </a:t>
            </a:r>
            <a:r>
              <a:rPr spc="-5"/>
              <a:t>Cross</a:t>
            </a:r>
            <a:r>
              <a:rPr spc="-15"/>
              <a:t> </a:t>
            </a:r>
            <a:r>
              <a:rPr spc="-5"/>
              <a:t>Join.</a:t>
            </a:r>
            <a:r>
              <a:rPr spc="-10"/>
              <a:t> </a:t>
            </a:r>
            <a:r>
              <a:rPr spc="-5"/>
              <a:t>Natural</a:t>
            </a:r>
            <a:r>
              <a:rPr spc="-15"/>
              <a:t> </a:t>
            </a:r>
            <a:r>
              <a:rPr spc="-5"/>
              <a:t>Join.</a:t>
            </a:r>
          </a:p>
          <a:p>
            <a:pPr marL="635" algn="ctr">
              <a:lnSpc>
                <a:spcPts val="4550"/>
              </a:lnSpc>
            </a:pPr>
            <a:r>
              <a:rPr spc="-5"/>
              <a:t>Self</a:t>
            </a:r>
            <a:r>
              <a:rPr spc="-35"/>
              <a:t> </a:t>
            </a:r>
            <a:r>
              <a:rPr spc="-5"/>
              <a:t>Join.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7090" y="1014476"/>
            <a:ext cx="4284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/>
              <a:t>PostgreSQL</a:t>
            </a:r>
            <a:r>
              <a:rPr sz="3600" spc="-140"/>
              <a:t> </a:t>
            </a:r>
            <a:r>
              <a:rPr sz="3600" spc="-5"/>
              <a:t>JOINS.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520677" y="2626867"/>
            <a:ext cx="8895080" cy="168084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"/>
              </a:spcBef>
            </a:pPr>
            <a:r>
              <a:rPr sz="3500" b="1" spc="-260">
                <a:latin typeface="Arial"/>
                <a:cs typeface="Arial"/>
              </a:rPr>
              <a:t>P</a:t>
            </a:r>
            <a:r>
              <a:rPr sz="3500" b="1" spc="-5">
                <a:latin typeface="Arial"/>
                <a:cs typeface="Arial"/>
              </a:rPr>
              <a:t>AR</a:t>
            </a:r>
            <a:r>
              <a:rPr sz="3500" b="1">
                <a:latin typeface="Arial"/>
                <a:cs typeface="Arial"/>
              </a:rPr>
              <a:t>T</a:t>
            </a:r>
            <a:r>
              <a:rPr sz="3500" b="1" spc="5">
                <a:latin typeface="Arial"/>
                <a:cs typeface="Arial"/>
              </a:rPr>
              <a:t> </a:t>
            </a:r>
            <a:r>
              <a:rPr sz="3500" b="1">
                <a:latin typeface="Arial"/>
                <a:cs typeface="Arial"/>
              </a:rPr>
              <a:t>I. </a:t>
            </a:r>
            <a:r>
              <a:rPr sz="3600" spc="225">
                <a:latin typeface="Verdana"/>
                <a:cs typeface="Verdana"/>
              </a:rPr>
              <a:t>P</a:t>
            </a:r>
            <a:r>
              <a:rPr sz="3600" spc="-190">
                <a:latin typeface="Verdana"/>
                <a:cs typeface="Verdana"/>
              </a:rPr>
              <a:t>o</a:t>
            </a:r>
            <a:r>
              <a:rPr sz="3600" spc="-285">
                <a:latin typeface="Verdana"/>
                <a:cs typeface="Verdana"/>
              </a:rPr>
              <a:t>s</a:t>
            </a:r>
            <a:r>
              <a:rPr sz="3600" spc="-220">
                <a:latin typeface="Verdana"/>
                <a:cs typeface="Verdana"/>
              </a:rPr>
              <a:t>t</a:t>
            </a:r>
            <a:r>
              <a:rPr sz="3600" spc="-250">
                <a:latin typeface="Verdana"/>
                <a:cs typeface="Verdana"/>
              </a:rPr>
              <a:t>g</a:t>
            </a:r>
            <a:r>
              <a:rPr sz="3600" spc="-340">
                <a:latin typeface="Verdana"/>
                <a:cs typeface="Verdana"/>
              </a:rPr>
              <a:t>r</a:t>
            </a:r>
            <a:r>
              <a:rPr sz="3600" spc="-150">
                <a:latin typeface="Verdana"/>
                <a:cs typeface="Verdana"/>
              </a:rPr>
              <a:t>e</a:t>
            </a:r>
            <a:r>
              <a:rPr sz="3600" spc="-65">
                <a:latin typeface="Verdana"/>
                <a:cs typeface="Verdana"/>
              </a:rPr>
              <a:t>S</a:t>
            </a:r>
            <a:r>
              <a:rPr sz="3600" spc="-40">
                <a:latin typeface="Verdana"/>
                <a:cs typeface="Verdana"/>
              </a:rPr>
              <a:t>Q</a:t>
            </a:r>
            <a:r>
              <a:rPr sz="3600" spc="-5">
                <a:latin typeface="Verdana"/>
                <a:cs typeface="Verdana"/>
              </a:rPr>
              <a:t>L</a:t>
            </a:r>
            <a:r>
              <a:rPr sz="3600" spc="-400">
                <a:latin typeface="Verdana"/>
                <a:cs typeface="Verdana"/>
              </a:rPr>
              <a:t> </a:t>
            </a:r>
            <a:r>
              <a:rPr sz="3600" spc="45">
                <a:latin typeface="Verdana"/>
                <a:cs typeface="Verdana"/>
              </a:rPr>
              <a:t>J</a:t>
            </a:r>
            <a:r>
              <a:rPr sz="3600" spc="75">
                <a:latin typeface="Verdana"/>
                <a:cs typeface="Verdana"/>
              </a:rPr>
              <a:t>O</a:t>
            </a:r>
            <a:r>
              <a:rPr sz="3600" spc="-520">
                <a:latin typeface="Verdana"/>
                <a:cs typeface="Verdana"/>
              </a:rPr>
              <a:t>I</a:t>
            </a:r>
            <a:r>
              <a:rPr sz="3600" spc="-95">
                <a:latin typeface="Verdana"/>
                <a:cs typeface="Verdana"/>
              </a:rPr>
              <a:t>N</a:t>
            </a:r>
            <a:r>
              <a:rPr sz="3600" spc="-65">
                <a:latin typeface="Verdana"/>
                <a:cs typeface="Verdana"/>
              </a:rPr>
              <a:t>S</a:t>
            </a:r>
            <a:r>
              <a:rPr sz="3600" spc="-310">
                <a:latin typeface="Verdana"/>
                <a:cs typeface="Verdana"/>
              </a:rPr>
              <a:t>.</a:t>
            </a:r>
            <a:r>
              <a:rPr sz="3600" spc="-270">
                <a:latin typeface="Verdana"/>
                <a:cs typeface="Verdana"/>
              </a:rPr>
              <a:t> </a:t>
            </a:r>
            <a:r>
              <a:rPr sz="3600" spc="-520">
                <a:latin typeface="Verdana"/>
                <a:cs typeface="Verdana"/>
              </a:rPr>
              <a:t>I</a:t>
            </a:r>
            <a:r>
              <a:rPr sz="3600" spc="-285">
                <a:latin typeface="Verdana"/>
                <a:cs typeface="Verdana"/>
              </a:rPr>
              <a:t>nn</a:t>
            </a:r>
            <a:r>
              <a:rPr sz="3600" spc="-150">
                <a:latin typeface="Verdana"/>
                <a:cs typeface="Verdana"/>
              </a:rPr>
              <a:t>e</a:t>
            </a:r>
            <a:r>
              <a:rPr sz="3600" spc="-340">
                <a:latin typeface="Verdana"/>
                <a:cs typeface="Verdana"/>
              </a:rPr>
              <a:t>r</a:t>
            </a:r>
            <a:r>
              <a:rPr sz="3600" spc="-265">
                <a:latin typeface="Verdana"/>
                <a:cs typeface="Verdana"/>
              </a:rPr>
              <a:t> </a:t>
            </a:r>
            <a:r>
              <a:rPr sz="3600" spc="-10">
                <a:latin typeface="Verdana"/>
                <a:cs typeface="Verdana"/>
              </a:rPr>
              <a:t>J</a:t>
            </a:r>
            <a:r>
              <a:rPr sz="3600" spc="-20">
                <a:latin typeface="Verdana"/>
                <a:cs typeface="Verdana"/>
              </a:rPr>
              <a:t>o</a:t>
            </a:r>
            <a:r>
              <a:rPr sz="3600" spc="-190">
                <a:latin typeface="Verdana"/>
                <a:cs typeface="Verdana"/>
              </a:rPr>
              <a:t>i</a:t>
            </a:r>
            <a:r>
              <a:rPr sz="3600" spc="-285">
                <a:latin typeface="Verdana"/>
                <a:cs typeface="Verdana"/>
              </a:rPr>
              <a:t>n</a:t>
            </a:r>
            <a:r>
              <a:rPr sz="3600" spc="-310">
                <a:latin typeface="Verdana"/>
                <a:cs typeface="Verdana"/>
              </a:rPr>
              <a:t>.</a:t>
            </a:r>
            <a:r>
              <a:rPr sz="3600" spc="-270">
                <a:latin typeface="Verdana"/>
                <a:cs typeface="Verdana"/>
              </a:rPr>
              <a:t> </a:t>
            </a:r>
            <a:r>
              <a:rPr sz="3600" spc="130">
                <a:latin typeface="Verdana"/>
                <a:cs typeface="Verdana"/>
              </a:rPr>
              <a:t>F</a:t>
            </a:r>
            <a:r>
              <a:rPr sz="3600" spc="-285">
                <a:latin typeface="Verdana"/>
                <a:cs typeface="Verdana"/>
              </a:rPr>
              <a:t>u</a:t>
            </a:r>
            <a:r>
              <a:rPr sz="3600" spc="-215">
                <a:latin typeface="Verdana"/>
                <a:cs typeface="Verdana"/>
              </a:rPr>
              <a:t>ll  </a:t>
            </a:r>
            <a:r>
              <a:rPr sz="3600" spc="-10">
                <a:latin typeface="Verdana"/>
                <a:cs typeface="Verdana"/>
              </a:rPr>
              <a:t>J</a:t>
            </a:r>
            <a:r>
              <a:rPr sz="3600" spc="-20">
                <a:latin typeface="Verdana"/>
                <a:cs typeface="Verdana"/>
              </a:rPr>
              <a:t>o</a:t>
            </a:r>
            <a:r>
              <a:rPr sz="3600" spc="-190">
                <a:latin typeface="Verdana"/>
                <a:cs typeface="Verdana"/>
              </a:rPr>
              <a:t>i</a:t>
            </a:r>
            <a:r>
              <a:rPr sz="3600" spc="-285">
                <a:latin typeface="Verdana"/>
                <a:cs typeface="Verdana"/>
              </a:rPr>
              <a:t>n</a:t>
            </a:r>
            <a:r>
              <a:rPr sz="3600" spc="-310">
                <a:latin typeface="Verdana"/>
                <a:cs typeface="Verdana"/>
              </a:rPr>
              <a:t>.</a:t>
            </a:r>
            <a:r>
              <a:rPr sz="3600" spc="-270">
                <a:latin typeface="Verdana"/>
                <a:cs typeface="Verdana"/>
              </a:rPr>
              <a:t> </a:t>
            </a:r>
            <a:r>
              <a:rPr sz="3600" spc="-10">
                <a:latin typeface="Verdana"/>
                <a:cs typeface="Verdana"/>
              </a:rPr>
              <a:t>L</a:t>
            </a:r>
            <a:r>
              <a:rPr sz="3600" spc="-150">
                <a:latin typeface="Verdana"/>
                <a:cs typeface="Verdana"/>
              </a:rPr>
              <a:t>e</a:t>
            </a:r>
            <a:r>
              <a:rPr sz="3600" spc="-275">
                <a:latin typeface="Verdana"/>
                <a:cs typeface="Verdana"/>
              </a:rPr>
              <a:t>f</a:t>
            </a:r>
            <a:r>
              <a:rPr sz="3600" spc="-420">
                <a:latin typeface="Verdana"/>
                <a:cs typeface="Verdana"/>
              </a:rPr>
              <a:t>t</a:t>
            </a:r>
            <a:r>
              <a:rPr sz="3600" spc="-270">
                <a:latin typeface="Verdana"/>
                <a:cs typeface="Verdana"/>
              </a:rPr>
              <a:t> </a:t>
            </a:r>
            <a:r>
              <a:rPr sz="3600" spc="-10">
                <a:latin typeface="Verdana"/>
                <a:cs typeface="Verdana"/>
              </a:rPr>
              <a:t>J</a:t>
            </a:r>
            <a:r>
              <a:rPr sz="3600" spc="-20">
                <a:latin typeface="Verdana"/>
                <a:cs typeface="Verdana"/>
              </a:rPr>
              <a:t>o</a:t>
            </a:r>
            <a:r>
              <a:rPr sz="3600" spc="-190">
                <a:latin typeface="Verdana"/>
                <a:cs typeface="Verdana"/>
              </a:rPr>
              <a:t>i</a:t>
            </a:r>
            <a:r>
              <a:rPr sz="3600" spc="-285">
                <a:latin typeface="Verdana"/>
                <a:cs typeface="Verdana"/>
              </a:rPr>
              <a:t>n</a:t>
            </a:r>
            <a:r>
              <a:rPr sz="3600" spc="-310">
                <a:latin typeface="Verdana"/>
                <a:cs typeface="Verdana"/>
              </a:rPr>
              <a:t>.</a:t>
            </a:r>
            <a:r>
              <a:rPr sz="3600" spc="-270">
                <a:latin typeface="Verdana"/>
                <a:cs typeface="Verdana"/>
              </a:rPr>
              <a:t> </a:t>
            </a:r>
            <a:r>
              <a:rPr sz="3600" spc="95">
                <a:latin typeface="Verdana"/>
                <a:cs typeface="Verdana"/>
              </a:rPr>
              <a:t>R</a:t>
            </a:r>
            <a:r>
              <a:rPr sz="3600" spc="-190">
                <a:latin typeface="Verdana"/>
                <a:cs typeface="Verdana"/>
              </a:rPr>
              <a:t>i</a:t>
            </a:r>
            <a:r>
              <a:rPr sz="3600" spc="-250">
                <a:latin typeface="Verdana"/>
                <a:cs typeface="Verdana"/>
              </a:rPr>
              <a:t>g</a:t>
            </a:r>
            <a:r>
              <a:rPr sz="3600" spc="-285">
                <a:latin typeface="Verdana"/>
                <a:cs typeface="Verdana"/>
              </a:rPr>
              <a:t>h</a:t>
            </a:r>
            <a:r>
              <a:rPr sz="3600" spc="-420">
                <a:latin typeface="Verdana"/>
                <a:cs typeface="Verdana"/>
              </a:rPr>
              <a:t>t</a:t>
            </a:r>
            <a:r>
              <a:rPr sz="3600" spc="-270">
                <a:latin typeface="Verdana"/>
                <a:cs typeface="Verdana"/>
              </a:rPr>
              <a:t> </a:t>
            </a:r>
            <a:r>
              <a:rPr sz="3600" spc="-10">
                <a:latin typeface="Verdana"/>
                <a:cs typeface="Verdana"/>
              </a:rPr>
              <a:t>J</a:t>
            </a:r>
            <a:r>
              <a:rPr sz="3600" spc="-20">
                <a:latin typeface="Verdana"/>
                <a:cs typeface="Verdana"/>
              </a:rPr>
              <a:t>o</a:t>
            </a:r>
            <a:r>
              <a:rPr sz="3600" spc="-190">
                <a:latin typeface="Verdana"/>
                <a:cs typeface="Verdana"/>
              </a:rPr>
              <a:t>i</a:t>
            </a:r>
            <a:r>
              <a:rPr sz="3600" spc="-285">
                <a:latin typeface="Verdana"/>
                <a:cs typeface="Verdana"/>
              </a:rPr>
              <a:t>n</a:t>
            </a:r>
            <a:r>
              <a:rPr sz="3600" spc="-310">
                <a:latin typeface="Verdana"/>
                <a:cs typeface="Verdana"/>
              </a:rPr>
              <a:t>.</a:t>
            </a:r>
            <a:endParaRPr sz="3600">
              <a:latin typeface="Verdana"/>
              <a:cs typeface="Verdana"/>
            </a:endParaRPr>
          </a:p>
          <a:p>
            <a:pPr marL="12700">
              <a:lnSpc>
                <a:spcPts val="4295"/>
              </a:lnSpc>
            </a:pPr>
            <a:r>
              <a:rPr sz="3500" b="1" spc="-70">
                <a:latin typeface="Arial"/>
                <a:cs typeface="Arial"/>
              </a:rPr>
              <a:t>PART</a:t>
            </a:r>
            <a:r>
              <a:rPr sz="3500" b="1" spc="5">
                <a:latin typeface="Arial"/>
                <a:cs typeface="Arial"/>
              </a:rPr>
              <a:t> </a:t>
            </a:r>
            <a:r>
              <a:rPr sz="3500" b="1">
                <a:latin typeface="Arial"/>
                <a:cs typeface="Arial"/>
              </a:rPr>
              <a:t>II.</a:t>
            </a:r>
            <a:r>
              <a:rPr sz="3500" b="1" spc="5">
                <a:latin typeface="Arial"/>
                <a:cs typeface="Arial"/>
              </a:rPr>
              <a:t> </a:t>
            </a:r>
            <a:r>
              <a:rPr sz="3600" spc="-120">
                <a:latin typeface="Verdana"/>
                <a:cs typeface="Verdana"/>
              </a:rPr>
              <a:t>Cross</a:t>
            </a:r>
            <a:r>
              <a:rPr sz="3600" spc="-265">
                <a:latin typeface="Verdana"/>
                <a:cs typeface="Verdana"/>
              </a:rPr>
              <a:t> </a:t>
            </a:r>
            <a:r>
              <a:rPr sz="3600" spc="-165">
                <a:latin typeface="Verdana"/>
                <a:cs typeface="Verdana"/>
              </a:rPr>
              <a:t>Join.</a:t>
            </a:r>
            <a:r>
              <a:rPr sz="3600" spc="-270">
                <a:latin typeface="Verdana"/>
                <a:cs typeface="Verdana"/>
              </a:rPr>
              <a:t> </a:t>
            </a:r>
            <a:r>
              <a:rPr sz="3600" spc="-240">
                <a:latin typeface="Verdana"/>
                <a:cs typeface="Verdana"/>
              </a:rPr>
              <a:t>Natural</a:t>
            </a:r>
            <a:r>
              <a:rPr sz="3600" spc="-265">
                <a:latin typeface="Verdana"/>
                <a:cs typeface="Verdana"/>
              </a:rPr>
              <a:t> </a:t>
            </a:r>
            <a:r>
              <a:rPr sz="3600" spc="-165">
                <a:latin typeface="Verdana"/>
                <a:cs typeface="Verdana"/>
              </a:rPr>
              <a:t>Join.</a:t>
            </a:r>
            <a:r>
              <a:rPr sz="3600" spc="-265">
                <a:latin typeface="Verdana"/>
                <a:cs typeface="Verdana"/>
              </a:rPr>
              <a:t> </a:t>
            </a:r>
            <a:r>
              <a:rPr sz="3600" spc="-170">
                <a:latin typeface="Verdana"/>
                <a:cs typeface="Verdana"/>
              </a:rPr>
              <a:t>Self</a:t>
            </a:r>
            <a:r>
              <a:rPr sz="3600" spc="-270">
                <a:latin typeface="Verdana"/>
                <a:cs typeface="Verdana"/>
              </a:rPr>
              <a:t> </a:t>
            </a:r>
            <a:r>
              <a:rPr sz="3600" spc="-165">
                <a:latin typeface="Verdana"/>
                <a:cs typeface="Verdana"/>
              </a:rPr>
              <a:t>Join.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846" y="2564892"/>
            <a:ext cx="9877425" cy="1293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z="4400" spc="-325"/>
              <a:t>P</a:t>
            </a:r>
            <a:r>
              <a:rPr sz="4400" spc="-5"/>
              <a:t>AR</a:t>
            </a:r>
            <a:r>
              <a:rPr sz="4400"/>
              <a:t>T</a:t>
            </a:r>
            <a:r>
              <a:rPr sz="4400" spc="5"/>
              <a:t> </a:t>
            </a:r>
            <a:r>
              <a:rPr sz="4400"/>
              <a:t>I.</a:t>
            </a:r>
            <a:r>
              <a:rPr sz="4400" spc="-5"/>
              <a:t> </a:t>
            </a:r>
            <a:r>
              <a:rPr sz="4400" b="0" spc="280">
                <a:latin typeface="Verdana"/>
                <a:cs typeface="Verdana"/>
              </a:rPr>
              <a:t>P</a:t>
            </a:r>
            <a:r>
              <a:rPr sz="4400" b="0" spc="-225">
                <a:latin typeface="Verdana"/>
                <a:cs typeface="Verdana"/>
              </a:rPr>
              <a:t>o</a:t>
            </a:r>
            <a:r>
              <a:rPr sz="4400" b="0" spc="-305">
                <a:latin typeface="Verdana"/>
                <a:cs typeface="Verdana"/>
              </a:rPr>
              <a:t>st</a:t>
            </a:r>
            <a:r>
              <a:rPr sz="4400" b="0" spc="-295">
                <a:latin typeface="Verdana"/>
                <a:cs typeface="Verdana"/>
              </a:rPr>
              <a:t>g</a:t>
            </a:r>
            <a:r>
              <a:rPr sz="4400" b="0" spc="-420">
                <a:latin typeface="Verdana"/>
                <a:cs typeface="Verdana"/>
              </a:rPr>
              <a:t>r</a:t>
            </a:r>
            <a:r>
              <a:rPr sz="4400" b="0" spc="-175">
                <a:latin typeface="Verdana"/>
                <a:cs typeface="Verdana"/>
              </a:rPr>
              <a:t>e</a:t>
            </a:r>
            <a:r>
              <a:rPr sz="4400" b="0" spc="-75">
                <a:latin typeface="Verdana"/>
                <a:cs typeface="Verdana"/>
              </a:rPr>
              <a:t>S</a:t>
            </a:r>
            <a:r>
              <a:rPr sz="4400" b="0" spc="-45">
                <a:latin typeface="Verdana"/>
                <a:cs typeface="Verdana"/>
              </a:rPr>
              <a:t>Q</a:t>
            </a:r>
            <a:r>
              <a:rPr sz="4400" b="0" spc="-5">
                <a:latin typeface="Verdana"/>
                <a:cs typeface="Verdana"/>
              </a:rPr>
              <a:t>L</a:t>
            </a:r>
            <a:r>
              <a:rPr sz="4400" b="0" spc="-484">
                <a:latin typeface="Verdana"/>
                <a:cs typeface="Verdana"/>
              </a:rPr>
              <a:t> </a:t>
            </a:r>
            <a:r>
              <a:rPr sz="4400" b="0" spc="75">
                <a:latin typeface="Verdana"/>
                <a:cs typeface="Verdana"/>
              </a:rPr>
              <a:t>JO</a:t>
            </a:r>
            <a:r>
              <a:rPr sz="4400" b="0" spc="-630">
                <a:latin typeface="Verdana"/>
                <a:cs typeface="Verdana"/>
              </a:rPr>
              <a:t>I</a:t>
            </a:r>
            <a:r>
              <a:rPr sz="4400" b="0" spc="-120">
                <a:latin typeface="Verdana"/>
                <a:cs typeface="Verdana"/>
              </a:rPr>
              <a:t>N</a:t>
            </a:r>
            <a:r>
              <a:rPr sz="4400" b="0" spc="-75">
                <a:latin typeface="Verdana"/>
                <a:cs typeface="Verdana"/>
              </a:rPr>
              <a:t>S</a:t>
            </a:r>
            <a:r>
              <a:rPr sz="4400" b="0" spc="-380">
                <a:latin typeface="Verdana"/>
                <a:cs typeface="Verdana"/>
              </a:rPr>
              <a:t>.</a:t>
            </a:r>
            <a:r>
              <a:rPr sz="4400" b="0" spc="-320">
                <a:latin typeface="Verdana"/>
                <a:cs typeface="Verdana"/>
              </a:rPr>
              <a:t> </a:t>
            </a:r>
            <a:r>
              <a:rPr sz="4400" b="0" spc="-630">
                <a:latin typeface="Verdana"/>
                <a:cs typeface="Verdana"/>
              </a:rPr>
              <a:t>I</a:t>
            </a:r>
            <a:r>
              <a:rPr sz="4400" b="0" spc="-340">
                <a:latin typeface="Verdana"/>
                <a:cs typeface="Verdana"/>
              </a:rPr>
              <a:t>nn</a:t>
            </a:r>
            <a:r>
              <a:rPr sz="4400" b="0" spc="-175">
                <a:latin typeface="Verdana"/>
                <a:cs typeface="Verdana"/>
              </a:rPr>
              <a:t>e</a:t>
            </a:r>
            <a:r>
              <a:rPr sz="4400" b="0" spc="-415">
                <a:latin typeface="Verdana"/>
                <a:cs typeface="Verdana"/>
              </a:rPr>
              <a:t>r</a:t>
            </a:r>
            <a:r>
              <a:rPr sz="4400" b="0" spc="-325">
                <a:latin typeface="Verdana"/>
                <a:cs typeface="Verdana"/>
              </a:rPr>
              <a:t> </a:t>
            </a:r>
            <a:r>
              <a:rPr sz="4400" b="0" spc="-15">
                <a:latin typeface="Verdana"/>
                <a:cs typeface="Verdana"/>
              </a:rPr>
              <a:t>Jo</a:t>
            </a:r>
            <a:r>
              <a:rPr sz="4400" b="0" spc="-235">
                <a:latin typeface="Verdana"/>
                <a:cs typeface="Verdana"/>
              </a:rPr>
              <a:t>i</a:t>
            </a:r>
            <a:r>
              <a:rPr sz="4400" b="0" spc="-340">
                <a:latin typeface="Verdana"/>
                <a:cs typeface="Verdana"/>
              </a:rPr>
              <a:t>n</a:t>
            </a:r>
            <a:r>
              <a:rPr sz="4400" b="0" spc="-370">
                <a:latin typeface="Verdana"/>
                <a:cs typeface="Verdana"/>
              </a:rPr>
              <a:t>.  </a:t>
            </a:r>
            <a:r>
              <a:rPr sz="4400" b="0" spc="150">
                <a:latin typeface="Verdana"/>
                <a:cs typeface="Verdana"/>
              </a:rPr>
              <a:t>F</a:t>
            </a:r>
            <a:r>
              <a:rPr sz="4400" b="0" spc="-340">
                <a:latin typeface="Verdana"/>
                <a:cs typeface="Verdana"/>
              </a:rPr>
              <a:t>u</a:t>
            </a:r>
            <a:r>
              <a:rPr sz="4400" b="0" spc="-235">
                <a:latin typeface="Verdana"/>
                <a:cs typeface="Verdana"/>
              </a:rPr>
              <a:t>l</a:t>
            </a:r>
            <a:r>
              <a:rPr sz="4400" b="0" spc="-229">
                <a:latin typeface="Verdana"/>
                <a:cs typeface="Verdana"/>
              </a:rPr>
              <a:t>l</a:t>
            </a:r>
            <a:r>
              <a:rPr sz="4400" b="0" spc="-325">
                <a:latin typeface="Verdana"/>
                <a:cs typeface="Verdana"/>
              </a:rPr>
              <a:t> </a:t>
            </a:r>
            <a:r>
              <a:rPr sz="4400" b="0" spc="-15">
                <a:latin typeface="Verdana"/>
                <a:cs typeface="Verdana"/>
              </a:rPr>
              <a:t>Jo</a:t>
            </a:r>
            <a:r>
              <a:rPr sz="4400" b="0" spc="-235">
                <a:latin typeface="Verdana"/>
                <a:cs typeface="Verdana"/>
              </a:rPr>
              <a:t>i</a:t>
            </a:r>
            <a:r>
              <a:rPr sz="4400" b="0" spc="-340">
                <a:latin typeface="Verdana"/>
                <a:cs typeface="Verdana"/>
              </a:rPr>
              <a:t>n</a:t>
            </a:r>
            <a:r>
              <a:rPr sz="4400" b="0" spc="-380">
                <a:latin typeface="Verdana"/>
                <a:cs typeface="Verdana"/>
              </a:rPr>
              <a:t>.</a:t>
            </a:r>
            <a:r>
              <a:rPr sz="4400" b="0" spc="-320">
                <a:latin typeface="Verdana"/>
                <a:cs typeface="Verdana"/>
              </a:rPr>
              <a:t> </a:t>
            </a:r>
            <a:r>
              <a:rPr sz="4400" b="0" spc="-5">
                <a:latin typeface="Verdana"/>
                <a:cs typeface="Verdana"/>
              </a:rPr>
              <a:t>L</a:t>
            </a:r>
            <a:r>
              <a:rPr sz="4400" b="0" spc="-175">
                <a:latin typeface="Verdana"/>
                <a:cs typeface="Verdana"/>
              </a:rPr>
              <a:t>e</a:t>
            </a:r>
            <a:r>
              <a:rPr sz="4400" b="0" spc="-325">
                <a:latin typeface="Verdana"/>
                <a:cs typeface="Verdana"/>
              </a:rPr>
              <a:t>f</a:t>
            </a:r>
            <a:r>
              <a:rPr sz="4400" b="0" spc="-515">
                <a:latin typeface="Verdana"/>
                <a:cs typeface="Verdana"/>
              </a:rPr>
              <a:t>t</a:t>
            </a:r>
            <a:r>
              <a:rPr sz="4400" b="0" spc="-320">
                <a:latin typeface="Verdana"/>
                <a:cs typeface="Verdana"/>
              </a:rPr>
              <a:t> </a:t>
            </a:r>
            <a:r>
              <a:rPr sz="4400" b="0" spc="-15">
                <a:latin typeface="Verdana"/>
                <a:cs typeface="Verdana"/>
              </a:rPr>
              <a:t>Jo</a:t>
            </a:r>
            <a:r>
              <a:rPr sz="4400" b="0" spc="-235">
                <a:latin typeface="Verdana"/>
                <a:cs typeface="Verdana"/>
              </a:rPr>
              <a:t>i</a:t>
            </a:r>
            <a:r>
              <a:rPr sz="4400" b="0" spc="-340">
                <a:latin typeface="Verdana"/>
                <a:cs typeface="Verdana"/>
              </a:rPr>
              <a:t>n</a:t>
            </a:r>
            <a:r>
              <a:rPr sz="4400" b="0" spc="-380">
                <a:latin typeface="Verdana"/>
                <a:cs typeface="Verdana"/>
              </a:rPr>
              <a:t>.</a:t>
            </a:r>
            <a:r>
              <a:rPr sz="4400" b="0" spc="-320">
                <a:latin typeface="Verdana"/>
                <a:cs typeface="Verdana"/>
              </a:rPr>
              <a:t> </a:t>
            </a:r>
            <a:r>
              <a:rPr sz="4400" b="0" spc="110">
                <a:latin typeface="Verdana"/>
                <a:cs typeface="Verdana"/>
              </a:rPr>
              <a:t>R</a:t>
            </a:r>
            <a:r>
              <a:rPr sz="4400" b="0" spc="-235">
                <a:latin typeface="Verdana"/>
                <a:cs typeface="Verdana"/>
              </a:rPr>
              <a:t>i</a:t>
            </a:r>
            <a:r>
              <a:rPr sz="4400" b="0" spc="-295">
                <a:latin typeface="Verdana"/>
                <a:cs typeface="Verdana"/>
              </a:rPr>
              <a:t>g</a:t>
            </a:r>
            <a:r>
              <a:rPr sz="4400" b="0" spc="-340">
                <a:latin typeface="Verdana"/>
                <a:cs typeface="Verdana"/>
              </a:rPr>
              <a:t>h</a:t>
            </a:r>
            <a:r>
              <a:rPr sz="4400" b="0" spc="-515">
                <a:latin typeface="Verdana"/>
                <a:cs typeface="Verdana"/>
              </a:rPr>
              <a:t>t</a:t>
            </a:r>
            <a:r>
              <a:rPr sz="4400" b="0" spc="-320">
                <a:latin typeface="Verdana"/>
                <a:cs typeface="Verdana"/>
              </a:rPr>
              <a:t> </a:t>
            </a:r>
            <a:r>
              <a:rPr sz="4400" b="0" spc="-15">
                <a:latin typeface="Verdana"/>
                <a:cs typeface="Verdana"/>
              </a:rPr>
              <a:t>Jo</a:t>
            </a:r>
            <a:r>
              <a:rPr sz="4400" b="0" spc="-235">
                <a:latin typeface="Verdana"/>
                <a:cs typeface="Verdana"/>
              </a:rPr>
              <a:t>i</a:t>
            </a:r>
            <a:r>
              <a:rPr sz="4400" b="0" spc="-340">
                <a:latin typeface="Verdana"/>
                <a:cs typeface="Verdana"/>
              </a:rPr>
              <a:t>n</a:t>
            </a:r>
            <a:r>
              <a:rPr sz="4400" b="0" spc="-380">
                <a:latin typeface="Verdana"/>
                <a:cs typeface="Verdana"/>
              </a:rPr>
              <a:t>.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8615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120"/>
              <a:t> </a:t>
            </a:r>
            <a:r>
              <a:rPr sz="4400" spc="-5"/>
              <a:t>Joins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10258425" cy="42564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95"/>
              </a:spcBef>
            </a:pPr>
            <a:r>
              <a:rPr sz="2500" spc="-5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b="1">
                <a:latin typeface="Arial"/>
                <a:cs typeface="Arial"/>
              </a:rPr>
              <a:t>SQL</a:t>
            </a:r>
            <a:r>
              <a:rPr sz="2500" b="1" spc="-45">
                <a:latin typeface="Arial"/>
                <a:cs typeface="Arial"/>
              </a:rPr>
              <a:t> </a:t>
            </a:r>
            <a:r>
              <a:rPr sz="2500" b="1" spc="-5">
                <a:latin typeface="Arial"/>
                <a:cs typeface="Arial"/>
              </a:rPr>
              <a:t>Join</a:t>
            </a:r>
            <a:r>
              <a:rPr sz="2500" b="1">
                <a:latin typeface="Arial"/>
                <a:cs typeface="Arial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clause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used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to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combine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data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from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two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or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more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in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database.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When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related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data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stored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across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multiple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tables,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joins </a:t>
            </a:r>
            <a:r>
              <a:rPr sz="2500" spc="-10">
                <a:latin typeface="Microsoft Sans Serif"/>
                <a:cs typeface="Microsoft Sans Serif"/>
              </a:rPr>
              <a:t> help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you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to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retrieve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records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combining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fields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from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these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using </a:t>
            </a:r>
            <a:r>
              <a:rPr sz="2500" spc="-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their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foreign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keys.</a:t>
            </a:r>
            <a:endParaRPr sz="2500">
              <a:latin typeface="Microsoft Sans Serif"/>
              <a:cs typeface="Microsoft Sans Serif"/>
            </a:endParaRPr>
          </a:p>
          <a:p>
            <a:pPr marL="12700" marR="2059305">
              <a:lnSpc>
                <a:spcPct val="246400"/>
              </a:lnSpc>
            </a:pPr>
            <a:r>
              <a:rPr sz="2500" spc="-15">
                <a:latin typeface="Microsoft Sans Serif"/>
                <a:cs typeface="Microsoft Sans Serif"/>
              </a:rPr>
              <a:t>Following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basic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syntax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of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b="1">
                <a:latin typeface="Arial"/>
                <a:cs typeface="Arial"/>
              </a:rPr>
              <a:t>SQL</a:t>
            </a:r>
            <a:r>
              <a:rPr sz="2500" b="1" spc="-45">
                <a:latin typeface="Arial"/>
                <a:cs typeface="Arial"/>
              </a:rPr>
              <a:t> </a:t>
            </a:r>
            <a:r>
              <a:rPr sz="2500" b="1">
                <a:latin typeface="Arial"/>
                <a:cs typeface="Arial"/>
              </a:rPr>
              <a:t>JOIN</a:t>
            </a:r>
            <a:r>
              <a:rPr sz="2500" b="1" spc="5">
                <a:latin typeface="Arial"/>
                <a:cs typeface="Arial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CLAUSE: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SELECT</a:t>
            </a:r>
            <a:r>
              <a:rPr sz="2500" spc="-2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column_name(s)</a:t>
            </a:r>
            <a:endParaRPr sz="2500">
              <a:latin typeface="Microsoft Sans Serif"/>
              <a:cs typeface="Microsoft Sans Serif"/>
            </a:endParaRPr>
          </a:p>
          <a:p>
            <a:pPr marL="12700" marR="8349615">
              <a:lnSpc>
                <a:spcPct val="123200"/>
              </a:lnSpc>
              <a:spcBef>
                <a:spcPts val="25"/>
              </a:spcBef>
            </a:pPr>
            <a:r>
              <a:rPr sz="2500" spc="-5">
                <a:latin typeface="Microsoft Sans Serif"/>
                <a:cs typeface="Microsoft Sans Serif"/>
              </a:rPr>
              <a:t>FROM </a:t>
            </a:r>
            <a:r>
              <a:rPr sz="2500" spc="-10">
                <a:latin typeface="Microsoft Sans Serif"/>
                <a:cs typeface="Microsoft Sans Serif"/>
              </a:rPr>
              <a:t>table1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JOIN</a:t>
            </a:r>
            <a:r>
              <a:rPr sz="2500" spc="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table2;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EA3873-F8B1-C7C7-CB54-22ED7A3E2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DF000E-6750-ACF8-BF05-98F564EC5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E0B877-6FB0-0D2A-5969-5EBCF7FC1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542925"/>
            <a:ext cx="1131570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999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8DF21E-76C3-D0A0-F4E2-973675837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29000"/>
            <a:ext cx="9012184" cy="30226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B50426-016B-72F6-AC27-D7A2A7C63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08" y="406350"/>
            <a:ext cx="6542448" cy="3022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B50426-016B-72F6-AC27-D7A2A7C63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354" y="228600"/>
            <a:ext cx="6542448" cy="30226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07253C-1A6B-98FD-B3EE-60C8CA940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83907"/>
            <a:ext cx="7848600" cy="316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9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2A005-DF63-5ACD-9211-24CACC53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567435"/>
            <a:ext cx="6324726" cy="1846659"/>
          </a:xfrm>
        </p:spPr>
        <p:txBody>
          <a:bodyPr/>
          <a:lstStyle/>
          <a:p>
            <a:pPr rtl="0"/>
            <a:r>
              <a:rPr kumimoji="0" lang="ru-KZ" altLang="ru-KZ" sz="4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br>
              <a:rPr kumimoji="0" lang="ru-KZ" altLang="ru-KZ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ru-KZ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865F12-7AB9-7716-CFEB-7EBFEB9B5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401045"/>
            <a:ext cx="9982200" cy="554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Specifies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want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passengers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you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are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querying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KZ" altLang="ru-KZ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passengers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booking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based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matching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condition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KZ" altLang="ru-KZ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Specifies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matching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passenger_id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in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both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KZ" altLang="ru-KZ" sz="3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tables</a:t>
            </a:r>
            <a:r>
              <a:rPr kumimoji="0" lang="ru-KZ" altLang="ru-KZ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ru-KZ" altLang="ru-KZ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KZ" altLang="ru-KZ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46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46716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The</a:t>
            </a:r>
            <a:r>
              <a:rPr spc="-25"/>
              <a:t> </a:t>
            </a:r>
            <a:r>
              <a:rPr spc="-5"/>
              <a:t>SQL</a:t>
            </a:r>
            <a:r>
              <a:rPr spc="-100"/>
              <a:t> </a:t>
            </a:r>
            <a:r>
              <a:rPr spc="-5"/>
              <a:t>Inner</a:t>
            </a:r>
            <a:r>
              <a:rPr spc="-20"/>
              <a:t> </a:t>
            </a:r>
            <a:r>
              <a:rPr spc="-5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9726295" cy="3957494"/>
          </a:xfrm>
          <a:prstGeom prst="rect">
            <a:avLst/>
          </a:prstGeom>
        </p:spPr>
        <p:txBody>
          <a:bodyPr vert="horz" wrap="square" lIns="0" tIns="50800" rIns="0" bIns="0" rtlCol="0" anchor="t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00"/>
              </a:spcBef>
            </a:pPr>
            <a:r>
              <a:rPr sz="2500" spc="-5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b="1">
                <a:latin typeface="Arial"/>
                <a:cs typeface="Arial"/>
              </a:rPr>
              <a:t>SQL</a:t>
            </a:r>
            <a:r>
              <a:rPr sz="2500" b="1" spc="-45">
                <a:latin typeface="Arial"/>
                <a:cs typeface="Arial"/>
              </a:rPr>
              <a:t> </a:t>
            </a:r>
            <a:r>
              <a:rPr sz="2500" b="1" spc="-5">
                <a:latin typeface="Arial"/>
                <a:cs typeface="Arial"/>
              </a:rPr>
              <a:t>Inner</a:t>
            </a:r>
            <a:r>
              <a:rPr sz="2500" b="1" spc="5">
                <a:latin typeface="Arial"/>
                <a:cs typeface="Arial"/>
              </a:rPr>
              <a:t> </a:t>
            </a:r>
            <a:r>
              <a:rPr sz="2500" b="1" spc="-5">
                <a:latin typeface="Arial"/>
                <a:cs typeface="Arial"/>
              </a:rPr>
              <a:t>Join</a:t>
            </a:r>
            <a:r>
              <a:rPr sz="2500" b="1">
                <a:latin typeface="Arial"/>
                <a:cs typeface="Arial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type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of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join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that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combines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multiple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by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retrieving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records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that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have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matching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values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in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both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(in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 </a:t>
            </a:r>
            <a:r>
              <a:rPr sz="2500" spc="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common</a:t>
            </a:r>
            <a:r>
              <a:rPr sz="2500" spc="2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column).</a:t>
            </a:r>
            <a:endParaRPr sz="2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>
              <a:latin typeface="Microsoft Sans Serif"/>
              <a:cs typeface="Microsoft Sans Serif"/>
            </a:endParaRPr>
          </a:p>
          <a:p>
            <a:pPr marL="12700" marR="3048635">
              <a:lnSpc>
                <a:spcPct val="123200"/>
              </a:lnSpc>
            </a:pPr>
            <a:r>
              <a:rPr sz="2500" spc="-15">
                <a:latin typeface="Microsoft Sans Serif"/>
                <a:cs typeface="Microsoft Sans Serif"/>
              </a:rPr>
              <a:t>Following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basic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syntax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of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SQL</a:t>
            </a:r>
            <a:r>
              <a:rPr sz="2500" spc="-6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Inner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Join: </a:t>
            </a:r>
            <a:endParaRPr lang="ru-RU" sz="2500">
              <a:latin typeface="Microsoft Sans Serif"/>
              <a:cs typeface="Microsoft Sans Serif"/>
            </a:endParaRPr>
          </a:p>
          <a:p>
            <a:pPr marL="12700" marR="3048635">
              <a:lnSpc>
                <a:spcPct val="123200"/>
              </a:lnSpc>
            </a:pPr>
            <a:r>
              <a:rPr lang="ru-RU" sz="2500" spc="-650">
                <a:latin typeface="Microsoft Sans Serif"/>
                <a:cs typeface="Microsoft Sans Serif"/>
              </a:rPr>
              <a:t> </a:t>
            </a:r>
            <a:r>
              <a:rPr sz="2500" spc="-5">
                <a:latin typeface="Microsoft Sans Serif"/>
                <a:cs typeface="Microsoft Sans Serif"/>
              </a:rPr>
              <a:t>SELECT</a:t>
            </a:r>
            <a:r>
              <a:rPr sz="2500" spc="-2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column_name(s)</a:t>
            </a:r>
            <a:endParaRPr lang="ru-RU" sz="2500">
              <a:latin typeface="Microsoft Sans Serif"/>
              <a:ea typeface="Microsoft Sans Serif"/>
              <a:cs typeface="Microsoft Sans Serif"/>
            </a:endParaRPr>
          </a:p>
          <a:p>
            <a:pPr marL="12700" marR="6953250">
              <a:lnSpc>
                <a:spcPct val="123200"/>
              </a:lnSpc>
            </a:pPr>
            <a:r>
              <a:rPr sz="2500" spc="-5">
                <a:latin typeface="Microsoft Sans Serif"/>
                <a:cs typeface="Microsoft Sans Serif"/>
              </a:rPr>
              <a:t>FROM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table1 </a:t>
            </a:r>
            <a:r>
              <a:rPr sz="2500" spc="-5">
                <a:latin typeface="Microsoft Sans Serif"/>
                <a:cs typeface="Microsoft Sans Serif"/>
              </a:rPr>
              <a:t> INNER</a:t>
            </a:r>
            <a:r>
              <a:rPr sz="2500">
                <a:latin typeface="Microsoft Sans Serif"/>
                <a:cs typeface="Microsoft Sans Serif"/>
              </a:rPr>
              <a:t> JOIN </a:t>
            </a:r>
            <a:r>
              <a:rPr sz="2500" spc="-10">
                <a:latin typeface="Microsoft Sans Serif"/>
                <a:cs typeface="Microsoft Sans Serif"/>
              </a:rPr>
              <a:t>table2</a:t>
            </a:r>
            <a:endParaRPr lang="ru-RU" sz="2500">
              <a:latin typeface="Microsoft Sans Serif"/>
              <a:ea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500">
                <a:latin typeface="Microsoft Sans Serif"/>
                <a:cs typeface="Microsoft Sans Serif"/>
              </a:rPr>
              <a:t>ON</a:t>
            </a:r>
            <a:r>
              <a:rPr sz="2500" spc="1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table1.column_name</a:t>
            </a:r>
            <a:r>
              <a:rPr sz="2500" spc="2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=</a:t>
            </a:r>
            <a:r>
              <a:rPr sz="2500" spc="2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table2.column_name;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704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Explanation</a:t>
            </a:r>
            <a:r>
              <a:rPr sz="4400" spc="-10"/>
              <a:t> </a:t>
            </a:r>
            <a:r>
              <a:rPr sz="4400" spc="-5"/>
              <a:t>of</a:t>
            </a:r>
            <a:r>
              <a:rPr sz="4400" spc="-10"/>
              <a:t> </a:t>
            </a:r>
            <a:r>
              <a:rPr sz="4400" spc="-5"/>
              <a:t>Inner</a:t>
            </a:r>
            <a:r>
              <a:rPr sz="4400" spc="-10"/>
              <a:t> </a:t>
            </a:r>
            <a:r>
              <a:rPr sz="4400" spc="-5"/>
              <a:t>Join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676400"/>
            <a:ext cx="787400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96304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/>
              <a:t>The</a:t>
            </a:r>
            <a:r>
              <a:rPr sz="3000" spc="-5"/>
              <a:t> </a:t>
            </a:r>
            <a:r>
              <a:rPr sz="3000"/>
              <a:t>following</a:t>
            </a:r>
            <a:r>
              <a:rPr sz="3000" spc="5"/>
              <a:t> </a:t>
            </a:r>
            <a:r>
              <a:rPr sz="3000" spc="-45"/>
              <a:t>Venn</a:t>
            </a:r>
            <a:r>
              <a:rPr sz="3000" spc="5"/>
              <a:t> </a:t>
            </a:r>
            <a:r>
              <a:rPr sz="3000"/>
              <a:t>diagram</a:t>
            </a:r>
            <a:r>
              <a:rPr sz="3000" spc="-5"/>
              <a:t> </a:t>
            </a:r>
            <a:r>
              <a:rPr sz="3000"/>
              <a:t>illustrates</a:t>
            </a:r>
            <a:r>
              <a:rPr sz="3000" spc="-5"/>
              <a:t> </a:t>
            </a:r>
            <a:r>
              <a:rPr sz="3000"/>
              <a:t>the</a:t>
            </a:r>
            <a:r>
              <a:rPr sz="3000" spc="-5"/>
              <a:t> </a:t>
            </a:r>
            <a:r>
              <a:rPr sz="3000"/>
              <a:t>inner </a:t>
            </a:r>
            <a:r>
              <a:rPr sz="3000" spc="5"/>
              <a:t>join: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0890" y="2613965"/>
            <a:ext cx="4210681" cy="241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41721F-0DD7-A1D0-CA90-82080326A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11051180" cy="3581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A88CB4-C622-EDB4-8B89-07F6D4DA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81" y="5715000"/>
            <a:ext cx="10315253" cy="7493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97218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Joining</a:t>
            </a:r>
            <a:r>
              <a:rPr spc="-10"/>
              <a:t> </a:t>
            </a:r>
            <a:r>
              <a:rPr spc="-5"/>
              <a:t>Multiple </a:t>
            </a:r>
            <a:r>
              <a:rPr spc="-55"/>
              <a:t>Tables</a:t>
            </a:r>
            <a:r>
              <a:rPr spc="-5"/>
              <a:t> Using</a:t>
            </a:r>
            <a:r>
              <a:rPr spc="-10"/>
              <a:t> </a:t>
            </a:r>
            <a:r>
              <a:rPr spc="-5"/>
              <a:t>Inner</a:t>
            </a:r>
            <a:r>
              <a:rPr spc="5"/>
              <a:t> </a:t>
            </a:r>
            <a:r>
              <a:rPr spc="-5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2128" y="2058487"/>
            <a:ext cx="10322741" cy="5316839"/>
          </a:xfrm>
          <a:prstGeom prst="rect">
            <a:avLst/>
          </a:prstGeom>
        </p:spPr>
        <p:txBody>
          <a:bodyPr vert="horz" wrap="square" lIns="0" tIns="45719" rIns="0" bIns="0" rtlCol="0" anchor="t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lang="en-US" sz="25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sz="25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5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8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sz="2500" spc="-5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5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80">
                <a:latin typeface="Times New Roman" panose="02020603050405020304" pitchFamily="18" charset="0"/>
                <a:cs typeface="Times New Roman" panose="02020603050405020304" pitchFamily="18" charset="0"/>
              </a:rPr>
              <a:t>possible,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5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75">
                <a:latin typeface="Times New Roman" panose="02020603050405020304" pitchFamily="18" charset="0"/>
                <a:cs typeface="Times New Roman" panose="02020603050405020304" pitchFamily="18" charset="0"/>
              </a:rPr>
              <a:t>Inner</a:t>
            </a:r>
            <a:r>
              <a:rPr sz="2500" spc="-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Join,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85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85">
                <a:latin typeface="Times New Roman" panose="02020603050405020304" pitchFamily="18" charset="0"/>
                <a:cs typeface="Times New Roman" panose="02020603050405020304" pitchFamily="18" charset="0"/>
              </a:rPr>
              <a:t>specifying</a:t>
            </a:r>
            <a:r>
              <a:rPr sz="25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5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10">
                <a:latin typeface="Times New Roman" panose="02020603050405020304" pitchFamily="18" charset="0"/>
                <a:cs typeface="Times New Roman" panose="02020603050405020304" pitchFamily="18" charset="0"/>
              </a:rPr>
              <a:t>condi</a:t>
            </a:r>
            <a:r>
              <a:rPr lang="en-US" sz="2500" spc="-11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lang="ru-KZ" sz="25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700" marR="5080">
              <a:spcBef>
                <a:spcPts val="359"/>
              </a:spcBef>
            </a:pPr>
            <a:r>
              <a:rPr sz="2500" spc="215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500" spc="21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500" spc="35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500" spc="21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500" spc="45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5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sz="25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500" spc="-11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5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500" spc="-11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500" spc="-13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5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500" spc="-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sz="25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500" spc="-11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5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500" spc="-11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500" spc="-13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5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500" spc="-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sz="25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500" spc="-11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5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500" spc="-11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500" spc="-13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5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8213090"/>
            <a:r>
              <a:rPr lang="af-ZA" sz="2500" spc="55">
                <a:latin typeface="Times New Roman"/>
                <a:cs typeface="Times New Roman"/>
              </a:rPr>
              <a:t>FROM </a:t>
            </a:r>
            <a:r>
              <a:rPr lang="af-ZA" sz="2500" spc="-90">
                <a:latin typeface="Times New Roman"/>
                <a:cs typeface="Times New Roman"/>
              </a:rPr>
              <a:t>table1 </a:t>
            </a:r>
            <a:r>
              <a:rPr lang="af-ZA" sz="2500" spc="-85">
                <a:latin typeface="Times New Roman"/>
                <a:cs typeface="Times New Roman"/>
              </a:rPr>
              <a:t> </a:t>
            </a:r>
            <a:endParaRPr lang="af-ZA" sz="2500">
              <a:latin typeface="Times New Roman"/>
              <a:cs typeface="Times New Roman"/>
            </a:endParaRPr>
          </a:p>
          <a:p>
            <a:pPr marL="12700" marR="8213090"/>
            <a:r>
              <a:rPr lang="af-ZA" sz="2500" spc="55">
                <a:latin typeface="Times New Roman"/>
                <a:cs typeface="Times New Roman"/>
              </a:rPr>
              <a:t>INNER</a:t>
            </a:r>
            <a:r>
              <a:rPr lang="af-ZA" sz="2500" spc="-105">
                <a:latin typeface="Times New Roman"/>
                <a:cs typeface="Times New Roman"/>
              </a:rPr>
              <a:t> </a:t>
            </a:r>
            <a:r>
              <a:rPr lang="af-ZA" sz="2500" spc="65">
                <a:latin typeface="Times New Roman"/>
                <a:cs typeface="Times New Roman"/>
              </a:rPr>
              <a:t>JOIN</a:t>
            </a:r>
            <a:r>
              <a:rPr lang="af-ZA" sz="2500" spc="-100">
                <a:latin typeface="Times New Roman"/>
                <a:cs typeface="Times New Roman"/>
              </a:rPr>
              <a:t> </a:t>
            </a:r>
            <a:r>
              <a:rPr lang="af-ZA" sz="2500" spc="-90">
                <a:latin typeface="Times New Roman"/>
                <a:cs typeface="Times New Roman"/>
              </a:rPr>
              <a:t>table2</a:t>
            </a:r>
            <a:endParaRPr lang="af-ZA" sz="2500">
              <a:latin typeface="Times New Roman"/>
              <a:cs typeface="Times New Roman"/>
            </a:endParaRPr>
          </a:p>
          <a:p>
            <a:pPr marL="12700" marR="8213090">
              <a:spcBef>
                <a:spcPts val="105"/>
              </a:spcBef>
            </a:pPr>
            <a:r>
              <a:rPr sz="25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condition_1 </a:t>
            </a:r>
            <a:r>
              <a:rPr sz="2500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55">
                <a:latin typeface="Times New Roman" panose="02020603050405020304" pitchFamily="18" charset="0"/>
                <a:cs typeface="Times New Roman" panose="02020603050405020304" pitchFamily="18" charset="0"/>
              </a:rPr>
              <a:t>INNER</a:t>
            </a:r>
            <a:r>
              <a:rPr sz="2500" spc="-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65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sz="2500" spc="-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90">
                <a:latin typeface="Times New Roman" panose="02020603050405020304" pitchFamily="18" charset="0"/>
                <a:cs typeface="Times New Roman" panose="02020603050405020304" pitchFamily="18" charset="0"/>
              </a:rPr>
              <a:t>table3 </a:t>
            </a:r>
            <a:r>
              <a:rPr sz="2500" spc="-5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500" spc="-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condition_2</a:t>
            </a:r>
            <a:endParaRPr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865"/>
              </a:spcBef>
            </a:pPr>
            <a:r>
              <a:rPr sz="25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endParaRPr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8177530">
              <a:spcBef>
                <a:spcPts val="70"/>
              </a:spcBef>
            </a:pPr>
            <a:r>
              <a:rPr sz="2500" spc="55">
                <a:latin typeface="Times New Roman" panose="02020603050405020304" pitchFamily="18" charset="0"/>
                <a:cs typeface="Times New Roman" panose="02020603050405020304" pitchFamily="18" charset="0"/>
              </a:rPr>
              <a:t>INNER</a:t>
            </a:r>
            <a:r>
              <a:rPr sz="2500" spc="-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65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sz="2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75">
                <a:latin typeface="Times New Roman" panose="02020603050405020304" pitchFamily="18" charset="0"/>
                <a:cs typeface="Times New Roman" panose="02020603050405020304" pitchFamily="18" charset="0"/>
              </a:rPr>
              <a:t>tableN </a:t>
            </a:r>
            <a:r>
              <a:rPr sz="2500" spc="-5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500" spc="-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85">
                <a:latin typeface="Times New Roman" panose="02020603050405020304" pitchFamily="18" charset="0"/>
                <a:cs typeface="Times New Roman" panose="02020603050405020304" pitchFamily="18" charset="0"/>
              </a:rPr>
              <a:t>condition_N;</a:t>
            </a:r>
            <a:endParaRPr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1A224C-614C-9B18-420B-39F837F43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8" y="1705355"/>
            <a:ext cx="9456422" cy="483015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C8C9C1-629C-CA09-E0C4-E16D34E48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331" y="2552655"/>
            <a:ext cx="7753748" cy="17526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52070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The</a:t>
            </a:r>
            <a:r>
              <a:rPr spc="-25"/>
              <a:t> </a:t>
            </a:r>
            <a:r>
              <a:rPr spc="-5"/>
              <a:t>SQL</a:t>
            </a:r>
            <a:r>
              <a:rPr spc="-100"/>
              <a:t> </a:t>
            </a:r>
            <a:r>
              <a:rPr spc="-5"/>
              <a:t>OUTER</a:t>
            </a:r>
            <a:r>
              <a:rPr spc="-25"/>
              <a:t> </a:t>
            </a:r>
            <a:r>
              <a:rPr spc="-5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10208260" cy="378714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283845">
              <a:lnSpc>
                <a:spcPts val="2710"/>
              </a:lnSpc>
              <a:spcBef>
                <a:spcPts val="430"/>
              </a:spcBef>
            </a:pPr>
            <a:r>
              <a:rPr sz="2500" spc="-5">
                <a:latin typeface="Microsoft Sans Serif"/>
                <a:cs typeface="Microsoft Sans Serif"/>
              </a:rPr>
              <a:t>An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b="1">
                <a:latin typeface="Arial"/>
                <a:cs typeface="Arial"/>
              </a:rPr>
              <a:t>Outer</a:t>
            </a:r>
            <a:r>
              <a:rPr sz="2500" b="1" spc="10">
                <a:latin typeface="Arial"/>
                <a:cs typeface="Arial"/>
              </a:rPr>
              <a:t> </a:t>
            </a:r>
            <a:r>
              <a:rPr sz="2500" b="1" spc="-5">
                <a:latin typeface="Arial"/>
                <a:cs typeface="Arial"/>
              </a:rPr>
              <a:t>Join</a:t>
            </a:r>
            <a:r>
              <a:rPr sz="2500" b="1">
                <a:latin typeface="Arial"/>
                <a:cs typeface="Arial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retrieves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all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records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in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two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even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if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there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no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counterpart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row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of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one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another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table,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unlike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Inner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Join.</a:t>
            </a:r>
            <a:endParaRPr sz="2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2500" spc="-15">
                <a:latin typeface="Microsoft Sans Serif"/>
                <a:cs typeface="Microsoft Sans Serif"/>
              </a:rPr>
              <a:t>Following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are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different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types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of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outer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Joins:</a:t>
            </a:r>
            <a:endParaRPr sz="2500">
              <a:latin typeface="Microsoft Sans Serif"/>
              <a:cs typeface="Microsoft Sans Serif"/>
            </a:endParaRPr>
          </a:p>
          <a:p>
            <a:pPr marL="12700" marR="393700">
              <a:lnSpc>
                <a:spcPts val="2710"/>
              </a:lnSpc>
              <a:spcBef>
                <a:spcPts val="1025"/>
              </a:spcBef>
              <a:buFont typeface="Microsoft Sans Serif"/>
              <a:buChar char="-"/>
              <a:tabLst>
                <a:tab pos="208279" algn="l"/>
              </a:tabLst>
            </a:pPr>
            <a:r>
              <a:rPr sz="2500" b="1" spc="-5">
                <a:latin typeface="Arial"/>
                <a:cs typeface="Arial"/>
              </a:rPr>
              <a:t>LEF</a:t>
            </a:r>
            <a:r>
              <a:rPr sz="2500" b="1">
                <a:latin typeface="Arial"/>
                <a:cs typeface="Arial"/>
              </a:rPr>
              <a:t>T </a:t>
            </a:r>
            <a:r>
              <a:rPr sz="2500" b="1" spc="-5">
                <a:latin typeface="Arial"/>
                <a:cs typeface="Arial"/>
              </a:rPr>
              <a:t>J</a:t>
            </a:r>
            <a:r>
              <a:rPr sz="2500" b="1">
                <a:latin typeface="Arial"/>
                <a:cs typeface="Arial"/>
              </a:rPr>
              <a:t>O</a:t>
            </a:r>
            <a:r>
              <a:rPr sz="2500" b="1" spc="5">
                <a:latin typeface="Arial"/>
                <a:cs typeface="Arial"/>
              </a:rPr>
              <a:t>I</a:t>
            </a:r>
            <a:r>
              <a:rPr sz="2500" b="1">
                <a:latin typeface="Arial"/>
                <a:cs typeface="Arial"/>
              </a:rPr>
              <a:t>N</a:t>
            </a:r>
            <a:r>
              <a:rPr sz="2500" b="1" spc="-5">
                <a:latin typeface="Arial"/>
                <a:cs typeface="Arial"/>
              </a:rPr>
              <a:t> </a:t>
            </a:r>
            <a:r>
              <a:rPr sz="2500" spc="-590">
                <a:latin typeface="Verdana"/>
                <a:cs typeface="Verdana"/>
              </a:rPr>
              <a:t>−</a:t>
            </a:r>
            <a:r>
              <a:rPr sz="2500" spc="-180">
                <a:latin typeface="Verdana"/>
                <a:cs typeface="Verdana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 spc="-5">
                <a:latin typeface="Microsoft Sans Serif"/>
                <a:cs typeface="Microsoft Sans Serif"/>
              </a:rPr>
              <a:t>e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 spc="-5">
                <a:latin typeface="Microsoft Sans Serif"/>
                <a:cs typeface="Microsoft Sans Serif"/>
              </a:rPr>
              <a:t>u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 spc="-5">
                <a:latin typeface="Microsoft Sans Serif"/>
                <a:cs typeface="Microsoft Sans Serif"/>
              </a:rPr>
              <a:t>n</a:t>
            </a:r>
            <a:r>
              <a:rPr sz="2500">
                <a:latin typeface="Microsoft Sans Serif"/>
                <a:cs typeface="Microsoft Sans Serif"/>
              </a:rPr>
              <a:t>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a</a:t>
            </a:r>
            <a:r>
              <a:rPr sz="2500" spc="-25">
                <a:latin typeface="Microsoft Sans Serif"/>
                <a:cs typeface="Microsoft Sans Serif"/>
              </a:rPr>
              <a:t>l</a:t>
            </a:r>
            <a:r>
              <a:rPr sz="2500" spc="-15">
                <a:latin typeface="Microsoft Sans Serif"/>
                <a:cs typeface="Microsoft Sans Serif"/>
              </a:rPr>
              <a:t>l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 spc="-5">
                <a:latin typeface="Microsoft Sans Serif"/>
                <a:cs typeface="Microsoft Sans Serif"/>
              </a:rPr>
              <a:t>o</a:t>
            </a:r>
            <a:r>
              <a:rPr sz="2500" spc="-10">
                <a:latin typeface="Microsoft Sans Serif"/>
                <a:cs typeface="Microsoft Sans Serif"/>
              </a:rPr>
              <a:t>w</a:t>
            </a:r>
            <a:r>
              <a:rPr sz="2500">
                <a:latin typeface="Microsoft Sans Serif"/>
                <a:cs typeface="Microsoft Sans Serif"/>
              </a:rPr>
              <a:t>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fr</a:t>
            </a:r>
            <a:r>
              <a:rPr sz="2500" spc="-5">
                <a:latin typeface="Microsoft Sans Serif"/>
                <a:cs typeface="Microsoft Sans Serif"/>
              </a:rPr>
              <a:t>o</a:t>
            </a:r>
            <a:r>
              <a:rPr sz="2500">
                <a:latin typeface="Microsoft Sans Serif"/>
                <a:cs typeface="Microsoft Sans Serif"/>
              </a:rPr>
              <a:t>m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 spc="-5">
                <a:latin typeface="Microsoft Sans Serif"/>
                <a:cs typeface="Microsoft Sans Serif"/>
              </a:rPr>
              <a:t>h</a:t>
            </a:r>
            <a:r>
              <a:rPr sz="2500">
                <a:latin typeface="Microsoft Sans Serif"/>
                <a:cs typeface="Microsoft Sans Serif"/>
              </a:rPr>
              <a:t>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25">
                <a:latin typeface="Microsoft Sans Serif"/>
                <a:cs typeface="Microsoft Sans Serif"/>
              </a:rPr>
              <a:t>l</a:t>
            </a:r>
            <a:r>
              <a:rPr sz="2500" spc="-5">
                <a:latin typeface="Microsoft Sans Serif"/>
                <a:cs typeface="Microsoft Sans Serif"/>
              </a:rPr>
              <a:t>e</a:t>
            </a:r>
            <a:r>
              <a:rPr sz="2500" spc="5">
                <a:latin typeface="Microsoft Sans Serif"/>
                <a:cs typeface="Microsoft Sans Serif"/>
              </a:rPr>
              <a:t>f</a:t>
            </a:r>
            <a:r>
              <a:rPr sz="2500">
                <a:latin typeface="Microsoft Sans Serif"/>
                <a:cs typeface="Microsoft Sans Serif"/>
              </a:rPr>
              <a:t>t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 spc="-5">
                <a:latin typeface="Microsoft Sans Serif"/>
                <a:cs typeface="Microsoft Sans Serif"/>
              </a:rPr>
              <a:t>ab</a:t>
            </a:r>
            <a:r>
              <a:rPr sz="2500" spc="-25">
                <a:latin typeface="Microsoft Sans Serif"/>
                <a:cs typeface="Microsoft Sans Serif"/>
              </a:rPr>
              <a:t>l</a:t>
            </a:r>
            <a:r>
              <a:rPr sz="2500" spc="-5">
                <a:latin typeface="Microsoft Sans Serif"/>
                <a:cs typeface="Microsoft Sans Serif"/>
              </a:rPr>
              <a:t>e</a:t>
            </a:r>
            <a:r>
              <a:rPr sz="2500">
                <a:latin typeface="Microsoft Sans Serif"/>
                <a:cs typeface="Microsoft Sans Serif"/>
              </a:rPr>
              <a:t>,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e</a:t>
            </a:r>
            <a:r>
              <a:rPr sz="2500">
                <a:latin typeface="Microsoft Sans Serif"/>
                <a:cs typeface="Microsoft Sans Serif"/>
              </a:rPr>
              <a:t>v</a:t>
            </a:r>
            <a:r>
              <a:rPr sz="2500" spc="-5">
                <a:latin typeface="Microsoft Sans Serif"/>
                <a:cs typeface="Microsoft Sans Serif"/>
              </a:rPr>
              <a:t>e</a:t>
            </a:r>
            <a:r>
              <a:rPr sz="2500">
                <a:latin typeface="Microsoft Sans Serif"/>
                <a:cs typeface="Microsoft Sans Serif"/>
              </a:rPr>
              <a:t>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25">
                <a:latin typeface="Microsoft Sans Serif"/>
                <a:cs typeface="Microsoft Sans Serif"/>
              </a:rPr>
              <a:t>i</a:t>
            </a:r>
            <a:r>
              <a:rPr sz="2500">
                <a:latin typeface="Microsoft Sans Serif"/>
                <a:cs typeface="Microsoft Sans Serif"/>
              </a:rPr>
              <a:t>f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 spc="-5">
                <a:latin typeface="Microsoft Sans Serif"/>
                <a:cs typeface="Microsoft Sans Serif"/>
              </a:rPr>
              <a:t>he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>
                <a:latin typeface="Microsoft Sans Serif"/>
                <a:cs typeface="Microsoft Sans Serif"/>
              </a:rPr>
              <a:t>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a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>
                <a:latin typeface="Microsoft Sans Serif"/>
                <a:cs typeface="Microsoft Sans Serif"/>
              </a:rPr>
              <a:t>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n</a:t>
            </a:r>
            <a:r>
              <a:rPr sz="2500">
                <a:latin typeface="Microsoft Sans Serif"/>
                <a:cs typeface="Microsoft Sans Serif"/>
              </a:rPr>
              <a:t>o  </a:t>
            </a:r>
            <a:r>
              <a:rPr sz="2500" spc="-5">
                <a:latin typeface="Microsoft Sans Serif"/>
                <a:cs typeface="Microsoft Sans Serif"/>
              </a:rPr>
              <a:t>matches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right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table.</a:t>
            </a:r>
            <a:endParaRPr sz="2500">
              <a:latin typeface="Microsoft Sans Serif"/>
              <a:cs typeface="Microsoft Sans Serif"/>
            </a:endParaRPr>
          </a:p>
          <a:p>
            <a:pPr marL="12700" marR="5080">
              <a:lnSpc>
                <a:spcPts val="2690"/>
              </a:lnSpc>
              <a:spcBef>
                <a:spcPts val="1005"/>
              </a:spcBef>
              <a:buFont typeface="Microsoft Sans Serif"/>
              <a:buChar char="-"/>
              <a:tabLst>
                <a:tab pos="208279" algn="l"/>
              </a:tabLst>
            </a:pPr>
            <a:r>
              <a:rPr sz="2500" b="1" spc="-5">
                <a:latin typeface="Arial"/>
                <a:cs typeface="Arial"/>
              </a:rPr>
              <a:t>RIGHT</a:t>
            </a:r>
            <a:r>
              <a:rPr sz="2500" b="1">
                <a:latin typeface="Arial"/>
                <a:cs typeface="Arial"/>
              </a:rPr>
              <a:t> JOIN </a:t>
            </a:r>
            <a:r>
              <a:rPr sz="2500" spc="-590">
                <a:latin typeface="Verdana"/>
                <a:cs typeface="Verdana"/>
              </a:rPr>
              <a:t>−</a:t>
            </a:r>
            <a:r>
              <a:rPr sz="2500" spc="-465">
                <a:latin typeface="Verdana"/>
                <a:cs typeface="Verdana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returns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all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rows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from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right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table,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even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if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there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are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no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matches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left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table.</a:t>
            </a:r>
            <a:endParaRPr sz="2500">
              <a:latin typeface="Microsoft Sans Serif"/>
              <a:cs typeface="Microsoft Sans Serif"/>
            </a:endParaRPr>
          </a:p>
          <a:p>
            <a:pPr marL="207645" indent="-195580">
              <a:lnSpc>
                <a:spcPct val="100000"/>
              </a:lnSpc>
              <a:spcBef>
                <a:spcPts val="680"/>
              </a:spcBef>
              <a:buFont typeface="Microsoft Sans Serif"/>
              <a:buChar char="-"/>
              <a:tabLst>
                <a:tab pos="208279" algn="l"/>
              </a:tabLst>
            </a:pPr>
            <a:r>
              <a:rPr sz="2500" b="1" spc="-5">
                <a:latin typeface="Arial"/>
                <a:cs typeface="Arial"/>
              </a:rPr>
              <a:t>FUL</a:t>
            </a:r>
            <a:r>
              <a:rPr sz="2500" b="1">
                <a:latin typeface="Arial"/>
                <a:cs typeface="Arial"/>
              </a:rPr>
              <a:t>L</a:t>
            </a:r>
            <a:r>
              <a:rPr sz="2500" b="1" spc="-45">
                <a:latin typeface="Arial"/>
                <a:cs typeface="Arial"/>
              </a:rPr>
              <a:t> </a:t>
            </a:r>
            <a:r>
              <a:rPr sz="2500" b="1" spc="-5">
                <a:latin typeface="Arial"/>
                <a:cs typeface="Arial"/>
              </a:rPr>
              <a:t>J</a:t>
            </a:r>
            <a:r>
              <a:rPr sz="2500" b="1">
                <a:latin typeface="Arial"/>
                <a:cs typeface="Arial"/>
              </a:rPr>
              <a:t>O</a:t>
            </a:r>
            <a:r>
              <a:rPr sz="2500" b="1" spc="5">
                <a:latin typeface="Arial"/>
                <a:cs typeface="Arial"/>
              </a:rPr>
              <a:t>I</a:t>
            </a:r>
            <a:r>
              <a:rPr sz="2500" b="1">
                <a:latin typeface="Arial"/>
                <a:cs typeface="Arial"/>
              </a:rPr>
              <a:t>N </a:t>
            </a:r>
            <a:r>
              <a:rPr sz="2500" spc="-590">
                <a:latin typeface="Verdana"/>
                <a:cs typeface="Verdana"/>
              </a:rPr>
              <a:t>−</a:t>
            </a:r>
            <a:r>
              <a:rPr sz="2500" spc="-180">
                <a:latin typeface="Verdana"/>
                <a:cs typeface="Verdana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 spc="-5">
                <a:latin typeface="Microsoft Sans Serif"/>
                <a:cs typeface="Microsoft Sans Serif"/>
              </a:rPr>
              <a:t>e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 spc="-5">
                <a:latin typeface="Microsoft Sans Serif"/>
                <a:cs typeface="Microsoft Sans Serif"/>
              </a:rPr>
              <a:t>u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 spc="-5">
                <a:latin typeface="Microsoft Sans Serif"/>
                <a:cs typeface="Microsoft Sans Serif"/>
              </a:rPr>
              <a:t>n</a:t>
            </a:r>
            <a:r>
              <a:rPr sz="2500">
                <a:latin typeface="Microsoft Sans Serif"/>
                <a:cs typeface="Microsoft Sans Serif"/>
              </a:rPr>
              <a:t>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 spc="-5">
                <a:latin typeface="Microsoft Sans Serif"/>
                <a:cs typeface="Microsoft Sans Serif"/>
              </a:rPr>
              <a:t>o</a:t>
            </a:r>
            <a:r>
              <a:rPr sz="2500" spc="-10">
                <a:latin typeface="Microsoft Sans Serif"/>
                <a:cs typeface="Microsoft Sans Serif"/>
              </a:rPr>
              <a:t>w</a:t>
            </a:r>
            <a:r>
              <a:rPr sz="2500">
                <a:latin typeface="Microsoft Sans Serif"/>
                <a:cs typeface="Microsoft Sans Serif"/>
              </a:rPr>
              <a:t>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w</a:t>
            </a:r>
            <a:r>
              <a:rPr sz="2500" spc="-5">
                <a:latin typeface="Microsoft Sans Serif"/>
                <a:cs typeface="Microsoft Sans Serif"/>
              </a:rPr>
              <a:t>he</a:t>
            </a:r>
            <a:r>
              <a:rPr sz="2500">
                <a:latin typeface="Microsoft Sans Serif"/>
                <a:cs typeface="Microsoft Sans Serif"/>
              </a:rPr>
              <a:t>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 spc="-5">
                <a:latin typeface="Microsoft Sans Serif"/>
                <a:cs typeface="Microsoft Sans Serif"/>
              </a:rPr>
              <a:t>he</a:t>
            </a:r>
            <a:r>
              <a:rPr sz="2500" spc="5">
                <a:latin typeface="Microsoft Sans Serif"/>
                <a:cs typeface="Microsoft Sans Serif"/>
              </a:rPr>
              <a:t>r</a:t>
            </a:r>
            <a:r>
              <a:rPr sz="2500">
                <a:latin typeface="Microsoft Sans Serif"/>
                <a:cs typeface="Microsoft Sans Serif"/>
              </a:rPr>
              <a:t>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25">
                <a:latin typeface="Microsoft Sans Serif"/>
                <a:cs typeface="Microsoft Sans Serif"/>
              </a:rPr>
              <a:t>i</a:t>
            </a:r>
            <a:r>
              <a:rPr sz="2500">
                <a:latin typeface="Microsoft Sans Serif"/>
                <a:cs typeface="Microsoft Sans Serif"/>
              </a:rPr>
              <a:t>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m</a:t>
            </a:r>
            <a:r>
              <a:rPr sz="2500" spc="-5">
                <a:latin typeface="Microsoft Sans Serif"/>
                <a:cs typeface="Microsoft Sans Serif"/>
              </a:rPr>
              <a:t>a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>
                <a:latin typeface="Microsoft Sans Serif"/>
                <a:cs typeface="Microsoft Sans Serif"/>
              </a:rPr>
              <a:t>ch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25">
                <a:latin typeface="Microsoft Sans Serif"/>
                <a:cs typeface="Microsoft Sans Serif"/>
              </a:rPr>
              <a:t>i</a:t>
            </a:r>
            <a:r>
              <a:rPr sz="2500">
                <a:latin typeface="Microsoft Sans Serif"/>
                <a:cs typeface="Microsoft Sans Serif"/>
              </a:rPr>
              <a:t>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on</a:t>
            </a:r>
            <a:r>
              <a:rPr sz="2500">
                <a:latin typeface="Microsoft Sans Serif"/>
                <a:cs typeface="Microsoft Sans Serif"/>
              </a:rPr>
              <a:t>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</a:t>
            </a:r>
            <a:r>
              <a:rPr sz="2500">
                <a:latin typeface="Microsoft Sans Serif"/>
                <a:cs typeface="Microsoft Sans Serif"/>
              </a:rPr>
              <a:t>f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 spc="-5">
                <a:latin typeface="Microsoft Sans Serif"/>
                <a:cs typeface="Microsoft Sans Serif"/>
              </a:rPr>
              <a:t>h</a:t>
            </a:r>
            <a:r>
              <a:rPr sz="2500">
                <a:latin typeface="Microsoft Sans Serif"/>
                <a:cs typeface="Microsoft Sans Serif"/>
              </a:rPr>
              <a:t>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t</a:t>
            </a:r>
            <a:r>
              <a:rPr sz="2500" spc="-5">
                <a:latin typeface="Microsoft Sans Serif"/>
                <a:cs typeface="Microsoft Sans Serif"/>
              </a:rPr>
              <a:t>ab</a:t>
            </a:r>
            <a:r>
              <a:rPr sz="2500" spc="-25">
                <a:latin typeface="Microsoft Sans Serif"/>
                <a:cs typeface="Microsoft Sans Serif"/>
              </a:rPr>
              <a:t>l</a:t>
            </a:r>
            <a:r>
              <a:rPr sz="2500" spc="-5">
                <a:latin typeface="Microsoft Sans Serif"/>
                <a:cs typeface="Microsoft Sans Serif"/>
              </a:rPr>
              <a:t>e</a:t>
            </a:r>
            <a:r>
              <a:rPr sz="2500">
                <a:latin typeface="Microsoft Sans Serif"/>
                <a:cs typeface="Microsoft Sans Serif"/>
              </a:rPr>
              <a:t>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2E4E7-F498-6811-C2D1-F209C53B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E5FC52-E6E5-5D1A-06DC-13F4AA616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431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80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The</a:t>
            </a:r>
            <a:r>
              <a:rPr sz="4400" spc="-20" dirty="0"/>
              <a:t> </a:t>
            </a:r>
            <a:r>
              <a:rPr sz="4400" dirty="0"/>
              <a:t>SQL</a:t>
            </a:r>
            <a:r>
              <a:rPr sz="4400" spc="-100" dirty="0"/>
              <a:t> </a:t>
            </a:r>
            <a:r>
              <a:rPr sz="4400" spc="-5" dirty="0"/>
              <a:t>Left</a:t>
            </a:r>
            <a:r>
              <a:rPr sz="4400" spc="-25" dirty="0"/>
              <a:t> </a:t>
            </a:r>
            <a:r>
              <a:rPr sz="4400" spc="-5" dirty="0"/>
              <a:t>Join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10307955" cy="3911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00"/>
              </a:spcBef>
            </a:pPr>
            <a:r>
              <a:rPr sz="2500" b="1" spc="-5" dirty="0">
                <a:latin typeface="Arial"/>
                <a:cs typeface="Arial"/>
              </a:rPr>
              <a:t>Left</a:t>
            </a:r>
            <a:r>
              <a:rPr sz="2500" b="1" spc="5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Join</a:t>
            </a:r>
            <a:r>
              <a:rPr sz="2500" b="1" dirty="0">
                <a:latin typeface="Arial"/>
                <a:cs typeface="Arial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or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b="1" spc="-5" dirty="0">
                <a:latin typeface="Arial"/>
                <a:cs typeface="Arial"/>
              </a:rPr>
              <a:t>Left</a:t>
            </a:r>
            <a:r>
              <a:rPr sz="2500" b="1" spc="1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Outer</a:t>
            </a:r>
            <a:r>
              <a:rPr sz="2500" b="1" spc="5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Join</a:t>
            </a:r>
            <a:r>
              <a:rPr sz="2500" b="1" dirty="0">
                <a:latin typeface="Arial"/>
                <a:cs typeface="Arial"/>
              </a:rPr>
              <a:t> </a:t>
            </a:r>
            <a:r>
              <a:rPr sz="2500" spc="-15" dirty="0">
                <a:latin typeface="Microsoft Sans Serif"/>
                <a:cs typeface="Microsoft Sans Serif"/>
              </a:rPr>
              <a:t>in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SQL</a:t>
            </a:r>
            <a:r>
              <a:rPr sz="2500" spc="-6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combines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two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or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more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tables,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where </a:t>
            </a:r>
            <a:r>
              <a:rPr sz="2500" spc="-6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first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table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15" dirty="0">
                <a:latin typeface="Microsoft Sans Serif"/>
                <a:cs typeface="Microsoft Sans Serif"/>
              </a:rPr>
              <a:t>is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returned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wholly;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but,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only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matching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record(s)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are </a:t>
            </a:r>
            <a:r>
              <a:rPr sz="2500" spc="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retrieved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from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consequent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tables.</a:t>
            </a:r>
            <a:endParaRPr sz="25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>
              <a:latin typeface="Microsoft Sans Serif"/>
              <a:cs typeface="Microsoft Sans Serif"/>
            </a:endParaRPr>
          </a:p>
          <a:p>
            <a:pPr marL="12700" marR="3477260">
              <a:lnSpc>
                <a:spcPct val="123200"/>
              </a:lnSpc>
            </a:pPr>
            <a:r>
              <a:rPr sz="2500" spc="-15" dirty="0">
                <a:latin typeface="Microsoft Sans Serif"/>
                <a:cs typeface="Microsoft Sans Serif"/>
              </a:rPr>
              <a:t>Following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15" dirty="0">
                <a:latin typeface="Microsoft Sans Serif"/>
                <a:cs typeface="Microsoft Sans Serif"/>
              </a:rPr>
              <a:t>is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basic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syntax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of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Left</a:t>
            </a:r>
            <a:r>
              <a:rPr sz="2500" spc="4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Join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spc="-15" dirty="0">
                <a:latin typeface="Microsoft Sans Serif"/>
                <a:cs typeface="Microsoft Sans Serif"/>
              </a:rPr>
              <a:t>in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SQL: </a:t>
            </a:r>
            <a:r>
              <a:rPr sz="2500" spc="-65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SELECT</a:t>
            </a:r>
            <a:r>
              <a:rPr sz="2500" spc="-20" dirty="0">
                <a:latin typeface="Microsoft Sans Serif"/>
                <a:cs typeface="Microsoft Sans Serif"/>
              </a:rPr>
              <a:t> </a:t>
            </a:r>
            <a:r>
              <a:rPr sz="2500" spc="-5" dirty="0" err="1">
                <a:latin typeface="Microsoft Sans Serif"/>
                <a:cs typeface="Microsoft Sans Serif"/>
              </a:rPr>
              <a:t>column_name</a:t>
            </a:r>
            <a:r>
              <a:rPr sz="2500" spc="-5" dirty="0">
                <a:latin typeface="Microsoft Sans Serif"/>
                <a:cs typeface="Microsoft Sans Serif"/>
              </a:rPr>
              <a:t>(s)</a:t>
            </a:r>
            <a:endParaRPr sz="2500" dirty="0">
              <a:latin typeface="Microsoft Sans Serif"/>
              <a:cs typeface="Microsoft Sans Serif"/>
            </a:endParaRPr>
          </a:p>
          <a:p>
            <a:pPr marL="12700" marR="7752080">
              <a:lnSpc>
                <a:spcPct val="123200"/>
              </a:lnSpc>
            </a:pPr>
            <a:r>
              <a:rPr sz="2500" spc="-5" dirty="0">
                <a:latin typeface="Microsoft Sans Serif"/>
                <a:cs typeface="Microsoft Sans Serif"/>
              </a:rPr>
              <a:t>FROM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table1 </a:t>
            </a:r>
            <a:r>
              <a:rPr sz="2500" spc="-5" dirty="0">
                <a:latin typeface="Microsoft Sans Serif"/>
                <a:cs typeface="Microsoft Sans Serif"/>
              </a:rPr>
              <a:t> LEFT</a:t>
            </a:r>
            <a:r>
              <a:rPr sz="2500" spc="-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JOIN </a:t>
            </a:r>
            <a:r>
              <a:rPr sz="2500" spc="-10" dirty="0">
                <a:latin typeface="Microsoft Sans Serif"/>
                <a:cs typeface="Microsoft Sans Serif"/>
              </a:rPr>
              <a:t>table2</a:t>
            </a:r>
            <a:endParaRPr sz="25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500" dirty="0">
                <a:latin typeface="Microsoft Sans Serif"/>
                <a:cs typeface="Microsoft Sans Serif"/>
              </a:rPr>
              <a:t>ON</a:t>
            </a:r>
            <a:r>
              <a:rPr sz="2500" spc="1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table1.column_name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=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table2.column_name;</a:t>
            </a:r>
            <a:endParaRPr sz="25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79271"/>
            <a:ext cx="77260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/>
              <a:t>The</a:t>
            </a:r>
            <a:r>
              <a:rPr sz="2500" spc="-10"/>
              <a:t> </a:t>
            </a:r>
            <a:r>
              <a:rPr sz="2500"/>
              <a:t>following</a:t>
            </a:r>
            <a:r>
              <a:rPr sz="2500" spc="-5"/>
              <a:t> </a:t>
            </a:r>
            <a:r>
              <a:rPr sz="2500" spc="-40"/>
              <a:t>Venn</a:t>
            </a:r>
            <a:r>
              <a:rPr sz="2500" spc="-5"/>
              <a:t> diagram</a:t>
            </a:r>
            <a:r>
              <a:rPr sz="2500"/>
              <a:t> illustrates</a:t>
            </a:r>
            <a:r>
              <a:rPr sz="2500" spc="-5"/>
              <a:t> </a:t>
            </a:r>
            <a:r>
              <a:rPr sz="2500"/>
              <a:t>the</a:t>
            </a:r>
            <a:r>
              <a:rPr sz="2500" spc="-5"/>
              <a:t> </a:t>
            </a:r>
            <a:r>
              <a:rPr sz="2500"/>
              <a:t>left</a:t>
            </a:r>
            <a:r>
              <a:rPr sz="2500" spc="5"/>
              <a:t> </a:t>
            </a:r>
            <a:r>
              <a:rPr sz="2500" spc="-5"/>
              <a:t>join: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804" y="2599790"/>
            <a:ext cx="4081130" cy="23523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2038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The</a:t>
            </a:r>
            <a:r>
              <a:rPr sz="4400" spc="-15"/>
              <a:t> </a:t>
            </a:r>
            <a:r>
              <a:rPr sz="4400"/>
              <a:t>SQL</a:t>
            </a:r>
            <a:r>
              <a:rPr sz="4400" spc="-100"/>
              <a:t> </a:t>
            </a:r>
            <a:r>
              <a:rPr sz="4400" spc="-5"/>
              <a:t>Right</a:t>
            </a:r>
            <a:r>
              <a:rPr sz="4400" spc="-20"/>
              <a:t> </a:t>
            </a:r>
            <a:r>
              <a:rPr sz="4400" spc="-5"/>
              <a:t>Join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748"/>
            <a:ext cx="9709785" cy="417067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0"/>
              </a:spcBef>
            </a:pPr>
            <a:r>
              <a:rPr sz="2600" spc="-110">
                <a:latin typeface="Verdana"/>
                <a:cs typeface="Verdana"/>
              </a:rPr>
              <a:t>The</a:t>
            </a:r>
            <a:r>
              <a:rPr sz="2600" spc="-190">
                <a:latin typeface="Verdana"/>
                <a:cs typeface="Verdana"/>
              </a:rPr>
              <a:t> </a:t>
            </a:r>
            <a:r>
              <a:rPr sz="2600" b="1" spc="-5">
                <a:latin typeface="Arial"/>
                <a:cs typeface="Arial"/>
              </a:rPr>
              <a:t>Right </a:t>
            </a:r>
            <a:r>
              <a:rPr sz="2600" b="1">
                <a:latin typeface="Arial"/>
                <a:cs typeface="Arial"/>
              </a:rPr>
              <a:t>Join </a:t>
            </a:r>
            <a:r>
              <a:rPr sz="2600" spc="-190">
                <a:latin typeface="Verdana"/>
                <a:cs typeface="Verdana"/>
              </a:rPr>
              <a:t>or</a:t>
            </a:r>
            <a:r>
              <a:rPr sz="2600" spc="-195">
                <a:latin typeface="Verdana"/>
                <a:cs typeface="Verdana"/>
              </a:rPr>
              <a:t> </a:t>
            </a:r>
            <a:r>
              <a:rPr sz="2600" b="1" spc="-5">
                <a:latin typeface="Arial"/>
                <a:cs typeface="Arial"/>
              </a:rPr>
              <a:t>Right</a:t>
            </a:r>
            <a:r>
              <a:rPr sz="2600" b="1">
                <a:latin typeface="Arial"/>
                <a:cs typeface="Arial"/>
              </a:rPr>
              <a:t> </a:t>
            </a:r>
            <a:r>
              <a:rPr sz="2600" b="1" spc="-5">
                <a:latin typeface="Arial"/>
                <a:cs typeface="Arial"/>
              </a:rPr>
              <a:t>Outer</a:t>
            </a:r>
            <a:r>
              <a:rPr sz="2600" b="1">
                <a:latin typeface="Arial"/>
                <a:cs typeface="Arial"/>
              </a:rPr>
              <a:t> Join </a:t>
            </a:r>
            <a:r>
              <a:rPr sz="2600" spc="-195">
                <a:latin typeface="Verdana"/>
                <a:cs typeface="Verdana"/>
              </a:rPr>
              <a:t>query</a:t>
            </a:r>
            <a:r>
              <a:rPr sz="2600" spc="-190">
                <a:latin typeface="Verdana"/>
                <a:cs typeface="Verdana"/>
              </a:rPr>
              <a:t> </a:t>
            </a:r>
            <a:r>
              <a:rPr sz="2600" spc="-175">
                <a:latin typeface="Verdana"/>
                <a:cs typeface="Verdana"/>
              </a:rPr>
              <a:t>in</a:t>
            </a:r>
            <a:r>
              <a:rPr sz="2600" spc="-190">
                <a:latin typeface="Verdana"/>
                <a:cs typeface="Verdana"/>
              </a:rPr>
              <a:t> </a:t>
            </a:r>
            <a:r>
              <a:rPr sz="2600" spc="-25">
                <a:latin typeface="Verdana"/>
                <a:cs typeface="Verdana"/>
              </a:rPr>
              <a:t>SQL</a:t>
            </a:r>
            <a:r>
              <a:rPr sz="2600" spc="-280">
                <a:latin typeface="Verdana"/>
                <a:cs typeface="Verdana"/>
              </a:rPr>
              <a:t> </a:t>
            </a:r>
            <a:r>
              <a:rPr sz="2600" spc="-195">
                <a:latin typeface="Verdana"/>
                <a:cs typeface="Verdana"/>
              </a:rPr>
              <a:t>returns</a:t>
            </a:r>
            <a:r>
              <a:rPr sz="2600" spc="-190">
                <a:latin typeface="Verdana"/>
                <a:cs typeface="Verdana"/>
              </a:rPr>
              <a:t> </a:t>
            </a:r>
            <a:r>
              <a:rPr sz="2600" spc="-135">
                <a:latin typeface="Verdana"/>
                <a:cs typeface="Verdana"/>
              </a:rPr>
              <a:t>all</a:t>
            </a:r>
            <a:r>
              <a:rPr sz="2600" spc="-195">
                <a:latin typeface="Verdana"/>
                <a:cs typeface="Verdana"/>
              </a:rPr>
              <a:t> </a:t>
            </a:r>
            <a:r>
              <a:rPr sz="2600" spc="-175">
                <a:latin typeface="Verdana"/>
                <a:cs typeface="Verdana"/>
              </a:rPr>
              <a:t>rows </a:t>
            </a:r>
            <a:r>
              <a:rPr sz="2600" spc="-900">
                <a:latin typeface="Verdana"/>
                <a:cs typeface="Verdana"/>
              </a:rPr>
              <a:t> </a:t>
            </a:r>
            <a:r>
              <a:rPr sz="2600" spc="-235">
                <a:latin typeface="Verdana"/>
                <a:cs typeface="Verdana"/>
              </a:rPr>
              <a:t>from</a:t>
            </a:r>
            <a:r>
              <a:rPr sz="2600" spc="-190">
                <a:latin typeface="Verdana"/>
                <a:cs typeface="Verdana"/>
              </a:rPr>
              <a:t> </a:t>
            </a:r>
            <a:r>
              <a:rPr sz="2600" spc="-204">
                <a:latin typeface="Verdana"/>
                <a:cs typeface="Verdana"/>
              </a:rPr>
              <a:t>the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215">
                <a:latin typeface="Verdana"/>
                <a:cs typeface="Verdana"/>
              </a:rPr>
              <a:t>right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80">
                <a:latin typeface="Verdana"/>
                <a:cs typeface="Verdana"/>
              </a:rPr>
              <a:t>table,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65">
                <a:latin typeface="Verdana"/>
                <a:cs typeface="Verdana"/>
              </a:rPr>
              <a:t>even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70">
                <a:latin typeface="Verdana"/>
                <a:cs typeface="Verdana"/>
              </a:rPr>
              <a:t>if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95">
                <a:latin typeface="Verdana"/>
                <a:cs typeface="Verdana"/>
              </a:rPr>
              <a:t>there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60">
                <a:latin typeface="Verdana"/>
                <a:cs typeface="Verdana"/>
              </a:rPr>
              <a:t>are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70">
                <a:latin typeface="Verdana"/>
                <a:cs typeface="Verdana"/>
              </a:rPr>
              <a:t>no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75">
                <a:latin typeface="Verdana"/>
                <a:cs typeface="Verdana"/>
              </a:rPr>
              <a:t>matches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75">
                <a:latin typeface="Verdana"/>
                <a:cs typeface="Verdana"/>
              </a:rPr>
              <a:t>in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204">
                <a:latin typeface="Verdana"/>
                <a:cs typeface="Verdana"/>
              </a:rPr>
              <a:t>the</a:t>
            </a:r>
            <a:r>
              <a:rPr sz="2600" spc="-185">
                <a:latin typeface="Verdana"/>
                <a:cs typeface="Verdana"/>
              </a:rPr>
              <a:t> left </a:t>
            </a:r>
            <a:r>
              <a:rPr sz="2600" spc="-180">
                <a:latin typeface="Verdana"/>
                <a:cs typeface="Verdana"/>
              </a:rPr>
              <a:t>table.</a:t>
            </a:r>
            <a:endParaRPr sz="2600">
              <a:latin typeface="Verdana"/>
              <a:cs typeface="Verdana"/>
            </a:endParaRPr>
          </a:p>
          <a:p>
            <a:pPr marL="12700" marR="2374265">
              <a:lnSpc>
                <a:spcPts val="7580"/>
              </a:lnSpc>
              <a:spcBef>
                <a:spcPts val="980"/>
              </a:spcBef>
            </a:pPr>
            <a:r>
              <a:rPr sz="2600" spc="-140">
                <a:latin typeface="Verdana"/>
                <a:cs typeface="Verdana"/>
              </a:rPr>
              <a:t>Following</a:t>
            </a:r>
            <a:r>
              <a:rPr sz="2600" spc="-190">
                <a:latin typeface="Verdana"/>
                <a:cs typeface="Verdana"/>
              </a:rPr>
              <a:t> </a:t>
            </a:r>
            <a:r>
              <a:rPr sz="2600" spc="-100">
                <a:latin typeface="Verdana"/>
                <a:cs typeface="Verdana"/>
              </a:rPr>
              <a:t>is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204">
                <a:latin typeface="Verdana"/>
                <a:cs typeface="Verdana"/>
              </a:rPr>
              <a:t>the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10">
                <a:latin typeface="Verdana"/>
                <a:cs typeface="Verdana"/>
              </a:rPr>
              <a:t>basic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95">
                <a:latin typeface="Verdana"/>
                <a:cs typeface="Verdana"/>
              </a:rPr>
              <a:t>syntax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65">
                <a:latin typeface="Verdana"/>
                <a:cs typeface="Verdana"/>
              </a:rPr>
              <a:t>of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55">
                <a:latin typeface="Verdana"/>
                <a:cs typeface="Verdana"/>
              </a:rPr>
              <a:t>Right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90">
                <a:latin typeface="Verdana"/>
                <a:cs typeface="Verdana"/>
              </a:rPr>
              <a:t>Join</a:t>
            </a:r>
            <a:r>
              <a:rPr sz="2600" spc="-190">
                <a:latin typeface="Verdana"/>
                <a:cs typeface="Verdana"/>
              </a:rPr>
              <a:t> </a:t>
            </a:r>
            <a:r>
              <a:rPr sz="2600" spc="-175">
                <a:latin typeface="Verdana"/>
                <a:cs typeface="Verdana"/>
              </a:rPr>
              <a:t>in</a:t>
            </a:r>
            <a:r>
              <a:rPr sz="2600" spc="-185">
                <a:latin typeface="Verdana"/>
                <a:cs typeface="Verdana"/>
              </a:rPr>
              <a:t> </a:t>
            </a:r>
            <a:r>
              <a:rPr sz="2600" spc="-135">
                <a:latin typeface="Verdana"/>
                <a:cs typeface="Verdana"/>
              </a:rPr>
              <a:t>SQL: </a:t>
            </a:r>
            <a:r>
              <a:rPr sz="2600" spc="-900">
                <a:latin typeface="Verdana"/>
                <a:cs typeface="Verdana"/>
              </a:rPr>
              <a:t> </a:t>
            </a:r>
            <a:r>
              <a:rPr sz="2600" spc="25">
                <a:latin typeface="Verdana"/>
                <a:cs typeface="Verdana"/>
              </a:rPr>
              <a:t>SELECT</a:t>
            </a:r>
            <a:r>
              <a:rPr sz="2600" spc="-240">
                <a:latin typeface="Verdana"/>
                <a:cs typeface="Verdana"/>
              </a:rPr>
              <a:t> </a:t>
            </a:r>
            <a:r>
              <a:rPr sz="2600" spc="-190">
                <a:latin typeface="Verdana"/>
                <a:cs typeface="Verdana"/>
              </a:rPr>
              <a:t>table1.column1,</a:t>
            </a:r>
            <a:r>
              <a:rPr sz="2600" spc="-180">
                <a:latin typeface="Verdana"/>
                <a:cs typeface="Verdana"/>
              </a:rPr>
              <a:t> </a:t>
            </a:r>
            <a:r>
              <a:rPr sz="2600" spc="-195">
                <a:latin typeface="Verdana"/>
                <a:cs typeface="Verdana"/>
              </a:rPr>
              <a:t>table2.column2...</a:t>
            </a:r>
            <a:endParaRPr sz="2600">
              <a:latin typeface="Verdana"/>
              <a:cs typeface="Verdana"/>
            </a:endParaRPr>
          </a:p>
          <a:p>
            <a:pPr marL="12700">
              <a:lnSpc>
                <a:spcPts val="2920"/>
              </a:lnSpc>
            </a:pPr>
            <a:r>
              <a:rPr sz="2600" spc="35">
                <a:latin typeface="Verdana"/>
                <a:cs typeface="Verdana"/>
              </a:rPr>
              <a:t>FR</a:t>
            </a:r>
            <a:r>
              <a:rPr sz="2600" spc="50">
                <a:latin typeface="Verdana"/>
                <a:cs typeface="Verdana"/>
              </a:rPr>
              <a:t>O</a:t>
            </a:r>
            <a:r>
              <a:rPr sz="2600" spc="-30">
                <a:latin typeface="Verdana"/>
                <a:cs typeface="Verdana"/>
              </a:rPr>
              <a:t>M</a:t>
            </a:r>
            <a:r>
              <a:rPr sz="2600" spc="-195">
                <a:latin typeface="Verdana"/>
                <a:cs typeface="Verdana"/>
              </a:rPr>
              <a:t> </a:t>
            </a:r>
            <a:r>
              <a:rPr sz="2600" spc="-305">
                <a:latin typeface="Verdana"/>
                <a:cs typeface="Verdana"/>
              </a:rPr>
              <a:t>t</a:t>
            </a:r>
            <a:r>
              <a:rPr sz="2600" spc="-120">
                <a:latin typeface="Verdana"/>
                <a:cs typeface="Verdana"/>
              </a:rPr>
              <a:t>a</a:t>
            </a:r>
            <a:r>
              <a:rPr sz="2600" spc="-175">
                <a:latin typeface="Verdana"/>
                <a:cs typeface="Verdana"/>
              </a:rPr>
              <a:t>b</a:t>
            </a:r>
            <a:r>
              <a:rPr sz="2600" spc="-85">
                <a:latin typeface="Verdana"/>
                <a:cs typeface="Verdana"/>
              </a:rPr>
              <a:t>l</a:t>
            </a:r>
            <a:r>
              <a:rPr sz="2600" spc="-165">
                <a:latin typeface="Verdana"/>
                <a:cs typeface="Verdana"/>
              </a:rPr>
              <a:t>e</a:t>
            </a:r>
            <a:r>
              <a:rPr sz="2600" spc="-210">
                <a:latin typeface="Verdana"/>
                <a:cs typeface="Verdana"/>
              </a:rPr>
              <a:t>1</a:t>
            </a: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600" spc="60">
                <a:latin typeface="Verdana"/>
                <a:cs typeface="Verdana"/>
              </a:rPr>
              <a:t>R</a:t>
            </a:r>
            <a:r>
              <a:rPr sz="2600" spc="-375">
                <a:latin typeface="Verdana"/>
                <a:cs typeface="Verdana"/>
              </a:rPr>
              <a:t>I</a:t>
            </a:r>
            <a:r>
              <a:rPr sz="2600" spc="5">
                <a:latin typeface="Verdana"/>
                <a:cs typeface="Verdana"/>
              </a:rPr>
              <a:t>G</a:t>
            </a:r>
            <a:r>
              <a:rPr sz="2600" spc="-85">
                <a:latin typeface="Verdana"/>
                <a:cs typeface="Verdana"/>
              </a:rPr>
              <a:t>H</a:t>
            </a:r>
            <a:r>
              <a:rPr sz="2600" spc="-15">
                <a:latin typeface="Verdana"/>
                <a:cs typeface="Verdana"/>
              </a:rPr>
              <a:t>T</a:t>
            </a:r>
            <a:r>
              <a:rPr sz="2600" spc="-240">
                <a:latin typeface="Verdana"/>
                <a:cs typeface="Verdana"/>
              </a:rPr>
              <a:t> </a:t>
            </a:r>
            <a:r>
              <a:rPr sz="2600" spc="45">
                <a:latin typeface="Verdana"/>
                <a:cs typeface="Verdana"/>
              </a:rPr>
              <a:t>JO</a:t>
            </a:r>
            <a:r>
              <a:rPr sz="2600" spc="-375">
                <a:latin typeface="Verdana"/>
                <a:cs typeface="Verdana"/>
              </a:rPr>
              <a:t>I</a:t>
            </a:r>
            <a:r>
              <a:rPr sz="2600" spc="-70">
                <a:latin typeface="Verdana"/>
                <a:cs typeface="Verdana"/>
              </a:rPr>
              <a:t>N</a:t>
            </a:r>
            <a:r>
              <a:rPr sz="2600" spc="-195">
                <a:latin typeface="Verdana"/>
                <a:cs typeface="Verdana"/>
              </a:rPr>
              <a:t> </a:t>
            </a:r>
            <a:r>
              <a:rPr sz="2600" spc="-305">
                <a:latin typeface="Verdana"/>
                <a:cs typeface="Verdana"/>
              </a:rPr>
              <a:t>t</a:t>
            </a:r>
            <a:r>
              <a:rPr sz="2600" spc="-120">
                <a:latin typeface="Verdana"/>
                <a:cs typeface="Verdana"/>
              </a:rPr>
              <a:t>a</a:t>
            </a:r>
            <a:r>
              <a:rPr sz="2600" spc="-175">
                <a:latin typeface="Verdana"/>
                <a:cs typeface="Verdana"/>
              </a:rPr>
              <a:t>b</a:t>
            </a:r>
            <a:r>
              <a:rPr sz="2600" spc="-145">
                <a:latin typeface="Verdana"/>
                <a:cs typeface="Verdana"/>
              </a:rPr>
              <a:t>l</a:t>
            </a:r>
            <a:r>
              <a:rPr sz="2600" spc="-105">
                <a:latin typeface="Verdana"/>
                <a:cs typeface="Verdana"/>
              </a:rPr>
              <a:t>e</a:t>
            </a:r>
            <a:r>
              <a:rPr sz="2600" spc="-210">
                <a:latin typeface="Verdana"/>
                <a:cs typeface="Verdana"/>
              </a:rPr>
              <a:t>2</a:t>
            </a: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spc="-50">
                <a:latin typeface="Verdana"/>
                <a:cs typeface="Verdana"/>
              </a:rPr>
              <a:t>ON</a:t>
            </a:r>
            <a:r>
              <a:rPr sz="2600" spc="-195">
                <a:latin typeface="Verdana"/>
                <a:cs typeface="Verdana"/>
              </a:rPr>
              <a:t> </a:t>
            </a:r>
            <a:r>
              <a:rPr sz="2600" spc="-185">
                <a:latin typeface="Verdana"/>
                <a:cs typeface="Verdana"/>
              </a:rPr>
              <a:t>table1.common_field </a:t>
            </a:r>
            <a:r>
              <a:rPr sz="2600" spc="-610">
                <a:latin typeface="Verdana"/>
                <a:cs typeface="Verdana"/>
              </a:rPr>
              <a:t>=</a:t>
            </a:r>
            <a:r>
              <a:rPr sz="2600" spc="-500">
                <a:latin typeface="Verdana"/>
                <a:cs typeface="Verdana"/>
              </a:rPr>
              <a:t> </a:t>
            </a:r>
            <a:r>
              <a:rPr sz="2600" spc="-200">
                <a:latin typeface="Verdana"/>
                <a:cs typeface="Verdana"/>
              </a:rPr>
              <a:t>table2.common_field;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26795"/>
            <a:ext cx="9546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/>
              <a:t>The</a:t>
            </a:r>
            <a:r>
              <a:rPr sz="3000" spc="-5"/>
              <a:t> </a:t>
            </a:r>
            <a:r>
              <a:rPr sz="3000"/>
              <a:t>following</a:t>
            </a:r>
            <a:r>
              <a:rPr sz="3000" spc="5"/>
              <a:t> </a:t>
            </a:r>
            <a:r>
              <a:rPr sz="3000" spc="-45"/>
              <a:t>Venn</a:t>
            </a:r>
            <a:r>
              <a:rPr sz="3000" spc="5"/>
              <a:t> </a:t>
            </a:r>
            <a:r>
              <a:rPr sz="3000"/>
              <a:t>diagram</a:t>
            </a:r>
            <a:r>
              <a:rPr sz="3000" spc="-5"/>
              <a:t> </a:t>
            </a:r>
            <a:r>
              <a:rPr sz="3000"/>
              <a:t>illustrates</a:t>
            </a:r>
            <a:r>
              <a:rPr sz="3000" spc="-5"/>
              <a:t> </a:t>
            </a:r>
            <a:r>
              <a:rPr sz="3000"/>
              <a:t>the</a:t>
            </a:r>
            <a:r>
              <a:rPr sz="3000" spc="-5"/>
              <a:t> </a:t>
            </a:r>
            <a:r>
              <a:rPr sz="3000"/>
              <a:t>right</a:t>
            </a:r>
            <a:r>
              <a:rPr sz="3000" spc="5"/>
              <a:t> join: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891" y="2599185"/>
            <a:ext cx="4203981" cy="235800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3DBA2F-A5EA-C7DD-8F08-4CD61BC5B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1676400"/>
            <a:ext cx="10482557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770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The</a:t>
            </a:r>
            <a:r>
              <a:rPr sz="4400" spc="-20"/>
              <a:t> </a:t>
            </a:r>
            <a:r>
              <a:rPr sz="4400"/>
              <a:t>SQL</a:t>
            </a:r>
            <a:r>
              <a:rPr sz="4400" spc="-100"/>
              <a:t> </a:t>
            </a:r>
            <a:r>
              <a:rPr sz="4400" spc="-5"/>
              <a:t>Full</a:t>
            </a:r>
            <a:r>
              <a:rPr sz="4400" spc="-20"/>
              <a:t> </a:t>
            </a:r>
            <a:r>
              <a:rPr sz="4400" spc="-5"/>
              <a:t>Join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69871"/>
            <a:ext cx="10177780" cy="4178067"/>
          </a:xfrm>
          <a:prstGeom prst="rect">
            <a:avLst/>
          </a:prstGeom>
        </p:spPr>
        <p:txBody>
          <a:bodyPr vert="horz" wrap="square" lIns="0" tIns="86360" rIns="0" bIns="0" rtlCol="0" anchor="t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680"/>
              </a:spcBef>
            </a:pPr>
            <a:r>
              <a:rPr sz="2500" b="1">
                <a:latin typeface="Arial"/>
                <a:cs typeface="Arial"/>
              </a:rPr>
              <a:t>SQL</a:t>
            </a:r>
            <a:r>
              <a:rPr sz="2500" b="1" spc="-45">
                <a:latin typeface="Arial"/>
                <a:cs typeface="Arial"/>
              </a:rPr>
              <a:t> </a:t>
            </a:r>
            <a:r>
              <a:rPr sz="2500" b="1" spc="-5">
                <a:latin typeface="Arial"/>
                <a:cs typeface="Arial"/>
              </a:rPr>
              <a:t>Full</a:t>
            </a:r>
            <a:r>
              <a:rPr sz="2500" b="1" spc="15">
                <a:latin typeface="Arial"/>
                <a:cs typeface="Arial"/>
              </a:rPr>
              <a:t> </a:t>
            </a:r>
            <a:r>
              <a:rPr sz="2500" b="1" spc="-5">
                <a:latin typeface="Arial"/>
                <a:cs typeface="Arial"/>
              </a:rPr>
              <a:t>Join</a:t>
            </a:r>
            <a:r>
              <a:rPr sz="2500" b="1" spc="5">
                <a:latin typeface="Arial"/>
                <a:cs typeface="Arial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creates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new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by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joining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two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as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whole.</a:t>
            </a:r>
            <a:r>
              <a:rPr sz="250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The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joined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contains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all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records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from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both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and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fills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NULL </a:t>
            </a:r>
            <a:r>
              <a:rPr sz="2500" spc="-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values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for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missing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matches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either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side.</a:t>
            </a:r>
            <a:endParaRPr sz="2500">
              <a:latin typeface="Microsoft Sans Serif"/>
              <a:cs typeface="Microsoft Sans Serif"/>
            </a:endParaRPr>
          </a:p>
          <a:p>
            <a:pPr marL="12700" marR="3368040">
              <a:lnSpc>
                <a:spcPts val="6820"/>
              </a:lnSpc>
              <a:spcBef>
                <a:spcPts val="855"/>
              </a:spcBef>
            </a:pPr>
            <a:r>
              <a:rPr sz="2500" spc="-15">
                <a:latin typeface="Microsoft Sans Serif"/>
                <a:cs typeface="Microsoft Sans Serif"/>
              </a:rPr>
              <a:t>Following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basic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syntax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of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Full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Join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in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SQL:</a:t>
            </a:r>
            <a:endParaRPr lang="ru-RU" sz="2500">
              <a:latin typeface="Microsoft Sans Serif"/>
              <a:cs typeface="Microsoft Sans Serif"/>
            </a:endParaRPr>
          </a:p>
          <a:p>
            <a:pPr marL="12700" marR="3368040">
              <a:lnSpc>
                <a:spcPts val="6820"/>
              </a:lnSpc>
              <a:spcBef>
                <a:spcPts val="855"/>
              </a:spcBef>
            </a:pPr>
            <a:r>
              <a:rPr lang="ru-RU" sz="2500" spc="-5">
                <a:latin typeface="Microsoft Sans Serif"/>
                <a:cs typeface="Microsoft Sans Serif"/>
              </a:rPr>
              <a:t> 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SELECT</a:t>
            </a:r>
            <a:r>
              <a:rPr sz="2500" spc="-2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column_name(s)</a:t>
            </a:r>
            <a:endParaRPr lang="ru-RU" sz="2500">
              <a:latin typeface="Microsoft Sans Serif"/>
              <a:ea typeface="Microsoft Sans Serif"/>
              <a:cs typeface="Microsoft Sans Serif"/>
            </a:endParaRPr>
          </a:p>
          <a:p>
            <a:pPr marL="12700">
              <a:lnSpc>
                <a:spcPts val="2515"/>
              </a:lnSpc>
            </a:pPr>
            <a:r>
              <a:rPr sz="2500" spc="-5">
                <a:latin typeface="Microsoft Sans Serif"/>
                <a:cs typeface="Microsoft Sans Serif"/>
              </a:rPr>
              <a:t>FROM</a:t>
            </a:r>
            <a:r>
              <a:rPr sz="2500" spc="1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table1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500" spc="-5">
                <a:latin typeface="Microsoft Sans Serif"/>
                <a:cs typeface="Microsoft Sans Serif"/>
              </a:rPr>
              <a:t>FULL</a:t>
            </a:r>
            <a:r>
              <a:rPr sz="2500" spc="-8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JOIN</a:t>
            </a:r>
            <a:r>
              <a:rPr sz="2500" spc="1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table2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500">
                <a:latin typeface="Microsoft Sans Serif"/>
                <a:cs typeface="Microsoft Sans Serif"/>
              </a:rPr>
              <a:t>ON</a:t>
            </a:r>
            <a:r>
              <a:rPr sz="2500" spc="1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table1.column_name</a:t>
            </a:r>
            <a:r>
              <a:rPr sz="2500" spc="2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=</a:t>
            </a:r>
            <a:r>
              <a:rPr sz="2500" spc="2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table2.column_name;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103314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/>
              <a:t>The</a:t>
            </a:r>
            <a:r>
              <a:rPr sz="3000" spc="-5"/>
              <a:t> </a:t>
            </a:r>
            <a:r>
              <a:rPr sz="3000"/>
              <a:t>following</a:t>
            </a:r>
            <a:r>
              <a:rPr sz="3000" spc="5"/>
              <a:t> </a:t>
            </a:r>
            <a:r>
              <a:rPr sz="3000" spc="-45"/>
              <a:t>Venn</a:t>
            </a:r>
            <a:r>
              <a:rPr sz="3000" spc="10"/>
              <a:t> </a:t>
            </a:r>
            <a:r>
              <a:rPr sz="3000"/>
              <a:t>diagram</a:t>
            </a:r>
            <a:r>
              <a:rPr sz="3000" spc="-5"/>
              <a:t> </a:t>
            </a:r>
            <a:r>
              <a:rPr sz="3000"/>
              <a:t>illustrates</a:t>
            </a:r>
            <a:r>
              <a:rPr sz="3000" spc="-5"/>
              <a:t> </a:t>
            </a:r>
            <a:r>
              <a:rPr sz="3000"/>
              <a:t>the full</a:t>
            </a:r>
            <a:r>
              <a:rPr sz="3000" spc="5"/>
              <a:t> </a:t>
            </a:r>
            <a:r>
              <a:rPr sz="3000"/>
              <a:t>outer </a:t>
            </a:r>
            <a:r>
              <a:rPr sz="3000" spc="5"/>
              <a:t>join: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8740" y="2058821"/>
            <a:ext cx="5130317" cy="33735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9251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Outer</a:t>
            </a:r>
            <a:r>
              <a:rPr sz="4400" spc="-20"/>
              <a:t> </a:t>
            </a:r>
            <a:r>
              <a:rPr sz="4400" spc="-5"/>
              <a:t>join</a:t>
            </a:r>
            <a:r>
              <a:rPr sz="4400" spc="-15"/>
              <a:t> </a:t>
            </a:r>
            <a:r>
              <a:rPr sz="4400" spc="-5"/>
              <a:t>explanation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7353" y="1690687"/>
            <a:ext cx="7319158" cy="45091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7FD8BD-7A25-07F0-5366-99C093BB4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10" y="2057400"/>
            <a:ext cx="10273027" cy="3505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D72677-D519-1D9F-8372-DEB59ED3B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959104"/>
            <a:ext cx="6258444" cy="31556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846" y="2564892"/>
            <a:ext cx="9491980" cy="1293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z="4400" spc="-325"/>
              <a:t>P</a:t>
            </a:r>
            <a:r>
              <a:rPr sz="4400" spc="-5"/>
              <a:t>AR</a:t>
            </a:r>
            <a:r>
              <a:rPr sz="4400"/>
              <a:t>T</a:t>
            </a:r>
            <a:r>
              <a:rPr sz="4400" spc="5"/>
              <a:t> </a:t>
            </a:r>
            <a:r>
              <a:rPr sz="4400"/>
              <a:t>II.</a:t>
            </a:r>
            <a:r>
              <a:rPr sz="4400" spc="-10"/>
              <a:t> </a:t>
            </a:r>
            <a:r>
              <a:rPr sz="4400" b="0" spc="100">
                <a:latin typeface="Verdana"/>
                <a:cs typeface="Verdana"/>
              </a:rPr>
              <a:t>C</a:t>
            </a:r>
            <a:r>
              <a:rPr sz="4400" b="0" spc="-420">
                <a:latin typeface="Verdana"/>
                <a:cs typeface="Verdana"/>
              </a:rPr>
              <a:t>r</a:t>
            </a:r>
            <a:r>
              <a:rPr sz="4400" b="0" spc="-225">
                <a:latin typeface="Verdana"/>
                <a:cs typeface="Verdana"/>
              </a:rPr>
              <a:t>o</a:t>
            </a:r>
            <a:r>
              <a:rPr sz="4400" b="0" spc="-95">
                <a:latin typeface="Verdana"/>
                <a:cs typeface="Verdana"/>
              </a:rPr>
              <a:t>ss</a:t>
            </a:r>
            <a:r>
              <a:rPr sz="4400" b="0" spc="-325">
                <a:latin typeface="Verdana"/>
                <a:cs typeface="Verdana"/>
              </a:rPr>
              <a:t> </a:t>
            </a:r>
            <a:r>
              <a:rPr sz="4400" b="0" spc="-15">
                <a:latin typeface="Verdana"/>
                <a:cs typeface="Verdana"/>
              </a:rPr>
              <a:t>Jo</a:t>
            </a:r>
            <a:r>
              <a:rPr sz="4400" b="0" spc="-235">
                <a:latin typeface="Verdana"/>
                <a:cs typeface="Verdana"/>
              </a:rPr>
              <a:t>i</a:t>
            </a:r>
            <a:r>
              <a:rPr sz="4400" b="0" spc="-340">
                <a:latin typeface="Verdana"/>
                <a:cs typeface="Verdana"/>
              </a:rPr>
              <a:t>n</a:t>
            </a:r>
            <a:r>
              <a:rPr sz="4400" b="0" spc="-380">
                <a:latin typeface="Verdana"/>
                <a:cs typeface="Verdana"/>
              </a:rPr>
              <a:t>.</a:t>
            </a:r>
            <a:r>
              <a:rPr sz="4400" b="0" spc="-320">
                <a:latin typeface="Verdana"/>
                <a:cs typeface="Verdana"/>
              </a:rPr>
              <a:t> </a:t>
            </a:r>
            <a:r>
              <a:rPr sz="4400" b="0" spc="-120">
                <a:latin typeface="Verdana"/>
                <a:cs typeface="Verdana"/>
              </a:rPr>
              <a:t>N</a:t>
            </a:r>
            <a:r>
              <a:rPr sz="4400" b="0" spc="-200">
                <a:latin typeface="Verdana"/>
                <a:cs typeface="Verdana"/>
              </a:rPr>
              <a:t>a</a:t>
            </a:r>
            <a:r>
              <a:rPr sz="4400" b="0" spc="-515">
                <a:latin typeface="Verdana"/>
                <a:cs typeface="Verdana"/>
              </a:rPr>
              <a:t>t</a:t>
            </a:r>
            <a:r>
              <a:rPr sz="4400" b="0" spc="-340">
                <a:latin typeface="Verdana"/>
                <a:cs typeface="Verdana"/>
              </a:rPr>
              <a:t>u</a:t>
            </a:r>
            <a:r>
              <a:rPr sz="4400" b="0" spc="-420">
                <a:latin typeface="Verdana"/>
                <a:cs typeface="Verdana"/>
              </a:rPr>
              <a:t>r</a:t>
            </a:r>
            <a:r>
              <a:rPr sz="4400" b="0" spc="-200">
                <a:latin typeface="Verdana"/>
                <a:cs typeface="Verdana"/>
              </a:rPr>
              <a:t>a</a:t>
            </a:r>
            <a:r>
              <a:rPr sz="4400" b="0" spc="-229">
                <a:latin typeface="Verdana"/>
                <a:cs typeface="Verdana"/>
              </a:rPr>
              <a:t>l</a:t>
            </a:r>
            <a:r>
              <a:rPr sz="4400" b="0" spc="-325">
                <a:latin typeface="Verdana"/>
                <a:cs typeface="Verdana"/>
              </a:rPr>
              <a:t> </a:t>
            </a:r>
            <a:r>
              <a:rPr sz="4400" b="0" spc="-15">
                <a:latin typeface="Verdana"/>
                <a:cs typeface="Verdana"/>
              </a:rPr>
              <a:t>Jo</a:t>
            </a:r>
            <a:r>
              <a:rPr sz="4400" b="0" spc="-235">
                <a:latin typeface="Verdana"/>
                <a:cs typeface="Verdana"/>
              </a:rPr>
              <a:t>i</a:t>
            </a:r>
            <a:r>
              <a:rPr sz="4400" b="0" spc="-340">
                <a:latin typeface="Verdana"/>
                <a:cs typeface="Verdana"/>
              </a:rPr>
              <a:t>n</a:t>
            </a:r>
            <a:r>
              <a:rPr sz="4400" b="0" spc="-380">
                <a:latin typeface="Verdana"/>
                <a:cs typeface="Verdana"/>
              </a:rPr>
              <a:t>.</a:t>
            </a:r>
            <a:r>
              <a:rPr sz="4400" b="0" spc="-320">
                <a:latin typeface="Verdana"/>
                <a:cs typeface="Verdana"/>
              </a:rPr>
              <a:t> </a:t>
            </a:r>
            <a:r>
              <a:rPr sz="4400" b="0" spc="-75">
                <a:latin typeface="Verdana"/>
                <a:cs typeface="Verdana"/>
              </a:rPr>
              <a:t>S</a:t>
            </a:r>
            <a:r>
              <a:rPr sz="4400" b="0" spc="-175">
                <a:latin typeface="Verdana"/>
                <a:cs typeface="Verdana"/>
              </a:rPr>
              <a:t>e</a:t>
            </a:r>
            <a:r>
              <a:rPr sz="4400" b="0" spc="-235">
                <a:latin typeface="Verdana"/>
                <a:cs typeface="Verdana"/>
              </a:rPr>
              <a:t>l</a:t>
            </a:r>
            <a:r>
              <a:rPr sz="4400" b="0" spc="-325">
                <a:latin typeface="Verdana"/>
                <a:cs typeface="Verdana"/>
              </a:rPr>
              <a:t>f  </a:t>
            </a:r>
            <a:r>
              <a:rPr sz="4400" b="0" spc="-195">
                <a:latin typeface="Verdana"/>
                <a:cs typeface="Verdana"/>
              </a:rPr>
              <a:t>Join.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298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/>
              <a:t>SQL</a:t>
            </a:r>
            <a:r>
              <a:rPr sz="4400" spc="-110"/>
              <a:t> </a:t>
            </a:r>
            <a:r>
              <a:rPr sz="4400" spc="-55"/>
              <a:t>NATURAL</a:t>
            </a:r>
            <a:r>
              <a:rPr sz="4400" spc="-110"/>
              <a:t> </a:t>
            </a:r>
            <a:r>
              <a:rPr sz="4400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7550"/>
            <a:ext cx="10019665" cy="33845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>
                <a:latin typeface="Microsoft Sans Serif"/>
                <a:cs typeface="Microsoft Sans Serif"/>
              </a:rPr>
              <a:t>A</a:t>
            </a:r>
            <a:r>
              <a:rPr sz="2800" spc="-130">
                <a:latin typeface="Microsoft Sans Serif"/>
                <a:cs typeface="Microsoft Sans Serif"/>
              </a:rPr>
              <a:t> </a:t>
            </a:r>
            <a:r>
              <a:rPr sz="2800" b="1" spc="-5">
                <a:latin typeface="Arial"/>
                <a:cs typeface="Arial"/>
              </a:rPr>
              <a:t>natural join</a:t>
            </a:r>
            <a:r>
              <a:rPr sz="2800" b="1">
                <a:latin typeface="Arial"/>
                <a:cs typeface="Arial"/>
              </a:rPr>
              <a:t> </a:t>
            </a:r>
            <a:r>
              <a:rPr sz="2800" spc="-10">
                <a:latin typeface="Microsoft Sans Serif"/>
                <a:cs typeface="Microsoft Sans Serif"/>
              </a:rPr>
              <a:t>is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a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 spc="-10">
                <a:latin typeface="Microsoft Sans Serif"/>
                <a:cs typeface="Microsoft Sans Serif"/>
              </a:rPr>
              <a:t>join</a:t>
            </a:r>
            <a:r>
              <a:rPr sz="2800" spc="4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that</a:t>
            </a:r>
            <a:r>
              <a:rPr sz="2800" spc="25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creates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an</a:t>
            </a:r>
            <a:r>
              <a:rPr sz="2800" spc="40">
                <a:latin typeface="Microsoft Sans Serif"/>
                <a:cs typeface="Microsoft Sans Serif"/>
              </a:rPr>
              <a:t> </a:t>
            </a:r>
            <a:r>
              <a:rPr sz="2800" spc="-10">
                <a:latin typeface="Microsoft Sans Serif"/>
                <a:cs typeface="Microsoft Sans Serif"/>
              </a:rPr>
              <a:t>implicit</a:t>
            </a:r>
            <a:r>
              <a:rPr sz="2800" spc="25">
                <a:latin typeface="Microsoft Sans Serif"/>
                <a:cs typeface="Microsoft Sans Serif"/>
              </a:rPr>
              <a:t> </a:t>
            </a:r>
            <a:r>
              <a:rPr sz="2800" spc="-10">
                <a:latin typeface="Microsoft Sans Serif"/>
                <a:cs typeface="Microsoft Sans Serif"/>
              </a:rPr>
              <a:t>join</a:t>
            </a:r>
            <a:r>
              <a:rPr sz="2800" spc="4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based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on</a:t>
            </a:r>
            <a:r>
              <a:rPr sz="2800" spc="4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the </a:t>
            </a:r>
            <a:r>
              <a:rPr sz="2800" spc="-73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same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column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names</a:t>
            </a:r>
            <a:r>
              <a:rPr sz="2800" spc="30">
                <a:latin typeface="Microsoft Sans Serif"/>
                <a:cs typeface="Microsoft Sans Serif"/>
              </a:rPr>
              <a:t> </a:t>
            </a:r>
            <a:r>
              <a:rPr sz="2800" spc="-10">
                <a:latin typeface="Microsoft Sans Serif"/>
                <a:cs typeface="Microsoft Sans Serif"/>
              </a:rPr>
              <a:t>in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the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joined</a:t>
            </a:r>
            <a:r>
              <a:rPr sz="2800" spc="3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tables.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3400">
              <a:latin typeface="Microsoft Sans Serif"/>
              <a:cs typeface="Microsoft Sans Serif"/>
            </a:endParaRPr>
          </a:p>
          <a:p>
            <a:pPr marL="12700" marR="114935">
              <a:lnSpc>
                <a:spcPct val="122100"/>
              </a:lnSpc>
            </a:pPr>
            <a:r>
              <a:rPr sz="2800">
                <a:latin typeface="Microsoft Sans Serif"/>
                <a:cs typeface="Microsoft Sans Serif"/>
              </a:rPr>
              <a:t>The</a:t>
            </a:r>
            <a:r>
              <a:rPr sz="2800" spc="2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following</a:t>
            </a:r>
            <a:r>
              <a:rPr sz="2800" spc="3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shows</a:t>
            </a:r>
            <a:r>
              <a:rPr sz="2800" spc="2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the</a:t>
            </a:r>
            <a:r>
              <a:rPr sz="2800" spc="3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syntax</a:t>
            </a:r>
            <a:r>
              <a:rPr sz="2800" spc="2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of</a:t>
            </a:r>
            <a:r>
              <a:rPr sz="2800" spc="2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the</a:t>
            </a:r>
            <a:r>
              <a:rPr sz="2800" spc="3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PostgreSQL</a:t>
            </a:r>
            <a:r>
              <a:rPr sz="2800" spc="-80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natural</a:t>
            </a:r>
            <a:r>
              <a:rPr sz="2800" spc="2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join: </a:t>
            </a:r>
            <a:r>
              <a:rPr sz="2800" spc="-730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SELECT</a:t>
            </a:r>
            <a:r>
              <a:rPr sz="2800" spc="-2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select_list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spc="-5">
                <a:latin typeface="Microsoft Sans Serif"/>
                <a:cs typeface="Microsoft Sans Serif"/>
              </a:rPr>
              <a:t>FROM</a:t>
            </a:r>
            <a:r>
              <a:rPr sz="2800" spc="-55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T1</a:t>
            </a: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800" spc="-35">
                <a:latin typeface="Microsoft Sans Serif"/>
                <a:cs typeface="Microsoft Sans Serif"/>
              </a:rPr>
              <a:t>NATURAL</a:t>
            </a:r>
            <a:r>
              <a:rPr sz="2800" spc="-7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[INNER,</a:t>
            </a:r>
            <a:r>
              <a:rPr sz="2800" spc="25">
                <a:latin typeface="Microsoft Sans Serif"/>
                <a:cs typeface="Microsoft Sans Serif"/>
              </a:rPr>
              <a:t> </a:t>
            </a:r>
            <a:r>
              <a:rPr sz="2800" spc="-65">
                <a:latin typeface="Microsoft Sans Serif"/>
                <a:cs typeface="Microsoft Sans Serif"/>
              </a:rPr>
              <a:t>LEFT,</a:t>
            </a:r>
            <a:r>
              <a:rPr sz="2800" spc="2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RIGHT]</a:t>
            </a:r>
            <a:r>
              <a:rPr sz="2800" spc="25">
                <a:latin typeface="Microsoft Sans Serif"/>
                <a:cs typeface="Microsoft Sans Serif"/>
              </a:rPr>
              <a:t> </a:t>
            </a:r>
            <a:r>
              <a:rPr sz="2800" spc="-5">
                <a:latin typeface="Microsoft Sans Serif"/>
                <a:cs typeface="Microsoft Sans Serif"/>
              </a:rPr>
              <a:t>JOIN</a:t>
            </a:r>
            <a:r>
              <a:rPr sz="2800" spc="-15">
                <a:latin typeface="Microsoft Sans Serif"/>
                <a:cs typeface="Microsoft Sans Serif"/>
              </a:rPr>
              <a:t> </a:t>
            </a:r>
            <a:r>
              <a:rPr sz="2800">
                <a:latin typeface="Microsoft Sans Serif"/>
                <a:cs typeface="Microsoft Sans Serif"/>
              </a:rPr>
              <a:t>T2;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134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/>
              <a:t>SQL</a:t>
            </a:r>
            <a:r>
              <a:rPr sz="4400" spc="-90"/>
              <a:t> </a:t>
            </a:r>
            <a:r>
              <a:rPr sz="4400" spc="-55"/>
              <a:t>NATURAL</a:t>
            </a:r>
            <a:r>
              <a:rPr sz="4400" spc="-85"/>
              <a:t> </a:t>
            </a:r>
            <a:r>
              <a:rPr sz="4400"/>
              <a:t>JOIN</a:t>
            </a:r>
            <a:r>
              <a:rPr sz="4400" spc="-10"/>
              <a:t> </a:t>
            </a:r>
            <a:r>
              <a:rPr sz="4400" spc="-5"/>
              <a:t>examples</a:t>
            </a:r>
            <a:endParaRPr sz="44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4317FC-FFB8-8E70-B7FE-F4E560C2D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96" y="1639782"/>
            <a:ext cx="5419772" cy="212320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E9B0C-976F-811C-DC56-F4ED7A04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567435"/>
            <a:ext cx="6858126" cy="1231106"/>
          </a:xfrm>
        </p:spPr>
        <p:txBody>
          <a:bodyPr/>
          <a:lstStyle/>
          <a:p>
            <a:r>
              <a:rPr lang="en-US"/>
              <a:t>Differences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801CB3-9820-820E-5A07-C0712FC2E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8831" y="-3684"/>
            <a:ext cx="1533525" cy="572183"/>
          </a:xfrm>
        </p:spPr>
        <p:txBody>
          <a:bodyPr/>
          <a:lstStyle/>
          <a:p>
            <a:endParaRPr lang="ru-KZ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644E12-5AE6-AEF2-A072-C5D1F5C5A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" y="2118028"/>
            <a:ext cx="12004138" cy="464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82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E9B0C-976F-811C-DC56-F4ED7A04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567435"/>
            <a:ext cx="6858126" cy="1231106"/>
          </a:xfrm>
        </p:spPr>
        <p:txBody>
          <a:bodyPr/>
          <a:lstStyle/>
          <a:p>
            <a:r>
              <a:rPr lang="en-US"/>
              <a:t>Differences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801CB3-9820-820E-5A07-C0712FC2E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1" y="1673859"/>
            <a:ext cx="10253662" cy="4431983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/>
              <a:t>NATURAL JOIN </a:t>
            </a:r>
            <a:r>
              <a:rPr lang="en-US" sz="3200" b="0"/>
              <a:t>is convenient for combining tables with multiple common columns, but it can lead to unexpected results if not managed carefully.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/>
              <a:t>INNER JOIN </a:t>
            </a:r>
            <a:r>
              <a:rPr lang="en-US" sz="3200" b="0"/>
              <a:t>is precise for matching records in both tables.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/>
              <a:t> </a:t>
            </a:r>
            <a:r>
              <a:rPr lang="en-US" sz="3200"/>
              <a:t>LEFT JOIN, RIGHT JOIN, and FULL OUTER JOIN </a:t>
            </a:r>
            <a:r>
              <a:rPr lang="en-US" sz="3200" b="0"/>
              <a:t>provide more flexibility for including records even when matches don’t exist, with different orientations (left or right) depending on the focus of the query.</a:t>
            </a:r>
            <a:endParaRPr lang="ru-KZ" sz="3200" b="0"/>
          </a:p>
        </p:txBody>
      </p:sp>
    </p:spTree>
    <p:extLst>
      <p:ext uri="{BB962C8B-B14F-4D97-AF65-F5344CB8AC3E}">
        <p14:creationId xmlns:p14="http://schemas.microsoft.com/office/powerpoint/2010/main" val="826562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817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/>
              <a:t>SQL</a:t>
            </a:r>
            <a:r>
              <a:rPr sz="4400" spc="-140"/>
              <a:t> </a:t>
            </a:r>
            <a:r>
              <a:rPr sz="4400" spc="-5"/>
              <a:t>Self-Join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9711690" cy="3911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6515" algn="just">
              <a:lnSpc>
                <a:spcPct val="90000"/>
              </a:lnSpc>
              <a:spcBef>
                <a:spcPts val="400"/>
              </a:spcBef>
            </a:pPr>
            <a:r>
              <a:rPr sz="2500">
                <a:latin typeface="Microsoft Sans Serif"/>
                <a:cs typeface="Microsoft Sans Serif"/>
              </a:rPr>
              <a:t>A </a:t>
            </a:r>
            <a:r>
              <a:rPr sz="2500" b="1">
                <a:latin typeface="Arial"/>
                <a:cs typeface="Arial"/>
              </a:rPr>
              <a:t>self-join </a:t>
            </a:r>
            <a:r>
              <a:rPr sz="2500" spc="-15">
                <a:latin typeface="Microsoft Sans Serif"/>
                <a:cs typeface="Microsoft Sans Serif"/>
              </a:rPr>
              <a:t>is </a:t>
            </a:r>
            <a:r>
              <a:rPr sz="2500">
                <a:latin typeface="Microsoft Sans Serif"/>
                <a:cs typeface="Microsoft Sans Serif"/>
              </a:rPr>
              <a:t>a </a:t>
            </a:r>
            <a:r>
              <a:rPr sz="2500" spc="-10">
                <a:latin typeface="Microsoft Sans Serif"/>
                <a:cs typeface="Microsoft Sans Serif"/>
              </a:rPr>
              <a:t>regular </a:t>
            </a:r>
            <a:r>
              <a:rPr sz="2500" spc="-15">
                <a:latin typeface="Microsoft Sans Serif"/>
                <a:cs typeface="Microsoft Sans Serif"/>
              </a:rPr>
              <a:t>join </a:t>
            </a:r>
            <a:r>
              <a:rPr sz="2500" spc="-5">
                <a:latin typeface="Microsoft Sans Serif"/>
                <a:cs typeface="Microsoft Sans Serif"/>
              </a:rPr>
              <a:t>that </a:t>
            </a:r>
            <a:r>
              <a:rPr sz="2500" spc="-15">
                <a:latin typeface="Microsoft Sans Serif"/>
                <a:cs typeface="Microsoft Sans Serif"/>
              </a:rPr>
              <a:t>joins </a:t>
            </a:r>
            <a:r>
              <a:rPr sz="2500">
                <a:latin typeface="Microsoft Sans Serif"/>
                <a:cs typeface="Microsoft Sans Serif"/>
              </a:rPr>
              <a:t>a </a:t>
            </a:r>
            <a:r>
              <a:rPr sz="2500" spc="-10">
                <a:latin typeface="Microsoft Sans Serif"/>
                <a:cs typeface="Microsoft Sans Serif"/>
              </a:rPr>
              <a:t>table </a:t>
            </a:r>
            <a:r>
              <a:rPr sz="2500">
                <a:latin typeface="Microsoft Sans Serif"/>
                <a:cs typeface="Microsoft Sans Serif"/>
              </a:rPr>
              <a:t>to </a:t>
            </a:r>
            <a:r>
              <a:rPr sz="2500" spc="-10">
                <a:latin typeface="Microsoft Sans Serif"/>
                <a:cs typeface="Microsoft Sans Serif"/>
              </a:rPr>
              <a:t>itself. </a:t>
            </a:r>
            <a:r>
              <a:rPr sz="2500">
                <a:latin typeface="Microsoft Sans Serif"/>
                <a:cs typeface="Microsoft Sans Serif"/>
              </a:rPr>
              <a:t>In </a:t>
            </a:r>
            <a:r>
              <a:rPr sz="2500" spc="-5">
                <a:latin typeface="Microsoft Sans Serif"/>
                <a:cs typeface="Microsoft Sans Serif"/>
              </a:rPr>
              <a:t>practice, you </a:t>
            </a:r>
            <a:r>
              <a:rPr sz="250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typically </a:t>
            </a:r>
            <a:r>
              <a:rPr sz="2500" spc="-5">
                <a:latin typeface="Microsoft Sans Serif"/>
                <a:cs typeface="Microsoft Sans Serif"/>
              </a:rPr>
              <a:t>use </a:t>
            </a:r>
            <a:r>
              <a:rPr sz="2500">
                <a:latin typeface="Microsoft Sans Serif"/>
                <a:cs typeface="Microsoft Sans Serif"/>
              </a:rPr>
              <a:t>a </a:t>
            </a:r>
            <a:r>
              <a:rPr sz="2500" spc="-10">
                <a:latin typeface="Microsoft Sans Serif"/>
                <a:cs typeface="Microsoft Sans Serif"/>
              </a:rPr>
              <a:t>self-join </a:t>
            </a:r>
            <a:r>
              <a:rPr sz="2500">
                <a:latin typeface="Microsoft Sans Serif"/>
                <a:cs typeface="Microsoft Sans Serif"/>
              </a:rPr>
              <a:t>to </a:t>
            </a:r>
            <a:r>
              <a:rPr sz="2500" spc="-5">
                <a:latin typeface="Microsoft Sans Serif"/>
                <a:cs typeface="Microsoft Sans Serif"/>
              </a:rPr>
              <a:t>query </a:t>
            </a:r>
            <a:r>
              <a:rPr sz="2500" spc="-10">
                <a:latin typeface="Microsoft Sans Serif"/>
                <a:cs typeface="Microsoft Sans Serif"/>
              </a:rPr>
              <a:t>hierarchical </a:t>
            </a:r>
            <a:r>
              <a:rPr sz="2500" spc="-5">
                <a:latin typeface="Microsoft Sans Serif"/>
                <a:cs typeface="Microsoft Sans Serif"/>
              </a:rPr>
              <a:t>data or </a:t>
            </a:r>
            <a:r>
              <a:rPr sz="2500">
                <a:latin typeface="Microsoft Sans Serif"/>
                <a:cs typeface="Microsoft Sans Serif"/>
              </a:rPr>
              <a:t>to </a:t>
            </a:r>
            <a:r>
              <a:rPr sz="2500" spc="-5">
                <a:latin typeface="Microsoft Sans Serif"/>
                <a:cs typeface="Microsoft Sans Serif"/>
              </a:rPr>
              <a:t>compare rows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within</a:t>
            </a:r>
            <a:r>
              <a:rPr sz="2500" spc="2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same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table.</a:t>
            </a:r>
            <a:endParaRPr sz="25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246400"/>
              </a:lnSpc>
              <a:spcBef>
                <a:spcPts val="25"/>
              </a:spcBef>
            </a:pPr>
            <a:r>
              <a:rPr sz="2500" spc="-5">
                <a:latin typeface="Microsoft Sans Serif"/>
                <a:cs typeface="Microsoft Sans Serif"/>
              </a:rPr>
              <a:t>The </a:t>
            </a:r>
            <a:r>
              <a:rPr sz="2500" spc="-15">
                <a:latin typeface="Microsoft Sans Serif"/>
                <a:cs typeface="Microsoft Sans Serif"/>
              </a:rPr>
              <a:t>following </a:t>
            </a:r>
            <a:r>
              <a:rPr sz="2500" spc="-5">
                <a:latin typeface="Microsoft Sans Serif"/>
                <a:cs typeface="Microsoft Sans Serif"/>
              </a:rPr>
              <a:t>query uses an INNER </a:t>
            </a:r>
            <a:r>
              <a:rPr sz="2500">
                <a:latin typeface="Microsoft Sans Serif"/>
                <a:cs typeface="Microsoft Sans Serif"/>
              </a:rPr>
              <a:t>JOIN </a:t>
            </a:r>
            <a:r>
              <a:rPr sz="2500" spc="-5">
                <a:latin typeface="Microsoft Sans Serif"/>
                <a:cs typeface="Microsoft Sans Serif"/>
              </a:rPr>
              <a:t>that </a:t>
            </a:r>
            <a:r>
              <a:rPr sz="2500" spc="-15">
                <a:latin typeface="Microsoft Sans Serif"/>
                <a:cs typeface="Microsoft Sans Serif"/>
              </a:rPr>
              <a:t>joins </a:t>
            </a:r>
            <a:r>
              <a:rPr sz="2500">
                <a:latin typeface="Microsoft Sans Serif"/>
                <a:cs typeface="Microsoft Sans Serif"/>
              </a:rPr>
              <a:t>the </a:t>
            </a:r>
            <a:r>
              <a:rPr sz="2500" spc="-10">
                <a:latin typeface="Microsoft Sans Serif"/>
                <a:cs typeface="Microsoft Sans Serif"/>
              </a:rPr>
              <a:t>table </a:t>
            </a:r>
            <a:r>
              <a:rPr sz="2500">
                <a:latin typeface="Microsoft Sans Serif"/>
                <a:cs typeface="Microsoft Sans Serif"/>
              </a:rPr>
              <a:t>to </a:t>
            </a:r>
            <a:r>
              <a:rPr sz="2500" spc="-10">
                <a:latin typeface="Microsoft Sans Serif"/>
                <a:cs typeface="Microsoft Sans Serif"/>
              </a:rPr>
              <a:t>itself: </a:t>
            </a:r>
            <a:r>
              <a:rPr sz="2500" spc="-5">
                <a:latin typeface="Microsoft Sans Serif"/>
                <a:cs typeface="Microsoft Sans Serif"/>
              </a:rPr>
              <a:t> SELECT</a:t>
            </a:r>
            <a:r>
              <a:rPr sz="2500" spc="-2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select_list</a:t>
            </a:r>
            <a:endParaRPr sz="25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695"/>
              </a:spcBef>
            </a:pPr>
            <a:r>
              <a:rPr sz="2500" spc="-5">
                <a:latin typeface="Microsoft Sans Serif"/>
                <a:cs typeface="Microsoft Sans Serif"/>
              </a:rPr>
              <a:t>FROM</a:t>
            </a:r>
            <a:r>
              <a:rPr sz="2500" spc="1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table_name</a:t>
            </a:r>
            <a:r>
              <a:rPr sz="2500" spc="10">
                <a:latin typeface="Microsoft Sans Serif"/>
                <a:cs typeface="Microsoft Sans Serif"/>
              </a:rPr>
              <a:t> </a:t>
            </a:r>
            <a:r>
              <a:rPr sz="2500" spc="5">
                <a:latin typeface="Microsoft Sans Serif"/>
                <a:cs typeface="Microsoft Sans Serif"/>
              </a:rPr>
              <a:t>t1</a:t>
            </a:r>
            <a:endParaRPr sz="25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695"/>
              </a:spcBef>
            </a:pPr>
            <a:r>
              <a:rPr sz="2500" spc="-5">
                <a:latin typeface="Microsoft Sans Serif"/>
                <a:cs typeface="Microsoft Sans Serif"/>
              </a:rPr>
              <a:t>INNER</a:t>
            </a:r>
            <a:r>
              <a:rPr sz="2500" spc="2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JOIN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table_name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t2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join_predicate;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53EC2-751C-A806-BAE6-1DBA1C9F2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09600"/>
            <a:ext cx="2895726" cy="635000"/>
          </a:xfrm>
        </p:spPr>
        <p:txBody>
          <a:bodyPr/>
          <a:lstStyle/>
          <a:p>
            <a:r>
              <a:rPr lang="en-US"/>
              <a:t>Example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93D6BD-7DAD-CA34-E427-E1CE325D6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8800"/>
            <a:ext cx="8772525" cy="2272029"/>
          </a:xfrm>
        </p:spPr>
        <p:txBody>
          <a:bodyPr/>
          <a:lstStyle/>
          <a:p>
            <a:endParaRPr lang="ru-KZ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146273-771B-2DDF-B88C-C743A294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92" y="1244320"/>
            <a:ext cx="7667745" cy="30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3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100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/>
              <a:t>SQL</a:t>
            </a:r>
            <a:r>
              <a:rPr sz="4400" spc="-110"/>
              <a:t> </a:t>
            </a:r>
            <a:r>
              <a:rPr sz="4400" spc="-5"/>
              <a:t>Cross</a:t>
            </a:r>
            <a:r>
              <a:rPr sz="4400" spc="-35"/>
              <a:t> </a:t>
            </a:r>
            <a:r>
              <a:rPr sz="4400" spc="-5"/>
              <a:t>Join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9764395" cy="357060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710"/>
              </a:lnSpc>
              <a:spcBef>
                <a:spcPts val="430"/>
              </a:spcBef>
              <a:tabLst>
                <a:tab pos="384175" algn="l"/>
              </a:tabLst>
            </a:pPr>
            <a:r>
              <a:rPr sz="2500">
                <a:latin typeface="Microsoft Sans Serif"/>
                <a:cs typeface="Microsoft Sans Serif"/>
              </a:rPr>
              <a:t>A	</a:t>
            </a:r>
            <a:r>
              <a:rPr sz="2500" b="1" spc="-5">
                <a:latin typeface="Arial"/>
                <a:cs typeface="Arial"/>
              </a:rPr>
              <a:t>CROSS </a:t>
            </a:r>
            <a:r>
              <a:rPr sz="2500" b="1">
                <a:latin typeface="Arial"/>
                <a:cs typeface="Arial"/>
              </a:rPr>
              <a:t>JOIN </a:t>
            </a:r>
            <a:r>
              <a:rPr sz="2500" spc="-5">
                <a:latin typeface="Microsoft Sans Serif"/>
                <a:cs typeface="Microsoft Sans Serif"/>
              </a:rPr>
              <a:t>clause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allows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you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to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produce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a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Cartesian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Product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of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rows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in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two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or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more</a:t>
            </a:r>
            <a:r>
              <a:rPr sz="2500" spc="3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tables.</a:t>
            </a:r>
            <a:endParaRPr sz="2500">
              <a:latin typeface="Microsoft Sans Serif"/>
              <a:cs typeface="Microsoft Sans Serif"/>
            </a:endParaRPr>
          </a:p>
          <a:p>
            <a:pPr marL="12700" marR="903605">
              <a:lnSpc>
                <a:spcPts val="7390"/>
              </a:lnSpc>
              <a:spcBef>
                <a:spcPts val="940"/>
              </a:spcBef>
            </a:pPr>
            <a:r>
              <a:rPr sz="2500" spc="-5">
                <a:latin typeface="Microsoft Sans Serif"/>
                <a:cs typeface="Microsoft Sans Serif"/>
              </a:rPr>
              <a:t>The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5">
                <a:latin typeface="Microsoft Sans Serif"/>
                <a:cs typeface="Microsoft Sans Serif"/>
              </a:rPr>
              <a:t>following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illustrates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syntax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of</a:t>
            </a:r>
            <a:r>
              <a:rPr sz="2500" spc="4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the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CROSS</a:t>
            </a:r>
            <a:r>
              <a:rPr sz="2500" spc="35">
                <a:latin typeface="Microsoft Sans Serif"/>
                <a:cs typeface="Microsoft Sans Serif"/>
              </a:rPr>
              <a:t> </a:t>
            </a:r>
            <a:r>
              <a:rPr sz="2500">
                <a:latin typeface="Microsoft Sans Serif"/>
                <a:cs typeface="Microsoft Sans Serif"/>
              </a:rPr>
              <a:t>JOIN</a:t>
            </a:r>
            <a:r>
              <a:rPr sz="2500" spc="4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syntax: </a:t>
            </a:r>
            <a:r>
              <a:rPr sz="2500" spc="-650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SELECT</a:t>
            </a:r>
            <a:r>
              <a:rPr sz="2500" spc="-20">
                <a:latin typeface="Microsoft Sans Serif"/>
                <a:cs typeface="Microsoft Sans Serif"/>
              </a:rPr>
              <a:t> </a:t>
            </a:r>
            <a:r>
              <a:rPr sz="2500" spc="-10">
                <a:latin typeface="Microsoft Sans Serif"/>
                <a:cs typeface="Microsoft Sans Serif"/>
              </a:rPr>
              <a:t>select_list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ts val="2745"/>
              </a:lnSpc>
            </a:pPr>
            <a:r>
              <a:rPr sz="2500" spc="-5">
                <a:latin typeface="Microsoft Sans Serif"/>
                <a:cs typeface="Microsoft Sans Serif"/>
              </a:rPr>
              <a:t>FROM</a:t>
            </a:r>
            <a:r>
              <a:rPr sz="2500" spc="-4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T1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500" spc="-5">
                <a:latin typeface="Microsoft Sans Serif"/>
                <a:cs typeface="Microsoft Sans Serif"/>
              </a:rPr>
              <a:t>CROSS</a:t>
            </a:r>
            <a:r>
              <a:rPr sz="2500">
                <a:latin typeface="Microsoft Sans Serif"/>
                <a:cs typeface="Microsoft Sans Serif"/>
              </a:rPr>
              <a:t> JOIN</a:t>
            </a:r>
            <a:r>
              <a:rPr sz="2500" spc="-35">
                <a:latin typeface="Microsoft Sans Serif"/>
                <a:cs typeface="Microsoft Sans Serif"/>
              </a:rPr>
              <a:t> </a:t>
            </a:r>
            <a:r>
              <a:rPr sz="2500" spc="-5">
                <a:latin typeface="Microsoft Sans Serif"/>
                <a:cs typeface="Microsoft Sans Serif"/>
              </a:rPr>
              <a:t>T2;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16343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/>
              <a:t>SQL</a:t>
            </a:r>
            <a:r>
              <a:rPr sz="4400" spc="-95"/>
              <a:t> </a:t>
            </a:r>
            <a:r>
              <a:rPr sz="4400" spc="-5"/>
              <a:t>CROSS</a:t>
            </a:r>
            <a:r>
              <a:rPr sz="4400" spc="-10"/>
              <a:t> </a:t>
            </a:r>
            <a:r>
              <a:rPr sz="4400"/>
              <a:t>JOIN</a:t>
            </a:r>
            <a:r>
              <a:rPr sz="4400" spc="-20"/>
              <a:t> </a:t>
            </a:r>
            <a:r>
              <a:rPr sz="4400" spc="-5"/>
              <a:t>example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8535" y="1690687"/>
            <a:ext cx="3416300" cy="41148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E20B72-881F-3776-F0F1-5A53AAF71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67" y="3912224"/>
            <a:ext cx="7168322" cy="105093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4BD1D-7D60-3046-B649-789D46B7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FA9DCE-BC55-4386-6B52-EF51EBC43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982C9A-34A3-4147-C8D8-86E952C3D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42" y="294736"/>
            <a:ext cx="11201399" cy="626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59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71570AD13F0224BB1245ED162607349" ma:contentTypeVersion="8" ma:contentTypeDescription="Создание документа." ma:contentTypeScope="" ma:versionID="b34c0b78990df12d174317d7290c462f">
  <xsd:schema xmlns:xsd="http://www.w3.org/2001/XMLSchema" xmlns:xs="http://www.w3.org/2001/XMLSchema" xmlns:p="http://schemas.microsoft.com/office/2006/metadata/properties" xmlns:ns2="14a8a632-e596-4d42-a9cb-ac377c4fa28b" targetNamespace="http://schemas.microsoft.com/office/2006/metadata/properties" ma:root="true" ma:fieldsID="51dadbd8aa9e92f520983c4df36c56ca" ns2:_="">
    <xsd:import namespace="14a8a632-e596-4d42-a9cb-ac377c4f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8a632-e596-4d42-a9cb-ac377c4f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FFF4D2-3A90-40D1-A7F0-F6A8CEA163A4}">
  <ds:schemaRefs>
    <ds:schemaRef ds:uri="14a8a632-e596-4d42-a9cb-ac377c4fa2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D02A39-F6C0-4CF1-B93D-47BB0EDEAB8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76F09F6-586F-4C15-9C51-96F77C8221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Широкоэкранный</PresentationFormat>
  <Slides>35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6" baseType="lpstr">
      <vt:lpstr>Office Theme</vt:lpstr>
      <vt:lpstr>Lecture 7</vt:lpstr>
      <vt:lpstr>PostgreSQL JOINS.</vt:lpstr>
      <vt:lpstr>PART I. PostgreSQL JOINS. Inner Join.  Full Join. Left Join. Right Join.</vt:lpstr>
      <vt:lpstr>PostgreSQL Joins</vt:lpstr>
      <vt:lpstr>Презентация PowerPoint</vt:lpstr>
      <vt:lpstr>Example</vt:lpstr>
      <vt:lpstr>Example</vt:lpstr>
      <vt:lpstr>Explanation </vt:lpstr>
      <vt:lpstr>The SQL Inner Join</vt:lpstr>
      <vt:lpstr>Explanation of Inner Join</vt:lpstr>
      <vt:lpstr>The following Venn diagram illustrates the inner join:</vt:lpstr>
      <vt:lpstr>Example</vt:lpstr>
      <vt:lpstr>Joining Multiple Tables Using Inner Join</vt:lpstr>
      <vt:lpstr>Example</vt:lpstr>
      <vt:lpstr>The SQL OUTER Join</vt:lpstr>
      <vt:lpstr>Презентация PowerPoint</vt:lpstr>
      <vt:lpstr>The SQL Left Join</vt:lpstr>
      <vt:lpstr>The following Venn diagram illustrates the left join:</vt:lpstr>
      <vt:lpstr>The SQL Right Join</vt:lpstr>
      <vt:lpstr>The following Venn diagram illustrates the right join:</vt:lpstr>
      <vt:lpstr>Example</vt:lpstr>
      <vt:lpstr>The SQL Full Join</vt:lpstr>
      <vt:lpstr>The following Venn diagram illustrates the full outer join:</vt:lpstr>
      <vt:lpstr>Outer join explanation</vt:lpstr>
      <vt:lpstr>Example</vt:lpstr>
      <vt:lpstr>PART II. Cross Join. Natural Join. Self  Join.</vt:lpstr>
      <vt:lpstr>SQL NATURAL JOIN</vt:lpstr>
      <vt:lpstr>SQL NATURAL JOIN examples</vt:lpstr>
      <vt:lpstr>Differences</vt:lpstr>
      <vt:lpstr>Differences</vt:lpstr>
      <vt:lpstr>SQL Self-Join</vt:lpstr>
      <vt:lpstr>Example</vt:lpstr>
      <vt:lpstr>SQL Cross Join</vt:lpstr>
      <vt:lpstr>SQL CROSS JOIN example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Sholpan Saimassayeva</dc:creator>
  <cp:revision>4</cp:revision>
  <dcterms:created xsi:type="dcterms:W3CDTF">2024-10-14T17:56:50Z</dcterms:created>
  <dcterms:modified xsi:type="dcterms:W3CDTF">2024-12-24T05:16:34Z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2023-12-01T00:00:00Z</vt:filetime>
  </property>
  <property fmtid="{D5CDD505-2E9C-101B-9397-08002B2CF9AE}" pid="3" name="LastSaved">
    <vt:filetime>2024-10-14T00:00:00Z</vt:filetime>
  </property>
  <property fmtid="{D5CDD505-2E9C-101B-9397-08002B2CF9AE}" pid="4" name="ContentTypeId">
    <vt:lpwstr>0x010100D71570AD13F0224BB1245ED162607349</vt:lpwstr>
  </property>
</Properties>
</file>